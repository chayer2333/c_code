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audio1.bin" ContentType="audio/unknown"/>
  <Override PartName="/ppt/media/audio2.bin" ContentType="audio/unknown"/>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5"/>
  </p:notesMasterIdLst>
  <p:sldIdLst>
    <p:sldId id="259" r:id="rId2"/>
    <p:sldId id="574" r:id="rId3"/>
    <p:sldId id="452" r:id="rId4"/>
    <p:sldId id="575" r:id="rId5"/>
    <p:sldId id="576" r:id="rId6"/>
    <p:sldId id="577" r:id="rId7"/>
    <p:sldId id="578" r:id="rId8"/>
    <p:sldId id="454" r:id="rId9"/>
    <p:sldId id="453" r:id="rId10"/>
    <p:sldId id="455" r:id="rId11"/>
    <p:sldId id="580" r:id="rId12"/>
    <p:sldId id="581" r:id="rId13"/>
    <p:sldId id="582" r:id="rId14"/>
    <p:sldId id="583" r:id="rId15"/>
    <p:sldId id="584" r:id="rId16"/>
    <p:sldId id="524" r:id="rId17"/>
    <p:sldId id="655" r:id="rId18"/>
    <p:sldId id="526" r:id="rId19"/>
    <p:sldId id="528" r:id="rId20"/>
    <p:sldId id="588" r:id="rId21"/>
    <p:sldId id="589" r:id="rId22"/>
    <p:sldId id="590" r:id="rId23"/>
    <p:sldId id="591" r:id="rId24"/>
    <p:sldId id="592" r:id="rId25"/>
    <p:sldId id="459" r:id="rId26"/>
    <p:sldId id="456" r:id="rId27"/>
    <p:sldId id="462" r:id="rId28"/>
    <p:sldId id="457" r:id="rId29"/>
    <p:sldId id="466" r:id="rId30"/>
    <p:sldId id="467" r:id="rId31"/>
    <p:sldId id="469" r:id="rId32"/>
    <p:sldId id="470" r:id="rId33"/>
    <p:sldId id="474" r:id="rId34"/>
    <p:sldId id="473" r:id="rId35"/>
    <p:sldId id="477" r:id="rId36"/>
    <p:sldId id="478" r:id="rId37"/>
    <p:sldId id="479" r:id="rId38"/>
    <p:sldId id="472" r:id="rId39"/>
    <p:sldId id="476" r:id="rId40"/>
    <p:sldId id="480" r:id="rId41"/>
    <p:sldId id="481" r:id="rId42"/>
    <p:sldId id="482" r:id="rId43"/>
    <p:sldId id="353" r:id="rId44"/>
    <p:sldId id="483" r:id="rId45"/>
    <p:sldId id="357" r:id="rId46"/>
    <p:sldId id="595" r:id="rId47"/>
    <p:sldId id="596" r:id="rId48"/>
    <p:sldId id="600" r:id="rId49"/>
    <p:sldId id="601" r:id="rId50"/>
    <p:sldId id="604" r:id="rId51"/>
    <p:sldId id="605" r:id="rId52"/>
    <p:sldId id="606" r:id="rId53"/>
    <p:sldId id="607" r:id="rId54"/>
    <p:sldId id="609" r:id="rId55"/>
    <p:sldId id="608" r:id="rId56"/>
    <p:sldId id="610" r:id="rId57"/>
    <p:sldId id="611" r:id="rId58"/>
    <p:sldId id="612" r:id="rId59"/>
    <p:sldId id="656" r:id="rId60"/>
    <p:sldId id="654" r:id="rId61"/>
    <p:sldId id="617" r:id="rId62"/>
    <p:sldId id="618" r:id="rId63"/>
    <p:sldId id="619" r:id="rId64"/>
    <p:sldId id="620" r:id="rId65"/>
    <p:sldId id="621" r:id="rId66"/>
    <p:sldId id="622" r:id="rId67"/>
    <p:sldId id="623" r:id="rId68"/>
    <p:sldId id="624" r:id="rId69"/>
    <p:sldId id="625" r:id="rId70"/>
    <p:sldId id="362" r:id="rId71"/>
    <p:sldId id="493" r:id="rId72"/>
    <p:sldId id="366" r:id="rId73"/>
    <p:sldId id="495" r:id="rId74"/>
    <p:sldId id="498" r:id="rId75"/>
    <p:sldId id="499" r:id="rId76"/>
    <p:sldId id="502" r:id="rId77"/>
    <p:sldId id="376" r:id="rId78"/>
    <p:sldId id="626" r:id="rId79"/>
    <p:sldId id="627" r:id="rId80"/>
    <p:sldId id="365" r:id="rId81"/>
    <p:sldId id="494" r:id="rId82"/>
    <p:sldId id="496" r:id="rId83"/>
    <p:sldId id="497" r:id="rId84"/>
    <p:sldId id="500" r:id="rId85"/>
    <p:sldId id="503" r:id="rId86"/>
    <p:sldId id="628" r:id="rId87"/>
    <p:sldId id="629" r:id="rId88"/>
    <p:sldId id="630" r:id="rId89"/>
    <p:sldId id="631" r:id="rId90"/>
    <p:sldId id="634" r:id="rId91"/>
    <p:sldId id="636" r:id="rId92"/>
    <p:sldId id="637" r:id="rId93"/>
    <p:sldId id="534" r:id="rId94"/>
    <p:sldId id="638" r:id="rId95"/>
    <p:sldId id="535" r:id="rId96"/>
    <p:sldId id="536" r:id="rId97"/>
    <p:sldId id="537" r:id="rId98"/>
    <p:sldId id="538" r:id="rId99"/>
    <p:sldId id="539" r:id="rId100"/>
    <p:sldId id="540" r:id="rId101"/>
    <p:sldId id="541" r:id="rId102"/>
    <p:sldId id="542" r:id="rId103"/>
    <p:sldId id="543" r:id="rId104"/>
    <p:sldId id="544" r:id="rId105"/>
    <p:sldId id="545" r:id="rId106"/>
    <p:sldId id="640" r:id="rId107"/>
    <p:sldId id="641" r:id="rId108"/>
    <p:sldId id="646" r:id="rId109"/>
    <p:sldId id="413" r:id="rId110"/>
    <p:sldId id="414" r:id="rId111"/>
    <p:sldId id="415" r:id="rId112"/>
    <p:sldId id="417" r:id="rId113"/>
    <p:sldId id="416" r:id="rId114"/>
    <p:sldId id="418" r:id="rId115"/>
    <p:sldId id="419" r:id="rId116"/>
    <p:sldId id="565" r:id="rId117"/>
    <p:sldId id="647" r:id="rId118"/>
    <p:sldId id="422" r:id="rId119"/>
    <p:sldId id="648" r:id="rId120"/>
    <p:sldId id="423" r:id="rId121"/>
    <p:sldId id="424" r:id="rId122"/>
    <p:sldId id="650" r:id="rId123"/>
    <p:sldId id="651" r:id="rId124"/>
    <p:sldId id="566" r:id="rId125"/>
    <p:sldId id="426" r:id="rId126"/>
    <p:sldId id="427" r:id="rId127"/>
    <p:sldId id="428" r:id="rId128"/>
    <p:sldId id="429" r:id="rId129"/>
    <p:sldId id="430" r:id="rId130"/>
    <p:sldId id="431" r:id="rId131"/>
    <p:sldId id="432" r:id="rId132"/>
    <p:sldId id="434" r:id="rId133"/>
    <p:sldId id="433" r:id="rId134"/>
    <p:sldId id="435" r:id="rId135"/>
    <p:sldId id="440" r:id="rId136"/>
    <p:sldId id="439" r:id="rId137"/>
    <p:sldId id="441" r:id="rId138"/>
    <p:sldId id="442" r:id="rId139"/>
    <p:sldId id="443" r:id="rId140"/>
    <p:sldId id="444" r:id="rId141"/>
    <p:sldId id="445" r:id="rId142"/>
    <p:sldId id="446" r:id="rId143"/>
    <p:sldId id="436" r:id="rId144"/>
    <p:sldId id="447" r:id="rId145"/>
    <p:sldId id="567" r:id="rId146"/>
    <p:sldId id="573" r:id="rId147"/>
    <p:sldId id="568" r:id="rId148"/>
    <p:sldId id="569" r:id="rId149"/>
    <p:sldId id="570" r:id="rId150"/>
    <p:sldId id="571" r:id="rId151"/>
    <p:sldId id="572" r:id="rId152"/>
    <p:sldId id="437" r:id="rId153"/>
    <p:sldId id="438" r:id="rId1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2" d="100"/>
          <a:sy n="42" d="100"/>
        </p:scale>
        <p:origin x="-36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3E4B5A-F0DA-45DB-8057-EA84829C2A07}" type="datetimeFigureOut">
              <a:rPr lang="zh-CN" altLang="en-US" smtClean="0"/>
              <a:t>2025/10/27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3F6518-B1A6-4D8A-B838-759C894BA8CF}" type="slidenum">
              <a:rPr lang="zh-CN" altLang="en-US" smtClean="0"/>
              <a:t>‹#›</a:t>
            </a:fld>
            <a:endParaRPr lang="zh-CN" altLang="en-US"/>
          </a:p>
        </p:txBody>
      </p:sp>
    </p:spTree>
    <p:extLst>
      <p:ext uri="{BB962C8B-B14F-4D97-AF65-F5344CB8AC3E}">
        <p14:creationId xmlns:p14="http://schemas.microsoft.com/office/powerpoint/2010/main" val="471445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2199A-0DD1-4268-98FF-F649B9DCF2C0}" type="slidenum">
              <a:rPr lang="zh-CN" altLang="en-US" smtClean="0"/>
              <a:pPr/>
              <a:t>11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2199A-0DD1-4268-98FF-F649B9DCF2C0}" type="slidenum">
              <a:rPr lang="zh-CN" altLang="en-US" smtClean="0"/>
              <a:pPr/>
              <a:t>12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2199A-0DD1-4268-98FF-F649B9DCF2C0}" type="slidenum">
              <a:rPr lang="zh-CN" altLang="en-US" smtClean="0"/>
              <a:pPr/>
              <a:t>13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2199A-0DD1-4268-98FF-F649B9DCF2C0}" type="slidenum">
              <a:rPr lang="zh-CN" altLang="en-US" smtClean="0"/>
              <a:pPr/>
              <a:t>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2840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385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05572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2025/10/27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08112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55B11C4-7618-49BA-A742-440409CFAB34}" type="datetimeFigureOut">
              <a:rPr lang="zh-CN" altLang="en-US" smtClean="0"/>
              <a:t>2025/10/27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247008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55B11C4-7618-49BA-A742-440409CFAB34}" type="datetimeFigureOut">
              <a:rPr lang="zh-CN" altLang="en-US" smtClean="0"/>
              <a:t>2025/10/27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68786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5B11C4-7618-49BA-A742-440409CFAB34}" type="datetimeFigureOut">
              <a:rPr lang="zh-CN" altLang="en-US" smtClean="0"/>
              <a:t>2025/10/27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909344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2025/10/27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24973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2025/10/27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88314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156022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4046055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B11C4-7618-49BA-A742-440409CFAB34}" type="datetimeFigureOut">
              <a:rPr lang="zh-CN" altLang="en-US" smtClean="0"/>
              <a:t>2025/10/27</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1293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1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png"/><Relationship Id="rId5" Type="http://schemas.openxmlformats.org/officeDocument/2006/relationships/image" Target="../media/image3.gif"/><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audio" Target="../media/audio2.bin"/><Relationship Id="rId2" Type="http://schemas.openxmlformats.org/officeDocument/2006/relationships/audio" Target="../media/audio1.bin"/><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8.jpeg"/><Relationship Id="rId4" Type="http://schemas.openxmlformats.org/officeDocument/2006/relationships/image" Target="../media/image7.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vmlDrawing" Target="../drawings/vmlDrawing4.vml"/><Relationship Id="rId4" Type="http://schemas.openxmlformats.org/officeDocument/2006/relationships/image" Target="../media/image12.wmf"/></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a:cxnSpLocks/>
          </p:cNvCxnSpPr>
          <p:nvPr/>
        </p:nvCxnSpPr>
        <p:spPr>
          <a:xfrm>
            <a:off x="0" y="1325288"/>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Rectangle 2"/>
          <p:cNvSpPr txBox="1">
            <a:spLocks noChangeArrowheads="1"/>
          </p:cNvSpPr>
          <p:nvPr/>
        </p:nvSpPr>
        <p:spPr>
          <a:xfrm>
            <a:off x="2209800" y="383177"/>
            <a:ext cx="7772400" cy="92528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5400" b="1" dirty="0">
                <a:latin typeface="黑体" pitchFamily="49" charset="-122"/>
                <a:ea typeface="黑体" pitchFamily="49" charset="-122"/>
                <a:cs typeface="+mn-cs"/>
              </a:rPr>
              <a:t>第</a:t>
            </a:r>
            <a:r>
              <a:rPr lang="en-US" altLang="zh-CN" sz="5400" b="1" dirty="0">
                <a:latin typeface="黑体" pitchFamily="49" charset="-122"/>
                <a:ea typeface="黑体" pitchFamily="49" charset="-122"/>
                <a:cs typeface="+mn-cs"/>
              </a:rPr>
              <a:t>7</a:t>
            </a:r>
            <a:r>
              <a:rPr lang="zh-CN" altLang="en-US" sz="5400" b="1" dirty="0">
                <a:latin typeface="黑体" pitchFamily="49" charset="-122"/>
                <a:ea typeface="黑体" pitchFamily="49" charset="-122"/>
                <a:cs typeface="+mn-cs"/>
              </a:rPr>
              <a:t>章 树和二叉树</a:t>
            </a:r>
            <a:endParaRPr lang="en-US" altLang="zh-CN" sz="5400" dirty="0"/>
          </a:p>
        </p:txBody>
      </p:sp>
      <p:sp>
        <p:nvSpPr>
          <p:cNvPr id="7" name="Text Box 15" descr="信纸">
            <a:extLst>
              <a:ext uri="{FF2B5EF4-FFF2-40B4-BE49-F238E27FC236}">
                <a16:creationId xmlns:a16="http://schemas.microsoft.com/office/drawing/2014/main" xmlns="" id="{B829BE09-B2D0-148D-6D84-097B5BEB7E57}"/>
              </a:ext>
            </a:extLst>
          </p:cNvPr>
          <p:cNvSpPr txBox="1">
            <a:spLocks noChangeArrowheads="1"/>
          </p:cNvSpPr>
          <p:nvPr/>
        </p:nvSpPr>
        <p:spPr bwMode="auto">
          <a:xfrm>
            <a:off x="3575720" y="2024529"/>
            <a:ext cx="4922800" cy="52322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defRPr sz="3200">
                <a:solidFill>
                  <a:schemeClr val="lt1"/>
                </a:solidFill>
                <a:latin typeface="微软雅黑" pitchFamily="34" charset="-122"/>
                <a:ea typeface="微软雅黑" pitchFamily="34"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dirty="0">
                <a:latin typeface="微软雅黑" pitchFamily="34" charset="-122"/>
                <a:ea typeface="微软雅黑" pitchFamily="34" charset="-122"/>
              </a:rPr>
              <a:t>7.2 </a:t>
            </a:r>
            <a:r>
              <a:rPr lang="zh-CN" altLang="en-US" sz="2800" dirty="0">
                <a:latin typeface="微软雅黑" pitchFamily="34" charset="-122"/>
                <a:ea typeface="微软雅黑" pitchFamily="34" charset="-122"/>
              </a:rPr>
              <a:t>二叉树的概念和性质 </a:t>
            </a:r>
          </a:p>
        </p:txBody>
      </p:sp>
      <p:sp>
        <p:nvSpPr>
          <p:cNvPr id="9" name="Text Box 15" descr="信纸">
            <a:extLst>
              <a:ext uri="{FF2B5EF4-FFF2-40B4-BE49-F238E27FC236}">
                <a16:creationId xmlns:a16="http://schemas.microsoft.com/office/drawing/2014/main" xmlns="" id="{A4F8D143-F80F-44F2-C34C-76299B54900C}"/>
              </a:ext>
            </a:extLst>
          </p:cNvPr>
          <p:cNvSpPr txBox="1">
            <a:spLocks noChangeArrowheads="1"/>
          </p:cNvSpPr>
          <p:nvPr/>
        </p:nvSpPr>
        <p:spPr bwMode="auto">
          <a:xfrm>
            <a:off x="3575720" y="2605781"/>
            <a:ext cx="4371830" cy="52322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defRPr sz="3200">
                <a:solidFill>
                  <a:schemeClr val="lt1"/>
                </a:solidFill>
                <a:latin typeface="微软雅黑" pitchFamily="34" charset="-122"/>
                <a:ea typeface="微软雅黑" pitchFamily="34"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dirty="0">
                <a:latin typeface="微软雅黑" pitchFamily="34" charset="-122"/>
                <a:ea typeface="微软雅黑" pitchFamily="34" charset="-122"/>
              </a:rPr>
              <a:t>7.3 </a:t>
            </a:r>
            <a:r>
              <a:rPr lang="zh-CN" altLang="en-US" sz="2800" dirty="0">
                <a:latin typeface="微软雅黑" pitchFamily="34" charset="-122"/>
                <a:ea typeface="微软雅黑" pitchFamily="34" charset="-122"/>
              </a:rPr>
              <a:t>二叉树的存储结构 </a:t>
            </a:r>
          </a:p>
        </p:txBody>
      </p:sp>
      <p:sp>
        <p:nvSpPr>
          <p:cNvPr id="10" name="Text Box 15" descr="信纸">
            <a:extLst>
              <a:ext uri="{FF2B5EF4-FFF2-40B4-BE49-F238E27FC236}">
                <a16:creationId xmlns:a16="http://schemas.microsoft.com/office/drawing/2014/main" xmlns="" id="{70AE2889-CA54-915D-F457-6A963E322B5F}"/>
              </a:ext>
            </a:extLst>
          </p:cNvPr>
          <p:cNvSpPr txBox="1">
            <a:spLocks noChangeArrowheads="1"/>
          </p:cNvSpPr>
          <p:nvPr/>
        </p:nvSpPr>
        <p:spPr bwMode="auto">
          <a:xfrm>
            <a:off x="3575720" y="3187033"/>
            <a:ext cx="5184576" cy="52322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defRPr sz="3200">
                <a:solidFill>
                  <a:schemeClr val="lt1"/>
                </a:solidFill>
                <a:latin typeface="微软雅黑" pitchFamily="34" charset="-122"/>
                <a:ea typeface="微软雅黑" pitchFamily="34"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dirty="0">
                <a:latin typeface="微软雅黑" pitchFamily="34" charset="-122"/>
                <a:ea typeface="微软雅黑" pitchFamily="34" charset="-122"/>
              </a:rPr>
              <a:t>7.4 </a:t>
            </a:r>
            <a:r>
              <a:rPr lang="zh-CN" altLang="en-US" sz="2800" dirty="0">
                <a:latin typeface="微软雅黑" pitchFamily="34" charset="-122"/>
                <a:ea typeface="微软雅黑" pitchFamily="34" charset="-122"/>
              </a:rPr>
              <a:t>二叉树基本运算及其实现</a:t>
            </a:r>
          </a:p>
        </p:txBody>
      </p:sp>
      <p:sp>
        <p:nvSpPr>
          <p:cNvPr id="11" name="Text Box 15" descr="信纸">
            <a:extLst>
              <a:ext uri="{FF2B5EF4-FFF2-40B4-BE49-F238E27FC236}">
                <a16:creationId xmlns:a16="http://schemas.microsoft.com/office/drawing/2014/main" xmlns="" id="{415A4675-149D-5EBB-0D78-8A1DF8D4F43F}"/>
              </a:ext>
            </a:extLst>
          </p:cNvPr>
          <p:cNvSpPr txBox="1">
            <a:spLocks noChangeArrowheads="1"/>
          </p:cNvSpPr>
          <p:nvPr/>
        </p:nvSpPr>
        <p:spPr bwMode="auto">
          <a:xfrm>
            <a:off x="3575720" y="5512041"/>
            <a:ext cx="3240000" cy="52322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defRPr sz="3200">
                <a:solidFill>
                  <a:schemeClr val="lt1"/>
                </a:solidFill>
                <a:latin typeface="微软雅黑" pitchFamily="34" charset="-122"/>
                <a:ea typeface="微软雅黑" pitchFamily="34"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dirty="0">
                <a:latin typeface="微软雅黑" pitchFamily="34" charset="-122"/>
                <a:ea typeface="微软雅黑" pitchFamily="34" charset="-122"/>
              </a:rPr>
              <a:t>7.8 </a:t>
            </a:r>
            <a:r>
              <a:rPr lang="zh-CN" altLang="en-US" sz="2800" dirty="0">
                <a:latin typeface="微软雅黑" pitchFamily="34" charset="-122"/>
                <a:ea typeface="微软雅黑" pitchFamily="34" charset="-122"/>
              </a:rPr>
              <a:t>哈夫曼树</a:t>
            </a:r>
          </a:p>
        </p:txBody>
      </p:sp>
      <p:sp>
        <p:nvSpPr>
          <p:cNvPr id="12" name="Text Box 15" descr="信纸">
            <a:extLst>
              <a:ext uri="{FF2B5EF4-FFF2-40B4-BE49-F238E27FC236}">
                <a16:creationId xmlns:a16="http://schemas.microsoft.com/office/drawing/2014/main" xmlns="" id="{7D4F983B-501F-61B5-7F35-FB3317B7C199}"/>
              </a:ext>
            </a:extLst>
          </p:cNvPr>
          <p:cNvSpPr txBox="1">
            <a:spLocks noChangeArrowheads="1"/>
          </p:cNvSpPr>
          <p:nvPr/>
        </p:nvSpPr>
        <p:spPr bwMode="auto">
          <a:xfrm>
            <a:off x="3575720" y="4930789"/>
            <a:ext cx="3240000" cy="52322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defRPr sz="3200">
                <a:solidFill>
                  <a:schemeClr val="lt1"/>
                </a:solidFill>
                <a:latin typeface="微软雅黑" pitchFamily="34" charset="-122"/>
                <a:ea typeface="微软雅黑" pitchFamily="34"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i="1" dirty="0">
                <a:solidFill>
                  <a:srgbClr val="FFC000"/>
                </a:solidFill>
                <a:latin typeface="微软雅黑" pitchFamily="34" charset="-122"/>
                <a:ea typeface="微软雅黑" pitchFamily="34" charset="-122"/>
              </a:rPr>
              <a:t>7.7 </a:t>
            </a:r>
            <a:r>
              <a:rPr lang="zh-CN" altLang="en-US" sz="2800" i="1" dirty="0">
                <a:solidFill>
                  <a:srgbClr val="FFC000"/>
                </a:solidFill>
                <a:latin typeface="微软雅黑" pitchFamily="34" charset="-122"/>
                <a:ea typeface="微软雅黑" pitchFamily="34" charset="-122"/>
              </a:rPr>
              <a:t>线索二叉树</a:t>
            </a:r>
          </a:p>
        </p:txBody>
      </p:sp>
      <p:sp>
        <p:nvSpPr>
          <p:cNvPr id="14" name="Text Box 15" descr="信纸">
            <a:extLst>
              <a:ext uri="{FF2B5EF4-FFF2-40B4-BE49-F238E27FC236}">
                <a16:creationId xmlns:a16="http://schemas.microsoft.com/office/drawing/2014/main" xmlns="" id="{A702DCCB-0489-6382-1B39-3CFAF4BC539E}"/>
              </a:ext>
            </a:extLst>
          </p:cNvPr>
          <p:cNvSpPr txBox="1">
            <a:spLocks noChangeArrowheads="1"/>
          </p:cNvSpPr>
          <p:nvPr/>
        </p:nvSpPr>
        <p:spPr bwMode="auto">
          <a:xfrm>
            <a:off x="3575720" y="4349537"/>
            <a:ext cx="3924000" cy="52322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defRPr sz="3200">
                <a:solidFill>
                  <a:schemeClr val="lt1"/>
                </a:solidFill>
                <a:latin typeface="微软雅黑" pitchFamily="34" charset="-122"/>
                <a:ea typeface="微软雅黑" pitchFamily="34"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dirty="0">
                <a:latin typeface="微软雅黑" pitchFamily="34" charset="-122"/>
                <a:ea typeface="微软雅黑" pitchFamily="34" charset="-122"/>
              </a:rPr>
              <a:t>7.6 </a:t>
            </a:r>
            <a:r>
              <a:rPr lang="zh-CN" altLang="en-US" sz="2800" dirty="0">
                <a:latin typeface="微软雅黑" pitchFamily="34" charset="-122"/>
                <a:ea typeface="微软雅黑" pitchFamily="34" charset="-122"/>
              </a:rPr>
              <a:t>二叉树的构造</a:t>
            </a:r>
          </a:p>
        </p:txBody>
      </p:sp>
      <p:sp>
        <p:nvSpPr>
          <p:cNvPr id="15" name="Text Box 15" descr="信纸">
            <a:extLst>
              <a:ext uri="{FF2B5EF4-FFF2-40B4-BE49-F238E27FC236}">
                <a16:creationId xmlns:a16="http://schemas.microsoft.com/office/drawing/2014/main" xmlns="" id="{C28F3B73-5B6D-3B07-8C4B-FF3B6C81AC40}"/>
              </a:ext>
            </a:extLst>
          </p:cNvPr>
          <p:cNvSpPr txBox="1">
            <a:spLocks noChangeArrowheads="1"/>
          </p:cNvSpPr>
          <p:nvPr/>
        </p:nvSpPr>
        <p:spPr bwMode="auto">
          <a:xfrm>
            <a:off x="3575720" y="3768285"/>
            <a:ext cx="3924000" cy="52322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defRPr sz="3200">
                <a:solidFill>
                  <a:schemeClr val="lt1"/>
                </a:solidFill>
                <a:latin typeface="微软雅黑" pitchFamily="34" charset="-122"/>
                <a:ea typeface="微软雅黑" pitchFamily="34"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dirty="0">
                <a:latin typeface="微软雅黑" pitchFamily="34" charset="-122"/>
                <a:ea typeface="微软雅黑" pitchFamily="34" charset="-122"/>
              </a:rPr>
              <a:t>7.5 </a:t>
            </a:r>
            <a:r>
              <a:rPr lang="zh-CN" altLang="en-US" sz="2800" dirty="0">
                <a:latin typeface="微软雅黑" pitchFamily="34" charset="-122"/>
                <a:ea typeface="微软雅黑" pitchFamily="34" charset="-122"/>
              </a:rPr>
              <a:t>二叉树的遍历</a:t>
            </a:r>
          </a:p>
        </p:txBody>
      </p:sp>
      <p:sp>
        <p:nvSpPr>
          <p:cNvPr id="16" name="Text Box 15" descr="信纸">
            <a:extLst>
              <a:ext uri="{FF2B5EF4-FFF2-40B4-BE49-F238E27FC236}">
                <a16:creationId xmlns:a16="http://schemas.microsoft.com/office/drawing/2014/main" xmlns="" id="{16146253-93C8-8EE0-E7B9-76322B7D5E60}"/>
              </a:ext>
            </a:extLst>
          </p:cNvPr>
          <p:cNvSpPr txBox="1">
            <a:spLocks noChangeArrowheads="1"/>
          </p:cNvSpPr>
          <p:nvPr/>
        </p:nvSpPr>
        <p:spPr bwMode="auto">
          <a:xfrm>
            <a:off x="3575720" y="6093296"/>
            <a:ext cx="3240000" cy="52322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defRPr sz="3200">
                <a:solidFill>
                  <a:schemeClr val="lt1"/>
                </a:solidFill>
                <a:latin typeface="微软雅黑" pitchFamily="34" charset="-122"/>
                <a:ea typeface="微软雅黑" pitchFamily="34"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i="1" dirty="0">
                <a:solidFill>
                  <a:srgbClr val="FFC000"/>
                </a:solidFill>
                <a:latin typeface="微软雅黑" pitchFamily="34" charset="-122"/>
                <a:ea typeface="微软雅黑" pitchFamily="34" charset="-122"/>
              </a:rPr>
              <a:t>7.9 </a:t>
            </a:r>
            <a:r>
              <a:rPr lang="zh-CN" altLang="en-US" sz="2800" i="1" dirty="0">
                <a:solidFill>
                  <a:srgbClr val="FFC000"/>
                </a:solidFill>
                <a:latin typeface="微软雅黑" pitchFamily="34" charset="-122"/>
                <a:ea typeface="微软雅黑" pitchFamily="34" charset="-122"/>
              </a:rPr>
              <a:t>并查集</a:t>
            </a:r>
          </a:p>
        </p:txBody>
      </p:sp>
      <p:sp>
        <p:nvSpPr>
          <p:cNvPr id="17" name="Text Box 3" descr="信纸">
            <a:extLst>
              <a:ext uri="{FF2B5EF4-FFF2-40B4-BE49-F238E27FC236}">
                <a16:creationId xmlns:a16="http://schemas.microsoft.com/office/drawing/2014/main" xmlns="" id="{2CE088D2-FADF-3C71-11B1-91FCA452007D}"/>
              </a:ext>
            </a:extLst>
          </p:cNvPr>
          <p:cNvSpPr txBox="1">
            <a:spLocks noChangeArrowheads="1"/>
          </p:cNvSpPr>
          <p:nvPr/>
        </p:nvSpPr>
        <p:spPr bwMode="auto">
          <a:xfrm>
            <a:off x="3575720" y="1443277"/>
            <a:ext cx="3017563" cy="52322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a:solidFill>
                  <a:schemeClr val="lt1"/>
                </a:solidFill>
              </a:defRPr>
            </a:lvl1pPr>
            <a:lvl2pPr marL="0" lvl="1">
              <a:defRPr sz="3200">
                <a:solidFill>
                  <a:schemeClr val="lt1"/>
                </a:solidFill>
                <a:latin typeface="微软雅黑" pitchFamily="34" charset="-122"/>
                <a:ea typeface="微软雅黑" pitchFamily="34"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800" dirty="0">
                <a:latin typeface="微软雅黑" pitchFamily="34" charset="-122"/>
                <a:ea typeface="微软雅黑" pitchFamily="34" charset="-122"/>
              </a:rPr>
              <a:t>7.1 </a:t>
            </a:r>
            <a:r>
              <a:rPr lang="zh-CN" altLang="en-US" sz="2800" dirty="0">
                <a:latin typeface="微软雅黑" pitchFamily="34" charset="-122"/>
                <a:ea typeface="微软雅黑" pitchFamily="34" charset="-122"/>
              </a:rPr>
              <a:t>树的概念 </a:t>
            </a:r>
          </a:p>
        </p:txBody>
      </p:sp>
    </p:spTree>
    <p:extLst>
      <p:ext uri="{BB962C8B-B14F-4D97-AF65-F5344CB8AC3E}">
        <p14:creationId xmlns:p14="http://schemas.microsoft.com/office/powerpoint/2010/main" val="30190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7D49B6E-B520-EA27-0A7B-AB958C0354F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AA74D315-A775-B78A-5CD9-3522E1FBD8D5}"/>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16" name="Rectangle 2">
            <a:extLst>
              <a:ext uri="{FF2B5EF4-FFF2-40B4-BE49-F238E27FC236}">
                <a16:creationId xmlns:a16="http://schemas.microsoft.com/office/drawing/2014/main" xmlns="" id="{910309AC-E6ED-63A7-0556-EB51F93A105A}"/>
              </a:ext>
            </a:extLst>
          </p:cNvPr>
          <p:cNvSpPr txBox="1">
            <a:spLocks noChangeArrowheads="1"/>
          </p:cNvSpPr>
          <p:nvPr/>
        </p:nvSpPr>
        <p:spPr>
          <a:xfrm>
            <a:off x="79920" y="836712"/>
            <a:ext cx="27757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7.1.1 </a:t>
            </a:r>
            <a:r>
              <a:rPr lang="zh-CN" altLang="en-US" dirty="0"/>
              <a:t>树的定义</a:t>
            </a:r>
          </a:p>
        </p:txBody>
      </p:sp>
      <p:grpSp>
        <p:nvGrpSpPr>
          <p:cNvPr id="18" name="Group 4">
            <a:extLst>
              <a:ext uri="{FF2B5EF4-FFF2-40B4-BE49-F238E27FC236}">
                <a16:creationId xmlns:a16="http://schemas.microsoft.com/office/drawing/2014/main" xmlns="" id="{6161D2E6-A699-EDAE-5131-05B5A41E13A4}"/>
              </a:ext>
            </a:extLst>
          </p:cNvPr>
          <p:cNvGrpSpPr>
            <a:grpSpLocks/>
          </p:cNvGrpSpPr>
          <p:nvPr/>
        </p:nvGrpSpPr>
        <p:grpSpPr bwMode="auto">
          <a:xfrm>
            <a:off x="7312160" y="4375847"/>
            <a:ext cx="4571602" cy="2350282"/>
            <a:chOff x="1728" y="2160"/>
            <a:chExt cx="2680" cy="1301"/>
          </a:xfrm>
        </p:grpSpPr>
        <p:grpSp>
          <p:nvGrpSpPr>
            <p:cNvPr id="19" name="Group 5">
              <a:extLst>
                <a:ext uri="{FF2B5EF4-FFF2-40B4-BE49-F238E27FC236}">
                  <a16:creationId xmlns:a16="http://schemas.microsoft.com/office/drawing/2014/main" xmlns="" id="{5002387A-6632-E904-F51E-FEF37435E73D}"/>
                </a:ext>
              </a:extLst>
            </p:cNvPr>
            <p:cNvGrpSpPr>
              <a:grpSpLocks/>
            </p:cNvGrpSpPr>
            <p:nvPr/>
          </p:nvGrpSpPr>
          <p:grpSpPr bwMode="auto">
            <a:xfrm>
              <a:off x="4088" y="2855"/>
              <a:ext cx="320" cy="246"/>
              <a:chOff x="2880" y="1103"/>
              <a:chExt cx="367" cy="337"/>
            </a:xfrm>
          </p:grpSpPr>
          <p:sp>
            <p:nvSpPr>
              <p:cNvPr id="68" name="Oval 6">
                <a:extLst>
                  <a:ext uri="{FF2B5EF4-FFF2-40B4-BE49-F238E27FC236}">
                    <a16:creationId xmlns:a16="http://schemas.microsoft.com/office/drawing/2014/main" xmlns="" id="{41FF04CF-5528-6038-7EEC-62BD9582384C}"/>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69" name="Text Box 7">
                <a:extLst>
                  <a:ext uri="{FF2B5EF4-FFF2-40B4-BE49-F238E27FC236}">
                    <a16:creationId xmlns:a16="http://schemas.microsoft.com/office/drawing/2014/main" xmlns="" id="{6BE960C1-2A01-4B85-7D53-092D6178743C}"/>
                  </a:ext>
                </a:extLst>
              </p:cNvPr>
              <p:cNvSpPr txBox="1">
                <a:spLocks noChangeArrowheads="1"/>
              </p:cNvSpPr>
              <p:nvPr/>
            </p:nvSpPr>
            <p:spPr bwMode="auto">
              <a:xfrm>
                <a:off x="2928" y="1103"/>
                <a:ext cx="31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J</a:t>
                </a:r>
              </a:p>
            </p:txBody>
          </p:sp>
        </p:grpSp>
        <p:grpSp>
          <p:nvGrpSpPr>
            <p:cNvPr id="20" name="Group 8">
              <a:extLst>
                <a:ext uri="{FF2B5EF4-FFF2-40B4-BE49-F238E27FC236}">
                  <a16:creationId xmlns:a16="http://schemas.microsoft.com/office/drawing/2014/main" xmlns="" id="{164BD85A-1FED-97A2-44C6-34FCA4862FE1}"/>
                </a:ext>
              </a:extLst>
            </p:cNvPr>
            <p:cNvGrpSpPr>
              <a:grpSpLocks/>
            </p:cNvGrpSpPr>
            <p:nvPr/>
          </p:nvGrpSpPr>
          <p:grpSpPr bwMode="auto">
            <a:xfrm>
              <a:off x="3750" y="2858"/>
              <a:ext cx="320" cy="245"/>
              <a:chOff x="2880" y="1104"/>
              <a:chExt cx="367" cy="336"/>
            </a:xfrm>
          </p:grpSpPr>
          <p:sp>
            <p:nvSpPr>
              <p:cNvPr id="66" name="Oval 9">
                <a:extLst>
                  <a:ext uri="{FF2B5EF4-FFF2-40B4-BE49-F238E27FC236}">
                    <a16:creationId xmlns:a16="http://schemas.microsoft.com/office/drawing/2014/main" xmlns="" id="{F3EB4E4E-81B4-CE2B-1CD4-E95B34F33CDC}"/>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67" name="Text Box 10">
                <a:extLst>
                  <a:ext uri="{FF2B5EF4-FFF2-40B4-BE49-F238E27FC236}">
                    <a16:creationId xmlns:a16="http://schemas.microsoft.com/office/drawing/2014/main" xmlns="" id="{79135C27-9CE0-7040-24B0-452E1C07A69D}"/>
                  </a:ext>
                </a:extLst>
              </p:cNvPr>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I</a:t>
                </a:r>
              </a:p>
            </p:txBody>
          </p:sp>
        </p:grpSp>
        <p:grpSp>
          <p:nvGrpSpPr>
            <p:cNvPr id="21" name="Group 11">
              <a:extLst>
                <a:ext uri="{FF2B5EF4-FFF2-40B4-BE49-F238E27FC236}">
                  <a16:creationId xmlns:a16="http://schemas.microsoft.com/office/drawing/2014/main" xmlns="" id="{D5E6DEB2-5A5B-1F10-ED8F-851C79F67DD0}"/>
                </a:ext>
              </a:extLst>
            </p:cNvPr>
            <p:cNvGrpSpPr>
              <a:grpSpLocks/>
            </p:cNvGrpSpPr>
            <p:nvPr/>
          </p:nvGrpSpPr>
          <p:grpSpPr bwMode="auto">
            <a:xfrm>
              <a:off x="2982" y="2160"/>
              <a:ext cx="320" cy="245"/>
              <a:chOff x="2880" y="1104"/>
              <a:chExt cx="367" cy="336"/>
            </a:xfrm>
          </p:grpSpPr>
          <p:sp>
            <p:nvSpPr>
              <p:cNvPr id="64" name="Oval 12">
                <a:extLst>
                  <a:ext uri="{FF2B5EF4-FFF2-40B4-BE49-F238E27FC236}">
                    <a16:creationId xmlns:a16="http://schemas.microsoft.com/office/drawing/2014/main" xmlns="" id="{21ECEF7D-F2DA-AAEE-F3AE-D6B405BB8313}"/>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65" name="Text Box 13">
                <a:extLst>
                  <a:ext uri="{FF2B5EF4-FFF2-40B4-BE49-F238E27FC236}">
                    <a16:creationId xmlns:a16="http://schemas.microsoft.com/office/drawing/2014/main" xmlns="" id="{556888F2-3EE3-5FDA-E466-B5600CBEDB4B}"/>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A</a:t>
                </a:r>
              </a:p>
            </p:txBody>
          </p:sp>
        </p:grpSp>
        <p:grpSp>
          <p:nvGrpSpPr>
            <p:cNvPr id="22" name="Group 14">
              <a:extLst>
                <a:ext uri="{FF2B5EF4-FFF2-40B4-BE49-F238E27FC236}">
                  <a16:creationId xmlns:a16="http://schemas.microsoft.com/office/drawing/2014/main" xmlns="" id="{7B8294FA-BBBA-F133-F6F5-041BB16C7359}"/>
                </a:ext>
              </a:extLst>
            </p:cNvPr>
            <p:cNvGrpSpPr>
              <a:grpSpLocks/>
            </p:cNvGrpSpPr>
            <p:nvPr/>
          </p:nvGrpSpPr>
          <p:grpSpPr bwMode="auto">
            <a:xfrm>
              <a:off x="2982" y="2497"/>
              <a:ext cx="320" cy="245"/>
              <a:chOff x="2880" y="1104"/>
              <a:chExt cx="367" cy="336"/>
            </a:xfrm>
          </p:grpSpPr>
          <p:sp>
            <p:nvSpPr>
              <p:cNvPr id="62" name="Oval 15">
                <a:extLst>
                  <a:ext uri="{FF2B5EF4-FFF2-40B4-BE49-F238E27FC236}">
                    <a16:creationId xmlns:a16="http://schemas.microsoft.com/office/drawing/2014/main" xmlns="" id="{89732C01-7F24-F189-A4B9-CC65A79D4DB6}"/>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63" name="Text Box 16">
                <a:extLst>
                  <a:ext uri="{FF2B5EF4-FFF2-40B4-BE49-F238E27FC236}">
                    <a16:creationId xmlns:a16="http://schemas.microsoft.com/office/drawing/2014/main" xmlns="" id="{BB91E3E1-5FD7-9347-C759-97E4C9FA097F}"/>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C</a:t>
                </a:r>
              </a:p>
            </p:txBody>
          </p:sp>
        </p:grpSp>
        <p:grpSp>
          <p:nvGrpSpPr>
            <p:cNvPr id="23" name="Group 17">
              <a:extLst>
                <a:ext uri="{FF2B5EF4-FFF2-40B4-BE49-F238E27FC236}">
                  <a16:creationId xmlns:a16="http://schemas.microsoft.com/office/drawing/2014/main" xmlns="" id="{1D771F7F-6BE6-D7C2-74A2-02F0C5F78468}"/>
                </a:ext>
              </a:extLst>
            </p:cNvPr>
            <p:cNvGrpSpPr>
              <a:grpSpLocks/>
            </p:cNvGrpSpPr>
            <p:nvPr/>
          </p:nvGrpSpPr>
          <p:grpSpPr bwMode="auto">
            <a:xfrm>
              <a:off x="2304" y="2497"/>
              <a:ext cx="320" cy="245"/>
              <a:chOff x="2880" y="1104"/>
              <a:chExt cx="367" cy="336"/>
            </a:xfrm>
          </p:grpSpPr>
          <p:sp>
            <p:nvSpPr>
              <p:cNvPr id="60" name="Oval 18">
                <a:extLst>
                  <a:ext uri="{FF2B5EF4-FFF2-40B4-BE49-F238E27FC236}">
                    <a16:creationId xmlns:a16="http://schemas.microsoft.com/office/drawing/2014/main" xmlns="" id="{D5EA0431-12AB-8181-7236-F64B9AD914CA}"/>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61" name="Text Box 19">
                <a:extLst>
                  <a:ext uri="{FF2B5EF4-FFF2-40B4-BE49-F238E27FC236}">
                    <a16:creationId xmlns:a16="http://schemas.microsoft.com/office/drawing/2014/main" xmlns="" id="{467D35E4-5549-D920-ADF4-C7F36C50B4A7}"/>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B</a:t>
                </a:r>
              </a:p>
            </p:txBody>
          </p:sp>
        </p:grpSp>
        <p:grpSp>
          <p:nvGrpSpPr>
            <p:cNvPr id="24" name="Group 20">
              <a:extLst>
                <a:ext uri="{FF2B5EF4-FFF2-40B4-BE49-F238E27FC236}">
                  <a16:creationId xmlns:a16="http://schemas.microsoft.com/office/drawing/2014/main" xmlns="" id="{8A3D4320-CD42-8582-3864-DBE2770E842B}"/>
                </a:ext>
              </a:extLst>
            </p:cNvPr>
            <p:cNvGrpSpPr>
              <a:grpSpLocks/>
            </p:cNvGrpSpPr>
            <p:nvPr/>
          </p:nvGrpSpPr>
          <p:grpSpPr bwMode="auto">
            <a:xfrm>
              <a:off x="3750" y="2497"/>
              <a:ext cx="320" cy="245"/>
              <a:chOff x="2880" y="1104"/>
              <a:chExt cx="367" cy="336"/>
            </a:xfrm>
          </p:grpSpPr>
          <p:sp>
            <p:nvSpPr>
              <p:cNvPr id="58" name="Oval 21">
                <a:extLst>
                  <a:ext uri="{FF2B5EF4-FFF2-40B4-BE49-F238E27FC236}">
                    <a16:creationId xmlns:a16="http://schemas.microsoft.com/office/drawing/2014/main" xmlns="" id="{A8846C82-643F-512A-478B-6EB2825ECCEC}"/>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59" name="Text Box 22">
                <a:extLst>
                  <a:ext uri="{FF2B5EF4-FFF2-40B4-BE49-F238E27FC236}">
                    <a16:creationId xmlns:a16="http://schemas.microsoft.com/office/drawing/2014/main" xmlns="" id="{00AAF507-FA8D-6D38-FA7B-A0CE09E4C867}"/>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D</a:t>
                </a:r>
              </a:p>
            </p:txBody>
          </p:sp>
        </p:grpSp>
        <p:grpSp>
          <p:nvGrpSpPr>
            <p:cNvPr id="25" name="Group 23">
              <a:extLst>
                <a:ext uri="{FF2B5EF4-FFF2-40B4-BE49-F238E27FC236}">
                  <a16:creationId xmlns:a16="http://schemas.microsoft.com/office/drawing/2014/main" xmlns="" id="{F50F1AD0-DB70-8DB7-9235-D979C53F9E4F}"/>
                </a:ext>
              </a:extLst>
            </p:cNvPr>
            <p:cNvGrpSpPr>
              <a:grpSpLocks/>
            </p:cNvGrpSpPr>
            <p:nvPr/>
          </p:nvGrpSpPr>
          <p:grpSpPr bwMode="auto">
            <a:xfrm>
              <a:off x="3408" y="2858"/>
              <a:ext cx="320" cy="245"/>
              <a:chOff x="2880" y="1104"/>
              <a:chExt cx="367" cy="336"/>
            </a:xfrm>
          </p:grpSpPr>
          <p:sp>
            <p:nvSpPr>
              <p:cNvPr id="56" name="Oval 24">
                <a:extLst>
                  <a:ext uri="{FF2B5EF4-FFF2-40B4-BE49-F238E27FC236}">
                    <a16:creationId xmlns:a16="http://schemas.microsoft.com/office/drawing/2014/main" xmlns="" id="{D37A54C4-EAD0-F9D8-4329-B0E180E7D338}"/>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57" name="Text Box 25">
                <a:extLst>
                  <a:ext uri="{FF2B5EF4-FFF2-40B4-BE49-F238E27FC236}">
                    <a16:creationId xmlns:a16="http://schemas.microsoft.com/office/drawing/2014/main" xmlns="" id="{E7B5D261-D8CC-3C15-B7FF-88A855C8A95F}"/>
                  </a:ext>
                </a:extLst>
              </p:cNvPr>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H</a:t>
                </a:r>
              </a:p>
            </p:txBody>
          </p:sp>
        </p:grpSp>
        <p:grpSp>
          <p:nvGrpSpPr>
            <p:cNvPr id="26" name="Group 26">
              <a:extLst>
                <a:ext uri="{FF2B5EF4-FFF2-40B4-BE49-F238E27FC236}">
                  <a16:creationId xmlns:a16="http://schemas.microsoft.com/office/drawing/2014/main" xmlns="" id="{807174B9-97CF-A895-8E79-EEB1697D5C53}"/>
                </a:ext>
              </a:extLst>
            </p:cNvPr>
            <p:cNvGrpSpPr>
              <a:grpSpLocks/>
            </p:cNvGrpSpPr>
            <p:nvPr/>
          </p:nvGrpSpPr>
          <p:grpSpPr bwMode="auto">
            <a:xfrm>
              <a:off x="2982" y="2858"/>
              <a:ext cx="320" cy="245"/>
              <a:chOff x="2880" y="1104"/>
              <a:chExt cx="367" cy="336"/>
            </a:xfrm>
          </p:grpSpPr>
          <p:sp>
            <p:nvSpPr>
              <p:cNvPr id="54" name="Oval 27">
                <a:extLst>
                  <a:ext uri="{FF2B5EF4-FFF2-40B4-BE49-F238E27FC236}">
                    <a16:creationId xmlns:a16="http://schemas.microsoft.com/office/drawing/2014/main" xmlns="" id="{7D30EA05-DAF5-D7F8-3B4A-86F089208C16}"/>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55" name="Text Box 28">
                <a:extLst>
                  <a:ext uri="{FF2B5EF4-FFF2-40B4-BE49-F238E27FC236}">
                    <a16:creationId xmlns:a16="http://schemas.microsoft.com/office/drawing/2014/main" xmlns="" id="{77A94B21-9642-E4A7-B0E5-E53F9866B0E1}"/>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G</a:t>
                </a:r>
              </a:p>
            </p:txBody>
          </p:sp>
        </p:grpSp>
        <p:grpSp>
          <p:nvGrpSpPr>
            <p:cNvPr id="27" name="Group 29">
              <a:extLst>
                <a:ext uri="{FF2B5EF4-FFF2-40B4-BE49-F238E27FC236}">
                  <a16:creationId xmlns:a16="http://schemas.microsoft.com/office/drawing/2014/main" xmlns="" id="{56BB5960-4419-8687-0009-F2FB0177842E}"/>
                </a:ext>
              </a:extLst>
            </p:cNvPr>
            <p:cNvGrpSpPr>
              <a:grpSpLocks/>
            </p:cNvGrpSpPr>
            <p:nvPr/>
          </p:nvGrpSpPr>
          <p:grpSpPr bwMode="auto">
            <a:xfrm>
              <a:off x="2502" y="2858"/>
              <a:ext cx="320" cy="245"/>
              <a:chOff x="2880" y="1104"/>
              <a:chExt cx="367" cy="336"/>
            </a:xfrm>
          </p:grpSpPr>
          <p:sp>
            <p:nvSpPr>
              <p:cNvPr id="52" name="Oval 30">
                <a:extLst>
                  <a:ext uri="{FF2B5EF4-FFF2-40B4-BE49-F238E27FC236}">
                    <a16:creationId xmlns:a16="http://schemas.microsoft.com/office/drawing/2014/main" xmlns="" id="{576AB958-989B-9E8D-E8BF-01D8151E7A7B}"/>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53" name="Text Box 31">
                <a:extLst>
                  <a:ext uri="{FF2B5EF4-FFF2-40B4-BE49-F238E27FC236}">
                    <a16:creationId xmlns:a16="http://schemas.microsoft.com/office/drawing/2014/main" xmlns="" id="{2CD34FBE-6068-B85B-D654-823804C90CB2}"/>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F</a:t>
                </a:r>
              </a:p>
            </p:txBody>
          </p:sp>
        </p:grpSp>
        <p:grpSp>
          <p:nvGrpSpPr>
            <p:cNvPr id="28" name="Group 32">
              <a:extLst>
                <a:ext uri="{FF2B5EF4-FFF2-40B4-BE49-F238E27FC236}">
                  <a16:creationId xmlns:a16="http://schemas.microsoft.com/office/drawing/2014/main" xmlns="" id="{1D2F6EF7-0411-36CE-F79D-D55AC494A3DA}"/>
                </a:ext>
              </a:extLst>
            </p:cNvPr>
            <p:cNvGrpSpPr>
              <a:grpSpLocks/>
            </p:cNvGrpSpPr>
            <p:nvPr/>
          </p:nvGrpSpPr>
          <p:grpSpPr bwMode="auto">
            <a:xfrm>
              <a:off x="2016" y="2858"/>
              <a:ext cx="320" cy="245"/>
              <a:chOff x="2880" y="1104"/>
              <a:chExt cx="367" cy="336"/>
            </a:xfrm>
          </p:grpSpPr>
          <p:sp>
            <p:nvSpPr>
              <p:cNvPr id="50" name="Oval 33">
                <a:extLst>
                  <a:ext uri="{FF2B5EF4-FFF2-40B4-BE49-F238E27FC236}">
                    <a16:creationId xmlns:a16="http://schemas.microsoft.com/office/drawing/2014/main" xmlns="" id="{1F6238B2-4C79-F820-EA0C-F3A2C917923F}"/>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51" name="Text Box 34">
                <a:extLst>
                  <a:ext uri="{FF2B5EF4-FFF2-40B4-BE49-F238E27FC236}">
                    <a16:creationId xmlns:a16="http://schemas.microsoft.com/office/drawing/2014/main" xmlns="" id="{CB55AB66-D163-106B-53D0-DF9AC50EA819}"/>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E</a:t>
                </a:r>
              </a:p>
            </p:txBody>
          </p:sp>
        </p:grpSp>
        <p:sp>
          <p:nvSpPr>
            <p:cNvPr id="29" name="Line 35">
              <a:extLst>
                <a:ext uri="{FF2B5EF4-FFF2-40B4-BE49-F238E27FC236}">
                  <a16:creationId xmlns:a16="http://schemas.microsoft.com/office/drawing/2014/main" xmlns="" id="{99247596-A2ED-1632-E88F-6C3D4ADFB398}"/>
                </a:ext>
              </a:extLst>
            </p:cNvPr>
            <p:cNvSpPr>
              <a:spLocks noChangeShapeType="1"/>
            </p:cNvSpPr>
            <p:nvPr/>
          </p:nvSpPr>
          <p:spPr bwMode="auto">
            <a:xfrm>
              <a:off x="3126" y="2400"/>
              <a:ext cx="0" cy="96"/>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36">
              <a:extLst>
                <a:ext uri="{FF2B5EF4-FFF2-40B4-BE49-F238E27FC236}">
                  <a16:creationId xmlns:a16="http://schemas.microsoft.com/office/drawing/2014/main" xmlns="" id="{46799C7C-C115-73B0-BD01-4CA03508A4A5}"/>
                </a:ext>
              </a:extLst>
            </p:cNvPr>
            <p:cNvSpPr>
              <a:spLocks noChangeShapeType="1"/>
            </p:cNvSpPr>
            <p:nvPr/>
          </p:nvSpPr>
          <p:spPr bwMode="auto">
            <a:xfrm flipH="1">
              <a:off x="2550" y="2304"/>
              <a:ext cx="432"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37">
              <a:extLst>
                <a:ext uri="{FF2B5EF4-FFF2-40B4-BE49-F238E27FC236}">
                  <a16:creationId xmlns:a16="http://schemas.microsoft.com/office/drawing/2014/main" xmlns="" id="{3D27B84F-E8AF-C03A-D805-2B45973EB468}"/>
                </a:ext>
              </a:extLst>
            </p:cNvPr>
            <p:cNvSpPr>
              <a:spLocks noChangeShapeType="1"/>
            </p:cNvSpPr>
            <p:nvPr/>
          </p:nvSpPr>
          <p:spPr bwMode="auto">
            <a:xfrm flipH="1">
              <a:off x="2247" y="2729"/>
              <a:ext cx="132"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38">
              <a:extLst>
                <a:ext uri="{FF2B5EF4-FFF2-40B4-BE49-F238E27FC236}">
                  <a16:creationId xmlns:a16="http://schemas.microsoft.com/office/drawing/2014/main" xmlns="" id="{6DB1CFA6-F433-E6B0-8F44-DF0B28C7A5A9}"/>
                </a:ext>
              </a:extLst>
            </p:cNvPr>
            <p:cNvSpPr>
              <a:spLocks noChangeShapeType="1"/>
            </p:cNvSpPr>
            <p:nvPr/>
          </p:nvSpPr>
          <p:spPr bwMode="auto">
            <a:xfrm>
              <a:off x="2532" y="2729"/>
              <a:ext cx="114"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39">
              <a:extLst>
                <a:ext uri="{FF2B5EF4-FFF2-40B4-BE49-F238E27FC236}">
                  <a16:creationId xmlns:a16="http://schemas.microsoft.com/office/drawing/2014/main" xmlns="" id="{E30B3C55-D0CC-A3F0-9CC5-BBE764303480}"/>
                </a:ext>
              </a:extLst>
            </p:cNvPr>
            <p:cNvSpPr>
              <a:spLocks noChangeShapeType="1"/>
            </p:cNvSpPr>
            <p:nvPr/>
          </p:nvSpPr>
          <p:spPr bwMode="auto">
            <a:xfrm>
              <a:off x="3126"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40">
              <a:extLst>
                <a:ext uri="{FF2B5EF4-FFF2-40B4-BE49-F238E27FC236}">
                  <a16:creationId xmlns:a16="http://schemas.microsoft.com/office/drawing/2014/main" xmlns="" id="{10883273-E9FF-4494-006D-624F6769D4C2}"/>
                </a:ext>
              </a:extLst>
            </p:cNvPr>
            <p:cNvSpPr>
              <a:spLocks noChangeShapeType="1"/>
            </p:cNvSpPr>
            <p:nvPr/>
          </p:nvSpPr>
          <p:spPr bwMode="auto">
            <a:xfrm>
              <a:off x="3258" y="2310"/>
              <a:ext cx="492" cy="28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41">
              <a:extLst>
                <a:ext uri="{FF2B5EF4-FFF2-40B4-BE49-F238E27FC236}">
                  <a16:creationId xmlns:a16="http://schemas.microsoft.com/office/drawing/2014/main" xmlns="" id="{20C381CF-71D2-4088-406C-3F98231F68AD}"/>
                </a:ext>
              </a:extLst>
            </p:cNvPr>
            <p:cNvSpPr>
              <a:spLocks noChangeShapeType="1"/>
            </p:cNvSpPr>
            <p:nvPr/>
          </p:nvSpPr>
          <p:spPr bwMode="auto">
            <a:xfrm flipH="1">
              <a:off x="3606"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42">
              <a:extLst>
                <a:ext uri="{FF2B5EF4-FFF2-40B4-BE49-F238E27FC236}">
                  <a16:creationId xmlns:a16="http://schemas.microsoft.com/office/drawing/2014/main" xmlns="" id="{BE36E2FA-725F-95BF-B902-2EDFA9EEB59E}"/>
                </a:ext>
              </a:extLst>
            </p:cNvPr>
            <p:cNvSpPr>
              <a:spLocks noChangeShapeType="1"/>
            </p:cNvSpPr>
            <p:nvPr/>
          </p:nvSpPr>
          <p:spPr bwMode="auto">
            <a:xfrm>
              <a:off x="3894"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43">
              <a:extLst>
                <a:ext uri="{FF2B5EF4-FFF2-40B4-BE49-F238E27FC236}">
                  <a16:creationId xmlns:a16="http://schemas.microsoft.com/office/drawing/2014/main" xmlns="" id="{1BCF0D4C-A7C2-55AC-59E5-3FE858CB3E76}"/>
                </a:ext>
              </a:extLst>
            </p:cNvPr>
            <p:cNvSpPr>
              <a:spLocks noChangeShapeType="1"/>
            </p:cNvSpPr>
            <p:nvPr/>
          </p:nvSpPr>
          <p:spPr bwMode="auto">
            <a:xfrm>
              <a:off x="3990"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8" name="Group 44">
              <a:extLst>
                <a:ext uri="{FF2B5EF4-FFF2-40B4-BE49-F238E27FC236}">
                  <a16:creationId xmlns:a16="http://schemas.microsoft.com/office/drawing/2014/main" xmlns="" id="{9751CD6E-E6F1-BBEF-065E-E50E7C1D232E}"/>
                </a:ext>
              </a:extLst>
            </p:cNvPr>
            <p:cNvGrpSpPr>
              <a:grpSpLocks/>
            </p:cNvGrpSpPr>
            <p:nvPr/>
          </p:nvGrpSpPr>
          <p:grpSpPr bwMode="auto">
            <a:xfrm>
              <a:off x="1728" y="3216"/>
              <a:ext cx="320" cy="245"/>
              <a:chOff x="2880" y="1104"/>
              <a:chExt cx="367" cy="336"/>
            </a:xfrm>
          </p:grpSpPr>
          <p:sp>
            <p:nvSpPr>
              <p:cNvPr id="48" name="Oval 45">
                <a:extLst>
                  <a:ext uri="{FF2B5EF4-FFF2-40B4-BE49-F238E27FC236}">
                    <a16:creationId xmlns:a16="http://schemas.microsoft.com/office/drawing/2014/main" xmlns="" id="{A61F1540-9818-5359-20E7-EDF74CF1C52E}"/>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49" name="Text Box 46">
                <a:extLst>
                  <a:ext uri="{FF2B5EF4-FFF2-40B4-BE49-F238E27FC236}">
                    <a16:creationId xmlns:a16="http://schemas.microsoft.com/office/drawing/2014/main" xmlns="" id="{26568D27-E9A5-909A-14B3-CA984A535D68}"/>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K</a:t>
                </a:r>
              </a:p>
            </p:txBody>
          </p:sp>
        </p:grpSp>
        <p:sp>
          <p:nvSpPr>
            <p:cNvPr id="39" name="Line 47">
              <a:extLst>
                <a:ext uri="{FF2B5EF4-FFF2-40B4-BE49-F238E27FC236}">
                  <a16:creationId xmlns:a16="http://schemas.microsoft.com/office/drawing/2014/main" xmlns="" id="{622EA2C8-9BCC-AD8F-3E6F-0F515E838BD7}"/>
                </a:ext>
              </a:extLst>
            </p:cNvPr>
            <p:cNvSpPr>
              <a:spLocks noChangeShapeType="1"/>
            </p:cNvSpPr>
            <p:nvPr/>
          </p:nvSpPr>
          <p:spPr bwMode="auto">
            <a:xfrm flipH="1">
              <a:off x="1926" y="3058"/>
              <a:ext cx="144" cy="18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0" name="Group 48">
              <a:extLst>
                <a:ext uri="{FF2B5EF4-FFF2-40B4-BE49-F238E27FC236}">
                  <a16:creationId xmlns:a16="http://schemas.microsoft.com/office/drawing/2014/main" xmlns="" id="{E6196FBA-BD7F-B848-BC18-5D20544F4D1B}"/>
                </a:ext>
              </a:extLst>
            </p:cNvPr>
            <p:cNvGrpSpPr>
              <a:grpSpLocks/>
            </p:cNvGrpSpPr>
            <p:nvPr/>
          </p:nvGrpSpPr>
          <p:grpSpPr bwMode="auto">
            <a:xfrm>
              <a:off x="2256" y="3216"/>
              <a:ext cx="320" cy="245"/>
              <a:chOff x="2880" y="1104"/>
              <a:chExt cx="367" cy="336"/>
            </a:xfrm>
          </p:grpSpPr>
          <p:sp>
            <p:nvSpPr>
              <p:cNvPr id="46" name="Oval 49">
                <a:extLst>
                  <a:ext uri="{FF2B5EF4-FFF2-40B4-BE49-F238E27FC236}">
                    <a16:creationId xmlns:a16="http://schemas.microsoft.com/office/drawing/2014/main" xmlns="" id="{587BD7EA-1AC2-2807-F156-E1D1A892710E}"/>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47" name="Text Box 50">
                <a:extLst>
                  <a:ext uri="{FF2B5EF4-FFF2-40B4-BE49-F238E27FC236}">
                    <a16:creationId xmlns:a16="http://schemas.microsoft.com/office/drawing/2014/main" xmlns="" id="{A25750CD-F5AB-FB06-3847-DBE19AE6A596}"/>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L</a:t>
                </a:r>
              </a:p>
            </p:txBody>
          </p:sp>
        </p:grpSp>
        <p:sp>
          <p:nvSpPr>
            <p:cNvPr id="41" name="Line 51">
              <a:extLst>
                <a:ext uri="{FF2B5EF4-FFF2-40B4-BE49-F238E27FC236}">
                  <a16:creationId xmlns:a16="http://schemas.microsoft.com/office/drawing/2014/main" xmlns="" id="{54304D66-E86C-0F2B-EF66-1B9F0A488AD5}"/>
                </a:ext>
              </a:extLst>
            </p:cNvPr>
            <p:cNvSpPr>
              <a:spLocks noChangeShapeType="1"/>
            </p:cNvSpPr>
            <p:nvPr/>
          </p:nvSpPr>
          <p:spPr bwMode="auto">
            <a:xfrm>
              <a:off x="2247" y="3058"/>
              <a:ext cx="132" cy="158"/>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2" name="Group 52">
              <a:extLst>
                <a:ext uri="{FF2B5EF4-FFF2-40B4-BE49-F238E27FC236}">
                  <a16:creationId xmlns:a16="http://schemas.microsoft.com/office/drawing/2014/main" xmlns="" id="{16ACFB62-39BF-65FA-3120-BD6370111AD3}"/>
                </a:ext>
              </a:extLst>
            </p:cNvPr>
            <p:cNvGrpSpPr>
              <a:grpSpLocks/>
            </p:cNvGrpSpPr>
            <p:nvPr/>
          </p:nvGrpSpPr>
          <p:grpSpPr bwMode="auto">
            <a:xfrm>
              <a:off x="3408" y="3216"/>
              <a:ext cx="320" cy="245"/>
              <a:chOff x="2880" y="1104"/>
              <a:chExt cx="367" cy="336"/>
            </a:xfrm>
          </p:grpSpPr>
          <p:sp>
            <p:nvSpPr>
              <p:cNvPr id="44" name="Oval 53">
                <a:extLst>
                  <a:ext uri="{FF2B5EF4-FFF2-40B4-BE49-F238E27FC236}">
                    <a16:creationId xmlns:a16="http://schemas.microsoft.com/office/drawing/2014/main" xmlns="" id="{14A222ED-8A87-16D6-16E2-444CF66AEB70}"/>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45" name="Text Box 54">
                <a:extLst>
                  <a:ext uri="{FF2B5EF4-FFF2-40B4-BE49-F238E27FC236}">
                    <a16:creationId xmlns:a16="http://schemas.microsoft.com/office/drawing/2014/main" xmlns="" id="{418A52AB-73CF-6846-0F9E-8282AE6A9B42}"/>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M</a:t>
                </a:r>
              </a:p>
            </p:txBody>
          </p:sp>
        </p:grpSp>
        <p:sp>
          <p:nvSpPr>
            <p:cNvPr id="43" name="Line 55">
              <a:extLst>
                <a:ext uri="{FF2B5EF4-FFF2-40B4-BE49-F238E27FC236}">
                  <a16:creationId xmlns:a16="http://schemas.microsoft.com/office/drawing/2014/main" xmlns="" id="{FF89F997-5D9B-5E65-77E9-05208DD84AB5}"/>
                </a:ext>
              </a:extLst>
            </p:cNvPr>
            <p:cNvSpPr>
              <a:spLocks noChangeShapeType="1"/>
            </p:cNvSpPr>
            <p:nvPr/>
          </p:nvSpPr>
          <p:spPr bwMode="auto">
            <a:xfrm>
              <a:off x="3552" y="3094"/>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71" name="直接连接符 70">
            <a:extLst>
              <a:ext uri="{FF2B5EF4-FFF2-40B4-BE49-F238E27FC236}">
                <a16:creationId xmlns:a16="http://schemas.microsoft.com/office/drawing/2014/main" xmlns="" id="{05D8C589-C054-11BA-3B75-30BA0D4F169D}"/>
              </a:ext>
            </a:extLst>
          </p:cNvPr>
          <p:cNvCxnSpPr>
            <a:cxnSpLocks/>
          </p:cNvCxnSpPr>
          <p:nvPr/>
        </p:nvCxnSpPr>
        <p:spPr>
          <a:xfrm>
            <a:off x="-23173"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xmlns="" id="{C5E4F0B3-EC94-5B81-1C2F-266153CBFB7B}"/>
              </a:ext>
            </a:extLst>
          </p:cNvPr>
          <p:cNvSpPr txBox="1">
            <a:spLocks noChangeArrowheads="1"/>
          </p:cNvSpPr>
          <p:nvPr/>
        </p:nvSpPr>
        <p:spPr bwMode="auto">
          <a:xfrm>
            <a:off x="982403" y="2157781"/>
            <a:ext cx="10180847" cy="838819"/>
          </a:xfrm>
          <a:prstGeom prst="rect">
            <a:avLst/>
          </a:prstGeom>
          <a:noFill/>
          <a:ln w="9525">
            <a:noFill/>
            <a:miter lim="800000"/>
            <a:headEnd/>
            <a:tailEnd/>
          </a:ln>
          <a:effectLst/>
        </p:spPr>
        <p:txBody>
          <a:bodyPr wrap="square">
            <a:spAutoFit/>
          </a:bodyPr>
          <a:lstStyle/>
          <a:p>
            <a:pPr algn="just">
              <a:lnSpc>
                <a:spcPts val="3000"/>
              </a:lnSpc>
              <a:spcBef>
                <a:spcPts val="0"/>
              </a:spcBef>
            </a:pPr>
            <a:r>
              <a:rPr kumimoji="1" lang="zh-CN" altLang="en-US" sz="2400" dirty="0">
                <a:latin typeface="微软雅黑" pitchFamily="34" charset="-122"/>
                <a:ea typeface="微软雅黑" pitchFamily="34" charset="-122"/>
                <a:cs typeface="经典粗黑简" pitchFamily="49" charset="-122"/>
              </a:rPr>
              <a:t>树：</a:t>
            </a:r>
            <a:r>
              <a:rPr kumimoji="1" lang="en-US" altLang="zh-CN" sz="2400" dirty="0">
                <a:latin typeface="微软雅黑" pitchFamily="34" charset="-122"/>
                <a:ea typeface="微软雅黑" pitchFamily="34" charset="-122"/>
                <a:cs typeface="经典粗黑简" pitchFamily="49" charset="-122"/>
              </a:rPr>
              <a:t>T={D</a:t>
            </a: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R}</a:t>
            </a: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D</a:t>
            </a:r>
            <a:r>
              <a:rPr kumimoji="1" lang="zh-CN" altLang="en-US" sz="2400" dirty="0">
                <a:latin typeface="微软雅黑" pitchFamily="34" charset="-122"/>
                <a:ea typeface="微软雅黑" pitchFamily="34" charset="-122"/>
                <a:cs typeface="经典粗黑简" pitchFamily="49" charset="-122"/>
              </a:rPr>
              <a:t>是包含</a:t>
            </a:r>
            <a:r>
              <a:rPr kumimoji="1" lang="en-US" altLang="zh-CN" sz="2400" dirty="0">
                <a:latin typeface="微软雅黑" pitchFamily="34" charset="-122"/>
                <a:ea typeface="微软雅黑" pitchFamily="34" charset="-122"/>
                <a:cs typeface="经典粗黑简" pitchFamily="49" charset="-122"/>
              </a:rPr>
              <a:t>n</a:t>
            </a:r>
            <a:r>
              <a:rPr kumimoji="1" lang="zh-CN" altLang="en-US" sz="2400" dirty="0">
                <a:latin typeface="微软雅黑" pitchFamily="34" charset="-122"/>
                <a:ea typeface="微软雅黑" pitchFamily="34" charset="-122"/>
                <a:cs typeface="经典粗黑简" pitchFamily="49" charset="-122"/>
              </a:rPr>
              <a:t>个结点的有限集合（</a:t>
            </a:r>
            <a:r>
              <a:rPr kumimoji="1" lang="en-US" altLang="zh-CN" sz="2400" dirty="0">
                <a:latin typeface="微软雅黑" pitchFamily="34" charset="-122"/>
                <a:ea typeface="微软雅黑" pitchFamily="34" charset="-122"/>
                <a:cs typeface="经典粗黑简" pitchFamily="49" charset="-122"/>
              </a:rPr>
              <a:t>n≥0</a:t>
            </a:r>
            <a:r>
              <a:rPr kumimoji="1" lang="zh-CN" altLang="en-US" sz="2400" dirty="0">
                <a:latin typeface="微软雅黑" pitchFamily="34" charset="-122"/>
                <a:ea typeface="微软雅黑" pitchFamily="34" charset="-122"/>
                <a:cs typeface="经典粗黑简" pitchFamily="49" charset="-122"/>
              </a:rPr>
              <a:t>）。当</a:t>
            </a:r>
            <a:r>
              <a:rPr kumimoji="1" lang="en-US" altLang="zh-CN" sz="2400" dirty="0">
                <a:latin typeface="微软雅黑" pitchFamily="34" charset="-122"/>
                <a:ea typeface="微软雅黑" pitchFamily="34" charset="-122"/>
                <a:cs typeface="经典粗黑简" pitchFamily="49" charset="-122"/>
              </a:rPr>
              <a:t>n=0</a:t>
            </a:r>
            <a:r>
              <a:rPr kumimoji="1" lang="zh-CN" altLang="en-US" sz="2400" dirty="0">
                <a:latin typeface="微软雅黑" pitchFamily="34" charset="-122"/>
                <a:ea typeface="微软雅黑" pitchFamily="34" charset="-122"/>
                <a:cs typeface="经典粗黑简" pitchFamily="49" charset="-122"/>
              </a:rPr>
              <a:t>时为</a:t>
            </a:r>
            <a:r>
              <a:rPr kumimoji="1" lang="zh-CN" altLang="en-US" sz="2400" dirty="0">
                <a:solidFill>
                  <a:srgbClr val="FF0000"/>
                </a:solidFill>
                <a:latin typeface="微软雅黑" pitchFamily="34" charset="-122"/>
                <a:ea typeface="微软雅黑" pitchFamily="34" charset="-122"/>
                <a:cs typeface="经典粗黑简" pitchFamily="49" charset="-122"/>
              </a:rPr>
              <a:t>空树</a:t>
            </a:r>
            <a:r>
              <a:rPr kumimoji="1" lang="zh-CN" altLang="en-US" sz="2400" dirty="0">
                <a:latin typeface="微软雅黑" pitchFamily="34" charset="-122"/>
                <a:ea typeface="微软雅黑" pitchFamily="34" charset="-122"/>
                <a:cs typeface="经典粗黑简" pitchFamily="49" charset="-122"/>
              </a:rPr>
              <a:t>，否则关系</a:t>
            </a:r>
            <a:r>
              <a:rPr kumimoji="1" lang="en-US" altLang="zh-CN" sz="2400" dirty="0">
                <a:latin typeface="微软雅黑" pitchFamily="34" charset="-122"/>
                <a:ea typeface="微软雅黑" pitchFamily="34" charset="-122"/>
                <a:cs typeface="经典粗黑简" pitchFamily="49" charset="-122"/>
              </a:rPr>
              <a:t>R</a:t>
            </a:r>
            <a:r>
              <a:rPr kumimoji="1" lang="zh-CN" altLang="en-US" sz="2400" dirty="0">
                <a:latin typeface="微软雅黑" pitchFamily="34" charset="-122"/>
                <a:ea typeface="微软雅黑" pitchFamily="34" charset="-122"/>
                <a:cs typeface="经典粗黑简" pitchFamily="49" charset="-122"/>
              </a:rPr>
              <a:t>满足以下条件：</a:t>
            </a:r>
            <a:r>
              <a:rPr kumimoji="1" lang="en-US" altLang="zh-CN" sz="2400" dirty="0">
                <a:latin typeface="微软雅黑" pitchFamily="34" charset="-122"/>
                <a:ea typeface="微软雅黑" pitchFamily="34" charset="-122"/>
                <a:cs typeface="经典粗黑简" pitchFamily="49" charset="-122"/>
              </a:rPr>
              <a:t>     </a:t>
            </a:r>
          </a:p>
        </p:txBody>
      </p:sp>
      <p:sp>
        <p:nvSpPr>
          <p:cNvPr id="4" name="文本框 3">
            <a:extLst>
              <a:ext uri="{FF2B5EF4-FFF2-40B4-BE49-F238E27FC236}">
                <a16:creationId xmlns:a16="http://schemas.microsoft.com/office/drawing/2014/main" xmlns="" id="{CDE1D24A-72A2-F4E6-79FD-9090566F5552}"/>
              </a:ext>
            </a:extLst>
          </p:cNvPr>
          <p:cNvSpPr txBox="1"/>
          <p:nvPr/>
        </p:nvSpPr>
        <p:spPr>
          <a:xfrm>
            <a:off x="980141" y="1531224"/>
            <a:ext cx="3368479" cy="461665"/>
          </a:xfrm>
          <a:prstGeom prst="rect">
            <a:avLst/>
          </a:prstGeom>
          <a:noFill/>
        </p:spPr>
        <p:txBody>
          <a:bodyPr wrap="square">
            <a:spAutoFit/>
          </a:bodyPr>
          <a:lstStyle/>
          <a:p>
            <a:pPr algn="l">
              <a:spcBef>
                <a:spcPct val="50000"/>
              </a:spcBef>
            </a:pPr>
            <a:r>
              <a:rPr kumimoji="1" lang="zh-CN" altLang="en-US" sz="2400" dirty="0">
                <a:latin typeface="微软雅黑" pitchFamily="34" charset="-122"/>
                <a:ea typeface="微软雅黑" pitchFamily="34" charset="-122"/>
                <a:cs typeface="经典粗黑简" pitchFamily="49" charset="-122"/>
              </a:rPr>
              <a:t>形式化定义（二元组）</a:t>
            </a:r>
          </a:p>
        </p:txBody>
      </p:sp>
      <p:sp>
        <p:nvSpPr>
          <p:cNvPr id="7" name="文本框 6">
            <a:extLst>
              <a:ext uri="{FF2B5EF4-FFF2-40B4-BE49-F238E27FC236}">
                <a16:creationId xmlns:a16="http://schemas.microsoft.com/office/drawing/2014/main" xmlns="" id="{98460BDA-A676-FAB4-1833-B4B2EAA80B77}"/>
              </a:ext>
            </a:extLst>
          </p:cNvPr>
          <p:cNvSpPr txBox="1"/>
          <p:nvPr/>
        </p:nvSpPr>
        <p:spPr>
          <a:xfrm>
            <a:off x="877980" y="3149867"/>
            <a:ext cx="7109684" cy="2243050"/>
          </a:xfrm>
          <a:prstGeom prst="rect">
            <a:avLst/>
          </a:prstGeom>
          <a:noFill/>
        </p:spPr>
        <p:txBody>
          <a:bodyPr wrap="square">
            <a:spAutoFit/>
          </a:bodyPr>
          <a:lstStyle/>
          <a:p>
            <a:pPr algn="l">
              <a:lnSpc>
                <a:spcPct val="150000"/>
              </a:lnSpc>
            </a:pP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）有且仅有一个结点</a:t>
            </a:r>
            <a:r>
              <a:rPr kumimoji="1" lang="en-US" altLang="zh-CN" sz="2400" dirty="0">
                <a:latin typeface="微软雅黑" pitchFamily="34" charset="-122"/>
                <a:ea typeface="微软雅黑" pitchFamily="34" charset="-122"/>
                <a:cs typeface="经典粗黑简" pitchFamily="49" charset="-122"/>
              </a:rPr>
              <a:t>d</a:t>
            </a:r>
            <a:r>
              <a:rPr kumimoji="1" lang="en-US" altLang="zh-CN" sz="2400" baseline="-25000" dirty="0">
                <a:latin typeface="微软雅黑" pitchFamily="34" charset="-122"/>
                <a:ea typeface="微软雅黑" pitchFamily="34" charset="-122"/>
                <a:cs typeface="经典粗黑简" pitchFamily="49" charset="-122"/>
              </a:rPr>
              <a:t>0</a:t>
            </a:r>
            <a:r>
              <a:rPr kumimoji="1" lang="en-US" altLang="zh-CN" sz="2400" dirty="0">
                <a:latin typeface="微软雅黑" pitchFamily="34" charset="-122"/>
                <a:ea typeface="微软雅黑" pitchFamily="34" charset="-122"/>
                <a:cs typeface="经典粗黑简" pitchFamily="49" charset="-122"/>
              </a:rPr>
              <a:t>∈D</a:t>
            </a:r>
            <a:r>
              <a:rPr kumimoji="1" lang="zh-CN" altLang="en-US" sz="2400" dirty="0">
                <a:latin typeface="微软雅黑" pitchFamily="34" charset="-122"/>
                <a:ea typeface="微软雅黑" pitchFamily="34" charset="-122"/>
                <a:cs typeface="经典粗黑简" pitchFamily="49" charset="-122"/>
              </a:rPr>
              <a:t>，它对于关系</a:t>
            </a:r>
            <a:r>
              <a:rPr kumimoji="1" lang="en-US" altLang="zh-CN" sz="2400" dirty="0">
                <a:latin typeface="微软雅黑" pitchFamily="34" charset="-122"/>
                <a:ea typeface="微软雅黑" pitchFamily="34" charset="-122"/>
                <a:cs typeface="经典粗黑简" pitchFamily="49" charset="-122"/>
              </a:rPr>
              <a:t>R</a:t>
            </a:r>
            <a:r>
              <a:rPr kumimoji="1" lang="zh-CN" altLang="en-US" sz="2400" dirty="0">
                <a:latin typeface="微软雅黑" pitchFamily="34" charset="-122"/>
                <a:ea typeface="微软雅黑" pitchFamily="34" charset="-122"/>
                <a:cs typeface="经典粗黑简" pitchFamily="49" charset="-122"/>
              </a:rPr>
              <a:t>来说没有前驱结点，结点</a:t>
            </a:r>
            <a:r>
              <a:rPr kumimoji="1" lang="en-US" altLang="zh-CN" sz="2400" dirty="0">
                <a:latin typeface="微软雅黑" pitchFamily="34" charset="-122"/>
                <a:ea typeface="微软雅黑" pitchFamily="34" charset="-122"/>
                <a:cs typeface="经典粗黑简" pitchFamily="49" charset="-122"/>
              </a:rPr>
              <a:t>d</a:t>
            </a:r>
            <a:r>
              <a:rPr kumimoji="1" lang="en-US" altLang="zh-CN" sz="2400" baseline="-25000" dirty="0">
                <a:latin typeface="微软雅黑" pitchFamily="34" charset="-122"/>
                <a:ea typeface="微软雅黑" pitchFamily="34" charset="-122"/>
                <a:cs typeface="经典粗黑简" pitchFamily="49" charset="-122"/>
              </a:rPr>
              <a:t>0</a:t>
            </a:r>
            <a:r>
              <a:rPr kumimoji="1" lang="zh-CN" altLang="en-US" sz="2400" dirty="0">
                <a:latin typeface="微软雅黑" pitchFamily="34" charset="-122"/>
                <a:ea typeface="微软雅黑" pitchFamily="34" charset="-122"/>
                <a:cs typeface="经典粗黑简" pitchFamily="49" charset="-122"/>
              </a:rPr>
              <a:t>称作树的</a:t>
            </a:r>
            <a:r>
              <a:rPr kumimoji="1" lang="zh-CN" altLang="en-US" sz="2400" dirty="0">
                <a:solidFill>
                  <a:srgbClr val="FF0000"/>
                </a:solidFill>
                <a:latin typeface="微软雅黑" pitchFamily="34" charset="-122"/>
                <a:ea typeface="微软雅黑" pitchFamily="34" charset="-122"/>
                <a:cs typeface="经典粗黑简" pitchFamily="49" charset="-122"/>
              </a:rPr>
              <a:t>根结点</a:t>
            </a:r>
            <a:r>
              <a:rPr kumimoji="1" lang="zh-CN" altLang="en-US" sz="2400" dirty="0">
                <a:latin typeface="微软雅黑" pitchFamily="34" charset="-122"/>
                <a:ea typeface="微软雅黑" pitchFamily="34" charset="-122"/>
                <a:cs typeface="经典粗黑简" pitchFamily="49" charset="-122"/>
              </a:rPr>
              <a:t>。</a:t>
            </a:r>
          </a:p>
          <a:p>
            <a:pPr algn="l">
              <a:lnSpc>
                <a:spcPct val="150000"/>
              </a:lnSpc>
            </a:pP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）除根结点外，每个结点有且仅有一个前驱结点。</a:t>
            </a:r>
          </a:p>
          <a:p>
            <a:pPr algn="l">
              <a:lnSpc>
                <a:spcPct val="150000"/>
              </a:lnSpc>
            </a:pP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3</a:t>
            </a: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D</a:t>
            </a:r>
            <a:r>
              <a:rPr kumimoji="1" lang="zh-CN" altLang="en-US" sz="2400" dirty="0">
                <a:latin typeface="微软雅黑" pitchFamily="34" charset="-122"/>
                <a:ea typeface="微软雅黑" pitchFamily="34" charset="-122"/>
                <a:cs typeface="经典粗黑简" pitchFamily="49" charset="-122"/>
              </a:rPr>
              <a:t>中每个结点可以有零个或多个后继结点。</a:t>
            </a:r>
          </a:p>
        </p:txBody>
      </p:sp>
    </p:spTree>
    <p:extLst>
      <p:ext uri="{BB962C8B-B14F-4D97-AF65-F5344CB8AC3E}">
        <p14:creationId xmlns:p14="http://schemas.microsoft.com/office/powerpoint/2010/main" val="34775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16" name="Rectangle 2"/>
          <p:cNvSpPr txBox="1">
            <a:spLocks noChangeArrowheads="1"/>
          </p:cNvSpPr>
          <p:nvPr/>
        </p:nvSpPr>
        <p:spPr>
          <a:xfrm>
            <a:off x="79920" y="836712"/>
            <a:ext cx="27757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7.1.1 </a:t>
            </a:r>
            <a:r>
              <a:rPr lang="zh-CN" altLang="en-US" dirty="0"/>
              <a:t>树的定义</a:t>
            </a:r>
          </a:p>
        </p:txBody>
      </p:sp>
      <p:sp>
        <p:nvSpPr>
          <p:cNvPr id="3" name="矩形 2"/>
          <p:cNvSpPr/>
          <p:nvPr/>
        </p:nvSpPr>
        <p:spPr>
          <a:xfrm>
            <a:off x="1925475" y="1680744"/>
            <a:ext cx="8779037" cy="830997"/>
          </a:xfrm>
          <a:prstGeom prst="rect">
            <a:avLst/>
          </a:prstGeom>
        </p:spPr>
        <p:txBody>
          <a:bodyPr wrap="square">
            <a:spAutoFit/>
          </a:bodyPr>
          <a:lstStyle/>
          <a:p>
            <a:pPr>
              <a:defRPr/>
            </a:pPr>
            <a:r>
              <a:rPr kumimoji="1" lang="zh-CN" altLang="en-US" sz="2400" dirty="0">
                <a:solidFill>
                  <a:srgbClr val="FF0000"/>
                </a:solidFill>
                <a:latin typeface="微软雅黑" pitchFamily="34" charset="-122"/>
                <a:ea typeface="微软雅黑" pitchFamily="34" charset="-122"/>
                <a:cs typeface="经典粗黑简" pitchFamily="49" charset="-122"/>
              </a:rPr>
              <a:t>树（</a:t>
            </a:r>
            <a:r>
              <a:rPr kumimoji="1" lang="en-US" altLang="zh-CN" sz="2400" dirty="0">
                <a:solidFill>
                  <a:srgbClr val="FF0000"/>
                </a:solidFill>
                <a:latin typeface="微软雅黑" pitchFamily="34" charset="-122"/>
                <a:ea typeface="微软雅黑" pitchFamily="34" charset="-122"/>
                <a:cs typeface="经典粗黑简" pitchFamily="49" charset="-122"/>
              </a:rPr>
              <a:t>Tree</a:t>
            </a:r>
            <a:r>
              <a:rPr kumimoji="1" lang="zh-CN" altLang="en-US" sz="2400" dirty="0">
                <a:solidFill>
                  <a:srgbClr val="FF0000"/>
                </a:solidFill>
                <a:latin typeface="微软雅黑" pitchFamily="34" charset="-122"/>
                <a:ea typeface="微软雅黑" pitchFamily="34" charset="-122"/>
                <a:cs typeface="经典粗黑简" pitchFamily="49" charset="-122"/>
              </a:rPr>
              <a:t>）</a:t>
            </a:r>
            <a:r>
              <a:rPr kumimoji="1" lang="zh-CN" altLang="en-US" sz="2400" dirty="0">
                <a:latin typeface="微软雅黑" pitchFamily="34" charset="-122"/>
                <a:ea typeface="微软雅黑" pitchFamily="34" charset="-122"/>
                <a:cs typeface="经典粗黑简" pitchFamily="49" charset="-122"/>
              </a:rPr>
              <a:t>：是由</a:t>
            </a:r>
            <a:r>
              <a:rPr kumimoji="1" lang="en-US" altLang="zh-CN" sz="2400" dirty="0">
                <a:latin typeface="微软雅黑" pitchFamily="34" charset="-122"/>
                <a:ea typeface="微软雅黑" pitchFamily="34" charset="-122"/>
                <a:cs typeface="经典粗黑简" pitchFamily="49" charset="-122"/>
              </a:rPr>
              <a:t>n（n≥0）</a:t>
            </a:r>
            <a:r>
              <a:rPr kumimoji="1" lang="zh-CN" altLang="en-US" sz="2400" dirty="0">
                <a:latin typeface="微软雅黑" pitchFamily="34" charset="-122"/>
                <a:ea typeface="微软雅黑" pitchFamily="34" charset="-122"/>
                <a:cs typeface="经典粗黑简" pitchFamily="49" charset="-122"/>
              </a:rPr>
              <a:t>个</a:t>
            </a:r>
            <a:r>
              <a:rPr kumimoji="1" lang="zh-CN" altLang="en-US" sz="2400" dirty="0">
                <a:solidFill>
                  <a:srgbClr val="FF0000"/>
                </a:solidFill>
                <a:latin typeface="微软雅黑" pitchFamily="34" charset="-122"/>
                <a:ea typeface="微软雅黑" pitchFamily="34" charset="-122"/>
                <a:cs typeface="经典粗黑简" pitchFamily="49" charset="-122"/>
              </a:rPr>
              <a:t>结点</a:t>
            </a:r>
            <a:r>
              <a:rPr kumimoji="1" lang="zh-CN" altLang="en-US" sz="2400" dirty="0">
                <a:latin typeface="微软雅黑" pitchFamily="34" charset="-122"/>
                <a:ea typeface="微软雅黑" pitchFamily="34" charset="-122"/>
                <a:cs typeface="经典粗黑简" pitchFamily="49" charset="-122"/>
              </a:rPr>
              <a:t>的有限集合。当</a:t>
            </a:r>
            <a:r>
              <a:rPr kumimoji="1" lang="en-US" altLang="zh-CN" sz="2400" dirty="0">
                <a:latin typeface="微软雅黑" pitchFamily="34" charset="-122"/>
                <a:ea typeface="微软雅黑" pitchFamily="34" charset="-122"/>
                <a:cs typeface="经典粗黑简" pitchFamily="49" charset="-122"/>
              </a:rPr>
              <a:t>n＝0</a:t>
            </a:r>
            <a:r>
              <a:rPr kumimoji="1" lang="zh-CN" altLang="en-US" sz="2400" dirty="0">
                <a:latin typeface="微软雅黑" pitchFamily="34" charset="-122"/>
                <a:ea typeface="微软雅黑" pitchFamily="34" charset="-122"/>
                <a:cs typeface="经典粗黑简" pitchFamily="49" charset="-122"/>
              </a:rPr>
              <a:t>时，称为</a:t>
            </a:r>
            <a:r>
              <a:rPr kumimoji="1" lang="zh-CN" altLang="en-US" sz="2400" dirty="0">
                <a:solidFill>
                  <a:srgbClr val="FF0000"/>
                </a:solidFill>
                <a:latin typeface="微软雅黑" pitchFamily="34" charset="-122"/>
                <a:ea typeface="微软雅黑" pitchFamily="34" charset="-122"/>
                <a:cs typeface="经典粗黑简" pitchFamily="49" charset="-122"/>
              </a:rPr>
              <a:t>空树</a:t>
            </a:r>
            <a:r>
              <a:rPr kumimoji="1" lang="zh-CN" altLang="en-US" sz="2400" dirty="0">
                <a:latin typeface="微软雅黑" pitchFamily="34" charset="-122"/>
                <a:ea typeface="微软雅黑" pitchFamily="34" charset="-122"/>
                <a:cs typeface="经典粗黑简" pitchFamily="49" charset="-122"/>
              </a:rPr>
              <a:t>；任意一棵非空树满足以下条件：</a:t>
            </a:r>
          </a:p>
        </p:txBody>
      </p:sp>
      <p:sp>
        <p:nvSpPr>
          <p:cNvPr id="4" name="矩形 3"/>
          <p:cNvSpPr/>
          <p:nvPr/>
        </p:nvSpPr>
        <p:spPr>
          <a:xfrm>
            <a:off x="2473598" y="4485644"/>
            <a:ext cx="3877985" cy="461665"/>
          </a:xfrm>
          <a:prstGeom prst="rect">
            <a:avLst/>
          </a:prstGeom>
        </p:spPr>
        <p:txBody>
          <a:bodyPr wrap="none">
            <a:spAutoFit/>
          </a:bodyPr>
          <a:lstStyle/>
          <a:p>
            <a:pPr>
              <a:defRPr/>
            </a:pPr>
            <a:r>
              <a:rPr kumimoji="1" lang="zh-CN" altLang="en-US" sz="2400" dirty="0">
                <a:latin typeface="微软雅黑" pitchFamily="34" charset="-122"/>
                <a:ea typeface="微软雅黑" pitchFamily="34" charset="-122"/>
                <a:cs typeface="经典粗黑简" pitchFamily="49" charset="-122"/>
              </a:rPr>
              <a:t>树的定义是采用递归方法。</a:t>
            </a:r>
          </a:p>
        </p:txBody>
      </p:sp>
      <p:sp>
        <p:nvSpPr>
          <p:cNvPr id="6" name="矩形 5"/>
          <p:cNvSpPr/>
          <p:nvPr/>
        </p:nvSpPr>
        <p:spPr>
          <a:xfrm>
            <a:off x="2496065" y="2580190"/>
            <a:ext cx="6821098" cy="461665"/>
          </a:xfrm>
          <a:prstGeom prst="rect">
            <a:avLst/>
          </a:prstGeom>
        </p:spPr>
        <p:txBody>
          <a:bodyPr wrap="none">
            <a:spAutoFit/>
          </a:bodyPr>
          <a:lstStyle/>
          <a:p>
            <a:r>
              <a:rPr kumimoji="1" lang="zh-CN" altLang="en-US" sz="2400" dirty="0">
                <a:latin typeface="微软雅黑" pitchFamily="34" charset="-122"/>
                <a:ea typeface="微软雅黑" pitchFamily="34" charset="-122"/>
                <a:cs typeface="经典粗黑简" pitchFamily="49" charset="-122"/>
              </a:rPr>
              <a:t>⑴ 有且仅有一个特定的称为</a:t>
            </a:r>
            <a:r>
              <a:rPr kumimoji="1" lang="zh-CN" altLang="en-US" sz="2400" dirty="0">
                <a:solidFill>
                  <a:srgbClr val="FF0000"/>
                </a:solidFill>
                <a:latin typeface="微软雅黑" pitchFamily="34" charset="-122"/>
                <a:ea typeface="微软雅黑" pitchFamily="34" charset="-122"/>
                <a:cs typeface="经典粗黑简" pitchFamily="49" charset="-122"/>
              </a:rPr>
              <a:t>根（</a:t>
            </a:r>
            <a:r>
              <a:rPr kumimoji="1" lang="en-US" altLang="zh-CN" sz="2400" dirty="0">
                <a:solidFill>
                  <a:srgbClr val="FF0000"/>
                </a:solidFill>
                <a:latin typeface="微软雅黑" pitchFamily="34" charset="-122"/>
                <a:ea typeface="微软雅黑" pitchFamily="34" charset="-122"/>
                <a:cs typeface="经典粗黑简" pitchFamily="49" charset="-122"/>
              </a:rPr>
              <a:t>Root</a:t>
            </a:r>
            <a:r>
              <a:rPr kumimoji="1" lang="zh-CN" altLang="en-US" sz="2400" dirty="0">
                <a:solidFill>
                  <a:srgbClr val="FF0000"/>
                </a:solidFill>
                <a:latin typeface="微软雅黑" pitchFamily="34" charset="-122"/>
                <a:ea typeface="微软雅黑" pitchFamily="34" charset="-122"/>
                <a:cs typeface="经典粗黑简" pitchFamily="49" charset="-122"/>
              </a:rPr>
              <a:t>）</a:t>
            </a:r>
            <a:r>
              <a:rPr kumimoji="1" lang="zh-CN" altLang="en-US" sz="2400" dirty="0">
                <a:latin typeface="微软雅黑" pitchFamily="34" charset="-122"/>
                <a:ea typeface="微软雅黑" pitchFamily="34" charset="-122"/>
                <a:cs typeface="经典粗黑简" pitchFamily="49" charset="-122"/>
              </a:rPr>
              <a:t>的结点；</a:t>
            </a:r>
            <a:endParaRPr lang="zh-CN" altLang="en-US" sz="2400" dirty="0"/>
          </a:p>
        </p:txBody>
      </p:sp>
      <p:sp>
        <p:nvSpPr>
          <p:cNvPr id="7" name="矩形 6"/>
          <p:cNvSpPr/>
          <p:nvPr/>
        </p:nvSpPr>
        <p:spPr>
          <a:xfrm>
            <a:off x="2479160" y="3132967"/>
            <a:ext cx="8513381" cy="1200329"/>
          </a:xfrm>
          <a:prstGeom prst="rect">
            <a:avLst/>
          </a:prstGeom>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⑵ 当</a:t>
            </a:r>
            <a:r>
              <a:rPr kumimoji="1" lang="en-US" altLang="zh-CN" sz="2400" dirty="0">
                <a:latin typeface="微软雅黑" pitchFamily="34" charset="-122"/>
                <a:ea typeface="微软雅黑" pitchFamily="34" charset="-122"/>
                <a:cs typeface="经典粗黑简" pitchFamily="49" charset="-122"/>
              </a:rPr>
              <a:t>n＞1</a:t>
            </a:r>
            <a:r>
              <a:rPr kumimoji="1" lang="zh-CN" altLang="en-US" sz="2400" dirty="0">
                <a:latin typeface="微软雅黑" pitchFamily="34" charset="-122"/>
                <a:ea typeface="微软雅黑" pitchFamily="34" charset="-122"/>
                <a:cs typeface="经典粗黑简" pitchFamily="49" charset="-122"/>
              </a:rPr>
              <a:t>时，除根结点之外的其余结点被分成</a:t>
            </a:r>
            <a:r>
              <a:rPr kumimoji="1" lang="en-US" altLang="zh-CN" sz="2400" dirty="0" err="1">
                <a:latin typeface="微软雅黑" pitchFamily="34" charset="-122"/>
                <a:ea typeface="微软雅黑" pitchFamily="34" charset="-122"/>
                <a:cs typeface="经典粗黑简" pitchFamily="49" charset="-122"/>
              </a:rPr>
              <a:t>m（m</a:t>
            </a:r>
            <a:r>
              <a:rPr kumimoji="1" lang="en-US" altLang="zh-CN" sz="2400" dirty="0">
                <a:latin typeface="微软雅黑" pitchFamily="34" charset="-122"/>
                <a:ea typeface="微软雅黑" pitchFamily="34" charset="-122"/>
                <a:cs typeface="经典粗黑简" pitchFamily="49" charset="-122"/>
              </a:rPr>
              <a:t>&gt;0）</a:t>
            </a:r>
            <a:r>
              <a:rPr kumimoji="1" lang="zh-CN" altLang="en-US" sz="2400" dirty="0">
                <a:latin typeface="微软雅黑" pitchFamily="34" charset="-122"/>
                <a:ea typeface="微软雅黑" pitchFamily="34" charset="-122"/>
                <a:cs typeface="经典粗黑简" pitchFamily="49" charset="-122"/>
              </a:rPr>
              <a:t>个</a:t>
            </a:r>
            <a:r>
              <a:rPr kumimoji="1" lang="zh-CN" altLang="en-US" sz="2400" u="sng" dirty="0">
                <a:solidFill>
                  <a:srgbClr val="FF0000"/>
                </a:solidFill>
                <a:latin typeface="微软雅黑" pitchFamily="34" charset="-122"/>
                <a:ea typeface="微软雅黑" pitchFamily="34" charset="-122"/>
                <a:cs typeface="经典粗黑简" pitchFamily="49" charset="-122"/>
              </a:rPr>
              <a:t>互不相交</a:t>
            </a:r>
            <a:r>
              <a:rPr kumimoji="1" lang="zh-CN" altLang="en-US" sz="2400" dirty="0">
                <a:latin typeface="微软雅黑" pitchFamily="34" charset="-122"/>
                <a:ea typeface="微软雅黑" pitchFamily="34" charset="-122"/>
                <a:cs typeface="经典粗黑简" pitchFamily="49" charset="-122"/>
              </a:rPr>
              <a:t>的有限集合</a:t>
            </a:r>
            <a:r>
              <a:rPr kumimoji="1" lang="en-US" altLang="zh-CN" sz="2400" dirty="0">
                <a:latin typeface="微软雅黑" pitchFamily="34" charset="-122"/>
                <a:ea typeface="微软雅黑" pitchFamily="34" charset="-122"/>
                <a:cs typeface="经典粗黑简" pitchFamily="49" charset="-122"/>
              </a:rPr>
              <a:t>T</a:t>
            </a:r>
            <a:r>
              <a:rPr kumimoji="1" lang="en-US" altLang="zh-CN" sz="2400" baseline="-25000" dirty="0">
                <a:latin typeface="微软雅黑" pitchFamily="34" charset="-122"/>
                <a:ea typeface="微软雅黑" pitchFamily="34" charset="-122"/>
                <a:cs typeface="经典粗黑简" pitchFamily="49" charset="-122"/>
              </a:rPr>
              <a:t>1</a:t>
            </a:r>
            <a:r>
              <a:rPr kumimoji="1" lang="en-US" altLang="zh-CN" sz="2400" dirty="0">
                <a:latin typeface="微软雅黑" pitchFamily="34" charset="-122"/>
                <a:ea typeface="微软雅黑" pitchFamily="34" charset="-122"/>
                <a:cs typeface="经典粗黑简" pitchFamily="49" charset="-122"/>
              </a:rPr>
              <a:t>,T</a:t>
            </a:r>
            <a:r>
              <a:rPr kumimoji="1" lang="en-US" altLang="zh-CN" sz="2400" baseline="-25000" dirty="0">
                <a:latin typeface="微软雅黑" pitchFamily="34" charset="-122"/>
                <a:ea typeface="微软雅黑" pitchFamily="34" charset="-122"/>
                <a:cs typeface="经典粗黑简" pitchFamily="49" charset="-122"/>
              </a:rPr>
              <a:t>2</a:t>
            </a:r>
            <a:r>
              <a:rPr kumimoji="1" lang="en-US" altLang="zh-CN" sz="2400" dirty="0">
                <a:latin typeface="微软雅黑" pitchFamily="34" charset="-122"/>
                <a:ea typeface="微软雅黑" pitchFamily="34" charset="-122"/>
                <a:cs typeface="经典粗黑简" pitchFamily="49" charset="-122"/>
              </a:rPr>
              <a:t>,… ,T</a:t>
            </a:r>
            <a:r>
              <a:rPr kumimoji="1" lang="en-US" altLang="zh-CN" sz="2400" baseline="-25000" dirty="0">
                <a:latin typeface="微软雅黑" pitchFamily="34" charset="-122"/>
                <a:ea typeface="微软雅黑" pitchFamily="34" charset="-122"/>
                <a:cs typeface="经典粗黑简" pitchFamily="49" charset="-122"/>
              </a:rPr>
              <a:t>m</a:t>
            </a:r>
            <a:r>
              <a:rPr kumimoji="1" lang="en-US" altLang="zh-CN" sz="2400" dirty="0">
                <a:latin typeface="微软雅黑" pitchFamily="34" charset="-122"/>
                <a:ea typeface="微软雅黑" pitchFamily="34" charset="-122"/>
                <a:cs typeface="经典粗黑简" pitchFamily="49" charset="-122"/>
              </a:rPr>
              <a:t>，</a:t>
            </a:r>
            <a:r>
              <a:rPr kumimoji="1" lang="zh-CN" altLang="en-US" sz="2400" dirty="0">
                <a:latin typeface="微软雅黑" pitchFamily="34" charset="-122"/>
                <a:ea typeface="微软雅黑" pitchFamily="34" charset="-122"/>
                <a:cs typeface="经典粗黑简" pitchFamily="49" charset="-122"/>
              </a:rPr>
              <a:t>其中每个集合又是一棵树，并称为这个根结点的</a:t>
            </a:r>
            <a:r>
              <a:rPr kumimoji="1" lang="zh-CN" altLang="en-US" sz="2400" dirty="0">
                <a:solidFill>
                  <a:srgbClr val="FF0000"/>
                </a:solidFill>
                <a:latin typeface="微软雅黑" pitchFamily="34" charset="-122"/>
                <a:ea typeface="微软雅黑" pitchFamily="34" charset="-122"/>
                <a:cs typeface="经典粗黑简" pitchFamily="49" charset="-122"/>
              </a:rPr>
              <a:t>子树</a:t>
            </a:r>
            <a:r>
              <a:rPr kumimoji="1" lang="zh-CN" altLang="en-US" sz="2400" dirty="0">
                <a:latin typeface="微软雅黑" pitchFamily="34" charset="-122"/>
                <a:ea typeface="微软雅黑" pitchFamily="34" charset="-122"/>
                <a:cs typeface="经典粗黑简" pitchFamily="49" charset="-122"/>
              </a:rPr>
              <a:t>。</a:t>
            </a:r>
            <a:endParaRPr lang="zh-CN" altLang="en-US" sz="2400" dirty="0"/>
          </a:p>
        </p:txBody>
      </p:sp>
      <p:cxnSp>
        <p:nvCxnSpPr>
          <p:cNvPr id="71" name="直接连接符 70">
            <a:extLst>
              <a:ext uri="{FF2B5EF4-FFF2-40B4-BE49-F238E27FC236}">
                <a16:creationId xmlns:a16="http://schemas.microsoft.com/office/drawing/2014/main" xmlns="" id="{42320823-2F17-494E-9CD4-4B325F68715F}"/>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xmlns="" id="{A74AAAD5-5BD3-ABEB-8E74-0ACCA28A624B}"/>
              </a:ext>
            </a:extLst>
          </p:cNvPr>
          <p:cNvGrpSpPr>
            <a:grpSpLocks/>
          </p:cNvGrpSpPr>
          <p:nvPr/>
        </p:nvGrpSpPr>
        <p:grpSpPr bwMode="auto">
          <a:xfrm>
            <a:off x="7312160" y="4375847"/>
            <a:ext cx="4571602" cy="2350282"/>
            <a:chOff x="1728" y="2160"/>
            <a:chExt cx="2680" cy="1301"/>
          </a:xfrm>
        </p:grpSpPr>
        <p:grpSp>
          <p:nvGrpSpPr>
            <p:cNvPr id="8" name="Group 5">
              <a:extLst>
                <a:ext uri="{FF2B5EF4-FFF2-40B4-BE49-F238E27FC236}">
                  <a16:creationId xmlns:a16="http://schemas.microsoft.com/office/drawing/2014/main" xmlns="" id="{557F45AD-0A19-70B8-ABC5-22E3AEB18B31}"/>
                </a:ext>
              </a:extLst>
            </p:cNvPr>
            <p:cNvGrpSpPr>
              <a:grpSpLocks/>
            </p:cNvGrpSpPr>
            <p:nvPr/>
          </p:nvGrpSpPr>
          <p:grpSpPr bwMode="auto">
            <a:xfrm>
              <a:off x="4088" y="2855"/>
              <a:ext cx="320" cy="246"/>
              <a:chOff x="2880" y="1103"/>
              <a:chExt cx="367" cy="337"/>
            </a:xfrm>
          </p:grpSpPr>
          <p:sp>
            <p:nvSpPr>
              <p:cNvPr id="112" name="Oval 6">
                <a:extLst>
                  <a:ext uri="{FF2B5EF4-FFF2-40B4-BE49-F238E27FC236}">
                    <a16:creationId xmlns:a16="http://schemas.microsoft.com/office/drawing/2014/main" xmlns="" id="{48B7DE42-DDDC-B8D8-0C8C-4899AC30C0A7}"/>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3" name="Text Box 7">
                <a:extLst>
                  <a:ext uri="{FF2B5EF4-FFF2-40B4-BE49-F238E27FC236}">
                    <a16:creationId xmlns:a16="http://schemas.microsoft.com/office/drawing/2014/main" xmlns="" id="{9D21A451-E29D-916E-2CA9-59EC4C19D8E3}"/>
                  </a:ext>
                </a:extLst>
              </p:cNvPr>
              <p:cNvSpPr txBox="1">
                <a:spLocks noChangeArrowheads="1"/>
              </p:cNvSpPr>
              <p:nvPr/>
            </p:nvSpPr>
            <p:spPr bwMode="auto">
              <a:xfrm>
                <a:off x="2928" y="1103"/>
                <a:ext cx="31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J</a:t>
                </a:r>
              </a:p>
            </p:txBody>
          </p:sp>
        </p:grpSp>
        <p:grpSp>
          <p:nvGrpSpPr>
            <p:cNvPr id="9" name="Group 8">
              <a:extLst>
                <a:ext uri="{FF2B5EF4-FFF2-40B4-BE49-F238E27FC236}">
                  <a16:creationId xmlns:a16="http://schemas.microsoft.com/office/drawing/2014/main" xmlns="" id="{C7063CFF-D0E8-DEF8-AA6D-CC76925D48C4}"/>
                </a:ext>
              </a:extLst>
            </p:cNvPr>
            <p:cNvGrpSpPr>
              <a:grpSpLocks/>
            </p:cNvGrpSpPr>
            <p:nvPr/>
          </p:nvGrpSpPr>
          <p:grpSpPr bwMode="auto">
            <a:xfrm>
              <a:off x="3750" y="2858"/>
              <a:ext cx="320" cy="245"/>
              <a:chOff x="2880" y="1104"/>
              <a:chExt cx="367" cy="336"/>
            </a:xfrm>
          </p:grpSpPr>
          <p:sp>
            <p:nvSpPr>
              <p:cNvPr id="110" name="Oval 9">
                <a:extLst>
                  <a:ext uri="{FF2B5EF4-FFF2-40B4-BE49-F238E27FC236}">
                    <a16:creationId xmlns:a16="http://schemas.microsoft.com/office/drawing/2014/main" xmlns="" id="{D924331C-61AD-FEE8-5C36-A3D96A188850}"/>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1" name="Text Box 10">
                <a:extLst>
                  <a:ext uri="{FF2B5EF4-FFF2-40B4-BE49-F238E27FC236}">
                    <a16:creationId xmlns:a16="http://schemas.microsoft.com/office/drawing/2014/main" xmlns="" id="{94605726-DD9D-AE5F-2F63-6FFF7DBEF0A4}"/>
                  </a:ext>
                </a:extLst>
              </p:cNvPr>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I</a:t>
                </a:r>
              </a:p>
            </p:txBody>
          </p:sp>
        </p:grpSp>
        <p:grpSp>
          <p:nvGrpSpPr>
            <p:cNvPr id="10" name="Group 11">
              <a:extLst>
                <a:ext uri="{FF2B5EF4-FFF2-40B4-BE49-F238E27FC236}">
                  <a16:creationId xmlns:a16="http://schemas.microsoft.com/office/drawing/2014/main" xmlns="" id="{36D2CA3F-D34E-B8E6-9E75-BD8736547F52}"/>
                </a:ext>
              </a:extLst>
            </p:cNvPr>
            <p:cNvGrpSpPr>
              <a:grpSpLocks/>
            </p:cNvGrpSpPr>
            <p:nvPr/>
          </p:nvGrpSpPr>
          <p:grpSpPr bwMode="auto">
            <a:xfrm>
              <a:off x="2982" y="2160"/>
              <a:ext cx="320" cy="245"/>
              <a:chOff x="2880" y="1104"/>
              <a:chExt cx="367" cy="336"/>
            </a:xfrm>
          </p:grpSpPr>
          <p:sp>
            <p:nvSpPr>
              <p:cNvPr id="108" name="Oval 12">
                <a:extLst>
                  <a:ext uri="{FF2B5EF4-FFF2-40B4-BE49-F238E27FC236}">
                    <a16:creationId xmlns:a16="http://schemas.microsoft.com/office/drawing/2014/main" xmlns="" id="{59CEF518-F24E-A6DB-855F-6E77E6E2D52B}"/>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9" name="Text Box 13">
                <a:extLst>
                  <a:ext uri="{FF2B5EF4-FFF2-40B4-BE49-F238E27FC236}">
                    <a16:creationId xmlns:a16="http://schemas.microsoft.com/office/drawing/2014/main" xmlns="" id="{4B76B5BA-779D-7104-8EFB-2EB7135C380D}"/>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A</a:t>
                </a:r>
              </a:p>
            </p:txBody>
          </p:sp>
        </p:grpSp>
        <p:grpSp>
          <p:nvGrpSpPr>
            <p:cNvPr id="11" name="Group 14">
              <a:extLst>
                <a:ext uri="{FF2B5EF4-FFF2-40B4-BE49-F238E27FC236}">
                  <a16:creationId xmlns:a16="http://schemas.microsoft.com/office/drawing/2014/main" xmlns="" id="{E63366F8-A1F5-7C0F-A096-0CB9EB1F728E}"/>
                </a:ext>
              </a:extLst>
            </p:cNvPr>
            <p:cNvGrpSpPr>
              <a:grpSpLocks/>
            </p:cNvGrpSpPr>
            <p:nvPr/>
          </p:nvGrpSpPr>
          <p:grpSpPr bwMode="auto">
            <a:xfrm>
              <a:off x="2982" y="2497"/>
              <a:ext cx="320" cy="245"/>
              <a:chOff x="2880" y="1104"/>
              <a:chExt cx="367" cy="336"/>
            </a:xfrm>
          </p:grpSpPr>
          <p:sp>
            <p:nvSpPr>
              <p:cNvPr id="106" name="Oval 15">
                <a:extLst>
                  <a:ext uri="{FF2B5EF4-FFF2-40B4-BE49-F238E27FC236}">
                    <a16:creationId xmlns:a16="http://schemas.microsoft.com/office/drawing/2014/main" xmlns="" id="{12BD127A-336A-B65C-1CBB-00115116306F}"/>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7" name="Text Box 16">
                <a:extLst>
                  <a:ext uri="{FF2B5EF4-FFF2-40B4-BE49-F238E27FC236}">
                    <a16:creationId xmlns:a16="http://schemas.microsoft.com/office/drawing/2014/main" xmlns="" id="{0FD8195F-D795-5698-CDEA-5865338D3E86}"/>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C</a:t>
                </a:r>
              </a:p>
            </p:txBody>
          </p:sp>
        </p:grpSp>
        <p:grpSp>
          <p:nvGrpSpPr>
            <p:cNvPr id="12" name="Group 17">
              <a:extLst>
                <a:ext uri="{FF2B5EF4-FFF2-40B4-BE49-F238E27FC236}">
                  <a16:creationId xmlns:a16="http://schemas.microsoft.com/office/drawing/2014/main" xmlns="" id="{993EEDB2-E51A-607E-DD74-F9BD58C47791}"/>
                </a:ext>
              </a:extLst>
            </p:cNvPr>
            <p:cNvGrpSpPr>
              <a:grpSpLocks/>
            </p:cNvGrpSpPr>
            <p:nvPr/>
          </p:nvGrpSpPr>
          <p:grpSpPr bwMode="auto">
            <a:xfrm>
              <a:off x="2304" y="2497"/>
              <a:ext cx="320" cy="245"/>
              <a:chOff x="2880" y="1104"/>
              <a:chExt cx="367" cy="336"/>
            </a:xfrm>
          </p:grpSpPr>
          <p:sp>
            <p:nvSpPr>
              <p:cNvPr id="104" name="Oval 18">
                <a:extLst>
                  <a:ext uri="{FF2B5EF4-FFF2-40B4-BE49-F238E27FC236}">
                    <a16:creationId xmlns:a16="http://schemas.microsoft.com/office/drawing/2014/main" xmlns="" id="{D7E00700-25DF-F8B1-4F8F-84B437D41E97}"/>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5" name="Text Box 19">
                <a:extLst>
                  <a:ext uri="{FF2B5EF4-FFF2-40B4-BE49-F238E27FC236}">
                    <a16:creationId xmlns:a16="http://schemas.microsoft.com/office/drawing/2014/main" xmlns="" id="{6531953E-7029-DC3C-933E-FB26C3A14860}"/>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B</a:t>
                </a:r>
              </a:p>
            </p:txBody>
          </p:sp>
        </p:grpSp>
        <p:grpSp>
          <p:nvGrpSpPr>
            <p:cNvPr id="13" name="Group 20">
              <a:extLst>
                <a:ext uri="{FF2B5EF4-FFF2-40B4-BE49-F238E27FC236}">
                  <a16:creationId xmlns:a16="http://schemas.microsoft.com/office/drawing/2014/main" xmlns="" id="{A73C85F2-3569-F54F-CA0B-C14786FE4E1F}"/>
                </a:ext>
              </a:extLst>
            </p:cNvPr>
            <p:cNvGrpSpPr>
              <a:grpSpLocks/>
            </p:cNvGrpSpPr>
            <p:nvPr/>
          </p:nvGrpSpPr>
          <p:grpSpPr bwMode="auto">
            <a:xfrm>
              <a:off x="3750" y="2497"/>
              <a:ext cx="320" cy="245"/>
              <a:chOff x="2880" y="1104"/>
              <a:chExt cx="367" cy="336"/>
            </a:xfrm>
          </p:grpSpPr>
          <p:sp>
            <p:nvSpPr>
              <p:cNvPr id="102" name="Oval 21">
                <a:extLst>
                  <a:ext uri="{FF2B5EF4-FFF2-40B4-BE49-F238E27FC236}">
                    <a16:creationId xmlns:a16="http://schemas.microsoft.com/office/drawing/2014/main" xmlns="" id="{3F6C714E-9006-3297-66A5-40D2885E0F3D}"/>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3" name="Text Box 22">
                <a:extLst>
                  <a:ext uri="{FF2B5EF4-FFF2-40B4-BE49-F238E27FC236}">
                    <a16:creationId xmlns:a16="http://schemas.microsoft.com/office/drawing/2014/main" xmlns="" id="{8EFF3B70-BC3F-EFC0-A0E5-F98272C7BAC3}"/>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D</a:t>
                </a:r>
              </a:p>
            </p:txBody>
          </p:sp>
        </p:grpSp>
        <p:grpSp>
          <p:nvGrpSpPr>
            <p:cNvPr id="14" name="Group 23">
              <a:extLst>
                <a:ext uri="{FF2B5EF4-FFF2-40B4-BE49-F238E27FC236}">
                  <a16:creationId xmlns:a16="http://schemas.microsoft.com/office/drawing/2014/main" xmlns="" id="{6E75E5CB-E914-B5C8-02C5-46FB20B928F3}"/>
                </a:ext>
              </a:extLst>
            </p:cNvPr>
            <p:cNvGrpSpPr>
              <a:grpSpLocks/>
            </p:cNvGrpSpPr>
            <p:nvPr/>
          </p:nvGrpSpPr>
          <p:grpSpPr bwMode="auto">
            <a:xfrm>
              <a:off x="3408" y="2858"/>
              <a:ext cx="320" cy="245"/>
              <a:chOff x="2880" y="1104"/>
              <a:chExt cx="367" cy="336"/>
            </a:xfrm>
          </p:grpSpPr>
          <p:sp>
            <p:nvSpPr>
              <p:cNvPr id="100" name="Oval 24">
                <a:extLst>
                  <a:ext uri="{FF2B5EF4-FFF2-40B4-BE49-F238E27FC236}">
                    <a16:creationId xmlns:a16="http://schemas.microsoft.com/office/drawing/2014/main" xmlns="" id="{D4014C22-4BEE-94DE-5F09-78A8EF193BAA}"/>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1" name="Text Box 25">
                <a:extLst>
                  <a:ext uri="{FF2B5EF4-FFF2-40B4-BE49-F238E27FC236}">
                    <a16:creationId xmlns:a16="http://schemas.microsoft.com/office/drawing/2014/main" xmlns="" id="{31B9D2AD-D84F-0919-998A-64BFED73432E}"/>
                  </a:ext>
                </a:extLst>
              </p:cNvPr>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H</a:t>
                </a:r>
              </a:p>
            </p:txBody>
          </p:sp>
        </p:grpSp>
        <p:grpSp>
          <p:nvGrpSpPr>
            <p:cNvPr id="15" name="Group 26">
              <a:extLst>
                <a:ext uri="{FF2B5EF4-FFF2-40B4-BE49-F238E27FC236}">
                  <a16:creationId xmlns:a16="http://schemas.microsoft.com/office/drawing/2014/main" xmlns="" id="{B2EB4B93-7280-74FB-F123-C85D07B8C369}"/>
                </a:ext>
              </a:extLst>
            </p:cNvPr>
            <p:cNvGrpSpPr>
              <a:grpSpLocks/>
            </p:cNvGrpSpPr>
            <p:nvPr/>
          </p:nvGrpSpPr>
          <p:grpSpPr bwMode="auto">
            <a:xfrm>
              <a:off x="2982" y="2858"/>
              <a:ext cx="320" cy="245"/>
              <a:chOff x="2880" y="1104"/>
              <a:chExt cx="367" cy="336"/>
            </a:xfrm>
          </p:grpSpPr>
          <p:sp>
            <p:nvSpPr>
              <p:cNvPr id="98" name="Oval 27">
                <a:extLst>
                  <a:ext uri="{FF2B5EF4-FFF2-40B4-BE49-F238E27FC236}">
                    <a16:creationId xmlns:a16="http://schemas.microsoft.com/office/drawing/2014/main" xmlns="" id="{82C79BA8-D934-0657-F5AD-2BDA1548B7FA}"/>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99" name="Text Box 28">
                <a:extLst>
                  <a:ext uri="{FF2B5EF4-FFF2-40B4-BE49-F238E27FC236}">
                    <a16:creationId xmlns:a16="http://schemas.microsoft.com/office/drawing/2014/main" xmlns="" id="{7994972D-3DA3-EFA8-6842-6232791DB564}"/>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G</a:t>
                </a:r>
              </a:p>
            </p:txBody>
          </p:sp>
        </p:grpSp>
        <p:grpSp>
          <p:nvGrpSpPr>
            <p:cNvPr id="17" name="Group 29">
              <a:extLst>
                <a:ext uri="{FF2B5EF4-FFF2-40B4-BE49-F238E27FC236}">
                  <a16:creationId xmlns:a16="http://schemas.microsoft.com/office/drawing/2014/main" xmlns="" id="{1593C5E4-72BC-3A08-1CBE-C9EE0E43B145}"/>
                </a:ext>
              </a:extLst>
            </p:cNvPr>
            <p:cNvGrpSpPr>
              <a:grpSpLocks/>
            </p:cNvGrpSpPr>
            <p:nvPr/>
          </p:nvGrpSpPr>
          <p:grpSpPr bwMode="auto">
            <a:xfrm>
              <a:off x="2502" y="2858"/>
              <a:ext cx="320" cy="245"/>
              <a:chOff x="2880" y="1104"/>
              <a:chExt cx="367" cy="336"/>
            </a:xfrm>
          </p:grpSpPr>
          <p:sp>
            <p:nvSpPr>
              <p:cNvPr id="96" name="Oval 30">
                <a:extLst>
                  <a:ext uri="{FF2B5EF4-FFF2-40B4-BE49-F238E27FC236}">
                    <a16:creationId xmlns:a16="http://schemas.microsoft.com/office/drawing/2014/main" xmlns="" id="{34C88DE2-2C6E-DEB2-0F38-739F17F08D0E}"/>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97" name="Text Box 31">
                <a:extLst>
                  <a:ext uri="{FF2B5EF4-FFF2-40B4-BE49-F238E27FC236}">
                    <a16:creationId xmlns:a16="http://schemas.microsoft.com/office/drawing/2014/main" xmlns="" id="{8EC0FC61-6464-8E65-E642-5AA5E75C9565}"/>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F</a:t>
                </a:r>
              </a:p>
            </p:txBody>
          </p:sp>
        </p:grpSp>
        <p:grpSp>
          <p:nvGrpSpPr>
            <p:cNvPr id="72" name="Group 32">
              <a:extLst>
                <a:ext uri="{FF2B5EF4-FFF2-40B4-BE49-F238E27FC236}">
                  <a16:creationId xmlns:a16="http://schemas.microsoft.com/office/drawing/2014/main" xmlns="" id="{20B6F2E7-58AE-7654-2425-B57BA3045F8C}"/>
                </a:ext>
              </a:extLst>
            </p:cNvPr>
            <p:cNvGrpSpPr>
              <a:grpSpLocks/>
            </p:cNvGrpSpPr>
            <p:nvPr/>
          </p:nvGrpSpPr>
          <p:grpSpPr bwMode="auto">
            <a:xfrm>
              <a:off x="2016" y="2858"/>
              <a:ext cx="320" cy="245"/>
              <a:chOff x="2880" y="1104"/>
              <a:chExt cx="367" cy="336"/>
            </a:xfrm>
          </p:grpSpPr>
          <p:sp>
            <p:nvSpPr>
              <p:cNvPr id="94" name="Oval 33">
                <a:extLst>
                  <a:ext uri="{FF2B5EF4-FFF2-40B4-BE49-F238E27FC236}">
                    <a16:creationId xmlns:a16="http://schemas.microsoft.com/office/drawing/2014/main" xmlns="" id="{C9F1360F-83BD-E0A1-D791-7A9277374EA8}"/>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95" name="Text Box 34">
                <a:extLst>
                  <a:ext uri="{FF2B5EF4-FFF2-40B4-BE49-F238E27FC236}">
                    <a16:creationId xmlns:a16="http://schemas.microsoft.com/office/drawing/2014/main" xmlns="" id="{72094C3A-F49D-602F-A5BB-71B6F555D48C}"/>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E</a:t>
                </a:r>
              </a:p>
            </p:txBody>
          </p:sp>
        </p:grpSp>
        <p:sp>
          <p:nvSpPr>
            <p:cNvPr id="73" name="Line 35">
              <a:extLst>
                <a:ext uri="{FF2B5EF4-FFF2-40B4-BE49-F238E27FC236}">
                  <a16:creationId xmlns:a16="http://schemas.microsoft.com/office/drawing/2014/main" xmlns="" id="{99F92D03-21AF-89FB-EBB2-B5EB3407C170}"/>
                </a:ext>
              </a:extLst>
            </p:cNvPr>
            <p:cNvSpPr>
              <a:spLocks noChangeShapeType="1"/>
            </p:cNvSpPr>
            <p:nvPr/>
          </p:nvSpPr>
          <p:spPr bwMode="auto">
            <a:xfrm>
              <a:off x="3126" y="2400"/>
              <a:ext cx="0" cy="96"/>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36">
              <a:extLst>
                <a:ext uri="{FF2B5EF4-FFF2-40B4-BE49-F238E27FC236}">
                  <a16:creationId xmlns:a16="http://schemas.microsoft.com/office/drawing/2014/main" xmlns="" id="{6EF56CE0-1FB9-33B0-720A-6A0E2884F5EE}"/>
                </a:ext>
              </a:extLst>
            </p:cNvPr>
            <p:cNvSpPr>
              <a:spLocks noChangeShapeType="1"/>
            </p:cNvSpPr>
            <p:nvPr/>
          </p:nvSpPr>
          <p:spPr bwMode="auto">
            <a:xfrm flipH="1">
              <a:off x="2550" y="2304"/>
              <a:ext cx="432"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37">
              <a:extLst>
                <a:ext uri="{FF2B5EF4-FFF2-40B4-BE49-F238E27FC236}">
                  <a16:creationId xmlns:a16="http://schemas.microsoft.com/office/drawing/2014/main" xmlns="" id="{EA785FED-B314-9D25-1B74-E814E1487355}"/>
                </a:ext>
              </a:extLst>
            </p:cNvPr>
            <p:cNvSpPr>
              <a:spLocks noChangeShapeType="1"/>
            </p:cNvSpPr>
            <p:nvPr/>
          </p:nvSpPr>
          <p:spPr bwMode="auto">
            <a:xfrm flipH="1">
              <a:off x="2247" y="2729"/>
              <a:ext cx="132"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38">
              <a:extLst>
                <a:ext uri="{FF2B5EF4-FFF2-40B4-BE49-F238E27FC236}">
                  <a16:creationId xmlns:a16="http://schemas.microsoft.com/office/drawing/2014/main" xmlns="" id="{5C33FC24-C350-92A0-3E94-4707AF591DB7}"/>
                </a:ext>
              </a:extLst>
            </p:cNvPr>
            <p:cNvSpPr>
              <a:spLocks noChangeShapeType="1"/>
            </p:cNvSpPr>
            <p:nvPr/>
          </p:nvSpPr>
          <p:spPr bwMode="auto">
            <a:xfrm>
              <a:off x="2532" y="2729"/>
              <a:ext cx="114"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39">
              <a:extLst>
                <a:ext uri="{FF2B5EF4-FFF2-40B4-BE49-F238E27FC236}">
                  <a16:creationId xmlns:a16="http://schemas.microsoft.com/office/drawing/2014/main" xmlns="" id="{BDF4F4B8-D23C-6285-DF23-7A84744F5D64}"/>
                </a:ext>
              </a:extLst>
            </p:cNvPr>
            <p:cNvSpPr>
              <a:spLocks noChangeShapeType="1"/>
            </p:cNvSpPr>
            <p:nvPr/>
          </p:nvSpPr>
          <p:spPr bwMode="auto">
            <a:xfrm>
              <a:off x="3126"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40">
              <a:extLst>
                <a:ext uri="{FF2B5EF4-FFF2-40B4-BE49-F238E27FC236}">
                  <a16:creationId xmlns:a16="http://schemas.microsoft.com/office/drawing/2014/main" xmlns="" id="{77AC2F90-3BDE-6BBD-4E09-FCF80A4CDD96}"/>
                </a:ext>
              </a:extLst>
            </p:cNvPr>
            <p:cNvSpPr>
              <a:spLocks noChangeShapeType="1"/>
            </p:cNvSpPr>
            <p:nvPr/>
          </p:nvSpPr>
          <p:spPr bwMode="auto">
            <a:xfrm>
              <a:off x="3258" y="2310"/>
              <a:ext cx="492" cy="28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41">
              <a:extLst>
                <a:ext uri="{FF2B5EF4-FFF2-40B4-BE49-F238E27FC236}">
                  <a16:creationId xmlns:a16="http://schemas.microsoft.com/office/drawing/2014/main" xmlns="" id="{2F8DD74B-4D5C-F422-9D6E-FAF0C962F2E9}"/>
                </a:ext>
              </a:extLst>
            </p:cNvPr>
            <p:cNvSpPr>
              <a:spLocks noChangeShapeType="1"/>
            </p:cNvSpPr>
            <p:nvPr/>
          </p:nvSpPr>
          <p:spPr bwMode="auto">
            <a:xfrm flipH="1">
              <a:off x="3606"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42">
              <a:extLst>
                <a:ext uri="{FF2B5EF4-FFF2-40B4-BE49-F238E27FC236}">
                  <a16:creationId xmlns:a16="http://schemas.microsoft.com/office/drawing/2014/main" xmlns="" id="{0DC6A658-7DD9-58AF-E6DF-F198D52203E2}"/>
                </a:ext>
              </a:extLst>
            </p:cNvPr>
            <p:cNvSpPr>
              <a:spLocks noChangeShapeType="1"/>
            </p:cNvSpPr>
            <p:nvPr/>
          </p:nvSpPr>
          <p:spPr bwMode="auto">
            <a:xfrm>
              <a:off x="3894"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43">
              <a:extLst>
                <a:ext uri="{FF2B5EF4-FFF2-40B4-BE49-F238E27FC236}">
                  <a16:creationId xmlns:a16="http://schemas.microsoft.com/office/drawing/2014/main" xmlns="" id="{F961AC99-349E-C4AC-F644-5E2CFFED3EA0}"/>
                </a:ext>
              </a:extLst>
            </p:cNvPr>
            <p:cNvSpPr>
              <a:spLocks noChangeShapeType="1"/>
            </p:cNvSpPr>
            <p:nvPr/>
          </p:nvSpPr>
          <p:spPr bwMode="auto">
            <a:xfrm>
              <a:off x="3990"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2" name="Group 44">
              <a:extLst>
                <a:ext uri="{FF2B5EF4-FFF2-40B4-BE49-F238E27FC236}">
                  <a16:creationId xmlns:a16="http://schemas.microsoft.com/office/drawing/2014/main" xmlns="" id="{45081EBD-8E16-CDF3-D9B4-A6ACF50DF652}"/>
                </a:ext>
              </a:extLst>
            </p:cNvPr>
            <p:cNvGrpSpPr>
              <a:grpSpLocks/>
            </p:cNvGrpSpPr>
            <p:nvPr/>
          </p:nvGrpSpPr>
          <p:grpSpPr bwMode="auto">
            <a:xfrm>
              <a:off x="1728" y="3216"/>
              <a:ext cx="320" cy="245"/>
              <a:chOff x="2880" y="1104"/>
              <a:chExt cx="367" cy="336"/>
            </a:xfrm>
          </p:grpSpPr>
          <p:sp>
            <p:nvSpPr>
              <p:cNvPr id="92" name="Oval 45">
                <a:extLst>
                  <a:ext uri="{FF2B5EF4-FFF2-40B4-BE49-F238E27FC236}">
                    <a16:creationId xmlns:a16="http://schemas.microsoft.com/office/drawing/2014/main" xmlns="" id="{841C9BA1-4B70-E856-4E93-55DDBA767104}"/>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93" name="Text Box 46">
                <a:extLst>
                  <a:ext uri="{FF2B5EF4-FFF2-40B4-BE49-F238E27FC236}">
                    <a16:creationId xmlns:a16="http://schemas.microsoft.com/office/drawing/2014/main" xmlns="" id="{4B2440A0-8255-4850-A115-56732CAEABA0}"/>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K</a:t>
                </a:r>
              </a:p>
            </p:txBody>
          </p:sp>
        </p:grpSp>
        <p:sp>
          <p:nvSpPr>
            <p:cNvPr id="83" name="Line 47">
              <a:extLst>
                <a:ext uri="{FF2B5EF4-FFF2-40B4-BE49-F238E27FC236}">
                  <a16:creationId xmlns:a16="http://schemas.microsoft.com/office/drawing/2014/main" xmlns="" id="{CAD4D11B-A2C2-C6DC-4B65-3BD10D1C4E22}"/>
                </a:ext>
              </a:extLst>
            </p:cNvPr>
            <p:cNvSpPr>
              <a:spLocks noChangeShapeType="1"/>
            </p:cNvSpPr>
            <p:nvPr/>
          </p:nvSpPr>
          <p:spPr bwMode="auto">
            <a:xfrm flipH="1">
              <a:off x="1926" y="3058"/>
              <a:ext cx="144" cy="18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4" name="Group 48">
              <a:extLst>
                <a:ext uri="{FF2B5EF4-FFF2-40B4-BE49-F238E27FC236}">
                  <a16:creationId xmlns:a16="http://schemas.microsoft.com/office/drawing/2014/main" xmlns="" id="{CD10510A-A73D-9AA4-C252-2EE44BC5F518}"/>
                </a:ext>
              </a:extLst>
            </p:cNvPr>
            <p:cNvGrpSpPr>
              <a:grpSpLocks/>
            </p:cNvGrpSpPr>
            <p:nvPr/>
          </p:nvGrpSpPr>
          <p:grpSpPr bwMode="auto">
            <a:xfrm>
              <a:off x="2256" y="3216"/>
              <a:ext cx="320" cy="245"/>
              <a:chOff x="2880" y="1104"/>
              <a:chExt cx="367" cy="336"/>
            </a:xfrm>
          </p:grpSpPr>
          <p:sp>
            <p:nvSpPr>
              <p:cNvPr id="90" name="Oval 49">
                <a:extLst>
                  <a:ext uri="{FF2B5EF4-FFF2-40B4-BE49-F238E27FC236}">
                    <a16:creationId xmlns:a16="http://schemas.microsoft.com/office/drawing/2014/main" xmlns="" id="{93E8FD43-779D-148E-92AE-0BA29922CDC2}"/>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91" name="Text Box 50">
                <a:extLst>
                  <a:ext uri="{FF2B5EF4-FFF2-40B4-BE49-F238E27FC236}">
                    <a16:creationId xmlns:a16="http://schemas.microsoft.com/office/drawing/2014/main" xmlns="" id="{EC808FC2-BFFE-CB49-3CDD-8A1F14B88F4F}"/>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L</a:t>
                </a:r>
              </a:p>
            </p:txBody>
          </p:sp>
        </p:grpSp>
        <p:sp>
          <p:nvSpPr>
            <p:cNvPr id="85" name="Line 51">
              <a:extLst>
                <a:ext uri="{FF2B5EF4-FFF2-40B4-BE49-F238E27FC236}">
                  <a16:creationId xmlns:a16="http://schemas.microsoft.com/office/drawing/2014/main" xmlns="" id="{AD2265AD-8C6B-17BC-5C83-0EB3E363F793}"/>
                </a:ext>
              </a:extLst>
            </p:cNvPr>
            <p:cNvSpPr>
              <a:spLocks noChangeShapeType="1"/>
            </p:cNvSpPr>
            <p:nvPr/>
          </p:nvSpPr>
          <p:spPr bwMode="auto">
            <a:xfrm>
              <a:off x="2247" y="3058"/>
              <a:ext cx="132" cy="158"/>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6" name="Group 52">
              <a:extLst>
                <a:ext uri="{FF2B5EF4-FFF2-40B4-BE49-F238E27FC236}">
                  <a16:creationId xmlns:a16="http://schemas.microsoft.com/office/drawing/2014/main" xmlns="" id="{723ADD74-E81B-EBBE-F7B8-25FD6A4AB400}"/>
                </a:ext>
              </a:extLst>
            </p:cNvPr>
            <p:cNvGrpSpPr>
              <a:grpSpLocks/>
            </p:cNvGrpSpPr>
            <p:nvPr/>
          </p:nvGrpSpPr>
          <p:grpSpPr bwMode="auto">
            <a:xfrm>
              <a:off x="3408" y="3216"/>
              <a:ext cx="320" cy="245"/>
              <a:chOff x="2880" y="1104"/>
              <a:chExt cx="367" cy="336"/>
            </a:xfrm>
          </p:grpSpPr>
          <p:sp>
            <p:nvSpPr>
              <p:cNvPr id="88" name="Oval 53">
                <a:extLst>
                  <a:ext uri="{FF2B5EF4-FFF2-40B4-BE49-F238E27FC236}">
                    <a16:creationId xmlns:a16="http://schemas.microsoft.com/office/drawing/2014/main" xmlns="" id="{85B52D5B-AB9B-BB4D-F2F4-A499332DDC33}"/>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89" name="Text Box 54">
                <a:extLst>
                  <a:ext uri="{FF2B5EF4-FFF2-40B4-BE49-F238E27FC236}">
                    <a16:creationId xmlns:a16="http://schemas.microsoft.com/office/drawing/2014/main" xmlns="" id="{B72A45A3-F160-27BE-A479-C4BF2FF7BB1D}"/>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M</a:t>
                </a:r>
              </a:p>
            </p:txBody>
          </p:sp>
        </p:grpSp>
        <p:sp>
          <p:nvSpPr>
            <p:cNvPr id="87" name="Line 55">
              <a:extLst>
                <a:ext uri="{FF2B5EF4-FFF2-40B4-BE49-F238E27FC236}">
                  <a16:creationId xmlns:a16="http://schemas.microsoft.com/office/drawing/2014/main" xmlns="" id="{3D23099D-7BE4-EBB5-A8D4-F3EC702D9E32}"/>
                </a:ext>
              </a:extLst>
            </p:cNvPr>
            <p:cNvSpPr>
              <a:spLocks noChangeShapeType="1"/>
            </p:cNvSpPr>
            <p:nvPr/>
          </p:nvSpPr>
          <p:spPr bwMode="auto">
            <a:xfrm>
              <a:off x="3552" y="3094"/>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59863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351DB44-E577-7DCA-8596-A861EB89D0F0}"/>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55D77710-0683-5868-4CF1-2087192063B5}"/>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16" name="Rectangle 2">
            <a:extLst>
              <a:ext uri="{FF2B5EF4-FFF2-40B4-BE49-F238E27FC236}">
                <a16:creationId xmlns:a16="http://schemas.microsoft.com/office/drawing/2014/main" xmlns="" id="{0784F628-1801-9AFA-1EAE-B131D2EABA4D}"/>
              </a:ext>
            </a:extLst>
          </p:cNvPr>
          <p:cNvSpPr txBox="1">
            <a:spLocks noChangeArrowheads="1"/>
          </p:cNvSpPr>
          <p:nvPr/>
        </p:nvSpPr>
        <p:spPr>
          <a:xfrm>
            <a:off x="79920" y="836712"/>
            <a:ext cx="50079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7.1.2 </a:t>
            </a:r>
            <a:r>
              <a:rPr lang="zh-CN" altLang="en-US" dirty="0"/>
              <a:t>树的（逻辑）表示方法</a:t>
            </a:r>
          </a:p>
        </p:txBody>
      </p:sp>
      <p:cxnSp>
        <p:nvCxnSpPr>
          <p:cNvPr id="71" name="直接连接符 70">
            <a:extLst>
              <a:ext uri="{FF2B5EF4-FFF2-40B4-BE49-F238E27FC236}">
                <a16:creationId xmlns:a16="http://schemas.microsoft.com/office/drawing/2014/main" xmlns="" id="{2F7FBF78-B999-A55B-2632-6EDF6CD01B2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xmlns="" id="{169CF8C5-D2CB-FA7E-07BA-0B9F1DEEB558}"/>
              </a:ext>
            </a:extLst>
          </p:cNvPr>
          <p:cNvGrpSpPr>
            <a:grpSpLocks/>
          </p:cNvGrpSpPr>
          <p:nvPr/>
        </p:nvGrpSpPr>
        <p:grpSpPr bwMode="auto">
          <a:xfrm>
            <a:off x="3810199" y="2780928"/>
            <a:ext cx="4571602" cy="2350282"/>
            <a:chOff x="1728" y="2160"/>
            <a:chExt cx="2680" cy="1301"/>
          </a:xfrm>
        </p:grpSpPr>
        <p:grpSp>
          <p:nvGrpSpPr>
            <p:cNvPr id="8" name="Group 5">
              <a:extLst>
                <a:ext uri="{FF2B5EF4-FFF2-40B4-BE49-F238E27FC236}">
                  <a16:creationId xmlns:a16="http://schemas.microsoft.com/office/drawing/2014/main" xmlns="" id="{EFCBFA93-DC7F-D73B-30FC-22524246791A}"/>
                </a:ext>
              </a:extLst>
            </p:cNvPr>
            <p:cNvGrpSpPr>
              <a:grpSpLocks/>
            </p:cNvGrpSpPr>
            <p:nvPr/>
          </p:nvGrpSpPr>
          <p:grpSpPr bwMode="auto">
            <a:xfrm>
              <a:off x="4088" y="2855"/>
              <a:ext cx="320" cy="246"/>
              <a:chOff x="2880" y="1103"/>
              <a:chExt cx="367" cy="337"/>
            </a:xfrm>
          </p:grpSpPr>
          <p:sp>
            <p:nvSpPr>
              <p:cNvPr id="112" name="Oval 6">
                <a:extLst>
                  <a:ext uri="{FF2B5EF4-FFF2-40B4-BE49-F238E27FC236}">
                    <a16:creationId xmlns:a16="http://schemas.microsoft.com/office/drawing/2014/main" xmlns="" id="{B28FFC38-F14A-CAE1-A9A3-9A3C1F4CC62C}"/>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3" name="Text Box 7">
                <a:extLst>
                  <a:ext uri="{FF2B5EF4-FFF2-40B4-BE49-F238E27FC236}">
                    <a16:creationId xmlns:a16="http://schemas.microsoft.com/office/drawing/2014/main" xmlns="" id="{785CFB31-2BC1-9B22-C41C-C3F19C47CB23}"/>
                  </a:ext>
                </a:extLst>
              </p:cNvPr>
              <p:cNvSpPr txBox="1">
                <a:spLocks noChangeArrowheads="1"/>
              </p:cNvSpPr>
              <p:nvPr/>
            </p:nvSpPr>
            <p:spPr bwMode="auto">
              <a:xfrm>
                <a:off x="2928" y="1103"/>
                <a:ext cx="31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J</a:t>
                </a:r>
              </a:p>
            </p:txBody>
          </p:sp>
        </p:grpSp>
        <p:grpSp>
          <p:nvGrpSpPr>
            <p:cNvPr id="9" name="Group 8">
              <a:extLst>
                <a:ext uri="{FF2B5EF4-FFF2-40B4-BE49-F238E27FC236}">
                  <a16:creationId xmlns:a16="http://schemas.microsoft.com/office/drawing/2014/main" xmlns="" id="{901E2B4F-5098-0C4C-B349-CDB0F0A49B8C}"/>
                </a:ext>
              </a:extLst>
            </p:cNvPr>
            <p:cNvGrpSpPr>
              <a:grpSpLocks/>
            </p:cNvGrpSpPr>
            <p:nvPr/>
          </p:nvGrpSpPr>
          <p:grpSpPr bwMode="auto">
            <a:xfrm>
              <a:off x="3750" y="2858"/>
              <a:ext cx="320" cy="245"/>
              <a:chOff x="2880" y="1104"/>
              <a:chExt cx="367" cy="336"/>
            </a:xfrm>
          </p:grpSpPr>
          <p:sp>
            <p:nvSpPr>
              <p:cNvPr id="110" name="Oval 9">
                <a:extLst>
                  <a:ext uri="{FF2B5EF4-FFF2-40B4-BE49-F238E27FC236}">
                    <a16:creationId xmlns:a16="http://schemas.microsoft.com/office/drawing/2014/main" xmlns="" id="{7C5747B7-63BB-1F2F-3AE4-ACBC7E138246}"/>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1" name="Text Box 10">
                <a:extLst>
                  <a:ext uri="{FF2B5EF4-FFF2-40B4-BE49-F238E27FC236}">
                    <a16:creationId xmlns:a16="http://schemas.microsoft.com/office/drawing/2014/main" xmlns="" id="{E8FD000A-E61F-9CCB-8D84-83D40F10BAD3}"/>
                  </a:ext>
                </a:extLst>
              </p:cNvPr>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I</a:t>
                </a:r>
              </a:p>
            </p:txBody>
          </p:sp>
        </p:grpSp>
        <p:grpSp>
          <p:nvGrpSpPr>
            <p:cNvPr id="10" name="Group 11">
              <a:extLst>
                <a:ext uri="{FF2B5EF4-FFF2-40B4-BE49-F238E27FC236}">
                  <a16:creationId xmlns:a16="http://schemas.microsoft.com/office/drawing/2014/main" xmlns="" id="{507BBD79-25E4-E506-62F2-062DCFB1A4DF}"/>
                </a:ext>
              </a:extLst>
            </p:cNvPr>
            <p:cNvGrpSpPr>
              <a:grpSpLocks/>
            </p:cNvGrpSpPr>
            <p:nvPr/>
          </p:nvGrpSpPr>
          <p:grpSpPr bwMode="auto">
            <a:xfrm>
              <a:off x="2982" y="2160"/>
              <a:ext cx="320" cy="245"/>
              <a:chOff x="2880" y="1104"/>
              <a:chExt cx="367" cy="336"/>
            </a:xfrm>
          </p:grpSpPr>
          <p:sp>
            <p:nvSpPr>
              <p:cNvPr id="108" name="Oval 12">
                <a:extLst>
                  <a:ext uri="{FF2B5EF4-FFF2-40B4-BE49-F238E27FC236}">
                    <a16:creationId xmlns:a16="http://schemas.microsoft.com/office/drawing/2014/main" xmlns="" id="{04BF63F5-5E17-207B-C305-BA095B50BD05}"/>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9" name="Text Box 13">
                <a:extLst>
                  <a:ext uri="{FF2B5EF4-FFF2-40B4-BE49-F238E27FC236}">
                    <a16:creationId xmlns:a16="http://schemas.microsoft.com/office/drawing/2014/main" xmlns="" id="{0A55E8BE-A0C8-C8C1-4022-CF05640985C4}"/>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A</a:t>
                </a:r>
              </a:p>
            </p:txBody>
          </p:sp>
        </p:grpSp>
        <p:grpSp>
          <p:nvGrpSpPr>
            <p:cNvPr id="11" name="Group 14">
              <a:extLst>
                <a:ext uri="{FF2B5EF4-FFF2-40B4-BE49-F238E27FC236}">
                  <a16:creationId xmlns:a16="http://schemas.microsoft.com/office/drawing/2014/main" xmlns="" id="{12D733F7-2773-0674-6104-FC5BD3D3927E}"/>
                </a:ext>
              </a:extLst>
            </p:cNvPr>
            <p:cNvGrpSpPr>
              <a:grpSpLocks/>
            </p:cNvGrpSpPr>
            <p:nvPr/>
          </p:nvGrpSpPr>
          <p:grpSpPr bwMode="auto">
            <a:xfrm>
              <a:off x="2982" y="2497"/>
              <a:ext cx="320" cy="245"/>
              <a:chOff x="2880" y="1104"/>
              <a:chExt cx="367" cy="336"/>
            </a:xfrm>
          </p:grpSpPr>
          <p:sp>
            <p:nvSpPr>
              <p:cNvPr id="106" name="Oval 15">
                <a:extLst>
                  <a:ext uri="{FF2B5EF4-FFF2-40B4-BE49-F238E27FC236}">
                    <a16:creationId xmlns:a16="http://schemas.microsoft.com/office/drawing/2014/main" xmlns="" id="{CBE4F5C2-6DEC-4250-14CF-434BAD70D285}"/>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7" name="Text Box 16">
                <a:extLst>
                  <a:ext uri="{FF2B5EF4-FFF2-40B4-BE49-F238E27FC236}">
                    <a16:creationId xmlns:a16="http://schemas.microsoft.com/office/drawing/2014/main" xmlns="" id="{37860E7C-E184-0ACC-139D-2EEF786E9651}"/>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C</a:t>
                </a:r>
              </a:p>
            </p:txBody>
          </p:sp>
        </p:grpSp>
        <p:grpSp>
          <p:nvGrpSpPr>
            <p:cNvPr id="12" name="Group 17">
              <a:extLst>
                <a:ext uri="{FF2B5EF4-FFF2-40B4-BE49-F238E27FC236}">
                  <a16:creationId xmlns:a16="http://schemas.microsoft.com/office/drawing/2014/main" xmlns="" id="{E012281B-0165-7A77-2C86-1C3FE76C0E5C}"/>
                </a:ext>
              </a:extLst>
            </p:cNvPr>
            <p:cNvGrpSpPr>
              <a:grpSpLocks/>
            </p:cNvGrpSpPr>
            <p:nvPr/>
          </p:nvGrpSpPr>
          <p:grpSpPr bwMode="auto">
            <a:xfrm>
              <a:off x="2304" y="2497"/>
              <a:ext cx="320" cy="245"/>
              <a:chOff x="2880" y="1104"/>
              <a:chExt cx="367" cy="336"/>
            </a:xfrm>
          </p:grpSpPr>
          <p:sp>
            <p:nvSpPr>
              <p:cNvPr id="104" name="Oval 18">
                <a:extLst>
                  <a:ext uri="{FF2B5EF4-FFF2-40B4-BE49-F238E27FC236}">
                    <a16:creationId xmlns:a16="http://schemas.microsoft.com/office/drawing/2014/main" xmlns="" id="{B2CCA6DC-B36E-CA89-565E-35C91A5054E5}"/>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5" name="Text Box 19">
                <a:extLst>
                  <a:ext uri="{FF2B5EF4-FFF2-40B4-BE49-F238E27FC236}">
                    <a16:creationId xmlns:a16="http://schemas.microsoft.com/office/drawing/2014/main" xmlns="" id="{E1FFB99E-E9D8-7394-3CF7-53208A083C2B}"/>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B</a:t>
                </a:r>
              </a:p>
            </p:txBody>
          </p:sp>
        </p:grpSp>
        <p:grpSp>
          <p:nvGrpSpPr>
            <p:cNvPr id="13" name="Group 20">
              <a:extLst>
                <a:ext uri="{FF2B5EF4-FFF2-40B4-BE49-F238E27FC236}">
                  <a16:creationId xmlns:a16="http://schemas.microsoft.com/office/drawing/2014/main" xmlns="" id="{18C8AEE0-A842-14BA-7C8E-7C0478EBC151}"/>
                </a:ext>
              </a:extLst>
            </p:cNvPr>
            <p:cNvGrpSpPr>
              <a:grpSpLocks/>
            </p:cNvGrpSpPr>
            <p:nvPr/>
          </p:nvGrpSpPr>
          <p:grpSpPr bwMode="auto">
            <a:xfrm>
              <a:off x="3750" y="2497"/>
              <a:ext cx="320" cy="245"/>
              <a:chOff x="2880" y="1104"/>
              <a:chExt cx="367" cy="336"/>
            </a:xfrm>
          </p:grpSpPr>
          <p:sp>
            <p:nvSpPr>
              <p:cNvPr id="102" name="Oval 21">
                <a:extLst>
                  <a:ext uri="{FF2B5EF4-FFF2-40B4-BE49-F238E27FC236}">
                    <a16:creationId xmlns:a16="http://schemas.microsoft.com/office/drawing/2014/main" xmlns="" id="{902D55CD-40CC-EDEF-1295-D11545FC1316}"/>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3" name="Text Box 22">
                <a:extLst>
                  <a:ext uri="{FF2B5EF4-FFF2-40B4-BE49-F238E27FC236}">
                    <a16:creationId xmlns:a16="http://schemas.microsoft.com/office/drawing/2014/main" xmlns="" id="{A256E337-0E53-672A-E416-5902CE4F4926}"/>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D</a:t>
                </a:r>
              </a:p>
            </p:txBody>
          </p:sp>
        </p:grpSp>
        <p:grpSp>
          <p:nvGrpSpPr>
            <p:cNvPr id="14" name="Group 23">
              <a:extLst>
                <a:ext uri="{FF2B5EF4-FFF2-40B4-BE49-F238E27FC236}">
                  <a16:creationId xmlns:a16="http://schemas.microsoft.com/office/drawing/2014/main" xmlns="" id="{5A17A507-B03E-BF0C-0E48-E23FF9C109A6}"/>
                </a:ext>
              </a:extLst>
            </p:cNvPr>
            <p:cNvGrpSpPr>
              <a:grpSpLocks/>
            </p:cNvGrpSpPr>
            <p:nvPr/>
          </p:nvGrpSpPr>
          <p:grpSpPr bwMode="auto">
            <a:xfrm>
              <a:off x="3408" y="2858"/>
              <a:ext cx="320" cy="245"/>
              <a:chOff x="2880" y="1104"/>
              <a:chExt cx="367" cy="336"/>
            </a:xfrm>
          </p:grpSpPr>
          <p:sp>
            <p:nvSpPr>
              <p:cNvPr id="100" name="Oval 24">
                <a:extLst>
                  <a:ext uri="{FF2B5EF4-FFF2-40B4-BE49-F238E27FC236}">
                    <a16:creationId xmlns:a16="http://schemas.microsoft.com/office/drawing/2014/main" xmlns="" id="{D990ECCD-C318-62A1-A1CF-DFB4C882353B}"/>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1" name="Text Box 25">
                <a:extLst>
                  <a:ext uri="{FF2B5EF4-FFF2-40B4-BE49-F238E27FC236}">
                    <a16:creationId xmlns:a16="http://schemas.microsoft.com/office/drawing/2014/main" xmlns="" id="{5E93DFFA-4ADE-63A6-0788-96DAFDF3EBF3}"/>
                  </a:ext>
                </a:extLst>
              </p:cNvPr>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H</a:t>
                </a:r>
              </a:p>
            </p:txBody>
          </p:sp>
        </p:grpSp>
        <p:grpSp>
          <p:nvGrpSpPr>
            <p:cNvPr id="15" name="Group 26">
              <a:extLst>
                <a:ext uri="{FF2B5EF4-FFF2-40B4-BE49-F238E27FC236}">
                  <a16:creationId xmlns:a16="http://schemas.microsoft.com/office/drawing/2014/main" xmlns="" id="{590DDEA7-CC7C-4687-A182-5D8490ABDABE}"/>
                </a:ext>
              </a:extLst>
            </p:cNvPr>
            <p:cNvGrpSpPr>
              <a:grpSpLocks/>
            </p:cNvGrpSpPr>
            <p:nvPr/>
          </p:nvGrpSpPr>
          <p:grpSpPr bwMode="auto">
            <a:xfrm>
              <a:off x="2982" y="2858"/>
              <a:ext cx="320" cy="245"/>
              <a:chOff x="2880" y="1104"/>
              <a:chExt cx="367" cy="336"/>
            </a:xfrm>
          </p:grpSpPr>
          <p:sp>
            <p:nvSpPr>
              <p:cNvPr id="98" name="Oval 27">
                <a:extLst>
                  <a:ext uri="{FF2B5EF4-FFF2-40B4-BE49-F238E27FC236}">
                    <a16:creationId xmlns:a16="http://schemas.microsoft.com/office/drawing/2014/main" xmlns="" id="{A2F9A7DF-1823-3986-4F98-17300048D62F}"/>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99" name="Text Box 28">
                <a:extLst>
                  <a:ext uri="{FF2B5EF4-FFF2-40B4-BE49-F238E27FC236}">
                    <a16:creationId xmlns:a16="http://schemas.microsoft.com/office/drawing/2014/main" xmlns="" id="{8EC9B440-D9F2-04D6-F3B0-4C20C25A3931}"/>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G</a:t>
                </a:r>
              </a:p>
            </p:txBody>
          </p:sp>
        </p:grpSp>
        <p:grpSp>
          <p:nvGrpSpPr>
            <p:cNvPr id="17" name="Group 29">
              <a:extLst>
                <a:ext uri="{FF2B5EF4-FFF2-40B4-BE49-F238E27FC236}">
                  <a16:creationId xmlns:a16="http://schemas.microsoft.com/office/drawing/2014/main" xmlns="" id="{EB19F5E6-38F2-B17D-7709-9A37BE7EB8DF}"/>
                </a:ext>
              </a:extLst>
            </p:cNvPr>
            <p:cNvGrpSpPr>
              <a:grpSpLocks/>
            </p:cNvGrpSpPr>
            <p:nvPr/>
          </p:nvGrpSpPr>
          <p:grpSpPr bwMode="auto">
            <a:xfrm>
              <a:off x="2502" y="2858"/>
              <a:ext cx="320" cy="245"/>
              <a:chOff x="2880" y="1104"/>
              <a:chExt cx="367" cy="336"/>
            </a:xfrm>
          </p:grpSpPr>
          <p:sp>
            <p:nvSpPr>
              <p:cNvPr id="96" name="Oval 30">
                <a:extLst>
                  <a:ext uri="{FF2B5EF4-FFF2-40B4-BE49-F238E27FC236}">
                    <a16:creationId xmlns:a16="http://schemas.microsoft.com/office/drawing/2014/main" xmlns="" id="{1907DEAB-1A90-6A9C-4E66-8F4DA1E0B298}"/>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97" name="Text Box 31">
                <a:extLst>
                  <a:ext uri="{FF2B5EF4-FFF2-40B4-BE49-F238E27FC236}">
                    <a16:creationId xmlns:a16="http://schemas.microsoft.com/office/drawing/2014/main" xmlns="" id="{A21B62CE-24AC-E816-3712-28A62874019F}"/>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F</a:t>
                </a:r>
              </a:p>
            </p:txBody>
          </p:sp>
        </p:grpSp>
        <p:grpSp>
          <p:nvGrpSpPr>
            <p:cNvPr id="72" name="Group 32">
              <a:extLst>
                <a:ext uri="{FF2B5EF4-FFF2-40B4-BE49-F238E27FC236}">
                  <a16:creationId xmlns:a16="http://schemas.microsoft.com/office/drawing/2014/main" xmlns="" id="{549C81D3-9C19-9681-3DC2-1CA5073E73E6}"/>
                </a:ext>
              </a:extLst>
            </p:cNvPr>
            <p:cNvGrpSpPr>
              <a:grpSpLocks/>
            </p:cNvGrpSpPr>
            <p:nvPr/>
          </p:nvGrpSpPr>
          <p:grpSpPr bwMode="auto">
            <a:xfrm>
              <a:off x="2016" y="2858"/>
              <a:ext cx="320" cy="245"/>
              <a:chOff x="2880" y="1104"/>
              <a:chExt cx="367" cy="336"/>
            </a:xfrm>
          </p:grpSpPr>
          <p:sp>
            <p:nvSpPr>
              <p:cNvPr id="94" name="Oval 33">
                <a:extLst>
                  <a:ext uri="{FF2B5EF4-FFF2-40B4-BE49-F238E27FC236}">
                    <a16:creationId xmlns:a16="http://schemas.microsoft.com/office/drawing/2014/main" xmlns="" id="{78288C0E-B660-4525-8719-760A2EF92C9B}"/>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95" name="Text Box 34">
                <a:extLst>
                  <a:ext uri="{FF2B5EF4-FFF2-40B4-BE49-F238E27FC236}">
                    <a16:creationId xmlns:a16="http://schemas.microsoft.com/office/drawing/2014/main" xmlns="" id="{B3629458-3516-EE25-2B56-6350677A3291}"/>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E</a:t>
                </a:r>
              </a:p>
            </p:txBody>
          </p:sp>
        </p:grpSp>
        <p:sp>
          <p:nvSpPr>
            <p:cNvPr id="73" name="Line 35">
              <a:extLst>
                <a:ext uri="{FF2B5EF4-FFF2-40B4-BE49-F238E27FC236}">
                  <a16:creationId xmlns:a16="http://schemas.microsoft.com/office/drawing/2014/main" xmlns="" id="{C9663944-FB60-6F99-5A0B-17FBB059B172}"/>
                </a:ext>
              </a:extLst>
            </p:cNvPr>
            <p:cNvSpPr>
              <a:spLocks noChangeShapeType="1"/>
            </p:cNvSpPr>
            <p:nvPr/>
          </p:nvSpPr>
          <p:spPr bwMode="auto">
            <a:xfrm>
              <a:off x="3126" y="2400"/>
              <a:ext cx="0" cy="96"/>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36">
              <a:extLst>
                <a:ext uri="{FF2B5EF4-FFF2-40B4-BE49-F238E27FC236}">
                  <a16:creationId xmlns:a16="http://schemas.microsoft.com/office/drawing/2014/main" xmlns="" id="{FAF41019-FCEB-449E-2245-3BEC59BD32D1}"/>
                </a:ext>
              </a:extLst>
            </p:cNvPr>
            <p:cNvSpPr>
              <a:spLocks noChangeShapeType="1"/>
            </p:cNvSpPr>
            <p:nvPr/>
          </p:nvSpPr>
          <p:spPr bwMode="auto">
            <a:xfrm flipH="1">
              <a:off x="2550" y="2304"/>
              <a:ext cx="432"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37">
              <a:extLst>
                <a:ext uri="{FF2B5EF4-FFF2-40B4-BE49-F238E27FC236}">
                  <a16:creationId xmlns:a16="http://schemas.microsoft.com/office/drawing/2014/main" xmlns="" id="{9ED60B16-ED14-3CFB-7FBD-75E2EB6039CF}"/>
                </a:ext>
              </a:extLst>
            </p:cNvPr>
            <p:cNvSpPr>
              <a:spLocks noChangeShapeType="1"/>
            </p:cNvSpPr>
            <p:nvPr/>
          </p:nvSpPr>
          <p:spPr bwMode="auto">
            <a:xfrm flipH="1">
              <a:off x="2247" y="2729"/>
              <a:ext cx="132"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38">
              <a:extLst>
                <a:ext uri="{FF2B5EF4-FFF2-40B4-BE49-F238E27FC236}">
                  <a16:creationId xmlns:a16="http://schemas.microsoft.com/office/drawing/2014/main" xmlns="" id="{394C0AE0-A008-C397-1735-29580F3439CD}"/>
                </a:ext>
              </a:extLst>
            </p:cNvPr>
            <p:cNvSpPr>
              <a:spLocks noChangeShapeType="1"/>
            </p:cNvSpPr>
            <p:nvPr/>
          </p:nvSpPr>
          <p:spPr bwMode="auto">
            <a:xfrm>
              <a:off x="2532" y="2729"/>
              <a:ext cx="114"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39">
              <a:extLst>
                <a:ext uri="{FF2B5EF4-FFF2-40B4-BE49-F238E27FC236}">
                  <a16:creationId xmlns:a16="http://schemas.microsoft.com/office/drawing/2014/main" xmlns="" id="{287647B0-85AA-338F-DE65-353289841062}"/>
                </a:ext>
              </a:extLst>
            </p:cNvPr>
            <p:cNvSpPr>
              <a:spLocks noChangeShapeType="1"/>
            </p:cNvSpPr>
            <p:nvPr/>
          </p:nvSpPr>
          <p:spPr bwMode="auto">
            <a:xfrm>
              <a:off x="3126"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40">
              <a:extLst>
                <a:ext uri="{FF2B5EF4-FFF2-40B4-BE49-F238E27FC236}">
                  <a16:creationId xmlns:a16="http://schemas.microsoft.com/office/drawing/2014/main" xmlns="" id="{E568026F-9225-FCB5-B1A8-811344BBDEA7}"/>
                </a:ext>
              </a:extLst>
            </p:cNvPr>
            <p:cNvSpPr>
              <a:spLocks noChangeShapeType="1"/>
            </p:cNvSpPr>
            <p:nvPr/>
          </p:nvSpPr>
          <p:spPr bwMode="auto">
            <a:xfrm>
              <a:off x="3258" y="2310"/>
              <a:ext cx="492" cy="28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41">
              <a:extLst>
                <a:ext uri="{FF2B5EF4-FFF2-40B4-BE49-F238E27FC236}">
                  <a16:creationId xmlns:a16="http://schemas.microsoft.com/office/drawing/2014/main" xmlns="" id="{801D4266-AF2B-01B1-E5F4-9D8E7AA0EDA3}"/>
                </a:ext>
              </a:extLst>
            </p:cNvPr>
            <p:cNvSpPr>
              <a:spLocks noChangeShapeType="1"/>
            </p:cNvSpPr>
            <p:nvPr/>
          </p:nvSpPr>
          <p:spPr bwMode="auto">
            <a:xfrm flipH="1">
              <a:off x="3606"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42">
              <a:extLst>
                <a:ext uri="{FF2B5EF4-FFF2-40B4-BE49-F238E27FC236}">
                  <a16:creationId xmlns:a16="http://schemas.microsoft.com/office/drawing/2014/main" xmlns="" id="{4E35F9AE-EFD6-38CB-E515-CC91B09B823C}"/>
                </a:ext>
              </a:extLst>
            </p:cNvPr>
            <p:cNvSpPr>
              <a:spLocks noChangeShapeType="1"/>
            </p:cNvSpPr>
            <p:nvPr/>
          </p:nvSpPr>
          <p:spPr bwMode="auto">
            <a:xfrm>
              <a:off x="3894"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43">
              <a:extLst>
                <a:ext uri="{FF2B5EF4-FFF2-40B4-BE49-F238E27FC236}">
                  <a16:creationId xmlns:a16="http://schemas.microsoft.com/office/drawing/2014/main" xmlns="" id="{ED887687-D03B-19B0-4341-356FB5FA5840}"/>
                </a:ext>
              </a:extLst>
            </p:cNvPr>
            <p:cNvSpPr>
              <a:spLocks noChangeShapeType="1"/>
            </p:cNvSpPr>
            <p:nvPr/>
          </p:nvSpPr>
          <p:spPr bwMode="auto">
            <a:xfrm>
              <a:off x="3990"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2" name="Group 44">
              <a:extLst>
                <a:ext uri="{FF2B5EF4-FFF2-40B4-BE49-F238E27FC236}">
                  <a16:creationId xmlns:a16="http://schemas.microsoft.com/office/drawing/2014/main" xmlns="" id="{C51A35B0-7F45-FBC5-9332-9A781790D28A}"/>
                </a:ext>
              </a:extLst>
            </p:cNvPr>
            <p:cNvGrpSpPr>
              <a:grpSpLocks/>
            </p:cNvGrpSpPr>
            <p:nvPr/>
          </p:nvGrpSpPr>
          <p:grpSpPr bwMode="auto">
            <a:xfrm>
              <a:off x="1728" y="3216"/>
              <a:ext cx="320" cy="245"/>
              <a:chOff x="2880" y="1104"/>
              <a:chExt cx="367" cy="336"/>
            </a:xfrm>
          </p:grpSpPr>
          <p:sp>
            <p:nvSpPr>
              <p:cNvPr id="92" name="Oval 45">
                <a:extLst>
                  <a:ext uri="{FF2B5EF4-FFF2-40B4-BE49-F238E27FC236}">
                    <a16:creationId xmlns:a16="http://schemas.microsoft.com/office/drawing/2014/main" xmlns="" id="{56F2E577-FC0C-1685-24F8-8DE6E986F67D}"/>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93" name="Text Box 46">
                <a:extLst>
                  <a:ext uri="{FF2B5EF4-FFF2-40B4-BE49-F238E27FC236}">
                    <a16:creationId xmlns:a16="http://schemas.microsoft.com/office/drawing/2014/main" xmlns="" id="{09214755-16F3-F6C2-6950-26ABDB878EFE}"/>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K</a:t>
                </a:r>
              </a:p>
            </p:txBody>
          </p:sp>
        </p:grpSp>
        <p:sp>
          <p:nvSpPr>
            <p:cNvPr id="83" name="Line 47">
              <a:extLst>
                <a:ext uri="{FF2B5EF4-FFF2-40B4-BE49-F238E27FC236}">
                  <a16:creationId xmlns:a16="http://schemas.microsoft.com/office/drawing/2014/main" xmlns="" id="{F448A6B0-FEF8-093B-B425-D96624F31B07}"/>
                </a:ext>
              </a:extLst>
            </p:cNvPr>
            <p:cNvSpPr>
              <a:spLocks noChangeShapeType="1"/>
            </p:cNvSpPr>
            <p:nvPr/>
          </p:nvSpPr>
          <p:spPr bwMode="auto">
            <a:xfrm flipH="1">
              <a:off x="1926" y="3058"/>
              <a:ext cx="144" cy="18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4" name="Group 48">
              <a:extLst>
                <a:ext uri="{FF2B5EF4-FFF2-40B4-BE49-F238E27FC236}">
                  <a16:creationId xmlns:a16="http://schemas.microsoft.com/office/drawing/2014/main" xmlns="" id="{B20D1E42-FB63-13AF-3AF5-55C2A36A39C3}"/>
                </a:ext>
              </a:extLst>
            </p:cNvPr>
            <p:cNvGrpSpPr>
              <a:grpSpLocks/>
            </p:cNvGrpSpPr>
            <p:nvPr/>
          </p:nvGrpSpPr>
          <p:grpSpPr bwMode="auto">
            <a:xfrm>
              <a:off x="2256" y="3216"/>
              <a:ext cx="320" cy="245"/>
              <a:chOff x="2880" y="1104"/>
              <a:chExt cx="367" cy="336"/>
            </a:xfrm>
          </p:grpSpPr>
          <p:sp>
            <p:nvSpPr>
              <p:cNvPr id="90" name="Oval 49">
                <a:extLst>
                  <a:ext uri="{FF2B5EF4-FFF2-40B4-BE49-F238E27FC236}">
                    <a16:creationId xmlns:a16="http://schemas.microsoft.com/office/drawing/2014/main" xmlns="" id="{D471B960-2127-E60D-FB03-6DBE45A02448}"/>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91" name="Text Box 50">
                <a:extLst>
                  <a:ext uri="{FF2B5EF4-FFF2-40B4-BE49-F238E27FC236}">
                    <a16:creationId xmlns:a16="http://schemas.microsoft.com/office/drawing/2014/main" xmlns="" id="{FB866372-606B-5F70-E4CF-671741B33714}"/>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L</a:t>
                </a:r>
              </a:p>
            </p:txBody>
          </p:sp>
        </p:grpSp>
        <p:sp>
          <p:nvSpPr>
            <p:cNvPr id="85" name="Line 51">
              <a:extLst>
                <a:ext uri="{FF2B5EF4-FFF2-40B4-BE49-F238E27FC236}">
                  <a16:creationId xmlns:a16="http://schemas.microsoft.com/office/drawing/2014/main" xmlns="" id="{3AC449D9-0515-3D04-125B-3845F5BF3247}"/>
                </a:ext>
              </a:extLst>
            </p:cNvPr>
            <p:cNvSpPr>
              <a:spLocks noChangeShapeType="1"/>
            </p:cNvSpPr>
            <p:nvPr/>
          </p:nvSpPr>
          <p:spPr bwMode="auto">
            <a:xfrm>
              <a:off x="2247" y="3058"/>
              <a:ext cx="132" cy="158"/>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6" name="Group 52">
              <a:extLst>
                <a:ext uri="{FF2B5EF4-FFF2-40B4-BE49-F238E27FC236}">
                  <a16:creationId xmlns:a16="http://schemas.microsoft.com/office/drawing/2014/main" xmlns="" id="{24C63DD6-1F22-C0C9-957D-BC959511C27B}"/>
                </a:ext>
              </a:extLst>
            </p:cNvPr>
            <p:cNvGrpSpPr>
              <a:grpSpLocks/>
            </p:cNvGrpSpPr>
            <p:nvPr/>
          </p:nvGrpSpPr>
          <p:grpSpPr bwMode="auto">
            <a:xfrm>
              <a:off x="3408" y="3216"/>
              <a:ext cx="320" cy="245"/>
              <a:chOff x="2880" y="1104"/>
              <a:chExt cx="367" cy="336"/>
            </a:xfrm>
          </p:grpSpPr>
          <p:sp>
            <p:nvSpPr>
              <p:cNvPr id="88" name="Oval 53">
                <a:extLst>
                  <a:ext uri="{FF2B5EF4-FFF2-40B4-BE49-F238E27FC236}">
                    <a16:creationId xmlns:a16="http://schemas.microsoft.com/office/drawing/2014/main" xmlns="" id="{76A0D391-5F2E-39C9-80B2-CD7925C8DF75}"/>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89" name="Text Box 54">
                <a:extLst>
                  <a:ext uri="{FF2B5EF4-FFF2-40B4-BE49-F238E27FC236}">
                    <a16:creationId xmlns:a16="http://schemas.microsoft.com/office/drawing/2014/main" xmlns="" id="{AADB2305-7825-71F7-D905-E1C27873D5AD}"/>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M</a:t>
                </a:r>
              </a:p>
            </p:txBody>
          </p:sp>
        </p:grpSp>
        <p:sp>
          <p:nvSpPr>
            <p:cNvPr id="87" name="Line 55">
              <a:extLst>
                <a:ext uri="{FF2B5EF4-FFF2-40B4-BE49-F238E27FC236}">
                  <a16:creationId xmlns:a16="http://schemas.microsoft.com/office/drawing/2014/main" xmlns="" id="{B3ABE00E-C98D-B3EC-D96A-B77179ED84DF}"/>
                </a:ext>
              </a:extLst>
            </p:cNvPr>
            <p:cNvSpPr>
              <a:spLocks noChangeShapeType="1"/>
            </p:cNvSpPr>
            <p:nvPr/>
          </p:nvSpPr>
          <p:spPr bwMode="auto">
            <a:xfrm>
              <a:off x="3552" y="3094"/>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 name="Text Box 1027">
            <a:extLst>
              <a:ext uri="{FF2B5EF4-FFF2-40B4-BE49-F238E27FC236}">
                <a16:creationId xmlns:a16="http://schemas.microsoft.com/office/drawing/2014/main" xmlns="" id="{07D49A08-EB6A-E964-A988-3EA3DDD66948}"/>
              </a:ext>
            </a:extLst>
          </p:cNvPr>
          <p:cNvSpPr txBox="1">
            <a:spLocks noChangeArrowheads="1"/>
          </p:cNvSpPr>
          <p:nvPr/>
        </p:nvSpPr>
        <p:spPr bwMode="auto">
          <a:xfrm>
            <a:off x="827942" y="1793581"/>
            <a:ext cx="9516529" cy="470257"/>
          </a:xfrm>
          <a:prstGeom prst="rect">
            <a:avLst/>
          </a:prstGeom>
          <a:noFill/>
          <a:ln w="9525">
            <a:noFill/>
            <a:miter lim="800000"/>
            <a:headEnd/>
            <a:tailEnd/>
          </a:ln>
          <a:effectLst/>
        </p:spPr>
        <p:txBody>
          <a:bodyPr wrap="square">
            <a:spAutoFit/>
          </a:bodyPr>
          <a:lstStyle/>
          <a:p>
            <a:pPr algn="just">
              <a:lnSpc>
                <a:spcPct val="110000"/>
              </a:lnSpc>
              <a:spcBef>
                <a:spcPct val="50000"/>
              </a:spcBef>
            </a:pP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a:t>
            </a:r>
            <a:r>
              <a:rPr kumimoji="1" lang="zh-CN" altLang="en-US" sz="2400" dirty="0">
                <a:solidFill>
                  <a:srgbClr val="FF0000"/>
                </a:solidFill>
                <a:latin typeface="微软雅黑" pitchFamily="34" charset="-122"/>
                <a:ea typeface="微软雅黑" pitchFamily="34" charset="-122"/>
                <a:cs typeface="经典粗黑简" pitchFamily="49" charset="-122"/>
              </a:rPr>
              <a:t>树形表示法</a:t>
            </a:r>
            <a:r>
              <a:rPr kumimoji="1" lang="zh-CN" altLang="en-US" sz="2400" dirty="0">
                <a:latin typeface="微软雅黑" pitchFamily="34" charset="-122"/>
                <a:ea typeface="微软雅黑" pitchFamily="34" charset="-122"/>
                <a:cs typeface="经典粗黑简" pitchFamily="49" charset="-122"/>
              </a:rPr>
              <a:t>。使用一棵倒置的树表示树结构，非常直观和形象。</a:t>
            </a:r>
          </a:p>
        </p:txBody>
      </p:sp>
      <p:sp>
        <p:nvSpPr>
          <p:cNvPr id="19" name="Text Box 56">
            <a:extLst>
              <a:ext uri="{FF2B5EF4-FFF2-40B4-BE49-F238E27FC236}">
                <a16:creationId xmlns:a16="http://schemas.microsoft.com/office/drawing/2014/main" xmlns="" id="{8582999D-A048-89C6-74F6-055039CE023D}"/>
              </a:ext>
            </a:extLst>
          </p:cNvPr>
          <p:cNvSpPr txBox="1">
            <a:spLocks noChangeArrowheads="1"/>
          </p:cNvSpPr>
          <p:nvPr/>
        </p:nvSpPr>
        <p:spPr bwMode="auto">
          <a:xfrm>
            <a:off x="5068999" y="5731730"/>
            <a:ext cx="2436010" cy="461665"/>
          </a:xfrm>
          <a:prstGeom prst="rect">
            <a:avLst/>
          </a:prstGeom>
          <a:noFill/>
          <a:ln w="9525">
            <a:noFill/>
            <a:miter lim="800000"/>
            <a:headEnd/>
            <a:tailEnd/>
          </a:ln>
          <a:effectLst/>
        </p:spPr>
        <p:txBody>
          <a:bodyPr wrap="square">
            <a:spAutoFit/>
          </a:bodyPr>
          <a:lstStyle/>
          <a:p>
            <a:pPr algn="l"/>
            <a:r>
              <a:rPr kumimoji="1" lang="zh-CN" altLang="en-US" sz="2400" dirty="0">
                <a:latin typeface="微软雅黑" pitchFamily="34" charset="-122"/>
                <a:ea typeface="微软雅黑" pitchFamily="34" charset="-122"/>
                <a:cs typeface="经典粗黑简" pitchFamily="49" charset="-122"/>
              </a:rPr>
              <a:t>逻辑结构表示</a:t>
            </a:r>
            <a:r>
              <a:rPr kumimoji="1" lang="en-US" altLang="zh-CN" sz="2400" dirty="0">
                <a:latin typeface="微软雅黑" pitchFamily="34" charset="-122"/>
                <a:ea typeface="微软雅黑" pitchFamily="34" charset="-122"/>
                <a:cs typeface="经典粗黑简" pitchFamily="49" charset="-122"/>
              </a:rPr>
              <a:t>1</a:t>
            </a:r>
          </a:p>
        </p:txBody>
      </p:sp>
    </p:spTree>
    <p:extLst>
      <p:ext uri="{BB962C8B-B14F-4D97-AF65-F5344CB8AC3E}">
        <p14:creationId xmlns:p14="http://schemas.microsoft.com/office/powerpoint/2010/main" val="136559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B173178-46CB-42A1-CA2C-A393DDA9BF6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055D9302-8FB5-C29D-422D-23036C687E16}"/>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16" name="Rectangle 2">
            <a:extLst>
              <a:ext uri="{FF2B5EF4-FFF2-40B4-BE49-F238E27FC236}">
                <a16:creationId xmlns:a16="http://schemas.microsoft.com/office/drawing/2014/main" xmlns="" id="{300B2617-C2FE-4959-A1AE-BB2726D7A7FA}"/>
              </a:ext>
            </a:extLst>
          </p:cNvPr>
          <p:cNvSpPr txBox="1">
            <a:spLocks noChangeArrowheads="1"/>
          </p:cNvSpPr>
          <p:nvPr/>
        </p:nvSpPr>
        <p:spPr>
          <a:xfrm>
            <a:off x="79920" y="836712"/>
            <a:ext cx="50079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7.1.2 </a:t>
            </a:r>
            <a:r>
              <a:rPr lang="zh-CN" altLang="en-US" dirty="0"/>
              <a:t>树的（逻辑）表示方法</a:t>
            </a:r>
          </a:p>
        </p:txBody>
      </p:sp>
      <p:cxnSp>
        <p:nvCxnSpPr>
          <p:cNvPr id="71" name="直接连接符 70">
            <a:extLst>
              <a:ext uri="{FF2B5EF4-FFF2-40B4-BE49-F238E27FC236}">
                <a16:creationId xmlns:a16="http://schemas.microsoft.com/office/drawing/2014/main" xmlns="" id="{20179C51-5031-3D84-0365-5799B5FCEEFC}"/>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8" name="Text Box 1027">
            <a:extLst>
              <a:ext uri="{FF2B5EF4-FFF2-40B4-BE49-F238E27FC236}">
                <a16:creationId xmlns:a16="http://schemas.microsoft.com/office/drawing/2014/main" xmlns="" id="{EF048042-9609-5D9A-586E-9C1518371C05}"/>
              </a:ext>
            </a:extLst>
          </p:cNvPr>
          <p:cNvSpPr txBox="1">
            <a:spLocks noChangeArrowheads="1"/>
          </p:cNvSpPr>
          <p:nvPr/>
        </p:nvSpPr>
        <p:spPr bwMode="auto">
          <a:xfrm>
            <a:off x="827942" y="1793581"/>
            <a:ext cx="9516529" cy="470257"/>
          </a:xfrm>
          <a:prstGeom prst="rect">
            <a:avLst/>
          </a:prstGeom>
          <a:noFill/>
          <a:ln w="9525">
            <a:noFill/>
            <a:miter lim="800000"/>
            <a:headEnd/>
            <a:tailEnd/>
          </a:ln>
          <a:effectLst/>
        </p:spPr>
        <p:txBody>
          <a:bodyPr wrap="square">
            <a:spAutoFit/>
          </a:bodyPr>
          <a:lstStyle/>
          <a:p>
            <a:pPr algn="just">
              <a:lnSpc>
                <a:spcPct val="110000"/>
              </a:lnSpc>
              <a:spcBef>
                <a:spcPct val="50000"/>
              </a:spcBef>
            </a:pP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a:t>
            </a:r>
            <a:r>
              <a:rPr kumimoji="1" lang="zh-CN" altLang="en-US" sz="2400" dirty="0">
                <a:solidFill>
                  <a:srgbClr val="FF0000"/>
                </a:solidFill>
                <a:latin typeface="微软雅黑" pitchFamily="34" charset="-122"/>
                <a:ea typeface="微软雅黑" pitchFamily="34" charset="-122"/>
                <a:cs typeface="Times New Roman" pitchFamily="18" charset="0"/>
              </a:rPr>
              <a:t>文氏图表示法。</a:t>
            </a:r>
            <a:r>
              <a:rPr kumimoji="1" lang="zh-CN" altLang="en-US" sz="2400" dirty="0">
                <a:latin typeface="微软雅黑" pitchFamily="34" charset="-122"/>
                <a:ea typeface="微软雅黑" pitchFamily="34" charset="-122"/>
                <a:cs typeface="经典粗黑简" pitchFamily="49" charset="-122"/>
              </a:rPr>
              <a:t>使用集合以及集合的包含关系描述树结构。</a:t>
            </a:r>
          </a:p>
        </p:txBody>
      </p:sp>
      <p:sp>
        <p:nvSpPr>
          <p:cNvPr id="19" name="Text Box 56">
            <a:extLst>
              <a:ext uri="{FF2B5EF4-FFF2-40B4-BE49-F238E27FC236}">
                <a16:creationId xmlns:a16="http://schemas.microsoft.com/office/drawing/2014/main" xmlns="" id="{14489590-9E8E-EF9C-2F2C-2FB5DC9773A6}"/>
              </a:ext>
            </a:extLst>
          </p:cNvPr>
          <p:cNvSpPr txBox="1">
            <a:spLocks noChangeArrowheads="1"/>
          </p:cNvSpPr>
          <p:nvPr/>
        </p:nvSpPr>
        <p:spPr bwMode="auto">
          <a:xfrm>
            <a:off x="5354602" y="5074899"/>
            <a:ext cx="2436010" cy="461665"/>
          </a:xfrm>
          <a:prstGeom prst="rect">
            <a:avLst/>
          </a:prstGeom>
          <a:noFill/>
          <a:ln w="9525">
            <a:noFill/>
            <a:miter lim="800000"/>
            <a:headEnd/>
            <a:tailEnd/>
          </a:ln>
          <a:effectLst/>
        </p:spPr>
        <p:txBody>
          <a:bodyPr wrap="square">
            <a:spAutoFit/>
          </a:bodyPr>
          <a:lstStyle/>
          <a:p>
            <a:pPr algn="l"/>
            <a:r>
              <a:rPr kumimoji="1" lang="zh-CN" altLang="en-US" sz="2400" dirty="0">
                <a:latin typeface="微软雅黑" pitchFamily="34" charset="-122"/>
                <a:ea typeface="微软雅黑" pitchFamily="34" charset="-122"/>
                <a:cs typeface="经典粗黑简" pitchFamily="49" charset="-122"/>
              </a:rPr>
              <a:t>逻辑结构表示</a:t>
            </a:r>
            <a:r>
              <a:rPr kumimoji="1" lang="en-US" altLang="zh-CN" sz="2400" dirty="0">
                <a:latin typeface="微软雅黑" pitchFamily="34" charset="-122"/>
                <a:ea typeface="微软雅黑" pitchFamily="34" charset="-122"/>
                <a:cs typeface="经典粗黑简" pitchFamily="49" charset="-122"/>
              </a:rPr>
              <a:t>2</a:t>
            </a:r>
          </a:p>
        </p:txBody>
      </p:sp>
      <p:grpSp>
        <p:nvGrpSpPr>
          <p:cNvPr id="3" name="Group 83">
            <a:extLst>
              <a:ext uri="{FF2B5EF4-FFF2-40B4-BE49-F238E27FC236}">
                <a16:creationId xmlns:a16="http://schemas.microsoft.com/office/drawing/2014/main" xmlns="" id="{B9491982-387D-976C-5D2B-C1E9E461A8DC}"/>
              </a:ext>
            </a:extLst>
          </p:cNvPr>
          <p:cNvGrpSpPr>
            <a:grpSpLocks/>
          </p:cNvGrpSpPr>
          <p:nvPr/>
        </p:nvGrpSpPr>
        <p:grpSpPr bwMode="auto">
          <a:xfrm>
            <a:off x="1343472" y="2348880"/>
            <a:ext cx="4214842" cy="3929090"/>
            <a:chOff x="158" y="935"/>
            <a:chExt cx="2812" cy="2631"/>
          </a:xfrm>
        </p:grpSpPr>
        <p:sp>
          <p:nvSpPr>
            <p:cNvPr id="4" name="Oval 84">
              <a:extLst>
                <a:ext uri="{FF2B5EF4-FFF2-40B4-BE49-F238E27FC236}">
                  <a16:creationId xmlns:a16="http://schemas.microsoft.com/office/drawing/2014/main" xmlns="" id="{59AE4985-24B5-C267-3367-EB61017F75DB}"/>
                </a:ext>
              </a:extLst>
            </p:cNvPr>
            <p:cNvSpPr>
              <a:spLocks noChangeArrowheads="1"/>
            </p:cNvSpPr>
            <p:nvPr/>
          </p:nvSpPr>
          <p:spPr bwMode="auto">
            <a:xfrm>
              <a:off x="158" y="935"/>
              <a:ext cx="2812" cy="2631"/>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sz="1800" b="0">
                <a:solidFill>
                  <a:srgbClr val="C00000"/>
                </a:solidFill>
                <a:latin typeface="Consolas" pitchFamily="49" charset="0"/>
                <a:cs typeface="Consolas" pitchFamily="49" charset="0"/>
              </a:endParaRPr>
            </a:p>
          </p:txBody>
        </p:sp>
        <p:sp>
          <p:nvSpPr>
            <p:cNvPr id="6" name="Text Box 85">
              <a:extLst>
                <a:ext uri="{FF2B5EF4-FFF2-40B4-BE49-F238E27FC236}">
                  <a16:creationId xmlns:a16="http://schemas.microsoft.com/office/drawing/2014/main" xmlns="" id="{B42337F5-2473-D9AE-4D5C-DED05B16B4B9}"/>
                </a:ext>
              </a:extLst>
            </p:cNvPr>
            <p:cNvSpPr txBox="1">
              <a:spLocks noChangeArrowheads="1"/>
            </p:cNvSpPr>
            <p:nvPr/>
          </p:nvSpPr>
          <p:spPr bwMode="auto">
            <a:xfrm>
              <a:off x="929" y="1162"/>
              <a:ext cx="226" cy="247"/>
            </a:xfrm>
            <a:prstGeom prst="rect">
              <a:avLst/>
            </a:prstGeom>
            <a:noFill/>
            <a:ln>
              <a:noFill/>
              <a:headEnd/>
              <a:tailEnd/>
            </a:ln>
          </p:spPr>
          <p:style>
            <a:lnRef idx="1">
              <a:schemeClr val="accent4"/>
            </a:lnRef>
            <a:fillRef idx="2">
              <a:schemeClr val="accent4"/>
            </a:fillRef>
            <a:effectRef idx="1">
              <a:schemeClr val="accent4"/>
            </a:effectRef>
            <a:fontRef idx="minor">
              <a:schemeClr val="dk1"/>
            </a:fontRef>
          </p:style>
          <p:txBody>
            <a:bodyPr>
              <a:spAutoFit/>
            </a:bodyPr>
            <a:lstStyle/>
            <a:p>
              <a:pPr algn="l">
                <a:spcBef>
                  <a:spcPct val="50000"/>
                </a:spcBef>
              </a:pPr>
              <a:r>
                <a:rPr lang="en-US" altLang="zh-CN" sz="1800" b="0" dirty="0">
                  <a:solidFill>
                    <a:srgbClr val="C00000"/>
                  </a:solidFill>
                  <a:latin typeface="Consolas" pitchFamily="49" charset="0"/>
                  <a:cs typeface="Consolas" pitchFamily="49" charset="0"/>
                </a:rPr>
                <a:t>A</a:t>
              </a:r>
            </a:p>
          </p:txBody>
        </p:sp>
        <p:sp>
          <p:nvSpPr>
            <p:cNvPr id="7" name="Oval 86">
              <a:extLst>
                <a:ext uri="{FF2B5EF4-FFF2-40B4-BE49-F238E27FC236}">
                  <a16:creationId xmlns:a16="http://schemas.microsoft.com/office/drawing/2014/main" xmlns="" id="{A9114AF3-E9D3-044C-2D6E-03E6C8BA54CD}"/>
                </a:ext>
              </a:extLst>
            </p:cNvPr>
            <p:cNvSpPr>
              <a:spLocks noChangeArrowheads="1"/>
            </p:cNvSpPr>
            <p:nvPr/>
          </p:nvSpPr>
          <p:spPr bwMode="auto">
            <a:xfrm>
              <a:off x="248" y="1706"/>
              <a:ext cx="862" cy="104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sz="1800" b="0">
                <a:solidFill>
                  <a:srgbClr val="C00000"/>
                </a:solidFill>
                <a:latin typeface="Consolas" pitchFamily="49" charset="0"/>
                <a:cs typeface="Consolas" pitchFamily="49" charset="0"/>
              </a:endParaRPr>
            </a:p>
          </p:txBody>
        </p:sp>
        <p:sp>
          <p:nvSpPr>
            <p:cNvPr id="20" name="Oval 87">
              <a:extLst>
                <a:ext uri="{FF2B5EF4-FFF2-40B4-BE49-F238E27FC236}">
                  <a16:creationId xmlns:a16="http://schemas.microsoft.com/office/drawing/2014/main" xmlns="" id="{B4365892-AB03-764A-F69B-B38A0205E2AD}"/>
                </a:ext>
              </a:extLst>
            </p:cNvPr>
            <p:cNvSpPr>
              <a:spLocks noChangeArrowheads="1"/>
            </p:cNvSpPr>
            <p:nvPr/>
          </p:nvSpPr>
          <p:spPr bwMode="auto">
            <a:xfrm>
              <a:off x="338" y="2206"/>
              <a:ext cx="272" cy="226"/>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C00000"/>
                  </a:solidFill>
                  <a:latin typeface="Consolas" pitchFamily="49" charset="0"/>
                  <a:cs typeface="Consolas" pitchFamily="49" charset="0"/>
                </a:rPr>
                <a:t>E</a:t>
              </a:r>
            </a:p>
          </p:txBody>
        </p:sp>
        <p:sp>
          <p:nvSpPr>
            <p:cNvPr id="21" name="Oval 88">
              <a:extLst>
                <a:ext uri="{FF2B5EF4-FFF2-40B4-BE49-F238E27FC236}">
                  <a16:creationId xmlns:a16="http://schemas.microsoft.com/office/drawing/2014/main" xmlns="" id="{5888F76F-07F8-873D-3931-2C954BEF810E}"/>
                </a:ext>
              </a:extLst>
            </p:cNvPr>
            <p:cNvSpPr>
              <a:spLocks noChangeArrowheads="1"/>
            </p:cNvSpPr>
            <p:nvPr/>
          </p:nvSpPr>
          <p:spPr bwMode="auto">
            <a:xfrm>
              <a:off x="747" y="2206"/>
              <a:ext cx="272" cy="226"/>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C00000"/>
                  </a:solidFill>
                  <a:latin typeface="Consolas" pitchFamily="49" charset="0"/>
                  <a:cs typeface="Consolas" pitchFamily="49" charset="0"/>
                </a:rPr>
                <a:t>F</a:t>
              </a:r>
            </a:p>
          </p:txBody>
        </p:sp>
        <p:sp>
          <p:nvSpPr>
            <p:cNvPr id="22" name="Text Box 89">
              <a:extLst>
                <a:ext uri="{FF2B5EF4-FFF2-40B4-BE49-F238E27FC236}">
                  <a16:creationId xmlns:a16="http://schemas.microsoft.com/office/drawing/2014/main" xmlns="" id="{87436577-4AED-7DA6-0815-F7C921B9332B}"/>
                </a:ext>
              </a:extLst>
            </p:cNvPr>
            <p:cNvSpPr txBox="1">
              <a:spLocks noChangeArrowheads="1"/>
            </p:cNvSpPr>
            <p:nvPr/>
          </p:nvSpPr>
          <p:spPr bwMode="auto">
            <a:xfrm>
              <a:off x="520" y="1888"/>
              <a:ext cx="227" cy="247"/>
            </a:xfrm>
            <a:prstGeom prst="rect">
              <a:avLst/>
            </a:prstGeom>
            <a:noFill/>
            <a:ln>
              <a:noFill/>
              <a:headEnd/>
              <a:tailEnd/>
            </a:ln>
          </p:spPr>
          <p:style>
            <a:lnRef idx="1">
              <a:schemeClr val="accent4"/>
            </a:lnRef>
            <a:fillRef idx="2">
              <a:schemeClr val="accent4"/>
            </a:fillRef>
            <a:effectRef idx="1">
              <a:schemeClr val="accent4"/>
            </a:effectRef>
            <a:fontRef idx="minor">
              <a:schemeClr val="dk1"/>
            </a:fontRef>
          </p:style>
          <p:txBody>
            <a:bodyPr>
              <a:spAutoFit/>
            </a:bodyPr>
            <a:lstStyle/>
            <a:p>
              <a:pPr algn="l">
                <a:spcBef>
                  <a:spcPct val="50000"/>
                </a:spcBef>
              </a:pPr>
              <a:r>
                <a:rPr lang="en-US" altLang="zh-CN" sz="1800" b="0">
                  <a:solidFill>
                    <a:srgbClr val="C00000"/>
                  </a:solidFill>
                  <a:latin typeface="Consolas" pitchFamily="49" charset="0"/>
                  <a:cs typeface="Consolas" pitchFamily="49" charset="0"/>
                </a:rPr>
                <a:t>B</a:t>
              </a:r>
            </a:p>
          </p:txBody>
        </p:sp>
        <p:sp>
          <p:nvSpPr>
            <p:cNvPr id="23" name="Oval 90">
              <a:extLst>
                <a:ext uri="{FF2B5EF4-FFF2-40B4-BE49-F238E27FC236}">
                  <a16:creationId xmlns:a16="http://schemas.microsoft.com/office/drawing/2014/main" xmlns="" id="{79227E3B-7987-F73B-E5AC-B96AA648B864}"/>
                </a:ext>
              </a:extLst>
            </p:cNvPr>
            <p:cNvSpPr>
              <a:spLocks noChangeArrowheads="1"/>
            </p:cNvSpPr>
            <p:nvPr/>
          </p:nvSpPr>
          <p:spPr bwMode="auto">
            <a:xfrm>
              <a:off x="1155" y="1479"/>
              <a:ext cx="680" cy="163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sz="1800" b="0">
                <a:solidFill>
                  <a:srgbClr val="C00000"/>
                </a:solidFill>
                <a:latin typeface="Consolas" pitchFamily="49" charset="0"/>
                <a:cs typeface="Consolas" pitchFamily="49" charset="0"/>
              </a:endParaRPr>
            </a:p>
          </p:txBody>
        </p:sp>
        <p:sp>
          <p:nvSpPr>
            <p:cNvPr id="24" name="Text Box 91">
              <a:extLst>
                <a:ext uri="{FF2B5EF4-FFF2-40B4-BE49-F238E27FC236}">
                  <a16:creationId xmlns:a16="http://schemas.microsoft.com/office/drawing/2014/main" xmlns="" id="{7565E5B8-6C0B-6210-C8E9-03A87DE4F6A1}"/>
                </a:ext>
              </a:extLst>
            </p:cNvPr>
            <p:cNvSpPr txBox="1">
              <a:spLocks noChangeArrowheads="1"/>
            </p:cNvSpPr>
            <p:nvPr/>
          </p:nvSpPr>
          <p:spPr bwMode="auto">
            <a:xfrm>
              <a:off x="1380" y="1661"/>
              <a:ext cx="182" cy="247"/>
            </a:xfrm>
            <a:prstGeom prst="rect">
              <a:avLst/>
            </a:prstGeom>
            <a:noFill/>
            <a:ln>
              <a:noFill/>
              <a:headEnd/>
              <a:tailEnd/>
            </a:ln>
          </p:spPr>
          <p:style>
            <a:lnRef idx="1">
              <a:schemeClr val="accent4"/>
            </a:lnRef>
            <a:fillRef idx="2">
              <a:schemeClr val="accent4"/>
            </a:fillRef>
            <a:effectRef idx="1">
              <a:schemeClr val="accent4"/>
            </a:effectRef>
            <a:fontRef idx="minor">
              <a:schemeClr val="dk1"/>
            </a:fontRef>
          </p:style>
          <p:txBody>
            <a:bodyPr>
              <a:spAutoFit/>
            </a:bodyPr>
            <a:lstStyle/>
            <a:p>
              <a:pPr algn="l">
                <a:spcBef>
                  <a:spcPct val="50000"/>
                </a:spcBef>
              </a:pPr>
              <a:r>
                <a:rPr lang="en-US" altLang="zh-CN" sz="1800" b="0">
                  <a:solidFill>
                    <a:srgbClr val="C00000"/>
                  </a:solidFill>
                  <a:latin typeface="Consolas" pitchFamily="49" charset="0"/>
                  <a:cs typeface="Consolas" pitchFamily="49" charset="0"/>
                </a:rPr>
                <a:t>C</a:t>
              </a:r>
            </a:p>
          </p:txBody>
        </p:sp>
        <p:sp>
          <p:nvSpPr>
            <p:cNvPr id="25" name="Oval 92">
              <a:extLst>
                <a:ext uri="{FF2B5EF4-FFF2-40B4-BE49-F238E27FC236}">
                  <a16:creationId xmlns:a16="http://schemas.microsoft.com/office/drawing/2014/main" xmlns="" id="{108C2F52-A49C-2E3C-1B5A-986CD6FEE80A}"/>
                </a:ext>
              </a:extLst>
            </p:cNvPr>
            <p:cNvSpPr>
              <a:spLocks noChangeArrowheads="1"/>
            </p:cNvSpPr>
            <p:nvPr/>
          </p:nvSpPr>
          <p:spPr bwMode="auto">
            <a:xfrm>
              <a:off x="1290" y="1978"/>
              <a:ext cx="408" cy="99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sz="1800" b="0">
                <a:solidFill>
                  <a:srgbClr val="C00000"/>
                </a:solidFill>
                <a:latin typeface="Consolas" pitchFamily="49" charset="0"/>
                <a:cs typeface="Consolas" pitchFamily="49" charset="0"/>
              </a:endParaRPr>
            </a:p>
          </p:txBody>
        </p:sp>
        <p:sp>
          <p:nvSpPr>
            <p:cNvPr id="26" name="Text Box 93">
              <a:extLst>
                <a:ext uri="{FF2B5EF4-FFF2-40B4-BE49-F238E27FC236}">
                  <a16:creationId xmlns:a16="http://schemas.microsoft.com/office/drawing/2014/main" xmlns="" id="{DEB1AE20-6AEC-9667-5519-092E16B8FCA6}"/>
                </a:ext>
              </a:extLst>
            </p:cNvPr>
            <p:cNvSpPr txBox="1">
              <a:spLocks noChangeArrowheads="1"/>
            </p:cNvSpPr>
            <p:nvPr/>
          </p:nvSpPr>
          <p:spPr bwMode="auto">
            <a:xfrm>
              <a:off x="1378" y="2108"/>
              <a:ext cx="181" cy="247"/>
            </a:xfrm>
            <a:prstGeom prst="rect">
              <a:avLst/>
            </a:prstGeom>
            <a:noFill/>
            <a:ln>
              <a:noFill/>
              <a:headEnd/>
              <a:tailEnd/>
            </a:ln>
          </p:spPr>
          <p:style>
            <a:lnRef idx="1">
              <a:schemeClr val="accent4"/>
            </a:lnRef>
            <a:fillRef idx="2">
              <a:schemeClr val="accent4"/>
            </a:fillRef>
            <a:effectRef idx="1">
              <a:schemeClr val="accent4"/>
            </a:effectRef>
            <a:fontRef idx="minor">
              <a:schemeClr val="dk1"/>
            </a:fontRef>
          </p:style>
          <p:txBody>
            <a:bodyPr>
              <a:spAutoFit/>
            </a:bodyPr>
            <a:lstStyle/>
            <a:p>
              <a:pPr algn="l">
                <a:spcBef>
                  <a:spcPct val="50000"/>
                </a:spcBef>
              </a:pPr>
              <a:r>
                <a:rPr lang="en-US" altLang="zh-CN" sz="1800" b="0" dirty="0">
                  <a:solidFill>
                    <a:srgbClr val="C00000"/>
                  </a:solidFill>
                  <a:latin typeface="Consolas" pitchFamily="49" charset="0"/>
                  <a:cs typeface="Consolas" pitchFamily="49" charset="0"/>
                </a:rPr>
                <a:t>G</a:t>
              </a:r>
            </a:p>
          </p:txBody>
        </p:sp>
        <p:sp>
          <p:nvSpPr>
            <p:cNvPr id="27" name="Oval 94">
              <a:extLst>
                <a:ext uri="{FF2B5EF4-FFF2-40B4-BE49-F238E27FC236}">
                  <a16:creationId xmlns:a16="http://schemas.microsoft.com/office/drawing/2014/main" xmlns="" id="{96CF4C39-7E1C-7DD8-A575-76BDF1F5558F}"/>
                </a:ext>
              </a:extLst>
            </p:cNvPr>
            <p:cNvSpPr>
              <a:spLocks noChangeArrowheads="1"/>
            </p:cNvSpPr>
            <p:nvPr/>
          </p:nvSpPr>
          <p:spPr bwMode="auto">
            <a:xfrm>
              <a:off x="1380" y="2522"/>
              <a:ext cx="227" cy="27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C00000"/>
                  </a:solidFill>
                  <a:latin typeface="Consolas" pitchFamily="49" charset="0"/>
                  <a:cs typeface="Consolas" pitchFamily="49" charset="0"/>
                </a:rPr>
                <a:t>J</a:t>
              </a:r>
            </a:p>
          </p:txBody>
        </p:sp>
        <p:sp>
          <p:nvSpPr>
            <p:cNvPr id="28" name="Oval 95">
              <a:extLst>
                <a:ext uri="{FF2B5EF4-FFF2-40B4-BE49-F238E27FC236}">
                  <a16:creationId xmlns:a16="http://schemas.microsoft.com/office/drawing/2014/main" xmlns="" id="{F9CD7D86-0511-B902-EF78-943382AB9EEB}"/>
                </a:ext>
              </a:extLst>
            </p:cNvPr>
            <p:cNvSpPr>
              <a:spLocks noChangeArrowheads="1"/>
            </p:cNvSpPr>
            <p:nvPr/>
          </p:nvSpPr>
          <p:spPr bwMode="auto">
            <a:xfrm>
              <a:off x="1927" y="1389"/>
              <a:ext cx="816" cy="1769"/>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sz="1800" b="0">
                <a:solidFill>
                  <a:srgbClr val="C00000"/>
                </a:solidFill>
                <a:latin typeface="Consolas" pitchFamily="49" charset="0"/>
                <a:cs typeface="Consolas" pitchFamily="49" charset="0"/>
              </a:endParaRPr>
            </a:p>
          </p:txBody>
        </p:sp>
        <p:sp>
          <p:nvSpPr>
            <p:cNvPr id="29" name="Oval 96">
              <a:extLst>
                <a:ext uri="{FF2B5EF4-FFF2-40B4-BE49-F238E27FC236}">
                  <a16:creationId xmlns:a16="http://schemas.microsoft.com/office/drawing/2014/main" xmlns="" id="{E3232495-288B-30D6-A14F-D2875D20158B}"/>
                </a:ext>
              </a:extLst>
            </p:cNvPr>
            <p:cNvSpPr>
              <a:spLocks noChangeArrowheads="1"/>
            </p:cNvSpPr>
            <p:nvPr/>
          </p:nvSpPr>
          <p:spPr bwMode="auto">
            <a:xfrm>
              <a:off x="2063" y="1888"/>
              <a:ext cx="589" cy="1134"/>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sz="1800" b="0">
                <a:solidFill>
                  <a:srgbClr val="C00000"/>
                </a:solidFill>
                <a:latin typeface="Consolas" pitchFamily="49" charset="0"/>
                <a:cs typeface="Consolas" pitchFamily="49" charset="0"/>
              </a:endParaRPr>
            </a:p>
          </p:txBody>
        </p:sp>
        <p:sp>
          <p:nvSpPr>
            <p:cNvPr id="30" name="Oval 97">
              <a:extLst>
                <a:ext uri="{FF2B5EF4-FFF2-40B4-BE49-F238E27FC236}">
                  <a16:creationId xmlns:a16="http://schemas.microsoft.com/office/drawing/2014/main" xmlns="" id="{C18F5B76-50ED-9CC4-3E94-115D14A994DD}"/>
                </a:ext>
              </a:extLst>
            </p:cNvPr>
            <p:cNvSpPr>
              <a:spLocks noChangeArrowheads="1"/>
            </p:cNvSpPr>
            <p:nvPr/>
          </p:nvSpPr>
          <p:spPr bwMode="auto">
            <a:xfrm>
              <a:off x="2385" y="1620"/>
              <a:ext cx="182" cy="22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dirty="0">
                  <a:solidFill>
                    <a:srgbClr val="C00000"/>
                  </a:solidFill>
                  <a:latin typeface="Consolas" pitchFamily="49" charset="0"/>
                  <a:cs typeface="Consolas" pitchFamily="49" charset="0"/>
                </a:rPr>
                <a:t>H</a:t>
              </a:r>
            </a:p>
          </p:txBody>
        </p:sp>
        <p:sp>
          <p:nvSpPr>
            <p:cNvPr id="31" name="Text Box 98">
              <a:extLst>
                <a:ext uri="{FF2B5EF4-FFF2-40B4-BE49-F238E27FC236}">
                  <a16:creationId xmlns:a16="http://schemas.microsoft.com/office/drawing/2014/main" xmlns="" id="{3AA1590C-D0A5-1B6C-8459-7A645E8D3190}"/>
                </a:ext>
              </a:extLst>
            </p:cNvPr>
            <p:cNvSpPr txBox="1">
              <a:spLocks noChangeArrowheads="1"/>
            </p:cNvSpPr>
            <p:nvPr/>
          </p:nvSpPr>
          <p:spPr bwMode="auto">
            <a:xfrm>
              <a:off x="2108" y="1570"/>
              <a:ext cx="232" cy="247"/>
            </a:xfrm>
            <a:prstGeom prst="rect">
              <a:avLst/>
            </a:prstGeom>
            <a:noFill/>
            <a:ln>
              <a:noFill/>
              <a:headEnd/>
              <a:tailEnd/>
            </a:ln>
          </p:spPr>
          <p:style>
            <a:lnRef idx="1">
              <a:schemeClr val="accent4"/>
            </a:lnRef>
            <a:fillRef idx="2">
              <a:schemeClr val="accent4"/>
            </a:fillRef>
            <a:effectRef idx="1">
              <a:schemeClr val="accent4"/>
            </a:effectRef>
            <a:fontRef idx="minor">
              <a:schemeClr val="dk1"/>
            </a:fontRef>
          </p:style>
          <p:txBody>
            <a:bodyPr wrap="square">
              <a:spAutoFit/>
            </a:bodyPr>
            <a:lstStyle/>
            <a:p>
              <a:pPr algn="l">
                <a:spcBef>
                  <a:spcPct val="50000"/>
                </a:spcBef>
              </a:pPr>
              <a:r>
                <a:rPr lang="en-US" altLang="zh-CN" sz="1800" b="0" dirty="0">
                  <a:solidFill>
                    <a:srgbClr val="C00000"/>
                  </a:solidFill>
                  <a:latin typeface="Consolas" pitchFamily="49" charset="0"/>
                  <a:cs typeface="Consolas" pitchFamily="49" charset="0"/>
                </a:rPr>
                <a:t>D</a:t>
              </a:r>
            </a:p>
          </p:txBody>
        </p:sp>
        <p:sp>
          <p:nvSpPr>
            <p:cNvPr id="32" name="Oval 99">
              <a:extLst>
                <a:ext uri="{FF2B5EF4-FFF2-40B4-BE49-F238E27FC236}">
                  <a16:creationId xmlns:a16="http://schemas.microsoft.com/office/drawing/2014/main" xmlns="" id="{5FBE7D1E-945C-735C-4F6B-D95B58E97C46}"/>
                </a:ext>
              </a:extLst>
            </p:cNvPr>
            <p:cNvSpPr>
              <a:spLocks noChangeArrowheads="1"/>
            </p:cNvSpPr>
            <p:nvPr/>
          </p:nvSpPr>
          <p:spPr bwMode="auto">
            <a:xfrm>
              <a:off x="2380" y="2296"/>
              <a:ext cx="182" cy="22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C00000"/>
                  </a:solidFill>
                  <a:latin typeface="Consolas" pitchFamily="49" charset="0"/>
                  <a:cs typeface="Consolas" pitchFamily="49" charset="0"/>
                </a:rPr>
                <a:t>K</a:t>
              </a:r>
            </a:p>
          </p:txBody>
        </p:sp>
        <p:sp>
          <p:nvSpPr>
            <p:cNvPr id="33" name="Oval 100">
              <a:extLst>
                <a:ext uri="{FF2B5EF4-FFF2-40B4-BE49-F238E27FC236}">
                  <a16:creationId xmlns:a16="http://schemas.microsoft.com/office/drawing/2014/main" xmlns="" id="{2DDE7C9B-F3B8-962E-1FE8-FDBE10241F14}"/>
                </a:ext>
              </a:extLst>
            </p:cNvPr>
            <p:cNvSpPr>
              <a:spLocks noChangeArrowheads="1"/>
            </p:cNvSpPr>
            <p:nvPr/>
          </p:nvSpPr>
          <p:spPr bwMode="auto">
            <a:xfrm>
              <a:off x="2108" y="2523"/>
              <a:ext cx="182" cy="22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C00000"/>
                  </a:solidFill>
                  <a:latin typeface="Consolas" pitchFamily="49" charset="0"/>
                  <a:cs typeface="Consolas" pitchFamily="49" charset="0"/>
                </a:rPr>
                <a:t>L</a:t>
              </a:r>
            </a:p>
          </p:txBody>
        </p:sp>
        <p:sp>
          <p:nvSpPr>
            <p:cNvPr id="34" name="Oval 101">
              <a:extLst>
                <a:ext uri="{FF2B5EF4-FFF2-40B4-BE49-F238E27FC236}">
                  <a16:creationId xmlns:a16="http://schemas.microsoft.com/office/drawing/2014/main" xmlns="" id="{C95078EF-9D13-17CA-FBE5-9BD0BD112F4E}"/>
                </a:ext>
              </a:extLst>
            </p:cNvPr>
            <p:cNvSpPr>
              <a:spLocks noChangeArrowheads="1"/>
            </p:cNvSpPr>
            <p:nvPr/>
          </p:nvSpPr>
          <p:spPr bwMode="auto">
            <a:xfrm>
              <a:off x="2335" y="2659"/>
              <a:ext cx="182" cy="22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C00000"/>
                  </a:solidFill>
                  <a:latin typeface="Consolas" pitchFamily="49" charset="0"/>
                  <a:cs typeface="Consolas" pitchFamily="49" charset="0"/>
                </a:rPr>
                <a:t>M</a:t>
              </a:r>
            </a:p>
          </p:txBody>
        </p:sp>
        <p:sp>
          <p:nvSpPr>
            <p:cNvPr id="35" name="Text Box 102">
              <a:extLst>
                <a:ext uri="{FF2B5EF4-FFF2-40B4-BE49-F238E27FC236}">
                  <a16:creationId xmlns:a16="http://schemas.microsoft.com/office/drawing/2014/main" xmlns="" id="{032A5628-3FF6-A00C-0068-052638EF1935}"/>
                </a:ext>
              </a:extLst>
            </p:cNvPr>
            <p:cNvSpPr txBox="1">
              <a:spLocks noChangeArrowheads="1"/>
            </p:cNvSpPr>
            <p:nvPr/>
          </p:nvSpPr>
          <p:spPr bwMode="auto">
            <a:xfrm>
              <a:off x="2153" y="2114"/>
              <a:ext cx="227" cy="247"/>
            </a:xfrm>
            <a:prstGeom prst="rect">
              <a:avLst/>
            </a:prstGeom>
            <a:noFill/>
            <a:ln>
              <a:noFill/>
              <a:headEnd/>
              <a:tailEnd/>
            </a:ln>
          </p:spPr>
          <p:style>
            <a:lnRef idx="1">
              <a:schemeClr val="accent4"/>
            </a:lnRef>
            <a:fillRef idx="2">
              <a:schemeClr val="accent4"/>
            </a:fillRef>
            <a:effectRef idx="1">
              <a:schemeClr val="accent4"/>
            </a:effectRef>
            <a:fontRef idx="minor">
              <a:schemeClr val="dk1"/>
            </a:fontRef>
          </p:style>
          <p:txBody>
            <a:bodyPr>
              <a:spAutoFit/>
            </a:bodyPr>
            <a:lstStyle/>
            <a:p>
              <a:pPr algn="l">
                <a:spcBef>
                  <a:spcPct val="50000"/>
                </a:spcBef>
              </a:pPr>
              <a:r>
                <a:rPr lang="en-US" altLang="zh-CN" sz="1800" b="0">
                  <a:solidFill>
                    <a:srgbClr val="C00000"/>
                  </a:solidFill>
                  <a:latin typeface="Consolas" pitchFamily="49" charset="0"/>
                  <a:cs typeface="Consolas" pitchFamily="49" charset="0"/>
                </a:rPr>
                <a:t>I</a:t>
              </a:r>
            </a:p>
          </p:txBody>
        </p:sp>
      </p:grpSp>
      <p:sp>
        <p:nvSpPr>
          <p:cNvPr id="36" name="AutoShape 103">
            <a:extLst>
              <a:ext uri="{FF2B5EF4-FFF2-40B4-BE49-F238E27FC236}">
                <a16:creationId xmlns:a16="http://schemas.microsoft.com/office/drawing/2014/main" xmlns="" id="{BD3496B8-A306-1356-D7B0-D421496070C8}"/>
              </a:ext>
            </a:extLst>
          </p:cNvPr>
          <p:cNvSpPr>
            <a:spLocks noChangeArrowheads="1"/>
          </p:cNvSpPr>
          <p:nvPr/>
        </p:nvSpPr>
        <p:spPr bwMode="auto">
          <a:xfrm>
            <a:off x="5844066" y="4063392"/>
            <a:ext cx="857256" cy="288000"/>
          </a:xfrm>
          <a:prstGeom prst="leftRightArrow">
            <a:avLst>
              <a:gd name="adj1" fmla="val 50000"/>
              <a:gd name="adj2" fmla="val 64248"/>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endParaRPr lang="zh-CN" altLang="en-US">
              <a:latin typeface="Consolas" pitchFamily="49" charset="0"/>
              <a:cs typeface="Consolas" pitchFamily="49" charset="0"/>
            </a:endParaRPr>
          </a:p>
        </p:txBody>
      </p:sp>
      <p:grpSp>
        <p:nvGrpSpPr>
          <p:cNvPr id="132" name="组合 131">
            <a:extLst>
              <a:ext uri="{FF2B5EF4-FFF2-40B4-BE49-F238E27FC236}">
                <a16:creationId xmlns:a16="http://schemas.microsoft.com/office/drawing/2014/main" xmlns="" id="{7318FFB9-E755-989E-E79B-5741264E93F1}"/>
              </a:ext>
            </a:extLst>
          </p:cNvPr>
          <p:cNvGrpSpPr/>
          <p:nvPr/>
        </p:nvGrpSpPr>
        <p:grpSpPr>
          <a:xfrm>
            <a:off x="7059607" y="2881275"/>
            <a:ext cx="4032448" cy="2438685"/>
            <a:chOff x="1692275" y="2276475"/>
            <a:chExt cx="3816350" cy="2305050"/>
          </a:xfrm>
        </p:grpSpPr>
        <p:sp>
          <p:nvSpPr>
            <p:cNvPr id="133" name="Freeform 47">
              <a:extLst>
                <a:ext uri="{FF2B5EF4-FFF2-40B4-BE49-F238E27FC236}">
                  <a16:creationId xmlns:a16="http://schemas.microsoft.com/office/drawing/2014/main" xmlns="" id="{0EE9BCA1-8626-F7E6-9388-A7E64966AC1D}"/>
                </a:ext>
              </a:extLst>
            </p:cNvPr>
            <p:cNvSpPr>
              <a:spLocks/>
            </p:cNvSpPr>
            <p:nvPr/>
          </p:nvSpPr>
          <p:spPr bwMode="auto">
            <a:xfrm>
              <a:off x="1931988" y="3286124"/>
              <a:ext cx="211120" cy="300039"/>
            </a:xfrm>
            <a:custGeom>
              <a:avLst/>
              <a:gdLst/>
              <a:ahLst/>
              <a:cxnLst>
                <a:cxn ang="0">
                  <a:pos x="121" y="0"/>
                </a:cxn>
                <a:cxn ang="0">
                  <a:pos x="0" y="144"/>
                </a:cxn>
              </a:cxnLst>
              <a:rect l="0" t="0" r="r" b="b"/>
              <a:pathLst>
                <a:path w="121" h="144">
                  <a:moveTo>
                    <a:pt x="121" y="0"/>
                  </a:moveTo>
                  <a:lnTo>
                    <a:pt x="0" y="144"/>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34" name="Freeform 48">
              <a:extLst>
                <a:ext uri="{FF2B5EF4-FFF2-40B4-BE49-F238E27FC236}">
                  <a16:creationId xmlns:a16="http://schemas.microsoft.com/office/drawing/2014/main" xmlns="" id="{AE2016E2-0C7A-C1CF-F27C-20ABA9B621BB}"/>
                </a:ext>
              </a:extLst>
            </p:cNvPr>
            <p:cNvSpPr>
              <a:spLocks/>
            </p:cNvSpPr>
            <p:nvPr/>
          </p:nvSpPr>
          <p:spPr bwMode="auto">
            <a:xfrm>
              <a:off x="2357422" y="3248024"/>
              <a:ext cx="214314" cy="323852"/>
            </a:xfrm>
            <a:custGeom>
              <a:avLst/>
              <a:gdLst/>
              <a:ahLst/>
              <a:cxnLst>
                <a:cxn ang="0">
                  <a:pos x="0" y="0"/>
                </a:cxn>
                <a:cxn ang="0">
                  <a:pos x="115" y="147"/>
                </a:cxn>
              </a:cxnLst>
              <a:rect l="0" t="0" r="r" b="b"/>
              <a:pathLst>
                <a:path w="115" h="147">
                  <a:moveTo>
                    <a:pt x="0" y="0"/>
                  </a:moveTo>
                  <a:lnTo>
                    <a:pt x="115" y="147"/>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35" name="Oval 31">
              <a:extLst>
                <a:ext uri="{FF2B5EF4-FFF2-40B4-BE49-F238E27FC236}">
                  <a16:creationId xmlns:a16="http://schemas.microsoft.com/office/drawing/2014/main" xmlns="" id="{80F56CF2-F8A9-8D2D-F0B8-E11CE7A6BC5C}"/>
                </a:ext>
              </a:extLst>
            </p:cNvPr>
            <p:cNvSpPr>
              <a:spLocks noChangeArrowheads="1"/>
            </p:cNvSpPr>
            <p:nvPr/>
          </p:nvSpPr>
          <p:spPr bwMode="auto">
            <a:xfrm>
              <a:off x="3060700" y="2276475"/>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A</a:t>
              </a:r>
            </a:p>
          </p:txBody>
        </p:sp>
        <p:sp>
          <p:nvSpPr>
            <p:cNvPr id="136" name="Oval 32">
              <a:extLst>
                <a:ext uri="{FF2B5EF4-FFF2-40B4-BE49-F238E27FC236}">
                  <a16:creationId xmlns:a16="http://schemas.microsoft.com/office/drawing/2014/main" xmlns="" id="{0A8D559E-6673-B16E-2E52-34342906504A}"/>
                </a:ext>
              </a:extLst>
            </p:cNvPr>
            <p:cNvSpPr>
              <a:spLocks noChangeArrowheads="1"/>
            </p:cNvSpPr>
            <p:nvPr/>
          </p:nvSpPr>
          <p:spPr bwMode="auto">
            <a:xfrm>
              <a:off x="2052638" y="2925763"/>
              <a:ext cx="360362"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dirty="0">
                  <a:solidFill>
                    <a:srgbClr val="3333FF"/>
                  </a:solidFill>
                  <a:latin typeface="Consolas" pitchFamily="49" charset="0"/>
                  <a:cs typeface="Consolas" pitchFamily="49" charset="0"/>
                </a:rPr>
                <a:t>B</a:t>
              </a:r>
            </a:p>
          </p:txBody>
        </p:sp>
        <p:sp>
          <p:nvSpPr>
            <p:cNvPr id="137" name="Oval 33">
              <a:extLst>
                <a:ext uri="{FF2B5EF4-FFF2-40B4-BE49-F238E27FC236}">
                  <a16:creationId xmlns:a16="http://schemas.microsoft.com/office/drawing/2014/main" xmlns="" id="{C559F042-522F-A693-78ED-8706376D4928}"/>
                </a:ext>
              </a:extLst>
            </p:cNvPr>
            <p:cNvSpPr>
              <a:spLocks noChangeArrowheads="1"/>
            </p:cNvSpPr>
            <p:nvPr/>
          </p:nvSpPr>
          <p:spPr bwMode="auto">
            <a:xfrm>
              <a:off x="3060700" y="2925763"/>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C</a:t>
              </a:r>
            </a:p>
          </p:txBody>
        </p:sp>
        <p:sp>
          <p:nvSpPr>
            <p:cNvPr id="138" name="Oval 34">
              <a:extLst>
                <a:ext uri="{FF2B5EF4-FFF2-40B4-BE49-F238E27FC236}">
                  <a16:creationId xmlns:a16="http://schemas.microsoft.com/office/drawing/2014/main" xmlns="" id="{677BFC4E-CE5E-4306-A33C-7355D50EF187}"/>
                </a:ext>
              </a:extLst>
            </p:cNvPr>
            <p:cNvSpPr>
              <a:spLocks noChangeArrowheads="1"/>
            </p:cNvSpPr>
            <p:nvPr/>
          </p:nvSpPr>
          <p:spPr bwMode="auto">
            <a:xfrm>
              <a:off x="4068763" y="29257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D</a:t>
              </a:r>
            </a:p>
          </p:txBody>
        </p:sp>
        <p:sp>
          <p:nvSpPr>
            <p:cNvPr id="139" name="Oval 35">
              <a:extLst>
                <a:ext uri="{FF2B5EF4-FFF2-40B4-BE49-F238E27FC236}">
                  <a16:creationId xmlns:a16="http://schemas.microsoft.com/office/drawing/2014/main" xmlns="" id="{D3915424-5B33-B961-1943-269A75DE7DD0}"/>
                </a:ext>
              </a:extLst>
            </p:cNvPr>
            <p:cNvSpPr>
              <a:spLocks noChangeArrowheads="1"/>
            </p:cNvSpPr>
            <p:nvPr/>
          </p:nvSpPr>
          <p:spPr bwMode="auto">
            <a:xfrm>
              <a:off x="1692275" y="35734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E</a:t>
              </a:r>
            </a:p>
          </p:txBody>
        </p:sp>
        <p:sp>
          <p:nvSpPr>
            <p:cNvPr id="140" name="Oval 36">
              <a:extLst>
                <a:ext uri="{FF2B5EF4-FFF2-40B4-BE49-F238E27FC236}">
                  <a16:creationId xmlns:a16="http://schemas.microsoft.com/office/drawing/2014/main" xmlns="" id="{5E762764-7F3D-FE29-C8DA-857104D68ECC}"/>
                </a:ext>
              </a:extLst>
            </p:cNvPr>
            <p:cNvSpPr>
              <a:spLocks noChangeArrowheads="1"/>
            </p:cNvSpPr>
            <p:nvPr/>
          </p:nvSpPr>
          <p:spPr bwMode="auto">
            <a:xfrm>
              <a:off x="2411413" y="35734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F</a:t>
              </a:r>
            </a:p>
          </p:txBody>
        </p:sp>
        <p:sp>
          <p:nvSpPr>
            <p:cNvPr id="141" name="Oval 37">
              <a:extLst>
                <a:ext uri="{FF2B5EF4-FFF2-40B4-BE49-F238E27FC236}">
                  <a16:creationId xmlns:a16="http://schemas.microsoft.com/office/drawing/2014/main" xmlns="" id="{AAA05A7A-7A6C-AA94-35E6-DE9A23D277D3}"/>
                </a:ext>
              </a:extLst>
            </p:cNvPr>
            <p:cNvSpPr>
              <a:spLocks noChangeArrowheads="1"/>
            </p:cNvSpPr>
            <p:nvPr/>
          </p:nvSpPr>
          <p:spPr bwMode="auto">
            <a:xfrm>
              <a:off x="3060700" y="35734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G</a:t>
              </a:r>
            </a:p>
          </p:txBody>
        </p:sp>
        <p:sp>
          <p:nvSpPr>
            <p:cNvPr id="142" name="Oval 38">
              <a:extLst>
                <a:ext uri="{FF2B5EF4-FFF2-40B4-BE49-F238E27FC236}">
                  <a16:creationId xmlns:a16="http://schemas.microsoft.com/office/drawing/2014/main" xmlns="" id="{4A8C4245-A850-348F-B702-F1771F7512BE}"/>
                </a:ext>
              </a:extLst>
            </p:cNvPr>
            <p:cNvSpPr>
              <a:spLocks noChangeArrowheads="1"/>
            </p:cNvSpPr>
            <p:nvPr/>
          </p:nvSpPr>
          <p:spPr bwMode="auto">
            <a:xfrm>
              <a:off x="3060700" y="42211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J</a:t>
              </a:r>
            </a:p>
          </p:txBody>
        </p:sp>
        <p:sp>
          <p:nvSpPr>
            <p:cNvPr id="143" name="Oval 39">
              <a:extLst>
                <a:ext uri="{FF2B5EF4-FFF2-40B4-BE49-F238E27FC236}">
                  <a16:creationId xmlns:a16="http://schemas.microsoft.com/office/drawing/2014/main" xmlns="" id="{3A1F9C62-8E42-64F2-BE51-9EC7D8E94B9D}"/>
                </a:ext>
              </a:extLst>
            </p:cNvPr>
            <p:cNvSpPr>
              <a:spLocks noChangeArrowheads="1"/>
            </p:cNvSpPr>
            <p:nvPr/>
          </p:nvSpPr>
          <p:spPr bwMode="auto">
            <a:xfrm>
              <a:off x="3708400" y="35734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H</a:t>
              </a:r>
            </a:p>
          </p:txBody>
        </p:sp>
        <p:sp>
          <p:nvSpPr>
            <p:cNvPr id="144" name="Oval 40">
              <a:extLst>
                <a:ext uri="{FF2B5EF4-FFF2-40B4-BE49-F238E27FC236}">
                  <a16:creationId xmlns:a16="http://schemas.microsoft.com/office/drawing/2014/main" xmlns="" id="{E19168FA-01D5-BDD2-94D9-31E1720BAA1A}"/>
                </a:ext>
              </a:extLst>
            </p:cNvPr>
            <p:cNvSpPr>
              <a:spLocks noChangeArrowheads="1"/>
            </p:cNvSpPr>
            <p:nvPr/>
          </p:nvSpPr>
          <p:spPr bwMode="auto">
            <a:xfrm>
              <a:off x="4500563" y="35734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I</a:t>
              </a:r>
            </a:p>
          </p:txBody>
        </p:sp>
        <p:sp>
          <p:nvSpPr>
            <p:cNvPr id="145" name="Oval 41">
              <a:extLst>
                <a:ext uri="{FF2B5EF4-FFF2-40B4-BE49-F238E27FC236}">
                  <a16:creationId xmlns:a16="http://schemas.microsoft.com/office/drawing/2014/main" xmlns="" id="{94259456-3E94-8D31-38D6-F0E06719C795}"/>
                </a:ext>
              </a:extLst>
            </p:cNvPr>
            <p:cNvSpPr>
              <a:spLocks noChangeArrowheads="1"/>
            </p:cNvSpPr>
            <p:nvPr/>
          </p:nvSpPr>
          <p:spPr bwMode="auto">
            <a:xfrm>
              <a:off x="3924300" y="42211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K</a:t>
              </a:r>
            </a:p>
          </p:txBody>
        </p:sp>
        <p:sp>
          <p:nvSpPr>
            <p:cNvPr id="146" name="Oval 42">
              <a:extLst>
                <a:ext uri="{FF2B5EF4-FFF2-40B4-BE49-F238E27FC236}">
                  <a16:creationId xmlns:a16="http://schemas.microsoft.com/office/drawing/2014/main" xmlns="" id="{97F7793D-EA8B-E80E-6077-18B899F182DE}"/>
                </a:ext>
              </a:extLst>
            </p:cNvPr>
            <p:cNvSpPr>
              <a:spLocks noChangeArrowheads="1"/>
            </p:cNvSpPr>
            <p:nvPr/>
          </p:nvSpPr>
          <p:spPr bwMode="auto">
            <a:xfrm>
              <a:off x="4505325" y="42211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L</a:t>
              </a:r>
            </a:p>
          </p:txBody>
        </p:sp>
        <p:sp>
          <p:nvSpPr>
            <p:cNvPr id="147" name="Oval 43">
              <a:extLst>
                <a:ext uri="{FF2B5EF4-FFF2-40B4-BE49-F238E27FC236}">
                  <a16:creationId xmlns:a16="http://schemas.microsoft.com/office/drawing/2014/main" xmlns="" id="{BFB51F83-87FB-9444-CEEA-52E9AE1E202B}"/>
                </a:ext>
              </a:extLst>
            </p:cNvPr>
            <p:cNvSpPr>
              <a:spLocks noChangeArrowheads="1"/>
            </p:cNvSpPr>
            <p:nvPr/>
          </p:nvSpPr>
          <p:spPr bwMode="auto">
            <a:xfrm>
              <a:off x="5148263" y="42211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M</a:t>
              </a:r>
            </a:p>
          </p:txBody>
        </p:sp>
        <p:sp>
          <p:nvSpPr>
            <p:cNvPr id="148" name="Line 44">
              <a:extLst>
                <a:ext uri="{FF2B5EF4-FFF2-40B4-BE49-F238E27FC236}">
                  <a16:creationId xmlns:a16="http://schemas.microsoft.com/office/drawing/2014/main" xmlns="" id="{37776E40-AB73-04AE-A7C8-E50C0BFD979A}"/>
                </a:ext>
              </a:extLst>
            </p:cNvPr>
            <p:cNvSpPr>
              <a:spLocks noChangeShapeType="1"/>
            </p:cNvSpPr>
            <p:nvPr/>
          </p:nvSpPr>
          <p:spPr bwMode="auto">
            <a:xfrm flipH="1">
              <a:off x="2365353" y="2493963"/>
              <a:ext cx="695346" cy="515926"/>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49" name="Line 45">
              <a:extLst>
                <a:ext uri="{FF2B5EF4-FFF2-40B4-BE49-F238E27FC236}">
                  <a16:creationId xmlns:a16="http://schemas.microsoft.com/office/drawing/2014/main" xmlns="" id="{F39413C1-A894-A2BB-1342-E3DA3446B09F}"/>
                </a:ext>
              </a:extLst>
            </p:cNvPr>
            <p:cNvSpPr>
              <a:spLocks noChangeShapeType="1"/>
            </p:cNvSpPr>
            <p:nvPr/>
          </p:nvSpPr>
          <p:spPr bwMode="auto">
            <a:xfrm>
              <a:off x="3238500" y="2636838"/>
              <a:ext cx="0" cy="2880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50" name="Line 46">
              <a:extLst>
                <a:ext uri="{FF2B5EF4-FFF2-40B4-BE49-F238E27FC236}">
                  <a16:creationId xmlns:a16="http://schemas.microsoft.com/office/drawing/2014/main" xmlns="" id="{4E02C40F-4890-375E-4A91-2910A392B692}"/>
                </a:ext>
              </a:extLst>
            </p:cNvPr>
            <p:cNvSpPr>
              <a:spLocks noChangeShapeType="1"/>
            </p:cNvSpPr>
            <p:nvPr/>
          </p:nvSpPr>
          <p:spPr bwMode="auto">
            <a:xfrm>
              <a:off x="3430588" y="2522538"/>
              <a:ext cx="647700"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51" name="Line 49">
              <a:extLst>
                <a:ext uri="{FF2B5EF4-FFF2-40B4-BE49-F238E27FC236}">
                  <a16:creationId xmlns:a16="http://schemas.microsoft.com/office/drawing/2014/main" xmlns="" id="{3382563C-390A-D06A-8685-C9D15349492E}"/>
                </a:ext>
              </a:extLst>
            </p:cNvPr>
            <p:cNvSpPr>
              <a:spLocks noChangeShapeType="1"/>
            </p:cNvSpPr>
            <p:nvPr/>
          </p:nvSpPr>
          <p:spPr bwMode="auto">
            <a:xfrm>
              <a:off x="3243263" y="3306763"/>
              <a:ext cx="0" cy="2520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52" name="Line 50">
              <a:extLst>
                <a:ext uri="{FF2B5EF4-FFF2-40B4-BE49-F238E27FC236}">
                  <a16:creationId xmlns:a16="http://schemas.microsoft.com/office/drawing/2014/main" xmlns="" id="{DC260F2A-6864-2784-18B0-0BC83D460EB7}"/>
                </a:ext>
              </a:extLst>
            </p:cNvPr>
            <p:cNvSpPr>
              <a:spLocks noChangeShapeType="1"/>
            </p:cNvSpPr>
            <p:nvPr/>
          </p:nvSpPr>
          <p:spPr bwMode="auto">
            <a:xfrm>
              <a:off x="3243263" y="3933825"/>
              <a:ext cx="0" cy="28733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53" name="Freeform 51">
              <a:extLst>
                <a:ext uri="{FF2B5EF4-FFF2-40B4-BE49-F238E27FC236}">
                  <a16:creationId xmlns:a16="http://schemas.microsoft.com/office/drawing/2014/main" xmlns="" id="{8D984273-796B-B175-1218-D25A22A5D90A}"/>
                </a:ext>
              </a:extLst>
            </p:cNvPr>
            <p:cNvSpPr>
              <a:spLocks/>
            </p:cNvSpPr>
            <p:nvPr/>
          </p:nvSpPr>
          <p:spPr bwMode="auto">
            <a:xfrm>
              <a:off x="3940175" y="3271838"/>
              <a:ext cx="220663" cy="301625"/>
            </a:xfrm>
            <a:custGeom>
              <a:avLst/>
              <a:gdLst/>
              <a:ahLst/>
              <a:cxnLst>
                <a:cxn ang="0">
                  <a:pos x="139" y="0"/>
                </a:cxn>
                <a:cxn ang="0">
                  <a:pos x="0" y="190"/>
                </a:cxn>
              </a:cxnLst>
              <a:rect l="0" t="0" r="r" b="b"/>
              <a:pathLst>
                <a:path w="139" h="190">
                  <a:moveTo>
                    <a:pt x="139" y="0"/>
                  </a:moveTo>
                  <a:lnTo>
                    <a:pt x="0" y="190"/>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54" name="Freeform 52">
              <a:extLst>
                <a:ext uri="{FF2B5EF4-FFF2-40B4-BE49-F238E27FC236}">
                  <a16:creationId xmlns:a16="http://schemas.microsoft.com/office/drawing/2014/main" xmlns="" id="{AAD6F4F6-361F-946D-F8D8-D6066C9AB1D1}"/>
                </a:ext>
              </a:extLst>
            </p:cNvPr>
            <p:cNvSpPr>
              <a:spLocks/>
            </p:cNvSpPr>
            <p:nvPr/>
          </p:nvSpPr>
          <p:spPr bwMode="auto">
            <a:xfrm>
              <a:off x="4379913" y="3243263"/>
              <a:ext cx="265112" cy="330200"/>
            </a:xfrm>
            <a:custGeom>
              <a:avLst/>
              <a:gdLst/>
              <a:ahLst/>
              <a:cxnLst>
                <a:cxn ang="0">
                  <a:pos x="0" y="0"/>
                </a:cxn>
                <a:cxn ang="0">
                  <a:pos x="167" y="208"/>
                </a:cxn>
              </a:cxnLst>
              <a:rect l="0" t="0" r="r" b="b"/>
              <a:pathLst>
                <a:path w="167" h="208">
                  <a:moveTo>
                    <a:pt x="0" y="0"/>
                  </a:moveTo>
                  <a:lnTo>
                    <a:pt x="167" y="208"/>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55" name="Line 53">
              <a:extLst>
                <a:ext uri="{FF2B5EF4-FFF2-40B4-BE49-F238E27FC236}">
                  <a16:creationId xmlns:a16="http://schemas.microsoft.com/office/drawing/2014/main" xmlns="" id="{A40FD072-547D-D663-2B00-E6BB7CE5E0CB}"/>
                </a:ext>
              </a:extLst>
            </p:cNvPr>
            <p:cNvSpPr>
              <a:spLocks noChangeShapeType="1"/>
            </p:cNvSpPr>
            <p:nvPr/>
          </p:nvSpPr>
          <p:spPr bwMode="auto">
            <a:xfrm flipH="1">
              <a:off x="4184650" y="3862388"/>
              <a:ext cx="360363" cy="358775"/>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56" name="Line 54">
              <a:extLst>
                <a:ext uri="{FF2B5EF4-FFF2-40B4-BE49-F238E27FC236}">
                  <a16:creationId xmlns:a16="http://schemas.microsoft.com/office/drawing/2014/main" xmlns="" id="{3BF49086-3BB4-E367-7492-2AC049BA1352}"/>
                </a:ext>
              </a:extLst>
            </p:cNvPr>
            <p:cNvSpPr>
              <a:spLocks noChangeShapeType="1"/>
            </p:cNvSpPr>
            <p:nvPr/>
          </p:nvSpPr>
          <p:spPr bwMode="auto">
            <a:xfrm>
              <a:off x="4687888" y="3933825"/>
              <a:ext cx="0" cy="28733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57" name="Freeform 55">
              <a:extLst>
                <a:ext uri="{FF2B5EF4-FFF2-40B4-BE49-F238E27FC236}">
                  <a16:creationId xmlns:a16="http://schemas.microsoft.com/office/drawing/2014/main" xmlns="" id="{9F66380D-BC08-BA96-D2AA-BDD08940FBC8}"/>
                </a:ext>
              </a:extLst>
            </p:cNvPr>
            <p:cNvSpPr>
              <a:spLocks/>
            </p:cNvSpPr>
            <p:nvPr/>
          </p:nvSpPr>
          <p:spPr bwMode="auto">
            <a:xfrm>
              <a:off x="4827588" y="3843338"/>
              <a:ext cx="447675" cy="390525"/>
            </a:xfrm>
            <a:custGeom>
              <a:avLst/>
              <a:gdLst/>
              <a:ahLst/>
              <a:cxnLst>
                <a:cxn ang="0">
                  <a:pos x="0" y="0"/>
                </a:cxn>
                <a:cxn ang="0">
                  <a:pos x="282" y="246"/>
                </a:cxn>
              </a:cxnLst>
              <a:rect l="0" t="0" r="r" b="b"/>
              <a:pathLst>
                <a:path w="282" h="246">
                  <a:moveTo>
                    <a:pt x="0" y="0"/>
                  </a:moveTo>
                  <a:lnTo>
                    <a:pt x="282" y="246"/>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grpSp>
    </p:spTree>
    <p:extLst>
      <p:ext uri="{BB962C8B-B14F-4D97-AF65-F5344CB8AC3E}">
        <p14:creationId xmlns:p14="http://schemas.microsoft.com/office/powerpoint/2010/main" val="750802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B8E3690-52B3-72BE-BCA5-19199539AF0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08371D21-64C2-4F76-723E-B74C7D801C79}"/>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16" name="Rectangle 2">
            <a:extLst>
              <a:ext uri="{FF2B5EF4-FFF2-40B4-BE49-F238E27FC236}">
                <a16:creationId xmlns:a16="http://schemas.microsoft.com/office/drawing/2014/main" xmlns="" id="{2634E087-36E5-7F60-DD60-B37FF28A0BA1}"/>
              </a:ext>
            </a:extLst>
          </p:cNvPr>
          <p:cNvSpPr txBox="1">
            <a:spLocks noChangeArrowheads="1"/>
          </p:cNvSpPr>
          <p:nvPr/>
        </p:nvSpPr>
        <p:spPr>
          <a:xfrm>
            <a:off x="79920" y="836712"/>
            <a:ext cx="50079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7.1.2 </a:t>
            </a:r>
            <a:r>
              <a:rPr lang="zh-CN" altLang="en-US" dirty="0"/>
              <a:t>树的（逻辑）表示方法</a:t>
            </a:r>
          </a:p>
        </p:txBody>
      </p:sp>
      <p:cxnSp>
        <p:nvCxnSpPr>
          <p:cNvPr id="71" name="直接连接符 70">
            <a:extLst>
              <a:ext uri="{FF2B5EF4-FFF2-40B4-BE49-F238E27FC236}">
                <a16:creationId xmlns:a16="http://schemas.microsoft.com/office/drawing/2014/main" xmlns="" id="{BBFDD1BD-C29C-0F9B-A06D-511D57339AC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8" name="Text Box 1027">
            <a:extLst>
              <a:ext uri="{FF2B5EF4-FFF2-40B4-BE49-F238E27FC236}">
                <a16:creationId xmlns:a16="http://schemas.microsoft.com/office/drawing/2014/main" xmlns="" id="{0CF1A6F3-B82E-BBE6-ADBF-9767CD2AA6AC}"/>
              </a:ext>
            </a:extLst>
          </p:cNvPr>
          <p:cNvSpPr txBox="1">
            <a:spLocks noChangeArrowheads="1"/>
          </p:cNvSpPr>
          <p:nvPr/>
        </p:nvSpPr>
        <p:spPr bwMode="auto">
          <a:xfrm>
            <a:off x="827942" y="1793581"/>
            <a:ext cx="9516529" cy="470257"/>
          </a:xfrm>
          <a:prstGeom prst="rect">
            <a:avLst/>
          </a:prstGeom>
          <a:noFill/>
          <a:ln w="9525">
            <a:noFill/>
            <a:miter lim="800000"/>
            <a:headEnd/>
            <a:tailEnd/>
          </a:ln>
          <a:effectLst/>
        </p:spPr>
        <p:txBody>
          <a:bodyPr wrap="square">
            <a:spAutoFit/>
          </a:bodyPr>
          <a:lstStyle/>
          <a:p>
            <a:pPr algn="just">
              <a:lnSpc>
                <a:spcPct val="110000"/>
              </a:lnSpc>
              <a:spcBef>
                <a:spcPct val="50000"/>
              </a:spcBef>
            </a:pP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3</a:t>
            </a:r>
            <a:r>
              <a:rPr kumimoji="1" lang="zh-CN" altLang="en-US" sz="2400" dirty="0">
                <a:latin typeface="微软雅黑" pitchFamily="34" charset="-122"/>
                <a:ea typeface="微软雅黑" pitchFamily="34" charset="-122"/>
                <a:cs typeface="经典粗黑简" pitchFamily="49" charset="-122"/>
              </a:rPr>
              <a:t>）</a:t>
            </a:r>
            <a:r>
              <a:rPr kumimoji="1" lang="zh-CN" altLang="en-US" sz="2400" dirty="0">
                <a:solidFill>
                  <a:srgbClr val="FF0000"/>
                </a:solidFill>
                <a:latin typeface="微软雅黑" pitchFamily="34" charset="-122"/>
                <a:ea typeface="微软雅黑" pitchFamily="34" charset="-122"/>
                <a:cs typeface="Times New Roman" pitchFamily="18" charset="0"/>
              </a:rPr>
              <a:t>凹入表示法。</a:t>
            </a:r>
            <a:r>
              <a:rPr kumimoji="1" lang="zh-CN" altLang="en-US" sz="2400" dirty="0">
                <a:latin typeface="微软雅黑" pitchFamily="34" charset="-122"/>
                <a:ea typeface="微软雅黑" pitchFamily="34" charset="-122"/>
                <a:cs typeface="经典粗黑简" pitchFamily="49" charset="-122"/>
              </a:rPr>
              <a:t>使用线段的伸缩关系描述树结构。</a:t>
            </a:r>
          </a:p>
        </p:txBody>
      </p:sp>
      <p:sp>
        <p:nvSpPr>
          <p:cNvPr id="19" name="Text Box 56">
            <a:extLst>
              <a:ext uri="{FF2B5EF4-FFF2-40B4-BE49-F238E27FC236}">
                <a16:creationId xmlns:a16="http://schemas.microsoft.com/office/drawing/2014/main" xmlns="" id="{C3392A1C-13D8-79F9-FC60-A7AF901049FE}"/>
              </a:ext>
            </a:extLst>
          </p:cNvPr>
          <p:cNvSpPr txBox="1">
            <a:spLocks noChangeArrowheads="1"/>
          </p:cNvSpPr>
          <p:nvPr/>
        </p:nvSpPr>
        <p:spPr bwMode="auto">
          <a:xfrm>
            <a:off x="5374360" y="4608177"/>
            <a:ext cx="2436010" cy="461665"/>
          </a:xfrm>
          <a:prstGeom prst="rect">
            <a:avLst/>
          </a:prstGeom>
          <a:noFill/>
          <a:ln w="9525">
            <a:noFill/>
            <a:miter lim="800000"/>
            <a:headEnd/>
            <a:tailEnd/>
          </a:ln>
          <a:effectLst/>
        </p:spPr>
        <p:txBody>
          <a:bodyPr wrap="square">
            <a:spAutoFit/>
          </a:bodyPr>
          <a:lstStyle/>
          <a:p>
            <a:pPr algn="l"/>
            <a:r>
              <a:rPr kumimoji="1" lang="zh-CN" altLang="en-US" sz="2400" dirty="0">
                <a:latin typeface="微软雅黑" pitchFamily="34" charset="-122"/>
                <a:ea typeface="微软雅黑" pitchFamily="34" charset="-122"/>
                <a:cs typeface="经典粗黑简" pitchFamily="49" charset="-122"/>
              </a:rPr>
              <a:t>逻辑结构表示</a:t>
            </a:r>
            <a:r>
              <a:rPr kumimoji="1" lang="en-US" altLang="zh-CN" sz="2400" dirty="0">
                <a:latin typeface="微软雅黑" pitchFamily="34" charset="-122"/>
                <a:ea typeface="微软雅黑" pitchFamily="34" charset="-122"/>
                <a:cs typeface="经典粗黑简" pitchFamily="49" charset="-122"/>
              </a:rPr>
              <a:t>3</a:t>
            </a:r>
          </a:p>
        </p:txBody>
      </p:sp>
      <p:sp>
        <p:nvSpPr>
          <p:cNvPr id="5" name="AutoShape 64">
            <a:extLst>
              <a:ext uri="{FF2B5EF4-FFF2-40B4-BE49-F238E27FC236}">
                <a16:creationId xmlns:a16="http://schemas.microsoft.com/office/drawing/2014/main" xmlns="" id="{3E61A102-A031-921F-9146-42A124CFE53A}"/>
              </a:ext>
            </a:extLst>
          </p:cNvPr>
          <p:cNvSpPr>
            <a:spLocks noChangeArrowheads="1"/>
          </p:cNvSpPr>
          <p:nvPr/>
        </p:nvSpPr>
        <p:spPr bwMode="auto">
          <a:xfrm>
            <a:off x="5952136" y="3864687"/>
            <a:ext cx="858842" cy="288000"/>
          </a:xfrm>
          <a:prstGeom prst="leftRightArrow">
            <a:avLst>
              <a:gd name="adj1" fmla="val 50000"/>
              <a:gd name="adj2" fmla="val 64248"/>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endParaRPr lang="zh-CN" altLang="en-US">
              <a:latin typeface="Consolas" pitchFamily="49" charset="0"/>
              <a:cs typeface="Consolas" pitchFamily="49" charset="0"/>
            </a:endParaRPr>
          </a:p>
        </p:txBody>
      </p:sp>
      <p:grpSp>
        <p:nvGrpSpPr>
          <p:cNvPr id="8" name="组合 7">
            <a:extLst>
              <a:ext uri="{FF2B5EF4-FFF2-40B4-BE49-F238E27FC236}">
                <a16:creationId xmlns:a16="http://schemas.microsoft.com/office/drawing/2014/main" xmlns="" id="{B5F11433-2B84-4C2D-D741-A5669A9E12BF}"/>
              </a:ext>
            </a:extLst>
          </p:cNvPr>
          <p:cNvGrpSpPr/>
          <p:nvPr/>
        </p:nvGrpSpPr>
        <p:grpSpPr>
          <a:xfrm>
            <a:off x="7312584" y="2751197"/>
            <a:ext cx="3429024" cy="2143140"/>
            <a:chOff x="1692275" y="2276475"/>
            <a:chExt cx="3816350" cy="2305050"/>
          </a:xfrm>
        </p:grpSpPr>
        <p:sp>
          <p:nvSpPr>
            <p:cNvPr id="9" name="Freeform 47">
              <a:extLst>
                <a:ext uri="{FF2B5EF4-FFF2-40B4-BE49-F238E27FC236}">
                  <a16:creationId xmlns:a16="http://schemas.microsoft.com/office/drawing/2014/main" xmlns="" id="{D91CD97B-B8BF-E602-3412-CB62FF69A2A5}"/>
                </a:ext>
              </a:extLst>
            </p:cNvPr>
            <p:cNvSpPr>
              <a:spLocks/>
            </p:cNvSpPr>
            <p:nvPr/>
          </p:nvSpPr>
          <p:spPr bwMode="auto">
            <a:xfrm>
              <a:off x="1931988" y="3286124"/>
              <a:ext cx="211120" cy="300039"/>
            </a:xfrm>
            <a:custGeom>
              <a:avLst/>
              <a:gdLst/>
              <a:ahLst/>
              <a:cxnLst>
                <a:cxn ang="0">
                  <a:pos x="121" y="0"/>
                </a:cxn>
                <a:cxn ang="0">
                  <a:pos x="0" y="144"/>
                </a:cxn>
              </a:cxnLst>
              <a:rect l="0" t="0" r="r" b="b"/>
              <a:pathLst>
                <a:path w="121" h="144">
                  <a:moveTo>
                    <a:pt x="121" y="0"/>
                  </a:moveTo>
                  <a:lnTo>
                    <a:pt x="0" y="144"/>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0" name="Freeform 48">
              <a:extLst>
                <a:ext uri="{FF2B5EF4-FFF2-40B4-BE49-F238E27FC236}">
                  <a16:creationId xmlns:a16="http://schemas.microsoft.com/office/drawing/2014/main" xmlns="" id="{40CFBFFC-91FB-AB30-C1DD-02EBB852B20E}"/>
                </a:ext>
              </a:extLst>
            </p:cNvPr>
            <p:cNvSpPr>
              <a:spLocks/>
            </p:cNvSpPr>
            <p:nvPr/>
          </p:nvSpPr>
          <p:spPr bwMode="auto">
            <a:xfrm>
              <a:off x="2357422" y="3248024"/>
              <a:ext cx="214314" cy="323852"/>
            </a:xfrm>
            <a:custGeom>
              <a:avLst/>
              <a:gdLst/>
              <a:ahLst/>
              <a:cxnLst>
                <a:cxn ang="0">
                  <a:pos x="0" y="0"/>
                </a:cxn>
                <a:cxn ang="0">
                  <a:pos x="115" y="147"/>
                </a:cxn>
              </a:cxnLst>
              <a:rect l="0" t="0" r="r" b="b"/>
              <a:pathLst>
                <a:path w="115" h="147">
                  <a:moveTo>
                    <a:pt x="0" y="0"/>
                  </a:moveTo>
                  <a:lnTo>
                    <a:pt x="115" y="147"/>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1" name="Oval 31">
              <a:extLst>
                <a:ext uri="{FF2B5EF4-FFF2-40B4-BE49-F238E27FC236}">
                  <a16:creationId xmlns:a16="http://schemas.microsoft.com/office/drawing/2014/main" xmlns="" id="{B7453EF4-7374-6E59-0754-42AB819BB6BD}"/>
                </a:ext>
              </a:extLst>
            </p:cNvPr>
            <p:cNvSpPr>
              <a:spLocks noChangeArrowheads="1"/>
            </p:cNvSpPr>
            <p:nvPr/>
          </p:nvSpPr>
          <p:spPr bwMode="auto">
            <a:xfrm>
              <a:off x="3060700" y="2276475"/>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A</a:t>
              </a:r>
            </a:p>
          </p:txBody>
        </p:sp>
        <p:sp>
          <p:nvSpPr>
            <p:cNvPr id="12" name="Oval 32">
              <a:extLst>
                <a:ext uri="{FF2B5EF4-FFF2-40B4-BE49-F238E27FC236}">
                  <a16:creationId xmlns:a16="http://schemas.microsoft.com/office/drawing/2014/main" xmlns="" id="{6FFBAF4E-F0CD-9DD6-1BDC-F93BBC0CD34E}"/>
                </a:ext>
              </a:extLst>
            </p:cNvPr>
            <p:cNvSpPr>
              <a:spLocks noChangeArrowheads="1"/>
            </p:cNvSpPr>
            <p:nvPr/>
          </p:nvSpPr>
          <p:spPr bwMode="auto">
            <a:xfrm>
              <a:off x="2052638" y="2925763"/>
              <a:ext cx="360362"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dirty="0">
                  <a:solidFill>
                    <a:srgbClr val="3333FF"/>
                  </a:solidFill>
                  <a:latin typeface="Consolas" pitchFamily="49" charset="0"/>
                  <a:cs typeface="Consolas" pitchFamily="49" charset="0"/>
                </a:rPr>
                <a:t>B</a:t>
              </a:r>
            </a:p>
          </p:txBody>
        </p:sp>
        <p:sp>
          <p:nvSpPr>
            <p:cNvPr id="13" name="Oval 33">
              <a:extLst>
                <a:ext uri="{FF2B5EF4-FFF2-40B4-BE49-F238E27FC236}">
                  <a16:creationId xmlns:a16="http://schemas.microsoft.com/office/drawing/2014/main" xmlns="" id="{386C6F22-F0D6-0887-235D-679736198F8B}"/>
                </a:ext>
              </a:extLst>
            </p:cNvPr>
            <p:cNvSpPr>
              <a:spLocks noChangeArrowheads="1"/>
            </p:cNvSpPr>
            <p:nvPr/>
          </p:nvSpPr>
          <p:spPr bwMode="auto">
            <a:xfrm>
              <a:off x="3060700" y="2925763"/>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C</a:t>
              </a:r>
            </a:p>
          </p:txBody>
        </p:sp>
        <p:sp>
          <p:nvSpPr>
            <p:cNvPr id="14" name="Oval 34">
              <a:extLst>
                <a:ext uri="{FF2B5EF4-FFF2-40B4-BE49-F238E27FC236}">
                  <a16:creationId xmlns:a16="http://schemas.microsoft.com/office/drawing/2014/main" xmlns="" id="{FBA1D502-6338-5BF2-2791-25200A31C9FB}"/>
                </a:ext>
              </a:extLst>
            </p:cNvPr>
            <p:cNvSpPr>
              <a:spLocks noChangeArrowheads="1"/>
            </p:cNvSpPr>
            <p:nvPr/>
          </p:nvSpPr>
          <p:spPr bwMode="auto">
            <a:xfrm>
              <a:off x="4068763" y="29257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D</a:t>
              </a:r>
            </a:p>
          </p:txBody>
        </p:sp>
        <p:sp>
          <p:nvSpPr>
            <p:cNvPr id="15" name="Oval 35">
              <a:extLst>
                <a:ext uri="{FF2B5EF4-FFF2-40B4-BE49-F238E27FC236}">
                  <a16:creationId xmlns:a16="http://schemas.microsoft.com/office/drawing/2014/main" xmlns="" id="{95D3E3FA-CFFB-9ED6-74BD-42000A3A04CF}"/>
                </a:ext>
              </a:extLst>
            </p:cNvPr>
            <p:cNvSpPr>
              <a:spLocks noChangeArrowheads="1"/>
            </p:cNvSpPr>
            <p:nvPr/>
          </p:nvSpPr>
          <p:spPr bwMode="auto">
            <a:xfrm>
              <a:off x="1692275" y="35734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E</a:t>
              </a:r>
            </a:p>
          </p:txBody>
        </p:sp>
        <p:sp>
          <p:nvSpPr>
            <p:cNvPr id="17" name="Oval 36">
              <a:extLst>
                <a:ext uri="{FF2B5EF4-FFF2-40B4-BE49-F238E27FC236}">
                  <a16:creationId xmlns:a16="http://schemas.microsoft.com/office/drawing/2014/main" xmlns="" id="{C16ED27A-3509-AEE9-12A1-55620396A5B1}"/>
                </a:ext>
              </a:extLst>
            </p:cNvPr>
            <p:cNvSpPr>
              <a:spLocks noChangeArrowheads="1"/>
            </p:cNvSpPr>
            <p:nvPr/>
          </p:nvSpPr>
          <p:spPr bwMode="auto">
            <a:xfrm>
              <a:off x="2411413" y="35734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F</a:t>
              </a:r>
            </a:p>
          </p:txBody>
        </p:sp>
        <p:sp>
          <p:nvSpPr>
            <p:cNvPr id="37" name="Oval 37">
              <a:extLst>
                <a:ext uri="{FF2B5EF4-FFF2-40B4-BE49-F238E27FC236}">
                  <a16:creationId xmlns:a16="http://schemas.microsoft.com/office/drawing/2014/main" xmlns="" id="{F2CB2D49-D307-CC85-2ABA-3353D33354CC}"/>
                </a:ext>
              </a:extLst>
            </p:cNvPr>
            <p:cNvSpPr>
              <a:spLocks noChangeArrowheads="1"/>
            </p:cNvSpPr>
            <p:nvPr/>
          </p:nvSpPr>
          <p:spPr bwMode="auto">
            <a:xfrm>
              <a:off x="3060700" y="35734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G</a:t>
              </a:r>
            </a:p>
          </p:txBody>
        </p:sp>
        <p:sp>
          <p:nvSpPr>
            <p:cNvPr id="38" name="Oval 38">
              <a:extLst>
                <a:ext uri="{FF2B5EF4-FFF2-40B4-BE49-F238E27FC236}">
                  <a16:creationId xmlns:a16="http://schemas.microsoft.com/office/drawing/2014/main" xmlns="" id="{12EA4449-2558-E26C-6FC2-D42DBD58A61A}"/>
                </a:ext>
              </a:extLst>
            </p:cNvPr>
            <p:cNvSpPr>
              <a:spLocks noChangeArrowheads="1"/>
            </p:cNvSpPr>
            <p:nvPr/>
          </p:nvSpPr>
          <p:spPr bwMode="auto">
            <a:xfrm>
              <a:off x="3060700" y="42211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J</a:t>
              </a:r>
            </a:p>
          </p:txBody>
        </p:sp>
        <p:sp>
          <p:nvSpPr>
            <p:cNvPr id="39" name="Oval 39">
              <a:extLst>
                <a:ext uri="{FF2B5EF4-FFF2-40B4-BE49-F238E27FC236}">
                  <a16:creationId xmlns:a16="http://schemas.microsoft.com/office/drawing/2014/main" xmlns="" id="{CA41C810-66E0-AA9A-A02E-5AFC12A7F55D}"/>
                </a:ext>
              </a:extLst>
            </p:cNvPr>
            <p:cNvSpPr>
              <a:spLocks noChangeArrowheads="1"/>
            </p:cNvSpPr>
            <p:nvPr/>
          </p:nvSpPr>
          <p:spPr bwMode="auto">
            <a:xfrm>
              <a:off x="3708400" y="35734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H</a:t>
              </a:r>
            </a:p>
          </p:txBody>
        </p:sp>
        <p:sp>
          <p:nvSpPr>
            <p:cNvPr id="40" name="Oval 40">
              <a:extLst>
                <a:ext uri="{FF2B5EF4-FFF2-40B4-BE49-F238E27FC236}">
                  <a16:creationId xmlns:a16="http://schemas.microsoft.com/office/drawing/2014/main" xmlns="" id="{2AC4F380-DB8B-B44D-3351-420E2E3F89B8}"/>
                </a:ext>
              </a:extLst>
            </p:cNvPr>
            <p:cNvSpPr>
              <a:spLocks noChangeArrowheads="1"/>
            </p:cNvSpPr>
            <p:nvPr/>
          </p:nvSpPr>
          <p:spPr bwMode="auto">
            <a:xfrm>
              <a:off x="4500563" y="35734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I</a:t>
              </a:r>
            </a:p>
          </p:txBody>
        </p:sp>
        <p:sp>
          <p:nvSpPr>
            <p:cNvPr id="41" name="Oval 41">
              <a:extLst>
                <a:ext uri="{FF2B5EF4-FFF2-40B4-BE49-F238E27FC236}">
                  <a16:creationId xmlns:a16="http://schemas.microsoft.com/office/drawing/2014/main" xmlns="" id="{AFB65950-1770-463F-57C1-98D8D6F318AC}"/>
                </a:ext>
              </a:extLst>
            </p:cNvPr>
            <p:cNvSpPr>
              <a:spLocks noChangeArrowheads="1"/>
            </p:cNvSpPr>
            <p:nvPr/>
          </p:nvSpPr>
          <p:spPr bwMode="auto">
            <a:xfrm>
              <a:off x="3924300" y="42211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K</a:t>
              </a:r>
            </a:p>
          </p:txBody>
        </p:sp>
        <p:sp>
          <p:nvSpPr>
            <p:cNvPr id="42" name="Oval 42">
              <a:extLst>
                <a:ext uri="{FF2B5EF4-FFF2-40B4-BE49-F238E27FC236}">
                  <a16:creationId xmlns:a16="http://schemas.microsoft.com/office/drawing/2014/main" xmlns="" id="{48F265FC-C9B3-1C9D-820B-8ECAD91A5228}"/>
                </a:ext>
              </a:extLst>
            </p:cNvPr>
            <p:cNvSpPr>
              <a:spLocks noChangeArrowheads="1"/>
            </p:cNvSpPr>
            <p:nvPr/>
          </p:nvSpPr>
          <p:spPr bwMode="auto">
            <a:xfrm>
              <a:off x="4505325" y="42211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L</a:t>
              </a:r>
            </a:p>
          </p:txBody>
        </p:sp>
        <p:sp>
          <p:nvSpPr>
            <p:cNvPr id="43" name="Oval 43">
              <a:extLst>
                <a:ext uri="{FF2B5EF4-FFF2-40B4-BE49-F238E27FC236}">
                  <a16:creationId xmlns:a16="http://schemas.microsoft.com/office/drawing/2014/main" xmlns="" id="{69777395-31A7-DC00-2551-77B54E610C3E}"/>
                </a:ext>
              </a:extLst>
            </p:cNvPr>
            <p:cNvSpPr>
              <a:spLocks noChangeArrowheads="1"/>
            </p:cNvSpPr>
            <p:nvPr/>
          </p:nvSpPr>
          <p:spPr bwMode="auto">
            <a:xfrm>
              <a:off x="5148263" y="42211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M</a:t>
              </a:r>
            </a:p>
          </p:txBody>
        </p:sp>
        <p:sp>
          <p:nvSpPr>
            <p:cNvPr id="44" name="Line 44">
              <a:extLst>
                <a:ext uri="{FF2B5EF4-FFF2-40B4-BE49-F238E27FC236}">
                  <a16:creationId xmlns:a16="http://schemas.microsoft.com/office/drawing/2014/main" xmlns="" id="{46D0FB02-618D-67FC-6056-0DB66D7C54D5}"/>
                </a:ext>
              </a:extLst>
            </p:cNvPr>
            <p:cNvSpPr>
              <a:spLocks noChangeShapeType="1"/>
            </p:cNvSpPr>
            <p:nvPr/>
          </p:nvSpPr>
          <p:spPr bwMode="auto">
            <a:xfrm flipH="1">
              <a:off x="2357421" y="2493963"/>
              <a:ext cx="703278" cy="434971"/>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45" name="Line 45">
              <a:extLst>
                <a:ext uri="{FF2B5EF4-FFF2-40B4-BE49-F238E27FC236}">
                  <a16:creationId xmlns:a16="http://schemas.microsoft.com/office/drawing/2014/main" xmlns="" id="{3F2F4C65-A10D-A339-0177-06B0B4F6C058}"/>
                </a:ext>
              </a:extLst>
            </p:cNvPr>
            <p:cNvSpPr>
              <a:spLocks noChangeShapeType="1"/>
            </p:cNvSpPr>
            <p:nvPr/>
          </p:nvSpPr>
          <p:spPr bwMode="auto">
            <a:xfrm>
              <a:off x="3238500" y="2636838"/>
              <a:ext cx="0" cy="2880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46" name="Line 46">
              <a:extLst>
                <a:ext uri="{FF2B5EF4-FFF2-40B4-BE49-F238E27FC236}">
                  <a16:creationId xmlns:a16="http://schemas.microsoft.com/office/drawing/2014/main" xmlns="" id="{ED01089F-19BC-C760-4FEE-6EFD68C34B8F}"/>
                </a:ext>
              </a:extLst>
            </p:cNvPr>
            <p:cNvSpPr>
              <a:spLocks noChangeShapeType="1"/>
            </p:cNvSpPr>
            <p:nvPr/>
          </p:nvSpPr>
          <p:spPr bwMode="auto">
            <a:xfrm>
              <a:off x="3430588" y="2522538"/>
              <a:ext cx="647700"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47" name="Line 49">
              <a:extLst>
                <a:ext uri="{FF2B5EF4-FFF2-40B4-BE49-F238E27FC236}">
                  <a16:creationId xmlns:a16="http://schemas.microsoft.com/office/drawing/2014/main" xmlns="" id="{17480991-A182-A47C-1E82-58FE0C508FE7}"/>
                </a:ext>
              </a:extLst>
            </p:cNvPr>
            <p:cNvSpPr>
              <a:spLocks noChangeShapeType="1"/>
            </p:cNvSpPr>
            <p:nvPr/>
          </p:nvSpPr>
          <p:spPr bwMode="auto">
            <a:xfrm>
              <a:off x="3243263" y="3319463"/>
              <a:ext cx="0" cy="2520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48" name="Line 50">
              <a:extLst>
                <a:ext uri="{FF2B5EF4-FFF2-40B4-BE49-F238E27FC236}">
                  <a16:creationId xmlns:a16="http://schemas.microsoft.com/office/drawing/2014/main" xmlns="" id="{5D3561AF-16EE-8D7C-3BBB-F6528AD230A6}"/>
                </a:ext>
              </a:extLst>
            </p:cNvPr>
            <p:cNvSpPr>
              <a:spLocks noChangeShapeType="1"/>
            </p:cNvSpPr>
            <p:nvPr/>
          </p:nvSpPr>
          <p:spPr bwMode="auto">
            <a:xfrm>
              <a:off x="3243263" y="3933825"/>
              <a:ext cx="0" cy="28733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49" name="Freeform 51">
              <a:extLst>
                <a:ext uri="{FF2B5EF4-FFF2-40B4-BE49-F238E27FC236}">
                  <a16:creationId xmlns:a16="http://schemas.microsoft.com/office/drawing/2014/main" xmlns="" id="{404FE6CC-A17D-BAA0-B7B2-3769FDA8347E}"/>
                </a:ext>
              </a:extLst>
            </p:cNvPr>
            <p:cNvSpPr>
              <a:spLocks/>
            </p:cNvSpPr>
            <p:nvPr/>
          </p:nvSpPr>
          <p:spPr bwMode="auto">
            <a:xfrm>
              <a:off x="3940175" y="3271838"/>
              <a:ext cx="220663" cy="301625"/>
            </a:xfrm>
            <a:custGeom>
              <a:avLst/>
              <a:gdLst/>
              <a:ahLst/>
              <a:cxnLst>
                <a:cxn ang="0">
                  <a:pos x="139" y="0"/>
                </a:cxn>
                <a:cxn ang="0">
                  <a:pos x="0" y="190"/>
                </a:cxn>
              </a:cxnLst>
              <a:rect l="0" t="0" r="r" b="b"/>
              <a:pathLst>
                <a:path w="139" h="190">
                  <a:moveTo>
                    <a:pt x="139" y="0"/>
                  </a:moveTo>
                  <a:lnTo>
                    <a:pt x="0" y="190"/>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50" name="Freeform 52">
              <a:extLst>
                <a:ext uri="{FF2B5EF4-FFF2-40B4-BE49-F238E27FC236}">
                  <a16:creationId xmlns:a16="http://schemas.microsoft.com/office/drawing/2014/main" xmlns="" id="{DF4AA36C-6BC0-1E72-7EDA-F7F574A96439}"/>
                </a:ext>
              </a:extLst>
            </p:cNvPr>
            <p:cNvSpPr>
              <a:spLocks/>
            </p:cNvSpPr>
            <p:nvPr/>
          </p:nvSpPr>
          <p:spPr bwMode="auto">
            <a:xfrm>
              <a:off x="4379913" y="3243263"/>
              <a:ext cx="265112" cy="330200"/>
            </a:xfrm>
            <a:custGeom>
              <a:avLst/>
              <a:gdLst/>
              <a:ahLst/>
              <a:cxnLst>
                <a:cxn ang="0">
                  <a:pos x="0" y="0"/>
                </a:cxn>
                <a:cxn ang="0">
                  <a:pos x="167" y="208"/>
                </a:cxn>
              </a:cxnLst>
              <a:rect l="0" t="0" r="r" b="b"/>
              <a:pathLst>
                <a:path w="167" h="208">
                  <a:moveTo>
                    <a:pt x="0" y="0"/>
                  </a:moveTo>
                  <a:lnTo>
                    <a:pt x="167" y="208"/>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51" name="Line 53">
              <a:extLst>
                <a:ext uri="{FF2B5EF4-FFF2-40B4-BE49-F238E27FC236}">
                  <a16:creationId xmlns:a16="http://schemas.microsoft.com/office/drawing/2014/main" xmlns="" id="{91EB6962-6FDF-0A00-9A19-D00EDDBF5F88}"/>
                </a:ext>
              </a:extLst>
            </p:cNvPr>
            <p:cNvSpPr>
              <a:spLocks noChangeShapeType="1"/>
            </p:cNvSpPr>
            <p:nvPr/>
          </p:nvSpPr>
          <p:spPr bwMode="auto">
            <a:xfrm flipH="1">
              <a:off x="4184650" y="3862388"/>
              <a:ext cx="360363" cy="358775"/>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52" name="Line 54">
              <a:extLst>
                <a:ext uri="{FF2B5EF4-FFF2-40B4-BE49-F238E27FC236}">
                  <a16:creationId xmlns:a16="http://schemas.microsoft.com/office/drawing/2014/main" xmlns="" id="{EF2693E6-502D-F115-A59D-38712EAE1596}"/>
                </a:ext>
              </a:extLst>
            </p:cNvPr>
            <p:cNvSpPr>
              <a:spLocks noChangeShapeType="1"/>
            </p:cNvSpPr>
            <p:nvPr/>
          </p:nvSpPr>
          <p:spPr bwMode="auto">
            <a:xfrm>
              <a:off x="4687888" y="3933825"/>
              <a:ext cx="0" cy="28733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53" name="Freeform 55">
              <a:extLst>
                <a:ext uri="{FF2B5EF4-FFF2-40B4-BE49-F238E27FC236}">
                  <a16:creationId xmlns:a16="http://schemas.microsoft.com/office/drawing/2014/main" xmlns="" id="{89A05D9F-D295-F299-C64A-C7E1C195497E}"/>
                </a:ext>
              </a:extLst>
            </p:cNvPr>
            <p:cNvSpPr>
              <a:spLocks/>
            </p:cNvSpPr>
            <p:nvPr/>
          </p:nvSpPr>
          <p:spPr bwMode="auto">
            <a:xfrm>
              <a:off x="4827588" y="3843338"/>
              <a:ext cx="447675" cy="390525"/>
            </a:xfrm>
            <a:custGeom>
              <a:avLst/>
              <a:gdLst/>
              <a:ahLst/>
              <a:cxnLst>
                <a:cxn ang="0">
                  <a:pos x="0" y="0"/>
                </a:cxn>
                <a:cxn ang="0">
                  <a:pos x="282" y="246"/>
                </a:cxn>
              </a:cxnLst>
              <a:rect l="0" t="0" r="r" b="b"/>
              <a:pathLst>
                <a:path w="282" h="246">
                  <a:moveTo>
                    <a:pt x="0" y="0"/>
                  </a:moveTo>
                  <a:lnTo>
                    <a:pt x="282" y="246"/>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grpSp>
      <p:grpSp>
        <p:nvGrpSpPr>
          <p:cNvPr id="54" name="组合 53">
            <a:extLst>
              <a:ext uri="{FF2B5EF4-FFF2-40B4-BE49-F238E27FC236}">
                <a16:creationId xmlns:a16="http://schemas.microsoft.com/office/drawing/2014/main" xmlns="" id="{E8C1D573-2997-6DC6-57DF-68DD4A4230E1}"/>
              </a:ext>
            </a:extLst>
          </p:cNvPr>
          <p:cNvGrpSpPr/>
          <p:nvPr/>
        </p:nvGrpSpPr>
        <p:grpSpPr>
          <a:xfrm>
            <a:off x="1443998" y="2257350"/>
            <a:ext cx="3778311" cy="4336718"/>
            <a:chOff x="357158" y="1142984"/>
            <a:chExt cx="3286148" cy="4880084"/>
          </a:xfrm>
        </p:grpSpPr>
        <p:sp>
          <p:nvSpPr>
            <p:cNvPr id="55" name="TextBox 33">
              <a:extLst>
                <a:ext uri="{FF2B5EF4-FFF2-40B4-BE49-F238E27FC236}">
                  <a16:creationId xmlns:a16="http://schemas.microsoft.com/office/drawing/2014/main" xmlns="" id="{A98004F2-0370-6A99-8C40-CB8CF0932655}"/>
                </a:ext>
              </a:extLst>
            </p:cNvPr>
            <p:cNvSpPr txBox="1"/>
            <p:nvPr/>
          </p:nvSpPr>
          <p:spPr>
            <a:xfrm>
              <a:off x="357158" y="1142984"/>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A</a:t>
              </a:r>
              <a:endParaRPr lang="zh-CN" altLang="en-US" sz="1600" i="1">
                <a:latin typeface="Consolas" pitchFamily="49" charset="0"/>
                <a:cs typeface="Consolas" pitchFamily="49" charset="0"/>
              </a:endParaRPr>
            </a:p>
          </p:txBody>
        </p:sp>
        <p:sp>
          <p:nvSpPr>
            <p:cNvPr id="56" name="矩形 55">
              <a:extLst>
                <a:ext uri="{FF2B5EF4-FFF2-40B4-BE49-F238E27FC236}">
                  <a16:creationId xmlns:a16="http://schemas.microsoft.com/office/drawing/2014/main" xmlns="" id="{B0990C54-2543-447A-ACD3-1D6F5792AF56}"/>
                </a:ext>
              </a:extLst>
            </p:cNvPr>
            <p:cNvSpPr/>
            <p:nvPr/>
          </p:nvSpPr>
          <p:spPr bwMode="auto">
            <a:xfrm>
              <a:off x="714348" y="1214422"/>
              <a:ext cx="2928958" cy="216000"/>
            </a:xfrm>
            <a:prstGeom prst="rect">
              <a:avLst/>
            </a:prstGeom>
            <a:solidFill>
              <a:srgbClr val="FF0000"/>
            </a:solidFill>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57" name="TextBox 35">
              <a:extLst>
                <a:ext uri="{FF2B5EF4-FFF2-40B4-BE49-F238E27FC236}">
                  <a16:creationId xmlns:a16="http://schemas.microsoft.com/office/drawing/2014/main" xmlns="" id="{EEFE4FFE-EBFC-1158-556B-961BB99510C9}"/>
                </a:ext>
              </a:extLst>
            </p:cNvPr>
            <p:cNvSpPr txBox="1"/>
            <p:nvPr/>
          </p:nvSpPr>
          <p:spPr>
            <a:xfrm>
              <a:off x="500034" y="1500174"/>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B</a:t>
              </a:r>
              <a:endParaRPr lang="zh-CN" altLang="en-US" sz="1600" i="1">
                <a:latin typeface="Consolas" pitchFamily="49" charset="0"/>
                <a:cs typeface="Consolas" pitchFamily="49" charset="0"/>
              </a:endParaRPr>
            </a:p>
          </p:txBody>
        </p:sp>
        <p:sp>
          <p:nvSpPr>
            <p:cNvPr id="58" name="矩形 57">
              <a:extLst>
                <a:ext uri="{FF2B5EF4-FFF2-40B4-BE49-F238E27FC236}">
                  <a16:creationId xmlns:a16="http://schemas.microsoft.com/office/drawing/2014/main" xmlns="" id="{F79BBAD6-3D43-54C8-F090-BDC0F72A0AA5}"/>
                </a:ext>
              </a:extLst>
            </p:cNvPr>
            <p:cNvSpPr/>
            <p:nvPr/>
          </p:nvSpPr>
          <p:spPr bwMode="auto">
            <a:xfrm>
              <a:off x="835306" y="1571612"/>
              <a:ext cx="2808000" cy="216000"/>
            </a:xfrm>
            <a:prstGeom prst="rect">
              <a:avLst/>
            </a:prstGeom>
            <a:solidFill>
              <a:srgbClr val="7030A0"/>
            </a:solidFill>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59" name="TextBox 37">
              <a:extLst>
                <a:ext uri="{FF2B5EF4-FFF2-40B4-BE49-F238E27FC236}">
                  <a16:creationId xmlns:a16="http://schemas.microsoft.com/office/drawing/2014/main" xmlns="" id="{DC633180-3B3D-8709-C4EF-217F989B9A2A}"/>
                </a:ext>
              </a:extLst>
            </p:cNvPr>
            <p:cNvSpPr txBox="1"/>
            <p:nvPr/>
          </p:nvSpPr>
          <p:spPr>
            <a:xfrm>
              <a:off x="785786" y="1948898"/>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E</a:t>
              </a:r>
              <a:endParaRPr lang="zh-CN" altLang="en-US" sz="1600" i="1">
                <a:latin typeface="Consolas" pitchFamily="49" charset="0"/>
                <a:cs typeface="Consolas" pitchFamily="49" charset="0"/>
              </a:endParaRPr>
            </a:p>
          </p:txBody>
        </p:sp>
        <p:sp>
          <p:nvSpPr>
            <p:cNvPr id="60" name="矩形 59">
              <a:extLst>
                <a:ext uri="{FF2B5EF4-FFF2-40B4-BE49-F238E27FC236}">
                  <a16:creationId xmlns:a16="http://schemas.microsoft.com/office/drawing/2014/main" xmlns="" id="{3AE4B448-C2F6-ACBF-F9DE-E5AA4E2B891D}"/>
                </a:ext>
              </a:extLst>
            </p:cNvPr>
            <p:cNvSpPr/>
            <p:nvPr/>
          </p:nvSpPr>
          <p:spPr bwMode="auto">
            <a:xfrm>
              <a:off x="1123306" y="1948898"/>
              <a:ext cx="2520000" cy="216000"/>
            </a:xfrm>
            <a:prstGeom prst="rect">
              <a:avLst/>
            </a:prstGeom>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61" name="TextBox 39">
              <a:extLst>
                <a:ext uri="{FF2B5EF4-FFF2-40B4-BE49-F238E27FC236}">
                  <a16:creationId xmlns:a16="http://schemas.microsoft.com/office/drawing/2014/main" xmlns="" id="{6AEB7A9B-DC5C-FB82-B8FF-6DE0BD1018F1}"/>
                </a:ext>
              </a:extLst>
            </p:cNvPr>
            <p:cNvSpPr txBox="1"/>
            <p:nvPr/>
          </p:nvSpPr>
          <p:spPr>
            <a:xfrm>
              <a:off x="785786" y="2337334"/>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F</a:t>
              </a:r>
              <a:endParaRPr lang="zh-CN" altLang="en-US" sz="1600" i="1">
                <a:latin typeface="Consolas" pitchFamily="49" charset="0"/>
                <a:cs typeface="Consolas" pitchFamily="49" charset="0"/>
              </a:endParaRPr>
            </a:p>
          </p:txBody>
        </p:sp>
        <p:sp>
          <p:nvSpPr>
            <p:cNvPr id="62" name="矩形 61">
              <a:extLst>
                <a:ext uri="{FF2B5EF4-FFF2-40B4-BE49-F238E27FC236}">
                  <a16:creationId xmlns:a16="http://schemas.microsoft.com/office/drawing/2014/main" xmlns="" id="{5F9399D3-D9CE-0E25-6D14-B014EE775A2D}"/>
                </a:ext>
              </a:extLst>
            </p:cNvPr>
            <p:cNvSpPr/>
            <p:nvPr/>
          </p:nvSpPr>
          <p:spPr bwMode="auto">
            <a:xfrm>
              <a:off x="1123306" y="2337334"/>
              <a:ext cx="2520000" cy="216000"/>
            </a:xfrm>
            <a:prstGeom prst="rect">
              <a:avLst/>
            </a:prstGeom>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63" name="TextBox 41">
              <a:extLst>
                <a:ext uri="{FF2B5EF4-FFF2-40B4-BE49-F238E27FC236}">
                  <a16:creationId xmlns:a16="http://schemas.microsoft.com/office/drawing/2014/main" xmlns="" id="{A2FD494E-0A0D-9578-CD52-91F9B17D84AE}"/>
                </a:ext>
              </a:extLst>
            </p:cNvPr>
            <p:cNvSpPr txBox="1"/>
            <p:nvPr/>
          </p:nvSpPr>
          <p:spPr>
            <a:xfrm>
              <a:off x="500034" y="2664380"/>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C</a:t>
              </a:r>
              <a:endParaRPr lang="zh-CN" altLang="en-US" sz="1600" i="1">
                <a:latin typeface="Consolas" pitchFamily="49" charset="0"/>
                <a:cs typeface="Consolas" pitchFamily="49" charset="0"/>
              </a:endParaRPr>
            </a:p>
          </p:txBody>
        </p:sp>
        <p:sp>
          <p:nvSpPr>
            <p:cNvPr id="64" name="矩形 63">
              <a:extLst>
                <a:ext uri="{FF2B5EF4-FFF2-40B4-BE49-F238E27FC236}">
                  <a16:creationId xmlns:a16="http://schemas.microsoft.com/office/drawing/2014/main" xmlns="" id="{FDB2E87B-07DA-A539-BD66-291FC19159FE}"/>
                </a:ext>
              </a:extLst>
            </p:cNvPr>
            <p:cNvSpPr/>
            <p:nvPr/>
          </p:nvSpPr>
          <p:spPr bwMode="auto">
            <a:xfrm>
              <a:off x="835306" y="2735818"/>
              <a:ext cx="2808000" cy="216000"/>
            </a:xfrm>
            <a:prstGeom prst="rect">
              <a:avLst/>
            </a:prstGeom>
            <a:solidFill>
              <a:srgbClr val="7030A0"/>
            </a:solidFill>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65" name="TextBox 43">
              <a:extLst>
                <a:ext uri="{FF2B5EF4-FFF2-40B4-BE49-F238E27FC236}">
                  <a16:creationId xmlns:a16="http://schemas.microsoft.com/office/drawing/2014/main" xmlns="" id="{08FB37AF-BCCF-AAC6-ECEF-1ACB5FB3D62F}"/>
                </a:ext>
              </a:extLst>
            </p:cNvPr>
            <p:cNvSpPr txBox="1"/>
            <p:nvPr/>
          </p:nvSpPr>
          <p:spPr>
            <a:xfrm>
              <a:off x="785786" y="3113104"/>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G</a:t>
              </a:r>
              <a:endParaRPr lang="zh-CN" altLang="en-US" sz="1600" i="1">
                <a:latin typeface="Consolas" pitchFamily="49" charset="0"/>
                <a:cs typeface="Consolas" pitchFamily="49" charset="0"/>
              </a:endParaRPr>
            </a:p>
          </p:txBody>
        </p:sp>
        <p:sp>
          <p:nvSpPr>
            <p:cNvPr id="66" name="矩形 65">
              <a:extLst>
                <a:ext uri="{FF2B5EF4-FFF2-40B4-BE49-F238E27FC236}">
                  <a16:creationId xmlns:a16="http://schemas.microsoft.com/office/drawing/2014/main" xmlns="" id="{115C09A4-83C7-A514-2CC6-3D568C7E8B3A}"/>
                </a:ext>
              </a:extLst>
            </p:cNvPr>
            <p:cNvSpPr/>
            <p:nvPr/>
          </p:nvSpPr>
          <p:spPr bwMode="auto">
            <a:xfrm>
              <a:off x="1123306" y="3113104"/>
              <a:ext cx="2520000" cy="216000"/>
            </a:xfrm>
            <a:prstGeom prst="rect">
              <a:avLst/>
            </a:prstGeom>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67" name="TextBox 45">
              <a:extLst>
                <a:ext uri="{FF2B5EF4-FFF2-40B4-BE49-F238E27FC236}">
                  <a16:creationId xmlns:a16="http://schemas.microsoft.com/office/drawing/2014/main" xmlns="" id="{B54E9C54-59EF-F31C-61DA-27404D25018F}"/>
                </a:ext>
              </a:extLst>
            </p:cNvPr>
            <p:cNvSpPr txBox="1"/>
            <p:nvPr/>
          </p:nvSpPr>
          <p:spPr>
            <a:xfrm>
              <a:off x="928662" y="3449096"/>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J</a:t>
              </a:r>
              <a:endParaRPr lang="zh-CN" altLang="en-US" sz="1600" i="1">
                <a:latin typeface="Consolas" pitchFamily="49" charset="0"/>
                <a:cs typeface="Consolas" pitchFamily="49" charset="0"/>
              </a:endParaRPr>
            </a:p>
          </p:txBody>
        </p:sp>
        <p:sp>
          <p:nvSpPr>
            <p:cNvPr id="68" name="矩形 67">
              <a:extLst>
                <a:ext uri="{FF2B5EF4-FFF2-40B4-BE49-F238E27FC236}">
                  <a16:creationId xmlns:a16="http://schemas.microsoft.com/office/drawing/2014/main" xmlns="" id="{6C73D933-AF40-88F5-DEC2-A3C9C20C9641}"/>
                </a:ext>
              </a:extLst>
            </p:cNvPr>
            <p:cNvSpPr/>
            <p:nvPr/>
          </p:nvSpPr>
          <p:spPr bwMode="auto">
            <a:xfrm>
              <a:off x="1303306" y="3520534"/>
              <a:ext cx="2340000" cy="216000"/>
            </a:xfrm>
            <a:prstGeom prst="rect">
              <a:avLst/>
            </a:prstGeom>
            <a:blipFill>
              <a:blip r:embed="rId2" cstate="print"/>
              <a:tile tx="0" ty="0" sx="100000" sy="100000" flip="none" algn="tl"/>
            </a:blipFill>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69" name="TextBox 47">
              <a:extLst>
                <a:ext uri="{FF2B5EF4-FFF2-40B4-BE49-F238E27FC236}">
                  <a16:creationId xmlns:a16="http://schemas.microsoft.com/office/drawing/2014/main" xmlns="" id="{2922FBD7-E083-B726-CF7B-EB7BCF8A7850}"/>
                </a:ext>
              </a:extLst>
            </p:cNvPr>
            <p:cNvSpPr txBox="1"/>
            <p:nvPr/>
          </p:nvSpPr>
          <p:spPr>
            <a:xfrm>
              <a:off x="500034" y="3837532"/>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D</a:t>
              </a:r>
              <a:endParaRPr lang="zh-CN" altLang="en-US" sz="1600" i="1">
                <a:latin typeface="Consolas" pitchFamily="49" charset="0"/>
                <a:cs typeface="Consolas" pitchFamily="49" charset="0"/>
              </a:endParaRPr>
            </a:p>
          </p:txBody>
        </p:sp>
        <p:sp>
          <p:nvSpPr>
            <p:cNvPr id="70" name="矩形 69">
              <a:extLst>
                <a:ext uri="{FF2B5EF4-FFF2-40B4-BE49-F238E27FC236}">
                  <a16:creationId xmlns:a16="http://schemas.microsoft.com/office/drawing/2014/main" xmlns="" id="{CA4E0EBA-5C50-8930-2E87-CC1CABE06071}"/>
                </a:ext>
              </a:extLst>
            </p:cNvPr>
            <p:cNvSpPr/>
            <p:nvPr/>
          </p:nvSpPr>
          <p:spPr bwMode="auto">
            <a:xfrm>
              <a:off x="835306" y="3908970"/>
              <a:ext cx="2808000" cy="216000"/>
            </a:xfrm>
            <a:prstGeom prst="rect">
              <a:avLst/>
            </a:prstGeom>
            <a:solidFill>
              <a:srgbClr val="7030A0"/>
            </a:solidFill>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72" name="TextBox 49">
              <a:extLst>
                <a:ext uri="{FF2B5EF4-FFF2-40B4-BE49-F238E27FC236}">
                  <a16:creationId xmlns:a16="http://schemas.microsoft.com/office/drawing/2014/main" xmlns="" id="{A2B50BBA-9866-762E-BFE9-D5A6AB652BEC}"/>
                </a:ext>
              </a:extLst>
            </p:cNvPr>
            <p:cNvSpPr txBox="1"/>
            <p:nvPr/>
          </p:nvSpPr>
          <p:spPr>
            <a:xfrm>
              <a:off x="785786" y="4256112"/>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H</a:t>
              </a:r>
              <a:endParaRPr lang="zh-CN" altLang="en-US" sz="1600" i="1">
                <a:latin typeface="Consolas" pitchFamily="49" charset="0"/>
                <a:cs typeface="Consolas" pitchFamily="49" charset="0"/>
              </a:endParaRPr>
            </a:p>
          </p:txBody>
        </p:sp>
        <p:sp>
          <p:nvSpPr>
            <p:cNvPr id="73" name="矩形 72">
              <a:extLst>
                <a:ext uri="{FF2B5EF4-FFF2-40B4-BE49-F238E27FC236}">
                  <a16:creationId xmlns:a16="http://schemas.microsoft.com/office/drawing/2014/main" xmlns="" id="{D05C9465-AC4D-4D05-28DA-1B7DFCD250DF}"/>
                </a:ext>
              </a:extLst>
            </p:cNvPr>
            <p:cNvSpPr/>
            <p:nvPr/>
          </p:nvSpPr>
          <p:spPr bwMode="auto">
            <a:xfrm>
              <a:off x="1123306" y="4256112"/>
              <a:ext cx="2520000" cy="216000"/>
            </a:xfrm>
            <a:prstGeom prst="rect">
              <a:avLst/>
            </a:prstGeom>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74" name="TextBox 51">
              <a:extLst>
                <a:ext uri="{FF2B5EF4-FFF2-40B4-BE49-F238E27FC236}">
                  <a16:creationId xmlns:a16="http://schemas.microsoft.com/office/drawing/2014/main" xmlns="" id="{E6D325E2-248F-207E-BBF5-B7DC4F721A8C}"/>
                </a:ext>
              </a:extLst>
            </p:cNvPr>
            <p:cNvSpPr txBox="1"/>
            <p:nvPr/>
          </p:nvSpPr>
          <p:spPr>
            <a:xfrm>
              <a:off x="785786" y="4624452"/>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I</a:t>
              </a:r>
              <a:endParaRPr lang="zh-CN" altLang="en-US" sz="1600" i="1">
                <a:latin typeface="Consolas" pitchFamily="49" charset="0"/>
                <a:cs typeface="Consolas" pitchFamily="49" charset="0"/>
              </a:endParaRPr>
            </a:p>
          </p:txBody>
        </p:sp>
        <p:sp>
          <p:nvSpPr>
            <p:cNvPr id="75" name="矩形 74">
              <a:extLst>
                <a:ext uri="{FF2B5EF4-FFF2-40B4-BE49-F238E27FC236}">
                  <a16:creationId xmlns:a16="http://schemas.microsoft.com/office/drawing/2014/main" xmlns="" id="{14C8879B-0735-4FA0-B284-0A0F7FA007B5}"/>
                </a:ext>
              </a:extLst>
            </p:cNvPr>
            <p:cNvSpPr/>
            <p:nvPr/>
          </p:nvSpPr>
          <p:spPr bwMode="auto">
            <a:xfrm>
              <a:off x="1123306" y="4624452"/>
              <a:ext cx="2520000" cy="216000"/>
            </a:xfrm>
            <a:prstGeom prst="rect">
              <a:avLst/>
            </a:prstGeom>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76" name="TextBox 53">
              <a:extLst>
                <a:ext uri="{FF2B5EF4-FFF2-40B4-BE49-F238E27FC236}">
                  <a16:creationId xmlns:a16="http://schemas.microsoft.com/office/drawing/2014/main" xmlns="" id="{57C99FD4-9B14-82B2-1B5C-DD989B4244AC}"/>
                </a:ext>
              </a:extLst>
            </p:cNvPr>
            <p:cNvSpPr txBox="1"/>
            <p:nvPr/>
          </p:nvSpPr>
          <p:spPr>
            <a:xfrm>
              <a:off x="928662" y="4951498"/>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K</a:t>
              </a:r>
              <a:endParaRPr lang="zh-CN" altLang="en-US" sz="1600" i="1">
                <a:latin typeface="Consolas" pitchFamily="49" charset="0"/>
                <a:cs typeface="Consolas" pitchFamily="49" charset="0"/>
              </a:endParaRPr>
            </a:p>
          </p:txBody>
        </p:sp>
        <p:sp>
          <p:nvSpPr>
            <p:cNvPr id="77" name="矩形 76">
              <a:extLst>
                <a:ext uri="{FF2B5EF4-FFF2-40B4-BE49-F238E27FC236}">
                  <a16:creationId xmlns:a16="http://schemas.microsoft.com/office/drawing/2014/main" xmlns="" id="{1082C193-04B5-D99C-AF74-BB98F0453365}"/>
                </a:ext>
              </a:extLst>
            </p:cNvPr>
            <p:cNvSpPr/>
            <p:nvPr/>
          </p:nvSpPr>
          <p:spPr bwMode="auto">
            <a:xfrm>
              <a:off x="1303306" y="5022936"/>
              <a:ext cx="2340000" cy="216000"/>
            </a:xfrm>
            <a:prstGeom prst="rect">
              <a:avLst/>
            </a:prstGeom>
            <a:blipFill>
              <a:blip r:embed="rId2" cstate="print"/>
              <a:tile tx="0" ty="0" sx="100000" sy="100000" flip="none" algn="tl"/>
            </a:blipFill>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78" name="TextBox 55">
              <a:extLst>
                <a:ext uri="{FF2B5EF4-FFF2-40B4-BE49-F238E27FC236}">
                  <a16:creationId xmlns:a16="http://schemas.microsoft.com/office/drawing/2014/main" xmlns="" id="{6A322DB3-441F-9511-F1B9-37C4F6954DD0}"/>
                </a:ext>
              </a:extLst>
            </p:cNvPr>
            <p:cNvSpPr txBox="1"/>
            <p:nvPr/>
          </p:nvSpPr>
          <p:spPr>
            <a:xfrm>
              <a:off x="928662" y="5327324"/>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L</a:t>
              </a:r>
              <a:endParaRPr lang="zh-CN" altLang="en-US" sz="1600" i="1">
                <a:latin typeface="Consolas" pitchFamily="49" charset="0"/>
                <a:cs typeface="Consolas" pitchFamily="49" charset="0"/>
              </a:endParaRPr>
            </a:p>
          </p:txBody>
        </p:sp>
        <p:sp>
          <p:nvSpPr>
            <p:cNvPr id="79" name="矩形 78">
              <a:extLst>
                <a:ext uri="{FF2B5EF4-FFF2-40B4-BE49-F238E27FC236}">
                  <a16:creationId xmlns:a16="http://schemas.microsoft.com/office/drawing/2014/main" xmlns="" id="{28832343-A067-6035-A536-683D053E32B7}"/>
                </a:ext>
              </a:extLst>
            </p:cNvPr>
            <p:cNvSpPr/>
            <p:nvPr/>
          </p:nvSpPr>
          <p:spPr bwMode="auto">
            <a:xfrm>
              <a:off x="1303306" y="5398762"/>
              <a:ext cx="2340000" cy="216000"/>
            </a:xfrm>
            <a:prstGeom prst="rect">
              <a:avLst/>
            </a:prstGeom>
            <a:blipFill>
              <a:blip r:embed="rId2" cstate="print"/>
              <a:tile tx="0" ty="0" sx="100000" sy="100000" flip="none" algn="tl"/>
            </a:blipFill>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sp>
          <p:nvSpPr>
            <p:cNvPr id="80" name="TextBox 83">
              <a:extLst>
                <a:ext uri="{FF2B5EF4-FFF2-40B4-BE49-F238E27FC236}">
                  <a16:creationId xmlns:a16="http://schemas.microsoft.com/office/drawing/2014/main" xmlns="" id="{9FD328EE-B423-53F2-35E8-F9B7B9B11805}"/>
                </a:ext>
              </a:extLst>
            </p:cNvPr>
            <p:cNvSpPr txBox="1"/>
            <p:nvPr/>
          </p:nvSpPr>
          <p:spPr>
            <a:xfrm>
              <a:off x="928662" y="5684514"/>
              <a:ext cx="428628" cy="338554"/>
            </a:xfrm>
            <a:prstGeom prst="rect">
              <a:avLst/>
            </a:prstGeom>
            <a:noFill/>
          </p:spPr>
          <p:txBody>
            <a:bodyPr wrap="square" rtlCol="0">
              <a:spAutoFit/>
            </a:bodyPr>
            <a:lstStyle/>
            <a:p>
              <a:r>
                <a:rPr lang="en-US" altLang="zh-CN" sz="1600" i="1">
                  <a:latin typeface="Consolas" pitchFamily="49" charset="0"/>
                  <a:cs typeface="Consolas" pitchFamily="49" charset="0"/>
                </a:rPr>
                <a:t>M</a:t>
              </a:r>
              <a:endParaRPr lang="zh-CN" altLang="en-US" sz="1600" i="1">
                <a:latin typeface="Consolas" pitchFamily="49" charset="0"/>
                <a:cs typeface="Consolas" pitchFamily="49" charset="0"/>
              </a:endParaRPr>
            </a:p>
          </p:txBody>
        </p:sp>
        <p:sp>
          <p:nvSpPr>
            <p:cNvPr id="81" name="矩形 80">
              <a:extLst>
                <a:ext uri="{FF2B5EF4-FFF2-40B4-BE49-F238E27FC236}">
                  <a16:creationId xmlns:a16="http://schemas.microsoft.com/office/drawing/2014/main" xmlns="" id="{0747F13C-E14C-8106-5D68-DE4B50767D5F}"/>
                </a:ext>
              </a:extLst>
            </p:cNvPr>
            <p:cNvSpPr/>
            <p:nvPr/>
          </p:nvSpPr>
          <p:spPr bwMode="auto">
            <a:xfrm>
              <a:off x="1303306" y="5755952"/>
              <a:ext cx="2340000" cy="216000"/>
            </a:xfrm>
            <a:prstGeom prst="rect">
              <a:avLst/>
            </a:prstGeom>
            <a:blipFill>
              <a:blip r:embed="rId2" cstate="print"/>
              <a:tile tx="0" ty="0" sx="100000" sy="100000" flip="none" algn="tl"/>
            </a:blipFill>
            <a:ln>
              <a:noFill/>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1">
              <a:schemeClr val="accent3"/>
            </a:lnRef>
            <a:fillRef idx="2">
              <a:schemeClr val="accent3"/>
            </a:fillRef>
            <a:effectRef idx="1">
              <a:schemeClr val="accent3"/>
            </a:effectRef>
            <a:fontRef idx="minor">
              <a:schemeClr val="dk1"/>
            </a:fontRef>
          </p:style>
          <p:txBody>
            <a:bodyPr wrap="none" rtlCol="0" anchor="ctr"/>
            <a:lstStyle/>
            <a:p>
              <a:pPr algn="ctr"/>
              <a:endParaRPr lang="zh-CN" altLang="en-US">
                <a:latin typeface="Consolas" pitchFamily="49" charset="0"/>
                <a:cs typeface="Consolas" pitchFamily="49" charset="0"/>
              </a:endParaRPr>
            </a:p>
          </p:txBody>
        </p:sp>
      </p:grpSp>
    </p:spTree>
    <p:extLst>
      <p:ext uri="{BB962C8B-B14F-4D97-AF65-F5344CB8AC3E}">
        <p14:creationId xmlns:p14="http://schemas.microsoft.com/office/powerpoint/2010/main" val="2582430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1AEA74E-9572-5E59-DC0F-8566FA954A6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23255379-F09E-2E73-0AEC-73D4FE723D39}"/>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16" name="Rectangle 2">
            <a:extLst>
              <a:ext uri="{FF2B5EF4-FFF2-40B4-BE49-F238E27FC236}">
                <a16:creationId xmlns:a16="http://schemas.microsoft.com/office/drawing/2014/main" xmlns="" id="{8C8CF870-4A9D-01A3-19BB-466B325524F8}"/>
              </a:ext>
            </a:extLst>
          </p:cNvPr>
          <p:cNvSpPr txBox="1">
            <a:spLocks noChangeArrowheads="1"/>
          </p:cNvSpPr>
          <p:nvPr/>
        </p:nvSpPr>
        <p:spPr>
          <a:xfrm>
            <a:off x="79920" y="836712"/>
            <a:ext cx="500796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7.1.2 </a:t>
            </a:r>
            <a:r>
              <a:rPr lang="zh-CN" altLang="en-US" dirty="0"/>
              <a:t>树的（逻辑）表示方法</a:t>
            </a:r>
          </a:p>
        </p:txBody>
      </p:sp>
      <p:cxnSp>
        <p:nvCxnSpPr>
          <p:cNvPr id="71" name="直接连接符 70">
            <a:extLst>
              <a:ext uri="{FF2B5EF4-FFF2-40B4-BE49-F238E27FC236}">
                <a16:creationId xmlns:a16="http://schemas.microsoft.com/office/drawing/2014/main" xmlns="" id="{A5109602-20FE-958A-0845-3560556E2A8A}"/>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8" name="Text Box 1027">
            <a:extLst>
              <a:ext uri="{FF2B5EF4-FFF2-40B4-BE49-F238E27FC236}">
                <a16:creationId xmlns:a16="http://schemas.microsoft.com/office/drawing/2014/main" xmlns="" id="{F8C3D491-3769-D99C-CE43-A795C23BA184}"/>
              </a:ext>
            </a:extLst>
          </p:cNvPr>
          <p:cNvSpPr txBox="1">
            <a:spLocks noChangeArrowheads="1"/>
          </p:cNvSpPr>
          <p:nvPr/>
        </p:nvSpPr>
        <p:spPr bwMode="auto">
          <a:xfrm>
            <a:off x="827942" y="1793581"/>
            <a:ext cx="6700025" cy="883703"/>
          </a:xfrm>
          <a:prstGeom prst="rect">
            <a:avLst/>
          </a:prstGeom>
          <a:noFill/>
          <a:ln w="9525">
            <a:noFill/>
            <a:miter lim="800000"/>
            <a:headEnd/>
            <a:tailEnd/>
          </a:ln>
          <a:effectLst/>
        </p:spPr>
        <p:txBody>
          <a:bodyPr wrap="square">
            <a:spAutoFit/>
          </a:bodyPr>
          <a:lstStyle/>
          <a:p>
            <a:pPr>
              <a:lnSpc>
                <a:spcPts val="3200"/>
              </a:lnSpc>
            </a:pP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4</a:t>
            </a:r>
            <a:r>
              <a:rPr kumimoji="1" lang="zh-CN" altLang="en-US" sz="2400" dirty="0">
                <a:latin typeface="微软雅黑" pitchFamily="34" charset="-122"/>
                <a:ea typeface="微软雅黑" pitchFamily="34" charset="-122"/>
                <a:cs typeface="经典粗黑简" pitchFamily="49" charset="-122"/>
              </a:rPr>
              <a:t>）</a:t>
            </a:r>
            <a:r>
              <a:rPr kumimoji="1" lang="zh-CN" altLang="en-US" sz="2400" dirty="0">
                <a:solidFill>
                  <a:srgbClr val="FF0000"/>
                </a:solidFill>
                <a:latin typeface="Consolas" pitchFamily="49" charset="0"/>
                <a:ea typeface="微软雅黑" pitchFamily="34" charset="-122"/>
                <a:cs typeface="Consolas" pitchFamily="49" charset="0"/>
              </a:rPr>
              <a:t>括号表示法。</a:t>
            </a:r>
            <a:r>
              <a:rPr kumimoji="1" lang="zh-CN" altLang="en-US" sz="2400" dirty="0">
                <a:latin typeface="微软雅黑" pitchFamily="34" charset="-122"/>
                <a:ea typeface="微软雅黑" pitchFamily="34" charset="-122"/>
                <a:cs typeface="经典粗黑简" pitchFamily="49" charset="-122"/>
              </a:rPr>
              <a:t>用一个字符串表示树。   </a:t>
            </a:r>
            <a:endParaRPr kumimoji="1" lang="en-US" altLang="zh-CN" sz="2400" dirty="0">
              <a:latin typeface="微软雅黑" pitchFamily="34" charset="-122"/>
              <a:ea typeface="微软雅黑" pitchFamily="34" charset="-122"/>
              <a:cs typeface="经典粗黑简" pitchFamily="49" charset="-122"/>
            </a:endParaRPr>
          </a:p>
          <a:p>
            <a:pPr>
              <a:lnSpc>
                <a:spcPts val="3200"/>
              </a:lnSpc>
            </a:pPr>
            <a:r>
              <a:rPr kumimoji="1" lang="en-US" altLang="zh-CN" sz="2400" dirty="0">
                <a:latin typeface="微软雅黑" pitchFamily="34" charset="-122"/>
                <a:ea typeface="微软雅黑" pitchFamily="34" charset="-122"/>
                <a:cs typeface="经典粗黑简" pitchFamily="49" charset="-122"/>
              </a:rPr>
              <a:t>         </a:t>
            </a:r>
            <a:r>
              <a:rPr kumimoji="1" lang="zh-CN" altLang="en-US" sz="2400" dirty="0">
                <a:latin typeface="微软雅黑" pitchFamily="34" charset="-122"/>
                <a:ea typeface="微软雅黑" pitchFamily="34" charset="-122"/>
                <a:cs typeface="经典粗黑简" pitchFamily="49" charset="-122"/>
              </a:rPr>
              <a:t>基本形式：根</a:t>
            </a:r>
            <a:r>
              <a:rPr kumimoji="1" lang="en-US" altLang="zh-CN" sz="2400" dirty="0">
                <a:latin typeface="微软雅黑" pitchFamily="34" charset="-122"/>
                <a:ea typeface="微软雅黑" pitchFamily="34" charset="-122"/>
                <a:cs typeface="经典粗黑简" pitchFamily="49" charset="-122"/>
              </a:rPr>
              <a:t>(</a:t>
            </a:r>
            <a:r>
              <a:rPr kumimoji="1" lang="zh-CN" altLang="en-US" sz="2400" dirty="0">
                <a:latin typeface="微软雅黑" pitchFamily="34" charset="-122"/>
                <a:ea typeface="微软雅黑" pitchFamily="34" charset="-122"/>
                <a:cs typeface="经典粗黑简" pitchFamily="49" charset="-122"/>
              </a:rPr>
              <a:t>子树</a:t>
            </a: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，子树</a:t>
            </a:r>
            <a:r>
              <a:rPr kumimoji="1" lang="en-US" altLang="zh-CN" sz="2400" dirty="0">
                <a:latin typeface="微软雅黑" pitchFamily="34" charset="-122"/>
                <a:ea typeface="微软雅黑" pitchFamily="34" charset="-122"/>
                <a:cs typeface="经典粗黑简" pitchFamily="49" charset="-122"/>
              </a:rPr>
              <a:t>2</a:t>
            </a:r>
            <a:r>
              <a:rPr kumimoji="1" lang="zh-CN" altLang="en-US" sz="2400" dirty="0">
                <a:latin typeface="微软雅黑" pitchFamily="34" charset="-122"/>
                <a:ea typeface="微软雅黑" pitchFamily="34" charset="-122"/>
                <a:cs typeface="经典粗黑简" pitchFamily="49" charset="-122"/>
              </a:rPr>
              <a:t>，</a:t>
            </a:r>
            <a:r>
              <a:rPr kumimoji="1" lang="en-US" altLang="zh-CN" sz="2400" dirty="0">
                <a:latin typeface="微软雅黑" pitchFamily="34" charset="-122"/>
                <a:ea typeface="微软雅黑" pitchFamily="34" charset="-122"/>
                <a:cs typeface="经典粗黑简" pitchFamily="49" charset="-122"/>
              </a:rPr>
              <a:t>…</a:t>
            </a:r>
            <a:r>
              <a:rPr kumimoji="1" lang="zh-CN" altLang="en-US" sz="2400" dirty="0">
                <a:latin typeface="微软雅黑" pitchFamily="34" charset="-122"/>
                <a:ea typeface="微软雅黑" pitchFamily="34" charset="-122"/>
                <a:cs typeface="经典粗黑简" pitchFamily="49" charset="-122"/>
              </a:rPr>
              <a:t>，子树</a:t>
            </a:r>
            <a:r>
              <a:rPr kumimoji="1" lang="en-US" altLang="zh-CN" sz="2400" dirty="0">
                <a:latin typeface="微软雅黑" pitchFamily="34" charset="-122"/>
                <a:ea typeface="微软雅黑" pitchFamily="34" charset="-122"/>
                <a:cs typeface="经典粗黑简" pitchFamily="49" charset="-122"/>
              </a:rPr>
              <a:t>m)</a:t>
            </a:r>
            <a:endParaRPr kumimoji="1" lang="zh-CN" altLang="en-US" sz="2400" dirty="0">
              <a:latin typeface="微软雅黑" pitchFamily="34" charset="-122"/>
              <a:ea typeface="微软雅黑" pitchFamily="34" charset="-122"/>
              <a:cs typeface="经典粗黑简" pitchFamily="49" charset="-122"/>
            </a:endParaRPr>
          </a:p>
        </p:txBody>
      </p:sp>
      <p:sp>
        <p:nvSpPr>
          <p:cNvPr id="19" name="Text Box 56">
            <a:extLst>
              <a:ext uri="{FF2B5EF4-FFF2-40B4-BE49-F238E27FC236}">
                <a16:creationId xmlns:a16="http://schemas.microsoft.com/office/drawing/2014/main" xmlns="" id="{46427BDE-D21F-08B6-DB66-75B052AD3B31}"/>
              </a:ext>
            </a:extLst>
          </p:cNvPr>
          <p:cNvSpPr txBox="1">
            <a:spLocks noChangeArrowheads="1"/>
          </p:cNvSpPr>
          <p:nvPr/>
        </p:nvSpPr>
        <p:spPr bwMode="auto">
          <a:xfrm>
            <a:off x="4793409" y="5572820"/>
            <a:ext cx="2436010" cy="461665"/>
          </a:xfrm>
          <a:prstGeom prst="rect">
            <a:avLst/>
          </a:prstGeom>
          <a:noFill/>
          <a:ln w="9525">
            <a:noFill/>
            <a:miter lim="800000"/>
            <a:headEnd/>
            <a:tailEnd/>
          </a:ln>
          <a:effectLst/>
        </p:spPr>
        <p:txBody>
          <a:bodyPr wrap="square">
            <a:spAutoFit/>
          </a:bodyPr>
          <a:lstStyle/>
          <a:p>
            <a:pPr algn="l"/>
            <a:r>
              <a:rPr kumimoji="1" lang="zh-CN" altLang="en-US" sz="2400" dirty="0">
                <a:latin typeface="微软雅黑" pitchFamily="34" charset="-122"/>
                <a:ea typeface="微软雅黑" pitchFamily="34" charset="-122"/>
                <a:cs typeface="经典粗黑简" pitchFamily="49" charset="-122"/>
              </a:rPr>
              <a:t>逻辑结构表示</a:t>
            </a:r>
            <a:r>
              <a:rPr kumimoji="1" lang="en-US" altLang="zh-CN" sz="2400" dirty="0">
                <a:latin typeface="微软雅黑" pitchFamily="34" charset="-122"/>
                <a:ea typeface="微软雅黑" pitchFamily="34" charset="-122"/>
                <a:cs typeface="经典粗黑简" pitchFamily="49" charset="-122"/>
              </a:rPr>
              <a:t>4</a:t>
            </a:r>
          </a:p>
        </p:txBody>
      </p:sp>
      <p:grpSp>
        <p:nvGrpSpPr>
          <p:cNvPr id="3" name="组合 2">
            <a:extLst>
              <a:ext uri="{FF2B5EF4-FFF2-40B4-BE49-F238E27FC236}">
                <a16:creationId xmlns:a16="http://schemas.microsoft.com/office/drawing/2014/main" xmlns="" id="{0818DD9C-7D8B-E0E2-2597-7233D2CFC31C}"/>
              </a:ext>
            </a:extLst>
          </p:cNvPr>
          <p:cNvGrpSpPr/>
          <p:nvPr/>
        </p:nvGrpSpPr>
        <p:grpSpPr>
          <a:xfrm>
            <a:off x="1424390" y="2844988"/>
            <a:ext cx="3816350" cy="2305050"/>
            <a:chOff x="1692275" y="2276475"/>
            <a:chExt cx="3816350" cy="2305050"/>
          </a:xfrm>
        </p:grpSpPr>
        <p:sp>
          <p:nvSpPr>
            <p:cNvPr id="4" name="Freeform 47">
              <a:extLst>
                <a:ext uri="{FF2B5EF4-FFF2-40B4-BE49-F238E27FC236}">
                  <a16:creationId xmlns:a16="http://schemas.microsoft.com/office/drawing/2014/main" xmlns="" id="{7A3319D6-A533-1A3B-7B15-0851BEA93605}"/>
                </a:ext>
              </a:extLst>
            </p:cNvPr>
            <p:cNvSpPr>
              <a:spLocks/>
            </p:cNvSpPr>
            <p:nvPr/>
          </p:nvSpPr>
          <p:spPr bwMode="auto">
            <a:xfrm>
              <a:off x="1931988" y="3286124"/>
              <a:ext cx="211120" cy="300039"/>
            </a:xfrm>
            <a:custGeom>
              <a:avLst/>
              <a:gdLst/>
              <a:ahLst/>
              <a:cxnLst>
                <a:cxn ang="0">
                  <a:pos x="121" y="0"/>
                </a:cxn>
                <a:cxn ang="0">
                  <a:pos x="0" y="144"/>
                </a:cxn>
              </a:cxnLst>
              <a:rect l="0" t="0" r="r" b="b"/>
              <a:pathLst>
                <a:path w="121" h="144">
                  <a:moveTo>
                    <a:pt x="121" y="0"/>
                  </a:moveTo>
                  <a:lnTo>
                    <a:pt x="0" y="144"/>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6" name="Freeform 48">
              <a:extLst>
                <a:ext uri="{FF2B5EF4-FFF2-40B4-BE49-F238E27FC236}">
                  <a16:creationId xmlns:a16="http://schemas.microsoft.com/office/drawing/2014/main" xmlns="" id="{374EDCD7-379D-CB7D-5FC2-A956ED448DB4}"/>
                </a:ext>
              </a:extLst>
            </p:cNvPr>
            <p:cNvSpPr>
              <a:spLocks/>
            </p:cNvSpPr>
            <p:nvPr/>
          </p:nvSpPr>
          <p:spPr bwMode="auto">
            <a:xfrm>
              <a:off x="2357422" y="3248024"/>
              <a:ext cx="214314" cy="323852"/>
            </a:xfrm>
            <a:custGeom>
              <a:avLst/>
              <a:gdLst/>
              <a:ahLst/>
              <a:cxnLst>
                <a:cxn ang="0">
                  <a:pos x="0" y="0"/>
                </a:cxn>
                <a:cxn ang="0">
                  <a:pos x="115" y="147"/>
                </a:cxn>
              </a:cxnLst>
              <a:rect l="0" t="0" r="r" b="b"/>
              <a:pathLst>
                <a:path w="115" h="147">
                  <a:moveTo>
                    <a:pt x="0" y="0"/>
                  </a:moveTo>
                  <a:lnTo>
                    <a:pt x="115" y="147"/>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7" name="Oval 31">
              <a:extLst>
                <a:ext uri="{FF2B5EF4-FFF2-40B4-BE49-F238E27FC236}">
                  <a16:creationId xmlns:a16="http://schemas.microsoft.com/office/drawing/2014/main" xmlns="" id="{CAB1722D-A411-1BD7-7875-0534847C76E6}"/>
                </a:ext>
              </a:extLst>
            </p:cNvPr>
            <p:cNvSpPr>
              <a:spLocks noChangeArrowheads="1"/>
            </p:cNvSpPr>
            <p:nvPr/>
          </p:nvSpPr>
          <p:spPr bwMode="auto">
            <a:xfrm>
              <a:off x="3060700" y="2276475"/>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A</a:t>
              </a:r>
            </a:p>
          </p:txBody>
        </p:sp>
        <p:sp>
          <p:nvSpPr>
            <p:cNvPr id="20" name="Oval 32">
              <a:extLst>
                <a:ext uri="{FF2B5EF4-FFF2-40B4-BE49-F238E27FC236}">
                  <a16:creationId xmlns:a16="http://schemas.microsoft.com/office/drawing/2014/main" xmlns="" id="{511A217C-6ED8-8282-F852-8AA873954DA6}"/>
                </a:ext>
              </a:extLst>
            </p:cNvPr>
            <p:cNvSpPr>
              <a:spLocks noChangeArrowheads="1"/>
            </p:cNvSpPr>
            <p:nvPr/>
          </p:nvSpPr>
          <p:spPr bwMode="auto">
            <a:xfrm>
              <a:off x="2052638" y="2925763"/>
              <a:ext cx="360362"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dirty="0">
                  <a:solidFill>
                    <a:srgbClr val="3333FF"/>
                  </a:solidFill>
                  <a:latin typeface="Consolas" pitchFamily="49" charset="0"/>
                  <a:cs typeface="Consolas" pitchFamily="49" charset="0"/>
                </a:rPr>
                <a:t>B</a:t>
              </a:r>
            </a:p>
          </p:txBody>
        </p:sp>
        <p:sp>
          <p:nvSpPr>
            <p:cNvPr id="21" name="Oval 33">
              <a:extLst>
                <a:ext uri="{FF2B5EF4-FFF2-40B4-BE49-F238E27FC236}">
                  <a16:creationId xmlns:a16="http://schemas.microsoft.com/office/drawing/2014/main" xmlns="" id="{02B13448-2175-BAF2-94B1-377B1E118A9A}"/>
                </a:ext>
              </a:extLst>
            </p:cNvPr>
            <p:cNvSpPr>
              <a:spLocks noChangeArrowheads="1"/>
            </p:cNvSpPr>
            <p:nvPr/>
          </p:nvSpPr>
          <p:spPr bwMode="auto">
            <a:xfrm>
              <a:off x="3060700" y="2925763"/>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C</a:t>
              </a:r>
            </a:p>
          </p:txBody>
        </p:sp>
        <p:sp>
          <p:nvSpPr>
            <p:cNvPr id="22" name="Oval 34">
              <a:extLst>
                <a:ext uri="{FF2B5EF4-FFF2-40B4-BE49-F238E27FC236}">
                  <a16:creationId xmlns:a16="http://schemas.microsoft.com/office/drawing/2014/main" xmlns="" id="{5BA4A337-0CD4-7226-CDF8-3026BB25ED9D}"/>
                </a:ext>
              </a:extLst>
            </p:cNvPr>
            <p:cNvSpPr>
              <a:spLocks noChangeArrowheads="1"/>
            </p:cNvSpPr>
            <p:nvPr/>
          </p:nvSpPr>
          <p:spPr bwMode="auto">
            <a:xfrm>
              <a:off x="4068763" y="29257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D</a:t>
              </a:r>
            </a:p>
          </p:txBody>
        </p:sp>
        <p:sp>
          <p:nvSpPr>
            <p:cNvPr id="23" name="Oval 35">
              <a:extLst>
                <a:ext uri="{FF2B5EF4-FFF2-40B4-BE49-F238E27FC236}">
                  <a16:creationId xmlns:a16="http://schemas.microsoft.com/office/drawing/2014/main" xmlns="" id="{875824BE-7738-8345-B520-8691691F96C0}"/>
                </a:ext>
              </a:extLst>
            </p:cNvPr>
            <p:cNvSpPr>
              <a:spLocks noChangeArrowheads="1"/>
            </p:cNvSpPr>
            <p:nvPr/>
          </p:nvSpPr>
          <p:spPr bwMode="auto">
            <a:xfrm>
              <a:off x="1692275" y="35734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E</a:t>
              </a:r>
            </a:p>
          </p:txBody>
        </p:sp>
        <p:sp>
          <p:nvSpPr>
            <p:cNvPr id="24" name="Oval 36">
              <a:extLst>
                <a:ext uri="{FF2B5EF4-FFF2-40B4-BE49-F238E27FC236}">
                  <a16:creationId xmlns:a16="http://schemas.microsoft.com/office/drawing/2014/main" xmlns="" id="{F3D94BBB-49FB-656E-6059-00384B0FC06E}"/>
                </a:ext>
              </a:extLst>
            </p:cNvPr>
            <p:cNvSpPr>
              <a:spLocks noChangeArrowheads="1"/>
            </p:cNvSpPr>
            <p:nvPr/>
          </p:nvSpPr>
          <p:spPr bwMode="auto">
            <a:xfrm>
              <a:off x="2411413" y="35734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F</a:t>
              </a:r>
            </a:p>
          </p:txBody>
        </p:sp>
        <p:sp>
          <p:nvSpPr>
            <p:cNvPr id="25" name="Oval 37">
              <a:extLst>
                <a:ext uri="{FF2B5EF4-FFF2-40B4-BE49-F238E27FC236}">
                  <a16:creationId xmlns:a16="http://schemas.microsoft.com/office/drawing/2014/main" xmlns="" id="{BDC57142-CE1B-FBF7-A663-2DAC86B63A26}"/>
                </a:ext>
              </a:extLst>
            </p:cNvPr>
            <p:cNvSpPr>
              <a:spLocks noChangeArrowheads="1"/>
            </p:cNvSpPr>
            <p:nvPr/>
          </p:nvSpPr>
          <p:spPr bwMode="auto">
            <a:xfrm>
              <a:off x="3060700" y="35734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G</a:t>
              </a:r>
            </a:p>
          </p:txBody>
        </p:sp>
        <p:sp>
          <p:nvSpPr>
            <p:cNvPr id="26" name="Oval 38">
              <a:extLst>
                <a:ext uri="{FF2B5EF4-FFF2-40B4-BE49-F238E27FC236}">
                  <a16:creationId xmlns:a16="http://schemas.microsoft.com/office/drawing/2014/main" xmlns="" id="{D374C530-EDEF-D9C3-0DAC-9ABA92F17A7F}"/>
                </a:ext>
              </a:extLst>
            </p:cNvPr>
            <p:cNvSpPr>
              <a:spLocks noChangeArrowheads="1"/>
            </p:cNvSpPr>
            <p:nvPr/>
          </p:nvSpPr>
          <p:spPr bwMode="auto">
            <a:xfrm>
              <a:off x="3060700" y="42211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J</a:t>
              </a:r>
            </a:p>
          </p:txBody>
        </p:sp>
        <p:sp>
          <p:nvSpPr>
            <p:cNvPr id="27" name="Oval 39">
              <a:extLst>
                <a:ext uri="{FF2B5EF4-FFF2-40B4-BE49-F238E27FC236}">
                  <a16:creationId xmlns:a16="http://schemas.microsoft.com/office/drawing/2014/main" xmlns="" id="{59BCE0C6-7ACE-24BB-79A3-6E5850F93224}"/>
                </a:ext>
              </a:extLst>
            </p:cNvPr>
            <p:cNvSpPr>
              <a:spLocks noChangeArrowheads="1"/>
            </p:cNvSpPr>
            <p:nvPr/>
          </p:nvSpPr>
          <p:spPr bwMode="auto">
            <a:xfrm>
              <a:off x="3708400" y="35734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dirty="0">
                  <a:solidFill>
                    <a:srgbClr val="3333FF"/>
                  </a:solidFill>
                  <a:latin typeface="Consolas" pitchFamily="49" charset="0"/>
                  <a:cs typeface="Consolas" pitchFamily="49" charset="0"/>
                </a:rPr>
                <a:t>H</a:t>
              </a:r>
            </a:p>
          </p:txBody>
        </p:sp>
        <p:sp>
          <p:nvSpPr>
            <p:cNvPr id="28" name="Oval 40">
              <a:extLst>
                <a:ext uri="{FF2B5EF4-FFF2-40B4-BE49-F238E27FC236}">
                  <a16:creationId xmlns:a16="http://schemas.microsoft.com/office/drawing/2014/main" xmlns="" id="{CBE966D3-0342-3CD3-3DC0-FDB6D8F137A4}"/>
                </a:ext>
              </a:extLst>
            </p:cNvPr>
            <p:cNvSpPr>
              <a:spLocks noChangeArrowheads="1"/>
            </p:cNvSpPr>
            <p:nvPr/>
          </p:nvSpPr>
          <p:spPr bwMode="auto">
            <a:xfrm>
              <a:off x="4500563" y="35734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dirty="0">
                  <a:solidFill>
                    <a:srgbClr val="3333FF"/>
                  </a:solidFill>
                  <a:latin typeface="Consolas" pitchFamily="49" charset="0"/>
                  <a:cs typeface="Consolas" pitchFamily="49" charset="0"/>
                </a:rPr>
                <a:t>I</a:t>
              </a:r>
            </a:p>
          </p:txBody>
        </p:sp>
        <p:sp>
          <p:nvSpPr>
            <p:cNvPr id="29" name="Oval 41">
              <a:extLst>
                <a:ext uri="{FF2B5EF4-FFF2-40B4-BE49-F238E27FC236}">
                  <a16:creationId xmlns:a16="http://schemas.microsoft.com/office/drawing/2014/main" xmlns="" id="{DE5D24CE-0804-97C5-8E93-00779F53ED32}"/>
                </a:ext>
              </a:extLst>
            </p:cNvPr>
            <p:cNvSpPr>
              <a:spLocks noChangeArrowheads="1"/>
            </p:cNvSpPr>
            <p:nvPr/>
          </p:nvSpPr>
          <p:spPr bwMode="auto">
            <a:xfrm>
              <a:off x="3924300" y="42211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K</a:t>
              </a:r>
            </a:p>
          </p:txBody>
        </p:sp>
        <p:sp>
          <p:nvSpPr>
            <p:cNvPr id="30" name="Oval 42">
              <a:extLst>
                <a:ext uri="{FF2B5EF4-FFF2-40B4-BE49-F238E27FC236}">
                  <a16:creationId xmlns:a16="http://schemas.microsoft.com/office/drawing/2014/main" xmlns="" id="{DC24A380-CA09-B4D3-391C-C9EAC904F412}"/>
                </a:ext>
              </a:extLst>
            </p:cNvPr>
            <p:cNvSpPr>
              <a:spLocks noChangeArrowheads="1"/>
            </p:cNvSpPr>
            <p:nvPr/>
          </p:nvSpPr>
          <p:spPr bwMode="auto">
            <a:xfrm>
              <a:off x="4505325" y="4221163"/>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L</a:t>
              </a:r>
            </a:p>
          </p:txBody>
        </p:sp>
        <p:sp>
          <p:nvSpPr>
            <p:cNvPr id="31" name="Oval 43">
              <a:extLst>
                <a:ext uri="{FF2B5EF4-FFF2-40B4-BE49-F238E27FC236}">
                  <a16:creationId xmlns:a16="http://schemas.microsoft.com/office/drawing/2014/main" xmlns="" id="{9C58A589-DF55-AB83-3B44-14770F8890BC}"/>
                </a:ext>
              </a:extLst>
            </p:cNvPr>
            <p:cNvSpPr>
              <a:spLocks noChangeArrowheads="1"/>
            </p:cNvSpPr>
            <p:nvPr/>
          </p:nvSpPr>
          <p:spPr bwMode="auto">
            <a:xfrm>
              <a:off x="5148263" y="4221163"/>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M</a:t>
              </a:r>
            </a:p>
          </p:txBody>
        </p:sp>
        <p:sp>
          <p:nvSpPr>
            <p:cNvPr id="32" name="Line 44">
              <a:extLst>
                <a:ext uri="{FF2B5EF4-FFF2-40B4-BE49-F238E27FC236}">
                  <a16:creationId xmlns:a16="http://schemas.microsoft.com/office/drawing/2014/main" xmlns="" id="{9DF12572-1D39-DD3F-0383-685B9F65895F}"/>
                </a:ext>
              </a:extLst>
            </p:cNvPr>
            <p:cNvSpPr>
              <a:spLocks noChangeShapeType="1"/>
            </p:cNvSpPr>
            <p:nvPr/>
          </p:nvSpPr>
          <p:spPr bwMode="auto">
            <a:xfrm flipH="1">
              <a:off x="2335217" y="2493963"/>
              <a:ext cx="725482" cy="496892"/>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33" name="Line 45">
              <a:extLst>
                <a:ext uri="{FF2B5EF4-FFF2-40B4-BE49-F238E27FC236}">
                  <a16:creationId xmlns:a16="http://schemas.microsoft.com/office/drawing/2014/main" xmlns="" id="{73732BD7-70D5-D7B7-2481-27F83CA81837}"/>
                </a:ext>
              </a:extLst>
            </p:cNvPr>
            <p:cNvSpPr>
              <a:spLocks noChangeShapeType="1"/>
            </p:cNvSpPr>
            <p:nvPr/>
          </p:nvSpPr>
          <p:spPr bwMode="auto">
            <a:xfrm>
              <a:off x="3238500" y="2636838"/>
              <a:ext cx="0" cy="2880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34" name="Line 46">
              <a:extLst>
                <a:ext uri="{FF2B5EF4-FFF2-40B4-BE49-F238E27FC236}">
                  <a16:creationId xmlns:a16="http://schemas.microsoft.com/office/drawing/2014/main" xmlns="" id="{18A41C74-77C6-7F03-FF5F-29629771ED84}"/>
                </a:ext>
              </a:extLst>
            </p:cNvPr>
            <p:cNvSpPr>
              <a:spLocks noChangeShapeType="1"/>
            </p:cNvSpPr>
            <p:nvPr/>
          </p:nvSpPr>
          <p:spPr bwMode="auto">
            <a:xfrm>
              <a:off x="3430588" y="2522538"/>
              <a:ext cx="647700"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35" name="Line 49">
              <a:extLst>
                <a:ext uri="{FF2B5EF4-FFF2-40B4-BE49-F238E27FC236}">
                  <a16:creationId xmlns:a16="http://schemas.microsoft.com/office/drawing/2014/main" xmlns="" id="{40DFF188-F504-FFAF-4B15-F9D720D507D2}"/>
                </a:ext>
              </a:extLst>
            </p:cNvPr>
            <p:cNvSpPr>
              <a:spLocks noChangeShapeType="1"/>
            </p:cNvSpPr>
            <p:nvPr/>
          </p:nvSpPr>
          <p:spPr bwMode="auto">
            <a:xfrm>
              <a:off x="3243263" y="3319463"/>
              <a:ext cx="0" cy="2520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36" name="Line 50">
              <a:extLst>
                <a:ext uri="{FF2B5EF4-FFF2-40B4-BE49-F238E27FC236}">
                  <a16:creationId xmlns:a16="http://schemas.microsoft.com/office/drawing/2014/main" xmlns="" id="{4A71C065-0915-65F0-8E67-386FE52590FE}"/>
                </a:ext>
              </a:extLst>
            </p:cNvPr>
            <p:cNvSpPr>
              <a:spLocks noChangeShapeType="1"/>
            </p:cNvSpPr>
            <p:nvPr/>
          </p:nvSpPr>
          <p:spPr bwMode="auto">
            <a:xfrm>
              <a:off x="3243263" y="3933825"/>
              <a:ext cx="0" cy="28733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82" name="Freeform 51">
              <a:extLst>
                <a:ext uri="{FF2B5EF4-FFF2-40B4-BE49-F238E27FC236}">
                  <a16:creationId xmlns:a16="http://schemas.microsoft.com/office/drawing/2014/main" xmlns="" id="{80EC9C91-3FC5-2ED0-8C9E-6E1A03E7221B}"/>
                </a:ext>
              </a:extLst>
            </p:cNvPr>
            <p:cNvSpPr>
              <a:spLocks/>
            </p:cNvSpPr>
            <p:nvPr/>
          </p:nvSpPr>
          <p:spPr bwMode="auto">
            <a:xfrm>
              <a:off x="3940175" y="3271838"/>
              <a:ext cx="220663" cy="301625"/>
            </a:xfrm>
            <a:custGeom>
              <a:avLst/>
              <a:gdLst/>
              <a:ahLst/>
              <a:cxnLst>
                <a:cxn ang="0">
                  <a:pos x="139" y="0"/>
                </a:cxn>
                <a:cxn ang="0">
                  <a:pos x="0" y="190"/>
                </a:cxn>
              </a:cxnLst>
              <a:rect l="0" t="0" r="r" b="b"/>
              <a:pathLst>
                <a:path w="139" h="190">
                  <a:moveTo>
                    <a:pt x="139" y="0"/>
                  </a:moveTo>
                  <a:lnTo>
                    <a:pt x="0" y="190"/>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83" name="Freeform 52">
              <a:extLst>
                <a:ext uri="{FF2B5EF4-FFF2-40B4-BE49-F238E27FC236}">
                  <a16:creationId xmlns:a16="http://schemas.microsoft.com/office/drawing/2014/main" xmlns="" id="{A608F87B-A2D9-BFB9-DAC0-17812EBBB4A7}"/>
                </a:ext>
              </a:extLst>
            </p:cNvPr>
            <p:cNvSpPr>
              <a:spLocks/>
            </p:cNvSpPr>
            <p:nvPr/>
          </p:nvSpPr>
          <p:spPr bwMode="auto">
            <a:xfrm>
              <a:off x="4379913" y="3243263"/>
              <a:ext cx="265112" cy="330200"/>
            </a:xfrm>
            <a:custGeom>
              <a:avLst/>
              <a:gdLst/>
              <a:ahLst/>
              <a:cxnLst>
                <a:cxn ang="0">
                  <a:pos x="0" y="0"/>
                </a:cxn>
                <a:cxn ang="0">
                  <a:pos x="167" y="208"/>
                </a:cxn>
              </a:cxnLst>
              <a:rect l="0" t="0" r="r" b="b"/>
              <a:pathLst>
                <a:path w="167" h="208">
                  <a:moveTo>
                    <a:pt x="0" y="0"/>
                  </a:moveTo>
                  <a:lnTo>
                    <a:pt x="167" y="208"/>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84" name="Line 53">
              <a:extLst>
                <a:ext uri="{FF2B5EF4-FFF2-40B4-BE49-F238E27FC236}">
                  <a16:creationId xmlns:a16="http://schemas.microsoft.com/office/drawing/2014/main" xmlns="" id="{5C1F4342-8D53-7CEB-49EF-4F45C849A816}"/>
                </a:ext>
              </a:extLst>
            </p:cNvPr>
            <p:cNvSpPr>
              <a:spLocks noChangeShapeType="1"/>
            </p:cNvSpPr>
            <p:nvPr/>
          </p:nvSpPr>
          <p:spPr bwMode="auto">
            <a:xfrm flipH="1">
              <a:off x="4184650" y="3862388"/>
              <a:ext cx="360363" cy="358775"/>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85" name="Line 54">
              <a:extLst>
                <a:ext uri="{FF2B5EF4-FFF2-40B4-BE49-F238E27FC236}">
                  <a16:creationId xmlns:a16="http://schemas.microsoft.com/office/drawing/2014/main" xmlns="" id="{A5F6065C-E574-34CE-48F6-D1ACC7D7FD0F}"/>
                </a:ext>
              </a:extLst>
            </p:cNvPr>
            <p:cNvSpPr>
              <a:spLocks noChangeShapeType="1"/>
            </p:cNvSpPr>
            <p:nvPr/>
          </p:nvSpPr>
          <p:spPr bwMode="auto">
            <a:xfrm>
              <a:off x="4687888" y="3933825"/>
              <a:ext cx="0" cy="28733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86" name="Freeform 55">
              <a:extLst>
                <a:ext uri="{FF2B5EF4-FFF2-40B4-BE49-F238E27FC236}">
                  <a16:creationId xmlns:a16="http://schemas.microsoft.com/office/drawing/2014/main" xmlns="" id="{B722E8F7-B6A1-A171-6EBC-6F245837F4C0}"/>
                </a:ext>
              </a:extLst>
            </p:cNvPr>
            <p:cNvSpPr>
              <a:spLocks/>
            </p:cNvSpPr>
            <p:nvPr/>
          </p:nvSpPr>
          <p:spPr bwMode="auto">
            <a:xfrm>
              <a:off x="4827588" y="3843338"/>
              <a:ext cx="447675" cy="390525"/>
            </a:xfrm>
            <a:custGeom>
              <a:avLst/>
              <a:gdLst/>
              <a:ahLst/>
              <a:cxnLst>
                <a:cxn ang="0">
                  <a:pos x="0" y="0"/>
                </a:cxn>
                <a:cxn ang="0">
                  <a:pos x="282" y="246"/>
                </a:cxn>
              </a:cxnLst>
              <a:rect l="0" t="0" r="r" b="b"/>
              <a:pathLst>
                <a:path w="282" h="246">
                  <a:moveTo>
                    <a:pt x="0" y="0"/>
                  </a:moveTo>
                  <a:lnTo>
                    <a:pt x="282" y="246"/>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grpSp>
      <p:sp>
        <p:nvSpPr>
          <p:cNvPr id="87" name="Text Box 64">
            <a:extLst>
              <a:ext uri="{FF2B5EF4-FFF2-40B4-BE49-F238E27FC236}">
                <a16:creationId xmlns:a16="http://schemas.microsoft.com/office/drawing/2014/main" xmlns="" id="{EBE1E960-E864-68B5-AB4C-C8C9FCC61A5D}"/>
              </a:ext>
            </a:extLst>
          </p:cNvPr>
          <p:cNvSpPr txBox="1">
            <a:spLocks noChangeArrowheads="1"/>
          </p:cNvSpPr>
          <p:nvPr/>
        </p:nvSpPr>
        <p:spPr bwMode="auto">
          <a:xfrm>
            <a:off x="6096000" y="4180366"/>
            <a:ext cx="5929322" cy="400110"/>
          </a:xfrm>
          <a:prstGeom prst="rect">
            <a:avLst/>
          </a:prstGeom>
          <a:noFill/>
          <a:ln w="28575" algn="ctr">
            <a:noFill/>
            <a:miter lim="800000"/>
            <a:headEnd/>
            <a:tailEnd type="none" w="med" len="lg"/>
          </a:ln>
          <a:effectLst/>
        </p:spPr>
        <p:txBody>
          <a:bodyPr wrap="square">
            <a:spAutoFit/>
          </a:bodyPr>
          <a:lstStyle/>
          <a:p>
            <a:pPr>
              <a:spcBef>
                <a:spcPct val="50000"/>
              </a:spcBef>
            </a:pPr>
            <a:r>
              <a:rPr lang="en-US" altLang="zh-CN" sz="2000" b="0" dirty="0">
                <a:latin typeface="Consolas" pitchFamily="49" charset="0"/>
                <a:ea typeface="楷体" pitchFamily="49" charset="-122"/>
                <a:cs typeface="Consolas" pitchFamily="49" charset="0"/>
              </a:rPr>
              <a:t>A(</a:t>
            </a:r>
            <a:r>
              <a:rPr lang="en-US" altLang="zh-CN" sz="2000" b="0" dirty="0">
                <a:solidFill>
                  <a:srgbClr val="CC00FF"/>
                </a:solidFill>
                <a:latin typeface="Consolas" pitchFamily="49" charset="0"/>
                <a:ea typeface="楷体" pitchFamily="49" charset="-122"/>
                <a:cs typeface="Consolas" pitchFamily="49" charset="0"/>
              </a:rPr>
              <a:t>B(E</a:t>
            </a:r>
            <a:r>
              <a:rPr lang="zh-CN" altLang="en-US" sz="2000" b="0" dirty="0">
                <a:solidFill>
                  <a:srgbClr val="CC00FF"/>
                </a:solidFill>
                <a:latin typeface="Consolas" pitchFamily="49" charset="0"/>
                <a:ea typeface="楷体" pitchFamily="49" charset="-122"/>
                <a:cs typeface="Consolas" pitchFamily="49" charset="0"/>
              </a:rPr>
              <a:t>，</a:t>
            </a:r>
            <a:r>
              <a:rPr lang="en-US" altLang="zh-CN" sz="2000" b="0" dirty="0">
                <a:solidFill>
                  <a:srgbClr val="CC00FF"/>
                </a:solidFill>
                <a:latin typeface="Consolas" pitchFamily="49" charset="0"/>
                <a:ea typeface="楷体" pitchFamily="49" charset="-122"/>
                <a:cs typeface="Consolas" pitchFamily="49" charset="0"/>
              </a:rPr>
              <a:t>F)</a:t>
            </a:r>
            <a:r>
              <a:rPr lang="zh-CN" altLang="en-US" sz="2000" b="0" dirty="0">
                <a:solidFill>
                  <a:srgbClr val="CC00FF"/>
                </a:solidFill>
                <a:latin typeface="Consolas" pitchFamily="49" charset="0"/>
                <a:ea typeface="楷体" pitchFamily="49" charset="-122"/>
                <a:cs typeface="Consolas" pitchFamily="49" charset="0"/>
              </a:rPr>
              <a:t>，</a:t>
            </a:r>
            <a:r>
              <a:rPr lang="en-US" altLang="zh-CN" sz="2000" b="0" dirty="0">
                <a:solidFill>
                  <a:srgbClr val="CC00FF"/>
                </a:solidFill>
                <a:latin typeface="Consolas" pitchFamily="49" charset="0"/>
                <a:ea typeface="楷体" pitchFamily="49" charset="-122"/>
                <a:cs typeface="Consolas" pitchFamily="49" charset="0"/>
              </a:rPr>
              <a:t>C(G(J))</a:t>
            </a:r>
            <a:r>
              <a:rPr lang="zh-CN" altLang="en-US" sz="2000" b="0" dirty="0">
                <a:solidFill>
                  <a:srgbClr val="CC00FF"/>
                </a:solidFill>
                <a:latin typeface="Consolas" pitchFamily="49" charset="0"/>
                <a:ea typeface="楷体" pitchFamily="49" charset="-122"/>
                <a:cs typeface="Consolas" pitchFamily="49" charset="0"/>
              </a:rPr>
              <a:t>，</a:t>
            </a:r>
            <a:r>
              <a:rPr lang="en-US" altLang="zh-CN" sz="2000" b="0" dirty="0">
                <a:solidFill>
                  <a:srgbClr val="CC00FF"/>
                </a:solidFill>
                <a:latin typeface="Consolas" pitchFamily="49" charset="0"/>
                <a:ea typeface="楷体" pitchFamily="49" charset="-122"/>
                <a:cs typeface="Consolas" pitchFamily="49" charset="0"/>
              </a:rPr>
              <a:t>D(H</a:t>
            </a:r>
            <a:r>
              <a:rPr lang="zh-CN" altLang="en-US" sz="2000" b="0" dirty="0">
                <a:solidFill>
                  <a:srgbClr val="CC00FF"/>
                </a:solidFill>
                <a:latin typeface="Consolas" pitchFamily="49" charset="0"/>
                <a:ea typeface="楷体" pitchFamily="49" charset="-122"/>
                <a:cs typeface="Consolas" pitchFamily="49" charset="0"/>
              </a:rPr>
              <a:t>，</a:t>
            </a:r>
            <a:r>
              <a:rPr lang="en-US" altLang="zh-CN" sz="2000" b="0" dirty="0">
                <a:solidFill>
                  <a:srgbClr val="CC00FF"/>
                </a:solidFill>
                <a:latin typeface="Consolas" pitchFamily="49" charset="0"/>
                <a:ea typeface="楷体" pitchFamily="49" charset="-122"/>
                <a:cs typeface="Consolas" pitchFamily="49" charset="0"/>
              </a:rPr>
              <a:t>I(K</a:t>
            </a:r>
            <a:r>
              <a:rPr lang="zh-CN" altLang="en-US" sz="2000" b="0" dirty="0">
                <a:solidFill>
                  <a:srgbClr val="CC00FF"/>
                </a:solidFill>
                <a:latin typeface="Consolas" pitchFamily="49" charset="0"/>
                <a:ea typeface="楷体" pitchFamily="49" charset="-122"/>
                <a:cs typeface="Consolas" pitchFamily="49" charset="0"/>
              </a:rPr>
              <a:t>，</a:t>
            </a:r>
            <a:r>
              <a:rPr lang="en-US" altLang="zh-CN" sz="2000" b="0" dirty="0">
                <a:solidFill>
                  <a:srgbClr val="CC00FF"/>
                </a:solidFill>
                <a:latin typeface="Consolas" pitchFamily="49" charset="0"/>
                <a:ea typeface="楷体" pitchFamily="49" charset="-122"/>
                <a:cs typeface="Consolas" pitchFamily="49" charset="0"/>
              </a:rPr>
              <a:t>L</a:t>
            </a:r>
            <a:r>
              <a:rPr lang="zh-CN" altLang="en-US" sz="2000" b="0" dirty="0">
                <a:solidFill>
                  <a:srgbClr val="CC00FF"/>
                </a:solidFill>
                <a:latin typeface="Consolas" pitchFamily="49" charset="0"/>
                <a:ea typeface="楷体" pitchFamily="49" charset="-122"/>
                <a:cs typeface="Consolas" pitchFamily="49" charset="0"/>
              </a:rPr>
              <a:t>，</a:t>
            </a:r>
            <a:r>
              <a:rPr lang="en-US" altLang="zh-CN" sz="2000" b="0" dirty="0">
                <a:solidFill>
                  <a:srgbClr val="CC00FF"/>
                </a:solidFill>
                <a:latin typeface="Consolas" pitchFamily="49" charset="0"/>
                <a:ea typeface="楷体" pitchFamily="49" charset="-122"/>
                <a:cs typeface="Consolas" pitchFamily="49" charset="0"/>
              </a:rPr>
              <a:t>M))</a:t>
            </a:r>
            <a:r>
              <a:rPr lang="en-US" altLang="zh-CN" sz="2000" b="0" dirty="0">
                <a:latin typeface="Consolas" pitchFamily="49" charset="0"/>
                <a:ea typeface="楷体" pitchFamily="49" charset="-122"/>
                <a:cs typeface="Consolas" pitchFamily="49" charset="0"/>
              </a:rPr>
              <a:t>)</a:t>
            </a:r>
          </a:p>
        </p:txBody>
      </p:sp>
      <p:sp>
        <p:nvSpPr>
          <p:cNvPr id="88" name="上弧形箭头 57">
            <a:extLst>
              <a:ext uri="{FF2B5EF4-FFF2-40B4-BE49-F238E27FC236}">
                <a16:creationId xmlns:a16="http://schemas.microsoft.com/office/drawing/2014/main" xmlns="" id="{7FA1617E-D55C-5CCD-5B00-192F4130331C}"/>
              </a:ext>
            </a:extLst>
          </p:cNvPr>
          <p:cNvSpPr/>
          <p:nvPr/>
        </p:nvSpPr>
        <p:spPr>
          <a:xfrm>
            <a:off x="4709009" y="3447728"/>
            <a:ext cx="1643074" cy="571504"/>
          </a:xfrm>
          <a:prstGeom prst="curved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solidFill>
                <a:schemeClr val="tx1"/>
              </a:solidFill>
              <a:latin typeface="Consolas" pitchFamily="49" charset="0"/>
              <a:cs typeface="Consolas" pitchFamily="49" charset="0"/>
            </a:endParaRPr>
          </a:p>
        </p:txBody>
      </p:sp>
    </p:spTree>
    <p:extLst>
      <p:ext uri="{BB962C8B-B14F-4D97-AF65-F5344CB8AC3E}">
        <p14:creationId xmlns:p14="http://schemas.microsoft.com/office/powerpoint/2010/main" val="2674655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Group 4"/>
          <p:cNvGrpSpPr>
            <a:grpSpLocks/>
          </p:cNvGrpSpPr>
          <p:nvPr/>
        </p:nvGrpSpPr>
        <p:grpSpPr bwMode="auto">
          <a:xfrm>
            <a:off x="5807968" y="3815489"/>
            <a:ext cx="4571602" cy="2350282"/>
            <a:chOff x="1728" y="2160"/>
            <a:chExt cx="2680" cy="1301"/>
          </a:xfrm>
        </p:grpSpPr>
        <p:grpSp>
          <p:nvGrpSpPr>
            <p:cNvPr id="74" name="Group 5"/>
            <p:cNvGrpSpPr>
              <a:grpSpLocks/>
            </p:cNvGrpSpPr>
            <p:nvPr/>
          </p:nvGrpSpPr>
          <p:grpSpPr bwMode="auto">
            <a:xfrm>
              <a:off x="4088" y="2855"/>
              <a:ext cx="320" cy="246"/>
              <a:chOff x="2880" y="1103"/>
              <a:chExt cx="367" cy="337"/>
            </a:xfrm>
          </p:grpSpPr>
          <p:sp>
            <p:nvSpPr>
              <p:cNvPr id="123" name="Oval 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24" name="Text Box 7"/>
              <p:cNvSpPr txBox="1">
                <a:spLocks noChangeArrowheads="1"/>
              </p:cNvSpPr>
              <p:nvPr/>
            </p:nvSpPr>
            <p:spPr bwMode="auto">
              <a:xfrm>
                <a:off x="2928" y="1103"/>
                <a:ext cx="31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J</a:t>
                </a:r>
              </a:p>
            </p:txBody>
          </p:sp>
        </p:grpSp>
        <p:grpSp>
          <p:nvGrpSpPr>
            <p:cNvPr id="75" name="Group 8"/>
            <p:cNvGrpSpPr>
              <a:grpSpLocks/>
            </p:cNvGrpSpPr>
            <p:nvPr/>
          </p:nvGrpSpPr>
          <p:grpSpPr bwMode="auto">
            <a:xfrm>
              <a:off x="3750" y="2858"/>
              <a:ext cx="320" cy="245"/>
              <a:chOff x="2880" y="1104"/>
              <a:chExt cx="367" cy="336"/>
            </a:xfrm>
          </p:grpSpPr>
          <p:sp>
            <p:nvSpPr>
              <p:cNvPr id="121" name="Oval 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22" name="Text Box 10"/>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I</a:t>
                </a:r>
              </a:p>
            </p:txBody>
          </p:sp>
        </p:grpSp>
        <p:grpSp>
          <p:nvGrpSpPr>
            <p:cNvPr id="76" name="Group 11"/>
            <p:cNvGrpSpPr>
              <a:grpSpLocks/>
            </p:cNvGrpSpPr>
            <p:nvPr/>
          </p:nvGrpSpPr>
          <p:grpSpPr bwMode="auto">
            <a:xfrm>
              <a:off x="2982" y="2160"/>
              <a:ext cx="320" cy="245"/>
              <a:chOff x="2880" y="1104"/>
              <a:chExt cx="367" cy="336"/>
            </a:xfrm>
          </p:grpSpPr>
          <p:sp>
            <p:nvSpPr>
              <p:cNvPr id="119" name="Oval 1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20" name="Text Box 13"/>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A</a:t>
                </a:r>
              </a:p>
            </p:txBody>
          </p:sp>
        </p:grpSp>
        <p:grpSp>
          <p:nvGrpSpPr>
            <p:cNvPr id="77" name="Group 14"/>
            <p:cNvGrpSpPr>
              <a:grpSpLocks/>
            </p:cNvGrpSpPr>
            <p:nvPr/>
          </p:nvGrpSpPr>
          <p:grpSpPr bwMode="auto">
            <a:xfrm>
              <a:off x="2982" y="2497"/>
              <a:ext cx="320" cy="245"/>
              <a:chOff x="2880" y="1104"/>
              <a:chExt cx="367" cy="336"/>
            </a:xfrm>
          </p:grpSpPr>
          <p:sp>
            <p:nvSpPr>
              <p:cNvPr id="117" name="Oval 1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8" name="Text Box 16"/>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C</a:t>
                </a:r>
              </a:p>
            </p:txBody>
          </p:sp>
        </p:grpSp>
        <p:grpSp>
          <p:nvGrpSpPr>
            <p:cNvPr id="78" name="Group 17"/>
            <p:cNvGrpSpPr>
              <a:grpSpLocks/>
            </p:cNvGrpSpPr>
            <p:nvPr/>
          </p:nvGrpSpPr>
          <p:grpSpPr bwMode="auto">
            <a:xfrm>
              <a:off x="2304" y="2497"/>
              <a:ext cx="320" cy="245"/>
              <a:chOff x="2880" y="1104"/>
              <a:chExt cx="367" cy="336"/>
            </a:xfrm>
          </p:grpSpPr>
          <p:sp>
            <p:nvSpPr>
              <p:cNvPr id="115" name="Oval 1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6" name="Text Box 19"/>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B</a:t>
                </a:r>
              </a:p>
            </p:txBody>
          </p:sp>
        </p:grpSp>
        <p:grpSp>
          <p:nvGrpSpPr>
            <p:cNvPr id="79" name="Group 20"/>
            <p:cNvGrpSpPr>
              <a:grpSpLocks/>
            </p:cNvGrpSpPr>
            <p:nvPr/>
          </p:nvGrpSpPr>
          <p:grpSpPr bwMode="auto">
            <a:xfrm>
              <a:off x="3750" y="2497"/>
              <a:ext cx="320" cy="245"/>
              <a:chOff x="2880" y="1104"/>
              <a:chExt cx="367" cy="336"/>
            </a:xfrm>
          </p:grpSpPr>
          <p:sp>
            <p:nvSpPr>
              <p:cNvPr id="113" name="Oval 2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4" name="Text Box 22"/>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D</a:t>
                </a:r>
              </a:p>
            </p:txBody>
          </p:sp>
        </p:grpSp>
        <p:grpSp>
          <p:nvGrpSpPr>
            <p:cNvPr id="80" name="Group 23"/>
            <p:cNvGrpSpPr>
              <a:grpSpLocks/>
            </p:cNvGrpSpPr>
            <p:nvPr/>
          </p:nvGrpSpPr>
          <p:grpSpPr bwMode="auto">
            <a:xfrm>
              <a:off x="3408" y="2858"/>
              <a:ext cx="320" cy="245"/>
              <a:chOff x="2880" y="1104"/>
              <a:chExt cx="367" cy="336"/>
            </a:xfrm>
          </p:grpSpPr>
          <p:sp>
            <p:nvSpPr>
              <p:cNvPr id="111" name="Oval 2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2" name="Text Box 25"/>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H</a:t>
                </a:r>
              </a:p>
            </p:txBody>
          </p:sp>
        </p:grpSp>
        <p:grpSp>
          <p:nvGrpSpPr>
            <p:cNvPr id="81" name="Group 26"/>
            <p:cNvGrpSpPr>
              <a:grpSpLocks/>
            </p:cNvGrpSpPr>
            <p:nvPr/>
          </p:nvGrpSpPr>
          <p:grpSpPr bwMode="auto">
            <a:xfrm>
              <a:off x="2982" y="2858"/>
              <a:ext cx="320" cy="245"/>
              <a:chOff x="2880" y="1104"/>
              <a:chExt cx="367" cy="336"/>
            </a:xfrm>
          </p:grpSpPr>
          <p:sp>
            <p:nvSpPr>
              <p:cNvPr id="109" name="Oval 2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0" name="Text Box 28"/>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G</a:t>
                </a:r>
              </a:p>
            </p:txBody>
          </p:sp>
        </p:grpSp>
        <p:grpSp>
          <p:nvGrpSpPr>
            <p:cNvPr id="82" name="Group 29"/>
            <p:cNvGrpSpPr>
              <a:grpSpLocks/>
            </p:cNvGrpSpPr>
            <p:nvPr/>
          </p:nvGrpSpPr>
          <p:grpSpPr bwMode="auto">
            <a:xfrm>
              <a:off x="2502" y="2858"/>
              <a:ext cx="320" cy="245"/>
              <a:chOff x="2880" y="1104"/>
              <a:chExt cx="367" cy="336"/>
            </a:xfrm>
          </p:grpSpPr>
          <p:sp>
            <p:nvSpPr>
              <p:cNvPr id="107" name="Oval 3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8" name="Text Box 31"/>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F</a:t>
                </a:r>
              </a:p>
            </p:txBody>
          </p:sp>
        </p:grpSp>
        <p:grpSp>
          <p:nvGrpSpPr>
            <p:cNvPr id="83" name="Group 32"/>
            <p:cNvGrpSpPr>
              <a:grpSpLocks/>
            </p:cNvGrpSpPr>
            <p:nvPr/>
          </p:nvGrpSpPr>
          <p:grpSpPr bwMode="auto">
            <a:xfrm>
              <a:off x="2016" y="2858"/>
              <a:ext cx="320" cy="245"/>
              <a:chOff x="2880" y="1104"/>
              <a:chExt cx="367" cy="336"/>
            </a:xfrm>
          </p:grpSpPr>
          <p:sp>
            <p:nvSpPr>
              <p:cNvPr id="105" name="Oval 3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6" name="Text Box 34"/>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E</a:t>
                </a:r>
              </a:p>
            </p:txBody>
          </p:sp>
        </p:grpSp>
        <p:sp>
          <p:nvSpPr>
            <p:cNvPr id="84" name="Line 35"/>
            <p:cNvSpPr>
              <a:spLocks noChangeShapeType="1"/>
            </p:cNvSpPr>
            <p:nvPr/>
          </p:nvSpPr>
          <p:spPr bwMode="auto">
            <a:xfrm>
              <a:off x="3126" y="2400"/>
              <a:ext cx="0" cy="96"/>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36"/>
            <p:cNvSpPr>
              <a:spLocks noChangeShapeType="1"/>
            </p:cNvSpPr>
            <p:nvPr/>
          </p:nvSpPr>
          <p:spPr bwMode="auto">
            <a:xfrm flipH="1">
              <a:off x="2550" y="2304"/>
              <a:ext cx="432"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37"/>
            <p:cNvSpPr>
              <a:spLocks noChangeShapeType="1"/>
            </p:cNvSpPr>
            <p:nvPr/>
          </p:nvSpPr>
          <p:spPr bwMode="auto">
            <a:xfrm flipH="1">
              <a:off x="2247" y="2729"/>
              <a:ext cx="132"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38"/>
            <p:cNvSpPr>
              <a:spLocks noChangeShapeType="1"/>
            </p:cNvSpPr>
            <p:nvPr/>
          </p:nvSpPr>
          <p:spPr bwMode="auto">
            <a:xfrm>
              <a:off x="2532" y="2729"/>
              <a:ext cx="114"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39"/>
            <p:cNvSpPr>
              <a:spLocks noChangeShapeType="1"/>
            </p:cNvSpPr>
            <p:nvPr/>
          </p:nvSpPr>
          <p:spPr bwMode="auto">
            <a:xfrm>
              <a:off x="3126"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40"/>
            <p:cNvSpPr>
              <a:spLocks noChangeShapeType="1"/>
            </p:cNvSpPr>
            <p:nvPr/>
          </p:nvSpPr>
          <p:spPr bwMode="auto">
            <a:xfrm>
              <a:off x="3258" y="2310"/>
              <a:ext cx="492" cy="28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Line 41"/>
            <p:cNvSpPr>
              <a:spLocks noChangeShapeType="1"/>
            </p:cNvSpPr>
            <p:nvPr/>
          </p:nvSpPr>
          <p:spPr bwMode="auto">
            <a:xfrm flipH="1">
              <a:off x="3606"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 name="Line 42"/>
            <p:cNvSpPr>
              <a:spLocks noChangeShapeType="1"/>
            </p:cNvSpPr>
            <p:nvPr/>
          </p:nvSpPr>
          <p:spPr bwMode="auto">
            <a:xfrm>
              <a:off x="3894"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43"/>
            <p:cNvSpPr>
              <a:spLocks noChangeShapeType="1"/>
            </p:cNvSpPr>
            <p:nvPr/>
          </p:nvSpPr>
          <p:spPr bwMode="auto">
            <a:xfrm>
              <a:off x="3990"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3" name="Group 44"/>
            <p:cNvGrpSpPr>
              <a:grpSpLocks/>
            </p:cNvGrpSpPr>
            <p:nvPr/>
          </p:nvGrpSpPr>
          <p:grpSpPr bwMode="auto">
            <a:xfrm>
              <a:off x="1728" y="3216"/>
              <a:ext cx="320" cy="245"/>
              <a:chOff x="2880" y="1104"/>
              <a:chExt cx="367" cy="336"/>
            </a:xfrm>
          </p:grpSpPr>
          <p:sp>
            <p:nvSpPr>
              <p:cNvPr id="103" name="Oval 4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4" name="Text Box 46"/>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K</a:t>
                </a:r>
              </a:p>
            </p:txBody>
          </p:sp>
        </p:grpSp>
        <p:sp>
          <p:nvSpPr>
            <p:cNvPr id="94" name="Line 47"/>
            <p:cNvSpPr>
              <a:spLocks noChangeShapeType="1"/>
            </p:cNvSpPr>
            <p:nvPr/>
          </p:nvSpPr>
          <p:spPr bwMode="auto">
            <a:xfrm flipH="1">
              <a:off x="1926" y="3058"/>
              <a:ext cx="144" cy="18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5" name="Group 48"/>
            <p:cNvGrpSpPr>
              <a:grpSpLocks/>
            </p:cNvGrpSpPr>
            <p:nvPr/>
          </p:nvGrpSpPr>
          <p:grpSpPr bwMode="auto">
            <a:xfrm>
              <a:off x="2256" y="3216"/>
              <a:ext cx="320" cy="245"/>
              <a:chOff x="2880" y="1104"/>
              <a:chExt cx="367" cy="336"/>
            </a:xfrm>
          </p:grpSpPr>
          <p:sp>
            <p:nvSpPr>
              <p:cNvPr id="101" name="Oval 4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2" name="Text Box 50"/>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L</a:t>
                </a:r>
              </a:p>
            </p:txBody>
          </p:sp>
        </p:grpSp>
        <p:sp>
          <p:nvSpPr>
            <p:cNvPr id="96" name="Line 51"/>
            <p:cNvSpPr>
              <a:spLocks noChangeShapeType="1"/>
            </p:cNvSpPr>
            <p:nvPr/>
          </p:nvSpPr>
          <p:spPr bwMode="auto">
            <a:xfrm>
              <a:off x="2247" y="3058"/>
              <a:ext cx="132" cy="158"/>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7" name="Group 52"/>
            <p:cNvGrpSpPr>
              <a:grpSpLocks/>
            </p:cNvGrpSpPr>
            <p:nvPr/>
          </p:nvGrpSpPr>
          <p:grpSpPr bwMode="auto">
            <a:xfrm>
              <a:off x="3408" y="3216"/>
              <a:ext cx="320" cy="245"/>
              <a:chOff x="2880" y="1104"/>
              <a:chExt cx="367" cy="336"/>
            </a:xfrm>
          </p:grpSpPr>
          <p:sp>
            <p:nvSpPr>
              <p:cNvPr id="99" name="Oval 5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0" name="Text Box 54"/>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M</a:t>
                </a:r>
              </a:p>
            </p:txBody>
          </p:sp>
        </p:grpSp>
        <p:sp>
          <p:nvSpPr>
            <p:cNvPr id="98" name="Line 55"/>
            <p:cNvSpPr>
              <a:spLocks noChangeShapeType="1"/>
            </p:cNvSpPr>
            <p:nvPr/>
          </p:nvSpPr>
          <p:spPr bwMode="auto">
            <a:xfrm>
              <a:off x="3552" y="3094"/>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 name="矩形 4"/>
          <p:cNvSpPr/>
          <p:nvPr/>
        </p:nvSpPr>
        <p:spPr>
          <a:xfrm>
            <a:off x="2415854" y="1626532"/>
            <a:ext cx="9008738" cy="1323439"/>
          </a:xfrm>
          <a:prstGeom prst="rect">
            <a:avLst/>
          </a:prstGeom>
        </p:spPr>
        <p:txBody>
          <a:bodyPr wrap="square">
            <a:spAutoFit/>
          </a:bodyPr>
          <a:lstStyle/>
          <a:p>
            <a:pPr>
              <a:defRPr/>
            </a:pPr>
            <a:r>
              <a:rPr kumimoji="1" lang="zh-CN" altLang="en-US" sz="2000" dirty="0">
                <a:solidFill>
                  <a:srgbClr val="FF0000"/>
                </a:solidFill>
                <a:latin typeface="微软雅黑" pitchFamily="34" charset="-122"/>
                <a:ea typeface="微软雅黑" pitchFamily="34" charset="-122"/>
                <a:cs typeface="经典粗黑简" pitchFamily="49" charset="-122"/>
              </a:rPr>
              <a:t>结点的度</a:t>
            </a:r>
            <a:r>
              <a:rPr kumimoji="1" lang="zh-CN" altLang="en-US" sz="2000" dirty="0">
                <a:latin typeface="微软雅黑" pitchFamily="34" charset="-122"/>
                <a:ea typeface="微软雅黑" pitchFamily="34" charset="-122"/>
                <a:cs typeface="经典粗黑简" pitchFamily="49" charset="-122"/>
              </a:rPr>
              <a:t>：结点所拥有的子树的个数。</a:t>
            </a:r>
          </a:p>
          <a:p>
            <a:pPr>
              <a:defRPr/>
            </a:pPr>
            <a:r>
              <a:rPr kumimoji="1" lang="zh-CN" altLang="en-US" sz="2000" dirty="0">
                <a:solidFill>
                  <a:srgbClr val="FF0000"/>
                </a:solidFill>
                <a:latin typeface="微软雅黑" pitchFamily="34" charset="-122"/>
                <a:ea typeface="微软雅黑" pitchFamily="34" charset="-122"/>
                <a:cs typeface="经典粗黑简" pitchFamily="49" charset="-122"/>
              </a:rPr>
              <a:t>叶子结点</a:t>
            </a:r>
            <a:r>
              <a:rPr kumimoji="1" lang="zh-CN" altLang="en-US" sz="2000" dirty="0">
                <a:latin typeface="微软雅黑" pitchFamily="34" charset="-122"/>
                <a:ea typeface="微软雅黑" pitchFamily="34" charset="-122"/>
                <a:cs typeface="经典粗黑简" pitchFamily="49" charset="-122"/>
              </a:rPr>
              <a:t>：度为</a:t>
            </a:r>
            <a:r>
              <a:rPr kumimoji="1" lang="en-US" altLang="zh-CN" sz="2000" dirty="0">
                <a:latin typeface="微软雅黑" pitchFamily="34" charset="-122"/>
                <a:ea typeface="微软雅黑" pitchFamily="34" charset="-122"/>
                <a:cs typeface="经典粗黑简" pitchFamily="49" charset="-122"/>
              </a:rPr>
              <a:t>0</a:t>
            </a:r>
            <a:r>
              <a:rPr kumimoji="1" lang="zh-CN" altLang="en-US" sz="2000" dirty="0">
                <a:latin typeface="微软雅黑" pitchFamily="34" charset="-122"/>
                <a:ea typeface="微软雅黑" pitchFamily="34" charset="-122"/>
                <a:cs typeface="经典粗黑简" pitchFamily="49" charset="-122"/>
              </a:rPr>
              <a:t>的结点，也称为</a:t>
            </a:r>
            <a:r>
              <a:rPr kumimoji="1" lang="zh-CN" altLang="en-US" sz="2000" dirty="0">
                <a:solidFill>
                  <a:srgbClr val="FF0000"/>
                </a:solidFill>
                <a:latin typeface="微软雅黑" pitchFamily="34" charset="-122"/>
                <a:ea typeface="微软雅黑" pitchFamily="34" charset="-122"/>
                <a:cs typeface="经典粗黑简" pitchFamily="49" charset="-122"/>
              </a:rPr>
              <a:t>终端结点</a:t>
            </a:r>
            <a:r>
              <a:rPr kumimoji="1" lang="zh-CN" altLang="en-US" sz="2000" dirty="0">
                <a:latin typeface="微软雅黑" pitchFamily="34" charset="-122"/>
                <a:ea typeface="微软雅黑" pitchFamily="34" charset="-122"/>
                <a:cs typeface="经典粗黑简" pitchFamily="49" charset="-122"/>
              </a:rPr>
              <a:t>。</a:t>
            </a:r>
          </a:p>
          <a:p>
            <a:pPr>
              <a:defRPr/>
            </a:pPr>
            <a:r>
              <a:rPr kumimoji="1" lang="zh-CN" altLang="en-US" sz="2000" dirty="0">
                <a:solidFill>
                  <a:srgbClr val="FF0000"/>
                </a:solidFill>
                <a:latin typeface="微软雅黑" pitchFamily="34" charset="-122"/>
                <a:ea typeface="微软雅黑" pitchFamily="34" charset="-122"/>
                <a:cs typeface="经典粗黑简" pitchFamily="49" charset="-122"/>
              </a:rPr>
              <a:t>分支结点</a:t>
            </a:r>
            <a:r>
              <a:rPr kumimoji="1" lang="zh-CN" altLang="en-US" sz="2000" dirty="0">
                <a:latin typeface="微软雅黑" pitchFamily="34" charset="-122"/>
                <a:ea typeface="微软雅黑" pitchFamily="34" charset="-122"/>
                <a:cs typeface="经典粗黑简" pitchFamily="49" charset="-122"/>
              </a:rPr>
              <a:t>：度不为0的结点，也称为</a:t>
            </a:r>
            <a:r>
              <a:rPr kumimoji="1" lang="zh-CN" altLang="en-US" sz="2000" dirty="0">
                <a:solidFill>
                  <a:srgbClr val="FF0000"/>
                </a:solidFill>
                <a:latin typeface="微软雅黑" pitchFamily="34" charset="-122"/>
                <a:ea typeface="微软雅黑" pitchFamily="34" charset="-122"/>
                <a:cs typeface="经典粗黑简" pitchFamily="49" charset="-122"/>
              </a:rPr>
              <a:t>非终端结点</a:t>
            </a:r>
            <a:r>
              <a:rPr kumimoji="1" lang="zh-CN" altLang="en-US" sz="2000" dirty="0">
                <a:latin typeface="微软雅黑" pitchFamily="34" charset="-122"/>
                <a:ea typeface="微软雅黑" pitchFamily="34" charset="-122"/>
                <a:cs typeface="经典粗黑简" pitchFamily="49" charset="-122"/>
              </a:rPr>
              <a:t>。度为</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的结点称为</a:t>
            </a:r>
            <a:r>
              <a:rPr kumimoji="1" lang="zh-CN" altLang="en-US" sz="2000" dirty="0">
                <a:solidFill>
                  <a:srgbClr val="FF0000"/>
                </a:solidFill>
                <a:latin typeface="微软雅黑" pitchFamily="34" charset="-122"/>
                <a:ea typeface="微软雅黑" pitchFamily="34" charset="-122"/>
                <a:cs typeface="经典粗黑简" pitchFamily="49" charset="-122"/>
              </a:rPr>
              <a:t>单分支结点</a:t>
            </a:r>
            <a:r>
              <a:rPr kumimoji="1" lang="zh-CN" altLang="en-US" sz="2000" dirty="0">
                <a:latin typeface="微软雅黑" pitchFamily="34" charset="-122"/>
                <a:ea typeface="微软雅黑" pitchFamily="34" charset="-122"/>
                <a:cs typeface="经典粗黑简" pitchFamily="49" charset="-122"/>
              </a:rPr>
              <a:t>；度为</a:t>
            </a: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的结点称为</a:t>
            </a:r>
            <a:r>
              <a:rPr kumimoji="1" lang="zh-CN" altLang="en-US" sz="2000" dirty="0">
                <a:solidFill>
                  <a:srgbClr val="FF0000"/>
                </a:solidFill>
                <a:latin typeface="微软雅黑" pitchFamily="34" charset="-122"/>
                <a:ea typeface="微软雅黑" pitchFamily="34" charset="-122"/>
                <a:cs typeface="经典粗黑简" pitchFamily="49" charset="-122"/>
              </a:rPr>
              <a:t>双分支结点</a:t>
            </a:r>
            <a:r>
              <a:rPr kumimoji="1" lang="zh-CN" altLang="en-US" sz="2000" dirty="0">
                <a:latin typeface="微软雅黑" pitchFamily="34" charset="-122"/>
                <a:ea typeface="微软雅黑" pitchFamily="34" charset="-122"/>
                <a:cs typeface="经典粗黑简" pitchFamily="49" charset="-122"/>
              </a:rPr>
              <a:t>，依此类推。</a:t>
            </a:r>
          </a:p>
        </p:txBody>
      </p:sp>
      <p:sp>
        <p:nvSpPr>
          <p:cNvPr id="8" name="矩形 7"/>
          <p:cNvSpPr/>
          <p:nvPr/>
        </p:nvSpPr>
        <p:spPr>
          <a:xfrm>
            <a:off x="2437657" y="3105627"/>
            <a:ext cx="8576689" cy="707886"/>
          </a:xfrm>
          <a:prstGeom prst="rect">
            <a:avLst/>
          </a:prstGeom>
        </p:spPr>
        <p:txBody>
          <a:bodyPr wrap="square">
            <a:spAutoFit/>
          </a:bodyPr>
          <a:lstStyle/>
          <a:p>
            <a:pPr>
              <a:defRPr/>
            </a:pPr>
            <a:r>
              <a:rPr kumimoji="1" lang="zh-CN" altLang="en-US" sz="2000" dirty="0">
                <a:solidFill>
                  <a:srgbClr val="FF0000"/>
                </a:solidFill>
                <a:latin typeface="微软雅黑" pitchFamily="34" charset="-122"/>
                <a:ea typeface="微软雅黑" pitchFamily="34" charset="-122"/>
                <a:cs typeface="经典粗黑简" pitchFamily="49" charset="-122"/>
              </a:rPr>
              <a:t>孩子、双亲</a:t>
            </a:r>
            <a:r>
              <a:rPr kumimoji="1" lang="zh-CN" altLang="en-US" sz="2000" dirty="0">
                <a:latin typeface="微软雅黑" pitchFamily="34" charset="-122"/>
                <a:ea typeface="微软雅黑" pitchFamily="34" charset="-122"/>
                <a:cs typeface="经典粗黑简" pitchFamily="49" charset="-122"/>
              </a:rPr>
              <a:t>：树中某结点子树的根结点称为这个结点的孩子结点，这个结点称为它孩子结点的双亲结点；</a:t>
            </a:r>
          </a:p>
        </p:txBody>
      </p:sp>
      <p:sp>
        <p:nvSpPr>
          <p:cNvPr id="11" name="矩形 10"/>
          <p:cNvSpPr/>
          <p:nvPr/>
        </p:nvSpPr>
        <p:spPr>
          <a:xfrm>
            <a:off x="2405112" y="4094477"/>
            <a:ext cx="3810548" cy="1538370"/>
          </a:xfrm>
          <a:prstGeom prst="rect">
            <a:avLst/>
          </a:prstGeom>
        </p:spPr>
        <p:txBody>
          <a:bodyPr wrap="square">
            <a:spAutoFit/>
          </a:bodyPr>
          <a:lstStyle/>
          <a:p>
            <a:pPr>
              <a:lnSpc>
                <a:spcPct val="120000"/>
              </a:lnSpc>
              <a:buFontTx/>
              <a:buNone/>
            </a:pPr>
            <a:r>
              <a:rPr kumimoji="1" lang="zh-CN" altLang="en-US" sz="2000" dirty="0">
                <a:latin typeface="微软雅黑" pitchFamily="34" charset="-122"/>
                <a:ea typeface="微软雅黑" pitchFamily="34" charset="-122"/>
                <a:cs typeface="经典粗黑简" pitchFamily="49" charset="-122"/>
              </a:rPr>
              <a:t>从逻辑结构看：</a:t>
            </a:r>
            <a:br>
              <a:rPr kumimoji="1" lang="zh-CN" altLang="en-US" sz="2000" dirty="0">
                <a:latin typeface="微软雅黑" pitchFamily="34" charset="-122"/>
                <a:ea typeface="微软雅黑" pitchFamily="34" charset="-122"/>
                <a:cs typeface="经典粗黑简" pitchFamily="49" charset="-122"/>
              </a:rPr>
            </a:b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）树中只有树根没有父结点；</a:t>
            </a:r>
            <a:br>
              <a:rPr kumimoji="1" lang="zh-CN" altLang="en-US" sz="2000" dirty="0">
                <a:latin typeface="微软雅黑" pitchFamily="34" charset="-122"/>
                <a:ea typeface="微软雅黑" pitchFamily="34" charset="-122"/>
                <a:cs typeface="经典粗黑简" pitchFamily="49" charset="-122"/>
              </a:rPr>
            </a:b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）除根外，其余结点都有且仅一个父结点；</a:t>
            </a:r>
          </a:p>
        </p:txBody>
      </p:sp>
      <p:sp>
        <p:nvSpPr>
          <p:cNvPr id="3" name="矩形 2">
            <a:extLst>
              <a:ext uri="{FF2B5EF4-FFF2-40B4-BE49-F238E27FC236}">
                <a16:creationId xmlns:a16="http://schemas.microsoft.com/office/drawing/2014/main" xmlns="" id="{877B6B50-2B64-85A6-88B8-C9EBE6C0F335}"/>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4" name="Rectangle 2">
            <a:extLst>
              <a:ext uri="{FF2B5EF4-FFF2-40B4-BE49-F238E27FC236}">
                <a16:creationId xmlns:a16="http://schemas.microsoft.com/office/drawing/2014/main" xmlns="" id="{FD1E3EAA-FF20-7A45-4D4E-A4E8C8397D38}"/>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7.1.3 </a:t>
            </a:r>
            <a:r>
              <a:rPr lang="zh-CN" altLang="en-US" dirty="0"/>
              <a:t>树的基本术语</a:t>
            </a:r>
          </a:p>
        </p:txBody>
      </p:sp>
      <p:cxnSp>
        <p:nvCxnSpPr>
          <p:cNvPr id="6" name="直接连接符 5">
            <a:extLst>
              <a:ext uri="{FF2B5EF4-FFF2-40B4-BE49-F238E27FC236}">
                <a16:creationId xmlns:a16="http://schemas.microsoft.com/office/drawing/2014/main" xmlns="" id="{3FBA7921-E7AA-1523-96A7-4B4965AB322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276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2459314" y="1827622"/>
            <a:ext cx="6167009" cy="400110"/>
          </a:xfrm>
          <a:prstGeom prst="rect">
            <a:avLst/>
          </a:prstGeom>
        </p:spPr>
        <p:txBody>
          <a:bodyPr wrap="square">
            <a:spAutoFit/>
          </a:bodyPr>
          <a:lstStyle/>
          <a:p>
            <a:pPr>
              <a:defRPr/>
            </a:pPr>
            <a:r>
              <a:rPr kumimoji="1" lang="zh-CN" altLang="en-US" sz="2000" dirty="0">
                <a:solidFill>
                  <a:srgbClr val="FF0000"/>
                </a:solidFill>
                <a:latin typeface="微软雅黑" pitchFamily="34" charset="-122"/>
                <a:ea typeface="微软雅黑" pitchFamily="34" charset="-122"/>
                <a:cs typeface="经典粗黑简" pitchFamily="49" charset="-122"/>
              </a:rPr>
              <a:t>兄弟</a:t>
            </a:r>
            <a:r>
              <a:rPr kumimoji="1" lang="zh-CN" altLang="en-US" sz="2000" dirty="0">
                <a:latin typeface="微软雅黑" pitchFamily="34" charset="-122"/>
                <a:ea typeface="微软雅黑" pitchFamily="34" charset="-122"/>
                <a:cs typeface="经典粗黑简" pitchFamily="49" charset="-122"/>
              </a:rPr>
              <a:t>：具有同一个双亲的孩子结点互称为兄弟。 </a:t>
            </a:r>
          </a:p>
        </p:txBody>
      </p:sp>
      <p:sp>
        <p:nvSpPr>
          <p:cNvPr id="12" name="矩形 11"/>
          <p:cNvSpPr/>
          <p:nvPr/>
        </p:nvSpPr>
        <p:spPr>
          <a:xfrm>
            <a:off x="2459314" y="2241191"/>
            <a:ext cx="8677246" cy="1015663"/>
          </a:xfrm>
          <a:prstGeom prst="rect">
            <a:avLst/>
          </a:prstGeom>
        </p:spPr>
        <p:txBody>
          <a:bodyPr wrap="square">
            <a:spAutoFit/>
          </a:bodyPr>
          <a:lstStyle/>
          <a:p>
            <a:pPr>
              <a:defRPr/>
            </a:pPr>
            <a:r>
              <a:rPr kumimoji="1" lang="zh-CN" altLang="en-US" sz="2000" dirty="0">
                <a:solidFill>
                  <a:srgbClr val="FF0000"/>
                </a:solidFill>
                <a:latin typeface="微软雅黑" pitchFamily="34" charset="-122"/>
                <a:ea typeface="微软雅黑" pitchFamily="34" charset="-122"/>
                <a:cs typeface="经典粗黑简" pitchFamily="49" charset="-122"/>
              </a:rPr>
              <a:t>路径</a:t>
            </a:r>
            <a:r>
              <a:rPr kumimoji="1" lang="zh-CN" altLang="en-US" sz="2000" dirty="0">
                <a:latin typeface="微软雅黑" pitchFamily="34" charset="-122"/>
                <a:ea typeface="微软雅黑" pitchFamily="34" charset="-122"/>
                <a:cs typeface="经典粗黑简" pitchFamily="49" charset="-122"/>
              </a:rPr>
              <a:t>：如果树的结点序列</a:t>
            </a:r>
            <a:r>
              <a:rPr kumimoji="1" lang="en-US" altLang="zh-CN" sz="2000" dirty="0">
                <a:latin typeface="微软雅黑" pitchFamily="34" charset="-122"/>
                <a:ea typeface="微软雅黑" pitchFamily="34" charset="-122"/>
                <a:cs typeface="经典粗黑简" pitchFamily="49" charset="-122"/>
              </a:rPr>
              <a:t>n</a:t>
            </a:r>
            <a:r>
              <a:rPr kumimoji="1" lang="en-US" altLang="zh-CN" sz="2000" baseline="-25000" dirty="0">
                <a:latin typeface="微软雅黑" pitchFamily="34" charset="-122"/>
                <a:ea typeface="微软雅黑" pitchFamily="34" charset="-122"/>
                <a:cs typeface="经典粗黑简" pitchFamily="49" charset="-122"/>
              </a:rPr>
              <a:t>1</a:t>
            </a:r>
            <a:r>
              <a:rPr kumimoji="1" lang="en-US" altLang="zh-CN" sz="2000" dirty="0">
                <a:latin typeface="微软雅黑" pitchFamily="34" charset="-122"/>
                <a:ea typeface="微软雅黑" pitchFamily="34" charset="-122"/>
                <a:cs typeface="经典粗黑简" pitchFamily="49" charset="-122"/>
              </a:rPr>
              <a:t>, n</a:t>
            </a:r>
            <a:r>
              <a:rPr kumimoji="1" lang="en-US" altLang="zh-CN" sz="2000" baseline="-25000" dirty="0">
                <a:latin typeface="微软雅黑" pitchFamily="34" charset="-122"/>
                <a:ea typeface="微软雅黑" pitchFamily="34" charset="-122"/>
                <a:cs typeface="经典粗黑简" pitchFamily="49" charset="-122"/>
              </a:rPr>
              <a:t>2</a:t>
            </a:r>
            <a:r>
              <a:rPr kumimoji="1" lang="en-US" altLang="zh-CN" sz="2000" dirty="0">
                <a:latin typeface="微软雅黑" pitchFamily="34" charset="-122"/>
                <a:ea typeface="微软雅黑" pitchFamily="34" charset="-122"/>
                <a:cs typeface="经典粗黑简" pitchFamily="49" charset="-122"/>
              </a:rPr>
              <a:t>, …, </a:t>
            </a:r>
            <a:r>
              <a:rPr kumimoji="1" lang="en-US" altLang="zh-CN" sz="2000" dirty="0" err="1">
                <a:latin typeface="微软雅黑" pitchFamily="34" charset="-122"/>
                <a:ea typeface="微软雅黑" pitchFamily="34" charset="-122"/>
                <a:cs typeface="经典粗黑简" pitchFamily="49" charset="-122"/>
              </a:rPr>
              <a:t>n</a:t>
            </a:r>
            <a:r>
              <a:rPr kumimoji="1" lang="en-US" altLang="zh-CN" sz="2000" baseline="-25000" dirty="0" err="1">
                <a:latin typeface="微软雅黑" pitchFamily="34" charset="-122"/>
                <a:ea typeface="微软雅黑" pitchFamily="34" charset="-122"/>
                <a:cs typeface="经典粗黑简" pitchFamily="49" charset="-122"/>
              </a:rPr>
              <a:t>k</a:t>
            </a:r>
            <a:r>
              <a:rPr kumimoji="1" lang="zh-CN" altLang="en-US" sz="2000" dirty="0">
                <a:latin typeface="微软雅黑" pitchFamily="34" charset="-122"/>
                <a:ea typeface="微软雅黑" pitchFamily="34" charset="-122"/>
                <a:cs typeface="经典粗黑简" pitchFamily="49" charset="-122"/>
              </a:rPr>
              <a:t>有如下关系：结点</a:t>
            </a:r>
            <a:r>
              <a:rPr kumimoji="1" lang="en-US" altLang="zh-CN" sz="2000" dirty="0" err="1">
                <a:latin typeface="微软雅黑" pitchFamily="34" charset="-122"/>
                <a:ea typeface="微软雅黑" pitchFamily="34" charset="-122"/>
                <a:cs typeface="经典粗黑简" pitchFamily="49" charset="-122"/>
              </a:rPr>
              <a:t>n</a:t>
            </a:r>
            <a:r>
              <a:rPr kumimoji="1" lang="en-US" altLang="zh-CN" sz="2000" baseline="-25000" dirty="0" err="1">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是</a:t>
            </a:r>
            <a:r>
              <a:rPr kumimoji="1" lang="en-US" altLang="zh-CN" sz="2000" dirty="0">
                <a:latin typeface="微软雅黑" pitchFamily="34" charset="-122"/>
                <a:ea typeface="微软雅黑" pitchFamily="34" charset="-122"/>
                <a:cs typeface="经典粗黑简" pitchFamily="49" charset="-122"/>
              </a:rPr>
              <a:t>n</a:t>
            </a:r>
            <a:r>
              <a:rPr kumimoji="1" lang="en-US" altLang="zh-CN" sz="2000" baseline="-25000" dirty="0">
                <a:latin typeface="微软雅黑" pitchFamily="34" charset="-122"/>
                <a:ea typeface="微软雅黑" pitchFamily="34" charset="-122"/>
                <a:cs typeface="经典粗黑简" pitchFamily="49" charset="-122"/>
              </a:rPr>
              <a:t>i+1</a:t>
            </a:r>
            <a:r>
              <a:rPr kumimoji="1" lang="zh-CN" altLang="en-US" sz="2000" dirty="0">
                <a:latin typeface="微软雅黑" pitchFamily="34" charset="-122"/>
                <a:ea typeface="微软雅黑" pitchFamily="34" charset="-122"/>
                <a:cs typeface="经典粗黑简" pitchFamily="49" charset="-122"/>
              </a:rPr>
              <a:t>的双亲（</a:t>
            </a:r>
            <a:r>
              <a:rPr kumimoji="1" lang="en-US" altLang="zh-CN" sz="2000" dirty="0">
                <a:latin typeface="微软雅黑" pitchFamily="34" charset="-122"/>
                <a:ea typeface="微软雅黑" pitchFamily="34" charset="-122"/>
                <a:cs typeface="经典粗黑简" pitchFamily="49" charset="-122"/>
              </a:rPr>
              <a:t>1&lt;=i&lt;k</a:t>
            </a:r>
            <a:r>
              <a:rPr kumimoji="1" lang="zh-CN" altLang="en-US" sz="2000" dirty="0">
                <a:latin typeface="微软雅黑" pitchFamily="34" charset="-122"/>
                <a:ea typeface="微软雅黑" pitchFamily="34" charset="-122"/>
                <a:cs typeface="经典粗黑简" pitchFamily="49" charset="-122"/>
              </a:rPr>
              <a:t>），则把</a:t>
            </a:r>
            <a:r>
              <a:rPr kumimoji="1" lang="en-US" altLang="zh-CN" sz="2000" dirty="0">
                <a:latin typeface="微软雅黑" pitchFamily="34" charset="-122"/>
                <a:ea typeface="微软雅黑" pitchFamily="34" charset="-122"/>
                <a:cs typeface="经典粗黑简" pitchFamily="49" charset="-122"/>
              </a:rPr>
              <a:t>n</a:t>
            </a:r>
            <a:r>
              <a:rPr kumimoji="1" lang="en-US" altLang="zh-CN" sz="2000" baseline="-25000" dirty="0">
                <a:latin typeface="微软雅黑" pitchFamily="34" charset="-122"/>
                <a:ea typeface="微软雅黑" pitchFamily="34" charset="-122"/>
                <a:cs typeface="经典粗黑简" pitchFamily="49" charset="-122"/>
              </a:rPr>
              <a:t>1</a:t>
            </a:r>
            <a:r>
              <a:rPr kumimoji="1" lang="en-US" altLang="zh-CN" sz="2000" dirty="0">
                <a:latin typeface="微软雅黑" pitchFamily="34" charset="-122"/>
                <a:ea typeface="微软雅黑" pitchFamily="34" charset="-122"/>
                <a:cs typeface="经典粗黑简" pitchFamily="49" charset="-122"/>
              </a:rPr>
              <a:t>, n</a:t>
            </a:r>
            <a:r>
              <a:rPr kumimoji="1" lang="en-US" altLang="zh-CN" sz="2000" baseline="-25000" dirty="0">
                <a:latin typeface="微软雅黑" pitchFamily="34" charset="-122"/>
                <a:ea typeface="微软雅黑" pitchFamily="34" charset="-122"/>
                <a:cs typeface="经典粗黑简" pitchFamily="49" charset="-122"/>
              </a:rPr>
              <a:t>2</a:t>
            </a:r>
            <a:r>
              <a:rPr kumimoji="1" lang="en-US" altLang="zh-CN" sz="2000" dirty="0">
                <a:latin typeface="微软雅黑" pitchFamily="34" charset="-122"/>
                <a:ea typeface="微软雅黑" pitchFamily="34" charset="-122"/>
                <a:cs typeface="经典粗黑简" pitchFamily="49" charset="-122"/>
              </a:rPr>
              <a:t>, …, </a:t>
            </a:r>
            <a:r>
              <a:rPr kumimoji="1" lang="en-US" altLang="zh-CN" sz="2000" dirty="0" err="1">
                <a:latin typeface="微软雅黑" pitchFamily="34" charset="-122"/>
                <a:ea typeface="微软雅黑" pitchFamily="34" charset="-122"/>
                <a:cs typeface="经典粗黑简" pitchFamily="49" charset="-122"/>
              </a:rPr>
              <a:t>n</a:t>
            </a:r>
            <a:r>
              <a:rPr kumimoji="1" lang="en-US" altLang="zh-CN" sz="2000" baseline="-25000" dirty="0" err="1">
                <a:latin typeface="微软雅黑" pitchFamily="34" charset="-122"/>
                <a:ea typeface="微软雅黑" pitchFamily="34" charset="-122"/>
                <a:cs typeface="经典粗黑简" pitchFamily="49" charset="-122"/>
              </a:rPr>
              <a:t>k</a:t>
            </a:r>
            <a:r>
              <a:rPr kumimoji="1" lang="zh-CN" altLang="en-US" sz="2000" dirty="0">
                <a:latin typeface="微软雅黑" pitchFamily="34" charset="-122"/>
                <a:ea typeface="微软雅黑" pitchFamily="34" charset="-122"/>
                <a:cs typeface="经典粗黑简" pitchFamily="49" charset="-122"/>
              </a:rPr>
              <a:t>称为一条由</a:t>
            </a:r>
            <a:r>
              <a:rPr kumimoji="1" lang="en-US" altLang="zh-CN" sz="2000" dirty="0">
                <a:latin typeface="微软雅黑" pitchFamily="34" charset="-122"/>
                <a:ea typeface="微软雅黑" pitchFamily="34" charset="-122"/>
                <a:cs typeface="经典粗黑简" pitchFamily="49" charset="-122"/>
              </a:rPr>
              <a:t>n</a:t>
            </a:r>
            <a:r>
              <a:rPr kumimoji="1" lang="en-US" altLang="zh-CN" sz="2000" baseline="-25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至</a:t>
            </a:r>
            <a:r>
              <a:rPr kumimoji="1" lang="en-US" altLang="zh-CN" sz="2000" dirty="0" err="1">
                <a:latin typeface="微软雅黑" pitchFamily="34" charset="-122"/>
                <a:ea typeface="微软雅黑" pitchFamily="34" charset="-122"/>
                <a:cs typeface="经典粗黑简" pitchFamily="49" charset="-122"/>
              </a:rPr>
              <a:t>n</a:t>
            </a:r>
            <a:r>
              <a:rPr kumimoji="1" lang="en-US" altLang="zh-CN" sz="2000" baseline="-25000" dirty="0" err="1">
                <a:latin typeface="微软雅黑" pitchFamily="34" charset="-122"/>
                <a:ea typeface="微软雅黑" pitchFamily="34" charset="-122"/>
                <a:cs typeface="经典粗黑简" pitchFamily="49" charset="-122"/>
              </a:rPr>
              <a:t>k</a:t>
            </a:r>
            <a:r>
              <a:rPr kumimoji="1" lang="zh-CN" altLang="en-US" sz="2000" dirty="0">
                <a:latin typeface="微软雅黑" pitchFamily="34" charset="-122"/>
                <a:ea typeface="微软雅黑" pitchFamily="34" charset="-122"/>
                <a:cs typeface="经典粗黑简" pitchFamily="49" charset="-122"/>
              </a:rPr>
              <a:t>的</a:t>
            </a:r>
            <a:r>
              <a:rPr kumimoji="1" lang="zh-CN" altLang="en-US" sz="2000" dirty="0">
                <a:solidFill>
                  <a:srgbClr val="FF0000"/>
                </a:solidFill>
                <a:latin typeface="微软雅黑" pitchFamily="34" charset="-122"/>
                <a:ea typeface="微软雅黑" pitchFamily="34" charset="-122"/>
                <a:cs typeface="经典粗黑简" pitchFamily="49" charset="-122"/>
              </a:rPr>
              <a:t>路径</a:t>
            </a:r>
            <a:r>
              <a:rPr kumimoji="1" lang="zh-CN" altLang="en-US" sz="2000" dirty="0">
                <a:latin typeface="微软雅黑" pitchFamily="34" charset="-122"/>
                <a:ea typeface="微软雅黑" pitchFamily="34" charset="-122"/>
                <a:cs typeface="经典粗黑简" pitchFamily="49" charset="-122"/>
              </a:rPr>
              <a:t>；路径上经过的边的个数称为</a:t>
            </a:r>
            <a:r>
              <a:rPr kumimoji="1" lang="zh-CN" altLang="en-US" sz="2000" dirty="0">
                <a:solidFill>
                  <a:srgbClr val="FF0000"/>
                </a:solidFill>
                <a:latin typeface="微软雅黑" pitchFamily="34" charset="-122"/>
                <a:ea typeface="微软雅黑" pitchFamily="34" charset="-122"/>
                <a:cs typeface="经典粗黑简" pitchFamily="49" charset="-122"/>
              </a:rPr>
              <a:t>路径长度</a:t>
            </a:r>
            <a:r>
              <a:rPr kumimoji="1" lang="zh-CN" altLang="en-US" sz="2000" dirty="0">
                <a:latin typeface="微软雅黑" pitchFamily="34" charset="-122"/>
                <a:ea typeface="微软雅黑" pitchFamily="34" charset="-122"/>
                <a:cs typeface="经典粗黑简" pitchFamily="49" charset="-122"/>
              </a:rPr>
              <a:t>。</a:t>
            </a:r>
          </a:p>
        </p:txBody>
      </p:sp>
      <p:sp>
        <p:nvSpPr>
          <p:cNvPr id="13" name="矩形 12"/>
          <p:cNvSpPr/>
          <p:nvPr/>
        </p:nvSpPr>
        <p:spPr>
          <a:xfrm>
            <a:off x="2459314" y="3280448"/>
            <a:ext cx="8605238" cy="707886"/>
          </a:xfrm>
          <a:prstGeom prst="rect">
            <a:avLst/>
          </a:prstGeom>
        </p:spPr>
        <p:txBody>
          <a:bodyPr wrap="square">
            <a:spAutoFit/>
          </a:bodyPr>
          <a:lstStyle/>
          <a:p>
            <a:pPr>
              <a:defRPr/>
            </a:pPr>
            <a:r>
              <a:rPr kumimoji="1" lang="zh-CN" altLang="en-US" sz="2000" dirty="0">
                <a:solidFill>
                  <a:srgbClr val="FF0000"/>
                </a:solidFill>
                <a:latin typeface="微软雅黑" pitchFamily="34" charset="-122"/>
                <a:ea typeface="微软雅黑" pitchFamily="34" charset="-122"/>
                <a:cs typeface="经典粗黑简" pitchFamily="49" charset="-122"/>
              </a:rPr>
              <a:t>祖先、子孙</a:t>
            </a:r>
            <a:r>
              <a:rPr kumimoji="1" lang="zh-CN" altLang="en-US" sz="2000" dirty="0">
                <a:latin typeface="微软雅黑" pitchFamily="34" charset="-122"/>
                <a:ea typeface="微软雅黑" pitchFamily="34" charset="-122"/>
                <a:cs typeface="经典粗黑简" pitchFamily="49" charset="-122"/>
              </a:rPr>
              <a:t>：在树中，如果有一条路径从结点</a:t>
            </a:r>
            <a:r>
              <a:rPr kumimoji="1" lang="en-US" altLang="zh-CN" sz="2000" dirty="0">
                <a:latin typeface="微软雅黑" pitchFamily="34" charset="-122"/>
                <a:ea typeface="微软雅黑" pitchFamily="34" charset="-122"/>
                <a:cs typeface="经典粗黑简" pitchFamily="49" charset="-122"/>
              </a:rPr>
              <a:t>x</a:t>
            </a:r>
            <a:r>
              <a:rPr kumimoji="1" lang="zh-CN" altLang="en-US" sz="2000" dirty="0">
                <a:latin typeface="微软雅黑" pitchFamily="34" charset="-122"/>
                <a:ea typeface="微软雅黑" pitchFamily="34" charset="-122"/>
                <a:cs typeface="经典粗黑简" pitchFamily="49" charset="-122"/>
              </a:rPr>
              <a:t>到结点</a:t>
            </a:r>
            <a:r>
              <a:rPr kumimoji="1" lang="en-US" altLang="zh-CN" sz="2000" dirty="0">
                <a:latin typeface="微软雅黑" pitchFamily="34" charset="-122"/>
                <a:ea typeface="微软雅黑" pitchFamily="34" charset="-122"/>
                <a:cs typeface="经典粗黑简" pitchFamily="49" charset="-122"/>
              </a:rPr>
              <a:t>y，</a:t>
            </a:r>
            <a:r>
              <a:rPr kumimoji="1" lang="zh-CN" altLang="en-US" sz="2000" dirty="0">
                <a:latin typeface="微软雅黑" pitchFamily="34" charset="-122"/>
                <a:ea typeface="微软雅黑" pitchFamily="34" charset="-122"/>
                <a:cs typeface="经典粗黑简" pitchFamily="49" charset="-122"/>
              </a:rPr>
              <a:t>那么</a:t>
            </a:r>
            <a:r>
              <a:rPr kumimoji="1" lang="en-US" altLang="zh-CN" sz="2000" dirty="0">
                <a:latin typeface="微软雅黑" pitchFamily="34" charset="-122"/>
                <a:ea typeface="微软雅黑" pitchFamily="34" charset="-122"/>
                <a:cs typeface="经典粗黑简" pitchFamily="49" charset="-122"/>
              </a:rPr>
              <a:t>x</a:t>
            </a:r>
            <a:r>
              <a:rPr kumimoji="1" lang="zh-CN" altLang="en-US" sz="2000" dirty="0">
                <a:latin typeface="微软雅黑" pitchFamily="34" charset="-122"/>
                <a:ea typeface="微软雅黑" pitchFamily="34" charset="-122"/>
                <a:cs typeface="经典粗黑简" pitchFamily="49" charset="-122"/>
              </a:rPr>
              <a:t>就称为</a:t>
            </a:r>
            <a:r>
              <a:rPr kumimoji="1" lang="en-US" altLang="zh-CN" sz="2000" dirty="0">
                <a:latin typeface="微软雅黑" pitchFamily="34" charset="-122"/>
                <a:ea typeface="微软雅黑" pitchFamily="34" charset="-122"/>
                <a:cs typeface="经典粗黑简" pitchFamily="49" charset="-122"/>
              </a:rPr>
              <a:t>y</a:t>
            </a:r>
            <a:r>
              <a:rPr kumimoji="1" lang="zh-CN" altLang="en-US" sz="2000" dirty="0">
                <a:latin typeface="微软雅黑" pitchFamily="34" charset="-122"/>
                <a:ea typeface="微软雅黑" pitchFamily="34" charset="-122"/>
                <a:cs typeface="经典粗黑简" pitchFamily="49" charset="-122"/>
              </a:rPr>
              <a:t>的祖先，而</a:t>
            </a:r>
            <a:r>
              <a:rPr kumimoji="1" lang="en-US" altLang="zh-CN" sz="2000" dirty="0">
                <a:latin typeface="微软雅黑" pitchFamily="34" charset="-122"/>
                <a:ea typeface="微软雅黑" pitchFamily="34" charset="-122"/>
                <a:cs typeface="经典粗黑简" pitchFamily="49" charset="-122"/>
              </a:rPr>
              <a:t>y</a:t>
            </a:r>
            <a:r>
              <a:rPr kumimoji="1" lang="zh-CN" altLang="en-US" sz="2000" dirty="0">
                <a:latin typeface="微软雅黑" pitchFamily="34" charset="-122"/>
                <a:ea typeface="微软雅黑" pitchFamily="34" charset="-122"/>
                <a:cs typeface="经典粗黑简" pitchFamily="49" charset="-122"/>
              </a:rPr>
              <a:t>称为</a:t>
            </a:r>
            <a:r>
              <a:rPr kumimoji="1" lang="en-US" altLang="zh-CN" sz="2000" dirty="0">
                <a:latin typeface="微软雅黑" pitchFamily="34" charset="-122"/>
                <a:ea typeface="微软雅黑" pitchFamily="34" charset="-122"/>
                <a:cs typeface="经典粗黑简" pitchFamily="49" charset="-122"/>
              </a:rPr>
              <a:t>x</a:t>
            </a:r>
            <a:r>
              <a:rPr kumimoji="1" lang="zh-CN" altLang="en-US" sz="2000" dirty="0">
                <a:latin typeface="微软雅黑" pitchFamily="34" charset="-122"/>
                <a:ea typeface="微软雅黑" pitchFamily="34" charset="-122"/>
                <a:cs typeface="经典粗黑简" pitchFamily="49" charset="-122"/>
              </a:rPr>
              <a:t>的子孙。</a:t>
            </a:r>
          </a:p>
        </p:txBody>
      </p:sp>
      <p:sp>
        <p:nvSpPr>
          <p:cNvPr id="14" name="矩形 13"/>
          <p:cNvSpPr/>
          <p:nvPr/>
        </p:nvSpPr>
        <p:spPr>
          <a:xfrm>
            <a:off x="2459314" y="4020069"/>
            <a:ext cx="3550972" cy="418833"/>
          </a:xfrm>
          <a:prstGeom prst="rect">
            <a:avLst/>
          </a:prstGeom>
        </p:spPr>
        <p:txBody>
          <a:bodyPr wrap="none">
            <a:spAutoFit/>
          </a:bodyPr>
          <a:lstStyle/>
          <a:p>
            <a:pPr>
              <a:lnSpc>
                <a:spcPct val="115000"/>
              </a:lnSpc>
              <a:spcBef>
                <a:spcPct val="50000"/>
              </a:spcBef>
            </a:pPr>
            <a:r>
              <a:rPr kumimoji="1" lang="zh-CN" altLang="en-US" sz="2000" dirty="0">
                <a:solidFill>
                  <a:srgbClr val="FF0000"/>
                </a:solidFill>
                <a:latin typeface="微软雅黑" pitchFamily="34" charset="-122"/>
                <a:ea typeface="微软雅黑" pitchFamily="34" charset="-122"/>
                <a:cs typeface="经典粗黑简" pitchFamily="49" charset="-122"/>
              </a:rPr>
              <a:t>结点的度</a:t>
            </a:r>
            <a:r>
              <a:rPr kumimoji="1" lang="en-US" altLang="zh-CN" sz="2000" dirty="0">
                <a:solidFill>
                  <a:srgbClr val="FF0000"/>
                </a:solidFill>
                <a:latin typeface="微软雅黑" pitchFamily="34" charset="-122"/>
                <a:ea typeface="微软雅黑" pitchFamily="34" charset="-122"/>
                <a:cs typeface="经典粗黑简" pitchFamily="49" charset="-122"/>
              </a:rPr>
              <a:t>:   </a:t>
            </a:r>
            <a:r>
              <a:rPr lang="zh-CN" altLang="en-US" sz="2000" dirty="0">
                <a:latin typeface="微软雅黑" pitchFamily="34" charset="-122"/>
                <a:ea typeface="微软雅黑" pitchFamily="34" charset="-122"/>
                <a:cs typeface="经典粗黑简" pitchFamily="49" charset="-122"/>
              </a:rPr>
              <a:t>结点的孩子数目。</a:t>
            </a:r>
          </a:p>
        </p:txBody>
      </p:sp>
      <p:sp>
        <p:nvSpPr>
          <p:cNvPr id="3" name="矩形 2">
            <a:extLst>
              <a:ext uri="{FF2B5EF4-FFF2-40B4-BE49-F238E27FC236}">
                <a16:creationId xmlns:a16="http://schemas.microsoft.com/office/drawing/2014/main" xmlns="" id="{AC294EBC-F995-A6D6-494F-B3A085CA5D61}"/>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4" name="Rectangle 2">
            <a:extLst>
              <a:ext uri="{FF2B5EF4-FFF2-40B4-BE49-F238E27FC236}">
                <a16:creationId xmlns:a16="http://schemas.microsoft.com/office/drawing/2014/main" xmlns="" id="{203FE06C-604A-AFBE-CE03-01D5828081A5}"/>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7.1.3 </a:t>
            </a:r>
            <a:r>
              <a:rPr lang="zh-CN" altLang="en-US" dirty="0"/>
              <a:t>树的基本术语</a:t>
            </a:r>
          </a:p>
        </p:txBody>
      </p:sp>
      <p:cxnSp>
        <p:nvCxnSpPr>
          <p:cNvPr id="5" name="直接连接符 4">
            <a:extLst>
              <a:ext uri="{FF2B5EF4-FFF2-40B4-BE49-F238E27FC236}">
                <a16:creationId xmlns:a16="http://schemas.microsoft.com/office/drawing/2014/main" xmlns="" id="{C3782D7A-00CA-16CB-907C-3477EF6F18E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pSp>
        <p:nvGrpSpPr>
          <p:cNvPr id="6" name="Group 4">
            <a:extLst>
              <a:ext uri="{FF2B5EF4-FFF2-40B4-BE49-F238E27FC236}">
                <a16:creationId xmlns:a16="http://schemas.microsoft.com/office/drawing/2014/main" xmlns="" id="{DD6DC5F9-2554-782D-7078-B74786AA63A9}"/>
              </a:ext>
            </a:extLst>
          </p:cNvPr>
          <p:cNvGrpSpPr>
            <a:grpSpLocks/>
          </p:cNvGrpSpPr>
          <p:nvPr/>
        </p:nvGrpSpPr>
        <p:grpSpPr bwMode="auto">
          <a:xfrm>
            <a:off x="6492950" y="3963927"/>
            <a:ext cx="4571602" cy="2350282"/>
            <a:chOff x="1728" y="2160"/>
            <a:chExt cx="2680" cy="1301"/>
          </a:xfrm>
        </p:grpSpPr>
        <p:grpSp>
          <p:nvGrpSpPr>
            <p:cNvPr id="7" name="Group 5">
              <a:extLst>
                <a:ext uri="{FF2B5EF4-FFF2-40B4-BE49-F238E27FC236}">
                  <a16:creationId xmlns:a16="http://schemas.microsoft.com/office/drawing/2014/main" xmlns="" id="{60278135-312F-40EA-B43F-E6802862F9A7}"/>
                </a:ext>
              </a:extLst>
            </p:cNvPr>
            <p:cNvGrpSpPr>
              <a:grpSpLocks/>
            </p:cNvGrpSpPr>
            <p:nvPr/>
          </p:nvGrpSpPr>
          <p:grpSpPr bwMode="auto">
            <a:xfrm>
              <a:off x="4088" y="2855"/>
              <a:ext cx="320" cy="246"/>
              <a:chOff x="2880" y="1103"/>
              <a:chExt cx="367" cy="337"/>
            </a:xfrm>
          </p:grpSpPr>
          <p:sp>
            <p:nvSpPr>
              <p:cNvPr id="60" name="Oval 6">
                <a:extLst>
                  <a:ext uri="{FF2B5EF4-FFF2-40B4-BE49-F238E27FC236}">
                    <a16:creationId xmlns:a16="http://schemas.microsoft.com/office/drawing/2014/main" xmlns="" id="{18AE1A0C-AFFA-5AF8-66EB-25F91151F3EC}"/>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61" name="Text Box 7">
                <a:extLst>
                  <a:ext uri="{FF2B5EF4-FFF2-40B4-BE49-F238E27FC236}">
                    <a16:creationId xmlns:a16="http://schemas.microsoft.com/office/drawing/2014/main" xmlns="" id="{0A2BB33E-B656-FA40-72A2-4CFCBCECCEF2}"/>
                  </a:ext>
                </a:extLst>
              </p:cNvPr>
              <p:cNvSpPr txBox="1">
                <a:spLocks noChangeArrowheads="1"/>
              </p:cNvSpPr>
              <p:nvPr/>
            </p:nvSpPr>
            <p:spPr bwMode="auto">
              <a:xfrm>
                <a:off x="2928" y="1103"/>
                <a:ext cx="31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J</a:t>
                </a:r>
              </a:p>
            </p:txBody>
          </p:sp>
        </p:grpSp>
        <p:grpSp>
          <p:nvGrpSpPr>
            <p:cNvPr id="8" name="Group 8">
              <a:extLst>
                <a:ext uri="{FF2B5EF4-FFF2-40B4-BE49-F238E27FC236}">
                  <a16:creationId xmlns:a16="http://schemas.microsoft.com/office/drawing/2014/main" xmlns="" id="{1DCA5EAE-F4CE-B611-70A4-2976CD144B8C}"/>
                </a:ext>
              </a:extLst>
            </p:cNvPr>
            <p:cNvGrpSpPr>
              <a:grpSpLocks/>
            </p:cNvGrpSpPr>
            <p:nvPr/>
          </p:nvGrpSpPr>
          <p:grpSpPr bwMode="auto">
            <a:xfrm>
              <a:off x="3750" y="2858"/>
              <a:ext cx="320" cy="245"/>
              <a:chOff x="2880" y="1104"/>
              <a:chExt cx="367" cy="336"/>
            </a:xfrm>
          </p:grpSpPr>
          <p:sp>
            <p:nvSpPr>
              <p:cNvPr id="58" name="Oval 9">
                <a:extLst>
                  <a:ext uri="{FF2B5EF4-FFF2-40B4-BE49-F238E27FC236}">
                    <a16:creationId xmlns:a16="http://schemas.microsoft.com/office/drawing/2014/main" xmlns="" id="{2E048AD5-4C58-8E2E-CC9A-8462119770A9}"/>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59" name="Text Box 10">
                <a:extLst>
                  <a:ext uri="{FF2B5EF4-FFF2-40B4-BE49-F238E27FC236}">
                    <a16:creationId xmlns:a16="http://schemas.microsoft.com/office/drawing/2014/main" xmlns="" id="{87B92476-3C13-364E-E7F9-5E40860D67D6}"/>
                  </a:ext>
                </a:extLst>
              </p:cNvPr>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I</a:t>
                </a:r>
              </a:p>
            </p:txBody>
          </p:sp>
        </p:grpSp>
        <p:grpSp>
          <p:nvGrpSpPr>
            <p:cNvPr id="10" name="Group 11">
              <a:extLst>
                <a:ext uri="{FF2B5EF4-FFF2-40B4-BE49-F238E27FC236}">
                  <a16:creationId xmlns:a16="http://schemas.microsoft.com/office/drawing/2014/main" xmlns="" id="{9D854D53-B340-B1A9-0DCB-7EC28E6EAEDB}"/>
                </a:ext>
              </a:extLst>
            </p:cNvPr>
            <p:cNvGrpSpPr>
              <a:grpSpLocks/>
            </p:cNvGrpSpPr>
            <p:nvPr/>
          </p:nvGrpSpPr>
          <p:grpSpPr bwMode="auto">
            <a:xfrm>
              <a:off x="2982" y="2160"/>
              <a:ext cx="320" cy="245"/>
              <a:chOff x="2880" y="1104"/>
              <a:chExt cx="367" cy="336"/>
            </a:xfrm>
          </p:grpSpPr>
          <p:sp>
            <p:nvSpPr>
              <p:cNvPr id="56" name="Oval 12">
                <a:extLst>
                  <a:ext uri="{FF2B5EF4-FFF2-40B4-BE49-F238E27FC236}">
                    <a16:creationId xmlns:a16="http://schemas.microsoft.com/office/drawing/2014/main" xmlns="" id="{B38DADF0-8D2E-664C-EBAB-1A59E19239A7}"/>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57" name="Text Box 13">
                <a:extLst>
                  <a:ext uri="{FF2B5EF4-FFF2-40B4-BE49-F238E27FC236}">
                    <a16:creationId xmlns:a16="http://schemas.microsoft.com/office/drawing/2014/main" xmlns="" id="{52CA3BD9-FB8A-682C-B52B-D54C2818F278}"/>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A</a:t>
                </a:r>
              </a:p>
            </p:txBody>
          </p:sp>
        </p:grpSp>
        <p:grpSp>
          <p:nvGrpSpPr>
            <p:cNvPr id="11" name="Group 14">
              <a:extLst>
                <a:ext uri="{FF2B5EF4-FFF2-40B4-BE49-F238E27FC236}">
                  <a16:creationId xmlns:a16="http://schemas.microsoft.com/office/drawing/2014/main" xmlns="" id="{56DB96B6-E56B-3583-8F8C-1A1E145ADC7C}"/>
                </a:ext>
              </a:extLst>
            </p:cNvPr>
            <p:cNvGrpSpPr>
              <a:grpSpLocks/>
            </p:cNvGrpSpPr>
            <p:nvPr/>
          </p:nvGrpSpPr>
          <p:grpSpPr bwMode="auto">
            <a:xfrm>
              <a:off x="2982" y="2497"/>
              <a:ext cx="320" cy="245"/>
              <a:chOff x="2880" y="1104"/>
              <a:chExt cx="367" cy="336"/>
            </a:xfrm>
          </p:grpSpPr>
          <p:sp>
            <p:nvSpPr>
              <p:cNvPr id="54" name="Oval 15">
                <a:extLst>
                  <a:ext uri="{FF2B5EF4-FFF2-40B4-BE49-F238E27FC236}">
                    <a16:creationId xmlns:a16="http://schemas.microsoft.com/office/drawing/2014/main" xmlns="" id="{C19C3343-91A3-A647-7974-5F997F304BCF}"/>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55" name="Text Box 16">
                <a:extLst>
                  <a:ext uri="{FF2B5EF4-FFF2-40B4-BE49-F238E27FC236}">
                    <a16:creationId xmlns:a16="http://schemas.microsoft.com/office/drawing/2014/main" xmlns="" id="{E2F3C677-7146-8A1D-653F-30448DCD49E3}"/>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C</a:t>
                </a:r>
              </a:p>
            </p:txBody>
          </p:sp>
        </p:grpSp>
        <p:grpSp>
          <p:nvGrpSpPr>
            <p:cNvPr id="15" name="Group 17">
              <a:extLst>
                <a:ext uri="{FF2B5EF4-FFF2-40B4-BE49-F238E27FC236}">
                  <a16:creationId xmlns:a16="http://schemas.microsoft.com/office/drawing/2014/main" xmlns="" id="{61938057-E195-2359-9648-CD5E185319F8}"/>
                </a:ext>
              </a:extLst>
            </p:cNvPr>
            <p:cNvGrpSpPr>
              <a:grpSpLocks/>
            </p:cNvGrpSpPr>
            <p:nvPr/>
          </p:nvGrpSpPr>
          <p:grpSpPr bwMode="auto">
            <a:xfrm>
              <a:off x="2304" y="2497"/>
              <a:ext cx="320" cy="245"/>
              <a:chOff x="2880" y="1104"/>
              <a:chExt cx="367" cy="336"/>
            </a:xfrm>
          </p:grpSpPr>
          <p:sp>
            <p:nvSpPr>
              <p:cNvPr id="52" name="Oval 18">
                <a:extLst>
                  <a:ext uri="{FF2B5EF4-FFF2-40B4-BE49-F238E27FC236}">
                    <a16:creationId xmlns:a16="http://schemas.microsoft.com/office/drawing/2014/main" xmlns="" id="{3F8FA721-795C-4B5E-A788-5550787F920E}"/>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53" name="Text Box 19">
                <a:extLst>
                  <a:ext uri="{FF2B5EF4-FFF2-40B4-BE49-F238E27FC236}">
                    <a16:creationId xmlns:a16="http://schemas.microsoft.com/office/drawing/2014/main" xmlns="" id="{6F56288B-4EDB-219B-5289-6FBA252766EF}"/>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B</a:t>
                </a:r>
              </a:p>
            </p:txBody>
          </p:sp>
        </p:grpSp>
        <p:grpSp>
          <p:nvGrpSpPr>
            <p:cNvPr id="16" name="Group 20">
              <a:extLst>
                <a:ext uri="{FF2B5EF4-FFF2-40B4-BE49-F238E27FC236}">
                  <a16:creationId xmlns:a16="http://schemas.microsoft.com/office/drawing/2014/main" xmlns="" id="{662DB20D-5662-489D-75BF-4ACB560608C9}"/>
                </a:ext>
              </a:extLst>
            </p:cNvPr>
            <p:cNvGrpSpPr>
              <a:grpSpLocks/>
            </p:cNvGrpSpPr>
            <p:nvPr/>
          </p:nvGrpSpPr>
          <p:grpSpPr bwMode="auto">
            <a:xfrm>
              <a:off x="3750" y="2497"/>
              <a:ext cx="320" cy="245"/>
              <a:chOff x="2880" y="1104"/>
              <a:chExt cx="367" cy="336"/>
            </a:xfrm>
          </p:grpSpPr>
          <p:sp>
            <p:nvSpPr>
              <p:cNvPr id="50" name="Oval 21">
                <a:extLst>
                  <a:ext uri="{FF2B5EF4-FFF2-40B4-BE49-F238E27FC236}">
                    <a16:creationId xmlns:a16="http://schemas.microsoft.com/office/drawing/2014/main" xmlns="" id="{39C8186B-1EC4-3F41-779A-EC504BAAD2F3}"/>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51" name="Text Box 22">
                <a:extLst>
                  <a:ext uri="{FF2B5EF4-FFF2-40B4-BE49-F238E27FC236}">
                    <a16:creationId xmlns:a16="http://schemas.microsoft.com/office/drawing/2014/main" xmlns="" id="{216348B9-94FC-02CF-CE48-DB1429B105BF}"/>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D</a:t>
                </a:r>
              </a:p>
            </p:txBody>
          </p:sp>
        </p:grpSp>
        <p:grpSp>
          <p:nvGrpSpPr>
            <p:cNvPr id="17" name="Group 23">
              <a:extLst>
                <a:ext uri="{FF2B5EF4-FFF2-40B4-BE49-F238E27FC236}">
                  <a16:creationId xmlns:a16="http://schemas.microsoft.com/office/drawing/2014/main" xmlns="" id="{9796AF1D-8140-E910-E01E-06220A49B967}"/>
                </a:ext>
              </a:extLst>
            </p:cNvPr>
            <p:cNvGrpSpPr>
              <a:grpSpLocks/>
            </p:cNvGrpSpPr>
            <p:nvPr/>
          </p:nvGrpSpPr>
          <p:grpSpPr bwMode="auto">
            <a:xfrm>
              <a:off x="3408" y="2858"/>
              <a:ext cx="320" cy="245"/>
              <a:chOff x="2880" y="1104"/>
              <a:chExt cx="367" cy="336"/>
            </a:xfrm>
          </p:grpSpPr>
          <p:sp>
            <p:nvSpPr>
              <p:cNvPr id="48" name="Oval 24">
                <a:extLst>
                  <a:ext uri="{FF2B5EF4-FFF2-40B4-BE49-F238E27FC236}">
                    <a16:creationId xmlns:a16="http://schemas.microsoft.com/office/drawing/2014/main" xmlns="" id="{A83D4EA7-833D-2453-77AA-D5B45580E283}"/>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49" name="Text Box 25">
                <a:extLst>
                  <a:ext uri="{FF2B5EF4-FFF2-40B4-BE49-F238E27FC236}">
                    <a16:creationId xmlns:a16="http://schemas.microsoft.com/office/drawing/2014/main" xmlns="" id="{86645562-5158-9628-4860-9B9029B3BC6A}"/>
                  </a:ext>
                </a:extLst>
              </p:cNvPr>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H</a:t>
                </a:r>
              </a:p>
            </p:txBody>
          </p:sp>
        </p:grpSp>
        <p:grpSp>
          <p:nvGrpSpPr>
            <p:cNvPr id="18" name="Group 26">
              <a:extLst>
                <a:ext uri="{FF2B5EF4-FFF2-40B4-BE49-F238E27FC236}">
                  <a16:creationId xmlns:a16="http://schemas.microsoft.com/office/drawing/2014/main" xmlns="" id="{ABD58687-DEBE-F895-D4EC-82BED3A4BABB}"/>
                </a:ext>
              </a:extLst>
            </p:cNvPr>
            <p:cNvGrpSpPr>
              <a:grpSpLocks/>
            </p:cNvGrpSpPr>
            <p:nvPr/>
          </p:nvGrpSpPr>
          <p:grpSpPr bwMode="auto">
            <a:xfrm>
              <a:off x="2982" y="2858"/>
              <a:ext cx="320" cy="245"/>
              <a:chOff x="2880" y="1104"/>
              <a:chExt cx="367" cy="336"/>
            </a:xfrm>
          </p:grpSpPr>
          <p:sp>
            <p:nvSpPr>
              <p:cNvPr id="46" name="Oval 27">
                <a:extLst>
                  <a:ext uri="{FF2B5EF4-FFF2-40B4-BE49-F238E27FC236}">
                    <a16:creationId xmlns:a16="http://schemas.microsoft.com/office/drawing/2014/main" xmlns="" id="{7EA63564-07B7-4CF3-B963-373DC46DD180}"/>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47" name="Text Box 28">
                <a:extLst>
                  <a:ext uri="{FF2B5EF4-FFF2-40B4-BE49-F238E27FC236}">
                    <a16:creationId xmlns:a16="http://schemas.microsoft.com/office/drawing/2014/main" xmlns="" id="{734F5316-3DC0-A436-CFE3-1D6F7CA10D7B}"/>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G</a:t>
                </a:r>
              </a:p>
            </p:txBody>
          </p:sp>
        </p:grpSp>
        <p:grpSp>
          <p:nvGrpSpPr>
            <p:cNvPr id="19" name="Group 29">
              <a:extLst>
                <a:ext uri="{FF2B5EF4-FFF2-40B4-BE49-F238E27FC236}">
                  <a16:creationId xmlns:a16="http://schemas.microsoft.com/office/drawing/2014/main" xmlns="" id="{396D142D-A594-7C11-5E77-6491DA1C3762}"/>
                </a:ext>
              </a:extLst>
            </p:cNvPr>
            <p:cNvGrpSpPr>
              <a:grpSpLocks/>
            </p:cNvGrpSpPr>
            <p:nvPr/>
          </p:nvGrpSpPr>
          <p:grpSpPr bwMode="auto">
            <a:xfrm>
              <a:off x="2502" y="2858"/>
              <a:ext cx="320" cy="245"/>
              <a:chOff x="2880" y="1104"/>
              <a:chExt cx="367" cy="336"/>
            </a:xfrm>
          </p:grpSpPr>
          <p:sp>
            <p:nvSpPr>
              <p:cNvPr id="44" name="Oval 30">
                <a:extLst>
                  <a:ext uri="{FF2B5EF4-FFF2-40B4-BE49-F238E27FC236}">
                    <a16:creationId xmlns:a16="http://schemas.microsoft.com/office/drawing/2014/main" xmlns="" id="{8C553A47-CA39-7C08-FDB0-F8E0DFF50B50}"/>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45" name="Text Box 31">
                <a:extLst>
                  <a:ext uri="{FF2B5EF4-FFF2-40B4-BE49-F238E27FC236}">
                    <a16:creationId xmlns:a16="http://schemas.microsoft.com/office/drawing/2014/main" xmlns="" id="{C34AC17D-8F87-D528-2065-997BFAD8E2EF}"/>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F</a:t>
                </a:r>
              </a:p>
            </p:txBody>
          </p:sp>
        </p:grpSp>
        <p:grpSp>
          <p:nvGrpSpPr>
            <p:cNvPr id="20" name="Group 32">
              <a:extLst>
                <a:ext uri="{FF2B5EF4-FFF2-40B4-BE49-F238E27FC236}">
                  <a16:creationId xmlns:a16="http://schemas.microsoft.com/office/drawing/2014/main" xmlns="" id="{BD9C6B7A-2FF0-8AD2-3EF9-A2D2910F797E}"/>
                </a:ext>
              </a:extLst>
            </p:cNvPr>
            <p:cNvGrpSpPr>
              <a:grpSpLocks/>
            </p:cNvGrpSpPr>
            <p:nvPr/>
          </p:nvGrpSpPr>
          <p:grpSpPr bwMode="auto">
            <a:xfrm>
              <a:off x="2016" y="2858"/>
              <a:ext cx="320" cy="245"/>
              <a:chOff x="2880" y="1104"/>
              <a:chExt cx="367" cy="336"/>
            </a:xfrm>
          </p:grpSpPr>
          <p:sp>
            <p:nvSpPr>
              <p:cNvPr id="42" name="Oval 33">
                <a:extLst>
                  <a:ext uri="{FF2B5EF4-FFF2-40B4-BE49-F238E27FC236}">
                    <a16:creationId xmlns:a16="http://schemas.microsoft.com/office/drawing/2014/main" xmlns="" id="{2903E1F2-BB13-2556-356E-C6CB046E7348}"/>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43" name="Text Box 34">
                <a:extLst>
                  <a:ext uri="{FF2B5EF4-FFF2-40B4-BE49-F238E27FC236}">
                    <a16:creationId xmlns:a16="http://schemas.microsoft.com/office/drawing/2014/main" xmlns="" id="{24C674B0-7F15-8E07-C366-3944BE77393B}"/>
                  </a:ext>
                </a:extLst>
              </p:cNvPr>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E</a:t>
                </a:r>
              </a:p>
            </p:txBody>
          </p:sp>
        </p:grpSp>
        <p:sp>
          <p:nvSpPr>
            <p:cNvPr id="21" name="Line 35">
              <a:extLst>
                <a:ext uri="{FF2B5EF4-FFF2-40B4-BE49-F238E27FC236}">
                  <a16:creationId xmlns:a16="http://schemas.microsoft.com/office/drawing/2014/main" xmlns="" id="{DAFC6B53-8FB1-2C6B-AAE2-DC243CD167C9}"/>
                </a:ext>
              </a:extLst>
            </p:cNvPr>
            <p:cNvSpPr>
              <a:spLocks noChangeShapeType="1"/>
            </p:cNvSpPr>
            <p:nvPr/>
          </p:nvSpPr>
          <p:spPr bwMode="auto">
            <a:xfrm>
              <a:off x="3126" y="2400"/>
              <a:ext cx="0" cy="96"/>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36">
              <a:extLst>
                <a:ext uri="{FF2B5EF4-FFF2-40B4-BE49-F238E27FC236}">
                  <a16:creationId xmlns:a16="http://schemas.microsoft.com/office/drawing/2014/main" xmlns="" id="{71298C58-F149-622A-E0B2-B53937ED81F0}"/>
                </a:ext>
              </a:extLst>
            </p:cNvPr>
            <p:cNvSpPr>
              <a:spLocks noChangeShapeType="1"/>
            </p:cNvSpPr>
            <p:nvPr/>
          </p:nvSpPr>
          <p:spPr bwMode="auto">
            <a:xfrm flipH="1">
              <a:off x="2550" y="2304"/>
              <a:ext cx="432"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37">
              <a:extLst>
                <a:ext uri="{FF2B5EF4-FFF2-40B4-BE49-F238E27FC236}">
                  <a16:creationId xmlns:a16="http://schemas.microsoft.com/office/drawing/2014/main" xmlns="" id="{0D6A754C-7F7C-1680-693B-0F959F0ED748}"/>
                </a:ext>
              </a:extLst>
            </p:cNvPr>
            <p:cNvSpPr>
              <a:spLocks noChangeShapeType="1"/>
            </p:cNvSpPr>
            <p:nvPr/>
          </p:nvSpPr>
          <p:spPr bwMode="auto">
            <a:xfrm flipH="1">
              <a:off x="2247" y="2729"/>
              <a:ext cx="132"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38">
              <a:extLst>
                <a:ext uri="{FF2B5EF4-FFF2-40B4-BE49-F238E27FC236}">
                  <a16:creationId xmlns:a16="http://schemas.microsoft.com/office/drawing/2014/main" xmlns="" id="{897D924C-5C12-078E-FAFB-BD55F4B69654}"/>
                </a:ext>
              </a:extLst>
            </p:cNvPr>
            <p:cNvSpPr>
              <a:spLocks noChangeShapeType="1"/>
            </p:cNvSpPr>
            <p:nvPr/>
          </p:nvSpPr>
          <p:spPr bwMode="auto">
            <a:xfrm>
              <a:off x="2532" y="2729"/>
              <a:ext cx="114"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39">
              <a:extLst>
                <a:ext uri="{FF2B5EF4-FFF2-40B4-BE49-F238E27FC236}">
                  <a16:creationId xmlns:a16="http://schemas.microsoft.com/office/drawing/2014/main" xmlns="" id="{9ABE31E8-37A1-D2DC-140B-C775E8421C9B}"/>
                </a:ext>
              </a:extLst>
            </p:cNvPr>
            <p:cNvSpPr>
              <a:spLocks noChangeShapeType="1"/>
            </p:cNvSpPr>
            <p:nvPr/>
          </p:nvSpPr>
          <p:spPr bwMode="auto">
            <a:xfrm>
              <a:off x="3126"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40">
              <a:extLst>
                <a:ext uri="{FF2B5EF4-FFF2-40B4-BE49-F238E27FC236}">
                  <a16:creationId xmlns:a16="http://schemas.microsoft.com/office/drawing/2014/main" xmlns="" id="{78750EEF-4FE3-3C57-E249-B2131020C732}"/>
                </a:ext>
              </a:extLst>
            </p:cNvPr>
            <p:cNvSpPr>
              <a:spLocks noChangeShapeType="1"/>
            </p:cNvSpPr>
            <p:nvPr/>
          </p:nvSpPr>
          <p:spPr bwMode="auto">
            <a:xfrm>
              <a:off x="3258" y="2310"/>
              <a:ext cx="492" cy="28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41">
              <a:extLst>
                <a:ext uri="{FF2B5EF4-FFF2-40B4-BE49-F238E27FC236}">
                  <a16:creationId xmlns:a16="http://schemas.microsoft.com/office/drawing/2014/main" xmlns="" id="{EAECCBCF-DB81-EAD3-F1D3-CBC289E20088}"/>
                </a:ext>
              </a:extLst>
            </p:cNvPr>
            <p:cNvSpPr>
              <a:spLocks noChangeShapeType="1"/>
            </p:cNvSpPr>
            <p:nvPr/>
          </p:nvSpPr>
          <p:spPr bwMode="auto">
            <a:xfrm flipH="1">
              <a:off x="3606"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42">
              <a:extLst>
                <a:ext uri="{FF2B5EF4-FFF2-40B4-BE49-F238E27FC236}">
                  <a16:creationId xmlns:a16="http://schemas.microsoft.com/office/drawing/2014/main" xmlns="" id="{7D6C695B-92D1-8695-FBFA-A6953A11D525}"/>
                </a:ext>
              </a:extLst>
            </p:cNvPr>
            <p:cNvSpPr>
              <a:spLocks noChangeShapeType="1"/>
            </p:cNvSpPr>
            <p:nvPr/>
          </p:nvSpPr>
          <p:spPr bwMode="auto">
            <a:xfrm>
              <a:off x="3894"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43">
              <a:extLst>
                <a:ext uri="{FF2B5EF4-FFF2-40B4-BE49-F238E27FC236}">
                  <a16:creationId xmlns:a16="http://schemas.microsoft.com/office/drawing/2014/main" xmlns="" id="{F8657279-BEAA-9120-5F5A-E569E99C2D75}"/>
                </a:ext>
              </a:extLst>
            </p:cNvPr>
            <p:cNvSpPr>
              <a:spLocks noChangeShapeType="1"/>
            </p:cNvSpPr>
            <p:nvPr/>
          </p:nvSpPr>
          <p:spPr bwMode="auto">
            <a:xfrm>
              <a:off x="3990"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0" name="Group 44">
              <a:extLst>
                <a:ext uri="{FF2B5EF4-FFF2-40B4-BE49-F238E27FC236}">
                  <a16:creationId xmlns:a16="http://schemas.microsoft.com/office/drawing/2014/main" xmlns="" id="{BBF828F6-A643-2B63-F2F4-1DCF895BA480}"/>
                </a:ext>
              </a:extLst>
            </p:cNvPr>
            <p:cNvGrpSpPr>
              <a:grpSpLocks/>
            </p:cNvGrpSpPr>
            <p:nvPr/>
          </p:nvGrpSpPr>
          <p:grpSpPr bwMode="auto">
            <a:xfrm>
              <a:off x="1728" y="3216"/>
              <a:ext cx="320" cy="245"/>
              <a:chOff x="2880" y="1104"/>
              <a:chExt cx="367" cy="336"/>
            </a:xfrm>
          </p:grpSpPr>
          <p:sp>
            <p:nvSpPr>
              <p:cNvPr id="40" name="Oval 45">
                <a:extLst>
                  <a:ext uri="{FF2B5EF4-FFF2-40B4-BE49-F238E27FC236}">
                    <a16:creationId xmlns:a16="http://schemas.microsoft.com/office/drawing/2014/main" xmlns="" id="{A615BB63-AEA6-EC89-72C0-CB1DDF32DD97}"/>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41" name="Text Box 46">
                <a:extLst>
                  <a:ext uri="{FF2B5EF4-FFF2-40B4-BE49-F238E27FC236}">
                    <a16:creationId xmlns:a16="http://schemas.microsoft.com/office/drawing/2014/main" xmlns="" id="{DE18B17B-326C-6577-2358-1A9697CF73DF}"/>
                  </a:ext>
                </a:extLst>
              </p:cNvPr>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K</a:t>
                </a:r>
              </a:p>
            </p:txBody>
          </p:sp>
        </p:grpSp>
        <p:sp>
          <p:nvSpPr>
            <p:cNvPr id="31" name="Line 47">
              <a:extLst>
                <a:ext uri="{FF2B5EF4-FFF2-40B4-BE49-F238E27FC236}">
                  <a16:creationId xmlns:a16="http://schemas.microsoft.com/office/drawing/2014/main" xmlns="" id="{226FA387-3BFC-CFD8-09A7-F1652D1CCA6C}"/>
                </a:ext>
              </a:extLst>
            </p:cNvPr>
            <p:cNvSpPr>
              <a:spLocks noChangeShapeType="1"/>
            </p:cNvSpPr>
            <p:nvPr/>
          </p:nvSpPr>
          <p:spPr bwMode="auto">
            <a:xfrm flipH="1">
              <a:off x="1926" y="3058"/>
              <a:ext cx="144" cy="18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2" name="Group 48">
              <a:extLst>
                <a:ext uri="{FF2B5EF4-FFF2-40B4-BE49-F238E27FC236}">
                  <a16:creationId xmlns:a16="http://schemas.microsoft.com/office/drawing/2014/main" xmlns="" id="{97FC53C7-5DF4-4E8B-F563-730EB42E963B}"/>
                </a:ext>
              </a:extLst>
            </p:cNvPr>
            <p:cNvGrpSpPr>
              <a:grpSpLocks/>
            </p:cNvGrpSpPr>
            <p:nvPr/>
          </p:nvGrpSpPr>
          <p:grpSpPr bwMode="auto">
            <a:xfrm>
              <a:off x="2256" y="3216"/>
              <a:ext cx="320" cy="245"/>
              <a:chOff x="2880" y="1104"/>
              <a:chExt cx="367" cy="336"/>
            </a:xfrm>
          </p:grpSpPr>
          <p:sp>
            <p:nvSpPr>
              <p:cNvPr id="38" name="Oval 49">
                <a:extLst>
                  <a:ext uri="{FF2B5EF4-FFF2-40B4-BE49-F238E27FC236}">
                    <a16:creationId xmlns:a16="http://schemas.microsoft.com/office/drawing/2014/main" xmlns="" id="{BD6B72B7-44D3-3AA4-B743-4F0DFB8F2B93}"/>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39" name="Text Box 50">
                <a:extLst>
                  <a:ext uri="{FF2B5EF4-FFF2-40B4-BE49-F238E27FC236}">
                    <a16:creationId xmlns:a16="http://schemas.microsoft.com/office/drawing/2014/main" xmlns="" id="{A744E709-F464-F057-8E6A-788FD505C471}"/>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L</a:t>
                </a:r>
              </a:p>
            </p:txBody>
          </p:sp>
        </p:grpSp>
        <p:sp>
          <p:nvSpPr>
            <p:cNvPr id="33" name="Line 51">
              <a:extLst>
                <a:ext uri="{FF2B5EF4-FFF2-40B4-BE49-F238E27FC236}">
                  <a16:creationId xmlns:a16="http://schemas.microsoft.com/office/drawing/2014/main" xmlns="" id="{EE9859C3-5218-FE5A-7D06-9F8F80CBA4E4}"/>
                </a:ext>
              </a:extLst>
            </p:cNvPr>
            <p:cNvSpPr>
              <a:spLocks noChangeShapeType="1"/>
            </p:cNvSpPr>
            <p:nvPr/>
          </p:nvSpPr>
          <p:spPr bwMode="auto">
            <a:xfrm>
              <a:off x="2247" y="3058"/>
              <a:ext cx="132" cy="158"/>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4" name="Group 52">
              <a:extLst>
                <a:ext uri="{FF2B5EF4-FFF2-40B4-BE49-F238E27FC236}">
                  <a16:creationId xmlns:a16="http://schemas.microsoft.com/office/drawing/2014/main" xmlns="" id="{D4D88865-8EC1-AB98-F74A-C26FD1883C3F}"/>
                </a:ext>
              </a:extLst>
            </p:cNvPr>
            <p:cNvGrpSpPr>
              <a:grpSpLocks/>
            </p:cNvGrpSpPr>
            <p:nvPr/>
          </p:nvGrpSpPr>
          <p:grpSpPr bwMode="auto">
            <a:xfrm>
              <a:off x="3408" y="3216"/>
              <a:ext cx="320" cy="245"/>
              <a:chOff x="2880" y="1104"/>
              <a:chExt cx="367" cy="336"/>
            </a:xfrm>
          </p:grpSpPr>
          <p:sp>
            <p:nvSpPr>
              <p:cNvPr id="36" name="Oval 53">
                <a:extLst>
                  <a:ext uri="{FF2B5EF4-FFF2-40B4-BE49-F238E27FC236}">
                    <a16:creationId xmlns:a16="http://schemas.microsoft.com/office/drawing/2014/main" xmlns="" id="{E055A2D2-8724-2355-DB38-76F1D8A76345}"/>
                  </a:ext>
                </a:extLst>
              </p:cNvPr>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37" name="Text Box 54">
                <a:extLst>
                  <a:ext uri="{FF2B5EF4-FFF2-40B4-BE49-F238E27FC236}">
                    <a16:creationId xmlns:a16="http://schemas.microsoft.com/office/drawing/2014/main" xmlns="" id="{629A0FFD-DAF7-3460-EBFC-B2FE79CEE029}"/>
                  </a:ext>
                </a:extLst>
              </p:cNvPr>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M</a:t>
                </a:r>
              </a:p>
            </p:txBody>
          </p:sp>
        </p:grpSp>
        <p:sp>
          <p:nvSpPr>
            <p:cNvPr id="35" name="Line 55">
              <a:extLst>
                <a:ext uri="{FF2B5EF4-FFF2-40B4-BE49-F238E27FC236}">
                  <a16:creationId xmlns:a16="http://schemas.microsoft.com/office/drawing/2014/main" xmlns="" id="{72297605-C3C7-5DB0-2091-7A9F6471380F}"/>
                </a:ext>
              </a:extLst>
            </p:cNvPr>
            <p:cNvSpPr>
              <a:spLocks noChangeShapeType="1"/>
            </p:cNvSpPr>
            <p:nvPr/>
          </p:nvSpPr>
          <p:spPr bwMode="auto">
            <a:xfrm>
              <a:off x="3552" y="3094"/>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2" name="文本框 61">
            <a:extLst>
              <a:ext uri="{FF2B5EF4-FFF2-40B4-BE49-F238E27FC236}">
                <a16:creationId xmlns:a16="http://schemas.microsoft.com/office/drawing/2014/main" xmlns="" id="{BB75164B-E72E-F009-5BF1-A21514C91894}"/>
              </a:ext>
            </a:extLst>
          </p:cNvPr>
          <p:cNvSpPr txBox="1"/>
          <p:nvPr/>
        </p:nvSpPr>
        <p:spPr>
          <a:xfrm>
            <a:off x="2444537" y="4496537"/>
            <a:ext cx="4509391" cy="707886"/>
          </a:xfrm>
          <a:prstGeom prst="rect">
            <a:avLst/>
          </a:prstGeom>
          <a:noFill/>
        </p:spPr>
        <p:txBody>
          <a:bodyPr wrap="square">
            <a:spAutoFit/>
          </a:bodyPr>
          <a:lstStyle/>
          <a:p>
            <a:pPr>
              <a:defRPr/>
            </a:pPr>
            <a:r>
              <a:rPr lang="zh-CN" altLang="en-US" sz="2000" dirty="0">
                <a:solidFill>
                  <a:srgbClr val="FF0000"/>
                </a:solidFill>
                <a:latin typeface="微软雅黑" pitchFamily="34" charset="-122"/>
                <a:ea typeface="微软雅黑" pitchFamily="34" charset="-122"/>
                <a:cs typeface="经典粗黑简" pitchFamily="49" charset="-122"/>
              </a:rPr>
              <a:t>树的度</a:t>
            </a:r>
            <a:r>
              <a:rPr lang="zh-CN" altLang="en-US" sz="2000" dirty="0">
                <a:latin typeface="微软雅黑" pitchFamily="34" charset="-122"/>
                <a:ea typeface="微软雅黑" pitchFamily="34" charset="-122"/>
                <a:cs typeface="经典粗黑简" pitchFamily="49" charset="-122"/>
              </a:rPr>
              <a:t>：树中各结点度的最大值，通常将度为</a:t>
            </a:r>
            <a:r>
              <a:rPr lang="en-US" altLang="zh-CN" sz="2000" dirty="0">
                <a:latin typeface="微软雅黑" pitchFamily="34" charset="-122"/>
                <a:ea typeface="微软雅黑" pitchFamily="34" charset="-122"/>
                <a:cs typeface="经典粗黑简" pitchFamily="49" charset="-122"/>
              </a:rPr>
              <a:t>m</a:t>
            </a:r>
            <a:r>
              <a:rPr lang="zh-CN" altLang="en-US" sz="2000" dirty="0">
                <a:latin typeface="微软雅黑" pitchFamily="34" charset="-122"/>
                <a:ea typeface="微软雅黑" pitchFamily="34" charset="-122"/>
                <a:cs typeface="经典粗黑简" pitchFamily="49" charset="-122"/>
              </a:rPr>
              <a:t>的树称为</a:t>
            </a:r>
            <a:r>
              <a:rPr lang="en-US" altLang="zh-CN" sz="2000" dirty="0">
                <a:solidFill>
                  <a:srgbClr val="FF0000"/>
                </a:solidFill>
                <a:latin typeface="微软雅黑" pitchFamily="34" charset="-122"/>
                <a:ea typeface="微软雅黑" pitchFamily="34" charset="-122"/>
                <a:cs typeface="经典粗黑简" pitchFamily="49" charset="-122"/>
              </a:rPr>
              <a:t>m</a:t>
            </a:r>
            <a:r>
              <a:rPr lang="zh-CN" altLang="en-US" sz="2000" dirty="0">
                <a:solidFill>
                  <a:srgbClr val="FF0000"/>
                </a:solidFill>
                <a:latin typeface="微软雅黑" pitchFamily="34" charset="-122"/>
                <a:ea typeface="微软雅黑" pitchFamily="34" charset="-122"/>
                <a:cs typeface="经典粗黑简" pitchFamily="49" charset="-122"/>
              </a:rPr>
              <a:t>次树</a:t>
            </a:r>
            <a:r>
              <a:rPr lang="zh-CN" altLang="en-US" sz="2000" dirty="0">
                <a:latin typeface="微软雅黑" pitchFamily="34" charset="-122"/>
                <a:ea typeface="微软雅黑" pitchFamily="34" charset="-122"/>
                <a:cs typeface="经典粗黑简" pitchFamily="49" charset="-122"/>
              </a:rPr>
              <a:t>或者</a:t>
            </a:r>
            <a:r>
              <a:rPr lang="en-US" altLang="zh-CN" sz="2000" dirty="0">
                <a:solidFill>
                  <a:srgbClr val="FF0000"/>
                </a:solidFill>
                <a:latin typeface="微软雅黑" pitchFamily="34" charset="-122"/>
                <a:ea typeface="微软雅黑" pitchFamily="34" charset="-122"/>
                <a:cs typeface="经典粗黑简" pitchFamily="49" charset="-122"/>
              </a:rPr>
              <a:t>m</a:t>
            </a:r>
            <a:r>
              <a:rPr lang="zh-CN" altLang="en-US" sz="2000" dirty="0">
                <a:solidFill>
                  <a:srgbClr val="FF0000"/>
                </a:solidFill>
                <a:latin typeface="微软雅黑" pitchFamily="34" charset="-122"/>
                <a:ea typeface="微软雅黑" pitchFamily="34" charset="-122"/>
                <a:cs typeface="经典粗黑简" pitchFamily="49" charset="-122"/>
              </a:rPr>
              <a:t>叉树</a:t>
            </a:r>
            <a:r>
              <a:rPr lang="zh-CN" altLang="en-US" sz="2000" dirty="0">
                <a:latin typeface="微软雅黑" pitchFamily="34" charset="-122"/>
                <a:ea typeface="微软雅黑" pitchFamily="34" charset="-122"/>
                <a:cs typeface="经典粗黑简" pitchFamily="49" charset="-122"/>
              </a:rPr>
              <a:t>。</a:t>
            </a:r>
          </a:p>
        </p:txBody>
      </p:sp>
    </p:spTree>
    <p:extLst>
      <p:ext uri="{BB962C8B-B14F-4D97-AF65-F5344CB8AC3E}">
        <p14:creationId xmlns:p14="http://schemas.microsoft.com/office/powerpoint/2010/main" val="135581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Group 4"/>
          <p:cNvGrpSpPr>
            <a:grpSpLocks/>
          </p:cNvGrpSpPr>
          <p:nvPr/>
        </p:nvGrpSpPr>
        <p:grpSpPr bwMode="auto">
          <a:xfrm>
            <a:off x="3359696" y="4050688"/>
            <a:ext cx="4571602" cy="2350282"/>
            <a:chOff x="1728" y="2160"/>
            <a:chExt cx="2680" cy="1301"/>
          </a:xfrm>
        </p:grpSpPr>
        <p:grpSp>
          <p:nvGrpSpPr>
            <p:cNvPr id="74" name="Group 5"/>
            <p:cNvGrpSpPr>
              <a:grpSpLocks/>
            </p:cNvGrpSpPr>
            <p:nvPr/>
          </p:nvGrpSpPr>
          <p:grpSpPr bwMode="auto">
            <a:xfrm>
              <a:off x="4088" y="2855"/>
              <a:ext cx="320" cy="246"/>
              <a:chOff x="2880" y="1103"/>
              <a:chExt cx="367" cy="337"/>
            </a:xfrm>
          </p:grpSpPr>
          <p:sp>
            <p:nvSpPr>
              <p:cNvPr id="123" name="Oval 6"/>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24" name="Text Box 7"/>
              <p:cNvSpPr txBox="1">
                <a:spLocks noChangeArrowheads="1"/>
              </p:cNvSpPr>
              <p:nvPr/>
            </p:nvSpPr>
            <p:spPr bwMode="auto">
              <a:xfrm>
                <a:off x="2928" y="1103"/>
                <a:ext cx="31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J</a:t>
                </a:r>
              </a:p>
            </p:txBody>
          </p:sp>
        </p:grpSp>
        <p:grpSp>
          <p:nvGrpSpPr>
            <p:cNvPr id="75" name="Group 8"/>
            <p:cNvGrpSpPr>
              <a:grpSpLocks/>
            </p:cNvGrpSpPr>
            <p:nvPr/>
          </p:nvGrpSpPr>
          <p:grpSpPr bwMode="auto">
            <a:xfrm>
              <a:off x="3750" y="2858"/>
              <a:ext cx="320" cy="245"/>
              <a:chOff x="2880" y="1104"/>
              <a:chExt cx="367" cy="336"/>
            </a:xfrm>
          </p:grpSpPr>
          <p:sp>
            <p:nvSpPr>
              <p:cNvPr id="121" name="Oval 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22" name="Text Box 10"/>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I</a:t>
                </a:r>
              </a:p>
            </p:txBody>
          </p:sp>
        </p:grpSp>
        <p:grpSp>
          <p:nvGrpSpPr>
            <p:cNvPr id="76" name="Group 11"/>
            <p:cNvGrpSpPr>
              <a:grpSpLocks/>
            </p:cNvGrpSpPr>
            <p:nvPr/>
          </p:nvGrpSpPr>
          <p:grpSpPr bwMode="auto">
            <a:xfrm>
              <a:off x="2982" y="2160"/>
              <a:ext cx="320" cy="245"/>
              <a:chOff x="2880" y="1104"/>
              <a:chExt cx="367" cy="336"/>
            </a:xfrm>
          </p:grpSpPr>
          <p:sp>
            <p:nvSpPr>
              <p:cNvPr id="119" name="Oval 12"/>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20" name="Text Box 13"/>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A</a:t>
                </a:r>
              </a:p>
            </p:txBody>
          </p:sp>
        </p:grpSp>
        <p:grpSp>
          <p:nvGrpSpPr>
            <p:cNvPr id="77" name="Group 14"/>
            <p:cNvGrpSpPr>
              <a:grpSpLocks/>
            </p:cNvGrpSpPr>
            <p:nvPr/>
          </p:nvGrpSpPr>
          <p:grpSpPr bwMode="auto">
            <a:xfrm>
              <a:off x="2982" y="2497"/>
              <a:ext cx="320" cy="245"/>
              <a:chOff x="2880" y="1104"/>
              <a:chExt cx="367" cy="336"/>
            </a:xfrm>
          </p:grpSpPr>
          <p:sp>
            <p:nvSpPr>
              <p:cNvPr id="117" name="Oval 1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8" name="Text Box 16"/>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C</a:t>
                </a:r>
              </a:p>
            </p:txBody>
          </p:sp>
        </p:grpSp>
        <p:grpSp>
          <p:nvGrpSpPr>
            <p:cNvPr id="78" name="Group 17"/>
            <p:cNvGrpSpPr>
              <a:grpSpLocks/>
            </p:cNvGrpSpPr>
            <p:nvPr/>
          </p:nvGrpSpPr>
          <p:grpSpPr bwMode="auto">
            <a:xfrm>
              <a:off x="2304" y="2497"/>
              <a:ext cx="320" cy="245"/>
              <a:chOff x="2880" y="1104"/>
              <a:chExt cx="367" cy="336"/>
            </a:xfrm>
          </p:grpSpPr>
          <p:sp>
            <p:nvSpPr>
              <p:cNvPr id="115" name="Oval 18"/>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6" name="Text Box 19"/>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B</a:t>
                </a:r>
              </a:p>
            </p:txBody>
          </p:sp>
        </p:grpSp>
        <p:grpSp>
          <p:nvGrpSpPr>
            <p:cNvPr id="79" name="Group 20"/>
            <p:cNvGrpSpPr>
              <a:grpSpLocks/>
            </p:cNvGrpSpPr>
            <p:nvPr/>
          </p:nvGrpSpPr>
          <p:grpSpPr bwMode="auto">
            <a:xfrm>
              <a:off x="3750" y="2497"/>
              <a:ext cx="320" cy="245"/>
              <a:chOff x="2880" y="1104"/>
              <a:chExt cx="367" cy="336"/>
            </a:xfrm>
          </p:grpSpPr>
          <p:sp>
            <p:nvSpPr>
              <p:cNvPr id="113" name="Oval 21"/>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4" name="Text Box 22"/>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D</a:t>
                </a:r>
              </a:p>
            </p:txBody>
          </p:sp>
        </p:grpSp>
        <p:grpSp>
          <p:nvGrpSpPr>
            <p:cNvPr id="80" name="Group 23"/>
            <p:cNvGrpSpPr>
              <a:grpSpLocks/>
            </p:cNvGrpSpPr>
            <p:nvPr/>
          </p:nvGrpSpPr>
          <p:grpSpPr bwMode="auto">
            <a:xfrm>
              <a:off x="3408" y="2858"/>
              <a:ext cx="320" cy="245"/>
              <a:chOff x="2880" y="1104"/>
              <a:chExt cx="367" cy="336"/>
            </a:xfrm>
          </p:grpSpPr>
          <p:sp>
            <p:nvSpPr>
              <p:cNvPr id="111" name="Oval 24"/>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2" name="Text Box 25"/>
              <p:cNvSpPr txBox="1">
                <a:spLocks noChangeArrowheads="1"/>
              </p:cNvSpPr>
              <p:nvPr/>
            </p:nvSpPr>
            <p:spPr bwMode="auto">
              <a:xfrm>
                <a:off x="2925" y="1107"/>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H</a:t>
                </a:r>
              </a:p>
            </p:txBody>
          </p:sp>
        </p:grpSp>
        <p:grpSp>
          <p:nvGrpSpPr>
            <p:cNvPr id="81" name="Group 26"/>
            <p:cNvGrpSpPr>
              <a:grpSpLocks/>
            </p:cNvGrpSpPr>
            <p:nvPr/>
          </p:nvGrpSpPr>
          <p:grpSpPr bwMode="auto">
            <a:xfrm>
              <a:off x="2982" y="2858"/>
              <a:ext cx="320" cy="245"/>
              <a:chOff x="2880" y="1104"/>
              <a:chExt cx="367" cy="336"/>
            </a:xfrm>
          </p:grpSpPr>
          <p:sp>
            <p:nvSpPr>
              <p:cNvPr id="109" name="Oval 27"/>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10" name="Text Box 28"/>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G</a:t>
                </a:r>
              </a:p>
            </p:txBody>
          </p:sp>
        </p:grpSp>
        <p:grpSp>
          <p:nvGrpSpPr>
            <p:cNvPr id="82" name="Group 29"/>
            <p:cNvGrpSpPr>
              <a:grpSpLocks/>
            </p:cNvGrpSpPr>
            <p:nvPr/>
          </p:nvGrpSpPr>
          <p:grpSpPr bwMode="auto">
            <a:xfrm>
              <a:off x="2502" y="2858"/>
              <a:ext cx="320" cy="245"/>
              <a:chOff x="2880" y="1104"/>
              <a:chExt cx="367" cy="336"/>
            </a:xfrm>
          </p:grpSpPr>
          <p:sp>
            <p:nvSpPr>
              <p:cNvPr id="107" name="Oval 30"/>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8" name="Text Box 31"/>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F</a:t>
                </a:r>
              </a:p>
            </p:txBody>
          </p:sp>
        </p:grpSp>
        <p:grpSp>
          <p:nvGrpSpPr>
            <p:cNvPr id="83" name="Group 32"/>
            <p:cNvGrpSpPr>
              <a:grpSpLocks/>
            </p:cNvGrpSpPr>
            <p:nvPr/>
          </p:nvGrpSpPr>
          <p:grpSpPr bwMode="auto">
            <a:xfrm>
              <a:off x="2016" y="2858"/>
              <a:ext cx="320" cy="245"/>
              <a:chOff x="2880" y="1104"/>
              <a:chExt cx="367" cy="336"/>
            </a:xfrm>
          </p:grpSpPr>
          <p:sp>
            <p:nvSpPr>
              <p:cNvPr id="105" name="Oval 3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6" name="Text Box 34"/>
              <p:cNvSpPr txBox="1">
                <a:spLocks noChangeArrowheads="1"/>
              </p:cNvSpPr>
              <p:nvPr/>
            </p:nvSpPr>
            <p:spPr bwMode="auto">
              <a:xfrm>
                <a:off x="2928" y="1107"/>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E</a:t>
                </a:r>
              </a:p>
            </p:txBody>
          </p:sp>
        </p:grpSp>
        <p:sp>
          <p:nvSpPr>
            <p:cNvPr id="84" name="Line 35"/>
            <p:cNvSpPr>
              <a:spLocks noChangeShapeType="1"/>
            </p:cNvSpPr>
            <p:nvPr/>
          </p:nvSpPr>
          <p:spPr bwMode="auto">
            <a:xfrm>
              <a:off x="3126" y="2400"/>
              <a:ext cx="0" cy="96"/>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36"/>
            <p:cNvSpPr>
              <a:spLocks noChangeShapeType="1"/>
            </p:cNvSpPr>
            <p:nvPr/>
          </p:nvSpPr>
          <p:spPr bwMode="auto">
            <a:xfrm flipH="1">
              <a:off x="2550" y="2304"/>
              <a:ext cx="432"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37"/>
            <p:cNvSpPr>
              <a:spLocks noChangeShapeType="1"/>
            </p:cNvSpPr>
            <p:nvPr/>
          </p:nvSpPr>
          <p:spPr bwMode="auto">
            <a:xfrm flipH="1">
              <a:off x="2247" y="2729"/>
              <a:ext cx="132"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38"/>
            <p:cNvSpPr>
              <a:spLocks noChangeShapeType="1"/>
            </p:cNvSpPr>
            <p:nvPr/>
          </p:nvSpPr>
          <p:spPr bwMode="auto">
            <a:xfrm>
              <a:off x="2532" y="2729"/>
              <a:ext cx="114" cy="151"/>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39"/>
            <p:cNvSpPr>
              <a:spLocks noChangeShapeType="1"/>
            </p:cNvSpPr>
            <p:nvPr/>
          </p:nvSpPr>
          <p:spPr bwMode="auto">
            <a:xfrm>
              <a:off x="3126"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40"/>
            <p:cNvSpPr>
              <a:spLocks noChangeShapeType="1"/>
            </p:cNvSpPr>
            <p:nvPr/>
          </p:nvSpPr>
          <p:spPr bwMode="auto">
            <a:xfrm>
              <a:off x="3258" y="2310"/>
              <a:ext cx="492" cy="28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Line 41"/>
            <p:cNvSpPr>
              <a:spLocks noChangeShapeType="1"/>
            </p:cNvSpPr>
            <p:nvPr/>
          </p:nvSpPr>
          <p:spPr bwMode="auto">
            <a:xfrm flipH="1">
              <a:off x="3606"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 name="Line 42"/>
            <p:cNvSpPr>
              <a:spLocks noChangeShapeType="1"/>
            </p:cNvSpPr>
            <p:nvPr/>
          </p:nvSpPr>
          <p:spPr bwMode="auto">
            <a:xfrm>
              <a:off x="3894" y="2736"/>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43"/>
            <p:cNvSpPr>
              <a:spLocks noChangeShapeType="1"/>
            </p:cNvSpPr>
            <p:nvPr/>
          </p:nvSpPr>
          <p:spPr bwMode="auto">
            <a:xfrm>
              <a:off x="3990" y="2688"/>
              <a:ext cx="192"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3" name="Group 44"/>
            <p:cNvGrpSpPr>
              <a:grpSpLocks/>
            </p:cNvGrpSpPr>
            <p:nvPr/>
          </p:nvGrpSpPr>
          <p:grpSpPr bwMode="auto">
            <a:xfrm>
              <a:off x="1728" y="3216"/>
              <a:ext cx="320" cy="245"/>
              <a:chOff x="2880" y="1104"/>
              <a:chExt cx="367" cy="336"/>
            </a:xfrm>
          </p:grpSpPr>
          <p:sp>
            <p:nvSpPr>
              <p:cNvPr id="103" name="Oval 45"/>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4" name="Text Box 46"/>
              <p:cNvSpPr txBox="1">
                <a:spLocks noChangeArrowheads="1"/>
              </p:cNvSpPr>
              <p:nvPr/>
            </p:nvSpPr>
            <p:spPr bwMode="auto">
              <a:xfrm>
                <a:off x="2928" y="1104"/>
                <a:ext cx="31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K</a:t>
                </a:r>
              </a:p>
            </p:txBody>
          </p:sp>
        </p:grpSp>
        <p:sp>
          <p:nvSpPr>
            <p:cNvPr id="94" name="Line 47"/>
            <p:cNvSpPr>
              <a:spLocks noChangeShapeType="1"/>
            </p:cNvSpPr>
            <p:nvPr/>
          </p:nvSpPr>
          <p:spPr bwMode="auto">
            <a:xfrm flipH="1">
              <a:off x="1926" y="3058"/>
              <a:ext cx="144" cy="18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5" name="Group 48"/>
            <p:cNvGrpSpPr>
              <a:grpSpLocks/>
            </p:cNvGrpSpPr>
            <p:nvPr/>
          </p:nvGrpSpPr>
          <p:grpSpPr bwMode="auto">
            <a:xfrm>
              <a:off x="2256" y="3216"/>
              <a:ext cx="320" cy="245"/>
              <a:chOff x="2880" y="1104"/>
              <a:chExt cx="367" cy="336"/>
            </a:xfrm>
          </p:grpSpPr>
          <p:sp>
            <p:nvSpPr>
              <p:cNvPr id="101" name="Oval 49"/>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2" name="Text Box 50"/>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L</a:t>
                </a:r>
              </a:p>
            </p:txBody>
          </p:sp>
        </p:grpSp>
        <p:sp>
          <p:nvSpPr>
            <p:cNvPr id="96" name="Line 51"/>
            <p:cNvSpPr>
              <a:spLocks noChangeShapeType="1"/>
            </p:cNvSpPr>
            <p:nvPr/>
          </p:nvSpPr>
          <p:spPr bwMode="auto">
            <a:xfrm>
              <a:off x="2247" y="3058"/>
              <a:ext cx="132" cy="158"/>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7" name="Group 52"/>
            <p:cNvGrpSpPr>
              <a:grpSpLocks/>
            </p:cNvGrpSpPr>
            <p:nvPr/>
          </p:nvGrpSpPr>
          <p:grpSpPr bwMode="auto">
            <a:xfrm>
              <a:off x="3408" y="3216"/>
              <a:ext cx="320" cy="245"/>
              <a:chOff x="2880" y="1104"/>
              <a:chExt cx="367" cy="336"/>
            </a:xfrm>
          </p:grpSpPr>
          <p:sp>
            <p:nvSpPr>
              <p:cNvPr id="99" name="Oval 53"/>
              <p:cNvSpPr>
                <a:spLocks noChangeArrowheads="1"/>
              </p:cNvSpPr>
              <p:nvPr/>
            </p:nvSpPr>
            <p:spPr bwMode="auto">
              <a:xfrm>
                <a:off x="2880" y="1104"/>
                <a:ext cx="317" cy="336"/>
              </a:xfrm>
              <a:prstGeom prst="ellipse">
                <a:avLst/>
              </a:prstGeom>
              <a:solidFill>
                <a:srgbClr val="DBE0B4"/>
              </a:solidFill>
              <a:ln w="12700" cap="rnd">
                <a:solidFill>
                  <a:srgbClr val="000000"/>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00" name="Text Box 54"/>
              <p:cNvSpPr txBox="1">
                <a:spLocks noChangeArrowheads="1"/>
              </p:cNvSpPr>
              <p:nvPr/>
            </p:nvSpPr>
            <p:spPr bwMode="auto">
              <a:xfrm>
                <a:off x="2925" y="1104"/>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M</a:t>
                </a:r>
              </a:p>
            </p:txBody>
          </p:sp>
        </p:grpSp>
        <p:sp>
          <p:nvSpPr>
            <p:cNvPr id="98" name="Line 55"/>
            <p:cNvSpPr>
              <a:spLocks noChangeShapeType="1"/>
            </p:cNvSpPr>
            <p:nvPr/>
          </p:nvSpPr>
          <p:spPr bwMode="auto">
            <a:xfrm>
              <a:off x="3552" y="3094"/>
              <a:ext cx="0" cy="144"/>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 name="矩形 3"/>
          <p:cNvSpPr/>
          <p:nvPr/>
        </p:nvSpPr>
        <p:spPr>
          <a:xfrm>
            <a:off x="2413633" y="2333556"/>
            <a:ext cx="6246866" cy="400110"/>
          </a:xfrm>
          <a:prstGeom prst="rect">
            <a:avLst/>
          </a:prstGeom>
        </p:spPr>
        <p:txBody>
          <a:bodyPr wrap="square">
            <a:spAutoFit/>
          </a:bodyPr>
          <a:lstStyle/>
          <a:p>
            <a:pPr>
              <a:defRPr/>
            </a:pPr>
            <a:r>
              <a:rPr kumimoji="1" lang="zh-CN" altLang="en-US" sz="2000" dirty="0">
                <a:solidFill>
                  <a:srgbClr val="FF0000"/>
                </a:solidFill>
                <a:latin typeface="微软雅黑" pitchFamily="34" charset="-122"/>
                <a:ea typeface="微软雅黑" pitchFamily="34" charset="-122"/>
                <a:cs typeface="经典粗黑简" pitchFamily="49" charset="-122"/>
              </a:rPr>
              <a:t>树的深度</a:t>
            </a:r>
            <a:r>
              <a:rPr kumimoji="1" lang="zh-CN" altLang="en-US" sz="2000" dirty="0">
                <a:latin typeface="微软雅黑" pitchFamily="34" charset="-122"/>
                <a:ea typeface="微软雅黑" pitchFamily="34" charset="-122"/>
                <a:cs typeface="经典粗黑简" pitchFamily="49" charset="-122"/>
              </a:rPr>
              <a:t>：树中所有结点的最大层数，也称高度。</a:t>
            </a:r>
          </a:p>
        </p:txBody>
      </p:sp>
      <p:sp>
        <p:nvSpPr>
          <p:cNvPr id="63" name="矩形 62"/>
          <p:cNvSpPr/>
          <p:nvPr/>
        </p:nvSpPr>
        <p:spPr>
          <a:xfrm>
            <a:off x="2410202" y="1613477"/>
            <a:ext cx="8438325" cy="707886"/>
          </a:xfrm>
          <a:prstGeom prst="rect">
            <a:avLst/>
          </a:prstGeom>
        </p:spPr>
        <p:txBody>
          <a:bodyPr wrap="square">
            <a:spAutoFit/>
          </a:bodyPr>
          <a:lstStyle/>
          <a:p>
            <a:pPr>
              <a:defRPr/>
            </a:pPr>
            <a:r>
              <a:rPr kumimoji="1" lang="zh-CN" altLang="en-US" sz="2000" dirty="0">
                <a:solidFill>
                  <a:srgbClr val="FF0000"/>
                </a:solidFill>
                <a:latin typeface="微软雅黑" pitchFamily="34" charset="-122"/>
                <a:ea typeface="微软雅黑" pitchFamily="34" charset="-122"/>
                <a:cs typeface="经典粗黑简" pitchFamily="49" charset="-122"/>
              </a:rPr>
              <a:t>结点所在层数</a:t>
            </a:r>
            <a:r>
              <a:rPr kumimoji="1" lang="zh-CN" altLang="en-US" sz="2000" dirty="0">
                <a:latin typeface="微软雅黑" pitchFamily="34" charset="-122"/>
                <a:ea typeface="微软雅黑" pitchFamily="34" charset="-122"/>
                <a:cs typeface="经典粗黑简" pitchFamily="49" charset="-122"/>
              </a:rPr>
              <a:t>：根结点的层数为1；对其余任何结点，若某结点在第</a:t>
            </a:r>
            <a:r>
              <a:rPr kumimoji="1" lang="en-US" altLang="zh-CN" sz="2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层，则其孩子结点在第</a:t>
            </a:r>
            <a:r>
              <a:rPr kumimoji="1" lang="en-US" altLang="zh-CN" sz="2000" dirty="0">
                <a:latin typeface="微软雅黑" pitchFamily="34" charset="-122"/>
                <a:ea typeface="微软雅黑" pitchFamily="34" charset="-122"/>
                <a:cs typeface="经典粗黑简" pitchFamily="49" charset="-122"/>
              </a:rPr>
              <a:t>i+1</a:t>
            </a:r>
            <a:r>
              <a:rPr kumimoji="1" lang="zh-CN" altLang="en-US" sz="2000" dirty="0">
                <a:latin typeface="微软雅黑" pitchFamily="34" charset="-122"/>
                <a:ea typeface="微软雅黑" pitchFamily="34" charset="-122"/>
                <a:cs typeface="经典粗黑简" pitchFamily="49" charset="-122"/>
              </a:rPr>
              <a:t>层。</a:t>
            </a:r>
            <a:r>
              <a:rPr lang="zh-CN" altLang="en-US" sz="2000" dirty="0">
                <a:solidFill>
                  <a:srgbClr val="FF0000"/>
                </a:solidFill>
                <a:latin typeface="微软雅黑" pitchFamily="34" charset="-122"/>
                <a:ea typeface="微软雅黑" pitchFamily="34" charset="-122"/>
                <a:cs typeface="经典粗黑简" pitchFamily="49" charset="-122"/>
              </a:rPr>
              <a:t>堂兄弟结点</a:t>
            </a:r>
            <a:r>
              <a:rPr lang="zh-CN" altLang="en-US" sz="2000" dirty="0">
                <a:latin typeface="微软雅黑" pitchFamily="34" charset="-122"/>
                <a:ea typeface="微软雅黑" pitchFamily="34" charset="-122"/>
                <a:cs typeface="经典粗黑简" pitchFamily="49" charset="-122"/>
              </a:rPr>
              <a:t>：其父结点在同一层上的结点；</a:t>
            </a:r>
          </a:p>
        </p:txBody>
      </p:sp>
      <p:sp>
        <p:nvSpPr>
          <p:cNvPr id="5" name="矩形 4"/>
          <p:cNvSpPr/>
          <p:nvPr/>
        </p:nvSpPr>
        <p:spPr>
          <a:xfrm>
            <a:off x="2384926" y="2839354"/>
            <a:ext cx="8391594" cy="707886"/>
          </a:xfrm>
          <a:prstGeom prst="rect">
            <a:avLst/>
          </a:prstGeom>
        </p:spPr>
        <p:txBody>
          <a:bodyPr wrap="square">
            <a:spAutoFit/>
          </a:bodyPr>
          <a:lstStyle/>
          <a:p>
            <a:pPr>
              <a:defRPr/>
            </a:pPr>
            <a:r>
              <a:rPr kumimoji="1" lang="zh-CN" altLang="en-US" sz="2000" dirty="0">
                <a:solidFill>
                  <a:srgbClr val="FF0000"/>
                </a:solidFill>
                <a:latin typeface="微软雅黑" pitchFamily="34" charset="-122"/>
                <a:ea typeface="微软雅黑" pitchFamily="34" charset="-122"/>
                <a:cs typeface="经典粗黑简" pitchFamily="49" charset="-122"/>
              </a:rPr>
              <a:t>有序树、无序树：</a:t>
            </a:r>
            <a:r>
              <a:rPr kumimoji="1" lang="zh-CN" altLang="en-US" sz="2000" dirty="0">
                <a:latin typeface="微软雅黑" pitchFamily="34" charset="-122"/>
                <a:ea typeface="微软雅黑" pitchFamily="34" charset="-122"/>
                <a:cs typeface="经典粗黑简" pitchFamily="49" charset="-122"/>
              </a:rPr>
              <a:t>如果一棵树中结点的各子树从左到右是有次序的，称这棵树为有序树；反之，称为无序树。</a:t>
            </a:r>
          </a:p>
        </p:txBody>
      </p:sp>
      <p:sp>
        <p:nvSpPr>
          <p:cNvPr id="6" name="矩形 5"/>
          <p:cNvSpPr/>
          <p:nvPr/>
        </p:nvSpPr>
        <p:spPr>
          <a:xfrm>
            <a:off x="2387593" y="3557692"/>
            <a:ext cx="4842992" cy="400110"/>
          </a:xfrm>
          <a:prstGeom prst="rect">
            <a:avLst/>
          </a:prstGeom>
        </p:spPr>
        <p:txBody>
          <a:bodyPr wrap="none">
            <a:spAutoFit/>
          </a:bodyPr>
          <a:lstStyle/>
          <a:p>
            <a:pPr>
              <a:defRPr/>
            </a:pPr>
            <a:r>
              <a:rPr kumimoji="1" lang="zh-CN" altLang="en-US" sz="2000" dirty="0">
                <a:solidFill>
                  <a:srgbClr val="FF0000"/>
                </a:solidFill>
                <a:latin typeface="微软雅黑" pitchFamily="34" charset="-122"/>
                <a:ea typeface="微软雅黑" pitchFamily="34" charset="-122"/>
                <a:cs typeface="经典粗黑简" pitchFamily="49" charset="-122"/>
              </a:rPr>
              <a:t>森林</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m (m≥0)</a:t>
            </a:r>
            <a:r>
              <a:rPr kumimoji="1" lang="zh-CN" altLang="en-US" sz="2000" dirty="0">
                <a:latin typeface="微软雅黑" pitchFamily="34" charset="-122"/>
                <a:ea typeface="微软雅黑" pitchFamily="34" charset="-122"/>
                <a:cs typeface="经典粗黑简" pitchFamily="49" charset="-122"/>
              </a:rPr>
              <a:t>棵互不相交的树的集合。</a:t>
            </a:r>
          </a:p>
        </p:txBody>
      </p:sp>
      <p:sp>
        <p:nvSpPr>
          <p:cNvPr id="3" name="矩形 2">
            <a:extLst>
              <a:ext uri="{FF2B5EF4-FFF2-40B4-BE49-F238E27FC236}">
                <a16:creationId xmlns:a16="http://schemas.microsoft.com/office/drawing/2014/main" xmlns="" id="{9565F3C5-E381-2174-4799-7E3EEEC5ECB2}"/>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7" name="Rectangle 2">
            <a:extLst>
              <a:ext uri="{FF2B5EF4-FFF2-40B4-BE49-F238E27FC236}">
                <a16:creationId xmlns:a16="http://schemas.microsoft.com/office/drawing/2014/main" xmlns="" id="{F7E0B219-D96F-EE14-D205-E3145B56B92F}"/>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7.1.3 </a:t>
            </a:r>
            <a:r>
              <a:rPr lang="zh-CN" altLang="en-US" dirty="0"/>
              <a:t>树的基本术语</a:t>
            </a:r>
          </a:p>
        </p:txBody>
      </p:sp>
      <p:cxnSp>
        <p:nvCxnSpPr>
          <p:cNvPr id="8" name="直接连接符 7">
            <a:extLst>
              <a:ext uri="{FF2B5EF4-FFF2-40B4-BE49-F238E27FC236}">
                <a16:creationId xmlns:a16="http://schemas.microsoft.com/office/drawing/2014/main" xmlns="" id="{650F0907-C2C7-432A-BCB6-E1FE1E42969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pSp>
        <p:nvGrpSpPr>
          <p:cNvPr id="9" name="组合 66">
            <a:extLst>
              <a:ext uri="{FF2B5EF4-FFF2-40B4-BE49-F238E27FC236}">
                <a16:creationId xmlns:a16="http://schemas.microsoft.com/office/drawing/2014/main" xmlns="" id="{F2AE48BD-F354-BD2B-6509-81D05F3B1EE5}"/>
              </a:ext>
            </a:extLst>
          </p:cNvPr>
          <p:cNvGrpSpPr/>
          <p:nvPr/>
        </p:nvGrpSpPr>
        <p:grpSpPr>
          <a:xfrm>
            <a:off x="6729110" y="4057386"/>
            <a:ext cx="3360759" cy="396875"/>
            <a:chOff x="3929058" y="2714620"/>
            <a:chExt cx="3360759" cy="396875"/>
          </a:xfrm>
        </p:grpSpPr>
        <p:sp>
          <p:nvSpPr>
            <p:cNvPr id="10" name="Text Box 30">
              <a:extLst>
                <a:ext uri="{FF2B5EF4-FFF2-40B4-BE49-F238E27FC236}">
                  <a16:creationId xmlns:a16="http://schemas.microsoft.com/office/drawing/2014/main" xmlns="" id="{6E468D68-4B22-8682-5154-24A917AA3A30}"/>
                </a:ext>
              </a:extLst>
            </p:cNvPr>
            <p:cNvSpPr txBox="1">
              <a:spLocks noChangeArrowheads="1"/>
            </p:cNvSpPr>
            <p:nvPr/>
          </p:nvSpPr>
          <p:spPr bwMode="auto">
            <a:xfrm>
              <a:off x="6929454" y="2714620"/>
              <a:ext cx="360363" cy="396875"/>
            </a:xfrm>
            <a:prstGeom prst="rect">
              <a:avLst/>
            </a:prstGeom>
            <a:noFill/>
            <a:ln w="9525" algn="ctr">
              <a:noFill/>
              <a:miter lim="800000"/>
              <a:headEnd/>
              <a:tailEnd type="none" w="med" len="lg"/>
            </a:ln>
            <a:effectLst/>
          </p:spPr>
          <p:txBody>
            <a:bodyPr>
              <a:spAutoFit/>
            </a:bodyPr>
            <a:lstStyle/>
            <a:p>
              <a:pPr>
                <a:spcBef>
                  <a:spcPct val="50000"/>
                </a:spcBef>
              </a:pPr>
              <a:r>
                <a:rPr lang="en-US" altLang="zh-CN" sz="2000" dirty="0">
                  <a:solidFill>
                    <a:srgbClr val="CC00FF"/>
                  </a:solidFill>
                  <a:latin typeface="Consolas" pitchFamily="49" charset="0"/>
                  <a:cs typeface="Consolas" pitchFamily="49" charset="0"/>
                </a:rPr>
                <a:t>1</a:t>
              </a:r>
            </a:p>
          </p:txBody>
        </p:sp>
        <p:cxnSp>
          <p:nvCxnSpPr>
            <p:cNvPr id="11" name="直接连接符 10">
              <a:extLst>
                <a:ext uri="{FF2B5EF4-FFF2-40B4-BE49-F238E27FC236}">
                  <a16:creationId xmlns:a16="http://schemas.microsoft.com/office/drawing/2014/main" xmlns="" id="{4D5F3996-3369-13C7-1B94-ED800FFADE57}"/>
                </a:ext>
              </a:extLst>
            </p:cNvPr>
            <p:cNvCxnSpPr/>
            <p:nvPr/>
          </p:nvCxnSpPr>
          <p:spPr>
            <a:xfrm>
              <a:off x="3929058" y="2928934"/>
              <a:ext cx="2857520" cy="1588"/>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grpSp>
      <p:grpSp>
        <p:nvGrpSpPr>
          <p:cNvPr id="12" name="组合 67">
            <a:extLst>
              <a:ext uri="{FF2B5EF4-FFF2-40B4-BE49-F238E27FC236}">
                <a16:creationId xmlns:a16="http://schemas.microsoft.com/office/drawing/2014/main" xmlns="" id="{455BC254-A41C-7062-80E7-FA52BB54768E}"/>
              </a:ext>
            </a:extLst>
          </p:cNvPr>
          <p:cNvGrpSpPr/>
          <p:nvPr/>
        </p:nvGrpSpPr>
        <p:grpSpPr>
          <a:xfrm>
            <a:off x="7729242" y="4732081"/>
            <a:ext cx="2360627" cy="396875"/>
            <a:chOff x="4929190" y="3389315"/>
            <a:chExt cx="2360627" cy="396875"/>
          </a:xfrm>
        </p:grpSpPr>
        <p:sp>
          <p:nvSpPr>
            <p:cNvPr id="13" name="Text Box 31">
              <a:extLst>
                <a:ext uri="{FF2B5EF4-FFF2-40B4-BE49-F238E27FC236}">
                  <a16:creationId xmlns:a16="http://schemas.microsoft.com/office/drawing/2014/main" xmlns="" id="{FF9951F7-9DC8-B046-C1C8-BD981B8FD481}"/>
                </a:ext>
              </a:extLst>
            </p:cNvPr>
            <p:cNvSpPr txBox="1">
              <a:spLocks noChangeArrowheads="1"/>
            </p:cNvSpPr>
            <p:nvPr/>
          </p:nvSpPr>
          <p:spPr bwMode="auto">
            <a:xfrm>
              <a:off x="6929454" y="3389315"/>
              <a:ext cx="360363" cy="396875"/>
            </a:xfrm>
            <a:prstGeom prst="rect">
              <a:avLst/>
            </a:prstGeom>
            <a:noFill/>
            <a:ln w="9525" algn="ctr">
              <a:noFill/>
              <a:miter lim="800000"/>
              <a:headEnd/>
              <a:tailEnd type="none" w="med" len="lg"/>
            </a:ln>
            <a:effectLst/>
          </p:spPr>
          <p:txBody>
            <a:bodyPr>
              <a:spAutoFit/>
            </a:bodyPr>
            <a:lstStyle/>
            <a:p>
              <a:pPr>
                <a:spcBef>
                  <a:spcPct val="50000"/>
                </a:spcBef>
              </a:pPr>
              <a:r>
                <a:rPr lang="en-US" altLang="zh-CN" sz="2000">
                  <a:solidFill>
                    <a:srgbClr val="CC00FF"/>
                  </a:solidFill>
                  <a:latin typeface="Consolas" pitchFamily="49" charset="0"/>
                  <a:cs typeface="Consolas" pitchFamily="49" charset="0"/>
                </a:rPr>
                <a:t>2</a:t>
              </a:r>
            </a:p>
          </p:txBody>
        </p:sp>
        <p:cxnSp>
          <p:nvCxnSpPr>
            <p:cNvPr id="14" name="直接连接符 13">
              <a:extLst>
                <a:ext uri="{FF2B5EF4-FFF2-40B4-BE49-F238E27FC236}">
                  <a16:creationId xmlns:a16="http://schemas.microsoft.com/office/drawing/2014/main" xmlns="" id="{C5E57D36-9E9F-B64F-1E12-2D56E06A09F9}"/>
                </a:ext>
              </a:extLst>
            </p:cNvPr>
            <p:cNvCxnSpPr/>
            <p:nvPr/>
          </p:nvCxnSpPr>
          <p:spPr>
            <a:xfrm>
              <a:off x="4929190" y="3571876"/>
              <a:ext cx="1857388" cy="1588"/>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68">
            <a:extLst>
              <a:ext uri="{FF2B5EF4-FFF2-40B4-BE49-F238E27FC236}">
                <a16:creationId xmlns:a16="http://schemas.microsoft.com/office/drawing/2014/main" xmlns="" id="{F4FF0BFD-6C50-647C-208A-B7276A8401A9}"/>
              </a:ext>
            </a:extLst>
          </p:cNvPr>
          <p:cNvGrpSpPr/>
          <p:nvPr/>
        </p:nvGrpSpPr>
        <p:grpSpPr>
          <a:xfrm>
            <a:off x="8157870" y="5375023"/>
            <a:ext cx="1931998" cy="396875"/>
            <a:chOff x="5357818" y="4032257"/>
            <a:chExt cx="1931998" cy="396875"/>
          </a:xfrm>
        </p:grpSpPr>
        <p:sp>
          <p:nvSpPr>
            <p:cNvPr id="16" name="Text Box 32">
              <a:extLst>
                <a:ext uri="{FF2B5EF4-FFF2-40B4-BE49-F238E27FC236}">
                  <a16:creationId xmlns:a16="http://schemas.microsoft.com/office/drawing/2014/main" xmlns="" id="{D6E9409E-6AC9-76A7-D23D-976CF95BB59E}"/>
                </a:ext>
              </a:extLst>
            </p:cNvPr>
            <p:cNvSpPr txBox="1">
              <a:spLocks noChangeArrowheads="1"/>
            </p:cNvSpPr>
            <p:nvPr/>
          </p:nvSpPr>
          <p:spPr bwMode="auto">
            <a:xfrm>
              <a:off x="6929454" y="4032257"/>
              <a:ext cx="360362" cy="396875"/>
            </a:xfrm>
            <a:prstGeom prst="rect">
              <a:avLst/>
            </a:prstGeom>
            <a:noFill/>
            <a:ln w="9525" algn="ctr">
              <a:noFill/>
              <a:miter lim="800000"/>
              <a:headEnd/>
              <a:tailEnd type="none" w="med" len="lg"/>
            </a:ln>
            <a:effectLst/>
          </p:spPr>
          <p:txBody>
            <a:bodyPr>
              <a:spAutoFit/>
            </a:bodyPr>
            <a:lstStyle/>
            <a:p>
              <a:pPr>
                <a:spcBef>
                  <a:spcPct val="50000"/>
                </a:spcBef>
              </a:pPr>
              <a:r>
                <a:rPr lang="en-US" altLang="zh-CN" sz="2000">
                  <a:solidFill>
                    <a:srgbClr val="CC00FF"/>
                  </a:solidFill>
                  <a:latin typeface="Consolas" pitchFamily="49" charset="0"/>
                  <a:cs typeface="Consolas" pitchFamily="49" charset="0"/>
                </a:rPr>
                <a:t>3</a:t>
              </a:r>
            </a:p>
          </p:txBody>
        </p:sp>
        <p:cxnSp>
          <p:nvCxnSpPr>
            <p:cNvPr id="17" name="直接连接符 16">
              <a:extLst>
                <a:ext uri="{FF2B5EF4-FFF2-40B4-BE49-F238E27FC236}">
                  <a16:creationId xmlns:a16="http://schemas.microsoft.com/office/drawing/2014/main" xmlns="" id="{1425F050-66D8-7592-6C46-581E426A2D85}"/>
                </a:ext>
              </a:extLst>
            </p:cNvPr>
            <p:cNvCxnSpPr/>
            <p:nvPr/>
          </p:nvCxnSpPr>
          <p:spPr>
            <a:xfrm>
              <a:off x="5357818" y="4213230"/>
              <a:ext cx="1428760" cy="1588"/>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grpSp>
      <p:grpSp>
        <p:nvGrpSpPr>
          <p:cNvPr id="18" name="组合 69">
            <a:extLst>
              <a:ext uri="{FF2B5EF4-FFF2-40B4-BE49-F238E27FC236}">
                <a16:creationId xmlns:a16="http://schemas.microsoft.com/office/drawing/2014/main" xmlns="" id="{CF883597-F728-5317-BE23-129429E75167}"/>
              </a:ext>
            </a:extLst>
          </p:cNvPr>
          <p:cNvGrpSpPr/>
          <p:nvPr/>
        </p:nvGrpSpPr>
        <p:grpSpPr>
          <a:xfrm>
            <a:off x="8759536" y="6017965"/>
            <a:ext cx="1330332" cy="396875"/>
            <a:chOff x="5959484" y="4675199"/>
            <a:chExt cx="1330332" cy="396875"/>
          </a:xfrm>
        </p:grpSpPr>
        <p:sp>
          <p:nvSpPr>
            <p:cNvPr id="19" name="Text Box 33">
              <a:extLst>
                <a:ext uri="{FF2B5EF4-FFF2-40B4-BE49-F238E27FC236}">
                  <a16:creationId xmlns:a16="http://schemas.microsoft.com/office/drawing/2014/main" xmlns="" id="{1241E43C-15EA-BB54-A533-319CB94E779A}"/>
                </a:ext>
              </a:extLst>
            </p:cNvPr>
            <p:cNvSpPr txBox="1">
              <a:spLocks noChangeArrowheads="1"/>
            </p:cNvSpPr>
            <p:nvPr/>
          </p:nvSpPr>
          <p:spPr bwMode="auto">
            <a:xfrm>
              <a:off x="6929454" y="4675199"/>
              <a:ext cx="360362" cy="396875"/>
            </a:xfrm>
            <a:prstGeom prst="rect">
              <a:avLst/>
            </a:prstGeom>
            <a:noFill/>
            <a:ln w="9525" algn="ctr">
              <a:noFill/>
              <a:miter lim="800000"/>
              <a:headEnd/>
              <a:tailEnd type="none" w="med" len="lg"/>
            </a:ln>
            <a:effectLst/>
          </p:spPr>
          <p:txBody>
            <a:bodyPr>
              <a:spAutoFit/>
            </a:bodyPr>
            <a:lstStyle/>
            <a:p>
              <a:pPr>
                <a:spcBef>
                  <a:spcPct val="50000"/>
                </a:spcBef>
              </a:pPr>
              <a:r>
                <a:rPr lang="en-US" altLang="zh-CN" sz="2000" dirty="0">
                  <a:solidFill>
                    <a:srgbClr val="CC00FF"/>
                  </a:solidFill>
                  <a:latin typeface="Consolas" pitchFamily="49" charset="0"/>
                  <a:cs typeface="Consolas" pitchFamily="49" charset="0"/>
                </a:rPr>
                <a:t>4</a:t>
              </a:r>
            </a:p>
          </p:txBody>
        </p:sp>
        <p:cxnSp>
          <p:nvCxnSpPr>
            <p:cNvPr id="20" name="直接连接符 19">
              <a:extLst>
                <a:ext uri="{FF2B5EF4-FFF2-40B4-BE49-F238E27FC236}">
                  <a16:creationId xmlns:a16="http://schemas.microsoft.com/office/drawing/2014/main" xmlns="" id="{04AAFCB3-EA8B-03B0-31F8-127483C09FAF}"/>
                </a:ext>
              </a:extLst>
            </p:cNvPr>
            <p:cNvCxnSpPr/>
            <p:nvPr/>
          </p:nvCxnSpPr>
          <p:spPr>
            <a:xfrm>
              <a:off x="5959484" y="4914910"/>
              <a:ext cx="898532" cy="0"/>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grpSp>
      <p:grpSp>
        <p:nvGrpSpPr>
          <p:cNvPr id="21" name="组合 71">
            <a:extLst>
              <a:ext uri="{FF2B5EF4-FFF2-40B4-BE49-F238E27FC236}">
                <a16:creationId xmlns:a16="http://schemas.microsoft.com/office/drawing/2014/main" xmlns="" id="{F5A3E171-3A3B-596C-83F5-9EFCCBA47FE6}"/>
              </a:ext>
            </a:extLst>
          </p:cNvPr>
          <p:cNvGrpSpPr/>
          <p:nvPr/>
        </p:nvGrpSpPr>
        <p:grpSpPr>
          <a:xfrm>
            <a:off x="10165043" y="4231516"/>
            <a:ext cx="747418" cy="2500330"/>
            <a:chOff x="7358082" y="2786058"/>
            <a:chExt cx="747418" cy="2500330"/>
          </a:xfrm>
        </p:grpSpPr>
        <p:sp>
          <p:nvSpPr>
            <p:cNvPr id="22" name="右大括号 21">
              <a:extLst>
                <a:ext uri="{FF2B5EF4-FFF2-40B4-BE49-F238E27FC236}">
                  <a16:creationId xmlns:a16="http://schemas.microsoft.com/office/drawing/2014/main" xmlns="" id="{8953E7FD-5600-2C7D-BA13-B2D4C8A436A1}"/>
                </a:ext>
              </a:extLst>
            </p:cNvPr>
            <p:cNvSpPr/>
            <p:nvPr/>
          </p:nvSpPr>
          <p:spPr>
            <a:xfrm>
              <a:off x="7358082" y="2928934"/>
              <a:ext cx="285752" cy="1928826"/>
            </a:xfrm>
            <a:prstGeom prst="righ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3" name="TextBox 65">
              <a:extLst>
                <a:ext uri="{FF2B5EF4-FFF2-40B4-BE49-F238E27FC236}">
                  <a16:creationId xmlns:a16="http://schemas.microsoft.com/office/drawing/2014/main" xmlns="" id="{51F1D92B-074D-EBF7-F282-C0D15384211C}"/>
                </a:ext>
              </a:extLst>
            </p:cNvPr>
            <p:cNvSpPr txBox="1"/>
            <p:nvPr/>
          </p:nvSpPr>
          <p:spPr>
            <a:xfrm>
              <a:off x="7613057" y="2786058"/>
              <a:ext cx="492443" cy="2500330"/>
            </a:xfrm>
            <a:prstGeom prst="rect">
              <a:avLst/>
            </a:prstGeom>
            <a:noFill/>
          </p:spPr>
          <p:txBody>
            <a:bodyPr vert="eaVert" wrap="square" rtlCol="0">
              <a:spAutoFit/>
            </a:bodyPr>
            <a:lstStyle/>
            <a:p>
              <a:pPr algn="l"/>
              <a:r>
                <a:rPr lang="zh-CN" altLang="en-US" sz="2000" spc="300" dirty="0">
                  <a:latin typeface="Consolas" pitchFamily="49" charset="0"/>
                  <a:ea typeface="仿宋" pitchFamily="49" charset="-122"/>
                  <a:cs typeface="Consolas" pitchFamily="49" charset="0"/>
                </a:rPr>
                <a:t>结点的</a:t>
              </a:r>
              <a:r>
                <a:rPr kumimoji="1" lang="zh-CN" altLang="en-US" sz="2000" spc="300" dirty="0">
                  <a:latin typeface="Consolas" pitchFamily="49" charset="0"/>
                  <a:ea typeface="仿宋" pitchFamily="49" charset="-122"/>
                  <a:cs typeface="Consolas" pitchFamily="49" charset="0"/>
                </a:rPr>
                <a:t>层次或深度</a:t>
              </a:r>
              <a:endParaRPr lang="zh-CN" altLang="en-US" sz="2000" spc="300" dirty="0">
                <a:latin typeface="Consolas" pitchFamily="49" charset="0"/>
                <a:ea typeface="仿宋" pitchFamily="49" charset="-122"/>
                <a:cs typeface="Consolas" pitchFamily="49" charset="0"/>
              </a:endParaRPr>
            </a:p>
          </p:txBody>
        </p:sp>
      </p:grpSp>
    </p:spTree>
    <p:extLst>
      <p:ext uri="{BB962C8B-B14F-4D97-AF65-F5344CB8AC3E}">
        <p14:creationId xmlns:p14="http://schemas.microsoft.com/office/powerpoint/2010/main" val="2303250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1740396" y="1552367"/>
            <a:ext cx="7215238" cy="453329"/>
          </a:xfrm>
          <a:prstGeom prst="rect">
            <a:avLst/>
          </a:prstGeom>
          <a:noFill/>
          <a:ln w="9525">
            <a:noFill/>
            <a:miter lim="800000"/>
            <a:headEnd/>
            <a:tailEnd/>
          </a:ln>
          <a:effectLst/>
        </p:spPr>
        <p:txBody>
          <a:bodyPr wrap="square">
            <a:spAutoFit/>
          </a:bodyPr>
          <a:lstStyle/>
          <a:p>
            <a:pPr algn="l">
              <a:lnSpc>
                <a:spcPct val="130000"/>
              </a:lnSpc>
              <a:spcBef>
                <a:spcPct val="50000"/>
              </a:spcBef>
            </a:pPr>
            <a:r>
              <a:rPr kumimoji="1" lang="zh-CN" altLang="en-US" sz="2000" dirty="0">
                <a:solidFill>
                  <a:srgbClr val="FF0000"/>
                </a:solidFill>
                <a:latin typeface="微软雅黑" pitchFamily="34" charset="-122"/>
                <a:ea typeface="微软雅黑" pitchFamily="34" charset="-122"/>
                <a:cs typeface="经典粗黑简" pitchFamily="49" charset="-122"/>
              </a:rPr>
              <a:t>性质</a:t>
            </a:r>
            <a:r>
              <a:rPr kumimoji="1" lang="en-US" altLang="zh-CN" sz="2000" dirty="0">
                <a:solidFill>
                  <a:srgbClr val="FF0000"/>
                </a:solidFill>
                <a:latin typeface="微软雅黑" pitchFamily="34" charset="-122"/>
                <a:ea typeface="微软雅黑" pitchFamily="34" charset="-122"/>
                <a:cs typeface="经典粗黑简" pitchFamily="49" charset="-122"/>
              </a:rPr>
              <a:t>1  </a:t>
            </a:r>
            <a:r>
              <a:rPr kumimoji="1" lang="zh-CN" altLang="en-US" sz="2000" dirty="0">
                <a:latin typeface="微软雅黑" pitchFamily="34" charset="-122"/>
                <a:ea typeface="微软雅黑" pitchFamily="34" charset="-122"/>
                <a:cs typeface="经典粗黑简" pitchFamily="49" charset="-122"/>
              </a:rPr>
              <a:t>树中的结点数等于所有结点的度数之和加</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a:t>
            </a:r>
          </a:p>
        </p:txBody>
      </p:sp>
      <p:sp>
        <p:nvSpPr>
          <p:cNvPr id="62" name="TextBox 61"/>
          <p:cNvSpPr txBox="1"/>
          <p:nvPr/>
        </p:nvSpPr>
        <p:spPr>
          <a:xfrm>
            <a:off x="2028520" y="2464548"/>
            <a:ext cx="8929718" cy="874920"/>
          </a:xfrm>
          <a:prstGeom prst="rect">
            <a:avLst/>
          </a:prstGeom>
          <a:noFill/>
        </p:spPr>
        <p:txBody>
          <a:bodyPr wrap="square" rtlCol="0">
            <a:spAutoFit/>
          </a:bodyPr>
          <a:lstStyle/>
          <a:p>
            <a:pPr>
              <a:lnSpc>
                <a:spcPts val="3200"/>
              </a:lnSpc>
            </a:pPr>
            <a:r>
              <a:rPr kumimoji="1" lang="zh-CN" altLang="en-US" sz="2000" dirty="0">
                <a:latin typeface="微软雅黑" pitchFamily="34" charset="-122"/>
                <a:ea typeface="微软雅黑" pitchFamily="34" charset="-122"/>
                <a:cs typeface="经典粗黑简" pitchFamily="49" charset="-122"/>
                <a:sym typeface="Wingdings"/>
              </a:rPr>
              <a:t>证明  </a:t>
            </a:r>
            <a:r>
              <a:rPr kumimoji="1" lang="zh-CN" altLang="en-US" sz="2000" dirty="0">
                <a:latin typeface="微软雅黑" pitchFamily="34" charset="-122"/>
                <a:ea typeface="微软雅黑" pitchFamily="34" charset="-122"/>
                <a:cs typeface="经典粗黑简" pitchFamily="49" charset="-122"/>
              </a:rPr>
              <a:t>树中每个分支计为一个结点的度（每条分支线从一个结点引出来的）</a:t>
            </a:r>
            <a:endParaRPr kumimoji="1" lang="en-US" altLang="zh-CN" sz="2000" dirty="0">
              <a:latin typeface="微软雅黑" pitchFamily="34" charset="-122"/>
              <a:ea typeface="微软雅黑" pitchFamily="34" charset="-122"/>
              <a:cs typeface="经典粗黑简" pitchFamily="49" charset="-122"/>
            </a:endParaRPr>
          </a:p>
          <a:p>
            <a:pPr>
              <a:lnSpc>
                <a:spcPts val="3200"/>
              </a:lnSpc>
            </a:pPr>
            <a:r>
              <a:rPr lang="zh-CN" altLang="en-US" sz="2000" dirty="0">
                <a:solidFill>
                  <a:srgbClr val="0000FF"/>
                </a:solidFill>
                <a:latin typeface="Consolas" pitchFamily="49" charset="0"/>
                <a:ea typeface="微软雅黑" pitchFamily="34" charset="-122"/>
                <a:cs typeface="Consolas" pitchFamily="49" charset="0"/>
                <a:sym typeface="Wingdings"/>
              </a:rPr>
              <a:t>             </a:t>
            </a:r>
            <a:r>
              <a:rPr lang="zh-CN" altLang="en-US" sz="2000" dirty="0">
                <a:solidFill>
                  <a:srgbClr val="CC00FF"/>
                </a:solidFill>
                <a:latin typeface="Consolas" pitchFamily="49" charset="0"/>
                <a:ea typeface="微软雅黑" pitchFamily="34" charset="-122"/>
                <a:cs typeface="Consolas" pitchFamily="49" charset="0"/>
                <a:sym typeface="Wingdings"/>
              </a:rPr>
              <a:t></a:t>
            </a:r>
            <a:r>
              <a:rPr lang="zh-CN" altLang="en-US" sz="2000" dirty="0">
                <a:solidFill>
                  <a:srgbClr val="0000FF"/>
                </a:solidFill>
                <a:latin typeface="Consolas" pitchFamily="49" charset="0"/>
                <a:ea typeface="微软雅黑" pitchFamily="34" charset="-122"/>
                <a:cs typeface="Consolas" pitchFamily="49" charset="0"/>
                <a:sym typeface="Wingdings"/>
              </a:rPr>
              <a:t> </a:t>
            </a:r>
            <a:r>
              <a:rPr kumimoji="1" lang="zh-CN" altLang="en-US" sz="2000" dirty="0">
                <a:latin typeface="微软雅黑" pitchFamily="34" charset="-122"/>
                <a:ea typeface="微软雅黑" pitchFamily="34" charset="-122"/>
                <a:cs typeface="经典粗黑简" pitchFamily="49" charset="-122"/>
              </a:rPr>
              <a:t>所有结点的度之和＝分支数</a:t>
            </a:r>
          </a:p>
        </p:txBody>
      </p:sp>
      <p:sp>
        <p:nvSpPr>
          <p:cNvPr id="60" name="TextBox 59"/>
          <p:cNvSpPr txBox="1"/>
          <p:nvPr/>
        </p:nvSpPr>
        <p:spPr>
          <a:xfrm>
            <a:off x="7172056" y="4431412"/>
            <a:ext cx="2500330" cy="961674"/>
          </a:xfrm>
          <a:prstGeom prst="rect">
            <a:avLst/>
          </a:prstGeom>
          <a:noFill/>
        </p:spPr>
        <p:txBody>
          <a:bodyPr wrap="square" rtlCol="0">
            <a:spAutoFit/>
          </a:bodyPr>
          <a:lstStyle/>
          <a:p>
            <a:pPr marL="342900" indent="-342900">
              <a:lnSpc>
                <a:spcPct val="150000"/>
              </a:lnSpc>
              <a:buBlip>
                <a:blip r:embed="rId3"/>
              </a:buBlip>
            </a:pPr>
            <a:r>
              <a:rPr lang="zh-CN" altLang="en-US" sz="2000">
                <a:solidFill>
                  <a:srgbClr val="0000FF"/>
                </a:solidFill>
                <a:latin typeface="Consolas" pitchFamily="49" charset="0"/>
                <a:ea typeface="仿宋" pitchFamily="49" charset="-122"/>
                <a:cs typeface="Consolas" pitchFamily="49" charset="0"/>
              </a:rPr>
              <a:t>分支数</a:t>
            </a:r>
            <a:r>
              <a:rPr lang="en-US" altLang="zh-CN" sz="2000">
                <a:solidFill>
                  <a:srgbClr val="0000FF"/>
                </a:solidFill>
                <a:latin typeface="Consolas" pitchFamily="49" charset="0"/>
                <a:ea typeface="仿宋" pitchFamily="49" charset="-122"/>
                <a:cs typeface="Consolas" pitchFamily="49" charset="0"/>
              </a:rPr>
              <a:t>=12</a:t>
            </a:r>
          </a:p>
          <a:p>
            <a:pPr marL="342900" indent="-342900">
              <a:lnSpc>
                <a:spcPct val="150000"/>
              </a:lnSpc>
              <a:buBlip>
                <a:blip r:embed="rId3"/>
              </a:buBlip>
            </a:pPr>
            <a:r>
              <a:rPr lang="zh-CN" altLang="en-US" sz="2000">
                <a:solidFill>
                  <a:srgbClr val="0000FF"/>
                </a:solidFill>
                <a:latin typeface="Consolas" pitchFamily="49" charset="0"/>
                <a:ea typeface="仿宋" pitchFamily="49" charset="-122"/>
                <a:cs typeface="Consolas" pitchFamily="49" charset="0"/>
              </a:rPr>
              <a:t>结点的度之和</a:t>
            </a:r>
            <a:r>
              <a:rPr lang="en-US" altLang="zh-CN" sz="2000">
                <a:solidFill>
                  <a:srgbClr val="0000FF"/>
                </a:solidFill>
                <a:latin typeface="Consolas" pitchFamily="49" charset="0"/>
                <a:ea typeface="仿宋" pitchFamily="49" charset="-122"/>
                <a:cs typeface="Consolas" pitchFamily="49" charset="0"/>
              </a:rPr>
              <a:t>=12</a:t>
            </a:r>
            <a:endParaRPr lang="zh-CN" altLang="en-US" sz="2000">
              <a:latin typeface="Consolas" pitchFamily="49" charset="0"/>
              <a:ea typeface="仿宋" pitchFamily="49" charset="-122"/>
              <a:cs typeface="Consolas" pitchFamily="49" charset="0"/>
            </a:endParaRPr>
          </a:p>
        </p:txBody>
      </p:sp>
      <p:sp>
        <p:nvSpPr>
          <p:cNvPr id="88" name="右大括号 87"/>
          <p:cNvSpPr/>
          <p:nvPr/>
        </p:nvSpPr>
        <p:spPr>
          <a:xfrm>
            <a:off x="6886304" y="3788470"/>
            <a:ext cx="214314" cy="2214578"/>
          </a:xfrm>
          <a:prstGeom prst="rightBrace">
            <a:avLst/>
          </a:prstGeom>
          <a:ln w="19050">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p>
        </p:txBody>
      </p:sp>
      <p:grpSp>
        <p:nvGrpSpPr>
          <p:cNvPr id="2" name="组合 90"/>
          <p:cNvGrpSpPr/>
          <p:nvPr/>
        </p:nvGrpSpPr>
        <p:grpSpPr>
          <a:xfrm>
            <a:off x="2855640" y="3717032"/>
            <a:ext cx="3816350" cy="2305050"/>
            <a:chOff x="214282" y="2714620"/>
            <a:chExt cx="3816350" cy="2305050"/>
          </a:xfrm>
        </p:grpSpPr>
        <p:sp>
          <p:nvSpPr>
            <p:cNvPr id="58" name="Oval 35"/>
            <p:cNvSpPr>
              <a:spLocks noChangeArrowheads="1"/>
            </p:cNvSpPr>
            <p:nvPr/>
          </p:nvSpPr>
          <p:spPr bwMode="auto">
            <a:xfrm>
              <a:off x="214282"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E</a:t>
              </a:r>
            </a:p>
          </p:txBody>
        </p:sp>
        <p:sp>
          <p:nvSpPr>
            <p:cNvPr id="59" name="Freeform 47"/>
            <p:cNvSpPr>
              <a:spLocks/>
            </p:cNvSpPr>
            <p:nvPr/>
          </p:nvSpPr>
          <p:spPr bwMode="auto">
            <a:xfrm>
              <a:off x="453995" y="3724269"/>
              <a:ext cx="211120" cy="300039"/>
            </a:xfrm>
            <a:custGeom>
              <a:avLst/>
              <a:gdLst/>
              <a:ahLst/>
              <a:cxnLst>
                <a:cxn ang="0">
                  <a:pos x="121" y="0"/>
                </a:cxn>
                <a:cxn ang="0">
                  <a:pos x="0" y="144"/>
                </a:cxn>
              </a:cxnLst>
              <a:rect l="0" t="0" r="r" b="b"/>
              <a:pathLst>
                <a:path w="121" h="144">
                  <a:moveTo>
                    <a:pt x="121" y="0"/>
                  </a:moveTo>
                  <a:lnTo>
                    <a:pt x="0" y="144"/>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61" name="Freeform 48"/>
            <p:cNvSpPr>
              <a:spLocks/>
            </p:cNvSpPr>
            <p:nvPr/>
          </p:nvSpPr>
          <p:spPr bwMode="auto">
            <a:xfrm>
              <a:off x="879429" y="3686169"/>
              <a:ext cx="214314" cy="323852"/>
            </a:xfrm>
            <a:custGeom>
              <a:avLst/>
              <a:gdLst/>
              <a:ahLst/>
              <a:cxnLst>
                <a:cxn ang="0">
                  <a:pos x="0" y="0"/>
                </a:cxn>
                <a:cxn ang="0">
                  <a:pos x="115" y="147"/>
                </a:cxn>
              </a:cxnLst>
              <a:rect l="0" t="0" r="r" b="b"/>
              <a:pathLst>
                <a:path w="115" h="147">
                  <a:moveTo>
                    <a:pt x="0" y="0"/>
                  </a:moveTo>
                  <a:lnTo>
                    <a:pt x="115" y="147"/>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63" name="Oval 31"/>
            <p:cNvSpPr>
              <a:spLocks noChangeArrowheads="1"/>
            </p:cNvSpPr>
            <p:nvPr/>
          </p:nvSpPr>
          <p:spPr bwMode="auto">
            <a:xfrm>
              <a:off x="1582707" y="2714620"/>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A</a:t>
              </a:r>
            </a:p>
          </p:txBody>
        </p:sp>
        <p:sp>
          <p:nvSpPr>
            <p:cNvPr id="64" name="Oval 32"/>
            <p:cNvSpPr>
              <a:spLocks noChangeArrowheads="1"/>
            </p:cNvSpPr>
            <p:nvPr/>
          </p:nvSpPr>
          <p:spPr bwMode="auto">
            <a:xfrm>
              <a:off x="574645" y="3363908"/>
              <a:ext cx="360362"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B</a:t>
              </a:r>
            </a:p>
          </p:txBody>
        </p:sp>
        <p:sp>
          <p:nvSpPr>
            <p:cNvPr id="65" name="Oval 33"/>
            <p:cNvSpPr>
              <a:spLocks noChangeArrowheads="1"/>
            </p:cNvSpPr>
            <p:nvPr/>
          </p:nvSpPr>
          <p:spPr bwMode="auto">
            <a:xfrm>
              <a:off x="1582707" y="3363908"/>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66" name="Oval 34"/>
            <p:cNvSpPr>
              <a:spLocks noChangeArrowheads="1"/>
            </p:cNvSpPr>
            <p:nvPr/>
          </p:nvSpPr>
          <p:spPr bwMode="auto">
            <a:xfrm>
              <a:off x="2590770" y="33639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67" name="Oval 36"/>
            <p:cNvSpPr>
              <a:spLocks noChangeArrowheads="1"/>
            </p:cNvSpPr>
            <p:nvPr/>
          </p:nvSpPr>
          <p:spPr bwMode="auto">
            <a:xfrm>
              <a:off x="933420" y="40116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68" name="Oval 37"/>
            <p:cNvSpPr>
              <a:spLocks noChangeArrowheads="1"/>
            </p:cNvSpPr>
            <p:nvPr/>
          </p:nvSpPr>
          <p:spPr bwMode="auto">
            <a:xfrm>
              <a:off x="1582707"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G</a:t>
              </a:r>
            </a:p>
          </p:txBody>
        </p:sp>
        <p:sp>
          <p:nvSpPr>
            <p:cNvPr id="69" name="Oval 38"/>
            <p:cNvSpPr>
              <a:spLocks noChangeArrowheads="1"/>
            </p:cNvSpPr>
            <p:nvPr/>
          </p:nvSpPr>
          <p:spPr bwMode="auto">
            <a:xfrm>
              <a:off x="1582707"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J</a:t>
              </a:r>
            </a:p>
          </p:txBody>
        </p:sp>
        <p:sp>
          <p:nvSpPr>
            <p:cNvPr id="70" name="Oval 39"/>
            <p:cNvSpPr>
              <a:spLocks noChangeArrowheads="1"/>
            </p:cNvSpPr>
            <p:nvPr/>
          </p:nvSpPr>
          <p:spPr bwMode="auto">
            <a:xfrm>
              <a:off x="2230407"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71" name="Oval 40"/>
            <p:cNvSpPr>
              <a:spLocks noChangeArrowheads="1"/>
            </p:cNvSpPr>
            <p:nvPr/>
          </p:nvSpPr>
          <p:spPr bwMode="auto">
            <a:xfrm>
              <a:off x="3022570" y="40116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I</a:t>
              </a:r>
            </a:p>
          </p:txBody>
        </p:sp>
        <p:sp>
          <p:nvSpPr>
            <p:cNvPr id="72" name="Oval 41"/>
            <p:cNvSpPr>
              <a:spLocks noChangeArrowheads="1"/>
            </p:cNvSpPr>
            <p:nvPr/>
          </p:nvSpPr>
          <p:spPr bwMode="auto">
            <a:xfrm>
              <a:off x="2446307"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K</a:t>
              </a:r>
            </a:p>
          </p:txBody>
        </p:sp>
        <p:sp>
          <p:nvSpPr>
            <p:cNvPr id="73" name="Oval 42"/>
            <p:cNvSpPr>
              <a:spLocks noChangeArrowheads="1"/>
            </p:cNvSpPr>
            <p:nvPr/>
          </p:nvSpPr>
          <p:spPr bwMode="auto">
            <a:xfrm>
              <a:off x="3027332"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L</a:t>
              </a:r>
            </a:p>
          </p:txBody>
        </p:sp>
        <p:sp>
          <p:nvSpPr>
            <p:cNvPr id="74" name="Oval 43"/>
            <p:cNvSpPr>
              <a:spLocks noChangeArrowheads="1"/>
            </p:cNvSpPr>
            <p:nvPr/>
          </p:nvSpPr>
          <p:spPr bwMode="auto">
            <a:xfrm>
              <a:off x="3670270" y="46593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M</a:t>
              </a:r>
            </a:p>
          </p:txBody>
        </p:sp>
        <p:sp>
          <p:nvSpPr>
            <p:cNvPr id="75" name="Line 44"/>
            <p:cNvSpPr>
              <a:spLocks noChangeShapeType="1"/>
            </p:cNvSpPr>
            <p:nvPr/>
          </p:nvSpPr>
          <p:spPr bwMode="auto">
            <a:xfrm flipH="1">
              <a:off x="869924" y="2944808"/>
              <a:ext cx="725482" cy="444488"/>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76" name="Line 45"/>
            <p:cNvSpPr>
              <a:spLocks noChangeShapeType="1"/>
            </p:cNvSpPr>
            <p:nvPr/>
          </p:nvSpPr>
          <p:spPr bwMode="auto">
            <a:xfrm>
              <a:off x="1760507" y="3074983"/>
              <a:ext cx="0" cy="288000"/>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77" name="Line 46"/>
            <p:cNvSpPr>
              <a:spLocks noChangeShapeType="1"/>
            </p:cNvSpPr>
            <p:nvPr/>
          </p:nvSpPr>
          <p:spPr bwMode="auto">
            <a:xfrm>
              <a:off x="1952595" y="2960683"/>
              <a:ext cx="647700" cy="503237"/>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78" name="Line 49"/>
            <p:cNvSpPr>
              <a:spLocks noChangeShapeType="1"/>
            </p:cNvSpPr>
            <p:nvPr/>
          </p:nvSpPr>
          <p:spPr bwMode="auto">
            <a:xfrm>
              <a:off x="1765270" y="3751258"/>
              <a:ext cx="0" cy="259200"/>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79" name="Line 50"/>
            <p:cNvSpPr>
              <a:spLocks noChangeShapeType="1"/>
            </p:cNvSpPr>
            <p:nvPr/>
          </p:nvSpPr>
          <p:spPr bwMode="auto">
            <a:xfrm>
              <a:off x="1765270" y="4371970"/>
              <a:ext cx="0" cy="287338"/>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0" name="Freeform 51"/>
            <p:cNvSpPr>
              <a:spLocks/>
            </p:cNvSpPr>
            <p:nvPr/>
          </p:nvSpPr>
          <p:spPr bwMode="auto">
            <a:xfrm>
              <a:off x="2462182" y="3709983"/>
              <a:ext cx="220663" cy="301625"/>
            </a:xfrm>
            <a:custGeom>
              <a:avLst/>
              <a:gdLst/>
              <a:ahLst/>
              <a:cxnLst>
                <a:cxn ang="0">
                  <a:pos x="139" y="0"/>
                </a:cxn>
                <a:cxn ang="0">
                  <a:pos x="0" y="190"/>
                </a:cxn>
              </a:cxnLst>
              <a:rect l="0" t="0" r="r" b="b"/>
              <a:pathLst>
                <a:path w="139" h="190">
                  <a:moveTo>
                    <a:pt x="139" y="0"/>
                  </a:moveTo>
                  <a:lnTo>
                    <a:pt x="0" y="190"/>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1" name="Freeform 52"/>
            <p:cNvSpPr>
              <a:spLocks/>
            </p:cNvSpPr>
            <p:nvPr/>
          </p:nvSpPr>
          <p:spPr bwMode="auto">
            <a:xfrm>
              <a:off x="2901920" y="3681408"/>
              <a:ext cx="265112" cy="330200"/>
            </a:xfrm>
            <a:custGeom>
              <a:avLst/>
              <a:gdLst/>
              <a:ahLst/>
              <a:cxnLst>
                <a:cxn ang="0">
                  <a:pos x="0" y="0"/>
                </a:cxn>
                <a:cxn ang="0">
                  <a:pos x="167" y="208"/>
                </a:cxn>
              </a:cxnLst>
              <a:rect l="0" t="0" r="r" b="b"/>
              <a:pathLst>
                <a:path w="167" h="208">
                  <a:moveTo>
                    <a:pt x="0" y="0"/>
                  </a:moveTo>
                  <a:lnTo>
                    <a:pt x="167" y="208"/>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2" name="Line 53"/>
            <p:cNvSpPr>
              <a:spLocks noChangeShapeType="1"/>
            </p:cNvSpPr>
            <p:nvPr/>
          </p:nvSpPr>
          <p:spPr bwMode="auto">
            <a:xfrm flipH="1">
              <a:off x="2706657" y="4300533"/>
              <a:ext cx="360363" cy="358775"/>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3" name="Line 54"/>
            <p:cNvSpPr>
              <a:spLocks noChangeShapeType="1"/>
            </p:cNvSpPr>
            <p:nvPr/>
          </p:nvSpPr>
          <p:spPr bwMode="auto">
            <a:xfrm>
              <a:off x="3209895" y="4371970"/>
              <a:ext cx="0" cy="287338"/>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4" name="Freeform 55"/>
            <p:cNvSpPr>
              <a:spLocks/>
            </p:cNvSpPr>
            <p:nvPr/>
          </p:nvSpPr>
          <p:spPr bwMode="auto">
            <a:xfrm>
              <a:off x="3349595" y="4281483"/>
              <a:ext cx="447675" cy="390525"/>
            </a:xfrm>
            <a:custGeom>
              <a:avLst/>
              <a:gdLst/>
              <a:ahLst/>
              <a:cxnLst>
                <a:cxn ang="0">
                  <a:pos x="0" y="0"/>
                </a:cxn>
                <a:cxn ang="0">
                  <a:pos x="282" y="246"/>
                </a:cxn>
              </a:cxnLst>
              <a:rect l="0" t="0" r="r" b="b"/>
              <a:pathLst>
                <a:path w="282" h="246">
                  <a:moveTo>
                    <a:pt x="0" y="0"/>
                  </a:moveTo>
                  <a:lnTo>
                    <a:pt x="282" y="246"/>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grpSp>
      <p:sp>
        <p:nvSpPr>
          <p:cNvPr id="34" name="灯片编号占位符 33"/>
          <p:cNvSpPr>
            <a:spLocks noGrp="1"/>
          </p:cNvSpPr>
          <p:nvPr>
            <p:ph type="sldNum" sz="quarter" idx="12"/>
          </p:nvPr>
        </p:nvSpPr>
        <p:spPr/>
        <p:txBody>
          <a:bodyPr/>
          <a:lstStyle/>
          <a:p>
            <a:fld id="{FFD28AF7-D4CC-4B35-B7D7-507FA0146854}" type="slidenum">
              <a:rPr lang="en-US" altLang="zh-CN" smtClean="0"/>
              <a:pPr/>
              <a:t>11</a:t>
            </a:fld>
            <a:r>
              <a:rPr lang="en-US" altLang="zh-CN"/>
              <a:t>/49</a:t>
            </a:r>
          </a:p>
        </p:txBody>
      </p:sp>
      <p:sp>
        <p:nvSpPr>
          <p:cNvPr id="3" name="矩形 2">
            <a:extLst>
              <a:ext uri="{FF2B5EF4-FFF2-40B4-BE49-F238E27FC236}">
                <a16:creationId xmlns:a16="http://schemas.microsoft.com/office/drawing/2014/main" xmlns="" id="{CA44BC34-AD3D-BAA3-4653-4816C080D6D1}"/>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4" name="Rectangle 2">
            <a:extLst>
              <a:ext uri="{FF2B5EF4-FFF2-40B4-BE49-F238E27FC236}">
                <a16:creationId xmlns:a16="http://schemas.microsoft.com/office/drawing/2014/main" xmlns="" id="{8FBAC51E-8099-6FC8-69B5-913746C3C427}"/>
              </a:ext>
            </a:extLst>
          </p:cNvPr>
          <p:cNvSpPr txBox="1">
            <a:spLocks noChangeArrowheads="1"/>
          </p:cNvSpPr>
          <p:nvPr/>
        </p:nvSpPr>
        <p:spPr>
          <a:xfrm>
            <a:off x="79920" y="836712"/>
            <a:ext cx="27757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7.1.4 </a:t>
            </a:r>
            <a:r>
              <a:rPr lang="zh-CN" altLang="en-US" dirty="0"/>
              <a:t>树的性质</a:t>
            </a:r>
          </a:p>
        </p:txBody>
      </p:sp>
      <p:cxnSp>
        <p:nvCxnSpPr>
          <p:cNvPr id="5" name="直接连接符 4">
            <a:extLst>
              <a:ext uri="{FF2B5EF4-FFF2-40B4-BE49-F238E27FC236}">
                <a16:creationId xmlns:a16="http://schemas.microsoft.com/office/drawing/2014/main" xmlns="" id="{DA0DC877-85A0-01A8-62C1-EA93487BB468}"/>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8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Text Box 5"/>
          <p:cNvSpPr txBox="1">
            <a:spLocks noChangeArrowheads="1"/>
          </p:cNvSpPr>
          <p:nvPr/>
        </p:nvSpPr>
        <p:spPr bwMode="auto">
          <a:xfrm>
            <a:off x="2031810" y="1701913"/>
            <a:ext cx="8358246"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latin typeface="微软雅黑" pitchFamily="34" charset="-122"/>
                <a:ea typeface="微软雅黑" pitchFamily="34" charset="-122"/>
                <a:cs typeface="经典粗黑简" pitchFamily="49" charset="-122"/>
                <a:sym typeface="Wingdings"/>
              </a:rPr>
              <a:t> 除了根结点，</a:t>
            </a:r>
            <a:r>
              <a:rPr kumimoji="1" lang="zh-CN" altLang="en-US" sz="2000" dirty="0">
                <a:latin typeface="微软雅黑" pitchFamily="34" charset="-122"/>
                <a:ea typeface="微软雅黑" pitchFamily="34" charset="-122"/>
                <a:cs typeface="经典粗黑简" pitchFamily="49" charset="-122"/>
              </a:rPr>
              <a:t>每条分支线都指向一个结点。给</a:t>
            </a:r>
            <a:r>
              <a:rPr kumimoji="1" lang="zh-CN" altLang="en-US" sz="2000" dirty="0">
                <a:latin typeface="微软雅黑" pitchFamily="34" charset="-122"/>
                <a:ea typeface="微软雅黑" pitchFamily="34" charset="-122"/>
                <a:cs typeface="经典粗黑简" pitchFamily="49" charset="-122"/>
                <a:sym typeface="Wingdings"/>
              </a:rPr>
              <a:t>根结点加上一个</a:t>
            </a:r>
            <a:r>
              <a:rPr kumimoji="1" lang="zh-CN" altLang="en-US" sz="2000" dirty="0">
                <a:latin typeface="微软雅黑" pitchFamily="34" charset="-122"/>
                <a:ea typeface="微软雅黑" pitchFamily="34" charset="-122"/>
                <a:cs typeface="经典粗黑简" pitchFamily="49" charset="-122"/>
              </a:rPr>
              <a:t>分支：</a:t>
            </a:r>
            <a:endParaRPr kumimoji="1" lang="en-US" altLang="zh-CN" sz="2000" dirty="0">
              <a:latin typeface="微软雅黑" pitchFamily="34" charset="-122"/>
              <a:ea typeface="微软雅黑" pitchFamily="34" charset="-122"/>
              <a:cs typeface="经典粗黑简" pitchFamily="49" charset="-122"/>
            </a:endParaRPr>
          </a:p>
        </p:txBody>
      </p:sp>
      <p:grpSp>
        <p:nvGrpSpPr>
          <p:cNvPr id="2" name="组合 91"/>
          <p:cNvGrpSpPr/>
          <p:nvPr/>
        </p:nvGrpSpPr>
        <p:grpSpPr>
          <a:xfrm>
            <a:off x="4727848" y="5749862"/>
            <a:ext cx="2428892" cy="971614"/>
            <a:chOff x="1357290" y="5072074"/>
            <a:chExt cx="2428892" cy="971614"/>
          </a:xfrm>
        </p:grpSpPr>
        <p:sp>
          <p:nvSpPr>
            <p:cNvPr id="57" name="TextBox 56"/>
            <p:cNvSpPr txBox="1"/>
            <p:nvPr/>
          </p:nvSpPr>
          <p:spPr>
            <a:xfrm>
              <a:off x="1357290" y="5643578"/>
              <a:ext cx="2428892" cy="400110"/>
            </a:xfrm>
            <a:prstGeom prst="rect">
              <a:avLst/>
            </a:prstGeom>
            <a:noFill/>
          </p:spPr>
          <p:txBody>
            <a:bodyPr wrap="square" rtlCol="0">
              <a:spAutoFit/>
            </a:bodyPr>
            <a:lstStyle/>
            <a:p>
              <a:r>
                <a:rPr lang="en-US" altLang="zh-CN" sz="2000" i="1" dirty="0">
                  <a:solidFill>
                    <a:srgbClr val="CC00FF"/>
                  </a:solidFill>
                  <a:latin typeface="Consolas" pitchFamily="49" charset="0"/>
                  <a:ea typeface="楷体" pitchFamily="49" charset="-122"/>
                  <a:cs typeface="Consolas" pitchFamily="49" charset="0"/>
                </a:rPr>
                <a:t>n</a:t>
              </a:r>
              <a:r>
                <a:rPr lang="en-US" altLang="zh-CN" sz="2000" dirty="0">
                  <a:solidFill>
                    <a:srgbClr val="CC00FF"/>
                  </a:solidFill>
                  <a:latin typeface="Consolas" pitchFamily="49" charset="0"/>
                  <a:ea typeface="楷体" pitchFamily="49" charset="-122"/>
                  <a:cs typeface="Consolas" pitchFamily="49" charset="0"/>
                </a:rPr>
                <a:t>=</a:t>
              </a:r>
              <a:r>
                <a:rPr lang="zh-CN" altLang="en-US" sz="2000" dirty="0">
                  <a:solidFill>
                    <a:srgbClr val="CC00FF"/>
                  </a:solidFill>
                  <a:latin typeface="Consolas" pitchFamily="49" charset="0"/>
                  <a:ea typeface="楷体" pitchFamily="49" charset="-122"/>
                  <a:cs typeface="Consolas" pitchFamily="49" charset="0"/>
                </a:rPr>
                <a:t>度之和</a:t>
              </a:r>
              <a:r>
                <a:rPr lang="en-US" altLang="zh-CN" sz="2000" dirty="0">
                  <a:solidFill>
                    <a:srgbClr val="CC00FF"/>
                  </a:solidFill>
                  <a:latin typeface="Consolas" pitchFamily="49" charset="0"/>
                  <a:ea typeface="楷体" pitchFamily="49" charset="-122"/>
                  <a:cs typeface="Consolas" pitchFamily="49" charset="0"/>
                </a:rPr>
                <a:t>+1</a:t>
              </a:r>
              <a:endParaRPr lang="zh-CN" altLang="en-US" sz="2000" dirty="0">
                <a:latin typeface="Consolas" pitchFamily="49" charset="0"/>
                <a:cs typeface="Consolas" pitchFamily="49" charset="0"/>
              </a:endParaRPr>
            </a:p>
          </p:txBody>
        </p:sp>
        <p:sp>
          <p:nvSpPr>
            <p:cNvPr id="58" name="下箭头 57"/>
            <p:cNvSpPr/>
            <p:nvPr/>
          </p:nvSpPr>
          <p:spPr>
            <a:xfrm>
              <a:off x="2357422" y="5072074"/>
              <a:ext cx="285752" cy="428628"/>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2000">
                <a:latin typeface="Consolas" pitchFamily="49" charset="0"/>
                <a:cs typeface="Consolas" pitchFamily="49" charset="0"/>
              </a:endParaRPr>
            </a:p>
          </p:txBody>
        </p:sp>
      </p:grpSp>
      <p:sp>
        <p:nvSpPr>
          <p:cNvPr id="61" name="TextBox 60"/>
          <p:cNvSpPr txBox="1"/>
          <p:nvPr/>
        </p:nvSpPr>
        <p:spPr>
          <a:xfrm>
            <a:off x="4370658" y="4695563"/>
            <a:ext cx="4000528" cy="861774"/>
          </a:xfrm>
          <a:prstGeom prst="rect">
            <a:avLst/>
          </a:prstGeom>
          <a:noFill/>
        </p:spPr>
        <p:txBody>
          <a:bodyPr wrap="square" rtlCol="0">
            <a:spAutoFit/>
          </a:bodyPr>
          <a:lstStyle/>
          <a:p>
            <a:pPr algn="l">
              <a:spcBef>
                <a:spcPct val="50000"/>
              </a:spcBef>
            </a:pPr>
            <a:r>
              <a:rPr lang="zh-CN" altLang="en-US" sz="2000" dirty="0">
                <a:latin typeface="Consolas" pitchFamily="49" charset="0"/>
                <a:ea typeface="楷体" pitchFamily="49" charset="-122"/>
                <a:cs typeface="Consolas" pitchFamily="49" charset="0"/>
              </a:rPr>
              <a:t>这样分支数与结点数相同</a:t>
            </a:r>
            <a:endParaRPr lang="en-US" altLang="zh-CN" sz="2000" dirty="0">
              <a:latin typeface="Consolas" pitchFamily="49" charset="0"/>
              <a:ea typeface="楷体" pitchFamily="49" charset="-122"/>
              <a:cs typeface="Consolas" pitchFamily="49" charset="0"/>
            </a:endParaRPr>
          </a:p>
          <a:p>
            <a:pPr algn="l">
              <a:spcBef>
                <a:spcPct val="50000"/>
              </a:spcBef>
            </a:pPr>
            <a:r>
              <a:rPr lang="zh-CN" altLang="en-US" sz="2000" dirty="0">
                <a:solidFill>
                  <a:srgbClr val="CC00FF"/>
                </a:solidFill>
                <a:latin typeface="Consolas" pitchFamily="49" charset="0"/>
                <a:ea typeface="楷体" pitchFamily="49" charset="-122"/>
                <a:cs typeface="Consolas" pitchFamily="49" charset="0"/>
              </a:rPr>
              <a:t>  </a:t>
            </a:r>
            <a:r>
              <a:rPr lang="zh-CN" altLang="en-US" sz="2000" dirty="0">
                <a:solidFill>
                  <a:srgbClr val="FF0000"/>
                </a:solidFill>
                <a:latin typeface="Consolas" pitchFamily="49" charset="0"/>
                <a:ea typeface="楷体" pitchFamily="49" charset="-122"/>
                <a:cs typeface="Consolas" pitchFamily="49" charset="0"/>
                <a:sym typeface="Wingdings"/>
              </a:rPr>
              <a:t>  </a:t>
            </a:r>
            <a:r>
              <a:rPr lang="zh-CN" altLang="en-US" sz="2000" dirty="0">
                <a:solidFill>
                  <a:srgbClr val="CC00FF"/>
                </a:solidFill>
                <a:latin typeface="Consolas" pitchFamily="49" charset="0"/>
                <a:ea typeface="楷体" pitchFamily="49" charset="-122"/>
                <a:cs typeface="Consolas" pitchFamily="49" charset="0"/>
              </a:rPr>
              <a:t>实际分支数</a:t>
            </a:r>
            <a:r>
              <a:rPr lang="en-US" altLang="zh-CN" sz="2000" dirty="0">
                <a:solidFill>
                  <a:srgbClr val="CC00FF"/>
                </a:solidFill>
                <a:latin typeface="Consolas" pitchFamily="49" charset="0"/>
                <a:ea typeface="楷体" pitchFamily="49" charset="-122"/>
                <a:cs typeface="Consolas" pitchFamily="49" charset="0"/>
              </a:rPr>
              <a:t> = </a:t>
            </a:r>
            <a:r>
              <a:rPr lang="en-US" altLang="zh-CN" sz="2000" i="1" dirty="0">
                <a:solidFill>
                  <a:srgbClr val="CC00FF"/>
                </a:solidFill>
                <a:latin typeface="Consolas" pitchFamily="49" charset="0"/>
                <a:ea typeface="楷体" pitchFamily="49" charset="-122"/>
                <a:cs typeface="Consolas" pitchFamily="49" charset="0"/>
              </a:rPr>
              <a:t>n</a:t>
            </a:r>
            <a:r>
              <a:rPr lang="en-US" altLang="zh-CN" sz="2000" dirty="0">
                <a:solidFill>
                  <a:srgbClr val="CC00FF"/>
                </a:solidFill>
                <a:latin typeface="Consolas" pitchFamily="49" charset="0"/>
                <a:cs typeface="Consolas" pitchFamily="49" charset="0"/>
              </a:rPr>
              <a:t>-</a:t>
            </a:r>
            <a:r>
              <a:rPr lang="en-US" altLang="zh-CN" sz="2000" dirty="0">
                <a:solidFill>
                  <a:srgbClr val="CC00FF"/>
                </a:solidFill>
                <a:latin typeface="Consolas" pitchFamily="49" charset="0"/>
                <a:ea typeface="楷体" pitchFamily="49" charset="-122"/>
                <a:cs typeface="Consolas" pitchFamily="49" charset="0"/>
              </a:rPr>
              <a:t>1</a:t>
            </a:r>
            <a:endParaRPr lang="zh-CN" altLang="en-US" sz="2000" dirty="0">
              <a:latin typeface="Consolas" pitchFamily="49" charset="0"/>
              <a:cs typeface="Consolas" pitchFamily="49" charset="0"/>
            </a:endParaRPr>
          </a:p>
        </p:txBody>
      </p:sp>
      <p:sp>
        <p:nvSpPr>
          <p:cNvPr id="91" name="右箭头 90"/>
          <p:cNvSpPr/>
          <p:nvPr/>
        </p:nvSpPr>
        <p:spPr>
          <a:xfrm>
            <a:off x="5299352" y="3170209"/>
            <a:ext cx="571504" cy="35719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nvGrpSpPr>
          <p:cNvPr id="3" name="组合 90"/>
          <p:cNvGrpSpPr/>
          <p:nvPr/>
        </p:nvGrpSpPr>
        <p:grpSpPr>
          <a:xfrm>
            <a:off x="1727452" y="2276648"/>
            <a:ext cx="3816350" cy="2305050"/>
            <a:chOff x="214282" y="2714620"/>
            <a:chExt cx="3816350" cy="2305050"/>
          </a:xfrm>
        </p:grpSpPr>
        <p:sp>
          <p:nvSpPr>
            <p:cNvPr id="97" name="Oval 35"/>
            <p:cNvSpPr>
              <a:spLocks noChangeArrowheads="1"/>
            </p:cNvSpPr>
            <p:nvPr/>
          </p:nvSpPr>
          <p:spPr bwMode="auto">
            <a:xfrm>
              <a:off x="214282"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E</a:t>
              </a:r>
            </a:p>
          </p:txBody>
        </p:sp>
        <p:sp>
          <p:nvSpPr>
            <p:cNvPr id="98" name="Freeform 47"/>
            <p:cNvSpPr>
              <a:spLocks/>
            </p:cNvSpPr>
            <p:nvPr/>
          </p:nvSpPr>
          <p:spPr bwMode="auto">
            <a:xfrm>
              <a:off x="453995" y="3724269"/>
              <a:ext cx="211120" cy="300039"/>
            </a:xfrm>
            <a:custGeom>
              <a:avLst/>
              <a:gdLst/>
              <a:ahLst/>
              <a:cxnLst>
                <a:cxn ang="0">
                  <a:pos x="121" y="0"/>
                </a:cxn>
                <a:cxn ang="0">
                  <a:pos x="0" y="144"/>
                </a:cxn>
              </a:cxnLst>
              <a:rect l="0" t="0" r="r" b="b"/>
              <a:pathLst>
                <a:path w="121" h="144">
                  <a:moveTo>
                    <a:pt x="121" y="0"/>
                  </a:moveTo>
                  <a:lnTo>
                    <a:pt x="0" y="144"/>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99" name="Freeform 48"/>
            <p:cNvSpPr>
              <a:spLocks/>
            </p:cNvSpPr>
            <p:nvPr/>
          </p:nvSpPr>
          <p:spPr bwMode="auto">
            <a:xfrm>
              <a:off x="879429" y="3686169"/>
              <a:ext cx="214314" cy="323852"/>
            </a:xfrm>
            <a:custGeom>
              <a:avLst/>
              <a:gdLst/>
              <a:ahLst/>
              <a:cxnLst>
                <a:cxn ang="0">
                  <a:pos x="0" y="0"/>
                </a:cxn>
                <a:cxn ang="0">
                  <a:pos x="115" y="147"/>
                </a:cxn>
              </a:cxnLst>
              <a:rect l="0" t="0" r="r" b="b"/>
              <a:pathLst>
                <a:path w="115" h="147">
                  <a:moveTo>
                    <a:pt x="0" y="0"/>
                  </a:moveTo>
                  <a:lnTo>
                    <a:pt x="115" y="147"/>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00" name="Oval 31"/>
            <p:cNvSpPr>
              <a:spLocks noChangeArrowheads="1"/>
            </p:cNvSpPr>
            <p:nvPr/>
          </p:nvSpPr>
          <p:spPr bwMode="auto">
            <a:xfrm>
              <a:off x="1582707" y="2714620"/>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A</a:t>
              </a:r>
            </a:p>
          </p:txBody>
        </p:sp>
        <p:sp>
          <p:nvSpPr>
            <p:cNvPr id="101" name="Oval 32"/>
            <p:cNvSpPr>
              <a:spLocks noChangeArrowheads="1"/>
            </p:cNvSpPr>
            <p:nvPr/>
          </p:nvSpPr>
          <p:spPr bwMode="auto">
            <a:xfrm>
              <a:off x="574645" y="3363908"/>
              <a:ext cx="360362"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B</a:t>
              </a:r>
            </a:p>
          </p:txBody>
        </p:sp>
        <p:sp>
          <p:nvSpPr>
            <p:cNvPr id="102" name="Oval 33"/>
            <p:cNvSpPr>
              <a:spLocks noChangeArrowheads="1"/>
            </p:cNvSpPr>
            <p:nvPr/>
          </p:nvSpPr>
          <p:spPr bwMode="auto">
            <a:xfrm>
              <a:off x="1582707" y="3363908"/>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103" name="Oval 34"/>
            <p:cNvSpPr>
              <a:spLocks noChangeArrowheads="1"/>
            </p:cNvSpPr>
            <p:nvPr/>
          </p:nvSpPr>
          <p:spPr bwMode="auto">
            <a:xfrm>
              <a:off x="2590770" y="33639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104" name="Oval 36"/>
            <p:cNvSpPr>
              <a:spLocks noChangeArrowheads="1"/>
            </p:cNvSpPr>
            <p:nvPr/>
          </p:nvSpPr>
          <p:spPr bwMode="auto">
            <a:xfrm>
              <a:off x="933420" y="40116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105" name="Oval 37"/>
            <p:cNvSpPr>
              <a:spLocks noChangeArrowheads="1"/>
            </p:cNvSpPr>
            <p:nvPr/>
          </p:nvSpPr>
          <p:spPr bwMode="auto">
            <a:xfrm>
              <a:off x="1582707"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G</a:t>
              </a:r>
            </a:p>
          </p:txBody>
        </p:sp>
        <p:sp>
          <p:nvSpPr>
            <p:cNvPr id="106" name="Oval 38"/>
            <p:cNvSpPr>
              <a:spLocks noChangeArrowheads="1"/>
            </p:cNvSpPr>
            <p:nvPr/>
          </p:nvSpPr>
          <p:spPr bwMode="auto">
            <a:xfrm>
              <a:off x="1582707"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J</a:t>
              </a:r>
            </a:p>
          </p:txBody>
        </p:sp>
        <p:sp>
          <p:nvSpPr>
            <p:cNvPr id="107" name="Oval 39"/>
            <p:cNvSpPr>
              <a:spLocks noChangeArrowheads="1"/>
            </p:cNvSpPr>
            <p:nvPr/>
          </p:nvSpPr>
          <p:spPr bwMode="auto">
            <a:xfrm>
              <a:off x="2230407"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108" name="Oval 40"/>
            <p:cNvSpPr>
              <a:spLocks noChangeArrowheads="1"/>
            </p:cNvSpPr>
            <p:nvPr/>
          </p:nvSpPr>
          <p:spPr bwMode="auto">
            <a:xfrm>
              <a:off x="3022570" y="40116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I</a:t>
              </a:r>
            </a:p>
          </p:txBody>
        </p:sp>
        <p:sp>
          <p:nvSpPr>
            <p:cNvPr id="109" name="Oval 41"/>
            <p:cNvSpPr>
              <a:spLocks noChangeArrowheads="1"/>
            </p:cNvSpPr>
            <p:nvPr/>
          </p:nvSpPr>
          <p:spPr bwMode="auto">
            <a:xfrm>
              <a:off x="2446307"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K</a:t>
              </a:r>
            </a:p>
          </p:txBody>
        </p:sp>
        <p:sp>
          <p:nvSpPr>
            <p:cNvPr id="110" name="Oval 42"/>
            <p:cNvSpPr>
              <a:spLocks noChangeArrowheads="1"/>
            </p:cNvSpPr>
            <p:nvPr/>
          </p:nvSpPr>
          <p:spPr bwMode="auto">
            <a:xfrm>
              <a:off x="3027332"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L</a:t>
              </a:r>
            </a:p>
          </p:txBody>
        </p:sp>
        <p:sp>
          <p:nvSpPr>
            <p:cNvPr id="111" name="Oval 43"/>
            <p:cNvSpPr>
              <a:spLocks noChangeArrowheads="1"/>
            </p:cNvSpPr>
            <p:nvPr/>
          </p:nvSpPr>
          <p:spPr bwMode="auto">
            <a:xfrm>
              <a:off x="3670270" y="46593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M</a:t>
              </a:r>
            </a:p>
          </p:txBody>
        </p:sp>
        <p:sp>
          <p:nvSpPr>
            <p:cNvPr id="112" name="Line 44"/>
            <p:cNvSpPr>
              <a:spLocks noChangeShapeType="1"/>
            </p:cNvSpPr>
            <p:nvPr/>
          </p:nvSpPr>
          <p:spPr bwMode="auto">
            <a:xfrm flipH="1">
              <a:off x="869924" y="2944808"/>
              <a:ext cx="725482" cy="444488"/>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13" name="Line 45"/>
            <p:cNvSpPr>
              <a:spLocks noChangeShapeType="1"/>
            </p:cNvSpPr>
            <p:nvPr/>
          </p:nvSpPr>
          <p:spPr bwMode="auto">
            <a:xfrm>
              <a:off x="1760507" y="3074983"/>
              <a:ext cx="0" cy="288000"/>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14" name="Line 46"/>
            <p:cNvSpPr>
              <a:spLocks noChangeShapeType="1"/>
            </p:cNvSpPr>
            <p:nvPr/>
          </p:nvSpPr>
          <p:spPr bwMode="auto">
            <a:xfrm>
              <a:off x="1952595" y="2960683"/>
              <a:ext cx="647700" cy="503237"/>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15" name="Line 49"/>
            <p:cNvSpPr>
              <a:spLocks noChangeShapeType="1"/>
            </p:cNvSpPr>
            <p:nvPr/>
          </p:nvSpPr>
          <p:spPr bwMode="auto">
            <a:xfrm>
              <a:off x="1765270" y="3751258"/>
              <a:ext cx="0" cy="259200"/>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16" name="Line 50"/>
            <p:cNvSpPr>
              <a:spLocks noChangeShapeType="1"/>
            </p:cNvSpPr>
            <p:nvPr/>
          </p:nvSpPr>
          <p:spPr bwMode="auto">
            <a:xfrm>
              <a:off x="1765270" y="4371970"/>
              <a:ext cx="0" cy="287338"/>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17" name="Freeform 51"/>
            <p:cNvSpPr>
              <a:spLocks/>
            </p:cNvSpPr>
            <p:nvPr/>
          </p:nvSpPr>
          <p:spPr bwMode="auto">
            <a:xfrm>
              <a:off x="2462182" y="3709983"/>
              <a:ext cx="220663" cy="301625"/>
            </a:xfrm>
            <a:custGeom>
              <a:avLst/>
              <a:gdLst/>
              <a:ahLst/>
              <a:cxnLst>
                <a:cxn ang="0">
                  <a:pos x="139" y="0"/>
                </a:cxn>
                <a:cxn ang="0">
                  <a:pos x="0" y="190"/>
                </a:cxn>
              </a:cxnLst>
              <a:rect l="0" t="0" r="r" b="b"/>
              <a:pathLst>
                <a:path w="139" h="190">
                  <a:moveTo>
                    <a:pt x="139" y="0"/>
                  </a:moveTo>
                  <a:lnTo>
                    <a:pt x="0" y="190"/>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18" name="Freeform 52"/>
            <p:cNvSpPr>
              <a:spLocks/>
            </p:cNvSpPr>
            <p:nvPr/>
          </p:nvSpPr>
          <p:spPr bwMode="auto">
            <a:xfrm>
              <a:off x="2901920" y="3681408"/>
              <a:ext cx="265112" cy="330200"/>
            </a:xfrm>
            <a:custGeom>
              <a:avLst/>
              <a:gdLst/>
              <a:ahLst/>
              <a:cxnLst>
                <a:cxn ang="0">
                  <a:pos x="0" y="0"/>
                </a:cxn>
                <a:cxn ang="0">
                  <a:pos x="167" y="208"/>
                </a:cxn>
              </a:cxnLst>
              <a:rect l="0" t="0" r="r" b="b"/>
              <a:pathLst>
                <a:path w="167" h="208">
                  <a:moveTo>
                    <a:pt x="0" y="0"/>
                  </a:moveTo>
                  <a:lnTo>
                    <a:pt x="167" y="208"/>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19" name="Line 53"/>
            <p:cNvSpPr>
              <a:spLocks noChangeShapeType="1"/>
            </p:cNvSpPr>
            <p:nvPr/>
          </p:nvSpPr>
          <p:spPr bwMode="auto">
            <a:xfrm flipH="1">
              <a:off x="2706657" y="4300533"/>
              <a:ext cx="360363" cy="358775"/>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20" name="Line 54"/>
            <p:cNvSpPr>
              <a:spLocks noChangeShapeType="1"/>
            </p:cNvSpPr>
            <p:nvPr/>
          </p:nvSpPr>
          <p:spPr bwMode="auto">
            <a:xfrm>
              <a:off x="3209895" y="4371970"/>
              <a:ext cx="0" cy="287338"/>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21" name="Freeform 55"/>
            <p:cNvSpPr>
              <a:spLocks/>
            </p:cNvSpPr>
            <p:nvPr/>
          </p:nvSpPr>
          <p:spPr bwMode="auto">
            <a:xfrm>
              <a:off x="3349595" y="4281483"/>
              <a:ext cx="447675" cy="390525"/>
            </a:xfrm>
            <a:custGeom>
              <a:avLst/>
              <a:gdLst/>
              <a:ahLst/>
              <a:cxnLst>
                <a:cxn ang="0">
                  <a:pos x="0" y="0"/>
                </a:cxn>
                <a:cxn ang="0">
                  <a:pos x="282" y="246"/>
                </a:cxn>
              </a:cxnLst>
              <a:rect l="0" t="0" r="r" b="b"/>
              <a:pathLst>
                <a:path w="282" h="246">
                  <a:moveTo>
                    <a:pt x="0" y="0"/>
                  </a:moveTo>
                  <a:lnTo>
                    <a:pt x="282" y="246"/>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grpSp>
      <p:grpSp>
        <p:nvGrpSpPr>
          <p:cNvPr id="4" name="组合 149"/>
          <p:cNvGrpSpPr/>
          <p:nvPr/>
        </p:nvGrpSpPr>
        <p:grpSpPr>
          <a:xfrm>
            <a:off x="6299484" y="2042238"/>
            <a:ext cx="3816350" cy="2610898"/>
            <a:chOff x="4786314" y="1265764"/>
            <a:chExt cx="3816350" cy="2610898"/>
          </a:xfrm>
        </p:grpSpPr>
        <p:sp>
          <p:nvSpPr>
            <p:cNvPr id="123" name="Oval 35"/>
            <p:cNvSpPr>
              <a:spLocks noChangeArrowheads="1"/>
            </p:cNvSpPr>
            <p:nvPr/>
          </p:nvSpPr>
          <p:spPr bwMode="auto">
            <a:xfrm>
              <a:off x="4786314" y="2868600"/>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E</a:t>
              </a:r>
            </a:p>
          </p:txBody>
        </p:sp>
        <p:sp>
          <p:nvSpPr>
            <p:cNvPr id="124" name="Freeform 47"/>
            <p:cNvSpPr>
              <a:spLocks/>
            </p:cNvSpPr>
            <p:nvPr/>
          </p:nvSpPr>
          <p:spPr bwMode="auto">
            <a:xfrm>
              <a:off x="5026027" y="2581261"/>
              <a:ext cx="211120" cy="300039"/>
            </a:xfrm>
            <a:custGeom>
              <a:avLst/>
              <a:gdLst/>
              <a:ahLst/>
              <a:cxnLst>
                <a:cxn ang="0">
                  <a:pos x="121" y="0"/>
                </a:cxn>
                <a:cxn ang="0">
                  <a:pos x="0" y="144"/>
                </a:cxn>
              </a:cxnLst>
              <a:rect l="0" t="0" r="r" b="b"/>
              <a:pathLst>
                <a:path w="121" h="144">
                  <a:moveTo>
                    <a:pt x="121" y="0"/>
                  </a:moveTo>
                  <a:lnTo>
                    <a:pt x="0" y="144"/>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25" name="Freeform 48"/>
            <p:cNvSpPr>
              <a:spLocks/>
            </p:cNvSpPr>
            <p:nvPr/>
          </p:nvSpPr>
          <p:spPr bwMode="auto">
            <a:xfrm>
              <a:off x="5451461" y="2543161"/>
              <a:ext cx="214314" cy="323852"/>
            </a:xfrm>
            <a:custGeom>
              <a:avLst/>
              <a:gdLst/>
              <a:ahLst/>
              <a:cxnLst>
                <a:cxn ang="0">
                  <a:pos x="0" y="0"/>
                </a:cxn>
                <a:cxn ang="0">
                  <a:pos x="115" y="147"/>
                </a:cxn>
              </a:cxnLst>
              <a:rect l="0" t="0" r="r" b="b"/>
              <a:pathLst>
                <a:path w="115" h="147">
                  <a:moveTo>
                    <a:pt x="0" y="0"/>
                  </a:moveTo>
                  <a:lnTo>
                    <a:pt x="115" y="147"/>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26" name="Oval 31"/>
            <p:cNvSpPr>
              <a:spLocks noChangeArrowheads="1"/>
            </p:cNvSpPr>
            <p:nvPr/>
          </p:nvSpPr>
          <p:spPr bwMode="auto">
            <a:xfrm>
              <a:off x="6154739" y="1571612"/>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A</a:t>
              </a:r>
            </a:p>
          </p:txBody>
        </p:sp>
        <p:sp>
          <p:nvSpPr>
            <p:cNvPr id="127" name="Oval 32"/>
            <p:cNvSpPr>
              <a:spLocks noChangeArrowheads="1"/>
            </p:cNvSpPr>
            <p:nvPr/>
          </p:nvSpPr>
          <p:spPr bwMode="auto">
            <a:xfrm>
              <a:off x="5146677" y="2220900"/>
              <a:ext cx="360362"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B</a:t>
              </a:r>
            </a:p>
          </p:txBody>
        </p:sp>
        <p:sp>
          <p:nvSpPr>
            <p:cNvPr id="128" name="Oval 33"/>
            <p:cNvSpPr>
              <a:spLocks noChangeArrowheads="1"/>
            </p:cNvSpPr>
            <p:nvPr/>
          </p:nvSpPr>
          <p:spPr bwMode="auto">
            <a:xfrm>
              <a:off x="6154739" y="2220900"/>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129" name="Oval 34"/>
            <p:cNvSpPr>
              <a:spLocks noChangeArrowheads="1"/>
            </p:cNvSpPr>
            <p:nvPr/>
          </p:nvSpPr>
          <p:spPr bwMode="auto">
            <a:xfrm>
              <a:off x="7162802" y="2220900"/>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130" name="Oval 36"/>
            <p:cNvSpPr>
              <a:spLocks noChangeArrowheads="1"/>
            </p:cNvSpPr>
            <p:nvPr/>
          </p:nvSpPr>
          <p:spPr bwMode="auto">
            <a:xfrm>
              <a:off x="5505452" y="2868600"/>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131" name="Oval 37"/>
            <p:cNvSpPr>
              <a:spLocks noChangeArrowheads="1"/>
            </p:cNvSpPr>
            <p:nvPr/>
          </p:nvSpPr>
          <p:spPr bwMode="auto">
            <a:xfrm>
              <a:off x="6154739" y="2868600"/>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G</a:t>
              </a:r>
            </a:p>
          </p:txBody>
        </p:sp>
        <p:sp>
          <p:nvSpPr>
            <p:cNvPr id="132" name="Oval 38"/>
            <p:cNvSpPr>
              <a:spLocks noChangeArrowheads="1"/>
            </p:cNvSpPr>
            <p:nvPr/>
          </p:nvSpPr>
          <p:spPr bwMode="auto">
            <a:xfrm>
              <a:off x="6154739" y="3516300"/>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J</a:t>
              </a:r>
            </a:p>
          </p:txBody>
        </p:sp>
        <p:sp>
          <p:nvSpPr>
            <p:cNvPr id="133" name="Oval 39"/>
            <p:cNvSpPr>
              <a:spLocks noChangeArrowheads="1"/>
            </p:cNvSpPr>
            <p:nvPr/>
          </p:nvSpPr>
          <p:spPr bwMode="auto">
            <a:xfrm>
              <a:off x="6802439" y="2868600"/>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134" name="Oval 40"/>
            <p:cNvSpPr>
              <a:spLocks noChangeArrowheads="1"/>
            </p:cNvSpPr>
            <p:nvPr/>
          </p:nvSpPr>
          <p:spPr bwMode="auto">
            <a:xfrm>
              <a:off x="7594602" y="2868600"/>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I</a:t>
              </a:r>
            </a:p>
          </p:txBody>
        </p:sp>
        <p:sp>
          <p:nvSpPr>
            <p:cNvPr id="135" name="Oval 41"/>
            <p:cNvSpPr>
              <a:spLocks noChangeArrowheads="1"/>
            </p:cNvSpPr>
            <p:nvPr/>
          </p:nvSpPr>
          <p:spPr bwMode="auto">
            <a:xfrm>
              <a:off x="7018339" y="3516300"/>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K</a:t>
              </a:r>
            </a:p>
          </p:txBody>
        </p:sp>
        <p:sp>
          <p:nvSpPr>
            <p:cNvPr id="136" name="Oval 42"/>
            <p:cNvSpPr>
              <a:spLocks noChangeArrowheads="1"/>
            </p:cNvSpPr>
            <p:nvPr/>
          </p:nvSpPr>
          <p:spPr bwMode="auto">
            <a:xfrm>
              <a:off x="7599364" y="3516300"/>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L</a:t>
              </a:r>
            </a:p>
          </p:txBody>
        </p:sp>
        <p:sp>
          <p:nvSpPr>
            <p:cNvPr id="137" name="Oval 43"/>
            <p:cNvSpPr>
              <a:spLocks noChangeArrowheads="1"/>
            </p:cNvSpPr>
            <p:nvPr/>
          </p:nvSpPr>
          <p:spPr bwMode="auto">
            <a:xfrm>
              <a:off x="8242302" y="3516300"/>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M</a:t>
              </a:r>
            </a:p>
          </p:txBody>
        </p:sp>
        <p:sp>
          <p:nvSpPr>
            <p:cNvPr id="138" name="Line 44"/>
            <p:cNvSpPr>
              <a:spLocks noChangeShapeType="1"/>
            </p:cNvSpPr>
            <p:nvPr/>
          </p:nvSpPr>
          <p:spPr bwMode="auto">
            <a:xfrm flipH="1">
              <a:off x="5441956" y="1801800"/>
              <a:ext cx="725482" cy="444488"/>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39" name="Line 45"/>
            <p:cNvSpPr>
              <a:spLocks noChangeShapeType="1"/>
            </p:cNvSpPr>
            <p:nvPr/>
          </p:nvSpPr>
          <p:spPr bwMode="auto">
            <a:xfrm>
              <a:off x="6332539" y="1931975"/>
              <a:ext cx="0" cy="288000"/>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40" name="Line 46"/>
            <p:cNvSpPr>
              <a:spLocks noChangeShapeType="1"/>
            </p:cNvSpPr>
            <p:nvPr/>
          </p:nvSpPr>
          <p:spPr bwMode="auto">
            <a:xfrm>
              <a:off x="6524627" y="1817675"/>
              <a:ext cx="647700" cy="503237"/>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41" name="Line 49"/>
            <p:cNvSpPr>
              <a:spLocks noChangeShapeType="1"/>
            </p:cNvSpPr>
            <p:nvPr/>
          </p:nvSpPr>
          <p:spPr bwMode="auto">
            <a:xfrm>
              <a:off x="6337302" y="2608250"/>
              <a:ext cx="0" cy="259200"/>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42" name="Line 50"/>
            <p:cNvSpPr>
              <a:spLocks noChangeShapeType="1"/>
            </p:cNvSpPr>
            <p:nvPr/>
          </p:nvSpPr>
          <p:spPr bwMode="auto">
            <a:xfrm>
              <a:off x="6337302" y="3228962"/>
              <a:ext cx="0" cy="287338"/>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43" name="Freeform 51"/>
            <p:cNvSpPr>
              <a:spLocks/>
            </p:cNvSpPr>
            <p:nvPr/>
          </p:nvSpPr>
          <p:spPr bwMode="auto">
            <a:xfrm>
              <a:off x="7034214" y="2566975"/>
              <a:ext cx="220663" cy="301625"/>
            </a:xfrm>
            <a:custGeom>
              <a:avLst/>
              <a:gdLst/>
              <a:ahLst/>
              <a:cxnLst>
                <a:cxn ang="0">
                  <a:pos x="139" y="0"/>
                </a:cxn>
                <a:cxn ang="0">
                  <a:pos x="0" y="190"/>
                </a:cxn>
              </a:cxnLst>
              <a:rect l="0" t="0" r="r" b="b"/>
              <a:pathLst>
                <a:path w="139" h="190">
                  <a:moveTo>
                    <a:pt x="139" y="0"/>
                  </a:moveTo>
                  <a:lnTo>
                    <a:pt x="0" y="190"/>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44" name="Freeform 52"/>
            <p:cNvSpPr>
              <a:spLocks/>
            </p:cNvSpPr>
            <p:nvPr/>
          </p:nvSpPr>
          <p:spPr bwMode="auto">
            <a:xfrm>
              <a:off x="7473952" y="2538400"/>
              <a:ext cx="265112" cy="330200"/>
            </a:xfrm>
            <a:custGeom>
              <a:avLst/>
              <a:gdLst/>
              <a:ahLst/>
              <a:cxnLst>
                <a:cxn ang="0">
                  <a:pos x="0" y="0"/>
                </a:cxn>
                <a:cxn ang="0">
                  <a:pos x="167" y="208"/>
                </a:cxn>
              </a:cxnLst>
              <a:rect l="0" t="0" r="r" b="b"/>
              <a:pathLst>
                <a:path w="167" h="208">
                  <a:moveTo>
                    <a:pt x="0" y="0"/>
                  </a:moveTo>
                  <a:lnTo>
                    <a:pt x="167" y="208"/>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45" name="Line 53"/>
            <p:cNvSpPr>
              <a:spLocks noChangeShapeType="1"/>
            </p:cNvSpPr>
            <p:nvPr/>
          </p:nvSpPr>
          <p:spPr bwMode="auto">
            <a:xfrm flipH="1">
              <a:off x="7278689" y="3157525"/>
              <a:ext cx="360363" cy="358775"/>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46" name="Line 54"/>
            <p:cNvSpPr>
              <a:spLocks noChangeShapeType="1"/>
            </p:cNvSpPr>
            <p:nvPr/>
          </p:nvSpPr>
          <p:spPr bwMode="auto">
            <a:xfrm>
              <a:off x="7781927" y="3228962"/>
              <a:ext cx="0" cy="287338"/>
            </a:xfrm>
            <a:prstGeom prst="line">
              <a:avLst/>
            </a:prstGeom>
            <a:ln>
              <a:headEnd/>
              <a:tailEnd type="arrow"/>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47" name="Freeform 55"/>
            <p:cNvSpPr>
              <a:spLocks/>
            </p:cNvSpPr>
            <p:nvPr/>
          </p:nvSpPr>
          <p:spPr bwMode="auto">
            <a:xfrm>
              <a:off x="7921627" y="3138475"/>
              <a:ext cx="447675" cy="390525"/>
            </a:xfrm>
            <a:custGeom>
              <a:avLst/>
              <a:gdLst/>
              <a:ahLst/>
              <a:cxnLst>
                <a:cxn ang="0">
                  <a:pos x="0" y="0"/>
                </a:cxn>
                <a:cxn ang="0">
                  <a:pos x="282" y="246"/>
                </a:cxn>
              </a:cxnLst>
              <a:rect l="0" t="0" r="r" b="b"/>
              <a:pathLst>
                <a:path w="282" h="246">
                  <a:moveTo>
                    <a:pt x="0" y="0"/>
                  </a:moveTo>
                  <a:lnTo>
                    <a:pt x="282" y="246"/>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48" name="Freeform 52"/>
            <p:cNvSpPr>
              <a:spLocks/>
            </p:cNvSpPr>
            <p:nvPr/>
          </p:nvSpPr>
          <p:spPr bwMode="auto">
            <a:xfrm>
              <a:off x="6011910" y="1265764"/>
              <a:ext cx="265112" cy="330200"/>
            </a:xfrm>
            <a:custGeom>
              <a:avLst/>
              <a:gdLst/>
              <a:ahLst/>
              <a:cxnLst>
                <a:cxn ang="0">
                  <a:pos x="0" y="0"/>
                </a:cxn>
                <a:cxn ang="0">
                  <a:pos x="167" y="208"/>
                </a:cxn>
              </a:cxnLst>
              <a:rect l="0" t="0" r="r" b="b"/>
              <a:pathLst>
                <a:path w="167" h="208">
                  <a:moveTo>
                    <a:pt x="0" y="0"/>
                  </a:moveTo>
                  <a:lnTo>
                    <a:pt x="167" y="208"/>
                  </a:lnTo>
                </a:path>
              </a:pathLst>
            </a:custGeom>
            <a:ln>
              <a:headEnd type="none" w="med" len="med"/>
              <a:tailEnd type="arrow" w="med" len="med"/>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grpSp>
      <p:sp>
        <p:nvSpPr>
          <p:cNvPr id="62" name="灯片编号占位符 61"/>
          <p:cNvSpPr>
            <a:spLocks noGrp="1"/>
          </p:cNvSpPr>
          <p:nvPr>
            <p:ph type="sldNum" sz="quarter" idx="12"/>
          </p:nvPr>
        </p:nvSpPr>
        <p:spPr/>
        <p:txBody>
          <a:bodyPr/>
          <a:lstStyle/>
          <a:p>
            <a:fld id="{FFD28AF7-D4CC-4B35-B7D7-507FA0146854}" type="slidenum">
              <a:rPr lang="en-US" altLang="zh-CN" smtClean="0"/>
              <a:pPr/>
              <a:t>12</a:t>
            </a:fld>
            <a:r>
              <a:rPr lang="en-US" altLang="zh-CN"/>
              <a:t>/49</a:t>
            </a:r>
          </a:p>
        </p:txBody>
      </p:sp>
      <p:sp>
        <p:nvSpPr>
          <p:cNvPr id="5" name="矩形 4">
            <a:extLst>
              <a:ext uri="{FF2B5EF4-FFF2-40B4-BE49-F238E27FC236}">
                <a16:creationId xmlns:a16="http://schemas.microsoft.com/office/drawing/2014/main" xmlns="" id="{E232AD00-5CA8-B630-76F3-2EA77A169760}"/>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6" name="Rectangle 2">
            <a:extLst>
              <a:ext uri="{FF2B5EF4-FFF2-40B4-BE49-F238E27FC236}">
                <a16:creationId xmlns:a16="http://schemas.microsoft.com/office/drawing/2014/main" xmlns="" id="{FCE8A348-577F-7651-59B1-FD3B46FE1853}"/>
              </a:ext>
            </a:extLst>
          </p:cNvPr>
          <p:cNvSpPr txBox="1">
            <a:spLocks noChangeArrowheads="1"/>
          </p:cNvSpPr>
          <p:nvPr/>
        </p:nvSpPr>
        <p:spPr>
          <a:xfrm>
            <a:off x="79920" y="836712"/>
            <a:ext cx="27757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7.1.4 </a:t>
            </a:r>
            <a:r>
              <a:rPr lang="zh-CN" altLang="en-US" dirty="0"/>
              <a:t>树的性质</a:t>
            </a:r>
          </a:p>
        </p:txBody>
      </p:sp>
      <p:cxnSp>
        <p:nvCxnSpPr>
          <p:cNvPr id="7" name="直接连接符 6">
            <a:extLst>
              <a:ext uri="{FF2B5EF4-FFF2-40B4-BE49-F238E27FC236}">
                <a16:creationId xmlns:a16="http://schemas.microsoft.com/office/drawing/2014/main" xmlns="" id="{3D78C6DB-440E-447C-C608-25F33AAECD3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9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Text Box 5"/>
          <p:cNvSpPr txBox="1">
            <a:spLocks noChangeArrowheads="1"/>
          </p:cNvSpPr>
          <p:nvPr/>
        </p:nvSpPr>
        <p:spPr bwMode="auto">
          <a:xfrm>
            <a:off x="1946757" y="1736140"/>
            <a:ext cx="4286280"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latin typeface="微软雅黑" pitchFamily="34" charset="-122"/>
                <a:ea typeface="微软雅黑" pitchFamily="34" charset="-122"/>
                <a:cs typeface="经典粗黑简" pitchFamily="49" charset="-122"/>
                <a:sym typeface="Wingdings"/>
              </a:rPr>
              <a:t>度为</a:t>
            </a:r>
            <a:r>
              <a:rPr kumimoji="1" lang="en-US" altLang="zh-CN" sz="2000" dirty="0">
                <a:latin typeface="微软雅黑" pitchFamily="34" charset="-122"/>
                <a:ea typeface="微软雅黑" pitchFamily="34" charset="-122"/>
                <a:cs typeface="经典粗黑简" pitchFamily="49" charset="-122"/>
                <a:sym typeface="Wingdings"/>
              </a:rPr>
              <a:t>m</a:t>
            </a:r>
            <a:r>
              <a:rPr kumimoji="1" lang="zh-CN" altLang="en-US" sz="2000" dirty="0">
                <a:latin typeface="微软雅黑" pitchFamily="34" charset="-122"/>
                <a:ea typeface="微软雅黑" pitchFamily="34" charset="-122"/>
                <a:cs typeface="经典粗黑简" pitchFamily="49" charset="-122"/>
                <a:sym typeface="Wingdings"/>
              </a:rPr>
              <a:t>的树的其他重要特性（</a:t>
            </a:r>
            <a:r>
              <a:rPr kumimoji="1" lang="en-US" altLang="zh-CN" sz="2000" dirty="0">
                <a:latin typeface="微软雅黑" pitchFamily="34" charset="-122"/>
                <a:ea typeface="微软雅黑" pitchFamily="34" charset="-122"/>
                <a:cs typeface="经典粗黑简" pitchFamily="49" charset="-122"/>
                <a:sym typeface="Wingdings"/>
              </a:rPr>
              <a:t>1/2</a:t>
            </a:r>
            <a:r>
              <a:rPr kumimoji="1" lang="zh-CN" altLang="en-US" sz="2000" dirty="0">
                <a:latin typeface="微软雅黑" pitchFamily="34" charset="-122"/>
                <a:ea typeface="微软雅黑" pitchFamily="34" charset="-122"/>
                <a:cs typeface="经典粗黑简" pitchFamily="49" charset="-122"/>
                <a:sym typeface="Wingdings"/>
              </a:rPr>
              <a:t>）：</a:t>
            </a:r>
            <a:endParaRPr kumimoji="1" lang="en-US" altLang="zh-CN" sz="2000" dirty="0">
              <a:latin typeface="微软雅黑" pitchFamily="34" charset="-122"/>
              <a:ea typeface="微软雅黑" pitchFamily="34" charset="-122"/>
              <a:cs typeface="经典粗黑简" pitchFamily="49" charset="-122"/>
              <a:sym typeface="Wingdings"/>
            </a:endParaRPr>
          </a:p>
        </p:txBody>
      </p:sp>
      <p:sp>
        <p:nvSpPr>
          <p:cNvPr id="63" name="TextBox 62"/>
          <p:cNvSpPr txBox="1"/>
          <p:nvPr/>
        </p:nvSpPr>
        <p:spPr>
          <a:xfrm>
            <a:off x="2046167" y="2322617"/>
            <a:ext cx="8969080" cy="102974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nSpc>
                <a:spcPts val="3000"/>
              </a:lnSpc>
              <a:spcBef>
                <a:spcPts val="600"/>
              </a:spcBef>
              <a:buBlip>
                <a:blip r:embed="rId3"/>
              </a:buBlip>
            </a:pPr>
            <a:r>
              <a:rPr lang="zh-CN" altLang="en-US" sz="2000" dirty="0">
                <a:solidFill>
                  <a:srgbClr val="FF0000"/>
                </a:solidFill>
                <a:latin typeface="Consolas" pitchFamily="49" charset="0"/>
                <a:ea typeface="仿宋" pitchFamily="49" charset="-122"/>
                <a:cs typeface="Consolas" pitchFamily="49" charset="0"/>
              </a:rPr>
              <a:t>结点个数表示：</a:t>
            </a:r>
            <a:r>
              <a:rPr lang="en-US" altLang="zh-CN" sz="2000" i="1" dirty="0">
                <a:solidFill>
                  <a:srgbClr val="0000FF"/>
                </a:solidFill>
                <a:latin typeface="Consolas" pitchFamily="49" charset="0"/>
                <a:ea typeface="仿宋" pitchFamily="49" charset="-122"/>
                <a:cs typeface="Consolas" pitchFamily="49" charset="0"/>
              </a:rPr>
              <a:t>n</a:t>
            </a:r>
            <a:r>
              <a:rPr lang="zh-CN" altLang="en-US" sz="2000" dirty="0">
                <a:solidFill>
                  <a:srgbClr val="0000FF"/>
                </a:solidFill>
                <a:latin typeface="Consolas" pitchFamily="49" charset="0"/>
                <a:ea typeface="仿宋" pitchFamily="49" charset="-122"/>
                <a:cs typeface="Consolas" pitchFamily="49" charset="0"/>
              </a:rPr>
              <a:t>为总结点个数，</a:t>
            </a:r>
            <a:r>
              <a:rPr lang="en-US" altLang="zh-CN" sz="2000" i="1" dirty="0" err="1">
                <a:solidFill>
                  <a:srgbClr val="0000FF"/>
                </a:solidFill>
                <a:latin typeface="Consolas" pitchFamily="49" charset="0"/>
                <a:ea typeface="仿宋" pitchFamily="49" charset="-122"/>
                <a:cs typeface="Consolas" pitchFamily="49" charset="0"/>
              </a:rPr>
              <a:t>n</a:t>
            </a:r>
            <a:r>
              <a:rPr lang="en-US" altLang="zh-CN" sz="2000" i="1" baseline="-25000" dirty="0" err="1">
                <a:solidFill>
                  <a:srgbClr val="0000FF"/>
                </a:solidFill>
                <a:latin typeface="Consolas" pitchFamily="49" charset="0"/>
                <a:ea typeface="仿宋" pitchFamily="49" charset="-122"/>
                <a:cs typeface="Consolas" pitchFamily="49" charset="0"/>
              </a:rPr>
              <a:t>i</a:t>
            </a:r>
            <a:r>
              <a:rPr lang="zh-CN" altLang="en-US" sz="2000" dirty="0">
                <a:solidFill>
                  <a:srgbClr val="0000FF"/>
                </a:solidFill>
                <a:latin typeface="Consolas" pitchFamily="49" charset="0"/>
                <a:ea typeface="仿宋" pitchFamily="49" charset="-122"/>
                <a:cs typeface="Consolas" pitchFamily="49" charset="0"/>
              </a:rPr>
              <a:t>为度为</a:t>
            </a:r>
            <a:r>
              <a:rPr lang="en-US" altLang="zh-CN" sz="2000" i="1" dirty="0" err="1">
                <a:solidFill>
                  <a:srgbClr val="0000FF"/>
                </a:solidFill>
                <a:latin typeface="Consolas" pitchFamily="49" charset="0"/>
                <a:ea typeface="仿宋" pitchFamily="49" charset="-122"/>
                <a:cs typeface="Consolas" pitchFamily="49" charset="0"/>
              </a:rPr>
              <a:t>i</a:t>
            </a:r>
            <a:r>
              <a:rPr lang="zh-CN" altLang="en-US" sz="2000" dirty="0">
                <a:solidFill>
                  <a:srgbClr val="0000FF"/>
                </a:solidFill>
                <a:latin typeface="Consolas" pitchFamily="49" charset="0"/>
                <a:ea typeface="仿宋" pitchFamily="49" charset="-122"/>
                <a:cs typeface="Consolas" pitchFamily="49" charset="0"/>
              </a:rPr>
              <a:t>（</a:t>
            </a:r>
            <a:r>
              <a:rPr lang="en-US" altLang="zh-CN" sz="2000" dirty="0">
                <a:solidFill>
                  <a:srgbClr val="0000FF"/>
                </a:solidFill>
                <a:latin typeface="Consolas" pitchFamily="49" charset="0"/>
                <a:ea typeface="仿宋" pitchFamily="49" charset="-122"/>
                <a:cs typeface="Consolas" pitchFamily="49" charset="0"/>
              </a:rPr>
              <a:t>0</a:t>
            </a:r>
            <a:r>
              <a:rPr lang="en-US" altLang="zh-CN" sz="2000" dirty="0">
                <a:solidFill>
                  <a:srgbClr val="0000FF"/>
                </a:solidFill>
                <a:latin typeface="宋体" pitchFamily="2" charset="-122"/>
                <a:ea typeface="宋体" pitchFamily="2"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i</a:t>
            </a:r>
            <a:r>
              <a:rPr lang="en-US" altLang="zh-CN" sz="2000" dirty="0">
                <a:solidFill>
                  <a:srgbClr val="0000FF"/>
                </a:solidFill>
                <a:latin typeface="宋体" pitchFamily="2" charset="-122"/>
                <a:ea typeface="宋体" pitchFamily="2"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m</a:t>
            </a:r>
            <a:r>
              <a:rPr lang="zh-CN" altLang="en-US" sz="2000" dirty="0">
                <a:solidFill>
                  <a:srgbClr val="0000FF"/>
                </a:solidFill>
                <a:latin typeface="Consolas" pitchFamily="49" charset="0"/>
                <a:ea typeface="仿宋" pitchFamily="49" charset="-122"/>
                <a:cs typeface="Consolas" pitchFamily="49" charset="0"/>
              </a:rPr>
              <a:t>）的结点个数</a:t>
            </a:r>
            <a:endParaRPr lang="en-US" altLang="zh-CN" sz="2000" dirty="0">
              <a:solidFill>
                <a:srgbClr val="0000FF"/>
              </a:solidFill>
              <a:latin typeface="Consolas" pitchFamily="49" charset="0"/>
              <a:ea typeface="仿宋" pitchFamily="49" charset="-122"/>
              <a:cs typeface="Consolas" pitchFamily="49" charset="0"/>
            </a:endParaRPr>
          </a:p>
          <a:p>
            <a:pPr marL="457200" indent="-457200">
              <a:lnSpc>
                <a:spcPts val="3000"/>
              </a:lnSpc>
              <a:spcBef>
                <a:spcPts val="600"/>
              </a:spcBef>
              <a:buBlip>
                <a:blip r:embed="rId3"/>
              </a:buBlip>
            </a:pPr>
            <a:r>
              <a:rPr lang="en-US" altLang="zh-CN" sz="2000" i="1" dirty="0">
                <a:solidFill>
                  <a:srgbClr val="0000FF"/>
                </a:solidFill>
                <a:latin typeface="Consolas" pitchFamily="49" charset="0"/>
                <a:ea typeface="仿宋" pitchFamily="49" charset="-122"/>
                <a:cs typeface="Consolas" pitchFamily="49" charset="0"/>
              </a:rPr>
              <a:t>n</a:t>
            </a:r>
            <a:r>
              <a:rPr lang="en-US"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n</a:t>
            </a:r>
            <a:r>
              <a:rPr lang="en-US" altLang="zh-CN" sz="2000" baseline="-25000" dirty="0">
                <a:solidFill>
                  <a:srgbClr val="0000FF"/>
                </a:solidFill>
                <a:latin typeface="Consolas" pitchFamily="49" charset="0"/>
                <a:ea typeface="仿宋" pitchFamily="49" charset="-122"/>
                <a:cs typeface="Consolas" pitchFamily="49" charset="0"/>
              </a:rPr>
              <a:t>0</a:t>
            </a:r>
            <a:r>
              <a:rPr lang="en-US"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n</a:t>
            </a:r>
            <a:r>
              <a:rPr lang="en-US" altLang="zh-CN" sz="2000" baseline="-25000" dirty="0">
                <a:solidFill>
                  <a:srgbClr val="0000FF"/>
                </a:solidFill>
                <a:latin typeface="Consolas" pitchFamily="49" charset="0"/>
                <a:ea typeface="仿宋" pitchFamily="49" charset="-122"/>
                <a:cs typeface="Consolas" pitchFamily="49" charset="0"/>
              </a:rPr>
              <a:t>1</a:t>
            </a:r>
            <a:r>
              <a:rPr lang="en-US" altLang="zh-CN" sz="2000" dirty="0">
                <a:solidFill>
                  <a:srgbClr val="0000FF"/>
                </a:solidFill>
                <a:latin typeface="Consolas" pitchFamily="49" charset="0"/>
                <a:ea typeface="仿宋" pitchFamily="49" charset="-122"/>
                <a:cs typeface="Consolas" pitchFamily="49" charset="0"/>
              </a:rPr>
              <a:t>+</a:t>
            </a:r>
            <a:r>
              <a:rPr lang="en-US" altLang="zh-CN" sz="2000" dirty="0">
                <a:solidFill>
                  <a:srgbClr val="0000FF"/>
                </a:solidFill>
                <a:latin typeface="宋体" pitchFamily="2" charset="-122"/>
                <a:ea typeface="宋体" pitchFamily="2" charset="-122"/>
                <a:cs typeface="Consolas" pitchFamily="49" charset="0"/>
              </a:rPr>
              <a:t>…</a:t>
            </a:r>
            <a:r>
              <a:rPr lang="en-US"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n</a:t>
            </a:r>
            <a:r>
              <a:rPr lang="en-US" altLang="zh-CN" sz="2000" i="1" baseline="-25000" dirty="0">
                <a:solidFill>
                  <a:srgbClr val="0000FF"/>
                </a:solidFill>
                <a:latin typeface="Consolas" pitchFamily="49" charset="0"/>
                <a:ea typeface="仿宋" pitchFamily="49" charset="-122"/>
                <a:cs typeface="Consolas" pitchFamily="49" charset="0"/>
              </a:rPr>
              <a:t>m</a:t>
            </a:r>
          </a:p>
        </p:txBody>
      </p:sp>
      <p:grpSp>
        <p:nvGrpSpPr>
          <p:cNvPr id="2" name="组合 63"/>
          <p:cNvGrpSpPr/>
          <p:nvPr/>
        </p:nvGrpSpPr>
        <p:grpSpPr>
          <a:xfrm>
            <a:off x="2375385" y="3729310"/>
            <a:ext cx="7715304" cy="2305050"/>
            <a:chOff x="571472" y="2928934"/>
            <a:chExt cx="7715304" cy="2305050"/>
          </a:xfrm>
        </p:grpSpPr>
        <p:grpSp>
          <p:nvGrpSpPr>
            <p:cNvPr id="3" name="组合 90"/>
            <p:cNvGrpSpPr/>
            <p:nvPr/>
          </p:nvGrpSpPr>
          <p:grpSpPr>
            <a:xfrm>
              <a:off x="571472" y="2928934"/>
              <a:ext cx="3746014" cy="2305050"/>
              <a:chOff x="214282" y="2714620"/>
              <a:chExt cx="3746014" cy="2305050"/>
            </a:xfrm>
          </p:grpSpPr>
          <p:sp>
            <p:nvSpPr>
              <p:cNvPr id="68" name="Freeform 55"/>
              <p:cNvSpPr>
                <a:spLocks/>
              </p:cNvSpPr>
              <p:nvPr/>
            </p:nvSpPr>
            <p:spPr bwMode="auto">
              <a:xfrm>
                <a:off x="3349595" y="4281483"/>
                <a:ext cx="365149" cy="433401"/>
              </a:xfrm>
              <a:custGeom>
                <a:avLst/>
                <a:gdLst/>
                <a:ahLst/>
                <a:cxnLst>
                  <a:cxn ang="0">
                    <a:pos x="0" y="0"/>
                  </a:cxn>
                  <a:cxn ang="0">
                    <a:pos x="282" y="246"/>
                  </a:cxn>
                </a:cxnLst>
                <a:rect l="0" t="0" r="r" b="b"/>
                <a:pathLst>
                  <a:path w="282" h="246">
                    <a:moveTo>
                      <a:pt x="0" y="0"/>
                    </a:moveTo>
                    <a:lnTo>
                      <a:pt x="282" y="246"/>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69" name="Oval 35"/>
              <p:cNvSpPr>
                <a:spLocks noChangeArrowheads="1"/>
              </p:cNvSpPr>
              <p:nvPr/>
            </p:nvSpPr>
            <p:spPr bwMode="auto">
              <a:xfrm>
                <a:off x="214282"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E</a:t>
                </a:r>
              </a:p>
            </p:txBody>
          </p:sp>
          <p:sp>
            <p:nvSpPr>
              <p:cNvPr id="70" name="Freeform 47"/>
              <p:cNvSpPr>
                <a:spLocks/>
              </p:cNvSpPr>
              <p:nvPr/>
            </p:nvSpPr>
            <p:spPr bwMode="auto">
              <a:xfrm>
                <a:off x="453995" y="3724269"/>
                <a:ext cx="211120" cy="300039"/>
              </a:xfrm>
              <a:custGeom>
                <a:avLst/>
                <a:gdLst/>
                <a:ahLst/>
                <a:cxnLst>
                  <a:cxn ang="0">
                    <a:pos x="121" y="0"/>
                  </a:cxn>
                  <a:cxn ang="0">
                    <a:pos x="0" y="144"/>
                  </a:cxn>
                </a:cxnLst>
                <a:rect l="0" t="0" r="r" b="b"/>
                <a:pathLst>
                  <a:path w="121" h="144">
                    <a:moveTo>
                      <a:pt x="121" y="0"/>
                    </a:moveTo>
                    <a:lnTo>
                      <a:pt x="0" y="144"/>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71" name="Freeform 48"/>
              <p:cNvSpPr>
                <a:spLocks/>
              </p:cNvSpPr>
              <p:nvPr/>
            </p:nvSpPr>
            <p:spPr bwMode="auto">
              <a:xfrm>
                <a:off x="879429" y="3686169"/>
                <a:ext cx="214314" cy="323852"/>
              </a:xfrm>
              <a:custGeom>
                <a:avLst/>
                <a:gdLst/>
                <a:ahLst/>
                <a:cxnLst>
                  <a:cxn ang="0">
                    <a:pos x="0" y="0"/>
                  </a:cxn>
                  <a:cxn ang="0">
                    <a:pos x="115" y="147"/>
                  </a:cxn>
                </a:cxnLst>
                <a:rect l="0" t="0" r="r" b="b"/>
                <a:pathLst>
                  <a:path w="115" h="147">
                    <a:moveTo>
                      <a:pt x="0" y="0"/>
                    </a:moveTo>
                    <a:lnTo>
                      <a:pt x="115" y="147"/>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72" name="Oval 31"/>
              <p:cNvSpPr>
                <a:spLocks noChangeArrowheads="1"/>
              </p:cNvSpPr>
              <p:nvPr/>
            </p:nvSpPr>
            <p:spPr bwMode="auto">
              <a:xfrm>
                <a:off x="1582707" y="2714620"/>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A</a:t>
                </a:r>
              </a:p>
            </p:txBody>
          </p:sp>
          <p:sp>
            <p:nvSpPr>
              <p:cNvPr id="73" name="Oval 32"/>
              <p:cNvSpPr>
                <a:spLocks noChangeArrowheads="1"/>
              </p:cNvSpPr>
              <p:nvPr/>
            </p:nvSpPr>
            <p:spPr bwMode="auto">
              <a:xfrm>
                <a:off x="574645" y="3363908"/>
                <a:ext cx="360362"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B</a:t>
                </a:r>
              </a:p>
            </p:txBody>
          </p:sp>
          <p:sp>
            <p:nvSpPr>
              <p:cNvPr id="74" name="Oval 33"/>
              <p:cNvSpPr>
                <a:spLocks noChangeArrowheads="1"/>
              </p:cNvSpPr>
              <p:nvPr/>
            </p:nvSpPr>
            <p:spPr bwMode="auto">
              <a:xfrm>
                <a:off x="1582707" y="3363908"/>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75" name="Oval 34"/>
              <p:cNvSpPr>
                <a:spLocks noChangeArrowheads="1"/>
              </p:cNvSpPr>
              <p:nvPr/>
            </p:nvSpPr>
            <p:spPr bwMode="auto">
              <a:xfrm>
                <a:off x="2590770" y="33639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76" name="Oval 36"/>
              <p:cNvSpPr>
                <a:spLocks noChangeArrowheads="1"/>
              </p:cNvSpPr>
              <p:nvPr/>
            </p:nvSpPr>
            <p:spPr bwMode="auto">
              <a:xfrm>
                <a:off x="933420" y="40116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77" name="Oval 37"/>
              <p:cNvSpPr>
                <a:spLocks noChangeArrowheads="1"/>
              </p:cNvSpPr>
              <p:nvPr/>
            </p:nvSpPr>
            <p:spPr bwMode="auto">
              <a:xfrm>
                <a:off x="1582707"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G</a:t>
                </a:r>
              </a:p>
            </p:txBody>
          </p:sp>
          <p:sp>
            <p:nvSpPr>
              <p:cNvPr id="78" name="Oval 38"/>
              <p:cNvSpPr>
                <a:spLocks noChangeArrowheads="1"/>
              </p:cNvSpPr>
              <p:nvPr/>
            </p:nvSpPr>
            <p:spPr bwMode="auto">
              <a:xfrm>
                <a:off x="1582707"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J</a:t>
                </a:r>
              </a:p>
            </p:txBody>
          </p:sp>
          <p:sp>
            <p:nvSpPr>
              <p:cNvPr id="79" name="Oval 39"/>
              <p:cNvSpPr>
                <a:spLocks noChangeArrowheads="1"/>
              </p:cNvSpPr>
              <p:nvPr/>
            </p:nvSpPr>
            <p:spPr bwMode="auto">
              <a:xfrm>
                <a:off x="2230407"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80" name="Oval 40"/>
              <p:cNvSpPr>
                <a:spLocks noChangeArrowheads="1"/>
              </p:cNvSpPr>
              <p:nvPr/>
            </p:nvSpPr>
            <p:spPr bwMode="auto">
              <a:xfrm>
                <a:off x="3022570" y="40116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I</a:t>
                </a:r>
              </a:p>
            </p:txBody>
          </p:sp>
          <p:sp>
            <p:nvSpPr>
              <p:cNvPr id="81" name="Oval 41"/>
              <p:cNvSpPr>
                <a:spLocks noChangeArrowheads="1"/>
              </p:cNvSpPr>
              <p:nvPr/>
            </p:nvSpPr>
            <p:spPr bwMode="auto">
              <a:xfrm>
                <a:off x="2446307"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K</a:t>
                </a:r>
              </a:p>
            </p:txBody>
          </p:sp>
          <p:sp>
            <p:nvSpPr>
              <p:cNvPr id="82" name="Oval 42"/>
              <p:cNvSpPr>
                <a:spLocks noChangeArrowheads="1"/>
              </p:cNvSpPr>
              <p:nvPr/>
            </p:nvSpPr>
            <p:spPr bwMode="auto">
              <a:xfrm>
                <a:off x="3027332"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L</a:t>
                </a:r>
              </a:p>
            </p:txBody>
          </p:sp>
          <p:sp>
            <p:nvSpPr>
              <p:cNvPr id="83" name="Oval 43"/>
              <p:cNvSpPr>
                <a:spLocks noChangeArrowheads="1"/>
              </p:cNvSpPr>
              <p:nvPr/>
            </p:nvSpPr>
            <p:spPr bwMode="auto">
              <a:xfrm>
                <a:off x="3599934" y="46593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M</a:t>
                </a:r>
              </a:p>
            </p:txBody>
          </p:sp>
          <p:sp>
            <p:nvSpPr>
              <p:cNvPr id="84" name="Line 44"/>
              <p:cNvSpPr>
                <a:spLocks noChangeShapeType="1"/>
              </p:cNvSpPr>
              <p:nvPr/>
            </p:nvSpPr>
            <p:spPr bwMode="auto">
              <a:xfrm flipH="1">
                <a:off x="869924" y="2944808"/>
                <a:ext cx="725482" cy="44448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5" name="Line 45"/>
              <p:cNvSpPr>
                <a:spLocks noChangeShapeType="1"/>
              </p:cNvSpPr>
              <p:nvPr/>
            </p:nvSpPr>
            <p:spPr bwMode="auto">
              <a:xfrm>
                <a:off x="1760507" y="3074983"/>
                <a:ext cx="0" cy="2880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6" name="Line 46"/>
              <p:cNvSpPr>
                <a:spLocks noChangeShapeType="1"/>
              </p:cNvSpPr>
              <p:nvPr/>
            </p:nvSpPr>
            <p:spPr bwMode="auto">
              <a:xfrm>
                <a:off x="1952595" y="2960683"/>
                <a:ext cx="647700"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7" name="Line 49"/>
              <p:cNvSpPr>
                <a:spLocks noChangeShapeType="1"/>
              </p:cNvSpPr>
              <p:nvPr/>
            </p:nvSpPr>
            <p:spPr bwMode="auto">
              <a:xfrm>
                <a:off x="1765270" y="3751258"/>
                <a:ext cx="0" cy="2592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8" name="Line 50"/>
              <p:cNvSpPr>
                <a:spLocks noChangeShapeType="1"/>
              </p:cNvSpPr>
              <p:nvPr/>
            </p:nvSpPr>
            <p:spPr bwMode="auto">
              <a:xfrm>
                <a:off x="1765270" y="4371970"/>
                <a:ext cx="0" cy="28733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9" name="Freeform 51"/>
              <p:cNvSpPr>
                <a:spLocks/>
              </p:cNvSpPr>
              <p:nvPr/>
            </p:nvSpPr>
            <p:spPr bwMode="auto">
              <a:xfrm>
                <a:off x="2462182" y="3709983"/>
                <a:ext cx="220663" cy="301625"/>
              </a:xfrm>
              <a:custGeom>
                <a:avLst/>
                <a:gdLst/>
                <a:ahLst/>
                <a:cxnLst>
                  <a:cxn ang="0">
                    <a:pos x="139" y="0"/>
                  </a:cxn>
                  <a:cxn ang="0">
                    <a:pos x="0" y="190"/>
                  </a:cxn>
                </a:cxnLst>
                <a:rect l="0" t="0" r="r" b="b"/>
                <a:pathLst>
                  <a:path w="139" h="190">
                    <a:moveTo>
                      <a:pt x="139" y="0"/>
                    </a:moveTo>
                    <a:lnTo>
                      <a:pt x="0" y="190"/>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90" name="Freeform 52"/>
              <p:cNvSpPr>
                <a:spLocks/>
              </p:cNvSpPr>
              <p:nvPr/>
            </p:nvSpPr>
            <p:spPr bwMode="auto">
              <a:xfrm>
                <a:off x="2901920" y="3681408"/>
                <a:ext cx="265112" cy="330200"/>
              </a:xfrm>
              <a:custGeom>
                <a:avLst/>
                <a:gdLst/>
                <a:ahLst/>
                <a:cxnLst>
                  <a:cxn ang="0">
                    <a:pos x="0" y="0"/>
                  </a:cxn>
                  <a:cxn ang="0">
                    <a:pos x="167" y="208"/>
                  </a:cxn>
                </a:cxnLst>
                <a:rect l="0" t="0" r="r" b="b"/>
                <a:pathLst>
                  <a:path w="167" h="208">
                    <a:moveTo>
                      <a:pt x="0" y="0"/>
                    </a:moveTo>
                    <a:lnTo>
                      <a:pt x="167" y="208"/>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92" name="Line 53"/>
              <p:cNvSpPr>
                <a:spLocks noChangeShapeType="1"/>
              </p:cNvSpPr>
              <p:nvPr/>
            </p:nvSpPr>
            <p:spPr bwMode="auto">
              <a:xfrm flipH="1">
                <a:off x="2706657" y="4300533"/>
                <a:ext cx="360363" cy="358775"/>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94" name="Line 54"/>
              <p:cNvSpPr>
                <a:spLocks noChangeShapeType="1"/>
              </p:cNvSpPr>
              <p:nvPr/>
            </p:nvSpPr>
            <p:spPr bwMode="auto">
              <a:xfrm>
                <a:off x="3209895" y="4371970"/>
                <a:ext cx="0" cy="28733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grpSp>
        <p:sp>
          <p:nvSpPr>
            <p:cNvPr id="66" name="TextBox 65"/>
            <p:cNvSpPr txBox="1"/>
            <p:nvPr/>
          </p:nvSpPr>
          <p:spPr>
            <a:xfrm>
              <a:off x="5000628" y="3214686"/>
              <a:ext cx="3286148" cy="1427891"/>
            </a:xfrm>
            <a:prstGeom prst="rect">
              <a:avLst/>
            </a:prstGeom>
            <a:noFill/>
          </p:spPr>
          <p:txBody>
            <a:bodyPr wrap="square" rtlCol="0">
              <a:spAutoFit/>
            </a:bodyPr>
            <a:lstStyle/>
            <a:p>
              <a:pPr marL="342900" indent="-342900">
                <a:lnSpc>
                  <a:spcPct val="150000"/>
                </a:lnSpc>
                <a:buBlip>
                  <a:blip r:embed="rId4"/>
                </a:buBlip>
              </a:pPr>
              <a:r>
                <a:rPr lang="en-US" altLang="zh-CN" sz="2000">
                  <a:solidFill>
                    <a:srgbClr val="0000FF"/>
                  </a:solidFill>
                  <a:latin typeface="Consolas" pitchFamily="49" charset="0"/>
                  <a:ea typeface="仿宋" pitchFamily="49" charset="-122"/>
                  <a:cs typeface="Consolas" pitchFamily="49" charset="0"/>
                </a:rPr>
                <a:t>n=13,m=3</a:t>
              </a:r>
            </a:p>
            <a:p>
              <a:pPr marL="342900" indent="-342900">
                <a:lnSpc>
                  <a:spcPct val="150000"/>
                </a:lnSpc>
                <a:buBlip>
                  <a:blip r:embed="rId4"/>
                </a:buBlip>
              </a:pPr>
              <a:r>
                <a:rPr lang="en-US" altLang="zh-CN" sz="2000">
                  <a:solidFill>
                    <a:srgbClr val="0000FF"/>
                  </a:solidFill>
                  <a:latin typeface="Consolas" pitchFamily="49" charset="0"/>
                  <a:ea typeface="仿宋" pitchFamily="49" charset="-122"/>
                  <a:cs typeface="Consolas" pitchFamily="49" charset="0"/>
                </a:rPr>
                <a:t>n</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a:solidFill>
                    <a:srgbClr val="0000FF"/>
                  </a:solidFill>
                  <a:latin typeface="Consolas" pitchFamily="49" charset="0"/>
                  <a:ea typeface="仿宋" pitchFamily="49" charset="-122"/>
                  <a:cs typeface="Consolas" pitchFamily="49" charset="0"/>
                </a:rPr>
                <a:t>=7,n</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=2,n</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=2,n</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=2</a:t>
              </a:r>
            </a:p>
            <a:p>
              <a:pPr marL="342900" indent="-342900">
                <a:lnSpc>
                  <a:spcPct val="150000"/>
                </a:lnSpc>
                <a:buBlip>
                  <a:blip r:embed="rId4"/>
                </a:buBlip>
              </a:pPr>
              <a:r>
                <a:rPr lang="en-US" altLang="zh-CN" sz="2000">
                  <a:solidFill>
                    <a:srgbClr val="0000FF"/>
                  </a:solidFill>
                  <a:latin typeface="Consolas" pitchFamily="49" charset="0"/>
                  <a:ea typeface="仿宋" pitchFamily="49" charset="-122"/>
                  <a:cs typeface="Consolas" pitchFamily="49" charset="0"/>
                </a:rPr>
                <a:t>n=n</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a:solidFill>
                    <a:srgbClr val="0000FF"/>
                  </a:solidFill>
                  <a:latin typeface="Consolas" pitchFamily="49" charset="0"/>
                  <a:ea typeface="仿宋" pitchFamily="49" charset="-122"/>
                  <a:cs typeface="Consolas" pitchFamily="49" charset="0"/>
                </a:rPr>
                <a:t>+n</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+n</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+n</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=13</a:t>
              </a:r>
              <a:endParaRPr lang="zh-CN" altLang="en-US" sz="2000">
                <a:latin typeface="Consolas" pitchFamily="49" charset="0"/>
                <a:ea typeface="仿宋" pitchFamily="49" charset="-122"/>
                <a:cs typeface="Consolas" pitchFamily="49" charset="0"/>
              </a:endParaRPr>
            </a:p>
          </p:txBody>
        </p:sp>
        <p:sp>
          <p:nvSpPr>
            <p:cNvPr id="67" name="右大括号 66"/>
            <p:cNvSpPr/>
            <p:nvPr/>
          </p:nvSpPr>
          <p:spPr>
            <a:xfrm>
              <a:off x="4643438" y="2928934"/>
              <a:ext cx="214314" cy="2214578"/>
            </a:xfrm>
            <a:prstGeom prst="rightBrace">
              <a:avLst/>
            </a:prstGeom>
            <a:ln w="19050">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p>
          </p:txBody>
        </p:sp>
      </p:grpSp>
      <p:sp>
        <p:nvSpPr>
          <p:cNvPr id="34" name="灯片编号占位符 33"/>
          <p:cNvSpPr>
            <a:spLocks noGrp="1"/>
          </p:cNvSpPr>
          <p:nvPr>
            <p:ph type="sldNum" sz="quarter" idx="12"/>
          </p:nvPr>
        </p:nvSpPr>
        <p:spPr/>
        <p:txBody>
          <a:bodyPr/>
          <a:lstStyle/>
          <a:p>
            <a:fld id="{FFD28AF7-D4CC-4B35-B7D7-507FA0146854}" type="slidenum">
              <a:rPr lang="en-US" altLang="zh-CN" smtClean="0"/>
              <a:pPr/>
              <a:t>13</a:t>
            </a:fld>
            <a:r>
              <a:rPr lang="en-US" altLang="zh-CN"/>
              <a:t>/49</a:t>
            </a:r>
          </a:p>
        </p:txBody>
      </p:sp>
      <p:sp>
        <p:nvSpPr>
          <p:cNvPr id="4" name="矩形 3">
            <a:extLst>
              <a:ext uri="{FF2B5EF4-FFF2-40B4-BE49-F238E27FC236}">
                <a16:creationId xmlns:a16="http://schemas.microsoft.com/office/drawing/2014/main" xmlns="" id="{0C1C5277-41D6-29BF-BD72-91719ED589C8}"/>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5" name="Rectangle 2">
            <a:extLst>
              <a:ext uri="{FF2B5EF4-FFF2-40B4-BE49-F238E27FC236}">
                <a16:creationId xmlns:a16="http://schemas.microsoft.com/office/drawing/2014/main" xmlns="" id="{95B7A113-CBC0-0B2B-DAC3-19782A0EA0D7}"/>
              </a:ext>
            </a:extLst>
          </p:cNvPr>
          <p:cNvSpPr txBox="1">
            <a:spLocks noChangeArrowheads="1"/>
          </p:cNvSpPr>
          <p:nvPr/>
        </p:nvSpPr>
        <p:spPr>
          <a:xfrm>
            <a:off x="79920" y="836712"/>
            <a:ext cx="27757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7.1.4 </a:t>
            </a:r>
            <a:r>
              <a:rPr lang="zh-CN" altLang="en-US" dirty="0"/>
              <a:t>树的性质</a:t>
            </a:r>
          </a:p>
        </p:txBody>
      </p:sp>
      <p:cxnSp>
        <p:nvCxnSpPr>
          <p:cNvPr id="6" name="直接连接符 5">
            <a:extLst>
              <a:ext uri="{FF2B5EF4-FFF2-40B4-BE49-F238E27FC236}">
                <a16:creationId xmlns:a16="http://schemas.microsoft.com/office/drawing/2014/main" xmlns="" id="{4823DD65-C23A-D0F0-3855-8F7E04486FB2}"/>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p:cNvSpPr txBox="1"/>
          <p:nvPr/>
        </p:nvSpPr>
        <p:spPr>
          <a:xfrm>
            <a:off x="2279576" y="2387641"/>
            <a:ext cx="8358246" cy="13234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ts val="3000"/>
              </a:lnSpc>
              <a:spcBef>
                <a:spcPts val="600"/>
              </a:spcBef>
              <a:buBlip>
                <a:blip r:embed="rId3"/>
              </a:buBlip>
            </a:pPr>
            <a:r>
              <a:rPr lang="zh-CN" altLang="en-US" sz="2000">
                <a:solidFill>
                  <a:srgbClr val="0000FF"/>
                </a:solidFill>
                <a:latin typeface="Consolas" pitchFamily="49" charset="0"/>
                <a:ea typeface="仿宋" pitchFamily="49" charset="-122"/>
                <a:cs typeface="Consolas" pitchFamily="49" charset="0"/>
              </a:rPr>
              <a:t>在所有结点度之和中，一个度为</a:t>
            </a:r>
            <a:r>
              <a:rPr lang="en-US" altLang="zh-CN" sz="2000">
                <a:solidFill>
                  <a:srgbClr val="0000FF"/>
                </a:solidFill>
                <a:latin typeface="Consolas" pitchFamily="49" charset="0"/>
                <a:ea typeface="仿宋" pitchFamily="49" charset="-122"/>
                <a:cs typeface="Consolas" pitchFamily="49" charset="0"/>
              </a:rPr>
              <a:t>1</a:t>
            </a:r>
            <a:r>
              <a:rPr lang="zh-CN" altLang="en-US" sz="2000">
                <a:solidFill>
                  <a:srgbClr val="0000FF"/>
                </a:solidFill>
                <a:latin typeface="Consolas" pitchFamily="49" charset="0"/>
                <a:ea typeface="仿宋" pitchFamily="49" charset="-122"/>
                <a:cs typeface="Consolas" pitchFamily="49" charset="0"/>
              </a:rPr>
              <a:t>的结点贡献</a:t>
            </a:r>
            <a:r>
              <a:rPr lang="en-US" altLang="zh-CN" sz="2000">
                <a:solidFill>
                  <a:srgbClr val="0000FF"/>
                </a:solidFill>
                <a:latin typeface="Consolas" pitchFamily="49" charset="0"/>
                <a:ea typeface="仿宋" pitchFamily="49" charset="-122"/>
                <a:cs typeface="Consolas" pitchFamily="49" charset="0"/>
              </a:rPr>
              <a:t>1</a:t>
            </a:r>
            <a:r>
              <a:rPr lang="zh-CN" altLang="en-US" sz="2000">
                <a:solidFill>
                  <a:srgbClr val="0000FF"/>
                </a:solidFill>
                <a:latin typeface="Consolas" pitchFamily="49" charset="0"/>
                <a:ea typeface="仿宋" pitchFamily="49" charset="-122"/>
                <a:cs typeface="Consolas" pitchFamily="49" charset="0"/>
              </a:rPr>
              <a:t>个度，</a:t>
            </a:r>
            <a:r>
              <a:rPr lang="en-US" altLang="zh-CN" sz="2000">
                <a:solidFill>
                  <a:srgbClr val="0000FF"/>
                </a:solidFill>
                <a:latin typeface="宋体" pitchFamily="2" charset="-122"/>
                <a:ea typeface="宋体" pitchFamily="2"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，一个度为</a:t>
            </a:r>
            <a:r>
              <a:rPr lang="en-US" altLang="zh-CN" sz="2000" i="1">
                <a:solidFill>
                  <a:srgbClr val="0000FF"/>
                </a:solidFill>
                <a:latin typeface="Consolas" pitchFamily="49" charset="0"/>
                <a:ea typeface="仿宋" pitchFamily="49" charset="-122"/>
                <a:cs typeface="Consolas" pitchFamily="49" charset="0"/>
              </a:rPr>
              <a:t>i</a:t>
            </a:r>
            <a:r>
              <a:rPr lang="zh-CN" altLang="en-US" sz="2000">
                <a:solidFill>
                  <a:srgbClr val="0000FF"/>
                </a:solidFill>
                <a:latin typeface="Consolas" pitchFamily="49" charset="0"/>
                <a:ea typeface="仿宋" pitchFamily="49" charset="-122"/>
                <a:cs typeface="Consolas" pitchFamily="49" charset="0"/>
              </a:rPr>
              <a:t>的结点贡献</a:t>
            </a:r>
            <a:r>
              <a:rPr lang="en-US" altLang="zh-CN" sz="2000" i="1">
                <a:solidFill>
                  <a:srgbClr val="0000FF"/>
                </a:solidFill>
                <a:latin typeface="Consolas" pitchFamily="49" charset="0"/>
                <a:ea typeface="仿宋" pitchFamily="49" charset="-122"/>
                <a:cs typeface="Consolas" pitchFamily="49" charset="0"/>
              </a:rPr>
              <a:t>i</a:t>
            </a:r>
            <a:r>
              <a:rPr lang="zh-CN" altLang="en-US" sz="2000">
                <a:solidFill>
                  <a:srgbClr val="0000FF"/>
                </a:solidFill>
                <a:latin typeface="Consolas" pitchFamily="49" charset="0"/>
                <a:ea typeface="仿宋" pitchFamily="49" charset="-122"/>
                <a:cs typeface="Consolas" pitchFamily="49" charset="0"/>
              </a:rPr>
              <a:t>个度，</a:t>
            </a:r>
            <a:r>
              <a:rPr lang="en-US" altLang="zh-CN" sz="2000">
                <a:solidFill>
                  <a:srgbClr val="0000FF"/>
                </a:solidFill>
                <a:latin typeface="宋体" pitchFamily="2" charset="-122"/>
                <a:ea typeface="宋体" pitchFamily="2"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，一个度为</a:t>
            </a:r>
            <a:r>
              <a:rPr lang="en-US" altLang="zh-CN" sz="2000" i="1">
                <a:solidFill>
                  <a:srgbClr val="0000FF"/>
                </a:solidFill>
                <a:latin typeface="Consolas" pitchFamily="49" charset="0"/>
                <a:ea typeface="仿宋" pitchFamily="49" charset="-122"/>
                <a:cs typeface="Consolas" pitchFamily="49" charset="0"/>
              </a:rPr>
              <a:t>m</a:t>
            </a:r>
            <a:r>
              <a:rPr lang="zh-CN" altLang="en-US" sz="2000">
                <a:solidFill>
                  <a:srgbClr val="0000FF"/>
                </a:solidFill>
                <a:latin typeface="Consolas" pitchFamily="49" charset="0"/>
                <a:ea typeface="仿宋" pitchFamily="49" charset="-122"/>
                <a:cs typeface="Consolas" pitchFamily="49" charset="0"/>
              </a:rPr>
              <a:t>的结点贡献</a:t>
            </a:r>
            <a:r>
              <a:rPr lang="en-US" altLang="zh-CN" sz="2000" i="1">
                <a:solidFill>
                  <a:srgbClr val="0000FF"/>
                </a:solidFill>
                <a:latin typeface="Consolas" pitchFamily="49" charset="0"/>
                <a:ea typeface="仿宋" pitchFamily="49" charset="-122"/>
                <a:cs typeface="Consolas" pitchFamily="49" charset="0"/>
              </a:rPr>
              <a:t>m</a:t>
            </a:r>
            <a:r>
              <a:rPr lang="zh-CN" altLang="en-US" sz="2000">
                <a:solidFill>
                  <a:srgbClr val="0000FF"/>
                </a:solidFill>
                <a:latin typeface="Consolas" pitchFamily="49" charset="0"/>
                <a:ea typeface="仿宋" pitchFamily="49" charset="-122"/>
                <a:cs typeface="Consolas" pitchFamily="49" charset="0"/>
              </a:rPr>
              <a:t>个度 </a:t>
            </a:r>
            <a:endParaRPr lang="en-US" altLang="zh-CN" sz="2000">
              <a:solidFill>
                <a:srgbClr val="0000FF"/>
              </a:solidFill>
              <a:latin typeface="Consolas" pitchFamily="49" charset="0"/>
              <a:ea typeface="仿宋" pitchFamily="49" charset="-122"/>
              <a:cs typeface="Consolas" pitchFamily="49" charset="0"/>
            </a:endParaRPr>
          </a:p>
          <a:p>
            <a:pPr marL="457200" indent="-457200">
              <a:lnSpc>
                <a:spcPts val="3000"/>
              </a:lnSpc>
              <a:spcBef>
                <a:spcPts val="600"/>
              </a:spcBef>
            </a:pPr>
            <a:r>
              <a:rPr lang="en-US" altLang="zh-CN" sz="2000">
                <a:solidFill>
                  <a:srgbClr val="0000FF"/>
                </a:solidFill>
                <a:latin typeface="Consolas" pitchFamily="49" charset="0"/>
                <a:ea typeface="仿宋" pitchFamily="49" charset="-122"/>
                <a:cs typeface="Consolas" pitchFamily="49" charset="0"/>
                <a:sym typeface="Wingdings"/>
              </a:rPr>
              <a:t>    </a:t>
            </a:r>
            <a:r>
              <a:rPr lang="zh-CN" altLang="en-US" sz="2000">
                <a:solidFill>
                  <a:srgbClr val="FF00FF"/>
                </a:solidFill>
                <a:latin typeface="Consolas" pitchFamily="49" charset="0"/>
                <a:ea typeface="仿宋" pitchFamily="49" charset="-122"/>
                <a:cs typeface="Consolas" pitchFamily="49" charset="0"/>
                <a:sym typeface="Wingdings"/>
              </a:rPr>
              <a:t></a:t>
            </a:r>
            <a:r>
              <a:rPr lang="zh-CN" altLang="en-US" sz="2000">
                <a:solidFill>
                  <a:srgbClr val="0000FF"/>
                </a:solidFill>
                <a:latin typeface="Consolas" pitchFamily="49" charset="0"/>
                <a:ea typeface="仿宋" pitchFamily="49" charset="-122"/>
                <a:cs typeface="Consolas" pitchFamily="49" charset="0"/>
                <a:sym typeface="Wingdings"/>
              </a:rPr>
              <a:t> </a:t>
            </a:r>
            <a:r>
              <a:rPr lang="zh-CN" altLang="en-US" sz="2000">
                <a:solidFill>
                  <a:srgbClr val="0000FF"/>
                </a:solidFill>
                <a:latin typeface="Consolas" pitchFamily="49" charset="0"/>
                <a:ea typeface="仿宋" pitchFamily="49" charset="-122"/>
                <a:cs typeface="Consolas" pitchFamily="49" charset="0"/>
              </a:rPr>
              <a:t>所有结点度之和 </a:t>
            </a:r>
            <a:r>
              <a:rPr lang="en-US" altLang="zh-CN" sz="2000">
                <a:solidFill>
                  <a:srgbClr val="0000FF"/>
                </a:solidFill>
                <a:latin typeface="Consolas" pitchFamily="49" charset="0"/>
                <a:ea typeface="仿宋" pitchFamily="49" charset="-122"/>
                <a:cs typeface="Consolas" pitchFamily="49" charset="0"/>
              </a:rPr>
              <a:t>= </a:t>
            </a:r>
            <a:r>
              <a:rPr lang="en-US" altLang="zh-CN" sz="2000" i="1">
                <a:solidFill>
                  <a:srgbClr val="FF0000"/>
                </a:solidFill>
                <a:latin typeface="Consolas" pitchFamily="49" charset="0"/>
                <a:ea typeface="仿宋" pitchFamily="49" charset="-122"/>
                <a:cs typeface="Consolas" pitchFamily="49" charset="0"/>
              </a:rPr>
              <a:t>n</a:t>
            </a:r>
            <a:r>
              <a:rPr lang="en-US" altLang="zh-CN" sz="2000" baseline="-25000">
                <a:solidFill>
                  <a:srgbClr val="FF0000"/>
                </a:solidFill>
                <a:latin typeface="Consolas" pitchFamily="49" charset="0"/>
                <a:ea typeface="仿宋" pitchFamily="49" charset="-122"/>
                <a:cs typeface="Consolas" pitchFamily="49" charset="0"/>
              </a:rPr>
              <a:t>1</a:t>
            </a:r>
            <a:r>
              <a:rPr lang="en-US" altLang="zh-CN" sz="2000">
                <a:solidFill>
                  <a:srgbClr val="FF0000"/>
                </a:solidFill>
                <a:latin typeface="Consolas" pitchFamily="49" charset="0"/>
                <a:ea typeface="仿宋" pitchFamily="49" charset="-122"/>
                <a:cs typeface="Consolas" pitchFamily="49" charset="0"/>
              </a:rPr>
              <a:t>+2</a:t>
            </a:r>
            <a:r>
              <a:rPr lang="en-US" altLang="zh-CN" sz="2000" i="1">
                <a:solidFill>
                  <a:srgbClr val="FF0000"/>
                </a:solidFill>
                <a:latin typeface="Consolas" pitchFamily="49" charset="0"/>
                <a:ea typeface="仿宋" pitchFamily="49" charset="-122"/>
                <a:cs typeface="Consolas" pitchFamily="49" charset="0"/>
              </a:rPr>
              <a:t>n</a:t>
            </a:r>
            <a:r>
              <a:rPr lang="en-US" altLang="zh-CN" sz="2000" baseline="-25000">
                <a:solidFill>
                  <a:srgbClr val="FF0000"/>
                </a:solidFill>
                <a:latin typeface="Consolas" pitchFamily="49" charset="0"/>
                <a:ea typeface="仿宋" pitchFamily="49" charset="-122"/>
                <a:cs typeface="Consolas" pitchFamily="49" charset="0"/>
              </a:rPr>
              <a:t>2</a:t>
            </a:r>
            <a:r>
              <a:rPr lang="en-US" altLang="zh-CN" sz="2000">
                <a:solidFill>
                  <a:srgbClr val="FF0000"/>
                </a:solidFill>
                <a:latin typeface="Consolas" pitchFamily="49" charset="0"/>
                <a:ea typeface="仿宋" pitchFamily="49" charset="-122"/>
                <a:cs typeface="Consolas" pitchFamily="49" charset="0"/>
              </a:rPr>
              <a:t>+</a:t>
            </a:r>
            <a:r>
              <a:rPr lang="en-US" altLang="zh-CN" sz="2000">
                <a:solidFill>
                  <a:srgbClr val="FF0000"/>
                </a:solidFill>
                <a:latin typeface="宋体" pitchFamily="2" charset="-122"/>
                <a:ea typeface="宋体" pitchFamily="2"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a:t>
            </a:r>
            <a:r>
              <a:rPr lang="en-US" altLang="zh-CN" sz="2000" i="1">
                <a:solidFill>
                  <a:srgbClr val="FF0000"/>
                </a:solidFill>
                <a:latin typeface="Consolas" pitchFamily="49" charset="0"/>
                <a:ea typeface="仿宋" pitchFamily="49" charset="-122"/>
                <a:cs typeface="Consolas" pitchFamily="49" charset="0"/>
              </a:rPr>
              <a:t>mn</a:t>
            </a:r>
            <a:r>
              <a:rPr lang="en-US" altLang="zh-CN" sz="2000" i="1" baseline="-25000">
                <a:solidFill>
                  <a:srgbClr val="FF0000"/>
                </a:solidFill>
                <a:latin typeface="Consolas" pitchFamily="49" charset="0"/>
                <a:ea typeface="仿宋" pitchFamily="49" charset="-122"/>
                <a:cs typeface="Consolas" pitchFamily="49" charset="0"/>
              </a:rPr>
              <a:t>m</a:t>
            </a:r>
            <a:r>
              <a:rPr lang="en-US" altLang="zh-CN" sz="2000">
                <a:solidFill>
                  <a:srgbClr val="FF0000"/>
                </a:solidFill>
                <a:latin typeface="Consolas" pitchFamily="49" charset="0"/>
                <a:ea typeface="仿宋" pitchFamily="49" charset="-122"/>
                <a:cs typeface="Consolas" pitchFamily="49" charset="0"/>
              </a:rPr>
              <a:t> </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 </a:t>
            </a:r>
            <a:r>
              <a:rPr lang="en-US" altLang="zh-CN" sz="2000" i="1">
                <a:solidFill>
                  <a:srgbClr val="FF0000"/>
                </a:solidFill>
                <a:latin typeface="Consolas" pitchFamily="49" charset="0"/>
                <a:ea typeface="仿宋" pitchFamily="49" charset="-122"/>
                <a:cs typeface="Consolas" pitchFamily="49" charset="0"/>
              </a:rPr>
              <a:t>n</a:t>
            </a:r>
            <a:r>
              <a:rPr lang="en-US" altLang="zh-CN" sz="2000">
                <a:solidFill>
                  <a:srgbClr val="FF0000"/>
                </a:solidFill>
                <a:latin typeface="Consolas" pitchFamily="49" charset="0"/>
                <a:ea typeface="仿宋" pitchFamily="49" charset="-122"/>
                <a:cs typeface="Consolas" pitchFamily="49" charset="0"/>
              </a:rPr>
              <a:t>-1</a:t>
            </a:r>
            <a:endParaRPr lang="zh-CN" altLang="en-US" sz="2000" i="1" baseline="-25000">
              <a:solidFill>
                <a:srgbClr val="FF0000"/>
              </a:solidFill>
              <a:latin typeface="Consolas" pitchFamily="49" charset="0"/>
              <a:ea typeface="仿宋" pitchFamily="49" charset="-122"/>
              <a:cs typeface="Consolas" pitchFamily="49" charset="0"/>
            </a:endParaRPr>
          </a:p>
        </p:txBody>
      </p:sp>
      <p:grpSp>
        <p:nvGrpSpPr>
          <p:cNvPr id="2" name="组合 63"/>
          <p:cNvGrpSpPr/>
          <p:nvPr/>
        </p:nvGrpSpPr>
        <p:grpSpPr>
          <a:xfrm>
            <a:off x="2279576" y="4083118"/>
            <a:ext cx="8215370" cy="2305050"/>
            <a:chOff x="571472" y="2928934"/>
            <a:chExt cx="8215370" cy="2305050"/>
          </a:xfrm>
        </p:grpSpPr>
        <p:grpSp>
          <p:nvGrpSpPr>
            <p:cNvPr id="3" name="组合 90"/>
            <p:cNvGrpSpPr/>
            <p:nvPr/>
          </p:nvGrpSpPr>
          <p:grpSpPr>
            <a:xfrm>
              <a:off x="571472" y="2928934"/>
              <a:ext cx="3746014" cy="2305050"/>
              <a:chOff x="214282" y="2714620"/>
              <a:chExt cx="3746014" cy="2305050"/>
            </a:xfrm>
          </p:grpSpPr>
          <p:sp>
            <p:nvSpPr>
              <p:cNvPr id="68" name="Freeform 55"/>
              <p:cNvSpPr>
                <a:spLocks/>
              </p:cNvSpPr>
              <p:nvPr/>
            </p:nvSpPr>
            <p:spPr bwMode="auto">
              <a:xfrm>
                <a:off x="3349595" y="4281483"/>
                <a:ext cx="365149" cy="433401"/>
              </a:xfrm>
              <a:custGeom>
                <a:avLst/>
                <a:gdLst/>
                <a:ahLst/>
                <a:cxnLst>
                  <a:cxn ang="0">
                    <a:pos x="0" y="0"/>
                  </a:cxn>
                  <a:cxn ang="0">
                    <a:pos x="282" y="246"/>
                  </a:cxn>
                </a:cxnLst>
                <a:rect l="0" t="0" r="r" b="b"/>
                <a:pathLst>
                  <a:path w="282" h="246">
                    <a:moveTo>
                      <a:pt x="0" y="0"/>
                    </a:moveTo>
                    <a:lnTo>
                      <a:pt x="282" y="246"/>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69" name="Oval 35"/>
              <p:cNvSpPr>
                <a:spLocks noChangeArrowheads="1"/>
              </p:cNvSpPr>
              <p:nvPr/>
            </p:nvSpPr>
            <p:spPr bwMode="auto">
              <a:xfrm>
                <a:off x="214282"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E</a:t>
                </a:r>
              </a:p>
            </p:txBody>
          </p:sp>
          <p:sp>
            <p:nvSpPr>
              <p:cNvPr id="70" name="Freeform 47"/>
              <p:cNvSpPr>
                <a:spLocks/>
              </p:cNvSpPr>
              <p:nvPr/>
            </p:nvSpPr>
            <p:spPr bwMode="auto">
              <a:xfrm>
                <a:off x="453995" y="3724269"/>
                <a:ext cx="211120" cy="300039"/>
              </a:xfrm>
              <a:custGeom>
                <a:avLst/>
                <a:gdLst/>
                <a:ahLst/>
                <a:cxnLst>
                  <a:cxn ang="0">
                    <a:pos x="121" y="0"/>
                  </a:cxn>
                  <a:cxn ang="0">
                    <a:pos x="0" y="144"/>
                  </a:cxn>
                </a:cxnLst>
                <a:rect l="0" t="0" r="r" b="b"/>
                <a:pathLst>
                  <a:path w="121" h="144">
                    <a:moveTo>
                      <a:pt x="121" y="0"/>
                    </a:moveTo>
                    <a:lnTo>
                      <a:pt x="0" y="144"/>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71" name="Freeform 48"/>
              <p:cNvSpPr>
                <a:spLocks/>
              </p:cNvSpPr>
              <p:nvPr/>
            </p:nvSpPr>
            <p:spPr bwMode="auto">
              <a:xfrm>
                <a:off x="879429" y="3686169"/>
                <a:ext cx="214314" cy="323852"/>
              </a:xfrm>
              <a:custGeom>
                <a:avLst/>
                <a:gdLst/>
                <a:ahLst/>
                <a:cxnLst>
                  <a:cxn ang="0">
                    <a:pos x="0" y="0"/>
                  </a:cxn>
                  <a:cxn ang="0">
                    <a:pos x="115" y="147"/>
                  </a:cxn>
                </a:cxnLst>
                <a:rect l="0" t="0" r="r" b="b"/>
                <a:pathLst>
                  <a:path w="115" h="147">
                    <a:moveTo>
                      <a:pt x="0" y="0"/>
                    </a:moveTo>
                    <a:lnTo>
                      <a:pt x="115" y="147"/>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72" name="Oval 31"/>
              <p:cNvSpPr>
                <a:spLocks noChangeArrowheads="1"/>
              </p:cNvSpPr>
              <p:nvPr/>
            </p:nvSpPr>
            <p:spPr bwMode="auto">
              <a:xfrm>
                <a:off x="1582707" y="2714620"/>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A</a:t>
                </a:r>
              </a:p>
            </p:txBody>
          </p:sp>
          <p:sp>
            <p:nvSpPr>
              <p:cNvPr id="73" name="Oval 32"/>
              <p:cNvSpPr>
                <a:spLocks noChangeArrowheads="1"/>
              </p:cNvSpPr>
              <p:nvPr/>
            </p:nvSpPr>
            <p:spPr bwMode="auto">
              <a:xfrm>
                <a:off x="574645" y="3363908"/>
                <a:ext cx="360362"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B</a:t>
                </a:r>
              </a:p>
            </p:txBody>
          </p:sp>
          <p:sp>
            <p:nvSpPr>
              <p:cNvPr id="74" name="Oval 33"/>
              <p:cNvSpPr>
                <a:spLocks noChangeArrowheads="1"/>
              </p:cNvSpPr>
              <p:nvPr/>
            </p:nvSpPr>
            <p:spPr bwMode="auto">
              <a:xfrm>
                <a:off x="1582707" y="3363908"/>
                <a:ext cx="360363" cy="360363"/>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75" name="Oval 34"/>
              <p:cNvSpPr>
                <a:spLocks noChangeArrowheads="1"/>
              </p:cNvSpPr>
              <p:nvPr/>
            </p:nvSpPr>
            <p:spPr bwMode="auto">
              <a:xfrm>
                <a:off x="2590770" y="33639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76" name="Oval 36"/>
              <p:cNvSpPr>
                <a:spLocks noChangeArrowheads="1"/>
              </p:cNvSpPr>
              <p:nvPr/>
            </p:nvSpPr>
            <p:spPr bwMode="auto">
              <a:xfrm>
                <a:off x="933420" y="40116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77" name="Oval 37"/>
              <p:cNvSpPr>
                <a:spLocks noChangeArrowheads="1"/>
              </p:cNvSpPr>
              <p:nvPr/>
            </p:nvSpPr>
            <p:spPr bwMode="auto">
              <a:xfrm>
                <a:off x="1582707"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G</a:t>
                </a:r>
              </a:p>
            </p:txBody>
          </p:sp>
          <p:sp>
            <p:nvSpPr>
              <p:cNvPr id="78" name="Oval 38"/>
              <p:cNvSpPr>
                <a:spLocks noChangeArrowheads="1"/>
              </p:cNvSpPr>
              <p:nvPr/>
            </p:nvSpPr>
            <p:spPr bwMode="auto">
              <a:xfrm>
                <a:off x="1582707"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J</a:t>
                </a:r>
              </a:p>
            </p:txBody>
          </p:sp>
          <p:sp>
            <p:nvSpPr>
              <p:cNvPr id="79" name="Oval 39"/>
              <p:cNvSpPr>
                <a:spLocks noChangeArrowheads="1"/>
              </p:cNvSpPr>
              <p:nvPr/>
            </p:nvSpPr>
            <p:spPr bwMode="auto">
              <a:xfrm>
                <a:off x="2230407" y="40116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80" name="Oval 40"/>
              <p:cNvSpPr>
                <a:spLocks noChangeArrowheads="1"/>
              </p:cNvSpPr>
              <p:nvPr/>
            </p:nvSpPr>
            <p:spPr bwMode="auto">
              <a:xfrm>
                <a:off x="3022570" y="40116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I</a:t>
                </a:r>
              </a:p>
            </p:txBody>
          </p:sp>
          <p:sp>
            <p:nvSpPr>
              <p:cNvPr id="81" name="Oval 41"/>
              <p:cNvSpPr>
                <a:spLocks noChangeArrowheads="1"/>
              </p:cNvSpPr>
              <p:nvPr/>
            </p:nvSpPr>
            <p:spPr bwMode="auto">
              <a:xfrm>
                <a:off x="2446307"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K</a:t>
                </a:r>
              </a:p>
            </p:txBody>
          </p:sp>
          <p:sp>
            <p:nvSpPr>
              <p:cNvPr id="82" name="Oval 42"/>
              <p:cNvSpPr>
                <a:spLocks noChangeArrowheads="1"/>
              </p:cNvSpPr>
              <p:nvPr/>
            </p:nvSpPr>
            <p:spPr bwMode="auto">
              <a:xfrm>
                <a:off x="3027332" y="4659308"/>
                <a:ext cx="360363"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L</a:t>
                </a:r>
              </a:p>
            </p:txBody>
          </p:sp>
          <p:sp>
            <p:nvSpPr>
              <p:cNvPr id="83" name="Oval 43"/>
              <p:cNvSpPr>
                <a:spLocks noChangeArrowheads="1"/>
              </p:cNvSpPr>
              <p:nvPr/>
            </p:nvSpPr>
            <p:spPr bwMode="auto">
              <a:xfrm>
                <a:off x="3599934" y="4659308"/>
                <a:ext cx="360362" cy="360362"/>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M</a:t>
                </a:r>
              </a:p>
            </p:txBody>
          </p:sp>
          <p:sp>
            <p:nvSpPr>
              <p:cNvPr id="84" name="Line 44"/>
              <p:cNvSpPr>
                <a:spLocks noChangeShapeType="1"/>
              </p:cNvSpPr>
              <p:nvPr/>
            </p:nvSpPr>
            <p:spPr bwMode="auto">
              <a:xfrm flipH="1">
                <a:off x="869924" y="2944808"/>
                <a:ext cx="725482" cy="44448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5" name="Line 45"/>
              <p:cNvSpPr>
                <a:spLocks noChangeShapeType="1"/>
              </p:cNvSpPr>
              <p:nvPr/>
            </p:nvSpPr>
            <p:spPr bwMode="auto">
              <a:xfrm>
                <a:off x="1760507" y="3074983"/>
                <a:ext cx="0" cy="2880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6" name="Line 46"/>
              <p:cNvSpPr>
                <a:spLocks noChangeShapeType="1"/>
              </p:cNvSpPr>
              <p:nvPr/>
            </p:nvSpPr>
            <p:spPr bwMode="auto">
              <a:xfrm>
                <a:off x="1952595" y="2960683"/>
                <a:ext cx="647700"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7" name="Line 49"/>
              <p:cNvSpPr>
                <a:spLocks noChangeShapeType="1"/>
              </p:cNvSpPr>
              <p:nvPr/>
            </p:nvSpPr>
            <p:spPr bwMode="auto">
              <a:xfrm>
                <a:off x="1765270" y="3751258"/>
                <a:ext cx="0" cy="2592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8" name="Line 50"/>
              <p:cNvSpPr>
                <a:spLocks noChangeShapeType="1"/>
              </p:cNvSpPr>
              <p:nvPr/>
            </p:nvSpPr>
            <p:spPr bwMode="auto">
              <a:xfrm>
                <a:off x="1765270" y="4371970"/>
                <a:ext cx="0" cy="28733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89" name="Freeform 51"/>
              <p:cNvSpPr>
                <a:spLocks/>
              </p:cNvSpPr>
              <p:nvPr/>
            </p:nvSpPr>
            <p:spPr bwMode="auto">
              <a:xfrm>
                <a:off x="2462182" y="3709983"/>
                <a:ext cx="220663" cy="301625"/>
              </a:xfrm>
              <a:custGeom>
                <a:avLst/>
                <a:gdLst/>
                <a:ahLst/>
                <a:cxnLst>
                  <a:cxn ang="0">
                    <a:pos x="139" y="0"/>
                  </a:cxn>
                  <a:cxn ang="0">
                    <a:pos x="0" y="190"/>
                  </a:cxn>
                </a:cxnLst>
                <a:rect l="0" t="0" r="r" b="b"/>
                <a:pathLst>
                  <a:path w="139" h="190">
                    <a:moveTo>
                      <a:pt x="139" y="0"/>
                    </a:moveTo>
                    <a:lnTo>
                      <a:pt x="0" y="190"/>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90" name="Freeform 52"/>
              <p:cNvSpPr>
                <a:spLocks/>
              </p:cNvSpPr>
              <p:nvPr/>
            </p:nvSpPr>
            <p:spPr bwMode="auto">
              <a:xfrm>
                <a:off x="2901920" y="3681408"/>
                <a:ext cx="265112" cy="330200"/>
              </a:xfrm>
              <a:custGeom>
                <a:avLst/>
                <a:gdLst/>
                <a:ahLst/>
                <a:cxnLst>
                  <a:cxn ang="0">
                    <a:pos x="0" y="0"/>
                  </a:cxn>
                  <a:cxn ang="0">
                    <a:pos x="167" y="208"/>
                  </a:cxn>
                </a:cxnLst>
                <a:rect l="0" t="0" r="r" b="b"/>
                <a:pathLst>
                  <a:path w="167" h="208">
                    <a:moveTo>
                      <a:pt x="0" y="0"/>
                    </a:moveTo>
                    <a:lnTo>
                      <a:pt x="167" y="208"/>
                    </a:lnTo>
                  </a:path>
                </a:pathLst>
              </a:custGeom>
              <a:ln>
                <a:headEnd type="none" w="med" len="med"/>
                <a:tailEnd type="none" w="med" len="me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92" name="Line 53"/>
              <p:cNvSpPr>
                <a:spLocks noChangeShapeType="1"/>
              </p:cNvSpPr>
              <p:nvPr/>
            </p:nvSpPr>
            <p:spPr bwMode="auto">
              <a:xfrm flipH="1">
                <a:off x="2706657" y="4300533"/>
                <a:ext cx="360363" cy="358775"/>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94" name="Line 54"/>
              <p:cNvSpPr>
                <a:spLocks noChangeShapeType="1"/>
              </p:cNvSpPr>
              <p:nvPr/>
            </p:nvSpPr>
            <p:spPr bwMode="auto">
              <a:xfrm>
                <a:off x="3209895" y="4371970"/>
                <a:ext cx="0" cy="28733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grpSp>
        <p:sp>
          <p:nvSpPr>
            <p:cNvPr id="66" name="TextBox 65"/>
            <p:cNvSpPr txBox="1"/>
            <p:nvPr/>
          </p:nvSpPr>
          <p:spPr>
            <a:xfrm>
              <a:off x="5000628" y="3214686"/>
              <a:ext cx="3786214" cy="1836400"/>
            </a:xfrm>
            <a:prstGeom prst="rect">
              <a:avLst/>
            </a:prstGeom>
            <a:noFill/>
          </p:spPr>
          <p:txBody>
            <a:bodyPr wrap="square" rtlCol="0">
              <a:spAutoFit/>
            </a:bodyPr>
            <a:lstStyle/>
            <a:p>
              <a:pPr marL="342900" indent="-342900">
                <a:lnSpc>
                  <a:spcPts val="2800"/>
                </a:lnSpc>
                <a:spcBef>
                  <a:spcPts val="1200"/>
                </a:spcBef>
                <a:buBlip>
                  <a:blip r:embed="rId4"/>
                </a:buBlip>
              </a:pPr>
              <a:r>
                <a:rPr lang="en-US" altLang="zh-CN" sz="2000">
                  <a:solidFill>
                    <a:srgbClr val="0000FF"/>
                  </a:solidFill>
                  <a:latin typeface="Consolas" pitchFamily="49" charset="0"/>
                  <a:ea typeface="仿宋" pitchFamily="49" charset="-122"/>
                  <a:cs typeface="Consolas" pitchFamily="49" charset="0"/>
                </a:rPr>
                <a:t>n=13,m=3</a:t>
              </a:r>
            </a:p>
            <a:p>
              <a:pPr marL="342900" indent="-342900">
                <a:lnSpc>
                  <a:spcPts val="2800"/>
                </a:lnSpc>
                <a:spcBef>
                  <a:spcPts val="1200"/>
                </a:spcBef>
                <a:buBlip>
                  <a:blip r:embed="rId4"/>
                </a:buBlip>
              </a:pPr>
              <a:r>
                <a:rPr lang="en-US" altLang="zh-CN" sz="2000">
                  <a:solidFill>
                    <a:srgbClr val="0000FF"/>
                  </a:solidFill>
                  <a:latin typeface="Consolas" pitchFamily="49" charset="0"/>
                  <a:ea typeface="仿宋" pitchFamily="49" charset="-122"/>
                  <a:cs typeface="Consolas" pitchFamily="49" charset="0"/>
                </a:rPr>
                <a:t>n</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=2,n</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=2,n</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=2</a:t>
              </a:r>
            </a:p>
            <a:p>
              <a:pPr marL="342900" indent="-342900">
                <a:lnSpc>
                  <a:spcPts val="2800"/>
                </a:lnSpc>
                <a:spcBef>
                  <a:spcPts val="1200"/>
                </a:spcBef>
                <a:buBlip>
                  <a:blip r:embed="rId4"/>
                </a:buBlip>
              </a:pPr>
              <a:r>
                <a:rPr lang="zh-CN" altLang="en-US" sz="2000">
                  <a:solidFill>
                    <a:srgbClr val="0000FF"/>
                  </a:solidFill>
                  <a:latin typeface="Consolas" pitchFamily="49" charset="0"/>
                  <a:ea typeface="仿宋" pitchFamily="49" charset="-122"/>
                  <a:cs typeface="Consolas" pitchFamily="49" charset="0"/>
                </a:rPr>
                <a:t>结点的度之和</a:t>
              </a:r>
              <a:r>
                <a:rPr lang="en-US" altLang="zh-CN" sz="2000">
                  <a:solidFill>
                    <a:srgbClr val="0000FF"/>
                  </a:solidFill>
                  <a:latin typeface="Consolas" pitchFamily="49" charset="0"/>
                  <a:ea typeface="仿宋" pitchFamily="49" charset="-122"/>
                  <a:cs typeface="Consolas" pitchFamily="49" charset="0"/>
                </a:rPr>
                <a:t>=n</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+2n</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+3n</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=2+4+6=12=n-1</a:t>
              </a:r>
              <a:endParaRPr lang="zh-CN" altLang="en-US" sz="2000">
                <a:latin typeface="Consolas" pitchFamily="49" charset="0"/>
                <a:ea typeface="仿宋" pitchFamily="49" charset="-122"/>
                <a:cs typeface="Consolas" pitchFamily="49" charset="0"/>
              </a:endParaRPr>
            </a:p>
          </p:txBody>
        </p:sp>
        <p:sp>
          <p:nvSpPr>
            <p:cNvPr id="67" name="右大括号 66"/>
            <p:cNvSpPr/>
            <p:nvPr/>
          </p:nvSpPr>
          <p:spPr>
            <a:xfrm>
              <a:off x="4643438" y="2928934"/>
              <a:ext cx="214314" cy="2214578"/>
            </a:xfrm>
            <a:prstGeom prst="rightBrace">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p>
          </p:txBody>
        </p:sp>
      </p:grpSp>
      <p:sp>
        <p:nvSpPr>
          <p:cNvPr id="34" name="灯片编号占位符 33"/>
          <p:cNvSpPr>
            <a:spLocks noGrp="1"/>
          </p:cNvSpPr>
          <p:nvPr>
            <p:ph type="sldNum" sz="quarter" idx="12"/>
          </p:nvPr>
        </p:nvSpPr>
        <p:spPr/>
        <p:txBody>
          <a:bodyPr/>
          <a:lstStyle/>
          <a:p>
            <a:fld id="{FFD28AF7-D4CC-4B35-B7D7-507FA0146854}" type="slidenum">
              <a:rPr lang="en-US" altLang="zh-CN" smtClean="0"/>
              <a:pPr/>
              <a:t>14</a:t>
            </a:fld>
            <a:r>
              <a:rPr lang="en-US" altLang="zh-CN"/>
              <a:t>/49</a:t>
            </a:r>
          </a:p>
        </p:txBody>
      </p:sp>
      <p:sp>
        <p:nvSpPr>
          <p:cNvPr id="4" name="矩形 3">
            <a:extLst>
              <a:ext uri="{FF2B5EF4-FFF2-40B4-BE49-F238E27FC236}">
                <a16:creationId xmlns:a16="http://schemas.microsoft.com/office/drawing/2014/main" xmlns="" id="{05F6CFE9-58FC-99DA-A7E9-3F9FF434EBA7}"/>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5" name="Rectangle 2">
            <a:extLst>
              <a:ext uri="{FF2B5EF4-FFF2-40B4-BE49-F238E27FC236}">
                <a16:creationId xmlns:a16="http://schemas.microsoft.com/office/drawing/2014/main" xmlns="" id="{8811CE09-1074-7387-01DB-5E4A9801618D}"/>
              </a:ext>
            </a:extLst>
          </p:cNvPr>
          <p:cNvSpPr txBox="1">
            <a:spLocks noChangeArrowheads="1"/>
          </p:cNvSpPr>
          <p:nvPr/>
        </p:nvSpPr>
        <p:spPr>
          <a:xfrm>
            <a:off x="79920" y="836712"/>
            <a:ext cx="27757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7.1.4 </a:t>
            </a:r>
            <a:r>
              <a:rPr lang="zh-CN" altLang="en-US" dirty="0"/>
              <a:t>树的性质</a:t>
            </a:r>
          </a:p>
        </p:txBody>
      </p:sp>
      <p:cxnSp>
        <p:nvCxnSpPr>
          <p:cNvPr id="6" name="直接连接符 5">
            <a:extLst>
              <a:ext uri="{FF2B5EF4-FFF2-40B4-BE49-F238E27FC236}">
                <a16:creationId xmlns:a16="http://schemas.microsoft.com/office/drawing/2014/main" xmlns="" id="{D1D389AB-4F70-17C9-6707-79DCE72AB8BA}"/>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5">
            <a:extLst>
              <a:ext uri="{FF2B5EF4-FFF2-40B4-BE49-F238E27FC236}">
                <a16:creationId xmlns:a16="http://schemas.microsoft.com/office/drawing/2014/main" xmlns="" id="{70CCC451-AF4B-E9FE-BD04-B26376F206FB}"/>
              </a:ext>
            </a:extLst>
          </p:cNvPr>
          <p:cNvSpPr txBox="1">
            <a:spLocks noChangeArrowheads="1"/>
          </p:cNvSpPr>
          <p:nvPr/>
        </p:nvSpPr>
        <p:spPr bwMode="auto">
          <a:xfrm>
            <a:off x="1946757" y="1736140"/>
            <a:ext cx="4286280"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latin typeface="微软雅黑" pitchFamily="34" charset="-122"/>
                <a:ea typeface="微软雅黑" pitchFamily="34" charset="-122"/>
                <a:cs typeface="经典粗黑简" pitchFamily="49" charset="-122"/>
                <a:sym typeface="Wingdings"/>
              </a:rPr>
              <a:t>度为</a:t>
            </a:r>
            <a:r>
              <a:rPr kumimoji="1" lang="en-US" altLang="zh-CN" sz="2000" dirty="0">
                <a:latin typeface="微软雅黑" pitchFamily="34" charset="-122"/>
                <a:ea typeface="微软雅黑" pitchFamily="34" charset="-122"/>
                <a:cs typeface="经典粗黑简" pitchFamily="49" charset="-122"/>
                <a:sym typeface="Wingdings"/>
              </a:rPr>
              <a:t>m</a:t>
            </a:r>
            <a:r>
              <a:rPr kumimoji="1" lang="zh-CN" altLang="en-US" sz="2000" dirty="0">
                <a:latin typeface="微软雅黑" pitchFamily="34" charset="-122"/>
                <a:ea typeface="微软雅黑" pitchFamily="34" charset="-122"/>
                <a:cs typeface="经典粗黑简" pitchFamily="49" charset="-122"/>
                <a:sym typeface="Wingdings"/>
              </a:rPr>
              <a:t>的树的其他重要特性（</a:t>
            </a:r>
            <a:r>
              <a:rPr kumimoji="1" lang="en-US" altLang="zh-CN" sz="2000" dirty="0">
                <a:latin typeface="微软雅黑" pitchFamily="34" charset="-122"/>
                <a:ea typeface="微软雅黑" pitchFamily="34" charset="-122"/>
                <a:cs typeface="经典粗黑简" pitchFamily="49" charset="-122"/>
                <a:sym typeface="Wingdings"/>
              </a:rPr>
              <a:t>2/2</a:t>
            </a:r>
            <a:r>
              <a:rPr kumimoji="1" lang="zh-CN" altLang="en-US" sz="2000" dirty="0">
                <a:latin typeface="微软雅黑" pitchFamily="34" charset="-122"/>
                <a:ea typeface="微软雅黑" pitchFamily="34" charset="-122"/>
                <a:cs typeface="经典粗黑简" pitchFamily="49" charset="-122"/>
                <a:sym typeface="Wingdings"/>
              </a:rPr>
              <a:t>）：</a:t>
            </a:r>
            <a:endParaRPr kumimoji="1" lang="en-US" altLang="zh-CN" sz="2000" dirty="0">
              <a:latin typeface="微软雅黑" pitchFamily="34" charset="-122"/>
              <a:ea typeface="微软雅黑" pitchFamily="34" charset="-122"/>
              <a:cs typeface="经典粗黑简" pitchFamily="49" charset="-122"/>
              <a:sym typeface="Wingding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ChangeArrowheads="1"/>
          </p:cNvSpPr>
          <p:nvPr/>
        </p:nvSpPr>
        <p:spPr bwMode="auto">
          <a:xfrm>
            <a:off x="1565799" y="3553439"/>
            <a:ext cx="184731" cy="369332"/>
          </a:xfrm>
          <a:prstGeom prst="rect">
            <a:avLst/>
          </a:prstGeom>
          <a:noFill/>
          <a:ln w="9525">
            <a:noFill/>
            <a:miter lim="800000"/>
            <a:headEnd/>
            <a:tailEnd/>
          </a:ln>
          <a:effectLst/>
        </p:spPr>
        <p:txBody>
          <a:bodyPr wrap="none" anchor="ctr">
            <a:spAutoFit/>
          </a:bodyPr>
          <a:lstStyle/>
          <a:p>
            <a:endParaRPr lang="zh-CN" altLang="en-US"/>
          </a:p>
        </p:txBody>
      </p:sp>
      <p:sp>
        <p:nvSpPr>
          <p:cNvPr id="279555" name="Text Box 3"/>
          <p:cNvSpPr txBox="1">
            <a:spLocks noChangeArrowheads="1"/>
          </p:cNvSpPr>
          <p:nvPr/>
        </p:nvSpPr>
        <p:spPr bwMode="auto">
          <a:xfrm>
            <a:off x="2351584" y="1516001"/>
            <a:ext cx="7929618" cy="1335558"/>
          </a:xfrm>
          <a:prstGeom prst="rect">
            <a:avLst/>
          </a:prstGeom>
          <a:noFill/>
          <a:ln w="9525">
            <a:noFill/>
            <a:miter lim="800000"/>
            <a:headEnd/>
            <a:tailEnd/>
          </a:ln>
          <a:effectLst/>
        </p:spPr>
        <p:txBody>
          <a:bodyPr wrap="square">
            <a:spAutoFit/>
          </a:bodyPr>
          <a:lstStyle/>
          <a:p>
            <a:pPr>
              <a:lnSpc>
                <a:spcPct val="130000"/>
              </a:lnSpc>
              <a:spcBef>
                <a:spcPts val="600"/>
              </a:spcBef>
            </a:pPr>
            <a:r>
              <a:rPr lang="zh-CN" altLang="en-US" sz="2000" dirty="0">
                <a:latin typeface="Consolas" pitchFamily="49" charset="0"/>
                <a:ea typeface="楷体" pitchFamily="49" charset="-122"/>
                <a:cs typeface="Consolas" pitchFamily="49" charset="0"/>
              </a:rPr>
              <a:t>   一棵度为</a:t>
            </a:r>
            <a:r>
              <a:rPr lang="en-US" altLang="zh-CN" sz="2000" dirty="0">
                <a:latin typeface="Consolas" pitchFamily="49" charset="0"/>
                <a:ea typeface="楷体" pitchFamily="49" charset="-122"/>
                <a:cs typeface="Consolas" pitchFamily="49" charset="0"/>
              </a:rPr>
              <a:t>4</a:t>
            </a:r>
            <a:r>
              <a:rPr lang="zh-CN" altLang="en-US" sz="2000" dirty="0">
                <a:latin typeface="Consolas" pitchFamily="49" charset="0"/>
                <a:ea typeface="楷体" pitchFamily="49" charset="-122"/>
                <a:cs typeface="Consolas" pitchFamily="49" charset="0"/>
              </a:rPr>
              <a:t>的树</a:t>
            </a:r>
            <a:r>
              <a:rPr lang="en-US" altLang="zh-CN" sz="2000" dirty="0">
                <a:latin typeface="Consolas" pitchFamily="49" charset="0"/>
                <a:ea typeface="楷体" pitchFamily="49" charset="-122"/>
                <a:cs typeface="Consolas" pitchFamily="49" charset="0"/>
              </a:rPr>
              <a:t>T</a:t>
            </a:r>
            <a:r>
              <a:rPr lang="zh-CN" altLang="en-US" sz="2000" dirty="0">
                <a:latin typeface="Consolas" pitchFamily="49" charset="0"/>
                <a:ea typeface="楷体" pitchFamily="49" charset="-122"/>
                <a:cs typeface="Consolas" pitchFamily="49" charset="0"/>
              </a:rPr>
              <a:t>中，若有</a:t>
            </a:r>
            <a:r>
              <a:rPr lang="en-US" altLang="zh-CN" sz="2000" dirty="0">
                <a:latin typeface="Consolas" pitchFamily="49" charset="0"/>
                <a:ea typeface="楷体" pitchFamily="49" charset="-122"/>
                <a:cs typeface="Consolas" pitchFamily="49" charset="0"/>
              </a:rPr>
              <a:t>20</a:t>
            </a:r>
            <a:r>
              <a:rPr lang="zh-CN" altLang="en-US" sz="2000" dirty="0">
                <a:latin typeface="Consolas" pitchFamily="49" charset="0"/>
                <a:ea typeface="楷体" pitchFamily="49" charset="-122"/>
                <a:cs typeface="Consolas" pitchFamily="49" charset="0"/>
              </a:rPr>
              <a:t>个度为</a:t>
            </a:r>
            <a:r>
              <a:rPr lang="en-US" altLang="zh-CN" sz="2000" dirty="0">
                <a:latin typeface="Consolas" pitchFamily="49" charset="0"/>
                <a:ea typeface="楷体" pitchFamily="49" charset="-122"/>
                <a:cs typeface="Consolas" pitchFamily="49" charset="0"/>
              </a:rPr>
              <a:t>4</a:t>
            </a:r>
            <a:r>
              <a:rPr lang="zh-CN" altLang="en-US" sz="2000" dirty="0">
                <a:latin typeface="Consolas" pitchFamily="49" charset="0"/>
                <a:ea typeface="楷体" pitchFamily="49" charset="-122"/>
                <a:cs typeface="Consolas" pitchFamily="49" charset="0"/>
              </a:rPr>
              <a:t>的结点，</a:t>
            </a:r>
            <a:r>
              <a:rPr lang="en-US" altLang="zh-CN" sz="2000" dirty="0">
                <a:latin typeface="Consolas" pitchFamily="49" charset="0"/>
                <a:ea typeface="楷体" pitchFamily="49" charset="-122"/>
                <a:cs typeface="Consolas" pitchFamily="49" charset="0"/>
              </a:rPr>
              <a:t>10</a:t>
            </a:r>
            <a:r>
              <a:rPr lang="zh-CN" altLang="en-US" sz="2000" dirty="0">
                <a:latin typeface="Consolas" pitchFamily="49" charset="0"/>
                <a:ea typeface="楷体" pitchFamily="49" charset="-122"/>
                <a:cs typeface="Consolas" pitchFamily="49" charset="0"/>
              </a:rPr>
              <a:t>个度为</a:t>
            </a:r>
            <a:r>
              <a:rPr lang="en-US" altLang="zh-CN" sz="2000" dirty="0">
                <a:latin typeface="Consolas" pitchFamily="49" charset="0"/>
                <a:ea typeface="楷体" pitchFamily="49" charset="-122"/>
                <a:cs typeface="Consolas" pitchFamily="49" charset="0"/>
              </a:rPr>
              <a:t>3</a:t>
            </a:r>
            <a:r>
              <a:rPr lang="zh-CN" altLang="en-US" sz="2000" dirty="0">
                <a:latin typeface="Consolas" pitchFamily="49" charset="0"/>
                <a:ea typeface="楷体" pitchFamily="49" charset="-122"/>
                <a:cs typeface="Consolas" pitchFamily="49" charset="0"/>
              </a:rPr>
              <a:t>的结点，</a:t>
            </a:r>
            <a:r>
              <a:rPr lang="en-US" altLang="zh-CN" sz="2000" dirty="0">
                <a:latin typeface="Consolas" pitchFamily="49" charset="0"/>
                <a:ea typeface="楷体" pitchFamily="49" charset="-122"/>
                <a:cs typeface="Consolas" pitchFamily="49" charset="0"/>
              </a:rPr>
              <a:t>1</a:t>
            </a:r>
            <a:r>
              <a:rPr lang="zh-CN" altLang="en-US" sz="2000" dirty="0">
                <a:latin typeface="Consolas" pitchFamily="49" charset="0"/>
                <a:ea typeface="楷体" pitchFamily="49" charset="-122"/>
                <a:cs typeface="Consolas" pitchFamily="49" charset="0"/>
              </a:rPr>
              <a:t>个度为</a:t>
            </a:r>
            <a:r>
              <a:rPr lang="en-US" altLang="zh-CN" sz="2000" dirty="0">
                <a:latin typeface="Consolas" pitchFamily="49" charset="0"/>
                <a:ea typeface="楷体" pitchFamily="49" charset="-122"/>
                <a:cs typeface="Consolas" pitchFamily="49" charset="0"/>
              </a:rPr>
              <a:t>2</a:t>
            </a:r>
            <a:r>
              <a:rPr lang="zh-CN" altLang="en-US" sz="2000" dirty="0">
                <a:latin typeface="Consolas" pitchFamily="49" charset="0"/>
                <a:ea typeface="楷体" pitchFamily="49" charset="-122"/>
                <a:cs typeface="Consolas" pitchFamily="49" charset="0"/>
              </a:rPr>
              <a:t>的结点，</a:t>
            </a:r>
            <a:r>
              <a:rPr lang="en-US" altLang="zh-CN" sz="2000" dirty="0">
                <a:latin typeface="Consolas" pitchFamily="49" charset="0"/>
                <a:ea typeface="楷体" pitchFamily="49" charset="-122"/>
                <a:cs typeface="Consolas" pitchFamily="49" charset="0"/>
              </a:rPr>
              <a:t>10</a:t>
            </a:r>
            <a:r>
              <a:rPr lang="zh-CN" altLang="en-US" sz="2000" dirty="0">
                <a:latin typeface="Consolas" pitchFamily="49" charset="0"/>
                <a:ea typeface="楷体" pitchFamily="49" charset="-122"/>
                <a:cs typeface="Consolas" pitchFamily="49" charset="0"/>
              </a:rPr>
              <a:t>个度为</a:t>
            </a:r>
            <a:r>
              <a:rPr lang="en-US" altLang="zh-CN" sz="2000" dirty="0">
                <a:latin typeface="Consolas" pitchFamily="49" charset="0"/>
                <a:ea typeface="楷体" pitchFamily="49" charset="-122"/>
                <a:cs typeface="Consolas" pitchFamily="49" charset="0"/>
              </a:rPr>
              <a:t>1</a:t>
            </a:r>
            <a:r>
              <a:rPr lang="zh-CN" altLang="en-US" sz="2000" dirty="0">
                <a:latin typeface="Consolas" pitchFamily="49" charset="0"/>
                <a:ea typeface="楷体" pitchFamily="49" charset="-122"/>
                <a:cs typeface="Consolas" pitchFamily="49" charset="0"/>
              </a:rPr>
              <a:t>的结点，则树</a:t>
            </a:r>
            <a:r>
              <a:rPr lang="en-US" altLang="zh-CN" sz="2000" dirty="0">
                <a:latin typeface="Consolas" pitchFamily="49" charset="0"/>
                <a:ea typeface="楷体" pitchFamily="49" charset="-122"/>
                <a:cs typeface="Consolas" pitchFamily="49" charset="0"/>
              </a:rPr>
              <a:t>T</a:t>
            </a:r>
            <a:r>
              <a:rPr lang="zh-CN" altLang="en-US" sz="2000" dirty="0">
                <a:latin typeface="Consolas" pitchFamily="49" charset="0"/>
                <a:ea typeface="楷体" pitchFamily="49" charset="-122"/>
                <a:cs typeface="Consolas" pitchFamily="49" charset="0"/>
              </a:rPr>
              <a:t>的叶子结点个数是</a:t>
            </a:r>
            <a:r>
              <a:rPr lang="en-US" altLang="zh-CN" sz="2000" dirty="0">
                <a:latin typeface="Consolas" pitchFamily="49" charset="0"/>
                <a:ea typeface="楷体" pitchFamily="49" charset="-122"/>
                <a:cs typeface="Consolas" pitchFamily="49" charset="0"/>
              </a:rPr>
              <a:t>(   )</a:t>
            </a:r>
            <a:r>
              <a:rPr lang="zh-CN" altLang="en-US" sz="2000" dirty="0">
                <a:latin typeface="Consolas" pitchFamily="49" charset="0"/>
                <a:ea typeface="楷体" pitchFamily="49" charset="-122"/>
                <a:cs typeface="Consolas" pitchFamily="49" charset="0"/>
              </a:rPr>
              <a:t>。</a:t>
            </a:r>
          </a:p>
          <a:p>
            <a:pPr>
              <a:lnSpc>
                <a:spcPct val="130000"/>
              </a:lnSpc>
              <a:spcBef>
                <a:spcPts val="600"/>
              </a:spcBef>
            </a:pPr>
            <a:r>
              <a:rPr lang="zh-CN" altLang="en-US" sz="2000" dirty="0">
                <a:latin typeface="Consolas" pitchFamily="49" charset="0"/>
                <a:ea typeface="楷体" pitchFamily="49" charset="-122"/>
                <a:cs typeface="Consolas" pitchFamily="49" charset="0"/>
              </a:rPr>
              <a:t>     </a:t>
            </a:r>
            <a:r>
              <a:rPr lang="en-US" altLang="zh-CN" sz="2000" dirty="0">
                <a:latin typeface="Consolas" pitchFamily="49" charset="0"/>
                <a:ea typeface="楷体" pitchFamily="49" charset="-122"/>
                <a:cs typeface="Consolas" pitchFamily="49" charset="0"/>
              </a:rPr>
              <a:t>A.41	</a:t>
            </a:r>
            <a:r>
              <a:rPr lang="en-US" altLang="zh-CN" sz="2000" dirty="0">
                <a:solidFill>
                  <a:srgbClr val="0000FF"/>
                </a:solidFill>
                <a:latin typeface="Consolas" pitchFamily="49" charset="0"/>
                <a:ea typeface="楷体" pitchFamily="49" charset="-122"/>
                <a:cs typeface="Consolas" pitchFamily="49" charset="0"/>
              </a:rPr>
              <a:t>   B.82     </a:t>
            </a:r>
            <a:r>
              <a:rPr lang="en-US" altLang="zh-CN" sz="2000" dirty="0">
                <a:latin typeface="Consolas" pitchFamily="49" charset="0"/>
                <a:ea typeface="楷体" pitchFamily="49" charset="-122"/>
                <a:cs typeface="Consolas" pitchFamily="49" charset="0"/>
              </a:rPr>
              <a:t>	C.113		D.122</a:t>
            </a:r>
          </a:p>
        </p:txBody>
      </p:sp>
      <p:sp>
        <p:nvSpPr>
          <p:cNvPr id="279556" name="Text Box 4"/>
          <p:cNvSpPr txBox="1">
            <a:spLocks noChangeArrowheads="1"/>
          </p:cNvSpPr>
          <p:nvPr/>
        </p:nvSpPr>
        <p:spPr bwMode="auto">
          <a:xfrm>
            <a:off x="3423154" y="3028483"/>
            <a:ext cx="4464050" cy="40011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a:spcBef>
                <a:spcPct val="50000"/>
              </a:spcBef>
            </a:pPr>
            <a:r>
              <a:rPr lang="zh-CN" altLang="en-US" sz="2000" dirty="0">
                <a:solidFill>
                  <a:srgbClr val="FF3300"/>
                </a:solidFill>
                <a:latin typeface="Consolas" pitchFamily="49" charset="0"/>
                <a:ea typeface="华文中宋" pitchFamily="2" charset="-122"/>
                <a:cs typeface="Consolas" pitchFamily="49" charset="0"/>
              </a:rPr>
              <a:t>注：本题为</a:t>
            </a:r>
            <a:r>
              <a:rPr lang="en-US" altLang="zh-CN" sz="2000" dirty="0">
                <a:solidFill>
                  <a:srgbClr val="FF3300"/>
                </a:solidFill>
                <a:latin typeface="Consolas" pitchFamily="49" charset="0"/>
                <a:ea typeface="华文中宋" pitchFamily="2" charset="-122"/>
                <a:cs typeface="Consolas" pitchFamily="49" charset="0"/>
              </a:rPr>
              <a:t>2010</a:t>
            </a:r>
            <a:r>
              <a:rPr lang="zh-CN" altLang="en-US" sz="2000" dirty="0">
                <a:solidFill>
                  <a:srgbClr val="FF3300"/>
                </a:solidFill>
                <a:latin typeface="Consolas" pitchFamily="49" charset="0"/>
                <a:ea typeface="华文中宋" pitchFamily="2" charset="-122"/>
                <a:cs typeface="Consolas" pitchFamily="49" charset="0"/>
              </a:rPr>
              <a:t>年全国考研题</a:t>
            </a:r>
          </a:p>
        </p:txBody>
      </p:sp>
      <p:sp>
        <p:nvSpPr>
          <p:cNvPr id="279558" name="Text Box 6"/>
          <p:cNvSpPr txBox="1">
            <a:spLocks noChangeArrowheads="1"/>
          </p:cNvSpPr>
          <p:nvPr/>
        </p:nvSpPr>
        <p:spPr bwMode="auto">
          <a:xfrm>
            <a:off x="2851650" y="3957177"/>
            <a:ext cx="7358114" cy="400110"/>
          </a:xfrm>
          <a:prstGeom prst="rect">
            <a:avLst/>
          </a:prstGeom>
          <a:noFill/>
          <a:ln w="28575" algn="ctr">
            <a:noFill/>
            <a:miter lim="800000"/>
            <a:headEnd/>
            <a:tailEnd type="none" w="med" len="lg"/>
          </a:ln>
          <a:effectLst/>
        </p:spPr>
        <p:txBody>
          <a:bodyPr wrap="square">
            <a:spAutoFit/>
          </a:bodyPr>
          <a:lstStyle/>
          <a:p>
            <a:pPr algn="l">
              <a:spcBef>
                <a:spcPct val="50000"/>
              </a:spcBef>
            </a:pPr>
            <a:r>
              <a:rPr lang="en-US" altLang="zh-CN" sz="2000" i="1">
                <a:latin typeface="Consolas" pitchFamily="49" charset="0"/>
                <a:ea typeface="仿宋" pitchFamily="49" charset="-122"/>
                <a:cs typeface="Consolas" pitchFamily="49" charset="0"/>
              </a:rPr>
              <a:t>m </a:t>
            </a:r>
            <a:r>
              <a:rPr lang="en-US" altLang="zh-CN" sz="2000">
                <a:latin typeface="Consolas" pitchFamily="49" charset="0"/>
                <a:ea typeface="仿宋" pitchFamily="49" charset="-122"/>
                <a:cs typeface="Consolas" pitchFamily="49" charset="0"/>
              </a:rPr>
              <a:t>= 4</a:t>
            </a:r>
            <a:r>
              <a:rPr lang="zh-CN" altLang="en-US" sz="2000" i="1">
                <a:latin typeface="Consolas" pitchFamily="49" charset="0"/>
                <a:ea typeface="仿宋" pitchFamily="49" charset="-122"/>
                <a:cs typeface="Consolas" pitchFamily="49" charset="0"/>
              </a:rPr>
              <a:t>，</a:t>
            </a:r>
            <a:r>
              <a:rPr lang="en-US" altLang="zh-CN" sz="2000" i="1">
                <a:latin typeface="Consolas" pitchFamily="49" charset="0"/>
                <a:ea typeface="仿宋" pitchFamily="49" charset="-122"/>
                <a:cs typeface="Consolas" pitchFamily="49" charset="0"/>
              </a:rPr>
              <a:t>n </a:t>
            </a:r>
            <a:r>
              <a:rPr lang="en-US" altLang="zh-CN" sz="2000">
                <a:latin typeface="Consolas" pitchFamily="49" charset="0"/>
                <a:ea typeface="仿宋" pitchFamily="49" charset="-122"/>
                <a:cs typeface="Consolas" pitchFamily="49" charset="0"/>
              </a:rPr>
              <a:t>= </a:t>
            </a:r>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0</a:t>
            </a:r>
            <a:r>
              <a:rPr lang="en-US" altLang="zh-CN" sz="2000">
                <a:latin typeface="Consolas" pitchFamily="49" charset="0"/>
                <a:ea typeface="仿宋" pitchFamily="49" charset="-122"/>
                <a:cs typeface="Consolas" pitchFamily="49" charset="0"/>
              </a:rPr>
              <a:t>+</a:t>
            </a:r>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1</a:t>
            </a:r>
            <a:r>
              <a:rPr lang="en-US" altLang="zh-CN" sz="2000">
                <a:latin typeface="Consolas" pitchFamily="49" charset="0"/>
                <a:ea typeface="仿宋" pitchFamily="49" charset="-122"/>
                <a:cs typeface="Consolas" pitchFamily="49" charset="0"/>
              </a:rPr>
              <a:t>+</a:t>
            </a:r>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2</a:t>
            </a:r>
            <a:r>
              <a:rPr lang="en-US" altLang="zh-CN" sz="2000">
                <a:latin typeface="Consolas" pitchFamily="49" charset="0"/>
                <a:ea typeface="仿宋" pitchFamily="49" charset="-122"/>
                <a:cs typeface="Consolas" pitchFamily="49" charset="0"/>
              </a:rPr>
              <a:t>+</a:t>
            </a:r>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3</a:t>
            </a:r>
            <a:r>
              <a:rPr lang="en-US" altLang="zh-CN" sz="2000">
                <a:latin typeface="Consolas" pitchFamily="49" charset="0"/>
                <a:ea typeface="仿宋" pitchFamily="49" charset="-122"/>
                <a:cs typeface="Consolas" pitchFamily="49" charset="0"/>
              </a:rPr>
              <a:t>+</a:t>
            </a:r>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4  </a:t>
            </a:r>
            <a:r>
              <a:rPr lang="en-US" altLang="zh-CN" sz="2000">
                <a:latin typeface="Consolas" pitchFamily="49" charset="0"/>
                <a:ea typeface="仿宋" pitchFamily="49" charset="-122"/>
                <a:cs typeface="Consolas" pitchFamily="49" charset="0"/>
              </a:rPr>
              <a:t>= </a:t>
            </a:r>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0</a:t>
            </a:r>
            <a:r>
              <a:rPr lang="en-US" altLang="zh-CN" sz="2000">
                <a:latin typeface="Consolas" pitchFamily="49" charset="0"/>
                <a:ea typeface="仿宋" pitchFamily="49" charset="-122"/>
                <a:cs typeface="Consolas" pitchFamily="49" charset="0"/>
              </a:rPr>
              <a:t>+10+1+10+20 = </a:t>
            </a:r>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0</a:t>
            </a:r>
            <a:r>
              <a:rPr lang="en-US" altLang="zh-CN" sz="2000">
                <a:latin typeface="Consolas" pitchFamily="49" charset="0"/>
                <a:ea typeface="仿宋" pitchFamily="49" charset="-122"/>
                <a:cs typeface="Consolas" pitchFamily="49" charset="0"/>
              </a:rPr>
              <a:t>+41</a:t>
            </a:r>
            <a:r>
              <a:rPr lang="zh-CN" altLang="en-US" sz="2000" dirty="0">
                <a:latin typeface="Consolas" pitchFamily="49" charset="0"/>
                <a:ea typeface="仿宋" pitchFamily="49" charset="-122"/>
                <a:cs typeface="Consolas" pitchFamily="49" charset="0"/>
              </a:rPr>
              <a:t>。</a:t>
            </a:r>
          </a:p>
        </p:txBody>
      </p:sp>
      <p:sp>
        <p:nvSpPr>
          <p:cNvPr id="7" name="TextBox 6"/>
          <p:cNvSpPr txBox="1"/>
          <p:nvPr/>
        </p:nvSpPr>
        <p:spPr>
          <a:xfrm>
            <a:off x="2851650" y="4557199"/>
            <a:ext cx="6500858" cy="400110"/>
          </a:xfrm>
          <a:prstGeom prst="rect">
            <a:avLst/>
          </a:prstGeom>
          <a:noFill/>
        </p:spPr>
        <p:txBody>
          <a:bodyPr wrap="square" rtlCol="0">
            <a:spAutoFit/>
          </a:bodyPr>
          <a:lstStyle/>
          <a:p>
            <a:pPr algn="l">
              <a:spcBef>
                <a:spcPct val="50000"/>
              </a:spcBef>
            </a:pPr>
            <a:r>
              <a:rPr lang="en-US" altLang="zh-CN" sz="2000" i="1">
                <a:latin typeface="Consolas" pitchFamily="49" charset="0"/>
                <a:ea typeface="仿宋" pitchFamily="49" charset="-122"/>
                <a:cs typeface="Consolas" pitchFamily="49" charset="0"/>
              </a:rPr>
              <a:t>n</a:t>
            </a:r>
            <a:r>
              <a:rPr lang="en-US" altLang="zh-CN" sz="2000">
                <a:latin typeface="Consolas" pitchFamily="49" charset="0"/>
                <a:ea typeface="仿宋" pitchFamily="49" charset="-122"/>
                <a:cs typeface="Consolas" pitchFamily="49" charset="0"/>
              </a:rPr>
              <a:t>-1 = </a:t>
            </a:r>
            <a:r>
              <a:rPr lang="zh-CN" altLang="en-US" sz="2000">
                <a:latin typeface="Consolas" pitchFamily="49" charset="0"/>
                <a:ea typeface="仿宋" pitchFamily="49" charset="-122"/>
                <a:cs typeface="Consolas" pitchFamily="49" charset="0"/>
              </a:rPr>
              <a:t>度之和 </a:t>
            </a:r>
            <a:r>
              <a:rPr lang="en-US" altLang="zh-CN" sz="2000">
                <a:latin typeface="Consolas" pitchFamily="49" charset="0"/>
                <a:ea typeface="仿宋" pitchFamily="49" charset="-122"/>
                <a:cs typeface="Consolas" pitchFamily="49" charset="0"/>
              </a:rPr>
              <a:t>= </a:t>
            </a:r>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1</a:t>
            </a:r>
            <a:r>
              <a:rPr lang="en-US" altLang="zh-CN" sz="2000">
                <a:latin typeface="Consolas" pitchFamily="49" charset="0"/>
                <a:ea typeface="仿宋" pitchFamily="49" charset="-122"/>
                <a:cs typeface="Consolas" pitchFamily="49" charset="0"/>
              </a:rPr>
              <a:t>+2</a:t>
            </a:r>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2</a:t>
            </a:r>
            <a:r>
              <a:rPr lang="en-US" altLang="zh-CN" sz="2000">
                <a:latin typeface="Consolas" pitchFamily="49" charset="0"/>
                <a:ea typeface="仿宋" pitchFamily="49" charset="-122"/>
                <a:cs typeface="Consolas" pitchFamily="49" charset="0"/>
              </a:rPr>
              <a:t>+3</a:t>
            </a:r>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3</a:t>
            </a:r>
            <a:r>
              <a:rPr lang="en-US" altLang="zh-CN" sz="2000">
                <a:latin typeface="Consolas" pitchFamily="49" charset="0"/>
                <a:ea typeface="仿宋" pitchFamily="49" charset="-122"/>
                <a:cs typeface="Consolas" pitchFamily="49" charset="0"/>
              </a:rPr>
              <a:t>+4</a:t>
            </a:r>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4  </a:t>
            </a:r>
            <a:r>
              <a:rPr lang="en-US" altLang="zh-CN" sz="2000">
                <a:latin typeface="Consolas" pitchFamily="49" charset="0"/>
                <a:ea typeface="仿宋" pitchFamily="49" charset="-122"/>
                <a:cs typeface="Consolas" pitchFamily="49" charset="0"/>
              </a:rPr>
              <a:t>= 122</a:t>
            </a:r>
            <a:r>
              <a:rPr lang="zh-CN" altLang="en-US" sz="2000">
                <a:latin typeface="Consolas" pitchFamily="49" charset="0"/>
                <a:ea typeface="仿宋" pitchFamily="49" charset="-122"/>
                <a:cs typeface="Consolas" pitchFamily="49" charset="0"/>
              </a:rPr>
              <a:t>，得</a:t>
            </a:r>
            <a:r>
              <a:rPr lang="en-US" altLang="zh-CN" sz="2000" i="1">
                <a:latin typeface="Consolas" pitchFamily="49" charset="0"/>
                <a:ea typeface="仿宋" pitchFamily="49" charset="-122"/>
                <a:cs typeface="Consolas" pitchFamily="49" charset="0"/>
              </a:rPr>
              <a:t>n </a:t>
            </a:r>
            <a:r>
              <a:rPr lang="en-US" altLang="zh-CN" sz="2000">
                <a:latin typeface="Consolas" pitchFamily="49" charset="0"/>
                <a:ea typeface="仿宋" pitchFamily="49" charset="-122"/>
                <a:cs typeface="Consolas" pitchFamily="49" charset="0"/>
              </a:rPr>
              <a:t>= 123</a:t>
            </a:r>
            <a:r>
              <a:rPr lang="zh-CN" altLang="en-US" sz="2000" dirty="0">
                <a:latin typeface="Consolas" pitchFamily="49" charset="0"/>
                <a:ea typeface="仿宋" pitchFamily="49" charset="-122"/>
                <a:cs typeface="Consolas" pitchFamily="49" charset="0"/>
              </a:rPr>
              <a:t>。</a:t>
            </a:r>
            <a:endParaRPr lang="en-US" altLang="zh-CN" sz="2000" dirty="0">
              <a:latin typeface="Consolas" pitchFamily="49" charset="0"/>
              <a:ea typeface="仿宋" pitchFamily="49" charset="-122"/>
              <a:cs typeface="Consolas" pitchFamily="49" charset="0"/>
            </a:endParaRPr>
          </a:p>
        </p:txBody>
      </p:sp>
      <p:sp>
        <p:nvSpPr>
          <p:cNvPr id="8" name="TextBox 7"/>
          <p:cNvSpPr txBox="1"/>
          <p:nvPr/>
        </p:nvSpPr>
        <p:spPr>
          <a:xfrm>
            <a:off x="2851650" y="5171623"/>
            <a:ext cx="3929090" cy="400110"/>
          </a:xfrm>
          <a:prstGeom prst="rect">
            <a:avLst/>
          </a:prstGeom>
          <a:noFill/>
        </p:spPr>
        <p:txBody>
          <a:bodyPr wrap="square" rtlCol="0">
            <a:spAutoFit/>
          </a:bodyPr>
          <a:lstStyle/>
          <a:p>
            <a:pPr algn="l"/>
            <a:r>
              <a:rPr lang="en-US" altLang="zh-CN" sz="2000" i="1">
                <a:latin typeface="Consolas" pitchFamily="49" charset="0"/>
                <a:ea typeface="仿宋" pitchFamily="49" charset="-122"/>
                <a:cs typeface="Consolas" pitchFamily="49" charset="0"/>
              </a:rPr>
              <a:t>n</a:t>
            </a:r>
            <a:r>
              <a:rPr lang="en-US" altLang="zh-CN" sz="2000" baseline="-25000">
                <a:latin typeface="Consolas" pitchFamily="49" charset="0"/>
                <a:ea typeface="仿宋" pitchFamily="49" charset="-122"/>
                <a:cs typeface="Consolas" pitchFamily="49" charset="0"/>
              </a:rPr>
              <a:t>0  </a:t>
            </a:r>
            <a:r>
              <a:rPr lang="en-US" altLang="zh-CN" sz="2000">
                <a:latin typeface="Consolas" pitchFamily="49" charset="0"/>
                <a:ea typeface="仿宋" pitchFamily="49" charset="-122"/>
                <a:cs typeface="Consolas" pitchFamily="49" charset="0"/>
              </a:rPr>
              <a:t>= </a:t>
            </a:r>
            <a:r>
              <a:rPr lang="en-US" altLang="zh-CN" sz="2000" i="1">
                <a:latin typeface="Consolas" pitchFamily="49" charset="0"/>
                <a:ea typeface="仿宋" pitchFamily="49" charset="-122"/>
                <a:cs typeface="Consolas" pitchFamily="49" charset="0"/>
              </a:rPr>
              <a:t>n</a:t>
            </a:r>
            <a:r>
              <a:rPr lang="en-US" altLang="zh-CN" sz="2000">
                <a:latin typeface="Consolas" pitchFamily="49" charset="0"/>
                <a:ea typeface="仿宋" pitchFamily="49" charset="-122"/>
                <a:cs typeface="Consolas" pitchFamily="49" charset="0"/>
              </a:rPr>
              <a:t>-41 = 123-41 = 82</a:t>
            </a:r>
            <a:r>
              <a:rPr lang="zh-CN" altLang="en-US" sz="2000" dirty="0">
                <a:latin typeface="Consolas" pitchFamily="49" charset="0"/>
                <a:ea typeface="仿宋" pitchFamily="49" charset="-122"/>
                <a:cs typeface="Consolas" pitchFamily="49" charset="0"/>
              </a:rPr>
              <a:t>。</a:t>
            </a:r>
          </a:p>
        </p:txBody>
      </p:sp>
      <p:sp>
        <p:nvSpPr>
          <p:cNvPr id="9" name="TextBox 8"/>
          <p:cNvSpPr txBox="1"/>
          <p:nvPr/>
        </p:nvSpPr>
        <p:spPr>
          <a:xfrm>
            <a:off x="2851650" y="5814565"/>
            <a:ext cx="2071702" cy="400110"/>
          </a:xfrm>
          <a:prstGeom prst="rect">
            <a:avLst/>
          </a:prstGeom>
          <a:noFill/>
        </p:spPr>
        <p:txBody>
          <a:bodyPr wrap="square" rtlCol="0">
            <a:spAutoFit/>
          </a:bodyPr>
          <a:lstStyle/>
          <a:p>
            <a:pPr algn="l"/>
            <a:r>
              <a:rPr lang="zh-CN" altLang="en-US" sz="2000" dirty="0">
                <a:latin typeface="Consolas" pitchFamily="49" charset="0"/>
                <a:ea typeface="仿宋" pitchFamily="49" charset="-122"/>
                <a:cs typeface="Consolas" pitchFamily="49" charset="0"/>
              </a:rPr>
              <a:t>答案为</a:t>
            </a:r>
            <a:r>
              <a:rPr lang="en-US" altLang="zh-CN" sz="2000" dirty="0">
                <a:solidFill>
                  <a:srgbClr val="C00000"/>
                </a:solidFill>
                <a:latin typeface="Consolas" pitchFamily="49" charset="0"/>
                <a:ea typeface="仿宋" pitchFamily="49" charset="-122"/>
                <a:cs typeface="Consolas" pitchFamily="49" charset="0"/>
              </a:rPr>
              <a:t>B</a:t>
            </a:r>
            <a:r>
              <a:rPr lang="zh-CN" altLang="en-US" sz="2000" dirty="0">
                <a:latin typeface="Consolas" pitchFamily="49" charset="0"/>
                <a:ea typeface="仿宋" pitchFamily="49" charset="-122"/>
                <a:cs typeface="Consolas" pitchFamily="49" charset="0"/>
              </a:rPr>
              <a:t>。</a:t>
            </a:r>
            <a:endParaRPr lang="en-US" altLang="zh-CN" sz="2000" dirty="0">
              <a:latin typeface="Consolas" pitchFamily="49" charset="0"/>
              <a:ea typeface="仿宋" pitchFamily="49" charset="-122"/>
              <a:cs typeface="Consolas" pitchFamily="49" charset="0"/>
            </a:endParaRPr>
          </a:p>
        </p:txBody>
      </p:sp>
      <p:sp>
        <p:nvSpPr>
          <p:cNvPr id="4" name="矩形 3">
            <a:extLst>
              <a:ext uri="{FF2B5EF4-FFF2-40B4-BE49-F238E27FC236}">
                <a16:creationId xmlns:a16="http://schemas.microsoft.com/office/drawing/2014/main" xmlns="" id="{4D826855-991E-0C76-3057-90EE92F0AF7D}"/>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5" name="Rectangle 2">
            <a:extLst>
              <a:ext uri="{FF2B5EF4-FFF2-40B4-BE49-F238E27FC236}">
                <a16:creationId xmlns:a16="http://schemas.microsoft.com/office/drawing/2014/main" xmlns="" id="{949A7658-BA93-74DE-201B-BBB2781B7358}"/>
              </a:ext>
            </a:extLst>
          </p:cNvPr>
          <p:cNvSpPr txBox="1">
            <a:spLocks noChangeArrowheads="1"/>
          </p:cNvSpPr>
          <p:nvPr/>
        </p:nvSpPr>
        <p:spPr>
          <a:xfrm>
            <a:off x="79920" y="836712"/>
            <a:ext cx="27757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7.1.4 </a:t>
            </a:r>
            <a:r>
              <a:rPr lang="zh-CN" altLang="en-US" dirty="0"/>
              <a:t>树的性质</a:t>
            </a:r>
          </a:p>
        </p:txBody>
      </p:sp>
      <p:cxnSp>
        <p:nvCxnSpPr>
          <p:cNvPr id="6" name="直接连接符 5">
            <a:extLst>
              <a:ext uri="{FF2B5EF4-FFF2-40B4-BE49-F238E27FC236}">
                <a16:creationId xmlns:a16="http://schemas.microsoft.com/office/drawing/2014/main" xmlns="" id="{9FA3EA8B-9D59-01A6-81E2-1E4B9CBFF577}"/>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95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8" grpId="0"/>
      <p:bldP spid="7"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1703512" y="1776417"/>
            <a:ext cx="6786610" cy="400110"/>
          </a:xfrm>
          <a:prstGeom prst="rect">
            <a:avLst/>
          </a:prstGeom>
          <a:noFill/>
          <a:ln w="9525">
            <a:noFill/>
            <a:miter lim="800000"/>
            <a:headEnd/>
            <a:tailEnd/>
          </a:ln>
          <a:effectLst/>
        </p:spPr>
        <p:txBody>
          <a:bodyPr wrap="square">
            <a:spAutoFit/>
          </a:bodyPr>
          <a:lstStyle/>
          <a:p>
            <a:pPr algn="just">
              <a:spcBef>
                <a:spcPct val="50000"/>
              </a:spcBef>
            </a:pPr>
            <a:r>
              <a:rPr kumimoji="1" lang="zh-CN" altLang="en-US" sz="2000" dirty="0">
                <a:solidFill>
                  <a:srgbClr val="FF0000"/>
                </a:solidFill>
                <a:latin typeface="微软雅黑" pitchFamily="34" charset="-122"/>
                <a:ea typeface="微软雅黑" pitchFamily="34" charset="-122"/>
                <a:cs typeface="经典粗黑简" pitchFamily="49" charset="-122"/>
              </a:rPr>
              <a:t>性质</a:t>
            </a:r>
            <a:r>
              <a:rPr kumimoji="1" lang="en-US" altLang="zh-CN" sz="2000" dirty="0">
                <a:solidFill>
                  <a:srgbClr val="FF0000"/>
                </a:solidFill>
                <a:latin typeface="微软雅黑" pitchFamily="34" charset="-122"/>
                <a:ea typeface="微软雅黑" pitchFamily="34" charset="-122"/>
                <a:cs typeface="经典粗黑简" pitchFamily="49" charset="-122"/>
              </a:rPr>
              <a:t>2 </a:t>
            </a:r>
            <a:r>
              <a:rPr kumimoji="1" lang="zh-CN" altLang="en-US" sz="2000" dirty="0">
                <a:latin typeface="微软雅黑" pitchFamily="34" charset="-122"/>
                <a:ea typeface="微软雅黑" pitchFamily="34" charset="-122"/>
                <a:cs typeface="经典粗黑简" pitchFamily="49" charset="-122"/>
              </a:rPr>
              <a:t>度为</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的树中第</a:t>
            </a:r>
            <a:r>
              <a:rPr kumimoji="1" lang="en-US" altLang="zh-CN" sz="2000" dirty="0" err="1">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层上至多有</a:t>
            </a:r>
            <a:r>
              <a:rPr kumimoji="1" lang="en-US" altLang="zh-CN" sz="2000" dirty="0">
                <a:latin typeface="微软雅黑" pitchFamily="34" charset="-122"/>
                <a:ea typeface="微软雅黑" pitchFamily="34" charset="-122"/>
                <a:cs typeface="经典粗黑简" pitchFamily="49" charset="-122"/>
              </a:rPr>
              <a:t>m</a:t>
            </a:r>
            <a:r>
              <a:rPr kumimoji="1" lang="en-US" altLang="zh-CN" sz="2000" baseline="30000" dirty="0">
                <a:latin typeface="微软雅黑" pitchFamily="34" charset="-122"/>
                <a:ea typeface="微软雅黑" pitchFamily="34" charset="-122"/>
                <a:cs typeface="经典粗黑简" pitchFamily="49" charset="-122"/>
              </a:rPr>
              <a:t>i-1</a:t>
            </a:r>
            <a:r>
              <a:rPr kumimoji="1" lang="zh-CN" altLang="en-US" sz="2000" dirty="0">
                <a:latin typeface="微软雅黑" pitchFamily="34" charset="-122"/>
                <a:ea typeface="微软雅黑" pitchFamily="34" charset="-122"/>
                <a:cs typeface="经典粗黑简" pitchFamily="49" charset="-122"/>
              </a:rPr>
              <a:t>个结点（</a:t>
            </a:r>
            <a:r>
              <a:rPr kumimoji="1" lang="en-US" altLang="zh-CN" sz="2000" dirty="0">
                <a:latin typeface="微软雅黑" pitchFamily="34" charset="-122"/>
                <a:ea typeface="微软雅黑" pitchFamily="34" charset="-122"/>
                <a:cs typeface="经典粗黑简" pitchFamily="49" charset="-122"/>
              </a:rPr>
              <a:t>i≥1</a:t>
            </a:r>
            <a:r>
              <a:rPr kumimoji="1" lang="zh-CN" altLang="en-US" sz="2000" dirty="0">
                <a:latin typeface="微软雅黑" pitchFamily="34" charset="-122"/>
                <a:ea typeface="微软雅黑" pitchFamily="34" charset="-122"/>
                <a:cs typeface="经典粗黑简" pitchFamily="49" charset="-122"/>
              </a:rPr>
              <a:t>）。</a:t>
            </a:r>
          </a:p>
        </p:txBody>
      </p:sp>
      <p:sp>
        <p:nvSpPr>
          <p:cNvPr id="4" name="Line 20"/>
          <p:cNvSpPr>
            <a:spLocks noChangeShapeType="1"/>
          </p:cNvSpPr>
          <p:nvPr/>
        </p:nvSpPr>
        <p:spPr bwMode="auto">
          <a:xfrm flipH="1">
            <a:off x="4654179" y="2448549"/>
            <a:ext cx="793749" cy="506411"/>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6" name="Line 21"/>
          <p:cNvSpPr>
            <a:spLocks noChangeShapeType="1"/>
          </p:cNvSpPr>
          <p:nvPr/>
        </p:nvSpPr>
        <p:spPr bwMode="auto">
          <a:xfrm>
            <a:off x="5592390" y="2632103"/>
            <a:ext cx="0" cy="358775"/>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7" name="Line 22"/>
          <p:cNvSpPr>
            <a:spLocks noChangeShapeType="1"/>
          </p:cNvSpPr>
          <p:nvPr/>
        </p:nvSpPr>
        <p:spPr bwMode="auto">
          <a:xfrm>
            <a:off x="5663828" y="2448549"/>
            <a:ext cx="919178" cy="506411"/>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8" name="Oval 7"/>
          <p:cNvSpPr>
            <a:spLocks noChangeArrowheads="1"/>
          </p:cNvSpPr>
          <p:nvPr/>
        </p:nvSpPr>
        <p:spPr bwMode="auto">
          <a:xfrm>
            <a:off x="5447928" y="2305675"/>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9" name="Oval 8"/>
          <p:cNvSpPr>
            <a:spLocks noChangeArrowheads="1"/>
          </p:cNvSpPr>
          <p:nvPr/>
        </p:nvSpPr>
        <p:spPr bwMode="auto">
          <a:xfrm>
            <a:off x="4439866" y="2953376"/>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10" name="Oval 9"/>
          <p:cNvSpPr>
            <a:spLocks noChangeArrowheads="1"/>
          </p:cNvSpPr>
          <p:nvPr/>
        </p:nvSpPr>
        <p:spPr bwMode="auto">
          <a:xfrm>
            <a:off x="5449516" y="2953376"/>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11" name="Oval 10"/>
          <p:cNvSpPr>
            <a:spLocks noChangeArrowheads="1"/>
          </p:cNvSpPr>
          <p:nvPr/>
        </p:nvSpPr>
        <p:spPr bwMode="auto">
          <a:xfrm>
            <a:off x="6455991" y="2953376"/>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12" name="TextBox 11"/>
          <p:cNvSpPr txBox="1"/>
          <p:nvPr/>
        </p:nvSpPr>
        <p:spPr>
          <a:xfrm>
            <a:off x="3879465" y="3444392"/>
            <a:ext cx="3714776" cy="400110"/>
          </a:xfrm>
          <a:prstGeom prst="rect">
            <a:avLst/>
          </a:prstGeom>
          <a:noFill/>
        </p:spPr>
        <p:txBody>
          <a:bodyPr wrap="square" rtlCol="0">
            <a:spAutoFit/>
          </a:bodyPr>
          <a:lstStyle/>
          <a:p>
            <a:pPr algn="l"/>
            <a:r>
              <a:rPr lang="zh-CN" altLang="en-US" sz="2000" dirty="0">
                <a:latin typeface="Consolas" pitchFamily="49" charset="0"/>
                <a:ea typeface="仿宋" pitchFamily="49" charset="-122"/>
                <a:cs typeface="Consolas" pitchFamily="49" charset="0"/>
              </a:rPr>
              <a:t>度为</a:t>
            </a:r>
            <a:r>
              <a:rPr lang="en-US" altLang="zh-CN" sz="2000" dirty="0">
                <a:latin typeface="Consolas" pitchFamily="49" charset="0"/>
                <a:ea typeface="仿宋" pitchFamily="49" charset="-122"/>
                <a:cs typeface="Consolas" pitchFamily="49" charset="0"/>
              </a:rPr>
              <a:t>3</a:t>
            </a:r>
            <a:r>
              <a:rPr lang="zh-CN" altLang="en-US" sz="2000" dirty="0">
                <a:latin typeface="Consolas" pitchFamily="49" charset="0"/>
                <a:ea typeface="仿宋" pitchFamily="49" charset="-122"/>
                <a:cs typeface="Consolas" pitchFamily="49" charset="0"/>
              </a:rPr>
              <a:t>的树第</a:t>
            </a:r>
            <a:r>
              <a:rPr lang="en-US" altLang="zh-CN" sz="2000" dirty="0">
                <a:latin typeface="Consolas" pitchFamily="49" charset="0"/>
                <a:ea typeface="仿宋" pitchFamily="49" charset="-122"/>
                <a:cs typeface="Consolas" pitchFamily="49" charset="0"/>
              </a:rPr>
              <a:t>2</a:t>
            </a:r>
            <a:r>
              <a:rPr lang="zh-CN" altLang="en-US" sz="2000" dirty="0">
                <a:latin typeface="Consolas" pitchFamily="49" charset="0"/>
                <a:ea typeface="仿宋" pitchFamily="49" charset="-122"/>
                <a:cs typeface="Consolas" pitchFamily="49" charset="0"/>
              </a:rPr>
              <a:t>层</a:t>
            </a:r>
            <a:r>
              <a:rPr kumimoji="1" lang="zh-CN" altLang="en-US" sz="2000" dirty="0">
                <a:latin typeface="Consolas" pitchFamily="49" charset="0"/>
                <a:ea typeface="仿宋" pitchFamily="49" charset="-122"/>
                <a:cs typeface="Consolas" pitchFamily="49" charset="0"/>
              </a:rPr>
              <a:t>至多有</a:t>
            </a:r>
            <a:r>
              <a:rPr kumimoji="1" lang="en-US" altLang="zh-CN" sz="2000" dirty="0">
                <a:latin typeface="Consolas" pitchFamily="49" charset="0"/>
                <a:ea typeface="仿宋" pitchFamily="49" charset="-122"/>
                <a:cs typeface="Consolas" pitchFamily="49" charset="0"/>
              </a:rPr>
              <a:t>3</a:t>
            </a:r>
            <a:r>
              <a:rPr kumimoji="1" lang="zh-CN" altLang="en-US" sz="2000" dirty="0">
                <a:latin typeface="Consolas" pitchFamily="49" charset="0"/>
                <a:ea typeface="仿宋" pitchFamily="49" charset="-122"/>
                <a:cs typeface="Consolas" pitchFamily="49" charset="0"/>
              </a:rPr>
              <a:t>个结点</a:t>
            </a:r>
            <a:endParaRPr lang="zh-CN" altLang="en-US" sz="2000" dirty="0">
              <a:latin typeface="Consolas" pitchFamily="49" charset="0"/>
              <a:ea typeface="仿宋" pitchFamily="49" charset="-122"/>
              <a:cs typeface="Consolas" pitchFamily="49" charset="0"/>
            </a:endParaRPr>
          </a:p>
        </p:txBody>
      </p:sp>
      <p:sp>
        <p:nvSpPr>
          <p:cNvPr id="2" name="矩形 1">
            <a:extLst>
              <a:ext uri="{FF2B5EF4-FFF2-40B4-BE49-F238E27FC236}">
                <a16:creationId xmlns:a16="http://schemas.microsoft.com/office/drawing/2014/main" xmlns="" id="{FC2F596B-0F14-7EB2-6CBE-3A9E2AC2B921}"/>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3" name="Rectangle 2">
            <a:extLst>
              <a:ext uri="{FF2B5EF4-FFF2-40B4-BE49-F238E27FC236}">
                <a16:creationId xmlns:a16="http://schemas.microsoft.com/office/drawing/2014/main" xmlns="" id="{D8FB406D-9AA9-360C-690F-56CE64A6C780}"/>
              </a:ext>
            </a:extLst>
          </p:cNvPr>
          <p:cNvSpPr txBox="1">
            <a:spLocks noChangeArrowheads="1"/>
          </p:cNvSpPr>
          <p:nvPr/>
        </p:nvSpPr>
        <p:spPr>
          <a:xfrm>
            <a:off x="79920" y="836712"/>
            <a:ext cx="27757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7.1.4 </a:t>
            </a:r>
            <a:r>
              <a:rPr lang="zh-CN" altLang="en-US" dirty="0"/>
              <a:t>树的性质</a:t>
            </a:r>
          </a:p>
        </p:txBody>
      </p:sp>
      <p:cxnSp>
        <p:nvCxnSpPr>
          <p:cNvPr id="5" name="直接连接符 4">
            <a:extLst>
              <a:ext uri="{FF2B5EF4-FFF2-40B4-BE49-F238E27FC236}">
                <a16:creationId xmlns:a16="http://schemas.microsoft.com/office/drawing/2014/main" xmlns="" id="{2A06FAF4-3E95-ADC7-2E3D-3ADA657912B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TextBox 11">
            <a:extLst>
              <a:ext uri="{FF2B5EF4-FFF2-40B4-BE49-F238E27FC236}">
                <a16:creationId xmlns:a16="http://schemas.microsoft.com/office/drawing/2014/main" xmlns="" id="{818D8CB6-07A2-9A7E-9F60-DC3D399B7B60}"/>
              </a:ext>
            </a:extLst>
          </p:cNvPr>
          <p:cNvSpPr txBox="1"/>
          <p:nvPr/>
        </p:nvSpPr>
        <p:spPr>
          <a:xfrm>
            <a:off x="1703512" y="3951828"/>
            <a:ext cx="2304256" cy="400110"/>
          </a:xfrm>
          <a:prstGeom prst="rect">
            <a:avLst/>
          </a:prstGeom>
          <a:noFill/>
        </p:spPr>
        <p:txBody>
          <a:bodyPr wrap="square" rtlCol="0">
            <a:spAutoFit/>
          </a:bodyPr>
          <a:lstStyle/>
          <a:p>
            <a:pPr algn="l"/>
            <a:r>
              <a:rPr kumimoji="1" lang="zh-CN" altLang="en-US" sz="2000" dirty="0">
                <a:latin typeface="微软雅黑" pitchFamily="34" charset="-122"/>
                <a:ea typeface="微软雅黑" pitchFamily="34" charset="-122"/>
                <a:cs typeface="经典粗黑简" pitchFamily="49" charset="-122"/>
              </a:rPr>
              <a:t>数学归纳法证明。</a:t>
            </a:r>
          </a:p>
        </p:txBody>
      </p:sp>
      <p:sp>
        <p:nvSpPr>
          <p:cNvPr id="21" name="TextBox 11">
            <a:extLst>
              <a:ext uri="{FF2B5EF4-FFF2-40B4-BE49-F238E27FC236}">
                <a16:creationId xmlns:a16="http://schemas.microsoft.com/office/drawing/2014/main" xmlns="" id="{04CDC5F8-B5E1-809D-1393-25EA888C123B}"/>
              </a:ext>
            </a:extLst>
          </p:cNvPr>
          <p:cNvSpPr txBox="1"/>
          <p:nvPr/>
        </p:nvSpPr>
        <p:spPr>
          <a:xfrm>
            <a:off x="1703512" y="4456554"/>
            <a:ext cx="8784976" cy="1323439"/>
          </a:xfrm>
          <a:prstGeom prst="rect">
            <a:avLst/>
          </a:prstGeom>
          <a:noFill/>
        </p:spPr>
        <p:txBody>
          <a:bodyPr wrap="square" rtlCol="0">
            <a:spAutoFit/>
          </a:bodyPr>
          <a:lstStyle/>
          <a:p>
            <a:r>
              <a:rPr kumimoji="1" lang="zh-CN" altLang="en-US" sz="2000" dirty="0">
                <a:solidFill>
                  <a:srgbClr val="FF0000"/>
                </a:solidFill>
                <a:latin typeface="微软雅黑" pitchFamily="34" charset="-122"/>
                <a:ea typeface="微软雅黑" pitchFamily="34" charset="-122"/>
                <a:cs typeface="经典粗黑简" pitchFamily="49" charset="-122"/>
              </a:rPr>
              <a:t>推广：</a:t>
            </a:r>
            <a:r>
              <a:rPr kumimoji="1" lang="zh-CN" altLang="en-US" sz="2000" dirty="0">
                <a:latin typeface="微软雅黑" pitchFamily="34" charset="-122"/>
                <a:ea typeface="微软雅黑" pitchFamily="34" charset="-122"/>
                <a:cs typeface="经典粗黑简" pitchFamily="49" charset="-122"/>
              </a:rPr>
              <a:t>当一颗</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次树的第</a:t>
            </a:r>
            <a:r>
              <a:rPr kumimoji="1" lang="en-US" altLang="zh-CN" sz="2000" dirty="0" err="1">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层上有</a:t>
            </a:r>
            <a:r>
              <a:rPr kumimoji="1" lang="en-US" altLang="zh-CN" sz="2000" dirty="0">
                <a:latin typeface="微软雅黑" pitchFamily="34" charset="-122"/>
                <a:ea typeface="微软雅黑" pitchFamily="34" charset="-122"/>
                <a:cs typeface="经典粗黑简" pitchFamily="49" charset="-122"/>
              </a:rPr>
              <a:t>m</a:t>
            </a:r>
            <a:r>
              <a:rPr kumimoji="1" lang="en-US" altLang="zh-CN" sz="2000" baseline="30000" dirty="0">
                <a:latin typeface="微软雅黑" pitchFamily="34" charset="-122"/>
                <a:ea typeface="微软雅黑" pitchFamily="34" charset="-122"/>
                <a:cs typeface="经典粗黑简" pitchFamily="49" charset="-122"/>
              </a:rPr>
              <a:t>i-1</a:t>
            </a:r>
            <a:r>
              <a:rPr kumimoji="1" lang="zh-CN" altLang="en-US" sz="2000" dirty="0">
                <a:latin typeface="微软雅黑" pitchFamily="34" charset="-122"/>
                <a:ea typeface="微软雅黑" pitchFamily="34" charset="-122"/>
                <a:cs typeface="经典粗黑简" pitchFamily="49" charset="-122"/>
              </a:rPr>
              <a:t>个结点（</a:t>
            </a:r>
            <a:r>
              <a:rPr kumimoji="1" lang="en-US" altLang="zh-CN" sz="2000" dirty="0">
                <a:latin typeface="微软雅黑" pitchFamily="34" charset="-122"/>
                <a:ea typeface="微软雅黑" pitchFamily="34" charset="-122"/>
                <a:cs typeface="经典粗黑简" pitchFamily="49" charset="-122"/>
              </a:rPr>
              <a:t>i≥1</a:t>
            </a:r>
            <a:r>
              <a:rPr kumimoji="1" lang="zh-CN" altLang="en-US" sz="2000" dirty="0">
                <a:latin typeface="微软雅黑" pitchFamily="34" charset="-122"/>
                <a:ea typeface="微软雅黑" pitchFamily="34" charset="-122"/>
                <a:cs typeface="经典粗黑简" pitchFamily="49" charset="-122"/>
              </a:rPr>
              <a:t>）时，称该</a:t>
            </a:r>
            <a:r>
              <a:rPr kumimoji="1" lang="zh-CN" altLang="en-US" sz="2000" dirty="0">
                <a:solidFill>
                  <a:srgbClr val="FF0000"/>
                </a:solidFill>
                <a:latin typeface="微软雅黑" pitchFamily="34" charset="-122"/>
                <a:ea typeface="微软雅黑" pitchFamily="34" charset="-122"/>
                <a:cs typeface="经典粗黑简" pitchFamily="49" charset="-122"/>
              </a:rPr>
              <a:t>层是满的</a:t>
            </a:r>
            <a:r>
              <a:rPr kumimoji="1" lang="zh-CN" altLang="en-US" sz="2000" dirty="0">
                <a:latin typeface="微软雅黑" pitchFamily="34" charset="-122"/>
                <a:ea typeface="微软雅黑" pitchFamily="34" charset="-122"/>
                <a:cs typeface="经典粗黑简" pitchFamily="49" charset="-122"/>
              </a:rPr>
              <a:t>，若一颗</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次树的每一层都是满的，则称该树为</a:t>
            </a:r>
            <a:r>
              <a:rPr kumimoji="1" lang="zh-CN" altLang="en-US" sz="2000" dirty="0">
                <a:solidFill>
                  <a:srgbClr val="FF0000"/>
                </a:solidFill>
                <a:latin typeface="微软雅黑" pitchFamily="34" charset="-122"/>
                <a:ea typeface="微软雅黑" pitchFamily="34" charset="-122"/>
                <a:cs typeface="经典粗黑简" pitchFamily="49" charset="-122"/>
              </a:rPr>
              <a:t>满</a:t>
            </a:r>
            <a:r>
              <a:rPr kumimoji="1" lang="en-US" altLang="zh-CN" sz="2000" dirty="0">
                <a:solidFill>
                  <a:srgbClr val="FF0000"/>
                </a:solidFill>
                <a:latin typeface="微软雅黑" pitchFamily="34" charset="-122"/>
                <a:ea typeface="微软雅黑" pitchFamily="34" charset="-122"/>
                <a:cs typeface="经典粗黑简" pitchFamily="49" charset="-122"/>
              </a:rPr>
              <a:t>m</a:t>
            </a:r>
            <a:r>
              <a:rPr kumimoji="1" lang="zh-CN" altLang="en-US" sz="2000" dirty="0">
                <a:solidFill>
                  <a:srgbClr val="FF0000"/>
                </a:solidFill>
                <a:latin typeface="微软雅黑" pitchFamily="34" charset="-122"/>
                <a:ea typeface="微软雅黑" pitchFamily="34" charset="-122"/>
                <a:cs typeface="经典粗黑简" pitchFamily="49" charset="-122"/>
              </a:rPr>
              <a:t>次树</a:t>
            </a:r>
            <a:r>
              <a:rPr kumimoji="1" lang="zh-CN" altLang="en-US" sz="2000" dirty="0">
                <a:latin typeface="微软雅黑" pitchFamily="34" charset="-122"/>
                <a:ea typeface="微软雅黑" pitchFamily="34" charset="-122"/>
                <a:cs typeface="经典粗黑简" pitchFamily="49" charset="-122"/>
              </a:rPr>
              <a:t>。满</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次树是所有高度相同的</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次树中结点最多的树，或者说，对于</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个结点构造的</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次树中，满</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次树或者接近满</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次树的高度最小。</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9139D41-CC3D-5E49-F6EB-F14E4CFA192B}"/>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57DAE417-8BFB-C3A2-C564-98F11B5CD76A}"/>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3" name="Rectangle 2">
            <a:extLst>
              <a:ext uri="{FF2B5EF4-FFF2-40B4-BE49-F238E27FC236}">
                <a16:creationId xmlns:a16="http://schemas.microsoft.com/office/drawing/2014/main" xmlns="" id="{4B33E71D-B53A-35B2-2328-6556A6A92895}"/>
              </a:ext>
            </a:extLst>
          </p:cNvPr>
          <p:cNvSpPr txBox="1">
            <a:spLocks noChangeArrowheads="1"/>
          </p:cNvSpPr>
          <p:nvPr/>
        </p:nvSpPr>
        <p:spPr>
          <a:xfrm>
            <a:off x="79920" y="836712"/>
            <a:ext cx="27757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7.1.4 </a:t>
            </a:r>
            <a:r>
              <a:rPr lang="zh-CN" altLang="en-US" dirty="0"/>
              <a:t>树的性质</a:t>
            </a:r>
          </a:p>
        </p:txBody>
      </p:sp>
      <p:cxnSp>
        <p:nvCxnSpPr>
          <p:cNvPr id="5" name="直接连接符 4">
            <a:extLst>
              <a:ext uri="{FF2B5EF4-FFF2-40B4-BE49-F238E27FC236}">
                <a16:creationId xmlns:a16="http://schemas.microsoft.com/office/drawing/2014/main" xmlns="" id="{B160610F-4101-E30C-54A9-FCF1E85F07DF}"/>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Text Box 5">
            <a:extLst>
              <a:ext uri="{FF2B5EF4-FFF2-40B4-BE49-F238E27FC236}">
                <a16:creationId xmlns:a16="http://schemas.microsoft.com/office/drawing/2014/main" xmlns="" id="{0C28FF75-0167-8793-9473-B935771E15AB}"/>
              </a:ext>
            </a:extLst>
          </p:cNvPr>
          <p:cNvSpPr txBox="1">
            <a:spLocks noChangeArrowheads="1"/>
          </p:cNvSpPr>
          <p:nvPr/>
        </p:nvSpPr>
        <p:spPr bwMode="auto">
          <a:xfrm>
            <a:off x="1775520" y="1641683"/>
            <a:ext cx="5659051" cy="446276"/>
          </a:xfrm>
          <a:prstGeom prst="rect">
            <a:avLst/>
          </a:prstGeom>
          <a:noFill/>
          <a:ln w="9525">
            <a:noFill/>
            <a:miter lim="800000"/>
            <a:headEnd/>
            <a:tailEnd/>
          </a:ln>
          <a:effectLst/>
        </p:spPr>
        <p:txBody>
          <a:bodyPr wrap="square">
            <a:spAutoFit/>
          </a:bodyPr>
          <a:lstStyle/>
          <a:p>
            <a:pPr algn="just">
              <a:lnSpc>
                <a:spcPct val="120000"/>
              </a:lnSpc>
              <a:spcBef>
                <a:spcPct val="50000"/>
              </a:spcBef>
            </a:pPr>
            <a:r>
              <a:rPr kumimoji="1" lang="zh-CN" altLang="en-US" sz="2000" dirty="0">
                <a:solidFill>
                  <a:srgbClr val="FF0000"/>
                </a:solidFill>
                <a:latin typeface="微软雅黑" pitchFamily="34" charset="-122"/>
                <a:ea typeface="微软雅黑" pitchFamily="34" charset="-122"/>
                <a:cs typeface="经典粗黑简" pitchFamily="49" charset="-122"/>
              </a:rPr>
              <a:t>性质</a:t>
            </a:r>
            <a:r>
              <a:rPr kumimoji="1" lang="en-US" altLang="zh-CN" sz="2000" dirty="0">
                <a:solidFill>
                  <a:srgbClr val="FF0000"/>
                </a:solidFill>
                <a:latin typeface="微软雅黑" pitchFamily="34" charset="-122"/>
                <a:ea typeface="微软雅黑" pitchFamily="34" charset="-122"/>
                <a:cs typeface="经典粗黑简" pitchFamily="49" charset="-122"/>
              </a:rPr>
              <a:t>3  </a:t>
            </a:r>
            <a:r>
              <a:rPr kumimoji="1" lang="zh-CN" altLang="en-US" sz="2000" dirty="0">
                <a:latin typeface="微软雅黑" pitchFamily="34" charset="-122"/>
                <a:ea typeface="微软雅黑" pitchFamily="34" charset="-122"/>
                <a:cs typeface="经典粗黑简" pitchFamily="49" charset="-122"/>
              </a:rPr>
              <a:t>高度为</a:t>
            </a:r>
            <a:r>
              <a:rPr kumimoji="1" lang="en-US" altLang="zh-CN" sz="2000" dirty="0">
                <a:latin typeface="微软雅黑" pitchFamily="34" charset="-122"/>
                <a:ea typeface="微软雅黑" pitchFamily="34" charset="-122"/>
                <a:cs typeface="经典粗黑简" pitchFamily="49" charset="-122"/>
              </a:rPr>
              <a:t>h</a:t>
            </a:r>
            <a:r>
              <a:rPr kumimoji="1" lang="zh-CN" altLang="en-US" sz="2000" dirty="0">
                <a:latin typeface="微软雅黑" pitchFamily="34" charset="-122"/>
                <a:ea typeface="微软雅黑" pitchFamily="34" charset="-122"/>
                <a:cs typeface="经典粗黑简" pitchFamily="49" charset="-122"/>
              </a:rPr>
              <a:t>的</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次树至多</a:t>
            </a:r>
            <a:r>
              <a:rPr kumimoji="1" lang="zh-CN" altLang="en-US" sz="2000" dirty="0">
                <a:latin typeface="Consolas" pitchFamily="49" charset="0"/>
                <a:ea typeface="华文中宋" pitchFamily="2" charset="-122"/>
                <a:cs typeface="Consolas" pitchFamily="49" charset="0"/>
              </a:rPr>
              <a:t>有       </a:t>
            </a:r>
            <a:r>
              <a:rPr kumimoji="1" lang="zh-CN" altLang="en-US" sz="2000" dirty="0">
                <a:latin typeface="微软雅黑" pitchFamily="34" charset="-122"/>
                <a:ea typeface="微软雅黑" pitchFamily="34" charset="-122"/>
                <a:cs typeface="经典粗黑简" pitchFamily="49" charset="-122"/>
              </a:rPr>
              <a:t>个结点</a:t>
            </a:r>
            <a:r>
              <a:rPr kumimoji="1" lang="zh-CN" altLang="en-US" sz="2000" dirty="0">
                <a:latin typeface="Consolas" pitchFamily="49" charset="0"/>
                <a:ea typeface="华文中宋" pitchFamily="2" charset="-122"/>
                <a:cs typeface="Consolas" pitchFamily="49" charset="0"/>
              </a:rPr>
              <a:t>。</a:t>
            </a:r>
          </a:p>
        </p:txBody>
      </p:sp>
      <p:graphicFrame>
        <p:nvGraphicFramePr>
          <p:cNvPr id="15" name="Object 6">
            <a:extLst>
              <a:ext uri="{FF2B5EF4-FFF2-40B4-BE49-F238E27FC236}">
                <a16:creationId xmlns:a16="http://schemas.microsoft.com/office/drawing/2014/main" xmlns="" id="{7D42D6AF-7336-1E46-2196-B6BBCFAF1377}"/>
              </a:ext>
            </a:extLst>
          </p:cNvPr>
          <p:cNvGraphicFramePr>
            <a:graphicFrameLocks noChangeAspect="1"/>
          </p:cNvGraphicFramePr>
          <p:nvPr>
            <p:extLst>
              <p:ext uri="{D42A27DB-BD31-4B8C-83A1-F6EECF244321}">
                <p14:modId xmlns:p14="http://schemas.microsoft.com/office/powerpoint/2010/main" val="1122352576"/>
              </p:ext>
            </p:extLst>
          </p:nvPr>
        </p:nvGraphicFramePr>
        <p:xfrm>
          <a:off x="5663952" y="1527413"/>
          <a:ext cx="679450" cy="628650"/>
        </p:xfrm>
        <a:graphic>
          <a:graphicData uri="http://schemas.openxmlformats.org/presentationml/2006/ole">
            <mc:AlternateContent xmlns:mc="http://schemas.openxmlformats.org/markup-compatibility/2006">
              <mc:Choice xmlns:v="urn:schemas-microsoft-com:vml" Requires="v">
                <p:oleObj spid="_x0000_s1026" name="Equation" r:id="rId3" imgW="457200" imgH="419040" progId="">
                  <p:embed/>
                </p:oleObj>
              </mc:Choice>
              <mc:Fallback>
                <p:oleObj name="Equation" r:id="rId3" imgW="457200" imgH="419040" progId="">
                  <p:embed/>
                  <p:pic>
                    <p:nvPicPr>
                      <p:cNvPr id="15" name="Object 6">
                        <a:extLst>
                          <a:ext uri="{FF2B5EF4-FFF2-40B4-BE49-F238E27FC236}">
                            <a16:creationId xmlns:a16="http://schemas.microsoft.com/office/drawing/2014/main" xmlns="" id="{9507CCB1-6C9A-21D5-F6BA-2F71C25308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3952" y="1527413"/>
                        <a:ext cx="679450"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6" name="组合 9">
            <a:extLst>
              <a:ext uri="{FF2B5EF4-FFF2-40B4-BE49-F238E27FC236}">
                <a16:creationId xmlns:a16="http://schemas.microsoft.com/office/drawing/2014/main" xmlns="" id="{186CE08D-6ECA-D7DE-79B7-640BB3F28AB7}"/>
              </a:ext>
            </a:extLst>
          </p:cNvPr>
          <p:cNvGrpSpPr/>
          <p:nvPr/>
        </p:nvGrpSpPr>
        <p:grpSpPr>
          <a:xfrm>
            <a:off x="1775520" y="2334653"/>
            <a:ext cx="3571900" cy="2644243"/>
            <a:chOff x="928662" y="1500174"/>
            <a:chExt cx="3571900" cy="2644243"/>
          </a:xfrm>
        </p:grpSpPr>
        <p:sp>
          <p:nvSpPr>
            <p:cNvPr id="17" name="TextBox 4">
              <a:extLst>
                <a:ext uri="{FF2B5EF4-FFF2-40B4-BE49-F238E27FC236}">
                  <a16:creationId xmlns:a16="http://schemas.microsoft.com/office/drawing/2014/main" xmlns="" id="{4FCB6CB6-88B6-7886-6407-02BF473A0CB2}"/>
                </a:ext>
              </a:extLst>
            </p:cNvPr>
            <p:cNvSpPr txBox="1"/>
            <p:nvPr/>
          </p:nvSpPr>
          <p:spPr>
            <a:xfrm>
              <a:off x="928662" y="1500174"/>
              <a:ext cx="3571900" cy="400110"/>
            </a:xfrm>
            <a:prstGeom prst="rect">
              <a:avLst/>
            </a:prstGeom>
            <a:noFill/>
          </p:spPr>
          <p:txBody>
            <a:bodyPr wrap="square" rtlCol="0">
              <a:spAutoFit/>
            </a:bodyPr>
            <a:lstStyle/>
            <a:p>
              <a:pPr algn="l"/>
              <a:r>
                <a:rPr kumimoji="1" lang="en-US" altLang="zh-CN" sz="2000" i="1" dirty="0">
                  <a:latin typeface="Consolas" pitchFamily="49" charset="0"/>
                  <a:ea typeface="楷体" pitchFamily="49" charset="-122"/>
                  <a:cs typeface="Consolas" pitchFamily="49" charset="0"/>
                </a:rPr>
                <a:t>m</a:t>
              </a:r>
              <a:r>
                <a:rPr kumimoji="1" lang="zh-CN" altLang="en-US" sz="2000" dirty="0">
                  <a:latin typeface="Consolas" pitchFamily="49" charset="0"/>
                  <a:ea typeface="楷体" pitchFamily="49" charset="-122"/>
                  <a:cs typeface="Consolas" pitchFamily="49" charset="0"/>
                </a:rPr>
                <a:t>次树每层最多结点数：</a:t>
              </a:r>
              <a:endParaRPr lang="zh-CN" altLang="en-US" sz="2000" dirty="0">
                <a:latin typeface="Consolas" pitchFamily="49" charset="0"/>
                <a:cs typeface="Consolas" pitchFamily="49" charset="0"/>
              </a:endParaRPr>
            </a:p>
          </p:txBody>
        </p:sp>
        <p:sp>
          <p:nvSpPr>
            <p:cNvPr id="18" name="TextBox 6">
              <a:extLst>
                <a:ext uri="{FF2B5EF4-FFF2-40B4-BE49-F238E27FC236}">
                  <a16:creationId xmlns:a16="http://schemas.microsoft.com/office/drawing/2014/main" xmlns="" id="{8AAA96EB-5D40-C3AA-810E-114BF14913DF}"/>
                </a:ext>
              </a:extLst>
            </p:cNvPr>
            <p:cNvSpPr txBox="1"/>
            <p:nvPr/>
          </p:nvSpPr>
          <p:spPr>
            <a:xfrm>
              <a:off x="1000100" y="2000240"/>
              <a:ext cx="2571768" cy="2144177"/>
            </a:xfrm>
            <a:prstGeom prst="rect">
              <a:avLst/>
            </a:prstGeom>
            <a:noFill/>
          </p:spPr>
          <p:txBody>
            <a:bodyPr wrap="square" rtlCol="0">
              <a:spAutoFit/>
            </a:bodyPr>
            <a:lstStyle/>
            <a:p>
              <a:pPr marL="457200" indent="-457200">
                <a:lnSpc>
                  <a:spcPts val="3200"/>
                </a:lnSpc>
                <a:buBlip>
                  <a:blip r:embed="rId5"/>
                </a:buBlip>
              </a:pPr>
              <a:r>
                <a:rPr lang="zh-CN" altLang="en-US" sz="2000" dirty="0">
                  <a:latin typeface="Consolas" pitchFamily="49" charset="0"/>
                  <a:ea typeface="仿宋" pitchFamily="49" charset="-122"/>
                  <a:cs typeface="Consolas" pitchFamily="49" charset="0"/>
                </a:rPr>
                <a:t>第</a:t>
              </a:r>
              <a:r>
                <a:rPr lang="en-US" altLang="zh-CN" sz="2000" dirty="0">
                  <a:latin typeface="Consolas" pitchFamily="49" charset="0"/>
                  <a:ea typeface="仿宋" pitchFamily="49" charset="-122"/>
                  <a:cs typeface="Consolas" pitchFamily="49" charset="0"/>
                </a:rPr>
                <a:t>1</a:t>
              </a:r>
              <a:r>
                <a:rPr lang="zh-CN" altLang="en-US" sz="2000" dirty="0">
                  <a:latin typeface="Consolas" pitchFamily="49" charset="0"/>
                  <a:ea typeface="仿宋" pitchFamily="49" charset="-122"/>
                  <a:cs typeface="Consolas" pitchFamily="49" charset="0"/>
                </a:rPr>
                <a:t>层：</a:t>
              </a:r>
              <a:r>
                <a:rPr lang="en-US" altLang="zh-CN" sz="2000" dirty="0">
                  <a:latin typeface="Consolas" pitchFamily="49" charset="0"/>
                  <a:ea typeface="仿宋" pitchFamily="49" charset="-122"/>
                  <a:cs typeface="Consolas" pitchFamily="49" charset="0"/>
                </a:rPr>
                <a:t>m</a:t>
              </a:r>
              <a:r>
                <a:rPr lang="en-US" altLang="zh-CN" sz="2000" baseline="30000" dirty="0">
                  <a:latin typeface="Consolas" pitchFamily="49" charset="0"/>
                  <a:ea typeface="仿宋" pitchFamily="49" charset="-122"/>
                  <a:cs typeface="Consolas" pitchFamily="49" charset="0"/>
                </a:rPr>
                <a:t>0</a:t>
              </a:r>
            </a:p>
            <a:p>
              <a:pPr marL="457200" indent="-457200">
                <a:lnSpc>
                  <a:spcPts val="3200"/>
                </a:lnSpc>
                <a:buBlip>
                  <a:blip r:embed="rId5"/>
                </a:buBlip>
              </a:pPr>
              <a:r>
                <a:rPr lang="zh-CN" altLang="en-US" sz="2000" dirty="0">
                  <a:latin typeface="Consolas" pitchFamily="49" charset="0"/>
                  <a:ea typeface="仿宋" pitchFamily="49" charset="-122"/>
                  <a:cs typeface="Consolas" pitchFamily="49" charset="0"/>
                </a:rPr>
                <a:t>第</a:t>
              </a:r>
              <a:r>
                <a:rPr lang="en-US" altLang="zh-CN" sz="2000" dirty="0">
                  <a:latin typeface="Consolas" pitchFamily="49" charset="0"/>
                  <a:ea typeface="仿宋" pitchFamily="49" charset="-122"/>
                  <a:cs typeface="Consolas" pitchFamily="49" charset="0"/>
                </a:rPr>
                <a:t>2</a:t>
              </a:r>
              <a:r>
                <a:rPr lang="zh-CN" altLang="en-US" sz="2000" dirty="0">
                  <a:latin typeface="Consolas" pitchFamily="49" charset="0"/>
                  <a:ea typeface="仿宋" pitchFamily="49" charset="-122"/>
                  <a:cs typeface="Consolas" pitchFamily="49" charset="0"/>
                </a:rPr>
                <a:t>层：</a:t>
              </a:r>
              <a:r>
                <a:rPr lang="en-US" altLang="zh-CN" sz="2000" i="1" dirty="0">
                  <a:latin typeface="Consolas" pitchFamily="49" charset="0"/>
                  <a:ea typeface="仿宋" pitchFamily="49" charset="-122"/>
                  <a:cs typeface="Consolas" pitchFamily="49" charset="0"/>
                </a:rPr>
                <a:t>m</a:t>
              </a:r>
              <a:r>
                <a:rPr lang="en-US" altLang="zh-CN" sz="2000" baseline="30000" dirty="0">
                  <a:latin typeface="Consolas" pitchFamily="49" charset="0"/>
                  <a:ea typeface="仿宋" pitchFamily="49" charset="-122"/>
                  <a:cs typeface="Consolas" pitchFamily="49" charset="0"/>
                </a:rPr>
                <a:t>1</a:t>
              </a:r>
            </a:p>
            <a:p>
              <a:pPr marL="457200" indent="-457200">
                <a:lnSpc>
                  <a:spcPts val="3200"/>
                </a:lnSpc>
                <a:buBlip>
                  <a:blip r:embed="rId5"/>
                </a:buBlip>
              </a:pPr>
              <a:r>
                <a:rPr lang="zh-CN" altLang="en-US" sz="2000" dirty="0">
                  <a:latin typeface="Consolas" pitchFamily="49" charset="0"/>
                  <a:ea typeface="仿宋" pitchFamily="49" charset="-122"/>
                  <a:cs typeface="Consolas" pitchFamily="49" charset="0"/>
                </a:rPr>
                <a:t>第</a:t>
              </a:r>
              <a:r>
                <a:rPr lang="en-US" altLang="zh-CN" sz="2000" dirty="0">
                  <a:latin typeface="Consolas" pitchFamily="49" charset="0"/>
                  <a:ea typeface="仿宋" pitchFamily="49" charset="-122"/>
                  <a:cs typeface="Consolas" pitchFamily="49" charset="0"/>
                </a:rPr>
                <a:t>3</a:t>
              </a:r>
              <a:r>
                <a:rPr lang="zh-CN" altLang="en-US" sz="2000" dirty="0">
                  <a:latin typeface="Consolas" pitchFamily="49" charset="0"/>
                  <a:ea typeface="仿宋" pitchFamily="49" charset="-122"/>
                  <a:cs typeface="Consolas" pitchFamily="49" charset="0"/>
                </a:rPr>
                <a:t>层：</a:t>
              </a:r>
              <a:r>
                <a:rPr lang="en-US" altLang="zh-CN" sz="2000" i="1" dirty="0">
                  <a:latin typeface="Consolas" pitchFamily="49" charset="0"/>
                  <a:ea typeface="仿宋" pitchFamily="49" charset="-122"/>
                  <a:cs typeface="Consolas" pitchFamily="49" charset="0"/>
                </a:rPr>
                <a:t>m</a:t>
              </a:r>
              <a:r>
                <a:rPr lang="en-US" altLang="zh-CN" sz="2000" baseline="30000" dirty="0">
                  <a:latin typeface="Consolas" pitchFamily="49" charset="0"/>
                  <a:ea typeface="仿宋" pitchFamily="49" charset="-122"/>
                  <a:cs typeface="Consolas" pitchFamily="49" charset="0"/>
                </a:rPr>
                <a:t>2</a:t>
              </a:r>
              <a:endParaRPr lang="en-US" altLang="zh-CN" sz="2000" dirty="0">
                <a:latin typeface="Consolas" pitchFamily="49" charset="0"/>
                <a:ea typeface="仿宋" pitchFamily="49" charset="-122"/>
                <a:cs typeface="Consolas" pitchFamily="49" charset="0"/>
              </a:endParaRPr>
            </a:p>
            <a:p>
              <a:pPr marL="457200" indent="-457200">
                <a:lnSpc>
                  <a:spcPts val="3200"/>
                </a:lnSpc>
                <a:buBlip>
                  <a:blip r:embed="rId5"/>
                </a:buBlip>
              </a:pPr>
              <a:r>
                <a:rPr lang="en-US" altLang="zh-CN" sz="2000" dirty="0">
                  <a:latin typeface="Consolas" pitchFamily="49" charset="0"/>
                  <a:ea typeface="仿宋" pitchFamily="49" charset="-122"/>
                  <a:cs typeface="Consolas" pitchFamily="49" charset="0"/>
                  <a:sym typeface="Symbol"/>
                </a:rPr>
                <a:t></a:t>
              </a:r>
              <a:endParaRPr lang="en-US" altLang="zh-CN" sz="2000" dirty="0">
                <a:latin typeface="Consolas" pitchFamily="49" charset="0"/>
                <a:ea typeface="仿宋" pitchFamily="49" charset="-122"/>
                <a:cs typeface="Consolas" pitchFamily="49" charset="0"/>
              </a:endParaRPr>
            </a:p>
            <a:p>
              <a:pPr marL="457200" indent="-457200">
                <a:lnSpc>
                  <a:spcPts val="3200"/>
                </a:lnSpc>
                <a:buBlip>
                  <a:blip r:embed="rId5"/>
                </a:buBlip>
              </a:pPr>
              <a:r>
                <a:rPr lang="zh-CN" altLang="en-US" sz="2000" dirty="0">
                  <a:latin typeface="Consolas" pitchFamily="49" charset="0"/>
                  <a:ea typeface="仿宋" pitchFamily="49" charset="-122"/>
                  <a:cs typeface="Consolas" pitchFamily="49" charset="0"/>
                </a:rPr>
                <a:t>第</a:t>
              </a:r>
              <a:r>
                <a:rPr lang="en-US" altLang="zh-CN" sz="2000" i="1" dirty="0">
                  <a:latin typeface="Consolas" pitchFamily="49" charset="0"/>
                  <a:ea typeface="仿宋" pitchFamily="49" charset="-122"/>
                  <a:cs typeface="Consolas" pitchFamily="49" charset="0"/>
                </a:rPr>
                <a:t>h</a:t>
              </a:r>
              <a:r>
                <a:rPr lang="zh-CN" altLang="en-US" sz="2000" dirty="0">
                  <a:latin typeface="Consolas" pitchFamily="49" charset="0"/>
                  <a:ea typeface="仿宋" pitchFamily="49" charset="-122"/>
                  <a:cs typeface="Consolas" pitchFamily="49" charset="0"/>
                </a:rPr>
                <a:t>层：</a:t>
              </a:r>
              <a:r>
                <a:rPr lang="en-US" altLang="zh-CN" sz="2000" dirty="0">
                  <a:latin typeface="Consolas" pitchFamily="49" charset="0"/>
                  <a:ea typeface="仿宋" pitchFamily="49" charset="-122"/>
                  <a:cs typeface="Consolas" pitchFamily="49" charset="0"/>
                </a:rPr>
                <a:t> </a:t>
              </a:r>
              <a:r>
                <a:rPr lang="en-US" altLang="zh-CN" sz="2000" i="1" dirty="0">
                  <a:latin typeface="Consolas" pitchFamily="49" charset="0"/>
                  <a:ea typeface="仿宋" pitchFamily="49" charset="-122"/>
                  <a:cs typeface="Consolas" pitchFamily="49" charset="0"/>
                </a:rPr>
                <a:t>m</a:t>
              </a:r>
              <a:r>
                <a:rPr lang="en-US" altLang="zh-CN" sz="2000" i="1" baseline="30000" dirty="0">
                  <a:latin typeface="Consolas" pitchFamily="49" charset="0"/>
                  <a:ea typeface="仿宋" pitchFamily="49" charset="-122"/>
                  <a:cs typeface="Consolas" pitchFamily="49" charset="0"/>
                </a:rPr>
                <a:t>h</a:t>
              </a:r>
              <a:r>
                <a:rPr lang="en-US" altLang="zh-CN" sz="2000" baseline="30000" dirty="0">
                  <a:latin typeface="Consolas" pitchFamily="49" charset="0"/>
                  <a:ea typeface="仿宋" pitchFamily="49" charset="-122"/>
                  <a:cs typeface="Consolas" pitchFamily="49" charset="0"/>
                </a:rPr>
                <a:t>-1</a:t>
              </a:r>
              <a:endParaRPr lang="zh-CN" altLang="en-US" sz="2000" dirty="0">
                <a:latin typeface="Consolas" pitchFamily="49" charset="0"/>
                <a:ea typeface="仿宋" pitchFamily="49" charset="-122"/>
                <a:cs typeface="Consolas" pitchFamily="49" charset="0"/>
              </a:endParaRPr>
            </a:p>
          </p:txBody>
        </p:sp>
        <p:sp>
          <p:nvSpPr>
            <p:cNvPr id="19" name="右大括号 18">
              <a:extLst>
                <a:ext uri="{FF2B5EF4-FFF2-40B4-BE49-F238E27FC236}">
                  <a16:creationId xmlns:a16="http://schemas.microsoft.com/office/drawing/2014/main" xmlns="" id="{517AC970-122A-2938-0531-86FE67BEA64E}"/>
                </a:ext>
              </a:extLst>
            </p:cNvPr>
            <p:cNvSpPr/>
            <p:nvPr/>
          </p:nvSpPr>
          <p:spPr>
            <a:xfrm>
              <a:off x="3143240" y="2143116"/>
              <a:ext cx="142876" cy="1785950"/>
            </a:xfrm>
            <a:prstGeom prst="righ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sz="2000"/>
            </a:p>
          </p:txBody>
        </p:sp>
        <p:pic>
          <p:nvPicPr>
            <p:cNvPr id="20" name="Picture 8">
              <a:extLst>
                <a:ext uri="{FF2B5EF4-FFF2-40B4-BE49-F238E27FC236}">
                  <a16:creationId xmlns:a16="http://schemas.microsoft.com/office/drawing/2014/main" xmlns="" id="{2418752C-8C47-6D47-A775-E25E2B509E13}"/>
                </a:ext>
              </a:extLst>
            </p:cNvPr>
            <p:cNvPicPr>
              <a:picLocks noChangeAspect="1" noChangeArrowheads="1"/>
            </p:cNvPicPr>
            <p:nvPr/>
          </p:nvPicPr>
          <p:blipFill>
            <a:blip r:embed="rId6" cstate="print"/>
            <a:srcRect/>
            <a:stretch>
              <a:fillRect/>
            </a:stretch>
          </p:blipFill>
          <p:spPr bwMode="auto">
            <a:xfrm>
              <a:off x="3367085" y="2643182"/>
              <a:ext cx="847725" cy="657225"/>
            </a:xfrm>
            <a:prstGeom prst="rect">
              <a:avLst/>
            </a:prstGeom>
            <a:noFill/>
            <a:ln w="9525">
              <a:noFill/>
              <a:miter lim="800000"/>
              <a:headEnd/>
              <a:tailEnd/>
            </a:ln>
          </p:spPr>
        </p:pic>
      </p:grpSp>
      <p:sp>
        <p:nvSpPr>
          <p:cNvPr id="21" name="文本框 20">
            <a:extLst>
              <a:ext uri="{FF2B5EF4-FFF2-40B4-BE49-F238E27FC236}">
                <a16:creationId xmlns:a16="http://schemas.microsoft.com/office/drawing/2014/main" xmlns="" id="{55E05042-7AD9-4880-F370-4183CA439AD5}"/>
              </a:ext>
            </a:extLst>
          </p:cNvPr>
          <p:cNvSpPr txBox="1"/>
          <p:nvPr/>
        </p:nvSpPr>
        <p:spPr>
          <a:xfrm>
            <a:off x="1985556" y="5216235"/>
            <a:ext cx="6198676" cy="369332"/>
          </a:xfrm>
          <a:prstGeom prst="rect">
            <a:avLst/>
          </a:prstGeom>
          <a:noFill/>
        </p:spPr>
        <p:txBody>
          <a:bodyPr wrap="square">
            <a:spAutoFit/>
          </a:bodyPr>
          <a:lstStyle/>
          <a:p>
            <a:r>
              <a:rPr kumimoji="1" lang="zh-CN" altLang="en-US" dirty="0">
                <a:latin typeface="微软雅黑" pitchFamily="34" charset="-122"/>
                <a:ea typeface="微软雅黑" pitchFamily="34" charset="-122"/>
                <a:cs typeface="经典粗黑简" pitchFamily="49" charset="-122"/>
              </a:rPr>
              <a:t>高度为</a:t>
            </a:r>
            <a:r>
              <a:rPr kumimoji="1" lang="en-US" altLang="zh-CN" dirty="0">
                <a:latin typeface="微软雅黑" pitchFamily="34" charset="-122"/>
                <a:ea typeface="微软雅黑" pitchFamily="34" charset="-122"/>
                <a:cs typeface="经典粗黑简" pitchFamily="49" charset="-122"/>
              </a:rPr>
              <a:t>h</a:t>
            </a:r>
            <a:r>
              <a:rPr kumimoji="1" lang="zh-CN" altLang="en-US" dirty="0">
                <a:latin typeface="微软雅黑" pitchFamily="34" charset="-122"/>
                <a:ea typeface="微软雅黑" pitchFamily="34" charset="-122"/>
                <a:cs typeface="经典粗黑简" pitchFamily="49" charset="-122"/>
              </a:rPr>
              <a:t>的</a:t>
            </a:r>
            <a:r>
              <a:rPr kumimoji="1" lang="en-US" altLang="zh-CN" dirty="0">
                <a:latin typeface="微软雅黑" pitchFamily="34" charset="-122"/>
                <a:ea typeface="微软雅黑" pitchFamily="34" charset="-122"/>
                <a:cs typeface="经典粗黑简" pitchFamily="49" charset="-122"/>
              </a:rPr>
              <a:t>m</a:t>
            </a:r>
            <a:r>
              <a:rPr kumimoji="1" lang="zh-CN" altLang="en-US" dirty="0">
                <a:latin typeface="微软雅黑" pitchFamily="34" charset="-122"/>
                <a:ea typeface="微软雅黑" pitchFamily="34" charset="-122"/>
                <a:cs typeface="经典粗黑简" pitchFamily="49" charset="-122"/>
              </a:rPr>
              <a:t>次树至多的结点数</a:t>
            </a:r>
            <a:r>
              <a:rPr kumimoji="1" lang="en-US" altLang="zh-CN" dirty="0">
                <a:latin typeface="微软雅黑" pitchFamily="34" charset="-122"/>
                <a:ea typeface="微软雅黑" pitchFamily="34" charset="-122"/>
                <a:cs typeface="经典粗黑简" pitchFamily="49" charset="-122"/>
              </a:rPr>
              <a:t>=</a:t>
            </a:r>
            <a:r>
              <a:rPr lang="en-US" altLang="zh-CN" sz="1800" dirty="0">
                <a:latin typeface="Consolas" pitchFamily="49" charset="0"/>
                <a:ea typeface="仿宋" pitchFamily="49" charset="-122"/>
                <a:cs typeface="Consolas" pitchFamily="49" charset="0"/>
              </a:rPr>
              <a:t>m</a:t>
            </a:r>
            <a:r>
              <a:rPr lang="en-US" altLang="zh-CN" sz="1800" baseline="30000" dirty="0">
                <a:latin typeface="Consolas" pitchFamily="49" charset="0"/>
                <a:ea typeface="仿宋" pitchFamily="49" charset="-122"/>
                <a:cs typeface="Consolas" pitchFamily="49" charset="0"/>
              </a:rPr>
              <a:t>0</a:t>
            </a:r>
            <a:r>
              <a:rPr lang="en-US" altLang="zh-CN" i="1" dirty="0">
                <a:latin typeface="Consolas" pitchFamily="49" charset="0"/>
                <a:ea typeface="仿宋" pitchFamily="49" charset="-122"/>
                <a:cs typeface="Consolas" pitchFamily="49" charset="0"/>
              </a:rPr>
              <a:t> + m</a:t>
            </a:r>
            <a:r>
              <a:rPr lang="en-US" altLang="zh-CN" baseline="30000" dirty="0">
                <a:latin typeface="Consolas" pitchFamily="49" charset="0"/>
                <a:ea typeface="仿宋" pitchFamily="49" charset="-122"/>
                <a:cs typeface="Consolas" pitchFamily="49" charset="0"/>
              </a:rPr>
              <a:t>1</a:t>
            </a:r>
            <a:r>
              <a:rPr lang="en-US" altLang="zh-CN" i="1" dirty="0">
                <a:latin typeface="Consolas" pitchFamily="49" charset="0"/>
                <a:ea typeface="仿宋" pitchFamily="49" charset="-122"/>
                <a:cs typeface="Consolas" pitchFamily="49" charset="0"/>
              </a:rPr>
              <a:t> + m</a:t>
            </a:r>
            <a:r>
              <a:rPr lang="en-US" altLang="zh-CN" i="1" baseline="30000" dirty="0">
                <a:latin typeface="Consolas" pitchFamily="49" charset="0"/>
                <a:ea typeface="仿宋" pitchFamily="49" charset="-122"/>
                <a:cs typeface="Consolas" pitchFamily="49" charset="0"/>
              </a:rPr>
              <a:t>2</a:t>
            </a:r>
            <a:r>
              <a:rPr lang="en-US" altLang="zh-CN" i="1" dirty="0">
                <a:latin typeface="Consolas" pitchFamily="49" charset="0"/>
                <a:ea typeface="仿宋" pitchFamily="49" charset="-122"/>
                <a:cs typeface="Consolas" pitchFamily="49" charset="0"/>
              </a:rPr>
              <a:t> + </a:t>
            </a:r>
            <a:r>
              <a:rPr lang="en-US" altLang="zh-CN" i="1" dirty="0">
                <a:latin typeface="Consolas" pitchFamily="49" charset="0"/>
                <a:ea typeface="仿宋" pitchFamily="49" charset="-122"/>
                <a:cs typeface="Consolas" pitchFamily="49" charset="0"/>
                <a:sym typeface="Wingdings 2" panose="05020102010507070707" pitchFamily="18" charset="2"/>
              </a:rPr>
              <a:t>+</a:t>
            </a:r>
            <a:r>
              <a:rPr lang="en-US" altLang="zh-CN" i="1" dirty="0">
                <a:latin typeface="Consolas" pitchFamily="49" charset="0"/>
                <a:ea typeface="仿宋" pitchFamily="49" charset="-122"/>
                <a:cs typeface="Consolas" pitchFamily="49" charset="0"/>
              </a:rPr>
              <a:t>m</a:t>
            </a:r>
            <a:r>
              <a:rPr lang="en-US" altLang="zh-CN" i="1" baseline="30000" dirty="0">
                <a:latin typeface="Consolas" pitchFamily="49" charset="0"/>
                <a:ea typeface="仿宋" pitchFamily="49" charset="-122"/>
                <a:cs typeface="Consolas" pitchFamily="49" charset="0"/>
              </a:rPr>
              <a:t>h-</a:t>
            </a:r>
            <a:r>
              <a:rPr lang="en-US" altLang="zh-CN" baseline="30000" dirty="0">
                <a:latin typeface="Consolas" pitchFamily="49" charset="0"/>
                <a:ea typeface="仿宋" pitchFamily="49" charset="-122"/>
                <a:cs typeface="Consolas" pitchFamily="49" charset="0"/>
              </a:rPr>
              <a:t>1</a:t>
            </a:r>
            <a:r>
              <a:rPr kumimoji="1" lang="en-US" altLang="zh-CN" dirty="0">
                <a:latin typeface="微软雅黑" pitchFamily="34" charset="-122"/>
                <a:ea typeface="微软雅黑" pitchFamily="34" charset="-122"/>
                <a:cs typeface="经典粗黑简" pitchFamily="49" charset="-122"/>
              </a:rPr>
              <a:t> = </a:t>
            </a:r>
            <a:endParaRPr lang="zh-CN" altLang="en-US" dirty="0"/>
          </a:p>
        </p:txBody>
      </p:sp>
      <p:pic>
        <p:nvPicPr>
          <p:cNvPr id="4" name="Picture 8">
            <a:extLst>
              <a:ext uri="{FF2B5EF4-FFF2-40B4-BE49-F238E27FC236}">
                <a16:creationId xmlns:a16="http://schemas.microsoft.com/office/drawing/2014/main" xmlns="" id="{9BD9365C-B281-0826-A983-242CF71B9E5D}"/>
              </a:ext>
            </a:extLst>
          </p:cNvPr>
          <p:cNvPicPr>
            <a:picLocks noChangeAspect="1" noChangeArrowheads="1"/>
          </p:cNvPicPr>
          <p:nvPr/>
        </p:nvPicPr>
        <p:blipFill>
          <a:blip r:embed="rId6" cstate="print"/>
          <a:srcRect/>
          <a:stretch>
            <a:fillRect/>
          </a:stretch>
        </p:blipFill>
        <p:spPr bwMode="auto">
          <a:xfrm>
            <a:off x="8112224" y="5072288"/>
            <a:ext cx="847725" cy="657225"/>
          </a:xfrm>
          <a:prstGeom prst="rect">
            <a:avLst/>
          </a:prstGeom>
          <a:noFill/>
          <a:ln w="9525">
            <a:noFill/>
            <a:miter lim="800000"/>
            <a:headEnd/>
            <a:tailEnd/>
          </a:ln>
        </p:spPr>
      </p:pic>
    </p:spTree>
    <p:extLst>
      <p:ext uri="{BB962C8B-B14F-4D97-AF65-F5344CB8AC3E}">
        <p14:creationId xmlns:p14="http://schemas.microsoft.com/office/powerpoint/2010/main" val="467727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2063552" y="2017570"/>
            <a:ext cx="8583613" cy="433067"/>
          </a:xfrm>
          <a:prstGeom prst="rect">
            <a:avLst/>
          </a:prstGeom>
          <a:noFill/>
          <a:ln w="9525">
            <a:noFill/>
            <a:miter lim="800000"/>
            <a:headEnd/>
            <a:tailEnd/>
          </a:ln>
          <a:effectLst/>
        </p:spPr>
        <p:txBody>
          <a:bodyPr>
            <a:spAutoFit/>
          </a:bodyPr>
          <a:lstStyle/>
          <a:p>
            <a:pPr algn="just">
              <a:lnSpc>
                <a:spcPct val="120000"/>
              </a:lnSpc>
              <a:spcBef>
                <a:spcPct val="50000"/>
              </a:spcBef>
            </a:pPr>
            <a:r>
              <a:rPr kumimoji="1" lang="zh-CN" altLang="en-US" sz="2000" dirty="0">
                <a:solidFill>
                  <a:srgbClr val="FF0000"/>
                </a:solidFill>
                <a:latin typeface="微软雅黑" pitchFamily="34" charset="-122"/>
                <a:ea typeface="微软雅黑" pitchFamily="34" charset="-122"/>
                <a:cs typeface="经典粗黑简" pitchFamily="49" charset="-122"/>
              </a:rPr>
              <a:t>性质</a:t>
            </a:r>
            <a:r>
              <a:rPr kumimoji="1" lang="en-US" altLang="zh-CN" sz="2000" dirty="0">
                <a:solidFill>
                  <a:srgbClr val="FF0000"/>
                </a:solidFill>
                <a:latin typeface="微软雅黑" pitchFamily="34" charset="-122"/>
                <a:ea typeface="微软雅黑" pitchFamily="34" charset="-122"/>
                <a:cs typeface="经典粗黑简" pitchFamily="49" charset="-122"/>
              </a:rPr>
              <a:t>4 </a:t>
            </a:r>
            <a:r>
              <a:rPr kumimoji="1" lang="zh-CN" altLang="en-US" sz="2000" dirty="0">
                <a:latin typeface="微软雅黑" pitchFamily="34" charset="-122"/>
                <a:ea typeface="微软雅黑" pitchFamily="34" charset="-122"/>
                <a:cs typeface="经典粗黑简" pitchFamily="49" charset="-122"/>
              </a:rPr>
              <a:t>具有</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个结点的</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次树的</a:t>
            </a:r>
            <a:r>
              <a:rPr kumimoji="1" lang="zh-CN" altLang="en-US" sz="2000" dirty="0">
                <a:solidFill>
                  <a:srgbClr val="FF0000"/>
                </a:solidFill>
                <a:latin typeface="微软雅黑" pitchFamily="34" charset="-122"/>
                <a:ea typeface="微软雅黑" pitchFamily="34" charset="-122"/>
                <a:cs typeface="经典粗黑简" pitchFamily="49" charset="-122"/>
              </a:rPr>
              <a:t>最小高度</a:t>
            </a:r>
            <a:r>
              <a:rPr kumimoji="1" lang="zh-CN" altLang="en-US" sz="2000" dirty="0">
                <a:latin typeface="微软雅黑" pitchFamily="34" charset="-122"/>
                <a:ea typeface="微软雅黑" pitchFamily="34" charset="-122"/>
                <a:cs typeface="经典粗黑简" pitchFamily="49" charset="-122"/>
              </a:rPr>
              <a:t>为</a:t>
            </a:r>
            <a:r>
              <a:rPr kumimoji="1" lang="zh-CN" altLang="en-US" sz="2000" dirty="0">
                <a:latin typeface="Consolas" pitchFamily="49" charset="0"/>
                <a:ea typeface="华文中宋" pitchFamily="2" charset="-122"/>
                <a:cs typeface="Consolas" pitchFamily="49" charset="0"/>
                <a:sym typeface="Symbol" pitchFamily="18" charset="2"/>
              </a:rPr>
              <a:t></a:t>
            </a:r>
            <a:r>
              <a:rPr kumimoji="1" lang="en-US" altLang="zh-CN" sz="2000" dirty="0" err="1">
                <a:latin typeface="Consolas" pitchFamily="49" charset="0"/>
                <a:ea typeface="华文中宋" pitchFamily="2" charset="-122"/>
                <a:cs typeface="Consolas" pitchFamily="49" charset="0"/>
              </a:rPr>
              <a:t>log</a:t>
            </a:r>
            <a:r>
              <a:rPr kumimoji="1" lang="en-US" altLang="zh-CN" sz="2000" i="1" baseline="-30000" dirty="0" err="1">
                <a:latin typeface="Consolas" pitchFamily="49" charset="0"/>
                <a:ea typeface="华文中宋" pitchFamily="2" charset="-122"/>
                <a:cs typeface="Consolas" pitchFamily="49" charset="0"/>
              </a:rPr>
              <a:t>m</a:t>
            </a:r>
            <a:r>
              <a:rPr kumimoji="1" lang="en-US" altLang="zh-CN" sz="2000" dirty="0">
                <a:latin typeface="Consolas" pitchFamily="49" charset="0"/>
                <a:ea typeface="华文中宋" pitchFamily="2" charset="-122"/>
                <a:cs typeface="Consolas" pitchFamily="49" charset="0"/>
              </a:rPr>
              <a:t>(</a:t>
            </a:r>
            <a:r>
              <a:rPr kumimoji="1" lang="en-US" altLang="zh-CN" sz="2000" i="1" dirty="0">
                <a:latin typeface="Consolas" pitchFamily="49" charset="0"/>
                <a:ea typeface="华文中宋" pitchFamily="2" charset="-122"/>
                <a:cs typeface="Consolas" pitchFamily="49" charset="0"/>
              </a:rPr>
              <a:t>n</a:t>
            </a:r>
            <a:r>
              <a:rPr kumimoji="1" lang="en-US" altLang="zh-CN" sz="2000" dirty="0">
                <a:latin typeface="Consolas" pitchFamily="49" charset="0"/>
                <a:ea typeface="华文中宋" pitchFamily="2" charset="-122"/>
                <a:cs typeface="Consolas" pitchFamily="49" charset="0"/>
              </a:rPr>
              <a:t>(</a:t>
            </a:r>
            <a:r>
              <a:rPr kumimoji="1" lang="en-US" altLang="zh-CN" sz="2000" i="1" dirty="0">
                <a:latin typeface="Consolas" pitchFamily="49" charset="0"/>
                <a:ea typeface="华文中宋" pitchFamily="2" charset="-122"/>
                <a:cs typeface="Consolas" pitchFamily="49" charset="0"/>
              </a:rPr>
              <a:t>m</a:t>
            </a:r>
            <a:r>
              <a:rPr kumimoji="1" lang="en-US" altLang="zh-CN" sz="2000" dirty="0">
                <a:latin typeface="Consolas" pitchFamily="49" charset="0"/>
                <a:ea typeface="华文中宋" pitchFamily="2" charset="-122"/>
                <a:cs typeface="Consolas" pitchFamily="49" charset="0"/>
              </a:rPr>
              <a:t>-1)+1)</a:t>
            </a:r>
            <a:r>
              <a:rPr kumimoji="1" lang="en-US" altLang="zh-CN" sz="2000" dirty="0">
                <a:latin typeface="Consolas" pitchFamily="49" charset="0"/>
                <a:ea typeface="华文中宋" pitchFamily="2" charset="-122"/>
                <a:cs typeface="Consolas" pitchFamily="49" charset="0"/>
                <a:sym typeface="Symbol" pitchFamily="18" charset="2"/>
              </a:rPr>
              <a:t></a:t>
            </a:r>
            <a:r>
              <a:rPr kumimoji="1" lang="zh-CN" altLang="en-US" sz="2000" dirty="0">
                <a:latin typeface="Consolas" pitchFamily="49" charset="0"/>
                <a:ea typeface="华文中宋" pitchFamily="2" charset="-122"/>
                <a:cs typeface="Consolas" pitchFamily="49" charset="0"/>
              </a:rPr>
              <a:t>。</a:t>
            </a:r>
          </a:p>
        </p:txBody>
      </p:sp>
      <p:sp>
        <p:nvSpPr>
          <p:cNvPr id="57348" name="Rectangle 4"/>
          <p:cNvSpPr>
            <a:spLocks noChangeArrowheads="1"/>
          </p:cNvSpPr>
          <p:nvPr/>
        </p:nvSpPr>
        <p:spPr bwMode="auto">
          <a:xfrm>
            <a:off x="5881688" y="3257550"/>
            <a:ext cx="9144000" cy="369332"/>
          </a:xfrm>
          <a:prstGeom prst="rect">
            <a:avLst/>
          </a:prstGeom>
          <a:noFill/>
          <a:ln w="9525">
            <a:noFill/>
            <a:miter lim="800000"/>
            <a:headEnd/>
            <a:tailEnd/>
          </a:ln>
          <a:effectLst/>
        </p:spPr>
        <p:txBody>
          <a:bodyPr>
            <a:spAutoFit/>
          </a:bodyPr>
          <a:lstStyle/>
          <a:p>
            <a:endParaRPr lang="zh-CN" altLang="en-US"/>
          </a:p>
        </p:txBody>
      </p:sp>
      <p:grpSp>
        <p:nvGrpSpPr>
          <p:cNvPr id="2" name="组合 32"/>
          <p:cNvGrpSpPr/>
          <p:nvPr/>
        </p:nvGrpSpPr>
        <p:grpSpPr>
          <a:xfrm>
            <a:off x="2666947" y="2852936"/>
            <a:ext cx="7786741" cy="2179498"/>
            <a:chOff x="928663" y="1857364"/>
            <a:chExt cx="7786741" cy="2179498"/>
          </a:xfrm>
        </p:grpSpPr>
        <p:sp>
          <p:nvSpPr>
            <p:cNvPr id="7" name="Text Box 32"/>
            <p:cNvSpPr txBox="1">
              <a:spLocks noChangeArrowheads="1"/>
            </p:cNvSpPr>
            <p:nvPr/>
          </p:nvSpPr>
          <p:spPr bwMode="auto">
            <a:xfrm>
              <a:off x="1785918" y="1857364"/>
              <a:ext cx="1500198" cy="400110"/>
            </a:xfrm>
            <a:prstGeom prst="rect">
              <a:avLst/>
            </a:prstGeom>
            <a:noFill/>
            <a:ln w="9525">
              <a:noFill/>
              <a:miter lim="800000"/>
              <a:headEnd/>
              <a:tailEnd/>
            </a:ln>
            <a:effectLst/>
          </p:spPr>
          <p:txBody>
            <a:bodyPr wrap="square">
              <a:spAutoFit/>
            </a:bodyPr>
            <a:lstStyle/>
            <a:p>
              <a:pPr algn="l">
                <a:spcBef>
                  <a:spcPct val="50000"/>
                </a:spcBef>
              </a:pP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=10</a:t>
              </a:r>
              <a:r>
                <a:rPr lang="zh-CN" altLang="en-US"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m</a:t>
              </a:r>
              <a:r>
                <a:rPr lang="en-US" altLang="zh-CN" sz="2000">
                  <a:solidFill>
                    <a:srgbClr val="0000FF"/>
                  </a:solidFill>
                  <a:latin typeface="Consolas" pitchFamily="49" charset="0"/>
                  <a:ea typeface="楷体" pitchFamily="49" charset="-122"/>
                  <a:cs typeface="Consolas" pitchFamily="49" charset="0"/>
                </a:rPr>
                <a:t>=3</a:t>
              </a:r>
              <a:endParaRPr lang="zh-CN" altLang="en-US" sz="2000" dirty="0">
                <a:solidFill>
                  <a:srgbClr val="0000FF"/>
                </a:solidFill>
                <a:latin typeface="Consolas" pitchFamily="49" charset="0"/>
                <a:ea typeface="楷体" pitchFamily="49" charset="-122"/>
                <a:cs typeface="Consolas" pitchFamily="49" charset="0"/>
              </a:endParaRPr>
            </a:p>
          </p:txBody>
        </p:sp>
        <p:sp>
          <p:nvSpPr>
            <p:cNvPr id="10" name="Line 20"/>
            <p:cNvSpPr>
              <a:spLocks noChangeShapeType="1"/>
            </p:cNvSpPr>
            <p:nvPr/>
          </p:nvSpPr>
          <p:spPr bwMode="auto">
            <a:xfrm flipH="1">
              <a:off x="1571604" y="2571746"/>
              <a:ext cx="798512" cy="500063"/>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11" name="Line 21"/>
            <p:cNvSpPr>
              <a:spLocks noChangeShapeType="1"/>
            </p:cNvSpPr>
            <p:nvPr/>
          </p:nvSpPr>
          <p:spPr bwMode="auto">
            <a:xfrm>
              <a:off x="2534675" y="2715108"/>
              <a:ext cx="0" cy="358775"/>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12" name="Line 22"/>
            <p:cNvSpPr>
              <a:spLocks noChangeShapeType="1"/>
            </p:cNvSpPr>
            <p:nvPr/>
          </p:nvSpPr>
          <p:spPr bwMode="auto">
            <a:xfrm>
              <a:off x="2586017" y="2571746"/>
              <a:ext cx="914413" cy="500063"/>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13" name="Line 23"/>
            <p:cNvSpPr>
              <a:spLocks noChangeShapeType="1"/>
            </p:cNvSpPr>
            <p:nvPr/>
          </p:nvSpPr>
          <p:spPr bwMode="auto">
            <a:xfrm flipH="1">
              <a:off x="1071538" y="3187100"/>
              <a:ext cx="434976" cy="59909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14" name="Line 24"/>
            <p:cNvSpPr>
              <a:spLocks noChangeShapeType="1"/>
            </p:cNvSpPr>
            <p:nvPr/>
          </p:nvSpPr>
          <p:spPr bwMode="auto">
            <a:xfrm flipH="1">
              <a:off x="1435077" y="3258538"/>
              <a:ext cx="71438" cy="504825"/>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15" name="Line 25"/>
            <p:cNvSpPr>
              <a:spLocks noChangeShapeType="1"/>
            </p:cNvSpPr>
            <p:nvPr/>
          </p:nvSpPr>
          <p:spPr bwMode="auto">
            <a:xfrm>
              <a:off x="1588000" y="3307676"/>
              <a:ext cx="215901" cy="50323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16" name="Line 26"/>
            <p:cNvSpPr>
              <a:spLocks noChangeShapeType="1"/>
            </p:cNvSpPr>
            <p:nvPr/>
          </p:nvSpPr>
          <p:spPr bwMode="auto">
            <a:xfrm flipH="1">
              <a:off x="2143107" y="3187100"/>
              <a:ext cx="371471" cy="59909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17" name="Line 27"/>
            <p:cNvSpPr>
              <a:spLocks noChangeShapeType="1"/>
            </p:cNvSpPr>
            <p:nvPr/>
          </p:nvSpPr>
          <p:spPr bwMode="auto">
            <a:xfrm flipH="1">
              <a:off x="2500298" y="3357562"/>
              <a:ext cx="24329" cy="428628"/>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18" name="Line 28"/>
            <p:cNvSpPr>
              <a:spLocks noChangeShapeType="1"/>
            </p:cNvSpPr>
            <p:nvPr/>
          </p:nvSpPr>
          <p:spPr bwMode="auto">
            <a:xfrm>
              <a:off x="2586016" y="3187100"/>
              <a:ext cx="342909" cy="59909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p>
          </p:txBody>
        </p:sp>
        <p:sp>
          <p:nvSpPr>
            <p:cNvPr id="22" name="Oval 7"/>
            <p:cNvSpPr>
              <a:spLocks noChangeArrowheads="1"/>
            </p:cNvSpPr>
            <p:nvPr/>
          </p:nvSpPr>
          <p:spPr bwMode="auto">
            <a:xfrm>
              <a:off x="2370116" y="2428872"/>
              <a:ext cx="288926" cy="28733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23" name="Oval 8"/>
            <p:cNvSpPr>
              <a:spLocks noChangeArrowheads="1"/>
            </p:cNvSpPr>
            <p:nvPr/>
          </p:nvSpPr>
          <p:spPr bwMode="auto">
            <a:xfrm>
              <a:off x="1362052" y="3044225"/>
              <a:ext cx="288926" cy="28733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24" name="Oval 9"/>
            <p:cNvSpPr>
              <a:spLocks noChangeArrowheads="1"/>
            </p:cNvSpPr>
            <p:nvPr/>
          </p:nvSpPr>
          <p:spPr bwMode="auto">
            <a:xfrm>
              <a:off x="2371704" y="3044225"/>
              <a:ext cx="288926" cy="28733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25" name="Oval 10"/>
            <p:cNvSpPr>
              <a:spLocks noChangeArrowheads="1"/>
            </p:cNvSpPr>
            <p:nvPr/>
          </p:nvSpPr>
          <p:spPr bwMode="auto">
            <a:xfrm>
              <a:off x="3378181" y="3044225"/>
              <a:ext cx="288926" cy="28733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26" name="Oval 11"/>
            <p:cNvSpPr>
              <a:spLocks noChangeArrowheads="1"/>
            </p:cNvSpPr>
            <p:nvPr/>
          </p:nvSpPr>
          <p:spPr bwMode="auto">
            <a:xfrm>
              <a:off x="928663" y="3749524"/>
              <a:ext cx="288926" cy="28733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27" name="Oval 12"/>
            <p:cNvSpPr>
              <a:spLocks noChangeArrowheads="1"/>
            </p:cNvSpPr>
            <p:nvPr/>
          </p:nvSpPr>
          <p:spPr bwMode="auto">
            <a:xfrm>
              <a:off x="1290614" y="3749524"/>
              <a:ext cx="288926" cy="28733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28" name="Oval 13"/>
            <p:cNvSpPr>
              <a:spLocks noChangeArrowheads="1"/>
            </p:cNvSpPr>
            <p:nvPr/>
          </p:nvSpPr>
          <p:spPr bwMode="auto">
            <a:xfrm>
              <a:off x="1650977" y="3749524"/>
              <a:ext cx="288926" cy="28733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29" name="Oval 14"/>
            <p:cNvSpPr>
              <a:spLocks noChangeArrowheads="1"/>
            </p:cNvSpPr>
            <p:nvPr/>
          </p:nvSpPr>
          <p:spPr bwMode="auto">
            <a:xfrm>
              <a:off x="2009753" y="3749524"/>
              <a:ext cx="288926" cy="28733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30" name="Oval 15"/>
            <p:cNvSpPr>
              <a:spLocks noChangeArrowheads="1"/>
            </p:cNvSpPr>
            <p:nvPr/>
          </p:nvSpPr>
          <p:spPr bwMode="auto">
            <a:xfrm>
              <a:off x="2371704" y="3749524"/>
              <a:ext cx="288926" cy="28733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31" name="Oval 16"/>
            <p:cNvSpPr>
              <a:spLocks noChangeArrowheads="1"/>
            </p:cNvSpPr>
            <p:nvPr/>
          </p:nvSpPr>
          <p:spPr bwMode="auto">
            <a:xfrm>
              <a:off x="2732067" y="3749524"/>
              <a:ext cx="288926" cy="287338"/>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p>
          </p:txBody>
        </p:sp>
        <p:sp>
          <p:nvSpPr>
            <p:cNvPr id="45" name="TextBox 44"/>
            <p:cNvSpPr txBox="1"/>
            <p:nvPr/>
          </p:nvSpPr>
          <p:spPr>
            <a:xfrm>
              <a:off x="3929058" y="2500306"/>
              <a:ext cx="4786346" cy="1323439"/>
            </a:xfrm>
            <a:prstGeom prst="rect">
              <a:avLst/>
            </a:prstGeom>
            <a:noFill/>
          </p:spPr>
          <p:txBody>
            <a:bodyPr wrap="square" rtlCol="0">
              <a:spAutoFit/>
            </a:bodyPr>
            <a:lstStyle/>
            <a:p>
              <a:pPr>
                <a:lnSpc>
                  <a:spcPts val="3200"/>
                </a:lnSpc>
              </a:pPr>
              <a:r>
                <a:rPr kumimoji="1" lang="zh-CN" altLang="en-US" sz="2000">
                  <a:solidFill>
                    <a:srgbClr val="CC00FF"/>
                  </a:solidFill>
                  <a:latin typeface="Consolas" pitchFamily="49" charset="0"/>
                  <a:ea typeface="仿宋" pitchFamily="49" charset="-122"/>
                  <a:cs typeface="Consolas" pitchFamily="49" charset="0"/>
                </a:rPr>
                <a:t>最小高度 </a:t>
              </a:r>
              <a:r>
                <a:rPr kumimoji="1" lang="en-US" altLang="zh-CN" sz="2000">
                  <a:solidFill>
                    <a:srgbClr val="0000FF"/>
                  </a:solidFill>
                  <a:latin typeface="Consolas" pitchFamily="49" charset="0"/>
                  <a:ea typeface="仿宋" pitchFamily="49" charset="-122"/>
                  <a:cs typeface="Consolas" pitchFamily="49" charset="0"/>
                </a:rPr>
                <a:t>=</a:t>
              </a:r>
              <a:r>
                <a:rPr kumimoji="1" lang="zh-CN" altLang="en-US" sz="2000">
                  <a:solidFill>
                    <a:srgbClr val="0000FF"/>
                  </a:solidFill>
                  <a:latin typeface="Consolas" pitchFamily="49" charset="0"/>
                  <a:ea typeface="仿宋" pitchFamily="49" charset="-122"/>
                  <a:cs typeface="Consolas" pitchFamily="49" charset="0"/>
                  <a:sym typeface="Symbol" pitchFamily="18" charset="2"/>
                </a:rPr>
                <a:t> </a:t>
              </a:r>
              <a:r>
                <a:rPr kumimoji="1" lang="en-US" altLang="zh-CN" sz="2000">
                  <a:solidFill>
                    <a:srgbClr val="0000FF"/>
                  </a:solidFill>
                  <a:latin typeface="Consolas" pitchFamily="49" charset="0"/>
                  <a:ea typeface="仿宋" pitchFamily="49" charset="-122"/>
                  <a:cs typeface="Consolas" pitchFamily="49" charset="0"/>
                </a:rPr>
                <a:t>log</a:t>
              </a:r>
              <a:r>
                <a:rPr kumimoji="1" lang="en-US" altLang="zh-CN" sz="2000" baseline="-30000">
                  <a:solidFill>
                    <a:srgbClr val="0000FF"/>
                  </a:solidFill>
                  <a:latin typeface="Consolas" pitchFamily="49" charset="0"/>
                  <a:ea typeface="仿宋" pitchFamily="49" charset="-122"/>
                  <a:cs typeface="Consolas" pitchFamily="49" charset="0"/>
                </a:rPr>
                <a:t>3</a:t>
              </a:r>
              <a:r>
                <a:rPr kumimoji="1" lang="en-US" altLang="zh-CN" sz="2000">
                  <a:solidFill>
                    <a:srgbClr val="0000FF"/>
                  </a:solidFill>
                  <a:latin typeface="Consolas" pitchFamily="49" charset="0"/>
                  <a:ea typeface="仿宋" pitchFamily="49" charset="-122"/>
                  <a:cs typeface="Consolas" pitchFamily="49" charset="0"/>
                </a:rPr>
                <a:t>(10 ×(3-1)+1)</a:t>
              </a:r>
              <a:r>
                <a:rPr kumimoji="1" lang="en-US" altLang="zh-CN" sz="2000">
                  <a:solidFill>
                    <a:srgbClr val="0000FF"/>
                  </a:solidFill>
                  <a:latin typeface="Consolas" pitchFamily="49" charset="0"/>
                  <a:ea typeface="仿宋" pitchFamily="49" charset="-122"/>
                  <a:cs typeface="Consolas" pitchFamily="49" charset="0"/>
                  <a:sym typeface="Symbol" pitchFamily="18" charset="2"/>
                </a:rPr>
                <a:t></a:t>
              </a:r>
            </a:p>
            <a:p>
              <a:pPr>
                <a:lnSpc>
                  <a:spcPts val="3200"/>
                </a:lnSpc>
              </a:pPr>
              <a:r>
                <a:rPr kumimoji="1" lang="en-US" altLang="zh-CN" sz="2000">
                  <a:solidFill>
                    <a:srgbClr val="0000FF"/>
                  </a:solidFill>
                  <a:latin typeface="Consolas" pitchFamily="49" charset="0"/>
                  <a:ea typeface="仿宋" pitchFamily="49" charset="-122"/>
                  <a:cs typeface="Consolas" pitchFamily="49" charset="0"/>
                  <a:sym typeface="Symbol" pitchFamily="18" charset="2"/>
                </a:rPr>
                <a:t>         =</a:t>
              </a:r>
              <a:r>
                <a:rPr kumimoji="1" lang="zh-CN" altLang="en-US" sz="2000">
                  <a:solidFill>
                    <a:srgbClr val="0000FF"/>
                  </a:solidFill>
                  <a:latin typeface="Consolas" pitchFamily="49" charset="0"/>
                  <a:ea typeface="仿宋" pitchFamily="49" charset="-122"/>
                  <a:cs typeface="Consolas" pitchFamily="49" charset="0"/>
                  <a:sym typeface="Symbol" pitchFamily="18" charset="2"/>
                </a:rPr>
                <a:t> </a:t>
              </a:r>
              <a:r>
                <a:rPr kumimoji="1" lang="en-US" altLang="zh-CN" sz="2000">
                  <a:solidFill>
                    <a:srgbClr val="0000FF"/>
                  </a:solidFill>
                  <a:latin typeface="Consolas" pitchFamily="49" charset="0"/>
                  <a:ea typeface="仿宋" pitchFamily="49" charset="-122"/>
                  <a:cs typeface="Consolas" pitchFamily="49" charset="0"/>
                </a:rPr>
                <a:t>log</a:t>
              </a:r>
              <a:r>
                <a:rPr kumimoji="1" lang="en-US" altLang="zh-CN" sz="2000" baseline="-30000">
                  <a:solidFill>
                    <a:srgbClr val="0000FF"/>
                  </a:solidFill>
                  <a:latin typeface="Consolas" pitchFamily="49" charset="0"/>
                  <a:ea typeface="仿宋" pitchFamily="49" charset="-122"/>
                  <a:cs typeface="Consolas" pitchFamily="49" charset="0"/>
                </a:rPr>
                <a:t>3</a:t>
              </a:r>
              <a:r>
                <a:rPr kumimoji="1" lang="en-US" altLang="zh-CN" sz="2000">
                  <a:solidFill>
                    <a:srgbClr val="0000FF"/>
                  </a:solidFill>
                  <a:latin typeface="Consolas" pitchFamily="49" charset="0"/>
                  <a:ea typeface="仿宋" pitchFamily="49" charset="-122"/>
                  <a:cs typeface="Consolas" pitchFamily="49" charset="0"/>
                </a:rPr>
                <a:t>21</a:t>
              </a:r>
              <a:r>
                <a:rPr kumimoji="1" lang="en-US" altLang="zh-CN" sz="2000">
                  <a:solidFill>
                    <a:srgbClr val="0000FF"/>
                  </a:solidFill>
                  <a:latin typeface="Consolas" pitchFamily="49" charset="0"/>
                  <a:ea typeface="仿宋" pitchFamily="49" charset="-122"/>
                  <a:cs typeface="Consolas" pitchFamily="49" charset="0"/>
                  <a:sym typeface="Symbol" pitchFamily="18" charset="2"/>
                </a:rPr>
                <a:t> </a:t>
              </a:r>
            </a:p>
            <a:p>
              <a:pPr>
                <a:lnSpc>
                  <a:spcPts val="3200"/>
                </a:lnSpc>
              </a:pPr>
              <a:r>
                <a:rPr kumimoji="1" lang="en-US" altLang="zh-CN" sz="2000">
                  <a:solidFill>
                    <a:srgbClr val="0000FF"/>
                  </a:solidFill>
                  <a:latin typeface="Consolas" pitchFamily="49" charset="0"/>
                  <a:ea typeface="仿宋" pitchFamily="49" charset="-122"/>
                  <a:cs typeface="Consolas" pitchFamily="49" charset="0"/>
                  <a:sym typeface="Symbol" pitchFamily="18" charset="2"/>
                </a:rPr>
                <a:t>         = 3</a:t>
              </a:r>
              <a:endParaRPr lang="zh-CN" altLang="en-US" sz="2000">
                <a:solidFill>
                  <a:srgbClr val="0000FF"/>
                </a:solidFill>
                <a:latin typeface="Consolas" pitchFamily="49" charset="0"/>
                <a:ea typeface="仿宋" pitchFamily="49" charset="-122"/>
                <a:cs typeface="Consolas" pitchFamily="49" charset="0"/>
              </a:endParaRPr>
            </a:p>
          </p:txBody>
        </p:sp>
      </p:grpSp>
      <p:sp>
        <p:nvSpPr>
          <p:cNvPr id="3" name="矩形 2">
            <a:extLst>
              <a:ext uri="{FF2B5EF4-FFF2-40B4-BE49-F238E27FC236}">
                <a16:creationId xmlns:a16="http://schemas.microsoft.com/office/drawing/2014/main" xmlns="" id="{14277CB8-3657-FA2D-DFB6-ED631399A0EC}"/>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4" name="Rectangle 2">
            <a:extLst>
              <a:ext uri="{FF2B5EF4-FFF2-40B4-BE49-F238E27FC236}">
                <a16:creationId xmlns:a16="http://schemas.microsoft.com/office/drawing/2014/main" xmlns="" id="{F44E7015-C585-60A1-6968-F1BD2CAF9B59}"/>
              </a:ext>
            </a:extLst>
          </p:cNvPr>
          <p:cNvSpPr txBox="1">
            <a:spLocks noChangeArrowheads="1"/>
          </p:cNvSpPr>
          <p:nvPr/>
        </p:nvSpPr>
        <p:spPr>
          <a:xfrm>
            <a:off x="79920" y="836712"/>
            <a:ext cx="27757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7.1.4 </a:t>
            </a:r>
            <a:r>
              <a:rPr lang="zh-CN" altLang="en-US" dirty="0"/>
              <a:t>树的性质</a:t>
            </a:r>
          </a:p>
        </p:txBody>
      </p:sp>
      <p:cxnSp>
        <p:nvCxnSpPr>
          <p:cNvPr id="5" name="直接连接符 4">
            <a:extLst>
              <a:ext uri="{FF2B5EF4-FFF2-40B4-BE49-F238E27FC236}">
                <a16:creationId xmlns:a16="http://schemas.microsoft.com/office/drawing/2014/main" xmlns="" id="{E2D73299-A297-34CF-E448-8D4F39F7185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2423592" y="4581128"/>
            <a:ext cx="7786742" cy="2031325"/>
          </a:xfrm>
          <a:prstGeom prst="rect">
            <a:avLst/>
          </a:prstGeom>
          <a:noFill/>
        </p:spPr>
        <p:txBody>
          <a:bodyPr wrap="square" rtlCol="0">
            <a:spAutoFit/>
          </a:bodyPr>
          <a:lstStyle/>
          <a:p>
            <a:pPr algn="just">
              <a:lnSpc>
                <a:spcPct val="110000"/>
              </a:lnSpc>
              <a:spcBef>
                <a:spcPct val="50000"/>
              </a:spcBef>
            </a:pPr>
            <a:r>
              <a:rPr kumimoji="1" lang="zh-CN" altLang="en-US" sz="2000" dirty="0">
                <a:latin typeface="Consolas" pitchFamily="49" charset="0"/>
                <a:ea typeface="楷体" pitchFamily="49" charset="-122"/>
                <a:cs typeface="Consolas" pitchFamily="49" charset="0"/>
              </a:rPr>
              <a:t>则有：</a:t>
            </a:r>
          </a:p>
          <a:p>
            <a:pPr algn="just">
              <a:lnSpc>
                <a:spcPct val="80000"/>
              </a:lnSpc>
              <a:spcBef>
                <a:spcPct val="50000"/>
              </a:spcBef>
            </a:pPr>
            <a:r>
              <a:rPr kumimoji="1" lang="zh-CN" altLang="en-US" sz="2000">
                <a:latin typeface="Consolas" pitchFamily="49" charset="0"/>
                <a:ea typeface="楷体" pitchFamily="49" charset="-122"/>
                <a:cs typeface="Consolas" pitchFamily="49" charset="0"/>
              </a:rPr>
              <a:t>      </a:t>
            </a:r>
            <a:r>
              <a:rPr kumimoji="1" lang="en-US" altLang="zh-CN" sz="2000">
                <a:latin typeface="Consolas" pitchFamily="49" charset="0"/>
                <a:ea typeface="楷体" pitchFamily="49" charset="-122"/>
                <a:cs typeface="Consolas" pitchFamily="49" charset="0"/>
              </a:rPr>
              <a:t>1+3</a:t>
            </a:r>
            <a:r>
              <a:rPr kumimoji="1" lang="en-US" altLang="zh-CN" sz="2000" baseline="30000">
                <a:latin typeface="Consolas" pitchFamily="49" charset="0"/>
                <a:ea typeface="楷体" pitchFamily="49" charset="-122"/>
                <a:cs typeface="Consolas" pitchFamily="49" charset="0"/>
              </a:rPr>
              <a:t>1</a:t>
            </a:r>
            <a:r>
              <a:rPr kumimoji="1" lang="en-US" altLang="zh-CN" sz="2000">
                <a:latin typeface="Consolas" pitchFamily="49" charset="0"/>
                <a:ea typeface="楷体" pitchFamily="49" charset="-122"/>
                <a:cs typeface="Consolas" pitchFamily="49" charset="0"/>
              </a:rPr>
              <a:t>+3</a:t>
            </a:r>
            <a:r>
              <a:rPr kumimoji="1" lang="en-US" altLang="zh-CN" sz="2000" baseline="30000">
                <a:latin typeface="Consolas" pitchFamily="49" charset="0"/>
                <a:ea typeface="楷体" pitchFamily="49" charset="-122"/>
                <a:cs typeface="Consolas" pitchFamily="49" charset="0"/>
              </a:rPr>
              <a:t>2</a:t>
            </a:r>
            <a:r>
              <a:rPr kumimoji="1" lang="en-US" altLang="zh-CN" sz="2000">
                <a:latin typeface="Consolas" pitchFamily="49" charset="0"/>
                <a:ea typeface="楷体" pitchFamily="49" charset="-122"/>
                <a:cs typeface="Consolas" pitchFamily="49" charset="0"/>
              </a:rPr>
              <a:t>+</a:t>
            </a:r>
            <a:r>
              <a:rPr kumimoji="1" lang="en-US" altLang="zh-CN" sz="2000">
                <a:latin typeface="宋体" pitchFamily="2" charset="-122"/>
                <a:ea typeface="宋体" pitchFamily="2" charset="-122"/>
                <a:cs typeface="Consolas" pitchFamily="49" charset="0"/>
              </a:rPr>
              <a:t>…</a:t>
            </a:r>
            <a:r>
              <a:rPr kumimoji="1" lang="en-US" altLang="zh-CN" sz="2000">
                <a:latin typeface="Consolas" pitchFamily="49" charset="0"/>
                <a:ea typeface="楷体" pitchFamily="49" charset="-122"/>
                <a:cs typeface="Consolas" pitchFamily="49" charset="0"/>
              </a:rPr>
              <a:t>+3</a:t>
            </a:r>
            <a:r>
              <a:rPr kumimoji="1" lang="en-US" altLang="zh-CN" sz="2000" i="1" baseline="30000">
                <a:latin typeface="Consolas" pitchFamily="49" charset="0"/>
                <a:ea typeface="楷体" pitchFamily="49" charset="-122"/>
                <a:cs typeface="Consolas" pitchFamily="49" charset="0"/>
              </a:rPr>
              <a:t>h</a:t>
            </a:r>
            <a:r>
              <a:rPr kumimoji="1" lang="en-US" altLang="zh-CN" sz="2000" baseline="30000">
                <a:latin typeface="Consolas" pitchFamily="49" charset="0"/>
                <a:ea typeface="楷体" pitchFamily="49" charset="-122"/>
                <a:cs typeface="Consolas" pitchFamily="49" charset="0"/>
              </a:rPr>
              <a:t>-2   </a:t>
            </a:r>
            <a:r>
              <a:rPr kumimoji="1" lang="en-US" altLang="zh-CN" sz="2000">
                <a:solidFill>
                  <a:srgbClr val="C00000"/>
                </a:solidFill>
                <a:latin typeface="Consolas" pitchFamily="49" charset="0"/>
                <a:ea typeface="楷体" pitchFamily="49" charset="-122"/>
                <a:cs typeface="Consolas" pitchFamily="49" charset="0"/>
              </a:rPr>
              <a:t>&lt;</a:t>
            </a:r>
            <a:r>
              <a:rPr kumimoji="1" lang="zh-CN" altLang="en-US" sz="2000">
                <a:solidFill>
                  <a:srgbClr val="C00000"/>
                </a:solidFill>
                <a:latin typeface="Consolas" pitchFamily="49" charset="0"/>
                <a:ea typeface="楷体" pitchFamily="49" charset="-122"/>
                <a:cs typeface="Consolas" pitchFamily="49" charset="0"/>
              </a:rPr>
              <a:t>  </a:t>
            </a:r>
            <a:r>
              <a:rPr kumimoji="1" lang="en-US" altLang="zh-CN" sz="2000" i="1">
                <a:latin typeface="Consolas" pitchFamily="49" charset="0"/>
                <a:ea typeface="楷体" pitchFamily="49" charset="-122"/>
                <a:cs typeface="Consolas" pitchFamily="49" charset="0"/>
              </a:rPr>
              <a:t>n </a:t>
            </a:r>
            <a:r>
              <a:rPr kumimoji="1" lang="en-US" altLang="zh-CN" sz="2000">
                <a:latin typeface="宋体" pitchFamily="2" charset="-122"/>
                <a:ea typeface="宋体" pitchFamily="2" charset="-122"/>
                <a:cs typeface="Consolas" pitchFamily="49" charset="0"/>
              </a:rPr>
              <a:t>≤</a:t>
            </a:r>
            <a:r>
              <a:rPr kumimoji="1" lang="en-US" altLang="zh-CN" sz="2000">
                <a:latin typeface="Consolas" pitchFamily="49" charset="0"/>
                <a:cs typeface="Consolas" pitchFamily="49" charset="0"/>
              </a:rPr>
              <a:t> </a:t>
            </a:r>
            <a:r>
              <a:rPr kumimoji="1" lang="en-US" altLang="zh-CN" sz="2000">
                <a:latin typeface="Consolas" pitchFamily="49" charset="0"/>
                <a:ea typeface="楷体" pitchFamily="49" charset="-122"/>
                <a:cs typeface="Consolas" pitchFamily="49" charset="0"/>
              </a:rPr>
              <a:t>1+3</a:t>
            </a:r>
            <a:r>
              <a:rPr kumimoji="1" lang="en-US" altLang="zh-CN" sz="2000" baseline="30000">
                <a:latin typeface="Consolas" pitchFamily="49" charset="0"/>
                <a:ea typeface="楷体" pitchFamily="49" charset="-122"/>
                <a:cs typeface="Consolas" pitchFamily="49" charset="0"/>
              </a:rPr>
              <a:t>1</a:t>
            </a:r>
            <a:r>
              <a:rPr kumimoji="1" lang="en-US" altLang="zh-CN" sz="2000">
                <a:latin typeface="Consolas" pitchFamily="49" charset="0"/>
                <a:ea typeface="楷体" pitchFamily="49" charset="-122"/>
                <a:cs typeface="Consolas" pitchFamily="49" charset="0"/>
              </a:rPr>
              <a:t>+3</a:t>
            </a:r>
            <a:r>
              <a:rPr kumimoji="1" lang="en-US" altLang="zh-CN" sz="2000" baseline="30000">
                <a:latin typeface="Consolas" pitchFamily="49" charset="0"/>
                <a:ea typeface="楷体" pitchFamily="49" charset="-122"/>
                <a:cs typeface="Consolas" pitchFamily="49" charset="0"/>
              </a:rPr>
              <a:t>2</a:t>
            </a:r>
            <a:r>
              <a:rPr kumimoji="1" lang="en-US" altLang="zh-CN" sz="2000">
                <a:latin typeface="Consolas" pitchFamily="49" charset="0"/>
                <a:ea typeface="楷体" pitchFamily="49" charset="-122"/>
                <a:cs typeface="Consolas" pitchFamily="49" charset="0"/>
              </a:rPr>
              <a:t>+</a:t>
            </a:r>
            <a:r>
              <a:rPr kumimoji="1" lang="en-US" altLang="zh-CN" sz="2000">
                <a:latin typeface="宋体" pitchFamily="2" charset="-122"/>
                <a:ea typeface="宋体" pitchFamily="2" charset="-122"/>
                <a:cs typeface="Consolas" pitchFamily="49" charset="0"/>
              </a:rPr>
              <a:t>…</a:t>
            </a:r>
            <a:r>
              <a:rPr kumimoji="1" lang="en-US" altLang="zh-CN" sz="2000">
                <a:latin typeface="Consolas" pitchFamily="49" charset="0"/>
                <a:ea typeface="楷体" pitchFamily="49" charset="-122"/>
                <a:cs typeface="Consolas" pitchFamily="49" charset="0"/>
              </a:rPr>
              <a:t>+</a:t>
            </a:r>
            <a:r>
              <a:rPr kumimoji="1" lang="en-US" altLang="zh-CN" sz="2000" dirty="0" err="1">
                <a:latin typeface="Consolas" pitchFamily="49" charset="0"/>
                <a:ea typeface="楷体" pitchFamily="49" charset="-122"/>
                <a:cs typeface="Consolas" pitchFamily="49" charset="0"/>
              </a:rPr>
              <a:t>3</a:t>
            </a:r>
            <a:r>
              <a:rPr kumimoji="1" lang="en-US" altLang="zh-CN" sz="2000" i="1" baseline="30000" dirty="0" err="1">
                <a:latin typeface="Consolas" pitchFamily="49" charset="0"/>
                <a:ea typeface="楷体" pitchFamily="49" charset="-122"/>
                <a:cs typeface="Consolas" pitchFamily="49" charset="0"/>
              </a:rPr>
              <a:t>h</a:t>
            </a:r>
            <a:r>
              <a:rPr kumimoji="1" lang="en-US" altLang="zh-CN" sz="2000" baseline="30000" dirty="0">
                <a:latin typeface="Consolas" pitchFamily="49" charset="0"/>
                <a:ea typeface="楷体" pitchFamily="49" charset="-122"/>
                <a:cs typeface="Consolas" pitchFamily="49" charset="0"/>
              </a:rPr>
              <a:t>-1</a:t>
            </a:r>
            <a:endParaRPr kumimoji="1" lang="en-US" altLang="zh-CN" sz="2000" dirty="0">
              <a:latin typeface="Consolas" pitchFamily="49" charset="0"/>
              <a:ea typeface="楷体" pitchFamily="49" charset="-122"/>
              <a:cs typeface="Consolas" pitchFamily="49" charset="0"/>
            </a:endParaRPr>
          </a:p>
          <a:p>
            <a:pPr algn="just">
              <a:lnSpc>
                <a:spcPct val="80000"/>
              </a:lnSpc>
              <a:spcBef>
                <a:spcPct val="50000"/>
              </a:spcBef>
            </a:pPr>
            <a:r>
              <a:rPr kumimoji="1" lang="en-US" altLang="zh-CN" sz="2000" dirty="0">
                <a:latin typeface="Consolas" pitchFamily="49" charset="0"/>
                <a:ea typeface="楷体" pitchFamily="49" charset="-122"/>
                <a:cs typeface="Consolas" pitchFamily="49" charset="0"/>
              </a:rPr>
              <a:t>       (</a:t>
            </a:r>
            <a:r>
              <a:rPr kumimoji="1" lang="en-US" altLang="zh-CN" sz="2000" dirty="0" err="1">
                <a:latin typeface="Consolas" pitchFamily="49" charset="0"/>
                <a:ea typeface="楷体" pitchFamily="49" charset="-122"/>
                <a:cs typeface="Consolas" pitchFamily="49" charset="0"/>
              </a:rPr>
              <a:t>3</a:t>
            </a:r>
            <a:r>
              <a:rPr kumimoji="1" lang="en-US" altLang="zh-CN" sz="2000" i="1" baseline="30000" dirty="0" err="1">
                <a:latin typeface="Consolas" pitchFamily="49" charset="0"/>
                <a:ea typeface="楷体" pitchFamily="49" charset="-122"/>
                <a:cs typeface="Consolas" pitchFamily="49" charset="0"/>
              </a:rPr>
              <a:t>h</a:t>
            </a:r>
            <a:r>
              <a:rPr kumimoji="1" lang="en-US" altLang="zh-CN" sz="2000" baseline="30000" dirty="0">
                <a:latin typeface="Consolas" pitchFamily="49" charset="0"/>
                <a:ea typeface="楷体" pitchFamily="49" charset="-122"/>
                <a:cs typeface="Consolas" pitchFamily="49" charset="0"/>
              </a:rPr>
              <a:t>-1</a:t>
            </a:r>
            <a:r>
              <a:rPr kumimoji="1" lang="en-US" altLang="zh-CN" sz="2000" dirty="0">
                <a:latin typeface="Consolas" pitchFamily="49" charset="0"/>
                <a:cs typeface="Consolas" pitchFamily="49" charset="0"/>
              </a:rPr>
              <a:t>-</a:t>
            </a:r>
            <a:r>
              <a:rPr kumimoji="1" lang="en-US" altLang="zh-CN" sz="2000" dirty="0">
                <a:latin typeface="Consolas" pitchFamily="49" charset="0"/>
                <a:ea typeface="楷体" pitchFamily="49" charset="-122"/>
                <a:cs typeface="Consolas" pitchFamily="49" charset="0"/>
              </a:rPr>
              <a:t>1)/</a:t>
            </a:r>
            <a:r>
              <a:rPr kumimoji="1" lang="en-US" altLang="zh-CN" sz="2000">
                <a:latin typeface="Consolas" pitchFamily="49" charset="0"/>
                <a:ea typeface="楷体" pitchFamily="49" charset="-122"/>
                <a:cs typeface="Consolas" pitchFamily="49" charset="0"/>
              </a:rPr>
              <a:t>2 &lt; </a:t>
            </a:r>
            <a:r>
              <a:rPr kumimoji="1" lang="en-US" altLang="zh-CN" sz="2000" i="1">
                <a:latin typeface="Consolas" pitchFamily="49" charset="0"/>
                <a:ea typeface="楷体" pitchFamily="49" charset="-122"/>
                <a:cs typeface="Consolas" pitchFamily="49" charset="0"/>
              </a:rPr>
              <a:t>n </a:t>
            </a:r>
            <a:r>
              <a:rPr kumimoji="1" lang="en-US" altLang="zh-CN" sz="2000">
                <a:latin typeface="宋体" pitchFamily="2" charset="-122"/>
                <a:ea typeface="宋体" pitchFamily="2" charset="-122"/>
                <a:cs typeface="Consolas" pitchFamily="49" charset="0"/>
              </a:rPr>
              <a:t>≤</a:t>
            </a:r>
            <a:r>
              <a:rPr kumimoji="1" lang="en-US" altLang="zh-CN" sz="2000">
                <a:latin typeface="Consolas" pitchFamily="49" charset="0"/>
                <a:ea typeface="楷体" pitchFamily="49" charset="-122"/>
                <a:cs typeface="Consolas" pitchFamily="49" charset="0"/>
              </a:rPr>
              <a:t> </a:t>
            </a:r>
            <a:r>
              <a:rPr kumimoji="1" lang="en-US" altLang="zh-CN" sz="2000" dirty="0">
                <a:latin typeface="Consolas" pitchFamily="49" charset="0"/>
                <a:ea typeface="楷体" pitchFamily="49" charset="-122"/>
                <a:cs typeface="Consolas" pitchFamily="49" charset="0"/>
              </a:rPr>
              <a:t>(</a:t>
            </a:r>
            <a:r>
              <a:rPr kumimoji="1" lang="en-US" altLang="zh-CN" sz="2000" dirty="0" err="1">
                <a:latin typeface="Consolas" pitchFamily="49" charset="0"/>
                <a:ea typeface="楷体" pitchFamily="49" charset="-122"/>
                <a:cs typeface="Consolas" pitchFamily="49" charset="0"/>
              </a:rPr>
              <a:t>3</a:t>
            </a:r>
            <a:r>
              <a:rPr kumimoji="1" lang="en-US" altLang="zh-CN" sz="2000" i="1" baseline="30000" dirty="0" err="1">
                <a:latin typeface="Consolas" pitchFamily="49" charset="0"/>
                <a:ea typeface="楷体" pitchFamily="49" charset="-122"/>
                <a:cs typeface="Consolas" pitchFamily="49" charset="0"/>
              </a:rPr>
              <a:t>h</a:t>
            </a:r>
            <a:r>
              <a:rPr kumimoji="1" lang="en-US" altLang="zh-CN" sz="2000" dirty="0">
                <a:latin typeface="Consolas" pitchFamily="49" charset="0"/>
                <a:cs typeface="Consolas" pitchFamily="49" charset="0"/>
              </a:rPr>
              <a:t>-</a:t>
            </a:r>
            <a:r>
              <a:rPr kumimoji="1" lang="en-US" altLang="zh-CN" sz="2000" dirty="0">
                <a:latin typeface="Consolas" pitchFamily="49" charset="0"/>
                <a:ea typeface="楷体" pitchFamily="49" charset="-122"/>
                <a:cs typeface="Consolas" pitchFamily="49" charset="0"/>
              </a:rPr>
              <a:t>1)/2</a:t>
            </a:r>
          </a:p>
          <a:p>
            <a:pPr algn="just">
              <a:lnSpc>
                <a:spcPct val="80000"/>
              </a:lnSpc>
              <a:spcBef>
                <a:spcPct val="50000"/>
              </a:spcBef>
            </a:pPr>
            <a:r>
              <a:rPr kumimoji="1" lang="en-US" altLang="zh-CN" sz="2000">
                <a:latin typeface="Consolas" pitchFamily="49" charset="0"/>
                <a:ea typeface="楷体" pitchFamily="49" charset="-122"/>
                <a:cs typeface="Consolas" pitchFamily="49" charset="0"/>
              </a:rPr>
              <a:t>       3</a:t>
            </a:r>
            <a:r>
              <a:rPr kumimoji="1" lang="en-US" altLang="zh-CN" sz="2000" i="1" baseline="30000">
                <a:latin typeface="Consolas" pitchFamily="49" charset="0"/>
                <a:ea typeface="楷体" pitchFamily="49" charset="-122"/>
                <a:cs typeface="Consolas" pitchFamily="49" charset="0"/>
              </a:rPr>
              <a:t>h</a:t>
            </a:r>
            <a:r>
              <a:rPr kumimoji="1" lang="en-US" altLang="zh-CN" sz="2000" baseline="30000">
                <a:latin typeface="Consolas" pitchFamily="49" charset="0"/>
                <a:ea typeface="楷体" pitchFamily="49" charset="-122"/>
                <a:cs typeface="Consolas" pitchFamily="49" charset="0"/>
              </a:rPr>
              <a:t>-1 </a:t>
            </a:r>
            <a:r>
              <a:rPr kumimoji="1" lang="en-US" altLang="zh-CN" sz="2000">
                <a:latin typeface="Consolas" pitchFamily="49" charset="0"/>
                <a:ea typeface="楷体" pitchFamily="49" charset="-122"/>
                <a:cs typeface="Consolas" pitchFamily="49" charset="0"/>
              </a:rPr>
              <a:t>&lt; 2</a:t>
            </a:r>
            <a:r>
              <a:rPr kumimoji="1" lang="en-US" altLang="zh-CN" sz="2000" i="1">
                <a:latin typeface="Consolas" pitchFamily="49" charset="0"/>
                <a:ea typeface="楷体" pitchFamily="49" charset="-122"/>
                <a:cs typeface="Consolas" pitchFamily="49" charset="0"/>
              </a:rPr>
              <a:t>n</a:t>
            </a:r>
            <a:r>
              <a:rPr kumimoji="1" lang="en-US" altLang="zh-CN" sz="2000">
                <a:latin typeface="Consolas" pitchFamily="49" charset="0"/>
                <a:ea typeface="楷体" pitchFamily="49" charset="-122"/>
                <a:cs typeface="Consolas" pitchFamily="49" charset="0"/>
              </a:rPr>
              <a:t>+1 </a:t>
            </a:r>
            <a:r>
              <a:rPr kumimoji="1" lang="en-US" altLang="zh-CN" sz="2000">
                <a:latin typeface="宋体" pitchFamily="2" charset="-122"/>
                <a:ea typeface="宋体" pitchFamily="2" charset="-122"/>
                <a:cs typeface="Consolas" pitchFamily="49" charset="0"/>
              </a:rPr>
              <a:t>≤</a:t>
            </a:r>
            <a:r>
              <a:rPr kumimoji="1" lang="en-US" altLang="zh-CN" sz="2000">
                <a:latin typeface="Consolas" pitchFamily="49" charset="0"/>
                <a:cs typeface="Consolas" pitchFamily="49" charset="0"/>
              </a:rPr>
              <a:t> </a:t>
            </a:r>
            <a:r>
              <a:rPr kumimoji="1" lang="en-US" altLang="zh-CN" sz="2000">
                <a:latin typeface="Consolas" pitchFamily="49" charset="0"/>
                <a:ea typeface="楷体" pitchFamily="49" charset="-122"/>
                <a:cs typeface="Consolas" pitchFamily="49" charset="0"/>
              </a:rPr>
              <a:t>3</a:t>
            </a:r>
            <a:r>
              <a:rPr kumimoji="1" lang="en-US" altLang="zh-CN" sz="2000" i="1" baseline="30000">
                <a:latin typeface="Consolas" pitchFamily="49" charset="0"/>
                <a:ea typeface="楷体" pitchFamily="49" charset="-122"/>
                <a:cs typeface="Consolas" pitchFamily="49" charset="0"/>
              </a:rPr>
              <a:t>h</a:t>
            </a:r>
            <a:endParaRPr kumimoji="1" lang="en-US" altLang="zh-CN" sz="2000" i="1" baseline="30000" dirty="0">
              <a:latin typeface="Consolas" pitchFamily="49" charset="0"/>
              <a:ea typeface="楷体" pitchFamily="49" charset="-122"/>
              <a:cs typeface="Consolas" pitchFamily="49" charset="0"/>
            </a:endParaRPr>
          </a:p>
          <a:p>
            <a:pPr algn="just">
              <a:lnSpc>
                <a:spcPct val="80000"/>
              </a:lnSpc>
              <a:spcBef>
                <a:spcPct val="50000"/>
              </a:spcBef>
            </a:pPr>
            <a:r>
              <a:rPr kumimoji="1" lang="en-US" altLang="zh-CN" sz="2000" dirty="0">
                <a:latin typeface="Consolas" pitchFamily="49" charset="0"/>
                <a:ea typeface="楷体" pitchFamily="49" charset="-122"/>
                <a:cs typeface="Consolas" pitchFamily="49" charset="0"/>
              </a:rPr>
              <a:t>      </a:t>
            </a:r>
            <a:r>
              <a:rPr kumimoji="1" lang="zh-CN" altLang="en-US" sz="2000" dirty="0">
                <a:latin typeface="Consolas" pitchFamily="49" charset="0"/>
                <a:ea typeface="楷体" pitchFamily="49" charset="-122"/>
                <a:cs typeface="Consolas" pitchFamily="49" charset="0"/>
              </a:rPr>
              <a:t>即：</a:t>
            </a:r>
            <a:r>
              <a:rPr kumimoji="1" lang="en-US" altLang="zh-CN" sz="2000" i="1" dirty="0">
                <a:solidFill>
                  <a:srgbClr val="CC00FF"/>
                </a:solidFill>
                <a:latin typeface="Consolas" pitchFamily="49" charset="0"/>
                <a:ea typeface="楷体" pitchFamily="49" charset="-122"/>
                <a:cs typeface="Consolas" pitchFamily="49" charset="0"/>
              </a:rPr>
              <a:t>h</a:t>
            </a:r>
            <a:r>
              <a:rPr kumimoji="1" lang="en-US" altLang="zh-CN" sz="2000" dirty="0">
                <a:solidFill>
                  <a:srgbClr val="CC00FF"/>
                </a:solidFill>
                <a:latin typeface="Consolas" pitchFamily="49" charset="0"/>
                <a:ea typeface="楷体" pitchFamily="49" charset="-122"/>
                <a:cs typeface="Consolas" pitchFamily="49" charset="0"/>
              </a:rPr>
              <a:t>= </a:t>
            </a:r>
            <a:r>
              <a:rPr kumimoji="1" lang="en-US" altLang="zh-CN" sz="2000" baseline="30000" dirty="0">
                <a:solidFill>
                  <a:srgbClr val="CC00FF"/>
                </a:solidFill>
                <a:latin typeface="Consolas" pitchFamily="49" charset="0"/>
                <a:ea typeface="楷体" pitchFamily="49" charset="-122"/>
                <a:cs typeface="Consolas" pitchFamily="49" charset="0"/>
                <a:sym typeface="Symbol" pitchFamily="18" charset="2"/>
              </a:rPr>
              <a:t></a:t>
            </a:r>
            <a:r>
              <a:rPr kumimoji="1" lang="en-US" altLang="zh-CN" sz="2000" dirty="0">
                <a:solidFill>
                  <a:srgbClr val="CC00FF"/>
                </a:solidFill>
                <a:latin typeface="Consolas" pitchFamily="49" charset="0"/>
                <a:ea typeface="楷体" pitchFamily="49" charset="-122"/>
                <a:cs typeface="Consolas" pitchFamily="49" charset="0"/>
              </a:rPr>
              <a:t> </a:t>
            </a:r>
            <a:r>
              <a:rPr kumimoji="1" lang="en-US" altLang="zh-CN" sz="2000" dirty="0" err="1">
                <a:solidFill>
                  <a:srgbClr val="CC00FF"/>
                </a:solidFill>
                <a:latin typeface="Consolas" pitchFamily="49" charset="0"/>
                <a:ea typeface="楷体" pitchFamily="49" charset="-122"/>
                <a:cs typeface="Consolas" pitchFamily="49" charset="0"/>
              </a:rPr>
              <a:t>log</a:t>
            </a:r>
            <a:r>
              <a:rPr kumimoji="1" lang="en-US" altLang="zh-CN" sz="2000" baseline="-30000" dirty="0" err="1">
                <a:solidFill>
                  <a:srgbClr val="CC00FF"/>
                </a:solidFill>
                <a:latin typeface="Consolas" pitchFamily="49" charset="0"/>
                <a:ea typeface="楷体" pitchFamily="49" charset="-122"/>
                <a:cs typeface="Consolas" pitchFamily="49" charset="0"/>
              </a:rPr>
              <a:t>3</a:t>
            </a:r>
            <a:r>
              <a:rPr kumimoji="1" lang="en-US" altLang="zh-CN" sz="2000" dirty="0">
                <a:solidFill>
                  <a:srgbClr val="CC00FF"/>
                </a:solidFill>
                <a:latin typeface="Consolas" pitchFamily="49" charset="0"/>
                <a:ea typeface="楷体" pitchFamily="49" charset="-122"/>
                <a:cs typeface="Consolas" pitchFamily="49" charset="0"/>
              </a:rPr>
              <a:t>(</a:t>
            </a:r>
            <a:r>
              <a:rPr kumimoji="1" lang="en-US" altLang="zh-CN" sz="2000" dirty="0" err="1">
                <a:solidFill>
                  <a:srgbClr val="CC00FF"/>
                </a:solidFill>
                <a:latin typeface="Consolas" pitchFamily="49" charset="0"/>
                <a:ea typeface="楷体" pitchFamily="49" charset="-122"/>
                <a:cs typeface="Consolas" pitchFamily="49" charset="0"/>
              </a:rPr>
              <a:t>2</a:t>
            </a:r>
            <a:r>
              <a:rPr kumimoji="1" lang="en-US" altLang="zh-CN" sz="2000" i="1" dirty="0" err="1">
                <a:solidFill>
                  <a:srgbClr val="CC00FF"/>
                </a:solidFill>
                <a:latin typeface="Consolas" pitchFamily="49" charset="0"/>
                <a:ea typeface="楷体" pitchFamily="49" charset="-122"/>
                <a:cs typeface="Consolas" pitchFamily="49" charset="0"/>
              </a:rPr>
              <a:t>n</a:t>
            </a:r>
            <a:r>
              <a:rPr kumimoji="1" lang="en-US" altLang="zh-CN" sz="2000" dirty="0" err="1">
                <a:solidFill>
                  <a:srgbClr val="CC00FF"/>
                </a:solidFill>
                <a:latin typeface="Consolas" pitchFamily="49" charset="0"/>
                <a:ea typeface="楷体" pitchFamily="49" charset="-122"/>
                <a:cs typeface="Consolas" pitchFamily="49" charset="0"/>
              </a:rPr>
              <a:t>+1</a:t>
            </a:r>
            <a:r>
              <a:rPr kumimoji="1" lang="en-US" altLang="zh-CN" sz="2000" dirty="0">
                <a:solidFill>
                  <a:srgbClr val="CC00FF"/>
                </a:solidFill>
                <a:latin typeface="Consolas" pitchFamily="49" charset="0"/>
                <a:ea typeface="楷体" pitchFamily="49" charset="-122"/>
                <a:cs typeface="Consolas" pitchFamily="49" charset="0"/>
              </a:rPr>
              <a:t>)</a:t>
            </a:r>
            <a:r>
              <a:rPr kumimoji="1" lang="en-US" altLang="zh-CN" sz="2000" baseline="30000" dirty="0">
                <a:solidFill>
                  <a:srgbClr val="CC00FF"/>
                </a:solidFill>
                <a:latin typeface="Consolas" pitchFamily="49" charset="0"/>
                <a:ea typeface="楷体" pitchFamily="49" charset="-122"/>
                <a:cs typeface="Consolas" pitchFamily="49" charset="0"/>
                <a:sym typeface="Symbol" pitchFamily="18" charset="2"/>
              </a:rPr>
              <a:t></a:t>
            </a:r>
            <a:r>
              <a:rPr kumimoji="1" lang="zh-CN" altLang="en-US" sz="2000" dirty="0">
                <a:latin typeface="Consolas" pitchFamily="49" charset="0"/>
                <a:ea typeface="楷体" pitchFamily="49" charset="-122"/>
                <a:cs typeface="Consolas" pitchFamily="49" charset="0"/>
                <a:sym typeface="Symbol" pitchFamily="18" charset="2"/>
              </a:rPr>
              <a:t>。</a:t>
            </a:r>
            <a:endParaRPr lang="zh-CN" altLang="en-US" sz="2000" dirty="0">
              <a:latin typeface="Consolas" pitchFamily="49" charset="0"/>
              <a:cs typeface="Consolas" pitchFamily="49" charset="0"/>
            </a:endParaRPr>
          </a:p>
        </p:txBody>
      </p:sp>
      <p:grpSp>
        <p:nvGrpSpPr>
          <p:cNvPr id="2" name="组合 64"/>
          <p:cNvGrpSpPr/>
          <p:nvPr/>
        </p:nvGrpSpPr>
        <p:grpSpPr>
          <a:xfrm>
            <a:off x="6384452" y="1721569"/>
            <a:ext cx="3956054" cy="2900440"/>
            <a:chOff x="428596" y="785794"/>
            <a:chExt cx="3956054" cy="2900440"/>
          </a:xfrm>
        </p:grpSpPr>
        <p:sp>
          <p:nvSpPr>
            <p:cNvPr id="18" name="Text Box 32"/>
            <p:cNvSpPr txBox="1">
              <a:spLocks noChangeArrowheads="1"/>
            </p:cNvSpPr>
            <p:nvPr/>
          </p:nvSpPr>
          <p:spPr bwMode="auto">
            <a:xfrm>
              <a:off x="1001687" y="2895897"/>
              <a:ext cx="3382963" cy="400110"/>
            </a:xfrm>
            <a:prstGeom prst="rect">
              <a:avLst/>
            </a:prstGeom>
            <a:noFill/>
            <a:ln w="9525">
              <a:noFill/>
              <a:miter lim="800000"/>
              <a:headEnd/>
              <a:tailEnd/>
            </a:ln>
            <a:effectLst/>
          </p:spPr>
          <p:txBody>
            <a:bodyPr>
              <a:spAutoFit/>
            </a:bodyPr>
            <a:lstStyle/>
            <a:p>
              <a:pPr algn="l">
                <a:spcBef>
                  <a:spcPct val="50000"/>
                </a:spcBef>
              </a:pPr>
              <a:r>
                <a:rPr lang="zh-CN" altLang="en-US" sz="2000">
                  <a:latin typeface="Consolas" pitchFamily="49" charset="0"/>
                  <a:ea typeface="楷体" pitchFamily="49" charset="-122"/>
                  <a:cs typeface="Consolas" pitchFamily="49" charset="0"/>
                </a:rPr>
                <a:t>最多结点情况，结点个数：</a:t>
              </a:r>
              <a:endParaRPr lang="zh-CN" altLang="en-US" sz="2000" dirty="0">
                <a:latin typeface="Consolas" pitchFamily="49" charset="0"/>
                <a:ea typeface="楷体" pitchFamily="49" charset="-122"/>
                <a:cs typeface="Consolas" pitchFamily="49" charset="0"/>
              </a:endParaRPr>
            </a:p>
          </p:txBody>
        </p:sp>
        <p:sp>
          <p:nvSpPr>
            <p:cNvPr id="20" name="Line 20"/>
            <p:cNvSpPr>
              <a:spLocks noChangeShapeType="1"/>
            </p:cNvSpPr>
            <p:nvPr/>
          </p:nvSpPr>
          <p:spPr bwMode="auto">
            <a:xfrm flipH="1">
              <a:off x="1736748" y="990592"/>
              <a:ext cx="792163" cy="4318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1" name="Line 21"/>
            <p:cNvSpPr>
              <a:spLocks noChangeShapeType="1"/>
            </p:cNvSpPr>
            <p:nvPr/>
          </p:nvSpPr>
          <p:spPr bwMode="auto">
            <a:xfrm>
              <a:off x="2673373" y="1063617"/>
              <a:ext cx="0" cy="358775"/>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2" name="Line 22"/>
            <p:cNvSpPr>
              <a:spLocks noChangeShapeType="1"/>
            </p:cNvSpPr>
            <p:nvPr/>
          </p:nvSpPr>
          <p:spPr bwMode="auto">
            <a:xfrm>
              <a:off x="2744810" y="990592"/>
              <a:ext cx="936625" cy="4318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3" name="Line 23"/>
            <p:cNvSpPr>
              <a:spLocks noChangeShapeType="1"/>
            </p:cNvSpPr>
            <p:nvPr/>
          </p:nvSpPr>
          <p:spPr bwMode="auto">
            <a:xfrm flipH="1">
              <a:off x="1233510" y="1495417"/>
              <a:ext cx="431800"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4" name="Line 24"/>
            <p:cNvSpPr>
              <a:spLocks noChangeShapeType="1"/>
            </p:cNvSpPr>
            <p:nvPr/>
          </p:nvSpPr>
          <p:spPr bwMode="auto">
            <a:xfrm flipH="1">
              <a:off x="1593873" y="1566854"/>
              <a:ext cx="71438" cy="504825"/>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5" name="Line 25"/>
            <p:cNvSpPr>
              <a:spLocks noChangeShapeType="1"/>
            </p:cNvSpPr>
            <p:nvPr/>
          </p:nvSpPr>
          <p:spPr bwMode="auto">
            <a:xfrm>
              <a:off x="1736748" y="1495417"/>
              <a:ext cx="215900"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6" name="Line 26"/>
            <p:cNvSpPr>
              <a:spLocks noChangeShapeType="1"/>
            </p:cNvSpPr>
            <p:nvPr/>
          </p:nvSpPr>
          <p:spPr bwMode="auto">
            <a:xfrm flipH="1">
              <a:off x="2313010" y="1495417"/>
              <a:ext cx="360363"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7" name="Line 27"/>
            <p:cNvSpPr>
              <a:spLocks noChangeShapeType="1"/>
            </p:cNvSpPr>
            <p:nvPr/>
          </p:nvSpPr>
          <p:spPr bwMode="auto">
            <a:xfrm>
              <a:off x="2673373" y="1566854"/>
              <a:ext cx="0" cy="360362"/>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8" name="Line 28"/>
            <p:cNvSpPr>
              <a:spLocks noChangeShapeType="1"/>
            </p:cNvSpPr>
            <p:nvPr/>
          </p:nvSpPr>
          <p:spPr bwMode="auto">
            <a:xfrm>
              <a:off x="2744810" y="1495417"/>
              <a:ext cx="288925"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29" name="Line 29"/>
            <p:cNvSpPr>
              <a:spLocks noChangeShapeType="1"/>
            </p:cNvSpPr>
            <p:nvPr/>
          </p:nvSpPr>
          <p:spPr bwMode="auto">
            <a:xfrm flipH="1">
              <a:off x="3394098" y="1495417"/>
              <a:ext cx="215900"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30" name="Line 30"/>
            <p:cNvSpPr>
              <a:spLocks noChangeShapeType="1"/>
            </p:cNvSpPr>
            <p:nvPr/>
          </p:nvSpPr>
          <p:spPr bwMode="auto">
            <a:xfrm>
              <a:off x="3681435" y="1566854"/>
              <a:ext cx="71438" cy="4318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31" name="Line 31"/>
            <p:cNvSpPr>
              <a:spLocks noChangeShapeType="1"/>
            </p:cNvSpPr>
            <p:nvPr/>
          </p:nvSpPr>
          <p:spPr bwMode="auto">
            <a:xfrm>
              <a:off x="3752873" y="1495417"/>
              <a:ext cx="360363"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32" name="Oval 7"/>
            <p:cNvSpPr>
              <a:spLocks noChangeArrowheads="1"/>
            </p:cNvSpPr>
            <p:nvPr/>
          </p:nvSpPr>
          <p:spPr bwMode="auto">
            <a:xfrm>
              <a:off x="2528910" y="847717"/>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33" name="Oval 8"/>
            <p:cNvSpPr>
              <a:spLocks noChangeArrowheads="1"/>
            </p:cNvSpPr>
            <p:nvPr/>
          </p:nvSpPr>
          <p:spPr bwMode="auto">
            <a:xfrm>
              <a:off x="1520848" y="1352542"/>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34" name="Oval 9"/>
            <p:cNvSpPr>
              <a:spLocks noChangeArrowheads="1"/>
            </p:cNvSpPr>
            <p:nvPr/>
          </p:nvSpPr>
          <p:spPr bwMode="auto">
            <a:xfrm>
              <a:off x="2530498" y="1352542"/>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35" name="Oval 10"/>
            <p:cNvSpPr>
              <a:spLocks noChangeArrowheads="1"/>
            </p:cNvSpPr>
            <p:nvPr/>
          </p:nvSpPr>
          <p:spPr bwMode="auto">
            <a:xfrm>
              <a:off x="3536973" y="1352542"/>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36" name="Oval 11"/>
            <p:cNvSpPr>
              <a:spLocks noChangeArrowheads="1"/>
            </p:cNvSpPr>
            <p:nvPr/>
          </p:nvSpPr>
          <p:spPr bwMode="auto">
            <a:xfrm>
              <a:off x="1087460" y="1927217"/>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37" name="Oval 12"/>
            <p:cNvSpPr>
              <a:spLocks noChangeArrowheads="1"/>
            </p:cNvSpPr>
            <p:nvPr/>
          </p:nvSpPr>
          <p:spPr bwMode="auto">
            <a:xfrm>
              <a:off x="1449410" y="1927217"/>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38" name="Oval 13"/>
            <p:cNvSpPr>
              <a:spLocks noChangeArrowheads="1"/>
            </p:cNvSpPr>
            <p:nvPr/>
          </p:nvSpPr>
          <p:spPr bwMode="auto">
            <a:xfrm>
              <a:off x="1809773" y="1927217"/>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39" name="Oval 14"/>
            <p:cNvSpPr>
              <a:spLocks noChangeArrowheads="1"/>
            </p:cNvSpPr>
            <p:nvPr/>
          </p:nvSpPr>
          <p:spPr bwMode="auto">
            <a:xfrm>
              <a:off x="2168548" y="1927217"/>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40" name="Oval 15"/>
            <p:cNvSpPr>
              <a:spLocks noChangeArrowheads="1"/>
            </p:cNvSpPr>
            <p:nvPr/>
          </p:nvSpPr>
          <p:spPr bwMode="auto">
            <a:xfrm>
              <a:off x="2530498" y="1927217"/>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41" name="Oval 16"/>
            <p:cNvSpPr>
              <a:spLocks noChangeArrowheads="1"/>
            </p:cNvSpPr>
            <p:nvPr/>
          </p:nvSpPr>
          <p:spPr bwMode="auto">
            <a:xfrm>
              <a:off x="2890860" y="1927217"/>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42" name="Oval 17"/>
            <p:cNvSpPr>
              <a:spLocks noChangeArrowheads="1"/>
            </p:cNvSpPr>
            <p:nvPr/>
          </p:nvSpPr>
          <p:spPr bwMode="auto">
            <a:xfrm>
              <a:off x="3249635" y="1927217"/>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43" name="Oval 18"/>
            <p:cNvSpPr>
              <a:spLocks noChangeArrowheads="1"/>
            </p:cNvSpPr>
            <p:nvPr/>
          </p:nvSpPr>
          <p:spPr bwMode="auto">
            <a:xfrm>
              <a:off x="3611585" y="1927217"/>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44" name="Oval 19"/>
            <p:cNvSpPr>
              <a:spLocks noChangeArrowheads="1"/>
            </p:cNvSpPr>
            <p:nvPr/>
          </p:nvSpPr>
          <p:spPr bwMode="auto">
            <a:xfrm>
              <a:off x="3971948" y="1927217"/>
              <a:ext cx="288925" cy="287337"/>
            </a:xfrm>
            <a:prstGeom prst="ellipse">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55" name="左大括号 54"/>
            <p:cNvSpPr/>
            <p:nvPr/>
          </p:nvSpPr>
          <p:spPr>
            <a:xfrm>
              <a:off x="857224" y="785794"/>
              <a:ext cx="142876" cy="1357322"/>
            </a:xfrm>
            <a:prstGeom prst="lef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56" name="TextBox 55"/>
            <p:cNvSpPr txBox="1"/>
            <p:nvPr/>
          </p:nvSpPr>
          <p:spPr>
            <a:xfrm>
              <a:off x="1142976" y="3286124"/>
              <a:ext cx="3071834" cy="400110"/>
            </a:xfrm>
            <a:prstGeom prst="rect">
              <a:avLst/>
            </a:prstGeom>
            <a:noFill/>
          </p:spPr>
          <p:txBody>
            <a:bodyPr wrap="square" rtlCol="0">
              <a:spAutoFit/>
            </a:bodyPr>
            <a:lstStyle/>
            <a:p>
              <a:r>
                <a:rPr kumimoji="1" lang="en-US" altLang="zh-CN" sz="2000">
                  <a:latin typeface="Consolas" pitchFamily="49" charset="0"/>
                  <a:ea typeface="楷体" pitchFamily="49" charset="-122"/>
                  <a:cs typeface="Consolas" pitchFamily="49" charset="0"/>
                </a:rPr>
                <a:t>1+3</a:t>
              </a:r>
              <a:r>
                <a:rPr kumimoji="1" lang="en-US" altLang="zh-CN" sz="2000" baseline="30000">
                  <a:latin typeface="Consolas" pitchFamily="49" charset="0"/>
                  <a:ea typeface="楷体" pitchFamily="49" charset="-122"/>
                  <a:cs typeface="Consolas" pitchFamily="49" charset="0"/>
                </a:rPr>
                <a:t>1</a:t>
              </a:r>
              <a:r>
                <a:rPr kumimoji="1" lang="en-US" altLang="zh-CN" sz="2000">
                  <a:latin typeface="Consolas" pitchFamily="49" charset="0"/>
                  <a:ea typeface="楷体" pitchFamily="49" charset="-122"/>
                  <a:cs typeface="Consolas" pitchFamily="49" charset="0"/>
                </a:rPr>
                <a:t>+3</a:t>
              </a:r>
              <a:r>
                <a:rPr kumimoji="1" lang="en-US" altLang="zh-CN" sz="2000" baseline="30000">
                  <a:latin typeface="Consolas" pitchFamily="49" charset="0"/>
                  <a:ea typeface="楷体" pitchFamily="49" charset="-122"/>
                  <a:cs typeface="Consolas" pitchFamily="49" charset="0"/>
                </a:rPr>
                <a:t>2</a:t>
              </a:r>
              <a:r>
                <a:rPr kumimoji="1" lang="en-US" altLang="zh-CN" sz="2000">
                  <a:latin typeface="Consolas" pitchFamily="49" charset="0"/>
                  <a:ea typeface="楷体" pitchFamily="49" charset="-122"/>
                  <a:cs typeface="Consolas" pitchFamily="49" charset="0"/>
                </a:rPr>
                <a:t>+</a:t>
              </a:r>
              <a:r>
                <a:rPr kumimoji="1" lang="en-US" altLang="zh-CN" sz="2000">
                  <a:latin typeface="宋体" pitchFamily="2" charset="-122"/>
                  <a:ea typeface="宋体" pitchFamily="2" charset="-122"/>
                  <a:cs typeface="Consolas" pitchFamily="49" charset="0"/>
                </a:rPr>
                <a:t>…</a:t>
              </a:r>
              <a:r>
                <a:rPr kumimoji="1" lang="en-US" altLang="zh-CN" sz="2000">
                  <a:latin typeface="Consolas" pitchFamily="49" charset="0"/>
                  <a:ea typeface="楷体" pitchFamily="49" charset="-122"/>
                  <a:cs typeface="Consolas" pitchFamily="49" charset="0"/>
                </a:rPr>
                <a:t>+3</a:t>
              </a:r>
              <a:r>
                <a:rPr kumimoji="1" lang="en-US" altLang="zh-CN" sz="2000" i="1" baseline="30000">
                  <a:latin typeface="Consolas" pitchFamily="49" charset="0"/>
                  <a:ea typeface="楷体" pitchFamily="49" charset="-122"/>
                  <a:cs typeface="Consolas" pitchFamily="49" charset="0"/>
                </a:rPr>
                <a:t>h</a:t>
              </a:r>
              <a:r>
                <a:rPr kumimoji="1" lang="en-US" altLang="zh-CN" sz="2000" baseline="30000">
                  <a:latin typeface="Consolas" pitchFamily="49" charset="0"/>
                  <a:ea typeface="楷体" pitchFamily="49" charset="-122"/>
                  <a:cs typeface="Consolas" pitchFamily="49" charset="0"/>
                </a:rPr>
                <a:t>-1</a:t>
              </a:r>
              <a:endParaRPr lang="zh-CN" altLang="en-US" sz="2000">
                <a:latin typeface="Consolas" pitchFamily="49" charset="0"/>
                <a:cs typeface="Consolas" pitchFamily="49" charset="0"/>
              </a:endParaRPr>
            </a:p>
          </p:txBody>
        </p:sp>
        <p:sp>
          <p:nvSpPr>
            <p:cNvPr id="57" name="TextBox 56"/>
            <p:cNvSpPr txBox="1"/>
            <p:nvPr/>
          </p:nvSpPr>
          <p:spPr>
            <a:xfrm>
              <a:off x="428596" y="1285860"/>
              <a:ext cx="428628" cy="400110"/>
            </a:xfrm>
            <a:prstGeom prst="rect">
              <a:avLst/>
            </a:prstGeom>
            <a:noFill/>
          </p:spPr>
          <p:txBody>
            <a:bodyPr wrap="square" rtlCol="0">
              <a:spAutoFit/>
            </a:bodyPr>
            <a:lstStyle/>
            <a:p>
              <a:r>
                <a:rPr lang="en-US" altLang="zh-CN" sz="2000" i="1">
                  <a:latin typeface="Consolas" pitchFamily="49" charset="0"/>
                  <a:cs typeface="Consolas" pitchFamily="49" charset="0"/>
                </a:rPr>
                <a:t>h</a:t>
              </a:r>
              <a:endParaRPr lang="zh-CN" altLang="en-US" sz="2000" i="1">
                <a:latin typeface="Consolas" pitchFamily="49" charset="0"/>
                <a:cs typeface="Consolas" pitchFamily="49" charset="0"/>
              </a:endParaRPr>
            </a:p>
          </p:txBody>
        </p:sp>
        <p:sp>
          <p:nvSpPr>
            <p:cNvPr id="59" name="下箭头 58"/>
            <p:cNvSpPr/>
            <p:nvPr/>
          </p:nvSpPr>
          <p:spPr>
            <a:xfrm>
              <a:off x="2428860" y="2428868"/>
              <a:ext cx="214314" cy="357190"/>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latin typeface="Consolas" pitchFamily="49" charset="0"/>
                <a:cs typeface="Consolas" pitchFamily="49" charset="0"/>
              </a:endParaRPr>
            </a:p>
          </p:txBody>
        </p:sp>
      </p:grpSp>
      <p:grpSp>
        <p:nvGrpSpPr>
          <p:cNvPr id="3" name="组合 63"/>
          <p:cNvGrpSpPr/>
          <p:nvPr/>
        </p:nvGrpSpPr>
        <p:grpSpPr>
          <a:xfrm>
            <a:off x="2715738" y="1688533"/>
            <a:ext cx="3954466" cy="2933477"/>
            <a:chOff x="4429124" y="785794"/>
            <a:chExt cx="3954466" cy="2933477"/>
          </a:xfrm>
        </p:grpSpPr>
        <p:sp>
          <p:nvSpPr>
            <p:cNvPr id="45" name="Line 33"/>
            <p:cNvSpPr>
              <a:spLocks noChangeShapeType="1"/>
            </p:cNvSpPr>
            <p:nvPr/>
          </p:nvSpPr>
          <p:spPr bwMode="auto">
            <a:xfrm flipH="1">
              <a:off x="5735688" y="990592"/>
              <a:ext cx="792163" cy="4318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46" name="Line 34"/>
            <p:cNvSpPr>
              <a:spLocks noChangeShapeType="1"/>
            </p:cNvSpPr>
            <p:nvPr/>
          </p:nvSpPr>
          <p:spPr bwMode="auto">
            <a:xfrm>
              <a:off x="6672313" y="1063617"/>
              <a:ext cx="0" cy="358775"/>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47" name="Line 35"/>
            <p:cNvSpPr>
              <a:spLocks noChangeShapeType="1"/>
            </p:cNvSpPr>
            <p:nvPr/>
          </p:nvSpPr>
          <p:spPr bwMode="auto">
            <a:xfrm>
              <a:off x="6743751" y="990592"/>
              <a:ext cx="936625" cy="431800"/>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48" name="Line 36"/>
            <p:cNvSpPr>
              <a:spLocks noChangeShapeType="1"/>
            </p:cNvSpPr>
            <p:nvPr/>
          </p:nvSpPr>
          <p:spPr bwMode="auto">
            <a:xfrm flipH="1">
              <a:off x="5232451" y="1495417"/>
              <a:ext cx="431800" cy="503237"/>
            </a:xfrm>
            <a:prstGeom prst="line">
              <a:avLst/>
            </a:prstGeom>
            <a:ln>
              <a:headEnd/>
              <a:tailEnd/>
            </a:ln>
          </p:spPr>
          <p:style>
            <a:lnRef idx="1">
              <a:schemeClr val="accent5"/>
            </a:lnRef>
            <a:fillRef idx="0">
              <a:schemeClr val="accent5"/>
            </a:fillRef>
            <a:effectRef idx="0">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49" name="Oval 45"/>
            <p:cNvSpPr>
              <a:spLocks noChangeArrowheads="1"/>
            </p:cNvSpPr>
            <p:nvPr/>
          </p:nvSpPr>
          <p:spPr bwMode="auto">
            <a:xfrm>
              <a:off x="6527851" y="847717"/>
              <a:ext cx="288925" cy="287337"/>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50" name="Oval 46"/>
            <p:cNvSpPr>
              <a:spLocks noChangeArrowheads="1"/>
            </p:cNvSpPr>
            <p:nvPr/>
          </p:nvSpPr>
          <p:spPr bwMode="auto">
            <a:xfrm>
              <a:off x="5519788" y="1352542"/>
              <a:ext cx="288925" cy="287337"/>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51" name="Oval 47"/>
            <p:cNvSpPr>
              <a:spLocks noChangeArrowheads="1"/>
            </p:cNvSpPr>
            <p:nvPr/>
          </p:nvSpPr>
          <p:spPr bwMode="auto">
            <a:xfrm>
              <a:off x="6529438" y="1352542"/>
              <a:ext cx="288925" cy="287337"/>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52" name="Oval 48"/>
            <p:cNvSpPr>
              <a:spLocks noChangeArrowheads="1"/>
            </p:cNvSpPr>
            <p:nvPr/>
          </p:nvSpPr>
          <p:spPr bwMode="auto">
            <a:xfrm>
              <a:off x="7535913" y="1352542"/>
              <a:ext cx="288925" cy="287337"/>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53" name="Oval 49"/>
            <p:cNvSpPr>
              <a:spLocks noChangeArrowheads="1"/>
            </p:cNvSpPr>
            <p:nvPr/>
          </p:nvSpPr>
          <p:spPr bwMode="auto">
            <a:xfrm>
              <a:off x="5086401" y="1927217"/>
              <a:ext cx="288925" cy="287337"/>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latin typeface="Consolas" pitchFamily="49" charset="0"/>
                <a:cs typeface="Consolas" pitchFamily="49" charset="0"/>
              </a:endParaRPr>
            </a:p>
          </p:txBody>
        </p:sp>
        <p:sp>
          <p:nvSpPr>
            <p:cNvPr id="54" name="Text Box 58"/>
            <p:cNvSpPr txBox="1">
              <a:spLocks noChangeArrowheads="1"/>
            </p:cNvSpPr>
            <p:nvPr/>
          </p:nvSpPr>
          <p:spPr bwMode="auto">
            <a:xfrm>
              <a:off x="5000628" y="2928934"/>
              <a:ext cx="3382962" cy="400110"/>
            </a:xfrm>
            <a:prstGeom prst="rect">
              <a:avLst/>
            </a:prstGeom>
            <a:noFill/>
            <a:ln w="9525">
              <a:noFill/>
              <a:miter lim="800000"/>
              <a:headEnd/>
              <a:tailEnd/>
            </a:ln>
            <a:effectLst/>
          </p:spPr>
          <p:txBody>
            <a:bodyPr>
              <a:spAutoFit/>
            </a:bodyPr>
            <a:lstStyle/>
            <a:p>
              <a:pPr algn="l">
                <a:spcBef>
                  <a:spcPct val="50000"/>
                </a:spcBef>
              </a:pPr>
              <a:r>
                <a:rPr lang="zh-CN" altLang="en-US" sz="2000">
                  <a:latin typeface="Consolas" pitchFamily="49" charset="0"/>
                  <a:ea typeface="楷体" pitchFamily="49" charset="-122"/>
                  <a:cs typeface="Consolas" pitchFamily="49" charset="0"/>
                </a:rPr>
                <a:t>最少结点情况，结点个数：</a:t>
              </a:r>
              <a:endParaRPr lang="zh-CN" altLang="en-US" sz="2000" dirty="0">
                <a:latin typeface="Consolas" pitchFamily="49" charset="0"/>
                <a:ea typeface="楷体" pitchFamily="49" charset="-122"/>
                <a:cs typeface="Consolas" pitchFamily="49" charset="0"/>
              </a:endParaRPr>
            </a:p>
          </p:txBody>
        </p:sp>
        <p:sp>
          <p:nvSpPr>
            <p:cNvPr id="60" name="下箭头 59"/>
            <p:cNvSpPr/>
            <p:nvPr/>
          </p:nvSpPr>
          <p:spPr>
            <a:xfrm>
              <a:off x="6715140" y="2428868"/>
              <a:ext cx="214314" cy="357190"/>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61" name="左大括号 60"/>
            <p:cNvSpPr/>
            <p:nvPr/>
          </p:nvSpPr>
          <p:spPr>
            <a:xfrm>
              <a:off x="4857752" y="785794"/>
              <a:ext cx="142876" cy="1357322"/>
            </a:xfrm>
            <a:prstGeom prst="leftBrace">
              <a:avLst/>
            </a:prstGeom>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62" name="TextBox 61"/>
            <p:cNvSpPr txBox="1"/>
            <p:nvPr/>
          </p:nvSpPr>
          <p:spPr>
            <a:xfrm>
              <a:off x="4429124" y="1285860"/>
              <a:ext cx="428628" cy="400110"/>
            </a:xfrm>
            <a:prstGeom prst="rect">
              <a:avLst/>
            </a:prstGeom>
            <a:noFill/>
          </p:spPr>
          <p:txBody>
            <a:bodyPr wrap="square" rtlCol="0">
              <a:spAutoFit/>
            </a:bodyPr>
            <a:lstStyle/>
            <a:p>
              <a:r>
                <a:rPr lang="en-US" altLang="zh-CN" sz="2000" i="1">
                  <a:latin typeface="Consolas" pitchFamily="49" charset="0"/>
                  <a:cs typeface="Consolas" pitchFamily="49" charset="0"/>
                </a:rPr>
                <a:t>h</a:t>
              </a:r>
              <a:endParaRPr lang="zh-CN" altLang="en-US" sz="2000" i="1">
                <a:latin typeface="Consolas" pitchFamily="49" charset="0"/>
                <a:cs typeface="Consolas" pitchFamily="49" charset="0"/>
              </a:endParaRPr>
            </a:p>
          </p:txBody>
        </p:sp>
        <p:sp>
          <p:nvSpPr>
            <p:cNvPr id="63" name="TextBox 62"/>
            <p:cNvSpPr txBox="1"/>
            <p:nvPr/>
          </p:nvSpPr>
          <p:spPr>
            <a:xfrm>
              <a:off x="5143504" y="3319161"/>
              <a:ext cx="3071834" cy="400110"/>
            </a:xfrm>
            <a:prstGeom prst="rect">
              <a:avLst/>
            </a:prstGeom>
            <a:noFill/>
          </p:spPr>
          <p:txBody>
            <a:bodyPr wrap="square" rtlCol="0">
              <a:spAutoFit/>
            </a:bodyPr>
            <a:lstStyle/>
            <a:p>
              <a:r>
                <a:rPr kumimoji="1" lang="en-US" altLang="zh-CN" sz="2000">
                  <a:latin typeface="Consolas" pitchFamily="49" charset="0"/>
                  <a:ea typeface="楷体" pitchFamily="49" charset="-122"/>
                  <a:cs typeface="Consolas" pitchFamily="49" charset="0"/>
                </a:rPr>
                <a:t>1+3</a:t>
              </a:r>
              <a:r>
                <a:rPr kumimoji="1" lang="en-US" altLang="zh-CN" sz="2000" baseline="30000">
                  <a:latin typeface="Consolas" pitchFamily="49" charset="0"/>
                  <a:ea typeface="楷体" pitchFamily="49" charset="-122"/>
                  <a:cs typeface="Consolas" pitchFamily="49" charset="0"/>
                </a:rPr>
                <a:t>1</a:t>
              </a:r>
              <a:r>
                <a:rPr kumimoji="1" lang="en-US" altLang="zh-CN" sz="2000">
                  <a:latin typeface="Consolas" pitchFamily="49" charset="0"/>
                  <a:ea typeface="楷体" pitchFamily="49" charset="-122"/>
                  <a:cs typeface="Consolas" pitchFamily="49" charset="0"/>
                </a:rPr>
                <a:t>+3</a:t>
              </a:r>
              <a:r>
                <a:rPr kumimoji="1" lang="en-US" altLang="zh-CN" sz="2000" baseline="30000">
                  <a:latin typeface="Consolas" pitchFamily="49" charset="0"/>
                  <a:ea typeface="楷体" pitchFamily="49" charset="-122"/>
                  <a:cs typeface="Consolas" pitchFamily="49" charset="0"/>
                </a:rPr>
                <a:t>2</a:t>
              </a:r>
              <a:r>
                <a:rPr kumimoji="1" lang="en-US" altLang="zh-CN" sz="2000">
                  <a:latin typeface="Consolas" pitchFamily="49" charset="0"/>
                  <a:ea typeface="楷体" pitchFamily="49" charset="-122"/>
                  <a:cs typeface="Consolas" pitchFamily="49" charset="0"/>
                </a:rPr>
                <a:t>+</a:t>
              </a:r>
              <a:r>
                <a:rPr kumimoji="1" lang="en-US" altLang="zh-CN" sz="2000">
                  <a:latin typeface="宋体" pitchFamily="2" charset="-122"/>
                  <a:ea typeface="宋体" pitchFamily="2" charset="-122"/>
                  <a:cs typeface="Consolas" pitchFamily="49" charset="0"/>
                </a:rPr>
                <a:t>…</a:t>
              </a:r>
              <a:r>
                <a:rPr kumimoji="1" lang="en-US" altLang="zh-CN" sz="2000">
                  <a:latin typeface="Consolas" pitchFamily="49" charset="0"/>
                  <a:ea typeface="楷体" pitchFamily="49" charset="-122"/>
                  <a:cs typeface="Consolas" pitchFamily="49" charset="0"/>
                </a:rPr>
                <a:t>+3</a:t>
              </a:r>
              <a:r>
                <a:rPr kumimoji="1" lang="en-US" altLang="zh-CN" sz="2000" i="1" baseline="30000">
                  <a:latin typeface="Consolas" pitchFamily="49" charset="0"/>
                  <a:ea typeface="楷体" pitchFamily="49" charset="-122"/>
                  <a:cs typeface="Consolas" pitchFamily="49" charset="0"/>
                </a:rPr>
                <a:t>h</a:t>
              </a:r>
              <a:r>
                <a:rPr kumimoji="1" lang="en-US" altLang="zh-CN" sz="2000" baseline="30000">
                  <a:latin typeface="Consolas" pitchFamily="49" charset="0"/>
                  <a:ea typeface="楷体" pitchFamily="49" charset="-122"/>
                  <a:cs typeface="Consolas" pitchFamily="49" charset="0"/>
                </a:rPr>
                <a:t>-2</a:t>
              </a:r>
              <a:r>
                <a:rPr kumimoji="1" lang="en-US" altLang="zh-CN" sz="2000">
                  <a:latin typeface="Consolas" pitchFamily="49" charset="0"/>
                  <a:ea typeface="楷体" pitchFamily="49" charset="-122"/>
                  <a:cs typeface="Consolas" pitchFamily="49" charset="0"/>
                </a:rPr>
                <a:t>+1</a:t>
              </a:r>
              <a:endParaRPr lang="zh-CN" altLang="en-US" sz="2000">
                <a:latin typeface="Consolas" pitchFamily="49" charset="0"/>
                <a:cs typeface="Consolas" pitchFamily="49" charset="0"/>
              </a:endParaRPr>
            </a:p>
          </p:txBody>
        </p:sp>
      </p:grpSp>
      <p:cxnSp>
        <p:nvCxnSpPr>
          <p:cNvPr id="67" name="直接箭头连接符 66"/>
          <p:cNvCxnSpPr>
            <a:cxnSpLocks/>
            <a:endCxn id="63" idx="2"/>
          </p:cNvCxnSpPr>
          <p:nvPr/>
        </p:nvCxnSpPr>
        <p:spPr>
          <a:xfrm flipV="1">
            <a:off x="4835048" y="4622010"/>
            <a:ext cx="130987" cy="420560"/>
          </a:xfrm>
          <a:prstGeom prst="straightConnector1">
            <a:avLst/>
          </a:prstGeom>
          <a:ln>
            <a:tailEnd type="arrow"/>
          </a:ln>
        </p:spPr>
        <p:style>
          <a:lnRef idx="1">
            <a:schemeClr val="accent6"/>
          </a:lnRef>
          <a:fillRef idx="0">
            <a:schemeClr val="accent6"/>
          </a:fillRef>
          <a:effectRef idx="0">
            <a:schemeClr val="accent6"/>
          </a:effectRef>
          <a:fontRef idx="minor">
            <a:schemeClr val="tx1"/>
          </a:fontRef>
        </p:style>
      </p:cxnSp>
      <p:cxnSp>
        <p:nvCxnSpPr>
          <p:cNvPr id="69" name="直接箭头连接符 68"/>
          <p:cNvCxnSpPr>
            <a:cxnSpLocks/>
            <a:endCxn id="56" idx="2"/>
          </p:cNvCxnSpPr>
          <p:nvPr/>
        </p:nvCxnSpPr>
        <p:spPr>
          <a:xfrm flipV="1">
            <a:off x="8124404" y="4622009"/>
            <a:ext cx="510345" cy="362554"/>
          </a:xfrm>
          <a:prstGeom prst="straightConnector1">
            <a:avLst/>
          </a:prstGeom>
          <a:ln>
            <a:tailEnd type="arrow"/>
          </a:ln>
        </p:spPr>
        <p:style>
          <a:lnRef idx="1">
            <a:schemeClr val="accent6"/>
          </a:lnRef>
          <a:fillRef idx="0">
            <a:schemeClr val="accent6"/>
          </a:fillRef>
          <a:effectRef idx="0">
            <a:schemeClr val="accent6"/>
          </a:effectRef>
          <a:fontRef idx="minor">
            <a:schemeClr val="tx1"/>
          </a:fontRef>
        </p:style>
      </p:cxnSp>
      <p:sp>
        <p:nvSpPr>
          <p:cNvPr id="58" name="椭圆 57"/>
          <p:cNvSpPr/>
          <p:nvPr/>
        </p:nvSpPr>
        <p:spPr>
          <a:xfrm>
            <a:off x="5290637" y="5042570"/>
            <a:ext cx="500066" cy="357190"/>
          </a:xfrm>
          <a:prstGeom prst="ellipse">
            <a:avLst/>
          </a:prstGeom>
          <a:solidFill>
            <a:schemeClr val="accent1">
              <a:alpha val="0"/>
            </a:schemeClr>
          </a:solidFill>
          <a:ln>
            <a:solidFill>
              <a:srgbClr val="66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TextBox 65"/>
          <p:cNvSpPr txBox="1"/>
          <p:nvPr/>
        </p:nvSpPr>
        <p:spPr>
          <a:xfrm>
            <a:off x="1962925" y="2078759"/>
            <a:ext cx="492443" cy="857256"/>
          </a:xfrm>
          <a:prstGeom prst="rect">
            <a:avLst/>
          </a:prstGeom>
          <a:noFill/>
        </p:spPr>
        <p:txBody>
          <a:bodyPr vert="eaVert" wrap="square" rtlCol="0">
            <a:spAutoFit/>
          </a:bodyPr>
          <a:lstStyle/>
          <a:p>
            <a:r>
              <a:rPr lang="zh-CN" altLang="en-US" sz="2000" spc="600">
                <a:solidFill>
                  <a:srgbClr val="FF0000"/>
                </a:solidFill>
                <a:latin typeface="微软雅黑" pitchFamily="34" charset="-122"/>
                <a:ea typeface="微软雅黑" pitchFamily="34" charset="-122"/>
              </a:rPr>
              <a:t>推广</a:t>
            </a:r>
          </a:p>
        </p:txBody>
      </p:sp>
      <p:sp>
        <p:nvSpPr>
          <p:cNvPr id="64" name="灯片编号占位符 63"/>
          <p:cNvSpPr>
            <a:spLocks noGrp="1"/>
          </p:cNvSpPr>
          <p:nvPr>
            <p:ph type="sldNum" sz="quarter" idx="12"/>
          </p:nvPr>
        </p:nvSpPr>
        <p:spPr/>
        <p:txBody>
          <a:bodyPr/>
          <a:lstStyle/>
          <a:p>
            <a:fld id="{FFD28AF7-D4CC-4B35-B7D7-507FA0146854}" type="slidenum">
              <a:rPr lang="en-US" altLang="zh-CN" smtClean="0"/>
              <a:pPr/>
              <a:t>19</a:t>
            </a:fld>
            <a:r>
              <a:rPr lang="en-US" altLang="zh-CN"/>
              <a:t>/49</a:t>
            </a:r>
          </a:p>
        </p:txBody>
      </p:sp>
      <p:sp>
        <p:nvSpPr>
          <p:cNvPr id="7" name="矩形 6">
            <a:extLst>
              <a:ext uri="{FF2B5EF4-FFF2-40B4-BE49-F238E27FC236}">
                <a16:creationId xmlns:a16="http://schemas.microsoft.com/office/drawing/2014/main" xmlns="" id="{CFAA3143-DD53-362B-AC6F-7B8BF56C274C}"/>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8" name="Rectangle 2">
            <a:extLst>
              <a:ext uri="{FF2B5EF4-FFF2-40B4-BE49-F238E27FC236}">
                <a16:creationId xmlns:a16="http://schemas.microsoft.com/office/drawing/2014/main" xmlns="" id="{D2FEAFCC-BC42-DAD1-234F-5CF0F3C53038}"/>
              </a:ext>
            </a:extLst>
          </p:cNvPr>
          <p:cNvSpPr txBox="1">
            <a:spLocks noChangeArrowheads="1"/>
          </p:cNvSpPr>
          <p:nvPr/>
        </p:nvSpPr>
        <p:spPr>
          <a:xfrm>
            <a:off x="79920" y="836712"/>
            <a:ext cx="277572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7.1.4 </a:t>
            </a:r>
            <a:r>
              <a:rPr lang="zh-CN" altLang="en-US" dirty="0"/>
              <a:t>树的性质</a:t>
            </a:r>
          </a:p>
        </p:txBody>
      </p:sp>
      <p:cxnSp>
        <p:nvCxnSpPr>
          <p:cNvPr id="9" name="直接连接符 8">
            <a:extLst>
              <a:ext uri="{FF2B5EF4-FFF2-40B4-BE49-F238E27FC236}">
                <a16:creationId xmlns:a16="http://schemas.microsoft.com/office/drawing/2014/main" xmlns="" id="{858DD3CB-18BA-1E74-0144-6A1941EB2AD4}"/>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69"/>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par>
                          <p:cTn id="23" fill="hold">
                            <p:stCondLst>
                              <p:cond delay="0"/>
                            </p:stCondLst>
                            <p:childTnLst>
                              <p:par>
                                <p:cTn id="24" presetID="26" presetClass="emph" presetSubtype="0" fill="hold" grpId="1" nodeType="afterEffect">
                                  <p:stCondLst>
                                    <p:cond delay="0"/>
                                  </p:stCondLst>
                                  <p:childTnLst>
                                    <p:animEffect transition="out" filter="fade">
                                      <p:cBhvr>
                                        <p:cTn id="25" dur="500" tmFilter="0, 0; .2, .5; .8, .5; 1, 0"/>
                                        <p:tgtEl>
                                          <p:spTgt spid="58"/>
                                        </p:tgtEl>
                                      </p:cBhvr>
                                    </p:animEffect>
                                    <p:animScale>
                                      <p:cBhvr>
                                        <p:cTn id="26" dur="250" autoRev="1" fill="hold"/>
                                        <p:tgtEl>
                                          <p:spTgt spid="58"/>
                                        </p:tgtEl>
                                      </p:cBhvr>
                                      <p:by x="105000" y="105000"/>
                                    </p:animScale>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grpId="2" nodeType="clickEffect">
                                  <p:stCondLst>
                                    <p:cond delay="0"/>
                                  </p:stCondLst>
                                  <p:childTnLst>
                                    <p:animEffect transition="out" filter="wipe(down)">
                                      <p:cBhvr>
                                        <p:cTn id="30" dur="500"/>
                                        <p:tgtEl>
                                          <p:spTgt spid="58"/>
                                        </p:tgtEl>
                                      </p:cBhvr>
                                    </p:animEffect>
                                    <p:set>
                                      <p:cBhvr>
                                        <p:cTn id="31" dur="1" fill="hold">
                                          <p:stCondLst>
                                            <p:cond delay="499"/>
                                          </p:stCondLst>
                                        </p:cTn>
                                        <p:tgtEl>
                                          <p:spTgt spid="58"/>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58" grpId="2"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Text Box 3"/>
          <p:cNvSpPr txBox="1">
            <a:spLocks noChangeArrowheads="1"/>
          </p:cNvSpPr>
          <p:nvPr/>
        </p:nvSpPr>
        <p:spPr bwMode="auto">
          <a:xfrm>
            <a:off x="1775520" y="1605002"/>
            <a:ext cx="4532316" cy="565604"/>
          </a:xfrm>
          <a:prstGeom prst="rect">
            <a:avLst/>
          </a:prstGeom>
          <a:noFill/>
          <a:ln w="9525">
            <a:noFill/>
            <a:miter lim="800000"/>
            <a:headEnd/>
            <a:tailEnd/>
          </a:ln>
          <a:effectLst/>
        </p:spPr>
        <p:txBody>
          <a:bodyPr wrap="square">
            <a:spAutoFit/>
          </a:bodyPr>
          <a:lstStyle/>
          <a:p>
            <a:pPr algn="just">
              <a:lnSpc>
                <a:spcPct val="120000"/>
              </a:lnSpc>
              <a:spcBef>
                <a:spcPct val="50000"/>
              </a:spcBef>
            </a:pPr>
            <a:r>
              <a:rPr kumimoji="1" lang="en-US" altLang="zh-CN" sz="2000" dirty="0">
                <a:ea typeface="楷体" pitchFamily="49" charset="-122"/>
                <a:cs typeface="Times New Roman" pitchFamily="18" charset="0"/>
              </a:rPr>
              <a:t> </a:t>
            </a:r>
            <a:r>
              <a:rPr kumimoji="1" lang="zh-CN" altLang="en-US" sz="2800" dirty="0">
                <a:latin typeface="微软雅黑" pitchFamily="34" charset="-122"/>
                <a:ea typeface="微软雅黑" pitchFamily="34" charset="-122"/>
                <a:cs typeface="经典粗黑简" pitchFamily="49" charset="-122"/>
              </a:rPr>
              <a:t>树的运算主要分为三大类：  </a:t>
            </a:r>
          </a:p>
        </p:txBody>
      </p:sp>
      <p:sp>
        <p:nvSpPr>
          <p:cNvPr id="5" name="TextBox 4"/>
          <p:cNvSpPr txBox="1"/>
          <p:nvPr/>
        </p:nvSpPr>
        <p:spPr>
          <a:xfrm>
            <a:off x="1897352" y="2524583"/>
            <a:ext cx="8951176" cy="319052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457200" indent="-457200">
              <a:lnSpc>
                <a:spcPct val="120000"/>
              </a:lnSpc>
              <a:spcBef>
                <a:spcPct val="50000"/>
              </a:spcBef>
              <a:buBlip>
                <a:blip r:embed="rId2"/>
              </a:buBlip>
            </a:pPr>
            <a:r>
              <a:rPr kumimoji="1" lang="zh-CN" altLang="en-US" sz="2800" dirty="0">
                <a:solidFill>
                  <a:srgbClr val="FF0000"/>
                </a:solidFill>
                <a:latin typeface="微软雅黑" pitchFamily="34" charset="-122"/>
                <a:ea typeface="微软雅黑" pitchFamily="34" charset="-122"/>
                <a:cs typeface="经典粗黑简" pitchFamily="49" charset="-122"/>
              </a:rPr>
              <a:t>查找</a:t>
            </a:r>
            <a:r>
              <a:rPr kumimoji="1" lang="zh-CN" altLang="en-US" sz="2800" dirty="0">
                <a:solidFill>
                  <a:schemeClr val="tx1"/>
                </a:solidFill>
                <a:latin typeface="微软雅黑" pitchFamily="34" charset="-122"/>
                <a:ea typeface="微软雅黑" pitchFamily="34" charset="-122"/>
                <a:cs typeface="经典粗黑简" pitchFamily="49" charset="-122"/>
              </a:rPr>
              <a:t>满足某种特定关系的结点，如查找当前结点的双亲结点等。</a:t>
            </a:r>
          </a:p>
          <a:p>
            <a:pPr marL="457200" indent="-457200">
              <a:lnSpc>
                <a:spcPct val="120000"/>
              </a:lnSpc>
              <a:spcBef>
                <a:spcPct val="50000"/>
              </a:spcBef>
              <a:buBlip>
                <a:blip r:embed="rId2"/>
              </a:buBlip>
            </a:pPr>
            <a:r>
              <a:rPr kumimoji="1" lang="zh-CN" altLang="en-US" sz="2800" dirty="0">
                <a:solidFill>
                  <a:srgbClr val="FF0000"/>
                </a:solidFill>
                <a:latin typeface="微软雅黑" pitchFamily="34" charset="-122"/>
                <a:ea typeface="微软雅黑" pitchFamily="34" charset="-122"/>
                <a:cs typeface="经典粗黑简" pitchFamily="49" charset="-122"/>
              </a:rPr>
              <a:t>插入或删除</a:t>
            </a:r>
            <a:r>
              <a:rPr kumimoji="1" lang="zh-CN" altLang="en-US" sz="2800" dirty="0">
                <a:solidFill>
                  <a:schemeClr val="tx1"/>
                </a:solidFill>
                <a:latin typeface="微软雅黑" pitchFamily="34" charset="-122"/>
                <a:ea typeface="微软雅黑" pitchFamily="34" charset="-122"/>
                <a:cs typeface="经典粗黑简" pitchFamily="49" charset="-122"/>
              </a:rPr>
              <a:t>某个结点，如在树的当前结点上插入一个新结点或删除当前结点的第</a:t>
            </a:r>
            <a:r>
              <a:rPr kumimoji="1" lang="en-US" altLang="zh-CN" sz="2800" dirty="0" err="1">
                <a:solidFill>
                  <a:schemeClr val="tx1"/>
                </a:solidFill>
                <a:latin typeface="微软雅黑" pitchFamily="34" charset="-122"/>
                <a:ea typeface="微软雅黑" pitchFamily="34" charset="-122"/>
                <a:cs typeface="经典粗黑简" pitchFamily="49" charset="-122"/>
              </a:rPr>
              <a:t>i</a:t>
            </a:r>
            <a:r>
              <a:rPr kumimoji="1" lang="zh-CN" altLang="en-US" sz="2800" dirty="0">
                <a:solidFill>
                  <a:schemeClr val="tx1"/>
                </a:solidFill>
                <a:latin typeface="微软雅黑" pitchFamily="34" charset="-122"/>
                <a:ea typeface="微软雅黑" pitchFamily="34" charset="-122"/>
                <a:cs typeface="经典粗黑简" pitchFamily="49" charset="-122"/>
              </a:rPr>
              <a:t>个孩子结点等。</a:t>
            </a:r>
          </a:p>
          <a:p>
            <a:pPr marL="457200" indent="-457200">
              <a:lnSpc>
                <a:spcPct val="120000"/>
              </a:lnSpc>
              <a:spcBef>
                <a:spcPct val="50000"/>
              </a:spcBef>
              <a:buBlip>
                <a:blip r:embed="rId2"/>
              </a:buBlip>
            </a:pPr>
            <a:r>
              <a:rPr kumimoji="1" lang="zh-CN" altLang="en-US" sz="2800" dirty="0">
                <a:solidFill>
                  <a:srgbClr val="FF0000"/>
                </a:solidFill>
                <a:latin typeface="微软雅黑" pitchFamily="34" charset="-122"/>
                <a:ea typeface="微软雅黑" pitchFamily="34" charset="-122"/>
                <a:cs typeface="经典粗黑简" pitchFamily="49" charset="-122"/>
              </a:rPr>
              <a:t>遍历</a:t>
            </a:r>
            <a:r>
              <a:rPr kumimoji="1" lang="zh-CN" altLang="en-US" sz="2800" dirty="0">
                <a:solidFill>
                  <a:schemeClr val="tx1"/>
                </a:solidFill>
                <a:latin typeface="微软雅黑" pitchFamily="34" charset="-122"/>
                <a:ea typeface="微软雅黑" pitchFamily="34" charset="-122"/>
                <a:cs typeface="经典粗黑简" pitchFamily="49" charset="-122"/>
              </a:rPr>
              <a:t>树中每个结点。</a:t>
            </a:r>
          </a:p>
        </p:txBody>
      </p:sp>
      <p:sp>
        <p:nvSpPr>
          <p:cNvPr id="7" name="灯片编号占位符 6"/>
          <p:cNvSpPr>
            <a:spLocks noGrp="1"/>
          </p:cNvSpPr>
          <p:nvPr>
            <p:ph type="sldNum" sz="quarter" idx="12"/>
          </p:nvPr>
        </p:nvSpPr>
        <p:spPr/>
        <p:txBody>
          <a:bodyPr/>
          <a:lstStyle/>
          <a:p>
            <a:fld id="{FFD28AF7-D4CC-4B35-B7D7-507FA0146854}" type="slidenum">
              <a:rPr lang="en-US" altLang="zh-CN" smtClean="0"/>
              <a:pPr/>
              <a:t>20</a:t>
            </a:fld>
            <a:r>
              <a:rPr lang="en-US" altLang="zh-CN"/>
              <a:t>/49</a:t>
            </a:r>
          </a:p>
        </p:txBody>
      </p:sp>
      <p:sp>
        <p:nvSpPr>
          <p:cNvPr id="2" name="矩形 1">
            <a:extLst>
              <a:ext uri="{FF2B5EF4-FFF2-40B4-BE49-F238E27FC236}">
                <a16:creationId xmlns:a16="http://schemas.microsoft.com/office/drawing/2014/main" xmlns="" id="{FD62BC33-E006-9D5D-ACCA-19589C62C938}"/>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3" name="Rectangle 2">
            <a:extLst>
              <a:ext uri="{FF2B5EF4-FFF2-40B4-BE49-F238E27FC236}">
                <a16:creationId xmlns:a16="http://schemas.microsoft.com/office/drawing/2014/main" xmlns="" id="{24303EEC-42F6-7B4B-1622-5E17F27AC6D3}"/>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7.1.5 </a:t>
            </a:r>
            <a:r>
              <a:rPr lang="zh-CN" altLang="en-US" dirty="0"/>
              <a:t>树的基本运算</a:t>
            </a:r>
          </a:p>
        </p:txBody>
      </p:sp>
      <p:cxnSp>
        <p:nvCxnSpPr>
          <p:cNvPr id="4" name="直接连接符 3">
            <a:extLst>
              <a:ext uri="{FF2B5EF4-FFF2-40B4-BE49-F238E27FC236}">
                <a16:creationId xmlns:a16="http://schemas.microsoft.com/office/drawing/2014/main" xmlns="" id="{7BF5E103-C40E-B39D-23D5-4C42FDF5145A}"/>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Box 2"/>
          <p:cNvSpPr txBox="1">
            <a:spLocks noChangeArrowheads="1"/>
          </p:cNvSpPr>
          <p:nvPr/>
        </p:nvSpPr>
        <p:spPr bwMode="auto">
          <a:xfrm>
            <a:off x="2250554" y="1941634"/>
            <a:ext cx="9439244" cy="441916"/>
          </a:xfrm>
          <a:prstGeom prst="rect">
            <a:avLst/>
          </a:prstGeom>
          <a:noFill/>
          <a:ln w="9525">
            <a:noFill/>
            <a:miter lim="800000"/>
            <a:headEnd/>
            <a:tailEnd/>
          </a:ln>
          <a:effectLst/>
        </p:spPr>
        <p:txBody>
          <a:bodyPr wrap="square">
            <a:spAutoFit/>
          </a:bodyPr>
          <a:lstStyle/>
          <a:p>
            <a:pPr algn="just">
              <a:lnSpc>
                <a:spcPts val="3000"/>
              </a:lnSpc>
            </a:pPr>
            <a:r>
              <a:rPr kumimoji="1" lang="zh-CN" altLang="en-US" sz="2000" dirty="0">
                <a:latin typeface="微软雅黑" pitchFamily="34" charset="-122"/>
                <a:ea typeface="微软雅黑" pitchFamily="34" charset="-122"/>
                <a:cs typeface="经典粗黑简" pitchFamily="49" charset="-122"/>
              </a:rPr>
              <a:t>树的遍历运算是指按某种方式访问树中的每一个结点且每一个结点只被访问一次。       </a:t>
            </a:r>
          </a:p>
        </p:txBody>
      </p:sp>
      <p:sp>
        <p:nvSpPr>
          <p:cNvPr id="6" name="TextBox 5"/>
          <p:cNvSpPr txBox="1"/>
          <p:nvPr/>
        </p:nvSpPr>
        <p:spPr>
          <a:xfrm>
            <a:off x="2280146" y="2535152"/>
            <a:ext cx="2928958" cy="400110"/>
          </a:xfrm>
          <a:prstGeom prst="rect">
            <a:avLst/>
          </a:prstGeom>
          <a:noFill/>
        </p:spPr>
        <p:txBody>
          <a:bodyPr wrap="square" rtlCol="0">
            <a:spAutoFit/>
          </a:bodyPr>
          <a:lstStyle/>
          <a:p>
            <a:pPr algn="l"/>
            <a:r>
              <a:rPr kumimoji="1" lang="zh-CN" altLang="en-US" sz="2000" dirty="0">
                <a:ea typeface="楷体" pitchFamily="49" charset="-122"/>
                <a:cs typeface="Times New Roman" pitchFamily="18" charset="0"/>
              </a:rPr>
              <a:t>主要的遍历方法：</a:t>
            </a:r>
            <a:endParaRPr lang="zh-CN" altLang="en-US" sz="2000" dirty="0">
              <a:ea typeface="楷体" pitchFamily="49" charset="-122"/>
              <a:cs typeface="Times New Roman" pitchFamily="18" charset="0"/>
            </a:endParaRPr>
          </a:p>
        </p:txBody>
      </p:sp>
      <p:grpSp>
        <p:nvGrpSpPr>
          <p:cNvPr id="2" name="组合 15"/>
          <p:cNvGrpSpPr/>
          <p:nvPr/>
        </p:nvGrpSpPr>
        <p:grpSpPr>
          <a:xfrm>
            <a:off x="2380188" y="3129211"/>
            <a:ext cx="7686700" cy="905766"/>
            <a:chOff x="1028704" y="2428200"/>
            <a:chExt cx="7686700" cy="905766"/>
          </a:xfrm>
        </p:grpSpPr>
        <p:sp>
          <p:nvSpPr>
            <p:cNvPr id="8" name="Text Box 3"/>
            <p:cNvSpPr txBox="1">
              <a:spLocks noChangeArrowheads="1"/>
            </p:cNvSpPr>
            <p:nvPr/>
          </p:nvSpPr>
          <p:spPr bwMode="auto">
            <a:xfrm>
              <a:off x="1028704" y="2428200"/>
              <a:ext cx="1811338" cy="453183"/>
            </a:xfrm>
            <a:prstGeom prst="rect">
              <a:avLst/>
            </a:prstGeom>
            <a:ln>
              <a:noFill/>
              <a:headEnd type="none" w="sm" len="sm"/>
              <a:tailEnd type="none" w="sm" len="sm"/>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lIns="144000" tIns="72000" bIns="72000">
              <a:spAutoFit/>
            </a:bodyPr>
            <a:lstStyle/>
            <a:p>
              <a:pPr marL="457200" indent="-457200">
                <a:buBlip>
                  <a:blip r:embed="rId2"/>
                </a:buBlip>
              </a:pPr>
              <a:r>
                <a:rPr kumimoji="1" lang="zh-CN" altLang="en-US" sz="2000" dirty="0">
                  <a:solidFill>
                    <a:srgbClr val="FF0000"/>
                  </a:solidFill>
                  <a:latin typeface="微软雅黑" pitchFamily="34" charset="-122"/>
                  <a:ea typeface="微软雅黑" pitchFamily="34" charset="-122"/>
                  <a:cs typeface="Times New Roman" pitchFamily="18" charset="0"/>
                </a:rPr>
                <a:t>先根遍历</a:t>
              </a:r>
              <a:r>
                <a:rPr kumimoji="1" lang="en-US" altLang="zh-CN" sz="2000" dirty="0">
                  <a:solidFill>
                    <a:srgbClr val="FF0000"/>
                  </a:solidFill>
                  <a:latin typeface="微软雅黑" pitchFamily="34" charset="-122"/>
                  <a:ea typeface="微软雅黑" pitchFamily="34" charset="-122"/>
                  <a:cs typeface="Times New Roman" pitchFamily="18" charset="0"/>
                </a:rPr>
                <a:t>:</a:t>
              </a:r>
            </a:p>
          </p:txBody>
        </p:sp>
        <p:sp>
          <p:nvSpPr>
            <p:cNvPr id="9" name="Rectangle 5"/>
            <p:cNvSpPr>
              <a:spLocks noChangeArrowheads="1"/>
            </p:cNvSpPr>
            <p:nvPr/>
          </p:nvSpPr>
          <p:spPr bwMode="auto">
            <a:xfrm>
              <a:off x="1327154" y="2926675"/>
              <a:ext cx="7388250" cy="407291"/>
            </a:xfrm>
            <a:prstGeom prst="rect">
              <a:avLst/>
            </a:prstGeom>
            <a:noFill/>
            <a:ln w="12700" cap="sq">
              <a:noFill/>
              <a:miter lim="800000"/>
              <a:headEnd type="none" w="sm" len="sm"/>
              <a:tailEnd type="none" w="sm" len="sm"/>
            </a:ln>
            <a:effectLst/>
          </p:spPr>
          <p:txBody>
            <a:bodyPr wrap="square">
              <a:spAutoFit/>
            </a:bodyPr>
            <a:lstStyle/>
            <a:p>
              <a:pPr algn="l">
                <a:lnSpc>
                  <a:spcPct val="110000"/>
                </a:lnSpc>
              </a:pPr>
              <a:r>
                <a:rPr kumimoji="1" lang="zh-CN" altLang="en-US" sz="2000" dirty="0">
                  <a:latin typeface="微软雅黑" pitchFamily="34" charset="-122"/>
                  <a:ea typeface="微软雅黑" pitchFamily="34" charset="-122"/>
                  <a:cs typeface="经典粗黑简" pitchFamily="49" charset="-122"/>
                </a:rPr>
                <a:t>若树不空，则先访问根结点，然后依次先根遍历各棵子树。</a:t>
              </a:r>
            </a:p>
          </p:txBody>
        </p:sp>
      </p:grpSp>
      <p:grpSp>
        <p:nvGrpSpPr>
          <p:cNvPr id="3" name="组合 16"/>
          <p:cNvGrpSpPr/>
          <p:nvPr/>
        </p:nvGrpSpPr>
        <p:grpSpPr>
          <a:xfrm>
            <a:off x="2351584" y="4106789"/>
            <a:ext cx="7572428" cy="883382"/>
            <a:chOff x="1071538" y="3429000"/>
            <a:chExt cx="7572428" cy="883382"/>
          </a:xfrm>
        </p:grpSpPr>
        <p:sp>
          <p:nvSpPr>
            <p:cNvPr id="11" name="Text Box 4"/>
            <p:cNvSpPr txBox="1">
              <a:spLocks noChangeArrowheads="1"/>
            </p:cNvSpPr>
            <p:nvPr/>
          </p:nvSpPr>
          <p:spPr bwMode="auto">
            <a:xfrm>
              <a:off x="1071538" y="3429000"/>
              <a:ext cx="1882775" cy="453183"/>
            </a:xfrm>
            <a:prstGeom prst="rect">
              <a:avLst/>
            </a:prstGeom>
            <a:ln>
              <a:noFill/>
              <a:headEnd type="none" w="sm" len="sm"/>
              <a:tailEnd type="none" w="sm" len="sm"/>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lIns="144000" tIns="72000" bIns="72000">
              <a:spAutoFit/>
            </a:bodyPr>
            <a:lstStyle/>
            <a:p>
              <a:pPr marL="457200" indent="-457200">
                <a:buBlip>
                  <a:blip r:embed="rId2"/>
                </a:buBlip>
              </a:pPr>
              <a:r>
                <a:rPr kumimoji="1" lang="zh-CN" altLang="en-US" sz="2000" dirty="0">
                  <a:solidFill>
                    <a:srgbClr val="FF0000"/>
                  </a:solidFill>
                  <a:latin typeface="微软雅黑" pitchFamily="34" charset="-122"/>
                  <a:ea typeface="微软雅黑" pitchFamily="34" charset="-122"/>
                  <a:cs typeface="Times New Roman" pitchFamily="18" charset="0"/>
                </a:rPr>
                <a:t>后根遍历</a:t>
              </a:r>
              <a:r>
                <a:rPr kumimoji="1" lang="en-US" altLang="zh-CN" sz="2000" dirty="0">
                  <a:solidFill>
                    <a:srgbClr val="FF0000"/>
                  </a:solidFill>
                  <a:latin typeface="微软雅黑" pitchFamily="34" charset="-122"/>
                  <a:ea typeface="微软雅黑" pitchFamily="34" charset="-122"/>
                  <a:cs typeface="Times New Roman" pitchFamily="18" charset="0"/>
                </a:rPr>
                <a:t>:</a:t>
              </a:r>
            </a:p>
          </p:txBody>
        </p:sp>
        <p:sp>
          <p:nvSpPr>
            <p:cNvPr id="12" name="Rectangle 6"/>
            <p:cNvSpPr>
              <a:spLocks noChangeArrowheads="1"/>
            </p:cNvSpPr>
            <p:nvPr/>
          </p:nvSpPr>
          <p:spPr bwMode="auto">
            <a:xfrm>
              <a:off x="1298551" y="3908425"/>
              <a:ext cx="7345415" cy="403957"/>
            </a:xfrm>
            <a:prstGeom prst="rect">
              <a:avLst/>
            </a:prstGeom>
            <a:noFill/>
            <a:ln w="12700" cap="sq">
              <a:noFill/>
              <a:miter lim="800000"/>
              <a:headEnd type="none" w="sm" len="sm"/>
              <a:tailEnd type="none" w="sm" len="sm"/>
            </a:ln>
            <a:effectLst/>
          </p:spPr>
          <p:txBody>
            <a:bodyPr wrap="square">
              <a:spAutoFit/>
            </a:bodyPr>
            <a:lstStyle/>
            <a:p>
              <a:pPr algn="l">
                <a:lnSpc>
                  <a:spcPct val="110000"/>
                </a:lnSpc>
              </a:pPr>
              <a:r>
                <a:rPr kumimoji="1" lang="en-US" altLang="zh-CN" sz="2000" dirty="0">
                  <a:solidFill>
                    <a:srgbClr val="003300"/>
                  </a:solidFill>
                  <a:latin typeface="仿宋" pitchFamily="49" charset="-122"/>
                  <a:ea typeface="仿宋" pitchFamily="49" charset="-122"/>
                  <a:cs typeface="Times New Roman" pitchFamily="18" charset="0"/>
                </a:rPr>
                <a:t> </a:t>
              </a:r>
              <a:r>
                <a:rPr kumimoji="1" lang="zh-CN" altLang="en-US" sz="2000" dirty="0">
                  <a:latin typeface="微软雅黑" pitchFamily="34" charset="-122"/>
                  <a:ea typeface="微软雅黑" pitchFamily="34" charset="-122"/>
                  <a:cs typeface="经典粗黑简" pitchFamily="49" charset="-122"/>
                </a:rPr>
                <a:t>若树不空，则先依次后根遍历各棵子树，然后访问根结点。</a:t>
              </a:r>
            </a:p>
          </p:txBody>
        </p:sp>
      </p:grpSp>
      <p:grpSp>
        <p:nvGrpSpPr>
          <p:cNvPr id="4" name="组合 17"/>
          <p:cNvGrpSpPr/>
          <p:nvPr/>
        </p:nvGrpSpPr>
        <p:grpSpPr>
          <a:xfrm>
            <a:off x="2351584" y="5106920"/>
            <a:ext cx="7286676" cy="924657"/>
            <a:chOff x="1071538" y="4429132"/>
            <a:chExt cx="7286676" cy="924657"/>
          </a:xfrm>
        </p:grpSpPr>
        <p:sp>
          <p:nvSpPr>
            <p:cNvPr id="14" name="Text Box 2"/>
            <p:cNvSpPr txBox="1">
              <a:spLocks noChangeArrowheads="1"/>
            </p:cNvSpPr>
            <p:nvPr/>
          </p:nvSpPr>
          <p:spPr bwMode="auto">
            <a:xfrm>
              <a:off x="1071538" y="4429132"/>
              <a:ext cx="1882775" cy="453183"/>
            </a:xfrm>
            <a:prstGeom prst="rect">
              <a:avLst/>
            </a:prstGeom>
            <a:ln>
              <a:noFill/>
              <a:headEnd type="none" w="sm" len="sm"/>
              <a:tailEnd type="none" w="sm" len="sm"/>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lIns="144000" tIns="72000" bIns="72000">
              <a:spAutoFit/>
            </a:bodyPr>
            <a:lstStyle/>
            <a:p>
              <a:pPr marL="457200" indent="-457200">
                <a:buBlip>
                  <a:blip r:embed="rId2"/>
                </a:buBlip>
              </a:pPr>
              <a:r>
                <a:rPr kumimoji="1" lang="zh-CN" altLang="en-US" sz="2000" dirty="0">
                  <a:solidFill>
                    <a:srgbClr val="FF0000"/>
                  </a:solidFill>
                  <a:latin typeface="微软雅黑" pitchFamily="34" charset="-122"/>
                  <a:ea typeface="微软雅黑" pitchFamily="34" charset="-122"/>
                  <a:cs typeface="Times New Roman" pitchFamily="18" charset="0"/>
                </a:rPr>
                <a:t>层次遍历</a:t>
              </a:r>
              <a:r>
                <a:rPr kumimoji="1" lang="en-US" altLang="zh-CN" sz="2000" dirty="0">
                  <a:solidFill>
                    <a:srgbClr val="FF0000"/>
                  </a:solidFill>
                  <a:latin typeface="微软雅黑" pitchFamily="34" charset="-122"/>
                  <a:ea typeface="微软雅黑" pitchFamily="34" charset="-122"/>
                  <a:cs typeface="Times New Roman" pitchFamily="18" charset="0"/>
                </a:rPr>
                <a:t>:</a:t>
              </a:r>
            </a:p>
          </p:txBody>
        </p:sp>
        <p:sp>
          <p:nvSpPr>
            <p:cNvPr id="15" name="Rectangle 7"/>
            <p:cNvSpPr>
              <a:spLocks noChangeArrowheads="1"/>
            </p:cNvSpPr>
            <p:nvPr/>
          </p:nvSpPr>
          <p:spPr bwMode="auto">
            <a:xfrm>
              <a:off x="1154088" y="4949832"/>
              <a:ext cx="7204126" cy="403957"/>
            </a:xfrm>
            <a:prstGeom prst="rect">
              <a:avLst/>
            </a:prstGeom>
            <a:noFill/>
            <a:ln w="12700" cap="sq">
              <a:noFill/>
              <a:miter lim="800000"/>
              <a:headEnd type="none" w="sm" len="sm"/>
              <a:tailEnd type="none" w="sm" len="sm"/>
            </a:ln>
            <a:effectLst/>
          </p:spPr>
          <p:txBody>
            <a:bodyPr wrap="square">
              <a:spAutoFit/>
            </a:bodyPr>
            <a:lstStyle/>
            <a:p>
              <a:pPr algn="l">
                <a:lnSpc>
                  <a:spcPct val="110000"/>
                </a:lnSpc>
              </a:pPr>
              <a:r>
                <a:rPr kumimoji="1" lang="en-US" altLang="zh-CN" sz="2000" dirty="0">
                  <a:solidFill>
                    <a:srgbClr val="003300"/>
                  </a:solidFill>
                  <a:latin typeface="仿宋" pitchFamily="49" charset="-122"/>
                  <a:ea typeface="仿宋" pitchFamily="49" charset="-122"/>
                  <a:cs typeface="Times New Roman" pitchFamily="18" charset="0"/>
                </a:rPr>
                <a:t>  </a:t>
              </a:r>
              <a:r>
                <a:rPr kumimoji="1" lang="zh-CN" altLang="en-US" sz="2000" dirty="0">
                  <a:latin typeface="微软雅黑" pitchFamily="34" charset="-122"/>
                  <a:ea typeface="微软雅黑" pitchFamily="34" charset="-122"/>
                  <a:cs typeface="经典粗黑简" pitchFamily="49" charset="-122"/>
                </a:rPr>
                <a:t>若树不空，则自上而下、自左至右访问树中每个结点。</a:t>
              </a:r>
            </a:p>
          </p:txBody>
        </p:sp>
      </p:grpSp>
      <p:sp>
        <p:nvSpPr>
          <p:cNvPr id="19" name="Text Box 5"/>
          <p:cNvSpPr txBox="1">
            <a:spLocks noChangeArrowheads="1"/>
          </p:cNvSpPr>
          <p:nvPr/>
        </p:nvSpPr>
        <p:spPr bwMode="auto">
          <a:xfrm>
            <a:off x="2351294" y="6211979"/>
            <a:ext cx="6049962" cy="400110"/>
          </a:xfrm>
          <a:prstGeom prst="rect">
            <a:avLst/>
          </a:prstGeom>
          <a:noFill/>
          <a:ln w="9525">
            <a:noFill/>
            <a:miter lim="800000"/>
            <a:headEnd/>
            <a:tailEnd/>
          </a:ln>
          <a:effectLst/>
        </p:spPr>
        <p:txBody>
          <a:bodyPr>
            <a:spAutoFit/>
          </a:bodyPr>
          <a:lstStyle/>
          <a:p>
            <a:pPr algn="l">
              <a:spcBef>
                <a:spcPct val="50000"/>
              </a:spcBef>
            </a:pPr>
            <a:r>
              <a:rPr kumimoji="1" lang="zh-CN" altLang="en-US" sz="2000" dirty="0">
                <a:solidFill>
                  <a:srgbClr val="FF0000"/>
                </a:solidFill>
                <a:latin typeface="Consolas" pitchFamily="49" charset="0"/>
                <a:ea typeface="华文中宋" pitchFamily="2" charset="-122"/>
                <a:cs typeface="Consolas" pitchFamily="49" charset="0"/>
              </a:rPr>
              <a:t>注意：</a:t>
            </a:r>
            <a:r>
              <a:rPr kumimoji="1" lang="zh-CN" altLang="en-US" sz="2000" dirty="0">
                <a:latin typeface="Consolas" pitchFamily="49" charset="0"/>
                <a:ea typeface="华文中宋" pitchFamily="2" charset="-122"/>
                <a:cs typeface="Consolas" pitchFamily="49" charset="0"/>
              </a:rPr>
              <a:t>先根和后根遍历算法都是递归的。</a:t>
            </a:r>
          </a:p>
        </p:txBody>
      </p:sp>
      <p:sp>
        <p:nvSpPr>
          <p:cNvPr id="16" name="灯片编号占位符 15"/>
          <p:cNvSpPr>
            <a:spLocks noGrp="1"/>
          </p:cNvSpPr>
          <p:nvPr>
            <p:ph type="sldNum" sz="quarter" idx="12"/>
          </p:nvPr>
        </p:nvSpPr>
        <p:spPr/>
        <p:txBody>
          <a:bodyPr/>
          <a:lstStyle/>
          <a:p>
            <a:fld id="{FFD28AF7-D4CC-4B35-B7D7-507FA0146854}" type="slidenum">
              <a:rPr lang="en-US" altLang="zh-CN" smtClean="0"/>
              <a:pPr/>
              <a:t>21</a:t>
            </a:fld>
            <a:r>
              <a:rPr lang="en-US" altLang="zh-CN"/>
              <a:t>/49</a:t>
            </a:r>
          </a:p>
        </p:txBody>
      </p:sp>
      <p:sp>
        <p:nvSpPr>
          <p:cNvPr id="5" name="矩形 4">
            <a:extLst>
              <a:ext uri="{FF2B5EF4-FFF2-40B4-BE49-F238E27FC236}">
                <a16:creationId xmlns:a16="http://schemas.microsoft.com/office/drawing/2014/main" xmlns="" id="{D6884BDE-1FFF-F39C-C06B-7A8E5181FF20}"/>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7" name="Rectangle 2">
            <a:extLst>
              <a:ext uri="{FF2B5EF4-FFF2-40B4-BE49-F238E27FC236}">
                <a16:creationId xmlns:a16="http://schemas.microsoft.com/office/drawing/2014/main" xmlns="" id="{CF0F57EF-9FB7-322C-E9C8-85A34EF1FFAA}"/>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7.1.5 </a:t>
            </a:r>
            <a:r>
              <a:rPr lang="zh-CN" altLang="en-US" dirty="0"/>
              <a:t>树的基本运算</a:t>
            </a:r>
          </a:p>
        </p:txBody>
      </p:sp>
      <p:cxnSp>
        <p:nvCxnSpPr>
          <p:cNvPr id="10" name="直接连接符 9">
            <a:extLst>
              <a:ext uri="{FF2B5EF4-FFF2-40B4-BE49-F238E27FC236}">
                <a16:creationId xmlns:a16="http://schemas.microsoft.com/office/drawing/2014/main" xmlns="" id="{4B4DA0AE-7121-1BB6-FFC5-AD8E63D6C1E1}"/>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xmlns="" id="{882F896E-A168-A6D4-D3FE-2B847A8C759A}"/>
              </a:ext>
            </a:extLst>
          </p:cNvPr>
          <p:cNvSpPr txBox="1"/>
          <p:nvPr/>
        </p:nvSpPr>
        <p:spPr>
          <a:xfrm>
            <a:off x="2216026" y="1433947"/>
            <a:ext cx="1656184" cy="523220"/>
          </a:xfrm>
          <a:prstGeom prst="rect">
            <a:avLst/>
          </a:prstGeom>
          <a:noFill/>
        </p:spPr>
        <p:txBody>
          <a:bodyPr wrap="square">
            <a:spAutoFit/>
          </a:bodyPr>
          <a:lstStyle/>
          <a:p>
            <a:r>
              <a:rPr kumimoji="1" lang="zh-CN" altLang="en-US" sz="2800" dirty="0">
                <a:latin typeface="微软雅黑" pitchFamily="34" charset="-122"/>
                <a:ea typeface="微软雅黑" pitchFamily="34" charset="-122"/>
                <a:cs typeface="经典粗黑简" pitchFamily="49" charset="-122"/>
              </a:rPr>
              <a:t>树的遍历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61" name="Freeform 25"/>
          <p:cNvSpPr>
            <a:spLocks noChangeAspect="1"/>
          </p:cNvSpPr>
          <p:nvPr/>
        </p:nvSpPr>
        <p:spPr bwMode="auto">
          <a:xfrm>
            <a:off x="6570646" y="3755533"/>
            <a:ext cx="352425" cy="414338"/>
          </a:xfrm>
          <a:custGeom>
            <a:avLst/>
            <a:gdLst/>
            <a:ahLst/>
            <a:cxnLst>
              <a:cxn ang="0">
                <a:pos x="0" y="0"/>
              </a:cxn>
              <a:cxn ang="0">
                <a:pos x="278" y="326"/>
              </a:cxn>
            </a:cxnLst>
            <a:rect l="0" t="0" r="r" b="b"/>
            <a:pathLst>
              <a:path w="278" h="326">
                <a:moveTo>
                  <a:pt x="0" y="0"/>
                </a:moveTo>
                <a:lnTo>
                  <a:pt x="278" y="326"/>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193559" name="Freeform 23"/>
          <p:cNvSpPr>
            <a:spLocks noChangeAspect="1"/>
          </p:cNvSpPr>
          <p:nvPr/>
        </p:nvSpPr>
        <p:spPr bwMode="auto">
          <a:xfrm>
            <a:off x="6421421" y="3853958"/>
            <a:ext cx="3175" cy="312738"/>
          </a:xfrm>
          <a:custGeom>
            <a:avLst/>
            <a:gdLst/>
            <a:ahLst/>
            <a:cxnLst>
              <a:cxn ang="0">
                <a:pos x="0" y="0"/>
              </a:cxn>
              <a:cxn ang="0">
                <a:pos x="2" y="252"/>
              </a:cxn>
            </a:cxnLst>
            <a:rect l="0" t="0" r="r" b="b"/>
            <a:pathLst>
              <a:path w="2" h="252">
                <a:moveTo>
                  <a:pt x="0" y="0"/>
                </a:moveTo>
                <a:lnTo>
                  <a:pt x="2" y="252"/>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193560" name="Freeform 24"/>
          <p:cNvSpPr>
            <a:spLocks noChangeAspect="1"/>
          </p:cNvSpPr>
          <p:nvPr/>
        </p:nvSpPr>
        <p:spPr bwMode="auto">
          <a:xfrm>
            <a:off x="5968984" y="3772996"/>
            <a:ext cx="295275" cy="381000"/>
          </a:xfrm>
          <a:custGeom>
            <a:avLst/>
            <a:gdLst/>
            <a:ahLst/>
            <a:cxnLst>
              <a:cxn ang="0">
                <a:pos x="186" y="0"/>
              </a:cxn>
              <a:cxn ang="0">
                <a:pos x="0" y="240"/>
              </a:cxn>
            </a:cxnLst>
            <a:rect l="0" t="0" r="r" b="b"/>
            <a:pathLst>
              <a:path w="186" h="240">
                <a:moveTo>
                  <a:pt x="186" y="0"/>
                </a:moveTo>
                <a:lnTo>
                  <a:pt x="0" y="240"/>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193558" name="Freeform 22"/>
          <p:cNvSpPr>
            <a:spLocks noChangeAspect="1"/>
          </p:cNvSpPr>
          <p:nvPr/>
        </p:nvSpPr>
        <p:spPr bwMode="auto">
          <a:xfrm>
            <a:off x="6421421" y="3211022"/>
            <a:ext cx="4763" cy="287337"/>
          </a:xfrm>
          <a:custGeom>
            <a:avLst/>
            <a:gdLst/>
            <a:ahLst/>
            <a:cxnLst>
              <a:cxn ang="0">
                <a:pos x="0" y="0"/>
              </a:cxn>
              <a:cxn ang="0">
                <a:pos x="3" y="239"/>
              </a:cxn>
            </a:cxnLst>
            <a:rect l="0" t="0" r="r" b="b"/>
            <a:pathLst>
              <a:path w="3" h="239">
                <a:moveTo>
                  <a:pt x="0" y="0"/>
                </a:moveTo>
                <a:lnTo>
                  <a:pt x="3" y="239"/>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193557" name="Freeform 21"/>
          <p:cNvSpPr>
            <a:spLocks/>
          </p:cNvSpPr>
          <p:nvPr/>
        </p:nvSpPr>
        <p:spPr bwMode="auto">
          <a:xfrm>
            <a:off x="6413484" y="2533158"/>
            <a:ext cx="1587" cy="323850"/>
          </a:xfrm>
          <a:custGeom>
            <a:avLst/>
            <a:gdLst/>
            <a:ahLst/>
            <a:cxnLst>
              <a:cxn ang="0">
                <a:pos x="8" y="0"/>
              </a:cxn>
              <a:cxn ang="0">
                <a:pos x="0" y="256"/>
              </a:cxn>
            </a:cxnLst>
            <a:rect l="0" t="0" r="r" b="b"/>
            <a:pathLst>
              <a:path w="8" h="256">
                <a:moveTo>
                  <a:pt x="8" y="0"/>
                </a:moveTo>
                <a:lnTo>
                  <a:pt x="0" y="256"/>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193556" name="Freeform 20"/>
          <p:cNvSpPr>
            <a:spLocks noChangeAspect="1"/>
          </p:cNvSpPr>
          <p:nvPr/>
        </p:nvSpPr>
        <p:spPr bwMode="auto">
          <a:xfrm>
            <a:off x="5011721" y="2479184"/>
            <a:ext cx="176213" cy="379413"/>
          </a:xfrm>
          <a:custGeom>
            <a:avLst/>
            <a:gdLst/>
            <a:ahLst/>
            <a:cxnLst>
              <a:cxn ang="0">
                <a:pos x="0" y="0"/>
              </a:cxn>
              <a:cxn ang="0">
                <a:pos x="139" y="298"/>
              </a:cxn>
            </a:cxnLst>
            <a:rect l="0" t="0" r="r" b="b"/>
            <a:pathLst>
              <a:path w="139" h="298">
                <a:moveTo>
                  <a:pt x="0" y="0"/>
                </a:moveTo>
                <a:lnTo>
                  <a:pt x="139" y="298"/>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193555" name="Freeform 19"/>
          <p:cNvSpPr>
            <a:spLocks noChangeAspect="1"/>
          </p:cNvSpPr>
          <p:nvPr/>
        </p:nvSpPr>
        <p:spPr bwMode="auto">
          <a:xfrm>
            <a:off x="4587858" y="2460133"/>
            <a:ext cx="177800" cy="388938"/>
          </a:xfrm>
          <a:custGeom>
            <a:avLst/>
            <a:gdLst/>
            <a:ahLst/>
            <a:cxnLst>
              <a:cxn ang="0">
                <a:pos x="112" y="0"/>
              </a:cxn>
              <a:cxn ang="0">
                <a:pos x="0" y="245"/>
              </a:cxn>
            </a:cxnLst>
            <a:rect l="0" t="0" r="r" b="b"/>
            <a:pathLst>
              <a:path w="112" h="245">
                <a:moveTo>
                  <a:pt x="112" y="0"/>
                </a:moveTo>
                <a:lnTo>
                  <a:pt x="0" y="245"/>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193554" name="Freeform 18"/>
          <p:cNvSpPr>
            <a:spLocks noChangeAspect="1"/>
          </p:cNvSpPr>
          <p:nvPr/>
        </p:nvSpPr>
        <p:spPr bwMode="auto">
          <a:xfrm>
            <a:off x="5799121" y="1709247"/>
            <a:ext cx="498475" cy="498475"/>
          </a:xfrm>
          <a:custGeom>
            <a:avLst/>
            <a:gdLst/>
            <a:ahLst/>
            <a:cxnLst>
              <a:cxn ang="0">
                <a:pos x="0" y="0"/>
              </a:cxn>
              <a:cxn ang="0">
                <a:pos x="314" y="314"/>
              </a:cxn>
            </a:cxnLst>
            <a:rect l="0" t="0" r="r" b="b"/>
            <a:pathLst>
              <a:path w="314" h="314">
                <a:moveTo>
                  <a:pt x="0" y="0"/>
                </a:moveTo>
                <a:lnTo>
                  <a:pt x="314" y="314"/>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193552" name="Freeform 16"/>
          <p:cNvSpPr>
            <a:spLocks noChangeAspect="1"/>
          </p:cNvSpPr>
          <p:nvPr/>
        </p:nvSpPr>
        <p:spPr bwMode="auto">
          <a:xfrm>
            <a:off x="5616559" y="1810846"/>
            <a:ext cx="3175" cy="360362"/>
          </a:xfrm>
          <a:custGeom>
            <a:avLst/>
            <a:gdLst/>
            <a:ahLst/>
            <a:cxnLst>
              <a:cxn ang="0">
                <a:pos x="0" y="0"/>
              </a:cxn>
              <a:cxn ang="0">
                <a:pos x="2" y="284"/>
              </a:cxn>
            </a:cxnLst>
            <a:rect l="0" t="0" r="r" b="b"/>
            <a:pathLst>
              <a:path w="2" h="284">
                <a:moveTo>
                  <a:pt x="0" y="0"/>
                </a:moveTo>
                <a:lnTo>
                  <a:pt x="2" y="284"/>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193553" name="Freeform 17"/>
          <p:cNvSpPr>
            <a:spLocks noChangeAspect="1"/>
          </p:cNvSpPr>
          <p:nvPr/>
        </p:nvSpPr>
        <p:spPr bwMode="auto">
          <a:xfrm>
            <a:off x="4967270" y="1704483"/>
            <a:ext cx="484188" cy="484188"/>
          </a:xfrm>
          <a:custGeom>
            <a:avLst/>
            <a:gdLst/>
            <a:ahLst/>
            <a:cxnLst>
              <a:cxn ang="0">
                <a:pos x="382" y="0"/>
              </a:cxn>
              <a:cxn ang="0">
                <a:pos x="0" y="382"/>
              </a:cxn>
            </a:cxnLst>
            <a:rect l="0" t="0" r="r" b="b"/>
            <a:pathLst>
              <a:path w="382" h="382">
                <a:moveTo>
                  <a:pt x="382" y="0"/>
                </a:moveTo>
                <a:lnTo>
                  <a:pt x="0" y="382"/>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193541" name="Oval 5"/>
          <p:cNvSpPr>
            <a:spLocks noChangeAspect="1" noChangeArrowheads="1"/>
          </p:cNvSpPr>
          <p:nvPr/>
        </p:nvSpPr>
        <p:spPr bwMode="auto">
          <a:xfrm>
            <a:off x="5435574" y="1469533"/>
            <a:ext cx="346075"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A</a:t>
            </a:r>
          </a:p>
        </p:txBody>
      </p:sp>
      <p:sp>
        <p:nvSpPr>
          <p:cNvPr id="193542" name="Oval 6"/>
          <p:cNvSpPr>
            <a:spLocks noChangeAspect="1" noChangeArrowheads="1"/>
          </p:cNvSpPr>
          <p:nvPr/>
        </p:nvSpPr>
        <p:spPr bwMode="auto">
          <a:xfrm>
            <a:off x="4721209" y="2169622"/>
            <a:ext cx="346075"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B</a:t>
            </a:r>
          </a:p>
        </p:txBody>
      </p:sp>
      <p:sp>
        <p:nvSpPr>
          <p:cNvPr id="193543" name="Oval 7"/>
          <p:cNvSpPr>
            <a:spLocks noChangeAspect="1" noChangeArrowheads="1"/>
          </p:cNvSpPr>
          <p:nvPr/>
        </p:nvSpPr>
        <p:spPr bwMode="auto">
          <a:xfrm>
            <a:off x="5443520" y="2169622"/>
            <a:ext cx="344488"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C</a:t>
            </a:r>
          </a:p>
        </p:txBody>
      </p:sp>
      <p:sp>
        <p:nvSpPr>
          <p:cNvPr id="193544" name="Oval 8"/>
          <p:cNvSpPr>
            <a:spLocks noChangeAspect="1" noChangeArrowheads="1"/>
          </p:cNvSpPr>
          <p:nvPr/>
        </p:nvSpPr>
        <p:spPr bwMode="auto">
          <a:xfrm>
            <a:off x="6235684" y="2169622"/>
            <a:ext cx="344487"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D</a:t>
            </a:r>
          </a:p>
        </p:txBody>
      </p:sp>
      <p:sp>
        <p:nvSpPr>
          <p:cNvPr id="193545" name="Oval 9"/>
          <p:cNvSpPr>
            <a:spLocks noChangeAspect="1" noChangeArrowheads="1"/>
          </p:cNvSpPr>
          <p:nvPr/>
        </p:nvSpPr>
        <p:spPr bwMode="auto">
          <a:xfrm>
            <a:off x="4370371" y="2860184"/>
            <a:ext cx="346075" cy="346075"/>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E</a:t>
            </a:r>
          </a:p>
        </p:txBody>
      </p:sp>
      <p:sp>
        <p:nvSpPr>
          <p:cNvPr id="193546" name="Oval 10"/>
          <p:cNvSpPr>
            <a:spLocks noChangeAspect="1" noChangeArrowheads="1"/>
          </p:cNvSpPr>
          <p:nvPr/>
        </p:nvSpPr>
        <p:spPr bwMode="auto">
          <a:xfrm>
            <a:off x="5040296" y="2860184"/>
            <a:ext cx="346075" cy="346075"/>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F</a:t>
            </a:r>
          </a:p>
        </p:txBody>
      </p:sp>
      <p:sp>
        <p:nvSpPr>
          <p:cNvPr id="193547" name="Oval 11"/>
          <p:cNvSpPr>
            <a:spLocks noChangeAspect="1" noChangeArrowheads="1"/>
          </p:cNvSpPr>
          <p:nvPr/>
        </p:nvSpPr>
        <p:spPr bwMode="auto">
          <a:xfrm>
            <a:off x="6248384" y="2860184"/>
            <a:ext cx="346075" cy="346075"/>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G</a:t>
            </a:r>
          </a:p>
        </p:txBody>
      </p:sp>
      <p:sp>
        <p:nvSpPr>
          <p:cNvPr id="193548" name="Oval 12"/>
          <p:cNvSpPr>
            <a:spLocks noChangeAspect="1" noChangeArrowheads="1"/>
          </p:cNvSpPr>
          <p:nvPr/>
        </p:nvSpPr>
        <p:spPr bwMode="auto">
          <a:xfrm>
            <a:off x="6242034" y="3506297"/>
            <a:ext cx="344487"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H</a:t>
            </a:r>
          </a:p>
        </p:txBody>
      </p:sp>
      <p:sp>
        <p:nvSpPr>
          <p:cNvPr id="193549" name="Oval 13"/>
          <p:cNvSpPr>
            <a:spLocks noChangeAspect="1" noChangeArrowheads="1"/>
          </p:cNvSpPr>
          <p:nvPr/>
        </p:nvSpPr>
        <p:spPr bwMode="auto">
          <a:xfrm>
            <a:off x="6253145" y="4165108"/>
            <a:ext cx="344488"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J</a:t>
            </a:r>
          </a:p>
        </p:txBody>
      </p:sp>
      <p:sp>
        <p:nvSpPr>
          <p:cNvPr id="193550" name="Oval 14"/>
          <p:cNvSpPr>
            <a:spLocks noChangeAspect="1" noChangeArrowheads="1"/>
          </p:cNvSpPr>
          <p:nvPr/>
        </p:nvSpPr>
        <p:spPr bwMode="auto">
          <a:xfrm>
            <a:off x="5732446" y="4165108"/>
            <a:ext cx="346075"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I</a:t>
            </a:r>
          </a:p>
        </p:txBody>
      </p:sp>
      <p:sp>
        <p:nvSpPr>
          <p:cNvPr id="193551" name="Oval 15"/>
          <p:cNvSpPr>
            <a:spLocks noChangeAspect="1" noChangeArrowheads="1"/>
          </p:cNvSpPr>
          <p:nvPr/>
        </p:nvSpPr>
        <p:spPr bwMode="auto">
          <a:xfrm>
            <a:off x="6805596" y="4165108"/>
            <a:ext cx="346075"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K</a:t>
            </a:r>
          </a:p>
        </p:txBody>
      </p:sp>
      <p:sp>
        <p:nvSpPr>
          <p:cNvPr id="193562" name="Text Box 26"/>
          <p:cNvSpPr txBox="1">
            <a:spLocks noChangeArrowheads="1"/>
          </p:cNvSpPr>
          <p:nvPr/>
        </p:nvSpPr>
        <p:spPr bwMode="auto">
          <a:xfrm>
            <a:off x="3298800" y="4990615"/>
            <a:ext cx="3794126" cy="400110"/>
          </a:xfrm>
          <a:prstGeom prst="rect">
            <a:avLst/>
          </a:prstGeom>
          <a:noFill/>
          <a:ln w="12700" cap="sq">
            <a:noFill/>
            <a:miter lim="800000"/>
            <a:headEnd type="none" w="sm" len="sm"/>
            <a:tailEnd type="none" w="sm" len="sm"/>
          </a:ln>
          <a:effectLst/>
        </p:spPr>
        <p:txBody>
          <a:bodyPr wrap="square">
            <a:spAutoFit/>
          </a:bodyPr>
          <a:lstStyle/>
          <a:p>
            <a:pPr algn="l"/>
            <a:r>
              <a:rPr kumimoji="1" lang="zh-CN" altLang="en-US" sz="2000">
                <a:latin typeface="Consolas" pitchFamily="49" charset="0"/>
                <a:ea typeface="仿宋" pitchFamily="49" charset="-122"/>
                <a:cs typeface="Consolas" pitchFamily="49" charset="0"/>
              </a:rPr>
              <a:t>先根遍历的结点访问次序：</a:t>
            </a:r>
          </a:p>
        </p:txBody>
      </p:sp>
      <p:grpSp>
        <p:nvGrpSpPr>
          <p:cNvPr id="2" name="Group 83"/>
          <p:cNvGrpSpPr>
            <a:grpSpLocks/>
          </p:cNvGrpSpPr>
          <p:nvPr/>
        </p:nvGrpSpPr>
        <p:grpSpPr bwMode="auto">
          <a:xfrm>
            <a:off x="4418006" y="1472709"/>
            <a:ext cx="1347787" cy="4589463"/>
            <a:chOff x="975" y="121"/>
            <a:chExt cx="849" cy="2891"/>
          </a:xfrm>
        </p:grpSpPr>
        <p:sp>
          <p:nvSpPr>
            <p:cNvPr id="193573" name="Text Box 37"/>
            <p:cNvSpPr txBox="1">
              <a:spLocks noChangeArrowheads="1"/>
            </p:cNvSpPr>
            <p:nvPr/>
          </p:nvSpPr>
          <p:spPr bwMode="auto">
            <a:xfrm>
              <a:off x="97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A</a:t>
              </a:r>
            </a:p>
          </p:txBody>
        </p:sp>
        <p:sp>
          <p:nvSpPr>
            <p:cNvPr id="193590" name="Oval 54"/>
            <p:cNvSpPr>
              <a:spLocks noChangeAspect="1" noChangeArrowheads="1"/>
            </p:cNvSpPr>
            <p:nvPr/>
          </p:nvSpPr>
          <p:spPr bwMode="auto">
            <a:xfrm>
              <a:off x="1606" y="121"/>
              <a:ext cx="218" cy="217"/>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A</a:t>
              </a:r>
            </a:p>
          </p:txBody>
        </p:sp>
      </p:grpSp>
      <p:grpSp>
        <p:nvGrpSpPr>
          <p:cNvPr id="3" name="Group 84"/>
          <p:cNvGrpSpPr>
            <a:grpSpLocks/>
          </p:cNvGrpSpPr>
          <p:nvPr/>
        </p:nvGrpSpPr>
        <p:grpSpPr bwMode="auto">
          <a:xfrm>
            <a:off x="4722813" y="2172796"/>
            <a:ext cx="508000" cy="3889374"/>
            <a:chOff x="1151" y="562"/>
            <a:chExt cx="320" cy="2450"/>
          </a:xfrm>
        </p:grpSpPr>
        <p:sp>
          <p:nvSpPr>
            <p:cNvPr id="193574" name="Text Box 38"/>
            <p:cNvSpPr txBox="1">
              <a:spLocks noChangeArrowheads="1"/>
            </p:cNvSpPr>
            <p:nvPr/>
          </p:nvSpPr>
          <p:spPr bwMode="auto">
            <a:xfrm>
              <a:off x="127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B</a:t>
              </a:r>
            </a:p>
          </p:txBody>
        </p:sp>
        <p:sp>
          <p:nvSpPr>
            <p:cNvPr id="193591" name="Oval 55"/>
            <p:cNvSpPr>
              <a:spLocks noChangeAspect="1" noChangeArrowheads="1"/>
            </p:cNvSpPr>
            <p:nvPr/>
          </p:nvSpPr>
          <p:spPr bwMode="auto">
            <a:xfrm>
              <a:off x="1151" y="562"/>
              <a:ext cx="218" cy="217"/>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B</a:t>
              </a:r>
            </a:p>
          </p:txBody>
        </p:sp>
      </p:grpSp>
      <p:grpSp>
        <p:nvGrpSpPr>
          <p:cNvPr id="4" name="Group 87"/>
          <p:cNvGrpSpPr>
            <a:grpSpLocks/>
          </p:cNvGrpSpPr>
          <p:nvPr/>
        </p:nvGrpSpPr>
        <p:grpSpPr bwMode="auto">
          <a:xfrm>
            <a:off x="5445126" y="2172796"/>
            <a:ext cx="1082675" cy="3889374"/>
            <a:chOff x="1606" y="562"/>
            <a:chExt cx="682" cy="2450"/>
          </a:xfrm>
        </p:grpSpPr>
        <p:sp>
          <p:nvSpPr>
            <p:cNvPr id="193577" name="Text Box 41"/>
            <p:cNvSpPr txBox="1">
              <a:spLocks noChangeArrowheads="1"/>
            </p:cNvSpPr>
            <p:nvPr/>
          </p:nvSpPr>
          <p:spPr bwMode="auto">
            <a:xfrm>
              <a:off x="2092"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C</a:t>
              </a:r>
            </a:p>
          </p:txBody>
        </p:sp>
        <p:sp>
          <p:nvSpPr>
            <p:cNvPr id="193592" name="Oval 56"/>
            <p:cNvSpPr>
              <a:spLocks noChangeAspect="1" noChangeArrowheads="1"/>
            </p:cNvSpPr>
            <p:nvPr/>
          </p:nvSpPr>
          <p:spPr bwMode="auto">
            <a:xfrm>
              <a:off x="1606" y="562"/>
              <a:ext cx="217" cy="217"/>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C</a:t>
              </a:r>
            </a:p>
          </p:txBody>
        </p:sp>
      </p:grpSp>
      <p:grpSp>
        <p:nvGrpSpPr>
          <p:cNvPr id="5" name="Group 88"/>
          <p:cNvGrpSpPr>
            <a:grpSpLocks/>
          </p:cNvGrpSpPr>
          <p:nvPr/>
        </p:nvGrpSpPr>
        <p:grpSpPr bwMode="auto">
          <a:xfrm>
            <a:off x="6237291" y="2172796"/>
            <a:ext cx="676275" cy="3889374"/>
            <a:chOff x="2105" y="562"/>
            <a:chExt cx="426" cy="2450"/>
          </a:xfrm>
        </p:grpSpPr>
        <p:sp>
          <p:nvSpPr>
            <p:cNvPr id="193578" name="Text Box 42"/>
            <p:cNvSpPr txBox="1">
              <a:spLocks noChangeArrowheads="1"/>
            </p:cNvSpPr>
            <p:nvPr/>
          </p:nvSpPr>
          <p:spPr bwMode="auto">
            <a:xfrm>
              <a:off x="233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D</a:t>
              </a:r>
            </a:p>
          </p:txBody>
        </p:sp>
        <p:sp>
          <p:nvSpPr>
            <p:cNvPr id="193593" name="Oval 57"/>
            <p:cNvSpPr>
              <a:spLocks noChangeAspect="1" noChangeArrowheads="1"/>
            </p:cNvSpPr>
            <p:nvPr/>
          </p:nvSpPr>
          <p:spPr bwMode="auto">
            <a:xfrm>
              <a:off x="2105" y="562"/>
              <a:ext cx="217" cy="217"/>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D</a:t>
              </a:r>
            </a:p>
          </p:txBody>
        </p:sp>
      </p:grpSp>
      <p:grpSp>
        <p:nvGrpSpPr>
          <p:cNvPr id="6" name="Group 85"/>
          <p:cNvGrpSpPr>
            <a:grpSpLocks/>
          </p:cNvGrpSpPr>
          <p:nvPr/>
        </p:nvGrpSpPr>
        <p:grpSpPr bwMode="auto">
          <a:xfrm>
            <a:off x="4371975" y="2863359"/>
            <a:ext cx="1290638" cy="3198813"/>
            <a:chOff x="930" y="997"/>
            <a:chExt cx="813" cy="2015"/>
          </a:xfrm>
        </p:grpSpPr>
        <p:sp>
          <p:nvSpPr>
            <p:cNvPr id="193575" name="Text Box 39"/>
            <p:cNvSpPr txBox="1">
              <a:spLocks noChangeArrowheads="1"/>
            </p:cNvSpPr>
            <p:nvPr/>
          </p:nvSpPr>
          <p:spPr bwMode="auto">
            <a:xfrm>
              <a:off x="1547"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E</a:t>
              </a:r>
            </a:p>
          </p:txBody>
        </p:sp>
        <p:sp>
          <p:nvSpPr>
            <p:cNvPr id="193594" name="Oval 58"/>
            <p:cNvSpPr>
              <a:spLocks noChangeAspect="1" noChangeArrowheads="1"/>
            </p:cNvSpPr>
            <p:nvPr/>
          </p:nvSpPr>
          <p:spPr bwMode="auto">
            <a:xfrm>
              <a:off x="930" y="997"/>
              <a:ext cx="218" cy="218"/>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E</a:t>
              </a:r>
            </a:p>
          </p:txBody>
        </p:sp>
      </p:grpSp>
      <p:grpSp>
        <p:nvGrpSpPr>
          <p:cNvPr id="7" name="Group 86"/>
          <p:cNvGrpSpPr>
            <a:grpSpLocks/>
          </p:cNvGrpSpPr>
          <p:nvPr/>
        </p:nvGrpSpPr>
        <p:grpSpPr bwMode="auto">
          <a:xfrm>
            <a:off x="5041900" y="2863359"/>
            <a:ext cx="1054100" cy="3198813"/>
            <a:chOff x="1352" y="997"/>
            <a:chExt cx="664" cy="2015"/>
          </a:xfrm>
        </p:grpSpPr>
        <p:sp>
          <p:nvSpPr>
            <p:cNvPr id="193576" name="Text Box 40"/>
            <p:cNvSpPr txBox="1">
              <a:spLocks noChangeArrowheads="1"/>
            </p:cNvSpPr>
            <p:nvPr/>
          </p:nvSpPr>
          <p:spPr bwMode="auto">
            <a:xfrm>
              <a:off x="1820"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F</a:t>
              </a:r>
            </a:p>
          </p:txBody>
        </p:sp>
        <p:sp>
          <p:nvSpPr>
            <p:cNvPr id="193595" name="Oval 59"/>
            <p:cNvSpPr>
              <a:spLocks noChangeAspect="1" noChangeArrowheads="1"/>
            </p:cNvSpPr>
            <p:nvPr/>
          </p:nvSpPr>
          <p:spPr bwMode="auto">
            <a:xfrm>
              <a:off x="1352" y="997"/>
              <a:ext cx="218" cy="218"/>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F</a:t>
              </a:r>
            </a:p>
          </p:txBody>
        </p:sp>
      </p:grpSp>
      <p:grpSp>
        <p:nvGrpSpPr>
          <p:cNvPr id="8" name="Group 89"/>
          <p:cNvGrpSpPr>
            <a:grpSpLocks/>
          </p:cNvGrpSpPr>
          <p:nvPr/>
        </p:nvGrpSpPr>
        <p:grpSpPr bwMode="auto">
          <a:xfrm>
            <a:off x="6249990" y="2863359"/>
            <a:ext cx="1139825" cy="3198813"/>
            <a:chOff x="2113" y="997"/>
            <a:chExt cx="718" cy="2015"/>
          </a:xfrm>
        </p:grpSpPr>
        <p:sp>
          <p:nvSpPr>
            <p:cNvPr id="193579" name="Text Box 43"/>
            <p:cNvSpPr txBox="1">
              <a:spLocks noChangeArrowheads="1"/>
            </p:cNvSpPr>
            <p:nvPr/>
          </p:nvSpPr>
          <p:spPr bwMode="auto">
            <a:xfrm>
              <a:off x="263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G</a:t>
              </a:r>
            </a:p>
          </p:txBody>
        </p:sp>
        <p:sp>
          <p:nvSpPr>
            <p:cNvPr id="193596" name="Oval 60"/>
            <p:cNvSpPr>
              <a:spLocks noChangeAspect="1" noChangeArrowheads="1"/>
            </p:cNvSpPr>
            <p:nvPr/>
          </p:nvSpPr>
          <p:spPr bwMode="auto">
            <a:xfrm>
              <a:off x="2113" y="997"/>
              <a:ext cx="218" cy="218"/>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G</a:t>
              </a:r>
            </a:p>
          </p:txBody>
        </p:sp>
      </p:grpSp>
      <p:grpSp>
        <p:nvGrpSpPr>
          <p:cNvPr id="9" name="Group 90"/>
          <p:cNvGrpSpPr>
            <a:grpSpLocks/>
          </p:cNvGrpSpPr>
          <p:nvPr/>
        </p:nvGrpSpPr>
        <p:grpSpPr bwMode="auto">
          <a:xfrm>
            <a:off x="6243640" y="3509472"/>
            <a:ext cx="1577975" cy="2552699"/>
            <a:chOff x="2109" y="1404"/>
            <a:chExt cx="994" cy="1608"/>
          </a:xfrm>
        </p:grpSpPr>
        <p:sp>
          <p:nvSpPr>
            <p:cNvPr id="193580" name="Text Box 44"/>
            <p:cNvSpPr txBox="1">
              <a:spLocks noChangeArrowheads="1"/>
            </p:cNvSpPr>
            <p:nvPr/>
          </p:nvSpPr>
          <p:spPr bwMode="auto">
            <a:xfrm>
              <a:off x="2907"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H</a:t>
              </a:r>
            </a:p>
          </p:txBody>
        </p:sp>
        <p:sp>
          <p:nvSpPr>
            <p:cNvPr id="193597" name="Oval 61"/>
            <p:cNvSpPr>
              <a:spLocks noChangeAspect="1" noChangeArrowheads="1"/>
            </p:cNvSpPr>
            <p:nvPr/>
          </p:nvSpPr>
          <p:spPr bwMode="auto">
            <a:xfrm>
              <a:off x="2109" y="1404"/>
              <a:ext cx="217" cy="217"/>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H</a:t>
              </a:r>
            </a:p>
          </p:txBody>
        </p:sp>
      </p:grpSp>
      <p:grpSp>
        <p:nvGrpSpPr>
          <p:cNvPr id="10" name="Group 92"/>
          <p:cNvGrpSpPr>
            <a:grpSpLocks/>
          </p:cNvGrpSpPr>
          <p:nvPr/>
        </p:nvGrpSpPr>
        <p:grpSpPr bwMode="auto">
          <a:xfrm>
            <a:off x="6254750" y="4168284"/>
            <a:ext cx="2432050" cy="1893888"/>
            <a:chOff x="2116" y="1819"/>
            <a:chExt cx="1532" cy="1193"/>
          </a:xfrm>
        </p:grpSpPr>
        <p:sp>
          <p:nvSpPr>
            <p:cNvPr id="193582" name="Text Box 46"/>
            <p:cNvSpPr txBox="1">
              <a:spLocks noChangeArrowheads="1"/>
            </p:cNvSpPr>
            <p:nvPr/>
          </p:nvSpPr>
          <p:spPr bwMode="auto">
            <a:xfrm>
              <a:off x="3452"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J</a:t>
              </a:r>
            </a:p>
          </p:txBody>
        </p:sp>
        <p:sp>
          <p:nvSpPr>
            <p:cNvPr id="193598" name="Oval 62"/>
            <p:cNvSpPr>
              <a:spLocks noChangeAspect="1" noChangeArrowheads="1"/>
            </p:cNvSpPr>
            <p:nvPr/>
          </p:nvSpPr>
          <p:spPr bwMode="auto">
            <a:xfrm>
              <a:off x="2116" y="1819"/>
              <a:ext cx="217" cy="217"/>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J</a:t>
              </a:r>
            </a:p>
          </p:txBody>
        </p:sp>
      </p:grpSp>
      <p:grpSp>
        <p:nvGrpSpPr>
          <p:cNvPr id="11" name="Group 91"/>
          <p:cNvGrpSpPr>
            <a:grpSpLocks/>
          </p:cNvGrpSpPr>
          <p:nvPr/>
        </p:nvGrpSpPr>
        <p:grpSpPr bwMode="auto">
          <a:xfrm>
            <a:off x="5734049" y="4168284"/>
            <a:ext cx="2520950" cy="1893888"/>
            <a:chOff x="1788" y="1819"/>
            <a:chExt cx="1588" cy="1193"/>
          </a:xfrm>
        </p:grpSpPr>
        <p:sp>
          <p:nvSpPr>
            <p:cNvPr id="193581" name="Text Box 45"/>
            <p:cNvSpPr txBox="1">
              <a:spLocks noChangeArrowheads="1"/>
            </p:cNvSpPr>
            <p:nvPr/>
          </p:nvSpPr>
          <p:spPr bwMode="auto">
            <a:xfrm>
              <a:off x="3180"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I</a:t>
              </a:r>
            </a:p>
          </p:txBody>
        </p:sp>
        <p:sp>
          <p:nvSpPr>
            <p:cNvPr id="193599" name="Oval 63"/>
            <p:cNvSpPr>
              <a:spLocks noChangeAspect="1" noChangeArrowheads="1"/>
            </p:cNvSpPr>
            <p:nvPr/>
          </p:nvSpPr>
          <p:spPr bwMode="auto">
            <a:xfrm>
              <a:off x="1788" y="1819"/>
              <a:ext cx="218" cy="217"/>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I</a:t>
              </a:r>
            </a:p>
          </p:txBody>
        </p:sp>
      </p:grpSp>
      <p:grpSp>
        <p:nvGrpSpPr>
          <p:cNvPr id="12" name="Group 93"/>
          <p:cNvGrpSpPr>
            <a:grpSpLocks/>
          </p:cNvGrpSpPr>
          <p:nvPr/>
        </p:nvGrpSpPr>
        <p:grpSpPr bwMode="auto">
          <a:xfrm>
            <a:off x="6807200" y="4168284"/>
            <a:ext cx="2363788" cy="1893888"/>
            <a:chOff x="2464" y="1819"/>
            <a:chExt cx="1489" cy="1193"/>
          </a:xfrm>
        </p:grpSpPr>
        <p:sp>
          <p:nvSpPr>
            <p:cNvPr id="193583" name="Text Box 47"/>
            <p:cNvSpPr txBox="1">
              <a:spLocks noChangeArrowheads="1"/>
            </p:cNvSpPr>
            <p:nvPr/>
          </p:nvSpPr>
          <p:spPr bwMode="auto">
            <a:xfrm>
              <a:off x="3757"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dirty="0">
                  <a:solidFill>
                    <a:srgbClr val="FF0000"/>
                  </a:solidFill>
                  <a:latin typeface="Consolas" pitchFamily="49" charset="0"/>
                  <a:cs typeface="Consolas" pitchFamily="49" charset="0"/>
                </a:rPr>
                <a:t>K</a:t>
              </a:r>
            </a:p>
          </p:txBody>
        </p:sp>
        <p:sp>
          <p:nvSpPr>
            <p:cNvPr id="193600" name="Oval 64"/>
            <p:cNvSpPr>
              <a:spLocks noChangeAspect="1" noChangeArrowheads="1"/>
            </p:cNvSpPr>
            <p:nvPr/>
          </p:nvSpPr>
          <p:spPr bwMode="auto">
            <a:xfrm>
              <a:off x="2464" y="1819"/>
              <a:ext cx="218" cy="217"/>
            </a:xfrm>
            <a:prstGeom prst="ellipse">
              <a:avLst/>
            </a:prstGeom>
            <a:ln>
              <a:headEnd type="none" w="sm" len="sm"/>
              <a:tailEnd type="none" w="sm" len="sm"/>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K</a:t>
              </a:r>
            </a:p>
          </p:txBody>
        </p:sp>
      </p:grpSp>
      <p:sp>
        <p:nvSpPr>
          <p:cNvPr id="193630" name="Text Box 94"/>
          <p:cNvSpPr txBox="1">
            <a:spLocks noChangeArrowheads="1"/>
          </p:cNvSpPr>
          <p:nvPr/>
        </p:nvSpPr>
        <p:spPr bwMode="auto">
          <a:xfrm>
            <a:off x="5595939" y="6438408"/>
            <a:ext cx="2016125" cy="400110"/>
          </a:xfrm>
          <a:prstGeom prst="rect">
            <a:avLst/>
          </a:prstGeom>
          <a:noFill/>
          <a:ln w="9525" algn="ctr">
            <a:noFill/>
            <a:miter lim="800000"/>
            <a:headEnd/>
            <a:tailEnd type="none" w="med" len="lg"/>
          </a:ln>
          <a:effectLst/>
        </p:spPr>
        <p:txBody>
          <a:bodyPr>
            <a:spAutoFit/>
          </a:bodyPr>
          <a:lstStyle/>
          <a:p>
            <a:pPr>
              <a:spcBef>
                <a:spcPct val="50000"/>
              </a:spcBef>
            </a:pPr>
            <a:r>
              <a:rPr lang="zh-CN" altLang="en-US" sz="2000" dirty="0">
                <a:solidFill>
                  <a:srgbClr val="CC00FF"/>
                </a:solidFill>
                <a:latin typeface="Consolas" pitchFamily="49" charset="0"/>
                <a:ea typeface="黑体" pitchFamily="49" charset="-122"/>
                <a:cs typeface="Consolas" pitchFamily="49" charset="0"/>
              </a:rPr>
              <a:t>遍历完毕</a:t>
            </a:r>
          </a:p>
        </p:txBody>
      </p:sp>
      <p:sp>
        <p:nvSpPr>
          <p:cNvPr id="193631" name="Text Box 95"/>
          <p:cNvSpPr txBox="1">
            <a:spLocks noChangeArrowheads="1"/>
          </p:cNvSpPr>
          <p:nvPr/>
        </p:nvSpPr>
        <p:spPr bwMode="auto">
          <a:xfrm>
            <a:off x="1068583" y="1743225"/>
            <a:ext cx="3248017" cy="430887"/>
          </a:xfrm>
          <a:prstGeom prst="rect">
            <a:avLst/>
          </a:prstGeom>
          <a:solidFill>
            <a:srgbClr val="CC00FF"/>
          </a:solidFill>
          <a:ln w="28575" algn="ctr">
            <a:noFill/>
            <a:miter lim="800000"/>
            <a:headEnd/>
            <a:tailEnd type="none" w="med" len="lg"/>
          </a:ln>
          <a:effectLst/>
        </p:spPr>
        <p:txBody>
          <a:bodyPr wrap="square">
            <a:spAutoFit/>
          </a:bodyPr>
          <a:lstStyle/>
          <a:p>
            <a:pPr>
              <a:spcBef>
                <a:spcPct val="50000"/>
              </a:spcBef>
            </a:pPr>
            <a:r>
              <a:rPr lang="zh-CN" altLang="en-US" sz="2200" dirty="0">
                <a:solidFill>
                  <a:schemeClr val="bg1"/>
                </a:solidFill>
                <a:latin typeface="华文中宋" pitchFamily="2" charset="-122"/>
                <a:ea typeface="华文中宋" pitchFamily="2" charset="-122"/>
                <a:cs typeface="Times New Roman" pitchFamily="18" charset="0"/>
              </a:rPr>
              <a:t>树的先根遍历</a:t>
            </a:r>
            <a:r>
              <a:rPr lang="zh-CN" altLang="en-US" sz="2200">
                <a:solidFill>
                  <a:schemeClr val="bg1"/>
                </a:solidFill>
                <a:latin typeface="华文中宋" pitchFamily="2" charset="-122"/>
                <a:ea typeface="华文中宋" pitchFamily="2" charset="-122"/>
                <a:cs typeface="Times New Roman" pitchFamily="18" charset="0"/>
              </a:rPr>
              <a:t>示例</a:t>
            </a:r>
            <a:endParaRPr lang="zh-CN" altLang="en-US" sz="2200" dirty="0">
              <a:solidFill>
                <a:schemeClr val="bg1"/>
              </a:solidFill>
              <a:latin typeface="华文中宋" pitchFamily="2" charset="-122"/>
              <a:ea typeface="华文中宋" pitchFamily="2" charset="-122"/>
              <a:cs typeface="Times New Roman" pitchFamily="18" charset="0"/>
            </a:endParaRPr>
          </a:p>
        </p:txBody>
      </p:sp>
      <p:sp>
        <p:nvSpPr>
          <p:cNvPr id="13" name="矩形 12">
            <a:extLst>
              <a:ext uri="{FF2B5EF4-FFF2-40B4-BE49-F238E27FC236}">
                <a16:creationId xmlns:a16="http://schemas.microsoft.com/office/drawing/2014/main" xmlns="" id="{7A4729D9-FAD1-5156-D426-67E85C365746}"/>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14" name="Rectangle 2">
            <a:extLst>
              <a:ext uri="{FF2B5EF4-FFF2-40B4-BE49-F238E27FC236}">
                <a16:creationId xmlns:a16="http://schemas.microsoft.com/office/drawing/2014/main" xmlns="" id="{AFFE6382-395F-B530-CCA5-867B9143B0BD}"/>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7.1.5 </a:t>
            </a:r>
            <a:r>
              <a:rPr lang="zh-CN" altLang="en-US" dirty="0"/>
              <a:t>树的基本运算</a:t>
            </a:r>
          </a:p>
        </p:txBody>
      </p:sp>
      <p:cxnSp>
        <p:nvCxnSpPr>
          <p:cNvPr id="15" name="直接连接符 14">
            <a:extLst>
              <a:ext uri="{FF2B5EF4-FFF2-40B4-BE49-F238E27FC236}">
                <a16:creationId xmlns:a16="http://schemas.microsoft.com/office/drawing/2014/main" xmlns="" id="{11CD8273-013E-4505-4A7F-6EC02EB44267}"/>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nodeType="clickEffect">
                                  <p:stCondLst>
                                    <p:cond delay="0"/>
                                  </p:stCondLst>
                                  <p:childTnLst>
                                    <p:animClr clrSpc="rgb" dir="cw">
                                      <p:cBhvr override="childStyle">
                                        <p:cTn id="11" dur="100" fill="hold"/>
                                        <p:tgtEl>
                                          <p:spTgt spid="2"/>
                                        </p:tgtEl>
                                        <p:attrNameLst>
                                          <p:attrName>style.color</p:attrName>
                                        </p:attrNameLst>
                                      </p:cBhvr>
                                      <p:to>
                                        <a:schemeClr val="accent2"/>
                                      </p:to>
                                    </p:animClr>
                                    <p:animClr clrSpc="rgb" dir="cw">
                                      <p:cBhvr>
                                        <p:cTn id="12" dur="100" fill="hold"/>
                                        <p:tgtEl>
                                          <p:spTgt spid="2"/>
                                        </p:tgtEl>
                                        <p:attrNameLst>
                                          <p:attrName>fillcolor</p:attrName>
                                        </p:attrNameLst>
                                      </p:cBhvr>
                                      <p:to>
                                        <a:schemeClr val="accent2"/>
                                      </p:to>
                                    </p:animClr>
                                    <p:set>
                                      <p:cBhvr>
                                        <p:cTn id="13" dur="100" fill="hold"/>
                                        <p:tgtEl>
                                          <p:spTgt spid="2"/>
                                        </p:tgtEl>
                                        <p:attrNameLst>
                                          <p:attrName>fill.type</p:attrName>
                                        </p:attrNameLst>
                                      </p:cBhvr>
                                      <p:to>
                                        <p:strVal val="solid"/>
                                      </p:to>
                                    </p:set>
                                    <p:set>
                                      <p:cBhvr>
                                        <p:cTn id="14" dur="100" fill="hold"/>
                                        <p:tgtEl>
                                          <p:spTgt spid="2"/>
                                        </p:tgtEl>
                                        <p:attrNameLst>
                                          <p:attrName>fill.on</p:attrName>
                                        </p:attrNameLst>
                                      </p:cBhvr>
                                      <p:to>
                                        <p:strVal val="true"/>
                                      </p:to>
                                    </p:set>
                                    <p:animRot by="120000">
                                      <p:cBhvr>
                                        <p:cTn id="15" dur="100" fill="hold">
                                          <p:stCondLst>
                                            <p:cond delay="0"/>
                                          </p:stCondLst>
                                        </p:cTn>
                                        <p:tgtEl>
                                          <p:spTgt spid="2"/>
                                        </p:tgtEl>
                                        <p:attrNameLst>
                                          <p:attrName>r</p:attrName>
                                        </p:attrNameLst>
                                      </p:cBhvr>
                                    </p:animRot>
                                    <p:animRot by="-240000">
                                      <p:cBhvr>
                                        <p:cTn id="16" dur="200" fill="hold">
                                          <p:stCondLst>
                                            <p:cond delay="200"/>
                                          </p:stCondLst>
                                        </p:cTn>
                                        <p:tgtEl>
                                          <p:spTgt spid="2"/>
                                        </p:tgtEl>
                                        <p:attrNameLst>
                                          <p:attrName>r</p:attrName>
                                        </p:attrNameLst>
                                      </p:cBhvr>
                                    </p:animRot>
                                    <p:animRot by="240000">
                                      <p:cBhvr>
                                        <p:cTn id="17" dur="200" fill="hold">
                                          <p:stCondLst>
                                            <p:cond delay="400"/>
                                          </p:stCondLst>
                                        </p:cTn>
                                        <p:tgtEl>
                                          <p:spTgt spid="2"/>
                                        </p:tgtEl>
                                        <p:attrNameLst>
                                          <p:attrName>r</p:attrName>
                                        </p:attrNameLst>
                                      </p:cBhvr>
                                    </p:animRot>
                                    <p:animRot by="-240000">
                                      <p:cBhvr>
                                        <p:cTn id="18" dur="200" fill="hold">
                                          <p:stCondLst>
                                            <p:cond delay="600"/>
                                          </p:stCondLst>
                                        </p:cTn>
                                        <p:tgtEl>
                                          <p:spTgt spid="2"/>
                                        </p:tgtEl>
                                        <p:attrNameLst>
                                          <p:attrName>r</p:attrName>
                                        </p:attrNameLst>
                                      </p:cBhvr>
                                    </p:animRot>
                                    <p:animRot by="120000">
                                      <p:cBhvr>
                                        <p:cTn id="19" dur="200" fill="hold">
                                          <p:stCondLst>
                                            <p:cond delay="800"/>
                                          </p:stCondLst>
                                        </p:cTn>
                                        <p:tgtEl>
                                          <p:spTgt spid="2"/>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down)">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down)">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wipe(down)">
                                      <p:cBhvr>
                                        <p:cTn id="44" dur="500"/>
                                        <p:tgtEl>
                                          <p:spTgt spid="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down)">
                                      <p:cBhvr>
                                        <p:cTn id="49" dur="500"/>
                                        <p:tgtEl>
                                          <p:spTgt spid="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down)">
                                      <p:cBhvr>
                                        <p:cTn id="54" dur="500"/>
                                        <p:tgtEl>
                                          <p:spTgt spid="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wipe(down)">
                                      <p:cBhvr>
                                        <p:cTn id="59" dur="500"/>
                                        <p:tgtEl>
                                          <p:spTgt spid="1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wipe(down)">
                                      <p:cBhvr>
                                        <p:cTn id="64" dur="500"/>
                                        <p:tgtEl>
                                          <p:spTgt spid="10"/>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wipe(down)">
                                      <p:cBhvr>
                                        <p:cTn id="69" dur="500"/>
                                        <p:tgtEl>
                                          <p:spTgt spid="1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93630"/>
                                        </p:tgtEl>
                                        <p:attrNameLst>
                                          <p:attrName>style.visibility</p:attrName>
                                        </p:attrNameLst>
                                      </p:cBhvr>
                                      <p:to>
                                        <p:strVal val="visible"/>
                                      </p:to>
                                    </p:set>
                                    <p:animEffect transition="in" filter="wipe(left)">
                                      <p:cBhvr>
                                        <p:cTn id="74" dur="500"/>
                                        <p:tgtEl>
                                          <p:spTgt spid="193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63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73" name="Freeform 21"/>
          <p:cNvSpPr>
            <a:spLocks/>
          </p:cNvSpPr>
          <p:nvPr/>
        </p:nvSpPr>
        <p:spPr bwMode="auto">
          <a:xfrm>
            <a:off x="6572058" y="2593485"/>
            <a:ext cx="1588" cy="323850"/>
          </a:xfrm>
          <a:custGeom>
            <a:avLst/>
            <a:gdLst/>
            <a:ahLst/>
            <a:cxnLst>
              <a:cxn ang="0">
                <a:pos x="8" y="0"/>
              </a:cxn>
              <a:cxn ang="0">
                <a:pos x="0" y="256"/>
              </a:cxn>
            </a:cxnLst>
            <a:rect l="0" t="0" r="r" b="b"/>
            <a:pathLst>
              <a:path w="8" h="256">
                <a:moveTo>
                  <a:pt x="8" y="0"/>
                </a:moveTo>
                <a:lnTo>
                  <a:pt x="0" y="256"/>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81974" name="Freeform 22"/>
          <p:cNvSpPr>
            <a:spLocks noChangeAspect="1"/>
          </p:cNvSpPr>
          <p:nvPr/>
        </p:nvSpPr>
        <p:spPr bwMode="auto">
          <a:xfrm>
            <a:off x="6579996" y="3271349"/>
            <a:ext cx="4762" cy="287337"/>
          </a:xfrm>
          <a:custGeom>
            <a:avLst/>
            <a:gdLst/>
            <a:ahLst/>
            <a:cxnLst>
              <a:cxn ang="0">
                <a:pos x="0" y="0"/>
              </a:cxn>
              <a:cxn ang="0">
                <a:pos x="3" y="239"/>
              </a:cxn>
            </a:cxnLst>
            <a:rect l="0" t="0" r="r" b="b"/>
            <a:pathLst>
              <a:path w="3" h="239">
                <a:moveTo>
                  <a:pt x="0" y="0"/>
                </a:moveTo>
                <a:lnTo>
                  <a:pt x="3" y="239"/>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81957" name="Freeform 5"/>
          <p:cNvSpPr>
            <a:spLocks noChangeAspect="1"/>
          </p:cNvSpPr>
          <p:nvPr/>
        </p:nvSpPr>
        <p:spPr bwMode="auto">
          <a:xfrm>
            <a:off x="6579997" y="3914285"/>
            <a:ext cx="3175" cy="312738"/>
          </a:xfrm>
          <a:custGeom>
            <a:avLst/>
            <a:gdLst/>
            <a:ahLst/>
            <a:cxnLst>
              <a:cxn ang="0">
                <a:pos x="0" y="0"/>
              </a:cxn>
              <a:cxn ang="0">
                <a:pos x="2" y="252"/>
              </a:cxn>
            </a:cxnLst>
            <a:rect l="0" t="0" r="r" b="b"/>
            <a:pathLst>
              <a:path w="2" h="252">
                <a:moveTo>
                  <a:pt x="0" y="0"/>
                </a:moveTo>
                <a:lnTo>
                  <a:pt x="2" y="252"/>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81958" name="Freeform 6"/>
          <p:cNvSpPr>
            <a:spLocks noChangeAspect="1"/>
          </p:cNvSpPr>
          <p:nvPr/>
        </p:nvSpPr>
        <p:spPr bwMode="auto">
          <a:xfrm>
            <a:off x="6729222" y="3815860"/>
            <a:ext cx="352425" cy="414338"/>
          </a:xfrm>
          <a:custGeom>
            <a:avLst/>
            <a:gdLst/>
            <a:ahLst/>
            <a:cxnLst>
              <a:cxn ang="0">
                <a:pos x="0" y="0"/>
              </a:cxn>
              <a:cxn ang="0">
                <a:pos x="278" y="326"/>
              </a:cxn>
            </a:cxnLst>
            <a:rect l="0" t="0" r="r" b="b"/>
            <a:pathLst>
              <a:path w="278" h="326">
                <a:moveTo>
                  <a:pt x="0" y="0"/>
                </a:moveTo>
                <a:lnTo>
                  <a:pt x="278" y="326"/>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81954" name="Freeform 2"/>
          <p:cNvSpPr>
            <a:spLocks noChangeAspect="1"/>
          </p:cNvSpPr>
          <p:nvPr/>
        </p:nvSpPr>
        <p:spPr bwMode="auto">
          <a:xfrm>
            <a:off x="6127559" y="3833323"/>
            <a:ext cx="295275" cy="381000"/>
          </a:xfrm>
          <a:custGeom>
            <a:avLst/>
            <a:gdLst/>
            <a:ahLst/>
            <a:cxnLst>
              <a:cxn ang="0">
                <a:pos x="186" y="0"/>
              </a:cxn>
              <a:cxn ang="0">
                <a:pos x="0" y="240"/>
              </a:cxn>
            </a:cxnLst>
            <a:rect l="0" t="0" r="r" b="b"/>
            <a:pathLst>
              <a:path w="186" h="240">
                <a:moveTo>
                  <a:pt x="186" y="0"/>
                </a:moveTo>
                <a:lnTo>
                  <a:pt x="0" y="240"/>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81955" name="Freeform 3"/>
          <p:cNvSpPr>
            <a:spLocks noChangeAspect="1"/>
          </p:cNvSpPr>
          <p:nvPr/>
        </p:nvSpPr>
        <p:spPr bwMode="auto">
          <a:xfrm>
            <a:off x="5170296" y="2539511"/>
            <a:ext cx="176212" cy="379413"/>
          </a:xfrm>
          <a:custGeom>
            <a:avLst/>
            <a:gdLst/>
            <a:ahLst/>
            <a:cxnLst>
              <a:cxn ang="0">
                <a:pos x="0" y="0"/>
              </a:cxn>
              <a:cxn ang="0">
                <a:pos x="139" y="298"/>
              </a:cxn>
            </a:cxnLst>
            <a:rect l="0" t="0" r="r" b="b"/>
            <a:pathLst>
              <a:path w="139" h="298">
                <a:moveTo>
                  <a:pt x="0" y="0"/>
                </a:moveTo>
                <a:lnTo>
                  <a:pt x="139" y="298"/>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81956" name="Freeform 4"/>
          <p:cNvSpPr>
            <a:spLocks noChangeAspect="1"/>
          </p:cNvSpPr>
          <p:nvPr/>
        </p:nvSpPr>
        <p:spPr bwMode="auto">
          <a:xfrm>
            <a:off x="4746433" y="2520460"/>
            <a:ext cx="177800" cy="388938"/>
          </a:xfrm>
          <a:custGeom>
            <a:avLst/>
            <a:gdLst/>
            <a:ahLst/>
            <a:cxnLst>
              <a:cxn ang="0">
                <a:pos x="112" y="0"/>
              </a:cxn>
              <a:cxn ang="0">
                <a:pos x="0" y="245"/>
              </a:cxn>
            </a:cxnLst>
            <a:rect l="0" t="0" r="r" b="b"/>
            <a:pathLst>
              <a:path w="112" h="245">
                <a:moveTo>
                  <a:pt x="112" y="0"/>
                </a:moveTo>
                <a:lnTo>
                  <a:pt x="0" y="245"/>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81972" name="Freeform 20"/>
          <p:cNvSpPr>
            <a:spLocks noChangeAspect="1"/>
          </p:cNvSpPr>
          <p:nvPr/>
        </p:nvSpPr>
        <p:spPr bwMode="auto">
          <a:xfrm>
            <a:off x="5957697" y="1769574"/>
            <a:ext cx="498475" cy="498475"/>
          </a:xfrm>
          <a:custGeom>
            <a:avLst/>
            <a:gdLst/>
            <a:ahLst/>
            <a:cxnLst>
              <a:cxn ang="0">
                <a:pos x="0" y="0"/>
              </a:cxn>
              <a:cxn ang="0">
                <a:pos x="314" y="314"/>
              </a:cxn>
            </a:cxnLst>
            <a:rect l="0" t="0" r="r" b="b"/>
            <a:pathLst>
              <a:path w="314" h="314">
                <a:moveTo>
                  <a:pt x="0" y="0"/>
                </a:moveTo>
                <a:lnTo>
                  <a:pt x="314" y="314"/>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81959" name="Freeform 7"/>
          <p:cNvSpPr>
            <a:spLocks noChangeAspect="1"/>
          </p:cNvSpPr>
          <p:nvPr/>
        </p:nvSpPr>
        <p:spPr bwMode="auto">
          <a:xfrm>
            <a:off x="5775134" y="1871173"/>
            <a:ext cx="3175" cy="360362"/>
          </a:xfrm>
          <a:custGeom>
            <a:avLst/>
            <a:gdLst/>
            <a:ahLst/>
            <a:cxnLst>
              <a:cxn ang="0">
                <a:pos x="0" y="0"/>
              </a:cxn>
              <a:cxn ang="0">
                <a:pos x="2" y="284"/>
              </a:cxn>
            </a:cxnLst>
            <a:rect l="0" t="0" r="r" b="b"/>
            <a:pathLst>
              <a:path w="2" h="284">
                <a:moveTo>
                  <a:pt x="0" y="0"/>
                </a:moveTo>
                <a:lnTo>
                  <a:pt x="2" y="284"/>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81971" name="Freeform 19"/>
          <p:cNvSpPr>
            <a:spLocks noChangeAspect="1"/>
          </p:cNvSpPr>
          <p:nvPr/>
        </p:nvSpPr>
        <p:spPr bwMode="auto">
          <a:xfrm>
            <a:off x="5125847" y="1764810"/>
            <a:ext cx="484187" cy="484188"/>
          </a:xfrm>
          <a:custGeom>
            <a:avLst/>
            <a:gdLst/>
            <a:ahLst/>
            <a:cxnLst>
              <a:cxn ang="0">
                <a:pos x="382" y="0"/>
              </a:cxn>
              <a:cxn ang="0">
                <a:pos x="0" y="382"/>
              </a:cxn>
            </a:cxnLst>
            <a:rect l="0" t="0" r="r" b="b"/>
            <a:pathLst>
              <a:path w="382" h="382">
                <a:moveTo>
                  <a:pt x="382" y="0"/>
                </a:moveTo>
                <a:lnTo>
                  <a:pt x="0" y="382"/>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latin typeface="Consolas" pitchFamily="49" charset="0"/>
              <a:cs typeface="Consolas" pitchFamily="49" charset="0"/>
            </a:endParaRPr>
          </a:p>
        </p:txBody>
      </p:sp>
      <p:sp>
        <p:nvSpPr>
          <p:cNvPr id="381960" name="Oval 8"/>
          <p:cNvSpPr>
            <a:spLocks noChangeAspect="1" noChangeArrowheads="1"/>
          </p:cNvSpPr>
          <p:nvPr/>
        </p:nvSpPr>
        <p:spPr bwMode="auto">
          <a:xfrm>
            <a:off x="5602097" y="1529860"/>
            <a:ext cx="346075"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A</a:t>
            </a:r>
          </a:p>
        </p:txBody>
      </p:sp>
      <p:sp>
        <p:nvSpPr>
          <p:cNvPr id="381961" name="Oval 9"/>
          <p:cNvSpPr>
            <a:spLocks noChangeAspect="1" noChangeArrowheads="1"/>
          </p:cNvSpPr>
          <p:nvPr/>
        </p:nvSpPr>
        <p:spPr bwMode="auto">
          <a:xfrm>
            <a:off x="4879784" y="2229949"/>
            <a:ext cx="346075"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B</a:t>
            </a:r>
          </a:p>
        </p:txBody>
      </p:sp>
      <p:sp>
        <p:nvSpPr>
          <p:cNvPr id="381962" name="Oval 10"/>
          <p:cNvSpPr>
            <a:spLocks noChangeAspect="1" noChangeArrowheads="1"/>
          </p:cNvSpPr>
          <p:nvPr/>
        </p:nvSpPr>
        <p:spPr bwMode="auto">
          <a:xfrm>
            <a:off x="5602097" y="2229949"/>
            <a:ext cx="344487"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C</a:t>
            </a:r>
          </a:p>
        </p:txBody>
      </p:sp>
      <p:sp>
        <p:nvSpPr>
          <p:cNvPr id="381963" name="Oval 11"/>
          <p:cNvSpPr>
            <a:spLocks noChangeAspect="1" noChangeArrowheads="1"/>
          </p:cNvSpPr>
          <p:nvPr/>
        </p:nvSpPr>
        <p:spPr bwMode="auto">
          <a:xfrm>
            <a:off x="6394258" y="2229949"/>
            <a:ext cx="344488"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D</a:t>
            </a:r>
          </a:p>
        </p:txBody>
      </p:sp>
      <p:sp>
        <p:nvSpPr>
          <p:cNvPr id="381964" name="Oval 12"/>
          <p:cNvSpPr>
            <a:spLocks noChangeAspect="1" noChangeArrowheads="1"/>
          </p:cNvSpPr>
          <p:nvPr/>
        </p:nvSpPr>
        <p:spPr bwMode="auto">
          <a:xfrm>
            <a:off x="4528947" y="2920511"/>
            <a:ext cx="346075" cy="346075"/>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E</a:t>
            </a:r>
          </a:p>
        </p:txBody>
      </p:sp>
      <p:sp>
        <p:nvSpPr>
          <p:cNvPr id="381965" name="Oval 13"/>
          <p:cNvSpPr>
            <a:spLocks noChangeAspect="1" noChangeArrowheads="1"/>
          </p:cNvSpPr>
          <p:nvPr/>
        </p:nvSpPr>
        <p:spPr bwMode="auto">
          <a:xfrm>
            <a:off x="5198872" y="2920511"/>
            <a:ext cx="346075" cy="346075"/>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F</a:t>
            </a:r>
          </a:p>
        </p:txBody>
      </p:sp>
      <p:sp>
        <p:nvSpPr>
          <p:cNvPr id="381966" name="Oval 14"/>
          <p:cNvSpPr>
            <a:spLocks noChangeAspect="1" noChangeArrowheads="1"/>
          </p:cNvSpPr>
          <p:nvPr/>
        </p:nvSpPr>
        <p:spPr bwMode="auto">
          <a:xfrm>
            <a:off x="6406959" y="2920511"/>
            <a:ext cx="346075" cy="346075"/>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G</a:t>
            </a:r>
          </a:p>
        </p:txBody>
      </p:sp>
      <p:sp>
        <p:nvSpPr>
          <p:cNvPr id="381967" name="Oval 15"/>
          <p:cNvSpPr>
            <a:spLocks noChangeAspect="1" noChangeArrowheads="1"/>
          </p:cNvSpPr>
          <p:nvPr/>
        </p:nvSpPr>
        <p:spPr bwMode="auto">
          <a:xfrm>
            <a:off x="6400608" y="3566624"/>
            <a:ext cx="344488"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H</a:t>
            </a:r>
          </a:p>
        </p:txBody>
      </p:sp>
      <p:sp>
        <p:nvSpPr>
          <p:cNvPr id="381968" name="Oval 16"/>
          <p:cNvSpPr>
            <a:spLocks noChangeAspect="1" noChangeArrowheads="1"/>
          </p:cNvSpPr>
          <p:nvPr/>
        </p:nvSpPr>
        <p:spPr bwMode="auto">
          <a:xfrm>
            <a:off x="6411722" y="4225435"/>
            <a:ext cx="344487"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J</a:t>
            </a:r>
          </a:p>
        </p:txBody>
      </p:sp>
      <p:sp>
        <p:nvSpPr>
          <p:cNvPr id="381969" name="Oval 17"/>
          <p:cNvSpPr>
            <a:spLocks noChangeAspect="1" noChangeArrowheads="1"/>
          </p:cNvSpPr>
          <p:nvPr/>
        </p:nvSpPr>
        <p:spPr bwMode="auto">
          <a:xfrm>
            <a:off x="5891022" y="4225435"/>
            <a:ext cx="346075"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I</a:t>
            </a:r>
          </a:p>
        </p:txBody>
      </p:sp>
      <p:sp>
        <p:nvSpPr>
          <p:cNvPr id="381970" name="Oval 18"/>
          <p:cNvSpPr>
            <a:spLocks noChangeAspect="1" noChangeArrowheads="1"/>
          </p:cNvSpPr>
          <p:nvPr/>
        </p:nvSpPr>
        <p:spPr bwMode="auto">
          <a:xfrm>
            <a:off x="6964172" y="4225435"/>
            <a:ext cx="346075"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K</a:t>
            </a:r>
          </a:p>
        </p:txBody>
      </p:sp>
      <p:sp>
        <p:nvSpPr>
          <p:cNvPr id="381975" name="Text Box 23"/>
          <p:cNvSpPr txBox="1">
            <a:spLocks noChangeArrowheads="1"/>
          </p:cNvSpPr>
          <p:nvPr/>
        </p:nvSpPr>
        <p:spPr bwMode="auto">
          <a:xfrm>
            <a:off x="3378001" y="5062055"/>
            <a:ext cx="4081465" cy="400110"/>
          </a:xfrm>
          <a:prstGeom prst="rect">
            <a:avLst/>
          </a:prstGeom>
          <a:noFill/>
          <a:ln w="12700" cap="sq">
            <a:noFill/>
            <a:miter lim="800000"/>
            <a:headEnd type="none" w="sm" len="sm"/>
            <a:tailEnd type="none" w="sm" len="sm"/>
          </a:ln>
          <a:effectLst/>
        </p:spPr>
        <p:txBody>
          <a:bodyPr wrap="square">
            <a:spAutoFit/>
          </a:bodyPr>
          <a:lstStyle/>
          <a:p>
            <a:pPr algn="l"/>
            <a:r>
              <a:rPr kumimoji="1" lang="zh-CN" altLang="en-US" sz="2000" dirty="0">
                <a:latin typeface="Consolas" pitchFamily="49" charset="0"/>
                <a:ea typeface="仿宋" pitchFamily="49" charset="-122"/>
                <a:cs typeface="Consolas" pitchFamily="49" charset="0"/>
              </a:rPr>
              <a:t>后根</a:t>
            </a:r>
            <a:r>
              <a:rPr kumimoji="1" lang="zh-CN" altLang="en-US" sz="2000">
                <a:latin typeface="Consolas" pitchFamily="49" charset="0"/>
                <a:ea typeface="仿宋" pitchFamily="49" charset="-122"/>
                <a:cs typeface="Consolas" pitchFamily="49" charset="0"/>
              </a:rPr>
              <a:t>遍历的结点访问</a:t>
            </a:r>
            <a:r>
              <a:rPr kumimoji="1" lang="zh-CN" altLang="en-US" sz="2000" dirty="0">
                <a:latin typeface="Consolas" pitchFamily="49" charset="0"/>
                <a:ea typeface="仿宋" pitchFamily="49" charset="-122"/>
                <a:cs typeface="Consolas" pitchFamily="49" charset="0"/>
              </a:rPr>
              <a:t>次序：</a:t>
            </a:r>
          </a:p>
        </p:txBody>
      </p:sp>
      <p:grpSp>
        <p:nvGrpSpPr>
          <p:cNvPr id="2" name="Group 50"/>
          <p:cNvGrpSpPr>
            <a:grpSpLocks/>
          </p:cNvGrpSpPr>
          <p:nvPr/>
        </p:nvGrpSpPr>
        <p:grpSpPr bwMode="auto">
          <a:xfrm>
            <a:off x="4871864" y="2220423"/>
            <a:ext cx="939800" cy="3889374"/>
            <a:chOff x="1151" y="562"/>
            <a:chExt cx="592" cy="2450"/>
          </a:xfrm>
        </p:grpSpPr>
        <p:sp>
          <p:nvSpPr>
            <p:cNvPr id="381980" name="Oval 28"/>
            <p:cNvSpPr>
              <a:spLocks noChangeAspect="1" noChangeArrowheads="1"/>
            </p:cNvSpPr>
            <p:nvPr/>
          </p:nvSpPr>
          <p:spPr bwMode="auto">
            <a:xfrm>
              <a:off x="1151" y="562"/>
              <a:ext cx="218"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B</a:t>
              </a:r>
            </a:p>
          </p:txBody>
        </p:sp>
        <p:sp>
          <p:nvSpPr>
            <p:cNvPr id="381985" name="Text Box 33"/>
            <p:cNvSpPr txBox="1">
              <a:spLocks noChangeArrowheads="1"/>
            </p:cNvSpPr>
            <p:nvPr/>
          </p:nvSpPr>
          <p:spPr bwMode="auto">
            <a:xfrm>
              <a:off x="1547"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B</a:t>
              </a:r>
            </a:p>
          </p:txBody>
        </p:sp>
      </p:grpSp>
      <p:grpSp>
        <p:nvGrpSpPr>
          <p:cNvPr id="3" name="Group 48"/>
          <p:cNvGrpSpPr>
            <a:grpSpLocks/>
          </p:cNvGrpSpPr>
          <p:nvPr/>
        </p:nvGrpSpPr>
        <p:grpSpPr bwMode="auto">
          <a:xfrm>
            <a:off x="4521031" y="2910986"/>
            <a:ext cx="382588" cy="3198813"/>
            <a:chOff x="930" y="997"/>
            <a:chExt cx="241" cy="2015"/>
          </a:xfrm>
        </p:grpSpPr>
        <p:sp>
          <p:nvSpPr>
            <p:cNvPr id="381977" name="Text Box 25"/>
            <p:cNvSpPr txBox="1">
              <a:spLocks noChangeArrowheads="1"/>
            </p:cNvSpPr>
            <p:nvPr/>
          </p:nvSpPr>
          <p:spPr bwMode="auto">
            <a:xfrm>
              <a:off x="97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E</a:t>
              </a:r>
            </a:p>
          </p:txBody>
        </p:sp>
        <p:sp>
          <p:nvSpPr>
            <p:cNvPr id="381986" name="Oval 34"/>
            <p:cNvSpPr>
              <a:spLocks noChangeAspect="1" noChangeArrowheads="1"/>
            </p:cNvSpPr>
            <p:nvPr/>
          </p:nvSpPr>
          <p:spPr bwMode="auto">
            <a:xfrm>
              <a:off x="930" y="997"/>
              <a:ext cx="218" cy="218"/>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E</a:t>
              </a:r>
            </a:p>
          </p:txBody>
        </p:sp>
      </p:grpSp>
      <p:grpSp>
        <p:nvGrpSpPr>
          <p:cNvPr id="4" name="Group 51"/>
          <p:cNvGrpSpPr>
            <a:grpSpLocks/>
          </p:cNvGrpSpPr>
          <p:nvPr/>
        </p:nvGrpSpPr>
        <p:grpSpPr bwMode="auto">
          <a:xfrm>
            <a:off x="5594178" y="2220423"/>
            <a:ext cx="650875" cy="3889374"/>
            <a:chOff x="1606" y="562"/>
            <a:chExt cx="410" cy="2450"/>
          </a:xfrm>
        </p:grpSpPr>
        <p:sp>
          <p:nvSpPr>
            <p:cNvPr id="381982" name="Oval 30"/>
            <p:cNvSpPr>
              <a:spLocks noChangeAspect="1" noChangeArrowheads="1"/>
            </p:cNvSpPr>
            <p:nvPr/>
          </p:nvSpPr>
          <p:spPr bwMode="auto">
            <a:xfrm>
              <a:off x="1606" y="562"/>
              <a:ext cx="217"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C</a:t>
              </a:r>
            </a:p>
          </p:txBody>
        </p:sp>
        <p:sp>
          <p:nvSpPr>
            <p:cNvPr id="381987" name="Text Box 35"/>
            <p:cNvSpPr txBox="1">
              <a:spLocks noChangeArrowheads="1"/>
            </p:cNvSpPr>
            <p:nvPr/>
          </p:nvSpPr>
          <p:spPr bwMode="auto">
            <a:xfrm>
              <a:off x="1820"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C</a:t>
              </a:r>
            </a:p>
          </p:txBody>
        </p:sp>
      </p:grpSp>
      <p:grpSp>
        <p:nvGrpSpPr>
          <p:cNvPr id="5" name="Group 49"/>
          <p:cNvGrpSpPr>
            <a:grpSpLocks/>
          </p:cNvGrpSpPr>
          <p:nvPr/>
        </p:nvGrpSpPr>
        <p:grpSpPr bwMode="auto">
          <a:xfrm>
            <a:off x="5068715" y="2910986"/>
            <a:ext cx="468313" cy="3198813"/>
            <a:chOff x="1275" y="997"/>
            <a:chExt cx="295" cy="2015"/>
          </a:xfrm>
        </p:grpSpPr>
        <p:sp>
          <p:nvSpPr>
            <p:cNvPr id="381979" name="Text Box 27"/>
            <p:cNvSpPr txBox="1">
              <a:spLocks noChangeArrowheads="1"/>
            </p:cNvSpPr>
            <p:nvPr/>
          </p:nvSpPr>
          <p:spPr bwMode="auto">
            <a:xfrm>
              <a:off x="127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F</a:t>
              </a:r>
            </a:p>
          </p:txBody>
        </p:sp>
        <p:sp>
          <p:nvSpPr>
            <p:cNvPr id="381988" name="Oval 36"/>
            <p:cNvSpPr>
              <a:spLocks noChangeAspect="1" noChangeArrowheads="1"/>
            </p:cNvSpPr>
            <p:nvPr/>
          </p:nvSpPr>
          <p:spPr bwMode="auto">
            <a:xfrm>
              <a:off x="1352" y="997"/>
              <a:ext cx="218" cy="218"/>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F</a:t>
              </a:r>
            </a:p>
          </p:txBody>
        </p:sp>
      </p:grpSp>
      <p:grpSp>
        <p:nvGrpSpPr>
          <p:cNvPr id="6" name="Group 55"/>
          <p:cNvGrpSpPr>
            <a:grpSpLocks/>
          </p:cNvGrpSpPr>
          <p:nvPr/>
        </p:nvGrpSpPr>
        <p:grpSpPr bwMode="auto">
          <a:xfrm>
            <a:off x="6392689" y="3557099"/>
            <a:ext cx="1577975" cy="2552699"/>
            <a:chOff x="2109" y="1404"/>
            <a:chExt cx="994" cy="1608"/>
          </a:xfrm>
        </p:grpSpPr>
        <p:sp>
          <p:nvSpPr>
            <p:cNvPr id="381991" name="Text Box 39"/>
            <p:cNvSpPr txBox="1">
              <a:spLocks noChangeArrowheads="1"/>
            </p:cNvSpPr>
            <p:nvPr/>
          </p:nvSpPr>
          <p:spPr bwMode="auto">
            <a:xfrm>
              <a:off x="2907"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H</a:t>
              </a:r>
            </a:p>
          </p:txBody>
        </p:sp>
        <p:sp>
          <p:nvSpPr>
            <p:cNvPr id="381992" name="Oval 40"/>
            <p:cNvSpPr>
              <a:spLocks noChangeAspect="1" noChangeArrowheads="1"/>
            </p:cNvSpPr>
            <p:nvPr/>
          </p:nvSpPr>
          <p:spPr bwMode="auto">
            <a:xfrm>
              <a:off x="2109" y="1404"/>
              <a:ext cx="217"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H</a:t>
              </a:r>
            </a:p>
          </p:txBody>
        </p:sp>
      </p:grpSp>
      <p:grpSp>
        <p:nvGrpSpPr>
          <p:cNvPr id="7" name="Group 57"/>
          <p:cNvGrpSpPr>
            <a:grpSpLocks/>
          </p:cNvGrpSpPr>
          <p:nvPr/>
        </p:nvGrpSpPr>
        <p:grpSpPr bwMode="auto">
          <a:xfrm>
            <a:off x="6386341" y="2220423"/>
            <a:ext cx="2449513" cy="3889374"/>
            <a:chOff x="2105" y="562"/>
            <a:chExt cx="1543" cy="2450"/>
          </a:xfrm>
        </p:grpSpPr>
        <p:sp>
          <p:nvSpPr>
            <p:cNvPr id="381984" name="Oval 32"/>
            <p:cNvSpPr>
              <a:spLocks noChangeAspect="1" noChangeArrowheads="1"/>
            </p:cNvSpPr>
            <p:nvPr/>
          </p:nvSpPr>
          <p:spPr bwMode="auto">
            <a:xfrm>
              <a:off x="2105" y="562"/>
              <a:ext cx="217"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D</a:t>
              </a:r>
            </a:p>
          </p:txBody>
        </p:sp>
        <p:sp>
          <p:nvSpPr>
            <p:cNvPr id="381993" name="Text Box 41"/>
            <p:cNvSpPr txBox="1">
              <a:spLocks noChangeArrowheads="1"/>
            </p:cNvSpPr>
            <p:nvPr/>
          </p:nvSpPr>
          <p:spPr bwMode="auto">
            <a:xfrm>
              <a:off x="3452"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D</a:t>
              </a:r>
            </a:p>
          </p:txBody>
        </p:sp>
      </p:grpSp>
      <p:grpSp>
        <p:nvGrpSpPr>
          <p:cNvPr id="8" name="Group 53"/>
          <p:cNvGrpSpPr>
            <a:grpSpLocks/>
          </p:cNvGrpSpPr>
          <p:nvPr/>
        </p:nvGrpSpPr>
        <p:grpSpPr bwMode="auto">
          <a:xfrm>
            <a:off x="6403802" y="4215911"/>
            <a:ext cx="658812" cy="1893888"/>
            <a:chOff x="2116" y="1819"/>
            <a:chExt cx="415" cy="1193"/>
          </a:xfrm>
        </p:grpSpPr>
        <p:sp>
          <p:nvSpPr>
            <p:cNvPr id="381983" name="Text Box 31"/>
            <p:cNvSpPr txBox="1">
              <a:spLocks noChangeArrowheads="1"/>
            </p:cNvSpPr>
            <p:nvPr/>
          </p:nvSpPr>
          <p:spPr bwMode="auto">
            <a:xfrm>
              <a:off x="233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J</a:t>
              </a:r>
            </a:p>
          </p:txBody>
        </p:sp>
        <p:sp>
          <p:nvSpPr>
            <p:cNvPr id="381994" name="Oval 42"/>
            <p:cNvSpPr>
              <a:spLocks noChangeAspect="1" noChangeArrowheads="1"/>
            </p:cNvSpPr>
            <p:nvPr/>
          </p:nvSpPr>
          <p:spPr bwMode="auto">
            <a:xfrm>
              <a:off x="2116" y="1819"/>
              <a:ext cx="217"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J</a:t>
              </a:r>
            </a:p>
          </p:txBody>
        </p:sp>
      </p:grpSp>
      <p:grpSp>
        <p:nvGrpSpPr>
          <p:cNvPr id="9" name="Group 56"/>
          <p:cNvGrpSpPr>
            <a:grpSpLocks/>
          </p:cNvGrpSpPr>
          <p:nvPr/>
        </p:nvGrpSpPr>
        <p:grpSpPr bwMode="auto">
          <a:xfrm>
            <a:off x="6399041" y="2910986"/>
            <a:ext cx="2005013" cy="3198813"/>
            <a:chOff x="2113" y="997"/>
            <a:chExt cx="1263" cy="2015"/>
          </a:xfrm>
        </p:grpSpPr>
        <p:sp>
          <p:nvSpPr>
            <p:cNvPr id="381990" name="Oval 38"/>
            <p:cNvSpPr>
              <a:spLocks noChangeAspect="1" noChangeArrowheads="1"/>
            </p:cNvSpPr>
            <p:nvPr/>
          </p:nvSpPr>
          <p:spPr bwMode="auto">
            <a:xfrm>
              <a:off x="2113" y="997"/>
              <a:ext cx="218" cy="218"/>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G</a:t>
              </a:r>
            </a:p>
          </p:txBody>
        </p:sp>
        <p:sp>
          <p:nvSpPr>
            <p:cNvPr id="381995" name="Text Box 43"/>
            <p:cNvSpPr txBox="1">
              <a:spLocks noChangeArrowheads="1"/>
            </p:cNvSpPr>
            <p:nvPr/>
          </p:nvSpPr>
          <p:spPr bwMode="auto">
            <a:xfrm>
              <a:off x="3180"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G</a:t>
              </a:r>
            </a:p>
          </p:txBody>
        </p:sp>
      </p:grpSp>
      <p:grpSp>
        <p:nvGrpSpPr>
          <p:cNvPr id="10" name="Group 52"/>
          <p:cNvGrpSpPr>
            <a:grpSpLocks/>
          </p:cNvGrpSpPr>
          <p:nvPr/>
        </p:nvGrpSpPr>
        <p:grpSpPr bwMode="auto">
          <a:xfrm>
            <a:off x="5883104" y="4215911"/>
            <a:ext cx="793750" cy="1893888"/>
            <a:chOff x="1788" y="1819"/>
            <a:chExt cx="500" cy="1193"/>
          </a:xfrm>
        </p:grpSpPr>
        <p:sp>
          <p:nvSpPr>
            <p:cNvPr id="381981" name="Text Box 29"/>
            <p:cNvSpPr txBox="1">
              <a:spLocks noChangeArrowheads="1"/>
            </p:cNvSpPr>
            <p:nvPr/>
          </p:nvSpPr>
          <p:spPr bwMode="auto">
            <a:xfrm>
              <a:off x="2092"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I</a:t>
              </a:r>
            </a:p>
          </p:txBody>
        </p:sp>
        <p:sp>
          <p:nvSpPr>
            <p:cNvPr id="381996" name="Oval 44"/>
            <p:cNvSpPr>
              <a:spLocks noChangeAspect="1" noChangeArrowheads="1"/>
            </p:cNvSpPr>
            <p:nvPr/>
          </p:nvSpPr>
          <p:spPr bwMode="auto">
            <a:xfrm>
              <a:off x="1788" y="1819"/>
              <a:ext cx="218"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I</a:t>
              </a:r>
            </a:p>
          </p:txBody>
        </p:sp>
      </p:grpSp>
      <p:grpSp>
        <p:nvGrpSpPr>
          <p:cNvPr id="11" name="Group 58"/>
          <p:cNvGrpSpPr>
            <a:grpSpLocks/>
          </p:cNvGrpSpPr>
          <p:nvPr/>
        </p:nvGrpSpPr>
        <p:grpSpPr bwMode="auto">
          <a:xfrm>
            <a:off x="5594178" y="1520336"/>
            <a:ext cx="3725863" cy="4589463"/>
            <a:chOff x="1606" y="121"/>
            <a:chExt cx="2347" cy="2891"/>
          </a:xfrm>
        </p:grpSpPr>
        <p:sp>
          <p:nvSpPr>
            <p:cNvPr id="381978" name="Oval 26"/>
            <p:cNvSpPr>
              <a:spLocks noChangeAspect="1" noChangeArrowheads="1"/>
            </p:cNvSpPr>
            <p:nvPr/>
          </p:nvSpPr>
          <p:spPr bwMode="auto">
            <a:xfrm>
              <a:off x="1606" y="121"/>
              <a:ext cx="218"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A</a:t>
              </a:r>
            </a:p>
          </p:txBody>
        </p:sp>
        <p:sp>
          <p:nvSpPr>
            <p:cNvPr id="381997" name="Text Box 45"/>
            <p:cNvSpPr txBox="1">
              <a:spLocks noChangeArrowheads="1"/>
            </p:cNvSpPr>
            <p:nvPr/>
          </p:nvSpPr>
          <p:spPr bwMode="auto">
            <a:xfrm>
              <a:off x="3757"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A</a:t>
              </a:r>
            </a:p>
          </p:txBody>
        </p:sp>
      </p:grpSp>
      <p:grpSp>
        <p:nvGrpSpPr>
          <p:cNvPr id="12" name="Group 54"/>
          <p:cNvGrpSpPr>
            <a:grpSpLocks/>
          </p:cNvGrpSpPr>
          <p:nvPr/>
        </p:nvGrpSpPr>
        <p:grpSpPr bwMode="auto">
          <a:xfrm>
            <a:off x="6956259" y="4215911"/>
            <a:ext cx="582613" cy="1893888"/>
            <a:chOff x="2464" y="1819"/>
            <a:chExt cx="367" cy="1193"/>
          </a:xfrm>
        </p:grpSpPr>
        <p:sp>
          <p:nvSpPr>
            <p:cNvPr id="381989" name="Text Box 37"/>
            <p:cNvSpPr txBox="1">
              <a:spLocks noChangeArrowheads="1"/>
            </p:cNvSpPr>
            <p:nvPr/>
          </p:nvSpPr>
          <p:spPr bwMode="auto">
            <a:xfrm>
              <a:off x="263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K</a:t>
              </a:r>
            </a:p>
          </p:txBody>
        </p:sp>
        <p:sp>
          <p:nvSpPr>
            <p:cNvPr id="381998" name="Oval 46"/>
            <p:cNvSpPr>
              <a:spLocks noChangeAspect="1" noChangeArrowheads="1"/>
            </p:cNvSpPr>
            <p:nvPr/>
          </p:nvSpPr>
          <p:spPr bwMode="auto">
            <a:xfrm>
              <a:off x="2464" y="1819"/>
              <a:ext cx="218"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K</a:t>
              </a:r>
            </a:p>
          </p:txBody>
        </p:sp>
      </p:grpSp>
      <p:sp>
        <p:nvSpPr>
          <p:cNvPr id="382011" name="Text Box 59"/>
          <p:cNvSpPr txBox="1">
            <a:spLocks noChangeArrowheads="1"/>
          </p:cNvSpPr>
          <p:nvPr/>
        </p:nvSpPr>
        <p:spPr bwMode="auto">
          <a:xfrm>
            <a:off x="1059085" y="1773478"/>
            <a:ext cx="3176579" cy="430887"/>
          </a:xfrm>
          <a:prstGeom prst="rect">
            <a:avLst/>
          </a:prstGeom>
          <a:solidFill>
            <a:srgbClr val="CC00FF"/>
          </a:solidFill>
          <a:ln w="28575" algn="ctr">
            <a:noFill/>
            <a:miter lim="800000"/>
            <a:headEnd/>
            <a:tailEnd type="none" w="med" len="lg"/>
          </a:ln>
          <a:effectLst/>
        </p:spPr>
        <p:txBody>
          <a:bodyPr wrap="square">
            <a:spAutoFit/>
          </a:bodyPr>
          <a:lstStyle/>
          <a:p>
            <a:pPr>
              <a:spcBef>
                <a:spcPct val="50000"/>
              </a:spcBef>
            </a:pPr>
            <a:r>
              <a:rPr lang="zh-CN" altLang="en-US" sz="2200" dirty="0">
                <a:solidFill>
                  <a:schemeClr val="bg1"/>
                </a:solidFill>
                <a:latin typeface="华文中宋" pitchFamily="2" charset="-122"/>
                <a:ea typeface="华文中宋" pitchFamily="2" charset="-122"/>
              </a:rPr>
              <a:t>树的后根遍历</a:t>
            </a:r>
            <a:r>
              <a:rPr lang="zh-CN" altLang="en-US" sz="2200">
                <a:solidFill>
                  <a:schemeClr val="bg1"/>
                </a:solidFill>
                <a:latin typeface="华文中宋" pitchFamily="2" charset="-122"/>
                <a:ea typeface="华文中宋" pitchFamily="2" charset="-122"/>
              </a:rPr>
              <a:t>示例</a:t>
            </a:r>
            <a:endParaRPr lang="zh-CN" altLang="en-US" sz="2200" dirty="0">
              <a:solidFill>
                <a:schemeClr val="bg1"/>
              </a:solidFill>
              <a:latin typeface="华文中宋" pitchFamily="2" charset="-122"/>
              <a:ea typeface="华文中宋" pitchFamily="2" charset="-122"/>
            </a:endParaRPr>
          </a:p>
        </p:txBody>
      </p:sp>
      <p:sp>
        <p:nvSpPr>
          <p:cNvPr id="59" name="Text Box 94"/>
          <p:cNvSpPr txBox="1">
            <a:spLocks noChangeArrowheads="1"/>
          </p:cNvSpPr>
          <p:nvPr/>
        </p:nvSpPr>
        <p:spPr bwMode="auto">
          <a:xfrm>
            <a:off x="5889453" y="6438410"/>
            <a:ext cx="2016125" cy="400110"/>
          </a:xfrm>
          <a:prstGeom prst="rect">
            <a:avLst/>
          </a:prstGeom>
          <a:noFill/>
          <a:ln w="9525" algn="ctr">
            <a:noFill/>
            <a:miter lim="800000"/>
            <a:headEnd/>
            <a:tailEnd type="none" w="med" len="lg"/>
          </a:ln>
          <a:effectLst/>
        </p:spPr>
        <p:txBody>
          <a:bodyPr>
            <a:spAutoFit/>
          </a:bodyPr>
          <a:lstStyle/>
          <a:p>
            <a:pPr>
              <a:spcBef>
                <a:spcPct val="50000"/>
              </a:spcBef>
            </a:pPr>
            <a:r>
              <a:rPr lang="zh-CN" altLang="en-US" sz="2000" dirty="0">
                <a:solidFill>
                  <a:srgbClr val="CC00FF"/>
                </a:solidFill>
                <a:latin typeface="Consolas" pitchFamily="49" charset="0"/>
                <a:ea typeface="黑体" pitchFamily="49" charset="-122"/>
                <a:cs typeface="Consolas" pitchFamily="49" charset="0"/>
              </a:rPr>
              <a:t>遍历完毕</a:t>
            </a:r>
          </a:p>
        </p:txBody>
      </p:sp>
      <p:sp>
        <p:nvSpPr>
          <p:cNvPr id="16" name="矩形 15">
            <a:extLst>
              <a:ext uri="{FF2B5EF4-FFF2-40B4-BE49-F238E27FC236}">
                <a16:creationId xmlns:a16="http://schemas.microsoft.com/office/drawing/2014/main" xmlns="" id="{571248A9-A562-1884-B35D-C7662CFD177C}"/>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17" name="Rectangle 2">
            <a:extLst>
              <a:ext uri="{FF2B5EF4-FFF2-40B4-BE49-F238E27FC236}">
                <a16:creationId xmlns:a16="http://schemas.microsoft.com/office/drawing/2014/main" xmlns="" id="{9E457CE4-2B06-CF25-FCDF-32BEB8B7AA60}"/>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7.1.5 </a:t>
            </a:r>
            <a:r>
              <a:rPr lang="zh-CN" altLang="en-US" dirty="0"/>
              <a:t>树的基本运算</a:t>
            </a:r>
          </a:p>
        </p:txBody>
      </p:sp>
      <p:cxnSp>
        <p:nvCxnSpPr>
          <p:cNvPr id="18" name="直接连接符 17">
            <a:extLst>
              <a:ext uri="{FF2B5EF4-FFF2-40B4-BE49-F238E27FC236}">
                <a16:creationId xmlns:a16="http://schemas.microsoft.com/office/drawing/2014/main" xmlns="" id="{60F94E55-0DAD-1C1C-C197-573995AAE67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down)">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down)">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down)">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down)">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32" presetClass="emph" presetSubtype="0" fill="hold" nodeType="clickEffect">
                                  <p:stCondLst>
                                    <p:cond delay="0"/>
                                  </p:stCondLst>
                                  <p:childTnLst>
                                    <p:animClr clrSpc="rgb" dir="cw">
                                      <p:cBhvr override="childStyle">
                                        <p:cTn id="61" dur="100" fill="hold"/>
                                        <p:tgtEl>
                                          <p:spTgt spid="11"/>
                                        </p:tgtEl>
                                        <p:attrNameLst>
                                          <p:attrName>style.color</p:attrName>
                                        </p:attrNameLst>
                                      </p:cBhvr>
                                      <p:to>
                                        <a:schemeClr val="accent2"/>
                                      </p:to>
                                    </p:animClr>
                                    <p:animClr clrSpc="rgb" dir="cw">
                                      <p:cBhvr>
                                        <p:cTn id="62" dur="100" fill="hold"/>
                                        <p:tgtEl>
                                          <p:spTgt spid="11"/>
                                        </p:tgtEl>
                                        <p:attrNameLst>
                                          <p:attrName>fillcolor</p:attrName>
                                        </p:attrNameLst>
                                      </p:cBhvr>
                                      <p:to>
                                        <a:schemeClr val="accent2"/>
                                      </p:to>
                                    </p:animClr>
                                    <p:set>
                                      <p:cBhvr>
                                        <p:cTn id="63" dur="100" fill="hold"/>
                                        <p:tgtEl>
                                          <p:spTgt spid="11"/>
                                        </p:tgtEl>
                                        <p:attrNameLst>
                                          <p:attrName>fill.type</p:attrName>
                                        </p:attrNameLst>
                                      </p:cBhvr>
                                      <p:to>
                                        <p:strVal val="solid"/>
                                      </p:to>
                                    </p:set>
                                    <p:set>
                                      <p:cBhvr>
                                        <p:cTn id="64" dur="100" fill="hold"/>
                                        <p:tgtEl>
                                          <p:spTgt spid="11"/>
                                        </p:tgtEl>
                                        <p:attrNameLst>
                                          <p:attrName>fill.on</p:attrName>
                                        </p:attrNameLst>
                                      </p:cBhvr>
                                      <p:to>
                                        <p:strVal val="true"/>
                                      </p:to>
                                    </p:set>
                                    <p:animRot by="120000">
                                      <p:cBhvr>
                                        <p:cTn id="65" dur="100" fill="hold">
                                          <p:stCondLst>
                                            <p:cond delay="0"/>
                                          </p:stCondLst>
                                        </p:cTn>
                                        <p:tgtEl>
                                          <p:spTgt spid="11"/>
                                        </p:tgtEl>
                                        <p:attrNameLst>
                                          <p:attrName>r</p:attrName>
                                        </p:attrNameLst>
                                      </p:cBhvr>
                                    </p:animRot>
                                    <p:animRot by="-240000">
                                      <p:cBhvr>
                                        <p:cTn id="66" dur="200" fill="hold">
                                          <p:stCondLst>
                                            <p:cond delay="200"/>
                                          </p:stCondLst>
                                        </p:cTn>
                                        <p:tgtEl>
                                          <p:spTgt spid="11"/>
                                        </p:tgtEl>
                                        <p:attrNameLst>
                                          <p:attrName>r</p:attrName>
                                        </p:attrNameLst>
                                      </p:cBhvr>
                                    </p:animRot>
                                    <p:animRot by="240000">
                                      <p:cBhvr>
                                        <p:cTn id="67" dur="200" fill="hold">
                                          <p:stCondLst>
                                            <p:cond delay="400"/>
                                          </p:stCondLst>
                                        </p:cTn>
                                        <p:tgtEl>
                                          <p:spTgt spid="11"/>
                                        </p:tgtEl>
                                        <p:attrNameLst>
                                          <p:attrName>r</p:attrName>
                                        </p:attrNameLst>
                                      </p:cBhvr>
                                    </p:animRot>
                                    <p:animRot by="-240000">
                                      <p:cBhvr>
                                        <p:cTn id="68" dur="200" fill="hold">
                                          <p:stCondLst>
                                            <p:cond delay="600"/>
                                          </p:stCondLst>
                                        </p:cTn>
                                        <p:tgtEl>
                                          <p:spTgt spid="11"/>
                                        </p:tgtEl>
                                        <p:attrNameLst>
                                          <p:attrName>r</p:attrName>
                                        </p:attrNameLst>
                                      </p:cBhvr>
                                    </p:animRot>
                                    <p:animRot by="120000">
                                      <p:cBhvr>
                                        <p:cTn id="69" dur="200" fill="hold">
                                          <p:stCondLst>
                                            <p:cond delay="800"/>
                                          </p:stCondLst>
                                        </p:cTn>
                                        <p:tgtEl>
                                          <p:spTgt spid="11"/>
                                        </p:tgtEl>
                                        <p:attrNameLst>
                                          <p:attrName>r</p:attrName>
                                        </p:attrNameLst>
                                      </p:cBhvr>
                                    </p:animRo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59"/>
                                        </p:tgtEl>
                                        <p:attrNameLst>
                                          <p:attrName>style.visibility</p:attrName>
                                        </p:attrNameLst>
                                      </p:cBhvr>
                                      <p:to>
                                        <p:strVal val="visible"/>
                                      </p:to>
                                    </p:set>
                                    <p:animEffect transition="in" filter="wipe(left)">
                                      <p:cBhvr>
                                        <p:cTn id="74"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Freeform 2"/>
          <p:cNvSpPr>
            <a:spLocks noChangeAspect="1"/>
          </p:cNvSpPr>
          <p:nvPr/>
        </p:nvSpPr>
        <p:spPr bwMode="auto">
          <a:xfrm>
            <a:off x="6533487" y="3609776"/>
            <a:ext cx="295275" cy="381000"/>
          </a:xfrm>
          <a:custGeom>
            <a:avLst/>
            <a:gdLst/>
            <a:ahLst/>
            <a:cxnLst>
              <a:cxn ang="0">
                <a:pos x="186" y="0"/>
              </a:cxn>
              <a:cxn ang="0">
                <a:pos x="0" y="240"/>
              </a:cxn>
            </a:cxnLst>
            <a:rect l="0" t="0" r="r" b="b"/>
            <a:pathLst>
              <a:path w="186" h="240">
                <a:moveTo>
                  <a:pt x="186" y="0"/>
                </a:moveTo>
                <a:lnTo>
                  <a:pt x="0" y="240"/>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solidFill>
                <a:srgbClr val="3333FF"/>
              </a:solidFill>
              <a:latin typeface="Consolas" pitchFamily="49" charset="0"/>
              <a:cs typeface="Consolas" pitchFamily="49" charset="0"/>
            </a:endParaRPr>
          </a:p>
        </p:txBody>
      </p:sp>
      <p:sp>
        <p:nvSpPr>
          <p:cNvPr id="382998" name="Freeform 22"/>
          <p:cNvSpPr>
            <a:spLocks noChangeAspect="1"/>
          </p:cNvSpPr>
          <p:nvPr/>
        </p:nvSpPr>
        <p:spPr bwMode="auto">
          <a:xfrm>
            <a:off x="6985924" y="3047802"/>
            <a:ext cx="4763" cy="287337"/>
          </a:xfrm>
          <a:custGeom>
            <a:avLst/>
            <a:gdLst/>
            <a:ahLst/>
            <a:cxnLst>
              <a:cxn ang="0">
                <a:pos x="0" y="0"/>
              </a:cxn>
              <a:cxn ang="0">
                <a:pos x="3" y="239"/>
              </a:cxn>
            </a:cxnLst>
            <a:rect l="0" t="0" r="r" b="b"/>
            <a:pathLst>
              <a:path w="3" h="239">
                <a:moveTo>
                  <a:pt x="0" y="0"/>
                </a:moveTo>
                <a:lnTo>
                  <a:pt x="3" y="239"/>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solidFill>
                <a:srgbClr val="3333FF"/>
              </a:solidFill>
              <a:latin typeface="Consolas" pitchFamily="49" charset="0"/>
              <a:cs typeface="Consolas" pitchFamily="49" charset="0"/>
            </a:endParaRPr>
          </a:p>
        </p:txBody>
      </p:sp>
      <p:sp>
        <p:nvSpPr>
          <p:cNvPr id="382997" name="Freeform 21"/>
          <p:cNvSpPr>
            <a:spLocks/>
          </p:cNvSpPr>
          <p:nvPr/>
        </p:nvSpPr>
        <p:spPr bwMode="auto">
          <a:xfrm>
            <a:off x="6977987" y="2369938"/>
            <a:ext cx="1587" cy="323850"/>
          </a:xfrm>
          <a:custGeom>
            <a:avLst/>
            <a:gdLst/>
            <a:ahLst/>
            <a:cxnLst>
              <a:cxn ang="0">
                <a:pos x="8" y="0"/>
              </a:cxn>
              <a:cxn ang="0">
                <a:pos x="0" y="256"/>
              </a:cxn>
            </a:cxnLst>
            <a:rect l="0" t="0" r="r" b="b"/>
            <a:pathLst>
              <a:path w="8" h="256">
                <a:moveTo>
                  <a:pt x="8" y="0"/>
                </a:moveTo>
                <a:lnTo>
                  <a:pt x="0" y="256"/>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solidFill>
                <a:srgbClr val="3333FF"/>
              </a:solidFill>
              <a:latin typeface="Consolas" pitchFamily="49" charset="0"/>
              <a:cs typeface="Consolas" pitchFamily="49" charset="0"/>
            </a:endParaRPr>
          </a:p>
        </p:txBody>
      </p:sp>
      <p:sp>
        <p:nvSpPr>
          <p:cNvPr id="382980" name="Freeform 4"/>
          <p:cNvSpPr>
            <a:spLocks noChangeAspect="1"/>
          </p:cNvSpPr>
          <p:nvPr/>
        </p:nvSpPr>
        <p:spPr bwMode="auto">
          <a:xfrm>
            <a:off x="5152361" y="2296913"/>
            <a:ext cx="177800" cy="388938"/>
          </a:xfrm>
          <a:custGeom>
            <a:avLst/>
            <a:gdLst/>
            <a:ahLst/>
            <a:cxnLst>
              <a:cxn ang="0">
                <a:pos x="112" y="0"/>
              </a:cxn>
              <a:cxn ang="0">
                <a:pos x="0" y="245"/>
              </a:cxn>
            </a:cxnLst>
            <a:rect l="0" t="0" r="r" b="b"/>
            <a:pathLst>
              <a:path w="112" h="245">
                <a:moveTo>
                  <a:pt x="112" y="0"/>
                </a:moveTo>
                <a:lnTo>
                  <a:pt x="0" y="245"/>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solidFill>
                <a:srgbClr val="3333FF"/>
              </a:solidFill>
              <a:latin typeface="Consolas" pitchFamily="49" charset="0"/>
              <a:cs typeface="Consolas" pitchFamily="49" charset="0"/>
            </a:endParaRPr>
          </a:p>
        </p:txBody>
      </p:sp>
      <p:sp>
        <p:nvSpPr>
          <p:cNvPr id="382979" name="Freeform 3"/>
          <p:cNvSpPr>
            <a:spLocks noChangeAspect="1"/>
          </p:cNvSpPr>
          <p:nvPr/>
        </p:nvSpPr>
        <p:spPr bwMode="auto">
          <a:xfrm>
            <a:off x="5576224" y="2315964"/>
            <a:ext cx="176213" cy="379413"/>
          </a:xfrm>
          <a:custGeom>
            <a:avLst/>
            <a:gdLst/>
            <a:ahLst/>
            <a:cxnLst>
              <a:cxn ang="0">
                <a:pos x="0" y="0"/>
              </a:cxn>
              <a:cxn ang="0">
                <a:pos x="139" y="298"/>
              </a:cxn>
            </a:cxnLst>
            <a:rect l="0" t="0" r="r" b="b"/>
            <a:pathLst>
              <a:path w="139" h="298">
                <a:moveTo>
                  <a:pt x="0" y="0"/>
                </a:moveTo>
                <a:lnTo>
                  <a:pt x="139" y="298"/>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solidFill>
                <a:srgbClr val="3333FF"/>
              </a:solidFill>
              <a:latin typeface="Consolas" pitchFamily="49" charset="0"/>
              <a:cs typeface="Consolas" pitchFamily="49" charset="0"/>
            </a:endParaRPr>
          </a:p>
        </p:txBody>
      </p:sp>
      <p:sp>
        <p:nvSpPr>
          <p:cNvPr id="382995" name="Freeform 19"/>
          <p:cNvSpPr>
            <a:spLocks noChangeAspect="1"/>
          </p:cNvSpPr>
          <p:nvPr/>
        </p:nvSpPr>
        <p:spPr bwMode="auto">
          <a:xfrm>
            <a:off x="5531773" y="1541263"/>
            <a:ext cx="484188" cy="484188"/>
          </a:xfrm>
          <a:custGeom>
            <a:avLst/>
            <a:gdLst/>
            <a:ahLst/>
            <a:cxnLst>
              <a:cxn ang="0">
                <a:pos x="382" y="0"/>
              </a:cxn>
              <a:cxn ang="0">
                <a:pos x="0" y="382"/>
              </a:cxn>
            </a:cxnLst>
            <a:rect l="0" t="0" r="r" b="b"/>
            <a:pathLst>
              <a:path w="382" h="382">
                <a:moveTo>
                  <a:pt x="382" y="0"/>
                </a:moveTo>
                <a:lnTo>
                  <a:pt x="0" y="382"/>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solidFill>
                <a:srgbClr val="3333FF"/>
              </a:solidFill>
              <a:latin typeface="Consolas" pitchFamily="49" charset="0"/>
              <a:cs typeface="Consolas" pitchFamily="49" charset="0"/>
            </a:endParaRPr>
          </a:p>
        </p:txBody>
      </p:sp>
      <p:sp>
        <p:nvSpPr>
          <p:cNvPr id="382996" name="Freeform 20"/>
          <p:cNvSpPr>
            <a:spLocks noChangeAspect="1"/>
          </p:cNvSpPr>
          <p:nvPr/>
        </p:nvSpPr>
        <p:spPr bwMode="auto">
          <a:xfrm>
            <a:off x="6363624" y="1546027"/>
            <a:ext cx="498475" cy="498475"/>
          </a:xfrm>
          <a:custGeom>
            <a:avLst/>
            <a:gdLst/>
            <a:ahLst/>
            <a:cxnLst>
              <a:cxn ang="0">
                <a:pos x="0" y="0"/>
              </a:cxn>
              <a:cxn ang="0">
                <a:pos x="314" y="314"/>
              </a:cxn>
            </a:cxnLst>
            <a:rect l="0" t="0" r="r" b="b"/>
            <a:pathLst>
              <a:path w="314" h="314">
                <a:moveTo>
                  <a:pt x="0" y="0"/>
                </a:moveTo>
                <a:lnTo>
                  <a:pt x="314" y="314"/>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solidFill>
                <a:srgbClr val="3333FF"/>
              </a:solidFill>
              <a:latin typeface="Consolas" pitchFamily="49" charset="0"/>
              <a:cs typeface="Consolas" pitchFamily="49" charset="0"/>
            </a:endParaRPr>
          </a:p>
        </p:txBody>
      </p:sp>
      <p:sp>
        <p:nvSpPr>
          <p:cNvPr id="382981" name="Freeform 5"/>
          <p:cNvSpPr>
            <a:spLocks noChangeAspect="1"/>
          </p:cNvSpPr>
          <p:nvPr/>
        </p:nvSpPr>
        <p:spPr bwMode="auto">
          <a:xfrm>
            <a:off x="6985924" y="3690738"/>
            <a:ext cx="3175" cy="312738"/>
          </a:xfrm>
          <a:custGeom>
            <a:avLst/>
            <a:gdLst/>
            <a:ahLst/>
            <a:cxnLst>
              <a:cxn ang="0">
                <a:pos x="0" y="0"/>
              </a:cxn>
              <a:cxn ang="0">
                <a:pos x="2" y="252"/>
              </a:cxn>
            </a:cxnLst>
            <a:rect l="0" t="0" r="r" b="b"/>
            <a:pathLst>
              <a:path w="2" h="252">
                <a:moveTo>
                  <a:pt x="0" y="0"/>
                </a:moveTo>
                <a:lnTo>
                  <a:pt x="2" y="252"/>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solidFill>
                <a:srgbClr val="3333FF"/>
              </a:solidFill>
              <a:latin typeface="Consolas" pitchFamily="49" charset="0"/>
              <a:cs typeface="Consolas" pitchFamily="49" charset="0"/>
            </a:endParaRPr>
          </a:p>
        </p:txBody>
      </p:sp>
      <p:sp>
        <p:nvSpPr>
          <p:cNvPr id="382982" name="Freeform 6"/>
          <p:cNvSpPr>
            <a:spLocks noChangeAspect="1"/>
          </p:cNvSpPr>
          <p:nvPr/>
        </p:nvSpPr>
        <p:spPr bwMode="auto">
          <a:xfrm>
            <a:off x="7135149" y="3592313"/>
            <a:ext cx="352425" cy="414338"/>
          </a:xfrm>
          <a:custGeom>
            <a:avLst/>
            <a:gdLst/>
            <a:ahLst/>
            <a:cxnLst>
              <a:cxn ang="0">
                <a:pos x="0" y="0"/>
              </a:cxn>
              <a:cxn ang="0">
                <a:pos x="278" y="326"/>
              </a:cxn>
            </a:cxnLst>
            <a:rect l="0" t="0" r="r" b="b"/>
            <a:pathLst>
              <a:path w="278" h="326">
                <a:moveTo>
                  <a:pt x="0" y="0"/>
                </a:moveTo>
                <a:lnTo>
                  <a:pt x="278" y="326"/>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solidFill>
                <a:srgbClr val="3333FF"/>
              </a:solidFill>
              <a:latin typeface="Consolas" pitchFamily="49" charset="0"/>
              <a:cs typeface="Consolas" pitchFamily="49" charset="0"/>
            </a:endParaRPr>
          </a:p>
        </p:txBody>
      </p:sp>
      <p:sp>
        <p:nvSpPr>
          <p:cNvPr id="382983" name="Freeform 7"/>
          <p:cNvSpPr>
            <a:spLocks noChangeAspect="1"/>
          </p:cNvSpPr>
          <p:nvPr/>
        </p:nvSpPr>
        <p:spPr bwMode="auto">
          <a:xfrm>
            <a:off x="6181062" y="1647626"/>
            <a:ext cx="3175" cy="360362"/>
          </a:xfrm>
          <a:custGeom>
            <a:avLst/>
            <a:gdLst/>
            <a:ahLst/>
            <a:cxnLst>
              <a:cxn ang="0">
                <a:pos x="0" y="0"/>
              </a:cxn>
              <a:cxn ang="0">
                <a:pos x="2" y="284"/>
              </a:cxn>
            </a:cxnLst>
            <a:rect l="0" t="0" r="r" b="b"/>
            <a:pathLst>
              <a:path w="2" h="284">
                <a:moveTo>
                  <a:pt x="0" y="0"/>
                </a:moveTo>
                <a:lnTo>
                  <a:pt x="2" y="284"/>
                </a:lnTo>
              </a:path>
            </a:pathLst>
          </a:cu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a:solidFill>
                <a:srgbClr val="3333FF"/>
              </a:solidFill>
              <a:latin typeface="Consolas" pitchFamily="49" charset="0"/>
              <a:cs typeface="Consolas" pitchFamily="49" charset="0"/>
            </a:endParaRPr>
          </a:p>
        </p:txBody>
      </p:sp>
      <p:sp>
        <p:nvSpPr>
          <p:cNvPr id="382984" name="Oval 8"/>
          <p:cNvSpPr>
            <a:spLocks noChangeAspect="1" noChangeArrowheads="1"/>
          </p:cNvSpPr>
          <p:nvPr/>
        </p:nvSpPr>
        <p:spPr bwMode="auto">
          <a:xfrm>
            <a:off x="6008024" y="1306313"/>
            <a:ext cx="346075"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A</a:t>
            </a:r>
          </a:p>
        </p:txBody>
      </p:sp>
      <p:sp>
        <p:nvSpPr>
          <p:cNvPr id="382985" name="Oval 9"/>
          <p:cNvSpPr>
            <a:spLocks noChangeAspect="1" noChangeArrowheads="1"/>
          </p:cNvSpPr>
          <p:nvPr/>
        </p:nvSpPr>
        <p:spPr bwMode="auto">
          <a:xfrm>
            <a:off x="5285712" y="2006402"/>
            <a:ext cx="346075"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B</a:t>
            </a:r>
          </a:p>
        </p:txBody>
      </p:sp>
      <p:sp>
        <p:nvSpPr>
          <p:cNvPr id="382986" name="Oval 10"/>
          <p:cNvSpPr>
            <a:spLocks noChangeAspect="1" noChangeArrowheads="1"/>
          </p:cNvSpPr>
          <p:nvPr/>
        </p:nvSpPr>
        <p:spPr bwMode="auto">
          <a:xfrm>
            <a:off x="6008023" y="2006402"/>
            <a:ext cx="344488"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C</a:t>
            </a:r>
          </a:p>
        </p:txBody>
      </p:sp>
      <p:sp>
        <p:nvSpPr>
          <p:cNvPr id="382987" name="Oval 11"/>
          <p:cNvSpPr>
            <a:spLocks noChangeAspect="1" noChangeArrowheads="1"/>
          </p:cNvSpPr>
          <p:nvPr/>
        </p:nvSpPr>
        <p:spPr bwMode="auto">
          <a:xfrm>
            <a:off x="6800187" y="2006402"/>
            <a:ext cx="344487"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D</a:t>
            </a:r>
          </a:p>
        </p:txBody>
      </p:sp>
      <p:sp>
        <p:nvSpPr>
          <p:cNvPr id="382988" name="Oval 12"/>
          <p:cNvSpPr>
            <a:spLocks noChangeAspect="1" noChangeArrowheads="1"/>
          </p:cNvSpPr>
          <p:nvPr/>
        </p:nvSpPr>
        <p:spPr bwMode="auto">
          <a:xfrm>
            <a:off x="4934874" y="2696964"/>
            <a:ext cx="346075" cy="346075"/>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E</a:t>
            </a:r>
          </a:p>
        </p:txBody>
      </p:sp>
      <p:sp>
        <p:nvSpPr>
          <p:cNvPr id="382989" name="Oval 13"/>
          <p:cNvSpPr>
            <a:spLocks noChangeAspect="1" noChangeArrowheads="1"/>
          </p:cNvSpPr>
          <p:nvPr/>
        </p:nvSpPr>
        <p:spPr bwMode="auto">
          <a:xfrm>
            <a:off x="5604799" y="2696964"/>
            <a:ext cx="346075" cy="346075"/>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F</a:t>
            </a:r>
          </a:p>
        </p:txBody>
      </p:sp>
      <p:sp>
        <p:nvSpPr>
          <p:cNvPr id="382990" name="Oval 14"/>
          <p:cNvSpPr>
            <a:spLocks noChangeAspect="1" noChangeArrowheads="1"/>
          </p:cNvSpPr>
          <p:nvPr/>
        </p:nvSpPr>
        <p:spPr bwMode="auto">
          <a:xfrm>
            <a:off x="6812887" y="2696964"/>
            <a:ext cx="346075" cy="346075"/>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G</a:t>
            </a:r>
          </a:p>
        </p:txBody>
      </p:sp>
      <p:sp>
        <p:nvSpPr>
          <p:cNvPr id="382991" name="Oval 15"/>
          <p:cNvSpPr>
            <a:spLocks noChangeAspect="1" noChangeArrowheads="1"/>
          </p:cNvSpPr>
          <p:nvPr/>
        </p:nvSpPr>
        <p:spPr bwMode="auto">
          <a:xfrm>
            <a:off x="6806537" y="3343077"/>
            <a:ext cx="344487" cy="344487"/>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H</a:t>
            </a:r>
          </a:p>
        </p:txBody>
      </p:sp>
      <p:sp>
        <p:nvSpPr>
          <p:cNvPr id="382992" name="Oval 16"/>
          <p:cNvSpPr>
            <a:spLocks noChangeAspect="1" noChangeArrowheads="1"/>
          </p:cNvSpPr>
          <p:nvPr/>
        </p:nvSpPr>
        <p:spPr bwMode="auto">
          <a:xfrm>
            <a:off x="6817648" y="4001888"/>
            <a:ext cx="344488"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J</a:t>
            </a:r>
          </a:p>
        </p:txBody>
      </p:sp>
      <p:sp>
        <p:nvSpPr>
          <p:cNvPr id="382993" name="Oval 17"/>
          <p:cNvSpPr>
            <a:spLocks noChangeAspect="1" noChangeArrowheads="1"/>
          </p:cNvSpPr>
          <p:nvPr/>
        </p:nvSpPr>
        <p:spPr bwMode="auto">
          <a:xfrm>
            <a:off x="6296949" y="4001888"/>
            <a:ext cx="346075"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I</a:t>
            </a:r>
          </a:p>
        </p:txBody>
      </p:sp>
      <p:sp>
        <p:nvSpPr>
          <p:cNvPr id="382994" name="Oval 18"/>
          <p:cNvSpPr>
            <a:spLocks noChangeAspect="1" noChangeArrowheads="1"/>
          </p:cNvSpPr>
          <p:nvPr/>
        </p:nvSpPr>
        <p:spPr bwMode="auto">
          <a:xfrm>
            <a:off x="7370099" y="4001888"/>
            <a:ext cx="346075" cy="344488"/>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lang="en-US" altLang="zh-CN">
                <a:solidFill>
                  <a:srgbClr val="3333FF"/>
                </a:solidFill>
                <a:latin typeface="Consolas" pitchFamily="49" charset="0"/>
                <a:ea typeface="宋体" pitchFamily="2" charset="-122"/>
                <a:cs typeface="Consolas" pitchFamily="49" charset="0"/>
              </a:rPr>
              <a:t>K</a:t>
            </a:r>
          </a:p>
        </p:txBody>
      </p:sp>
      <p:sp>
        <p:nvSpPr>
          <p:cNvPr id="382999" name="Text Box 23"/>
          <p:cNvSpPr txBox="1">
            <a:spLocks noChangeArrowheads="1"/>
          </p:cNvSpPr>
          <p:nvPr/>
        </p:nvSpPr>
        <p:spPr bwMode="auto">
          <a:xfrm>
            <a:off x="3852218" y="4881313"/>
            <a:ext cx="4851400" cy="400110"/>
          </a:xfrm>
          <a:prstGeom prst="rect">
            <a:avLst/>
          </a:prstGeom>
          <a:noFill/>
          <a:ln w="12700" cap="sq">
            <a:noFill/>
            <a:miter lim="800000"/>
            <a:headEnd type="none" w="sm" len="sm"/>
            <a:tailEnd type="none" w="sm" len="sm"/>
          </a:ln>
          <a:effectLst/>
        </p:spPr>
        <p:txBody>
          <a:bodyPr>
            <a:spAutoFit/>
          </a:bodyPr>
          <a:lstStyle/>
          <a:p>
            <a:pPr algn="l"/>
            <a:r>
              <a:rPr kumimoji="1" lang="zh-CN" altLang="en-US" sz="2000" dirty="0">
                <a:latin typeface="仿宋" pitchFamily="49" charset="-122"/>
                <a:ea typeface="仿宋" pitchFamily="49" charset="-122"/>
                <a:cs typeface="Consolas" pitchFamily="49" charset="0"/>
              </a:rPr>
              <a:t>层次</a:t>
            </a:r>
            <a:r>
              <a:rPr kumimoji="1" lang="zh-CN" altLang="en-US" sz="2000">
                <a:latin typeface="仿宋" pitchFamily="49" charset="-122"/>
                <a:ea typeface="仿宋" pitchFamily="49" charset="-122"/>
                <a:cs typeface="Consolas" pitchFamily="49" charset="0"/>
              </a:rPr>
              <a:t>遍历的结点访问</a:t>
            </a:r>
            <a:r>
              <a:rPr kumimoji="1" lang="zh-CN" altLang="en-US" sz="2000" dirty="0">
                <a:latin typeface="仿宋" pitchFamily="49" charset="-122"/>
                <a:ea typeface="仿宋" pitchFamily="49" charset="-122"/>
                <a:cs typeface="Consolas" pitchFamily="49" charset="0"/>
              </a:rPr>
              <a:t>次序：</a:t>
            </a:r>
          </a:p>
        </p:txBody>
      </p:sp>
      <p:grpSp>
        <p:nvGrpSpPr>
          <p:cNvPr id="2" name="Group 24"/>
          <p:cNvGrpSpPr>
            <a:grpSpLocks/>
          </p:cNvGrpSpPr>
          <p:nvPr/>
        </p:nvGrpSpPr>
        <p:grpSpPr bwMode="auto">
          <a:xfrm>
            <a:off x="5004744" y="1309489"/>
            <a:ext cx="1347787" cy="4589463"/>
            <a:chOff x="975" y="121"/>
            <a:chExt cx="849" cy="2891"/>
          </a:xfrm>
        </p:grpSpPr>
        <p:sp>
          <p:nvSpPr>
            <p:cNvPr id="383001" name="Text Box 25"/>
            <p:cNvSpPr txBox="1">
              <a:spLocks noChangeArrowheads="1"/>
            </p:cNvSpPr>
            <p:nvPr/>
          </p:nvSpPr>
          <p:spPr bwMode="auto">
            <a:xfrm>
              <a:off x="97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A</a:t>
              </a:r>
            </a:p>
          </p:txBody>
        </p:sp>
        <p:sp>
          <p:nvSpPr>
            <p:cNvPr id="383002" name="Oval 26"/>
            <p:cNvSpPr>
              <a:spLocks noChangeAspect="1" noChangeArrowheads="1"/>
            </p:cNvSpPr>
            <p:nvPr/>
          </p:nvSpPr>
          <p:spPr bwMode="auto">
            <a:xfrm>
              <a:off x="1606" y="121"/>
              <a:ext cx="218"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A</a:t>
              </a:r>
            </a:p>
          </p:txBody>
        </p:sp>
      </p:grpSp>
      <p:grpSp>
        <p:nvGrpSpPr>
          <p:cNvPr id="3" name="Group 48"/>
          <p:cNvGrpSpPr>
            <a:grpSpLocks/>
          </p:cNvGrpSpPr>
          <p:nvPr/>
        </p:nvGrpSpPr>
        <p:grpSpPr bwMode="auto">
          <a:xfrm>
            <a:off x="5284143" y="2009576"/>
            <a:ext cx="508000" cy="3889374"/>
            <a:chOff x="1151" y="562"/>
            <a:chExt cx="320" cy="2450"/>
          </a:xfrm>
        </p:grpSpPr>
        <p:sp>
          <p:nvSpPr>
            <p:cNvPr id="383003" name="Text Box 27"/>
            <p:cNvSpPr txBox="1">
              <a:spLocks noChangeArrowheads="1"/>
            </p:cNvSpPr>
            <p:nvPr/>
          </p:nvSpPr>
          <p:spPr bwMode="auto">
            <a:xfrm>
              <a:off x="127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B</a:t>
              </a:r>
            </a:p>
          </p:txBody>
        </p:sp>
        <p:sp>
          <p:nvSpPr>
            <p:cNvPr id="383004" name="Oval 28"/>
            <p:cNvSpPr>
              <a:spLocks noChangeAspect="1" noChangeArrowheads="1"/>
            </p:cNvSpPr>
            <p:nvPr/>
          </p:nvSpPr>
          <p:spPr bwMode="auto">
            <a:xfrm>
              <a:off x="1151" y="562"/>
              <a:ext cx="218"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0000CC"/>
                  </a:solidFill>
                  <a:latin typeface="Consolas" pitchFamily="49" charset="0"/>
                  <a:ea typeface="宋体" pitchFamily="2" charset="-122"/>
                  <a:cs typeface="Consolas" pitchFamily="49" charset="0"/>
                </a:rPr>
                <a:t>B</a:t>
              </a:r>
            </a:p>
          </p:txBody>
        </p:sp>
      </p:grpSp>
      <p:grpSp>
        <p:nvGrpSpPr>
          <p:cNvPr id="4" name="Group 49"/>
          <p:cNvGrpSpPr>
            <a:grpSpLocks/>
          </p:cNvGrpSpPr>
          <p:nvPr/>
        </p:nvGrpSpPr>
        <p:grpSpPr bwMode="auto">
          <a:xfrm>
            <a:off x="5912793" y="2009576"/>
            <a:ext cx="438150" cy="3889374"/>
            <a:chOff x="1547" y="562"/>
            <a:chExt cx="276" cy="2450"/>
          </a:xfrm>
        </p:grpSpPr>
        <p:sp>
          <p:nvSpPr>
            <p:cNvPr id="383006" name="Oval 30"/>
            <p:cNvSpPr>
              <a:spLocks noChangeAspect="1" noChangeArrowheads="1"/>
            </p:cNvSpPr>
            <p:nvPr/>
          </p:nvSpPr>
          <p:spPr bwMode="auto">
            <a:xfrm>
              <a:off x="1606" y="562"/>
              <a:ext cx="217"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a:solidFill>
                    <a:srgbClr val="0000CC"/>
                  </a:solidFill>
                  <a:latin typeface="Consolas" pitchFamily="49" charset="0"/>
                  <a:ea typeface="宋体" pitchFamily="2" charset="-122"/>
                  <a:cs typeface="Consolas" pitchFamily="49" charset="0"/>
                </a:rPr>
                <a:t>C</a:t>
              </a:r>
            </a:p>
          </p:txBody>
        </p:sp>
        <p:sp>
          <p:nvSpPr>
            <p:cNvPr id="383009" name="Text Box 33"/>
            <p:cNvSpPr txBox="1">
              <a:spLocks noChangeArrowheads="1"/>
            </p:cNvSpPr>
            <p:nvPr/>
          </p:nvSpPr>
          <p:spPr bwMode="auto">
            <a:xfrm>
              <a:off x="1547"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C</a:t>
              </a:r>
            </a:p>
          </p:txBody>
        </p:sp>
      </p:grpSp>
      <p:grpSp>
        <p:nvGrpSpPr>
          <p:cNvPr id="5" name="Group 51"/>
          <p:cNvGrpSpPr>
            <a:grpSpLocks/>
          </p:cNvGrpSpPr>
          <p:nvPr/>
        </p:nvGrpSpPr>
        <p:grpSpPr bwMode="auto">
          <a:xfrm>
            <a:off x="4933306" y="2700139"/>
            <a:ext cx="2155825" cy="3198813"/>
            <a:chOff x="930" y="997"/>
            <a:chExt cx="1358" cy="2015"/>
          </a:xfrm>
        </p:grpSpPr>
        <p:sp>
          <p:nvSpPr>
            <p:cNvPr id="383005" name="Text Box 29"/>
            <p:cNvSpPr txBox="1">
              <a:spLocks noChangeArrowheads="1"/>
            </p:cNvSpPr>
            <p:nvPr/>
          </p:nvSpPr>
          <p:spPr bwMode="auto">
            <a:xfrm>
              <a:off x="2092"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E</a:t>
              </a:r>
            </a:p>
          </p:txBody>
        </p:sp>
        <p:sp>
          <p:nvSpPr>
            <p:cNvPr id="383010" name="Oval 34"/>
            <p:cNvSpPr>
              <a:spLocks noChangeAspect="1" noChangeArrowheads="1"/>
            </p:cNvSpPr>
            <p:nvPr/>
          </p:nvSpPr>
          <p:spPr bwMode="auto">
            <a:xfrm>
              <a:off x="930" y="997"/>
              <a:ext cx="218" cy="218"/>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E</a:t>
              </a:r>
            </a:p>
          </p:txBody>
        </p:sp>
      </p:grpSp>
      <p:grpSp>
        <p:nvGrpSpPr>
          <p:cNvPr id="6" name="Group 50"/>
          <p:cNvGrpSpPr>
            <a:grpSpLocks/>
          </p:cNvGrpSpPr>
          <p:nvPr/>
        </p:nvGrpSpPr>
        <p:grpSpPr bwMode="auto">
          <a:xfrm>
            <a:off x="6346181" y="2009576"/>
            <a:ext cx="796925" cy="3889374"/>
            <a:chOff x="1820" y="562"/>
            <a:chExt cx="502" cy="2450"/>
          </a:xfrm>
        </p:grpSpPr>
        <p:sp>
          <p:nvSpPr>
            <p:cNvPr id="383008" name="Oval 32"/>
            <p:cNvSpPr>
              <a:spLocks noChangeAspect="1" noChangeArrowheads="1"/>
            </p:cNvSpPr>
            <p:nvPr/>
          </p:nvSpPr>
          <p:spPr bwMode="auto">
            <a:xfrm>
              <a:off x="2105" y="562"/>
              <a:ext cx="217"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D</a:t>
              </a:r>
            </a:p>
          </p:txBody>
        </p:sp>
        <p:sp>
          <p:nvSpPr>
            <p:cNvPr id="383011" name="Text Box 35"/>
            <p:cNvSpPr txBox="1">
              <a:spLocks noChangeArrowheads="1"/>
            </p:cNvSpPr>
            <p:nvPr/>
          </p:nvSpPr>
          <p:spPr bwMode="auto">
            <a:xfrm>
              <a:off x="1820"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D</a:t>
              </a:r>
            </a:p>
          </p:txBody>
        </p:sp>
      </p:grpSp>
      <p:grpSp>
        <p:nvGrpSpPr>
          <p:cNvPr id="7" name="Group 52"/>
          <p:cNvGrpSpPr>
            <a:grpSpLocks/>
          </p:cNvGrpSpPr>
          <p:nvPr/>
        </p:nvGrpSpPr>
        <p:grpSpPr bwMode="auto">
          <a:xfrm>
            <a:off x="5603231" y="2700139"/>
            <a:ext cx="1871663" cy="3198813"/>
            <a:chOff x="1352" y="997"/>
            <a:chExt cx="1179" cy="2015"/>
          </a:xfrm>
        </p:grpSpPr>
        <p:sp>
          <p:nvSpPr>
            <p:cNvPr id="383007" name="Text Box 31"/>
            <p:cNvSpPr txBox="1">
              <a:spLocks noChangeArrowheads="1"/>
            </p:cNvSpPr>
            <p:nvPr/>
          </p:nvSpPr>
          <p:spPr bwMode="auto">
            <a:xfrm>
              <a:off x="233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F</a:t>
              </a:r>
            </a:p>
          </p:txBody>
        </p:sp>
        <p:sp>
          <p:nvSpPr>
            <p:cNvPr id="383012" name="Oval 36"/>
            <p:cNvSpPr>
              <a:spLocks noChangeAspect="1" noChangeArrowheads="1"/>
            </p:cNvSpPr>
            <p:nvPr/>
          </p:nvSpPr>
          <p:spPr bwMode="auto">
            <a:xfrm>
              <a:off x="1352" y="997"/>
              <a:ext cx="218" cy="218"/>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F</a:t>
              </a:r>
            </a:p>
          </p:txBody>
        </p:sp>
      </p:grpSp>
      <p:grpSp>
        <p:nvGrpSpPr>
          <p:cNvPr id="8" name="Group 53"/>
          <p:cNvGrpSpPr>
            <a:grpSpLocks/>
          </p:cNvGrpSpPr>
          <p:nvPr/>
        </p:nvGrpSpPr>
        <p:grpSpPr bwMode="auto">
          <a:xfrm>
            <a:off x="6811320" y="2700139"/>
            <a:ext cx="1139825" cy="3198813"/>
            <a:chOff x="2113" y="997"/>
            <a:chExt cx="718" cy="2015"/>
          </a:xfrm>
        </p:grpSpPr>
        <p:sp>
          <p:nvSpPr>
            <p:cNvPr id="383013" name="Text Box 37"/>
            <p:cNvSpPr txBox="1">
              <a:spLocks noChangeArrowheads="1"/>
            </p:cNvSpPr>
            <p:nvPr/>
          </p:nvSpPr>
          <p:spPr bwMode="auto">
            <a:xfrm>
              <a:off x="2635"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G</a:t>
              </a:r>
            </a:p>
          </p:txBody>
        </p:sp>
        <p:sp>
          <p:nvSpPr>
            <p:cNvPr id="383014" name="Oval 38"/>
            <p:cNvSpPr>
              <a:spLocks noChangeAspect="1" noChangeArrowheads="1"/>
            </p:cNvSpPr>
            <p:nvPr/>
          </p:nvSpPr>
          <p:spPr bwMode="auto">
            <a:xfrm>
              <a:off x="2113" y="997"/>
              <a:ext cx="218" cy="218"/>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G</a:t>
              </a:r>
            </a:p>
          </p:txBody>
        </p:sp>
      </p:grpSp>
      <p:grpSp>
        <p:nvGrpSpPr>
          <p:cNvPr id="9" name="Group 54"/>
          <p:cNvGrpSpPr>
            <a:grpSpLocks/>
          </p:cNvGrpSpPr>
          <p:nvPr/>
        </p:nvGrpSpPr>
        <p:grpSpPr bwMode="auto">
          <a:xfrm>
            <a:off x="6804970" y="3346252"/>
            <a:ext cx="1577975" cy="2552699"/>
            <a:chOff x="2109" y="1404"/>
            <a:chExt cx="994" cy="1608"/>
          </a:xfrm>
        </p:grpSpPr>
        <p:sp>
          <p:nvSpPr>
            <p:cNvPr id="383015" name="Text Box 39"/>
            <p:cNvSpPr txBox="1">
              <a:spLocks noChangeArrowheads="1"/>
            </p:cNvSpPr>
            <p:nvPr/>
          </p:nvSpPr>
          <p:spPr bwMode="auto">
            <a:xfrm>
              <a:off x="2907"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H</a:t>
              </a:r>
            </a:p>
          </p:txBody>
        </p:sp>
        <p:sp>
          <p:nvSpPr>
            <p:cNvPr id="383016" name="Oval 40"/>
            <p:cNvSpPr>
              <a:spLocks noChangeAspect="1" noChangeArrowheads="1"/>
            </p:cNvSpPr>
            <p:nvPr/>
          </p:nvSpPr>
          <p:spPr bwMode="auto">
            <a:xfrm>
              <a:off x="2109" y="1404"/>
              <a:ext cx="217"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H</a:t>
              </a:r>
            </a:p>
          </p:txBody>
        </p:sp>
      </p:grpSp>
      <p:grpSp>
        <p:nvGrpSpPr>
          <p:cNvPr id="10" name="Group 56"/>
          <p:cNvGrpSpPr>
            <a:grpSpLocks/>
          </p:cNvGrpSpPr>
          <p:nvPr/>
        </p:nvGrpSpPr>
        <p:grpSpPr bwMode="auto">
          <a:xfrm>
            <a:off x="6816080" y="4005064"/>
            <a:ext cx="2432050" cy="1893888"/>
            <a:chOff x="2116" y="1819"/>
            <a:chExt cx="1532" cy="1193"/>
          </a:xfrm>
        </p:grpSpPr>
        <p:sp>
          <p:nvSpPr>
            <p:cNvPr id="383017" name="Text Box 41"/>
            <p:cNvSpPr txBox="1">
              <a:spLocks noChangeArrowheads="1"/>
            </p:cNvSpPr>
            <p:nvPr/>
          </p:nvSpPr>
          <p:spPr bwMode="auto">
            <a:xfrm>
              <a:off x="3452"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J</a:t>
              </a:r>
            </a:p>
          </p:txBody>
        </p:sp>
        <p:sp>
          <p:nvSpPr>
            <p:cNvPr id="383018" name="Oval 42"/>
            <p:cNvSpPr>
              <a:spLocks noChangeAspect="1" noChangeArrowheads="1"/>
            </p:cNvSpPr>
            <p:nvPr/>
          </p:nvSpPr>
          <p:spPr bwMode="auto">
            <a:xfrm>
              <a:off x="2116" y="1819"/>
              <a:ext cx="217"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J</a:t>
              </a:r>
            </a:p>
          </p:txBody>
        </p:sp>
      </p:grpSp>
      <p:grpSp>
        <p:nvGrpSpPr>
          <p:cNvPr id="11" name="Group 55"/>
          <p:cNvGrpSpPr>
            <a:grpSpLocks/>
          </p:cNvGrpSpPr>
          <p:nvPr/>
        </p:nvGrpSpPr>
        <p:grpSpPr bwMode="auto">
          <a:xfrm>
            <a:off x="6295379" y="4005064"/>
            <a:ext cx="2520950" cy="1893888"/>
            <a:chOff x="1788" y="1819"/>
            <a:chExt cx="1588" cy="1193"/>
          </a:xfrm>
        </p:grpSpPr>
        <p:sp>
          <p:nvSpPr>
            <p:cNvPr id="383019" name="Text Box 43"/>
            <p:cNvSpPr txBox="1">
              <a:spLocks noChangeArrowheads="1"/>
            </p:cNvSpPr>
            <p:nvPr/>
          </p:nvSpPr>
          <p:spPr bwMode="auto">
            <a:xfrm>
              <a:off x="3180"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I</a:t>
              </a:r>
            </a:p>
          </p:txBody>
        </p:sp>
        <p:sp>
          <p:nvSpPr>
            <p:cNvPr id="383020" name="Oval 44"/>
            <p:cNvSpPr>
              <a:spLocks noChangeAspect="1" noChangeArrowheads="1"/>
            </p:cNvSpPr>
            <p:nvPr/>
          </p:nvSpPr>
          <p:spPr bwMode="auto">
            <a:xfrm>
              <a:off x="1788" y="1819"/>
              <a:ext cx="218"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I</a:t>
              </a:r>
            </a:p>
          </p:txBody>
        </p:sp>
      </p:grpSp>
      <p:grpSp>
        <p:nvGrpSpPr>
          <p:cNvPr id="12" name="Group 57"/>
          <p:cNvGrpSpPr>
            <a:grpSpLocks/>
          </p:cNvGrpSpPr>
          <p:nvPr/>
        </p:nvGrpSpPr>
        <p:grpSpPr bwMode="auto">
          <a:xfrm>
            <a:off x="7368530" y="4005064"/>
            <a:ext cx="2363788" cy="1893888"/>
            <a:chOff x="2464" y="1819"/>
            <a:chExt cx="1489" cy="1193"/>
          </a:xfrm>
        </p:grpSpPr>
        <p:sp>
          <p:nvSpPr>
            <p:cNvPr id="383021" name="Text Box 45"/>
            <p:cNvSpPr txBox="1">
              <a:spLocks noChangeArrowheads="1"/>
            </p:cNvSpPr>
            <p:nvPr/>
          </p:nvSpPr>
          <p:spPr bwMode="auto">
            <a:xfrm>
              <a:off x="3757" y="2779"/>
              <a:ext cx="196" cy="233"/>
            </a:xfrm>
            <a:prstGeom prst="rect">
              <a:avLst/>
            </a:prstGeom>
            <a:noFill/>
            <a:ln w="12700" cap="sq">
              <a:noFill/>
              <a:miter lim="800000"/>
              <a:headEnd type="none" w="sm" len="sm"/>
              <a:tailEnd type="none" w="sm" len="sm"/>
            </a:ln>
            <a:effectLst/>
          </p:spPr>
          <p:txBody>
            <a:bodyPr wrap="none">
              <a:spAutoFit/>
            </a:bodyPr>
            <a:lstStyle/>
            <a:p>
              <a:pPr algn="l"/>
              <a:r>
                <a:rPr kumimoji="1" lang="en-US" altLang="zh-CN">
                  <a:solidFill>
                    <a:srgbClr val="FF0000"/>
                  </a:solidFill>
                  <a:latin typeface="Consolas" pitchFamily="49" charset="0"/>
                  <a:cs typeface="Consolas" pitchFamily="49" charset="0"/>
                </a:rPr>
                <a:t>K</a:t>
              </a:r>
            </a:p>
          </p:txBody>
        </p:sp>
        <p:sp>
          <p:nvSpPr>
            <p:cNvPr id="383022" name="Oval 46"/>
            <p:cNvSpPr>
              <a:spLocks noChangeAspect="1" noChangeArrowheads="1"/>
            </p:cNvSpPr>
            <p:nvPr/>
          </p:nvSpPr>
          <p:spPr bwMode="auto">
            <a:xfrm>
              <a:off x="2464" y="1819"/>
              <a:ext cx="218" cy="217"/>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dirty="0">
                  <a:solidFill>
                    <a:srgbClr val="3333FF"/>
                  </a:solidFill>
                  <a:latin typeface="Consolas" pitchFamily="49" charset="0"/>
                  <a:ea typeface="宋体" pitchFamily="2" charset="-122"/>
                  <a:cs typeface="Consolas" pitchFamily="49" charset="0"/>
                </a:rPr>
                <a:t>K</a:t>
              </a:r>
            </a:p>
          </p:txBody>
        </p:sp>
      </p:grpSp>
      <p:sp>
        <p:nvSpPr>
          <p:cNvPr id="383034" name="Text Box 58"/>
          <p:cNvSpPr txBox="1">
            <a:spLocks noChangeArrowheads="1"/>
          </p:cNvSpPr>
          <p:nvPr/>
        </p:nvSpPr>
        <p:spPr bwMode="auto">
          <a:xfrm>
            <a:off x="1856908" y="1676249"/>
            <a:ext cx="2890827" cy="430887"/>
          </a:xfrm>
          <a:prstGeom prst="rect">
            <a:avLst/>
          </a:prstGeom>
          <a:solidFill>
            <a:srgbClr val="CC00FF"/>
          </a:solidFill>
          <a:ln w="28575" algn="ctr">
            <a:noFill/>
            <a:miter lim="800000"/>
            <a:headEnd/>
            <a:tailEnd type="none" w="med" len="lg"/>
          </a:ln>
          <a:effectLst/>
        </p:spPr>
        <p:txBody>
          <a:bodyPr wrap="square">
            <a:spAutoFit/>
          </a:bodyPr>
          <a:lstStyle/>
          <a:p>
            <a:pPr>
              <a:spcBef>
                <a:spcPct val="50000"/>
              </a:spcBef>
            </a:pPr>
            <a:r>
              <a:rPr lang="zh-CN" altLang="en-US" sz="2200" dirty="0">
                <a:solidFill>
                  <a:schemeClr val="bg1"/>
                </a:solidFill>
                <a:latin typeface="华文中宋" pitchFamily="2" charset="-122"/>
                <a:ea typeface="华文中宋" pitchFamily="2" charset="-122"/>
              </a:rPr>
              <a:t>树的层次遍历</a:t>
            </a:r>
            <a:r>
              <a:rPr lang="zh-CN" altLang="en-US" sz="2200">
                <a:solidFill>
                  <a:schemeClr val="bg1"/>
                </a:solidFill>
                <a:latin typeface="华文中宋" pitchFamily="2" charset="-122"/>
                <a:ea typeface="华文中宋" pitchFamily="2" charset="-122"/>
              </a:rPr>
              <a:t>示例</a:t>
            </a:r>
            <a:endParaRPr lang="zh-CN" altLang="en-US" sz="2200" dirty="0">
              <a:solidFill>
                <a:schemeClr val="bg1"/>
              </a:solidFill>
              <a:latin typeface="华文中宋" pitchFamily="2" charset="-122"/>
              <a:ea typeface="华文中宋" pitchFamily="2" charset="-122"/>
            </a:endParaRPr>
          </a:p>
        </p:txBody>
      </p:sp>
      <p:sp>
        <p:nvSpPr>
          <p:cNvPr id="59" name="Text Box 94"/>
          <p:cNvSpPr txBox="1">
            <a:spLocks noChangeArrowheads="1"/>
          </p:cNvSpPr>
          <p:nvPr/>
        </p:nvSpPr>
        <p:spPr bwMode="auto">
          <a:xfrm>
            <a:off x="6446194" y="6300588"/>
            <a:ext cx="2016125" cy="400110"/>
          </a:xfrm>
          <a:prstGeom prst="rect">
            <a:avLst/>
          </a:prstGeom>
          <a:noFill/>
          <a:ln w="9525" algn="ctr">
            <a:noFill/>
            <a:miter lim="800000"/>
            <a:headEnd/>
            <a:tailEnd type="none" w="med" len="lg"/>
          </a:ln>
          <a:effectLst/>
        </p:spPr>
        <p:txBody>
          <a:bodyPr>
            <a:spAutoFit/>
          </a:bodyPr>
          <a:lstStyle/>
          <a:p>
            <a:pPr>
              <a:spcBef>
                <a:spcPct val="50000"/>
              </a:spcBef>
            </a:pPr>
            <a:r>
              <a:rPr lang="zh-CN" altLang="en-US" sz="2000" dirty="0">
                <a:solidFill>
                  <a:srgbClr val="CC00FF"/>
                </a:solidFill>
                <a:latin typeface="Consolas" pitchFamily="49" charset="0"/>
                <a:ea typeface="黑体" pitchFamily="49" charset="-122"/>
                <a:cs typeface="Consolas" pitchFamily="49" charset="0"/>
              </a:rPr>
              <a:t>遍历完毕</a:t>
            </a:r>
          </a:p>
        </p:txBody>
      </p:sp>
      <p:sp>
        <p:nvSpPr>
          <p:cNvPr id="13" name="矩形 12">
            <a:extLst>
              <a:ext uri="{FF2B5EF4-FFF2-40B4-BE49-F238E27FC236}">
                <a16:creationId xmlns:a16="http://schemas.microsoft.com/office/drawing/2014/main" xmlns="" id="{4573521E-ACC4-02B7-31AB-B775B9FBE081}"/>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14" name="Rectangle 2">
            <a:extLst>
              <a:ext uri="{FF2B5EF4-FFF2-40B4-BE49-F238E27FC236}">
                <a16:creationId xmlns:a16="http://schemas.microsoft.com/office/drawing/2014/main" xmlns="" id="{6C44E63B-57D3-C4EF-B6AC-53F07960E059}"/>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7.1.5 </a:t>
            </a:r>
            <a:r>
              <a:rPr lang="zh-CN" altLang="en-US" dirty="0"/>
              <a:t>树的基本运算</a:t>
            </a:r>
          </a:p>
        </p:txBody>
      </p:sp>
      <p:cxnSp>
        <p:nvCxnSpPr>
          <p:cNvPr id="15" name="直接连接符 14">
            <a:extLst>
              <a:ext uri="{FF2B5EF4-FFF2-40B4-BE49-F238E27FC236}">
                <a16:creationId xmlns:a16="http://schemas.microsoft.com/office/drawing/2014/main" xmlns="" id="{F7B4BDBF-369C-B74F-22BA-C70C3BCFCA8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nodeType="clickEffect">
                                  <p:stCondLst>
                                    <p:cond delay="0"/>
                                  </p:stCondLst>
                                  <p:childTnLst>
                                    <p:animClr clrSpc="rgb" dir="cw">
                                      <p:cBhvr override="childStyle">
                                        <p:cTn id="11" dur="100" fill="hold"/>
                                        <p:tgtEl>
                                          <p:spTgt spid="2"/>
                                        </p:tgtEl>
                                        <p:attrNameLst>
                                          <p:attrName>style.color</p:attrName>
                                        </p:attrNameLst>
                                      </p:cBhvr>
                                      <p:to>
                                        <a:schemeClr val="accent2"/>
                                      </p:to>
                                    </p:animClr>
                                    <p:animClr clrSpc="rgb" dir="cw">
                                      <p:cBhvr>
                                        <p:cTn id="12" dur="100" fill="hold"/>
                                        <p:tgtEl>
                                          <p:spTgt spid="2"/>
                                        </p:tgtEl>
                                        <p:attrNameLst>
                                          <p:attrName>fillcolor</p:attrName>
                                        </p:attrNameLst>
                                      </p:cBhvr>
                                      <p:to>
                                        <a:schemeClr val="accent2"/>
                                      </p:to>
                                    </p:animClr>
                                    <p:set>
                                      <p:cBhvr>
                                        <p:cTn id="13" dur="100" fill="hold"/>
                                        <p:tgtEl>
                                          <p:spTgt spid="2"/>
                                        </p:tgtEl>
                                        <p:attrNameLst>
                                          <p:attrName>fill.type</p:attrName>
                                        </p:attrNameLst>
                                      </p:cBhvr>
                                      <p:to>
                                        <p:strVal val="solid"/>
                                      </p:to>
                                    </p:set>
                                    <p:set>
                                      <p:cBhvr>
                                        <p:cTn id="14" dur="100" fill="hold"/>
                                        <p:tgtEl>
                                          <p:spTgt spid="2"/>
                                        </p:tgtEl>
                                        <p:attrNameLst>
                                          <p:attrName>fill.on</p:attrName>
                                        </p:attrNameLst>
                                      </p:cBhvr>
                                      <p:to>
                                        <p:strVal val="true"/>
                                      </p:to>
                                    </p:set>
                                    <p:animRot by="120000">
                                      <p:cBhvr>
                                        <p:cTn id="15" dur="100" fill="hold">
                                          <p:stCondLst>
                                            <p:cond delay="0"/>
                                          </p:stCondLst>
                                        </p:cTn>
                                        <p:tgtEl>
                                          <p:spTgt spid="2"/>
                                        </p:tgtEl>
                                        <p:attrNameLst>
                                          <p:attrName>r</p:attrName>
                                        </p:attrNameLst>
                                      </p:cBhvr>
                                    </p:animRot>
                                    <p:animRot by="-240000">
                                      <p:cBhvr>
                                        <p:cTn id="16" dur="200" fill="hold">
                                          <p:stCondLst>
                                            <p:cond delay="200"/>
                                          </p:stCondLst>
                                        </p:cTn>
                                        <p:tgtEl>
                                          <p:spTgt spid="2"/>
                                        </p:tgtEl>
                                        <p:attrNameLst>
                                          <p:attrName>r</p:attrName>
                                        </p:attrNameLst>
                                      </p:cBhvr>
                                    </p:animRot>
                                    <p:animRot by="240000">
                                      <p:cBhvr>
                                        <p:cTn id="17" dur="200" fill="hold">
                                          <p:stCondLst>
                                            <p:cond delay="400"/>
                                          </p:stCondLst>
                                        </p:cTn>
                                        <p:tgtEl>
                                          <p:spTgt spid="2"/>
                                        </p:tgtEl>
                                        <p:attrNameLst>
                                          <p:attrName>r</p:attrName>
                                        </p:attrNameLst>
                                      </p:cBhvr>
                                    </p:animRot>
                                    <p:animRot by="-240000">
                                      <p:cBhvr>
                                        <p:cTn id="18" dur="200" fill="hold">
                                          <p:stCondLst>
                                            <p:cond delay="600"/>
                                          </p:stCondLst>
                                        </p:cTn>
                                        <p:tgtEl>
                                          <p:spTgt spid="2"/>
                                        </p:tgtEl>
                                        <p:attrNameLst>
                                          <p:attrName>r</p:attrName>
                                        </p:attrNameLst>
                                      </p:cBhvr>
                                    </p:animRot>
                                    <p:animRot by="120000">
                                      <p:cBhvr>
                                        <p:cTn id="19" dur="200" fill="hold">
                                          <p:stCondLst>
                                            <p:cond delay="800"/>
                                          </p:stCondLst>
                                        </p:cTn>
                                        <p:tgtEl>
                                          <p:spTgt spid="2"/>
                                        </p:tgtEl>
                                        <p:attrNameLst>
                                          <p:attrName>r</p:attrName>
                                        </p:attrNameLst>
                                      </p:cBhvr>
                                    </p:animRo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down)">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down)">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down)">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down)">
                                      <p:cBhvr>
                                        <p:cTn id="49" dur="500"/>
                                        <p:tgtEl>
                                          <p:spTgt spid="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down)">
                                      <p:cBhvr>
                                        <p:cTn id="54" dur="500"/>
                                        <p:tgtEl>
                                          <p:spTgt spid="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wipe(down)">
                                      <p:cBhvr>
                                        <p:cTn id="59" dur="500"/>
                                        <p:tgtEl>
                                          <p:spTgt spid="1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wipe(down)">
                                      <p:cBhvr>
                                        <p:cTn id="64" dur="500"/>
                                        <p:tgtEl>
                                          <p:spTgt spid="10"/>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wipe(down)">
                                      <p:cBhvr>
                                        <p:cTn id="69" dur="500"/>
                                        <p:tgtEl>
                                          <p:spTgt spid="1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59"/>
                                        </p:tgtEl>
                                        <p:attrNameLst>
                                          <p:attrName>style.visibility</p:attrName>
                                        </p:attrNameLst>
                                      </p:cBhvr>
                                      <p:to>
                                        <p:strVal val="visible"/>
                                      </p:to>
                                    </p:set>
                                    <p:animEffect transition="in" filter="wipe(left)">
                                      <p:cBhvr>
                                        <p:cTn id="74"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039514" y="2076107"/>
            <a:ext cx="660413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marL="0" lvl="1" algn="l" eaLnBrk="1" hangingPunct="1"/>
            <a:r>
              <a:rPr lang="zh-CN" altLang="en-US" sz="2000" dirty="0">
                <a:latin typeface="微软雅黑" pitchFamily="34" charset="-122"/>
                <a:ea typeface="微软雅黑" pitchFamily="34" charset="-122"/>
                <a:cs typeface="经典粗黑简" pitchFamily="49" charset="-122"/>
              </a:rPr>
              <a:t>采用一组地址连续的存储单元存储树的结点</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通过保存每个结点的双亲结点的位置，表示树中结点之间的结构关系。    </a:t>
            </a:r>
          </a:p>
        </p:txBody>
      </p:sp>
      <p:grpSp>
        <p:nvGrpSpPr>
          <p:cNvPr id="8" name="Group 3"/>
          <p:cNvGrpSpPr>
            <a:grpSpLocks/>
          </p:cNvGrpSpPr>
          <p:nvPr/>
        </p:nvGrpSpPr>
        <p:grpSpPr bwMode="auto">
          <a:xfrm>
            <a:off x="6302140" y="3241550"/>
            <a:ext cx="2447925" cy="2514600"/>
            <a:chOff x="2304" y="1680"/>
            <a:chExt cx="1542" cy="1584"/>
          </a:xfrm>
        </p:grpSpPr>
        <p:grpSp>
          <p:nvGrpSpPr>
            <p:cNvPr id="9" name="Group 4"/>
            <p:cNvGrpSpPr>
              <a:grpSpLocks/>
            </p:cNvGrpSpPr>
            <p:nvPr/>
          </p:nvGrpSpPr>
          <p:grpSpPr bwMode="auto">
            <a:xfrm>
              <a:off x="3205" y="3014"/>
              <a:ext cx="295" cy="250"/>
              <a:chOff x="2880" y="1104"/>
              <a:chExt cx="367" cy="343"/>
            </a:xfrm>
          </p:grpSpPr>
          <p:sp>
            <p:nvSpPr>
              <p:cNvPr id="44" name="Oval 5"/>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45" name="Text Box 6"/>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I</a:t>
                </a:r>
              </a:p>
            </p:txBody>
          </p:sp>
        </p:grpSp>
        <p:grpSp>
          <p:nvGrpSpPr>
            <p:cNvPr id="11" name="Group 7"/>
            <p:cNvGrpSpPr>
              <a:grpSpLocks/>
            </p:cNvGrpSpPr>
            <p:nvPr/>
          </p:nvGrpSpPr>
          <p:grpSpPr bwMode="auto">
            <a:xfrm>
              <a:off x="3019" y="1680"/>
              <a:ext cx="295" cy="250"/>
              <a:chOff x="2880" y="1104"/>
              <a:chExt cx="367" cy="343"/>
            </a:xfrm>
          </p:grpSpPr>
          <p:sp>
            <p:nvSpPr>
              <p:cNvPr id="42" name="Oval 8"/>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43" name="Text Box 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A</a:t>
                </a:r>
              </a:p>
            </p:txBody>
          </p:sp>
        </p:grpSp>
        <p:grpSp>
          <p:nvGrpSpPr>
            <p:cNvPr id="12" name="Group 10"/>
            <p:cNvGrpSpPr>
              <a:grpSpLocks/>
            </p:cNvGrpSpPr>
            <p:nvPr/>
          </p:nvGrpSpPr>
          <p:grpSpPr bwMode="auto">
            <a:xfrm>
              <a:off x="3551" y="2256"/>
              <a:ext cx="295" cy="250"/>
              <a:chOff x="2880" y="1104"/>
              <a:chExt cx="367" cy="343"/>
            </a:xfrm>
          </p:grpSpPr>
          <p:sp>
            <p:nvSpPr>
              <p:cNvPr id="40" name="Oval 11"/>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41" name="Text Box 12"/>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C</a:t>
                </a:r>
              </a:p>
            </p:txBody>
          </p:sp>
        </p:grpSp>
        <p:grpSp>
          <p:nvGrpSpPr>
            <p:cNvPr id="13" name="Group 13"/>
            <p:cNvGrpSpPr>
              <a:grpSpLocks/>
            </p:cNvGrpSpPr>
            <p:nvPr/>
          </p:nvGrpSpPr>
          <p:grpSpPr bwMode="auto">
            <a:xfrm>
              <a:off x="2570" y="2160"/>
              <a:ext cx="295" cy="250"/>
              <a:chOff x="2880" y="1104"/>
              <a:chExt cx="367" cy="343"/>
            </a:xfrm>
          </p:grpSpPr>
          <p:sp>
            <p:nvSpPr>
              <p:cNvPr id="38" name="Oval 14"/>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39" name="Text Box 15"/>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dirty="0"/>
                  <a:t>B</a:t>
                </a:r>
              </a:p>
            </p:txBody>
          </p:sp>
        </p:grpSp>
        <p:grpSp>
          <p:nvGrpSpPr>
            <p:cNvPr id="14" name="Group 16"/>
            <p:cNvGrpSpPr>
              <a:grpSpLocks/>
            </p:cNvGrpSpPr>
            <p:nvPr/>
          </p:nvGrpSpPr>
          <p:grpSpPr bwMode="auto">
            <a:xfrm>
              <a:off x="2850" y="3014"/>
              <a:ext cx="296" cy="250"/>
              <a:chOff x="2880" y="1104"/>
              <a:chExt cx="367" cy="343"/>
            </a:xfrm>
          </p:grpSpPr>
          <p:sp>
            <p:nvSpPr>
              <p:cNvPr id="36" name="Oval 17"/>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37" name="Text Box 18"/>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H</a:t>
                </a:r>
              </a:p>
            </p:txBody>
          </p:sp>
        </p:grpSp>
        <p:grpSp>
          <p:nvGrpSpPr>
            <p:cNvPr id="15" name="Group 19"/>
            <p:cNvGrpSpPr>
              <a:grpSpLocks/>
            </p:cNvGrpSpPr>
            <p:nvPr/>
          </p:nvGrpSpPr>
          <p:grpSpPr bwMode="auto">
            <a:xfrm>
              <a:off x="2496" y="3014"/>
              <a:ext cx="295" cy="250"/>
              <a:chOff x="2880" y="1104"/>
              <a:chExt cx="367" cy="343"/>
            </a:xfrm>
          </p:grpSpPr>
          <p:sp>
            <p:nvSpPr>
              <p:cNvPr id="34" name="Oval 20"/>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35" name="Text Box 21"/>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G</a:t>
                </a:r>
              </a:p>
            </p:txBody>
          </p:sp>
        </p:grpSp>
        <p:grpSp>
          <p:nvGrpSpPr>
            <p:cNvPr id="16" name="Group 22"/>
            <p:cNvGrpSpPr>
              <a:grpSpLocks/>
            </p:cNvGrpSpPr>
            <p:nvPr/>
          </p:nvGrpSpPr>
          <p:grpSpPr bwMode="auto">
            <a:xfrm>
              <a:off x="3551" y="2678"/>
              <a:ext cx="295" cy="250"/>
              <a:chOff x="2880" y="1104"/>
              <a:chExt cx="367" cy="343"/>
            </a:xfrm>
          </p:grpSpPr>
          <p:sp>
            <p:nvSpPr>
              <p:cNvPr id="31" name="Oval 23"/>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32" name="Text Box 24"/>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F</a:t>
                </a:r>
              </a:p>
            </p:txBody>
          </p:sp>
        </p:grpSp>
        <p:grpSp>
          <p:nvGrpSpPr>
            <p:cNvPr id="17" name="Group 25"/>
            <p:cNvGrpSpPr>
              <a:grpSpLocks/>
            </p:cNvGrpSpPr>
            <p:nvPr/>
          </p:nvGrpSpPr>
          <p:grpSpPr bwMode="auto">
            <a:xfrm>
              <a:off x="2806" y="2559"/>
              <a:ext cx="295" cy="250"/>
              <a:chOff x="2880" y="1104"/>
              <a:chExt cx="367" cy="343"/>
            </a:xfrm>
          </p:grpSpPr>
          <p:sp>
            <p:nvSpPr>
              <p:cNvPr id="29" name="Oval 26"/>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30" name="Text Box 27"/>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E</a:t>
                </a:r>
              </a:p>
            </p:txBody>
          </p:sp>
        </p:grpSp>
        <p:grpSp>
          <p:nvGrpSpPr>
            <p:cNvPr id="18" name="Group 28"/>
            <p:cNvGrpSpPr>
              <a:grpSpLocks/>
            </p:cNvGrpSpPr>
            <p:nvPr/>
          </p:nvGrpSpPr>
          <p:grpSpPr bwMode="auto">
            <a:xfrm>
              <a:off x="2304" y="2521"/>
              <a:ext cx="295" cy="250"/>
              <a:chOff x="2880" y="1104"/>
              <a:chExt cx="367" cy="343"/>
            </a:xfrm>
          </p:grpSpPr>
          <p:sp>
            <p:nvSpPr>
              <p:cNvPr id="27" name="Oval 29"/>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28" name="Text Box 30"/>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D</a:t>
                </a:r>
              </a:p>
            </p:txBody>
          </p:sp>
        </p:grpSp>
        <p:sp>
          <p:nvSpPr>
            <p:cNvPr id="19" name="Line 31"/>
            <p:cNvSpPr>
              <a:spLocks noChangeShapeType="1"/>
            </p:cNvSpPr>
            <p:nvPr/>
          </p:nvSpPr>
          <p:spPr bwMode="auto">
            <a:xfrm flipH="1">
              <a:off x="2797" y="1920"/>
              <a:ext cx="310" cy="287"/>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32"/>
            <p:cNvSpPr>
              <a:spLocks noChangeShapeType="1"/>
            </p:cNvSpPr>
            <p:nvPr/>
          </p:nvSpPr>
          <p:spPr bwMode="auto">
            <a:xfrm flipH="1">
              <a:off x="2487" y="2400"/>
              <a:ext cx="105" cy="143"/>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33"/>
            <p:cNvSpPr>
              <a:spLocks noChangeShapeType="1"/>
            </p:cNvSpPr>
            <p:nvPr/>
          </p:nvSpPr>
          <p:spPr bwMode="auto">
            <a:xfrm>
              <a:off x="2736" y="2400"/>
              <a:ext cx="150" cy="143"/>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34"/>
            <p:cNvSpPr>
              <a:spLocks noChangeShapeType="1"/>
            </p:cNvSpPr>
            <p:nvPr/>
          </p:nvSpPr>
          <p:spPr bwMode="auto">
            <a:xfrm>
              <a:off x="3196" y="1920"/>
              <a:ext cx="452" cy="336"/>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35"/>
            <p:cNvSpPr>
              <a:spLocks noChangeShapeType="1"/>
            </p:cNvSpPr>
            <p:nvPr/>
          </p:nvSpPr>
          <p:spPr bwMode="auto">
            <a:xfrm flipH="1">
              <a:off x="2688" y="2784"/>
              <a:ext cx="162"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36"/>
            <p:cNvSpPr>
              <a:spLocks noChangeShapeType="1"/>
            </p:cNvSpPr>
            <p:nvPr/>
          </p:nvSpPr>
          <p:spPr bwMode="auto">
            <a:xfrm>
              <a:off x="3027" y="2774"/>
              <a:ext cx="285" cy="25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37"/>
            <p:cNvSpPr>
              <a:spLocks noChangeShapeType="1"/>
            </p:cNvSpPr>
            <p:nvPr/>
          </p:nvSpPr>
          <p:spPr bwMode="auto">
            <a:xfrm>
              <a:off x="2976" y="2784"/>
              <a:ext cx="0"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38"/>
            <p:cNvSpPr>
              <a:spLocks noChangeShapeType="1"/>
            </p:cNvSpPr>
            <p:nvPr/>
          </p:nvSpPr>
          <p:spPr bwMode="auto">
            <a:xfrm>
              <a:off x="3696" y="2496"/>
              <a:ext cx="0"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3" name="Rectangle 43"/>
          <p:cNvSpPr>
            <a:spLocks noChangeArrowheads="1"/>
          </p:cNvSpPr>
          <p:nvPr/>
        </p:nvSpPr>
        <p:spPr bwMode="auto">
          <a:xfrm>
            <a:off x="9953103" y="2376498"/>
            <a:ext cx="1055688" cy="3087688"/>
          </a:xfrm>
          <a:prstGeom prst="rect">
            <a:avLst/>
          </a:prstGeom>
          <a:solidFill>
            <a:srgbClr val="99CCFF"/>
          </a:solidFill>
          <a:ln>
            <a:noFill/>
          </a:ln>
          <a:extLst>
            <a:ext uri="{91240B29-F687-4F45-9708-019B960494DF}">
              <a14:hiddenLine xmlns:a14="http://schemas.microsoft.com/office/drawing/2010/main" w="12700" cap="rnd">
                <a:solidFill>
                  <a:srgbClr val="000000"/>
                </a:solidFill>
                <a:miter lim="800000"/>
                <a:headEnd/>
                <a:tailEnd/>
              </a14:hiddenLine>
            </a:ext>
          </a:extLst>
        </p:spPr>
        <p:txBody>
          <a:bodyPr wrap="none" anchor="ctr"/>
          <a:lstStyle/>
          <a:p>
            <a:pPr algn="ctr">
              <a:spcBef>
                <a:spcPct val="0"/>
              </a:spcBef>
              <a:buClrTx/>
              <a:buSzTx/>
              <a:buFontTx/>
              <a:buNone/>
            </a:pPr>
            <a:endParaRPr lang="zh-CN" altLang="en-US"/>
          </a:p>
        </p:txBody>
      </p:sp>
      <p:sp>
        <p:nvSpPr>
          <p:cNvPr id="54" name="Line 44"/>
          <p:cNvSpPr>
            <a:spLocks noChangeShapeType="1"/>
          </p:cNvSpPr>
          <p:nvPr/>
        </p:nvSpPr>
        <p:spPr bwMode="auto">
          <a:xfrm>
            <a:off x="10516137" y="2376498"/>
            <a:ext cx="0" cy="3087688"/>
          </a:xfrm>
          <a:prstGeom prst="line">
            <a:avLst/>
          </a:prstGeom>
          <a:noFill/>
          <a:ln w="28575" cap="rnd">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45"/>
          <p:cNvSpPr>
            <a:spLocks noChangeShapeType="1"/>
          </p:cNvSpPr>
          <p:nvPr/>
        </p:nvSpPr>
        <p:spPr bwMode="auto">
          <a:xfrm>
            <a:off x="9953103" y="2681298"/>
            <a:ext cx="1055688" cy="0"/>
          </a:xfrm>
          <a:prstGeom prst="line">
            <a:avLst/>
          </a:prstGeom>
          <a:noFill/>
          <a:ln w="28575" cap="rnd">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46"/>
          <p:cNvSpPr>
            <a:spLocks noChangeShapeType="1"/>
          </p:cNvSpPr>
          <p:nvPr/>
        </p:nvSpPr>
        <p:spPr bwMode="auto">
          <a:xfrm>
            <a:off x="9953103" y="3021023"/>
            <a:ext cx="1055688" cy="0"/>
          </a:xfrm>
          <a:prstGeom prst="line">
            <a:avLst/>
          </a:prstGeom>
          <a:noFill/>
          <a:ln w="28575" cap="rnd">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47"/>
          <p:cNvSpPr>
            <a:spLocks noChangeShapeType="1"/>
          </p:cNvSpPr>
          <p:nvPr/>
        </p:nvSpPr>
        <p:spPr bwMode="auto">
          <a:xfrm>
            <a:off x="9953103" y="5119698"/>
            <a:ext cx="1055688" cy="0"/>
          </a:xfrm>
          <a:prstGeom prst="line">
            <a:avLst/>
          </a:prstGeom>
          <a:noFill/>
          <a:ln w="28575" cap="rnd">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48"/>
          <p:cNvSpPr>
            <a:spLocks noChangeShapeType="1"/>
          </p:cNvSpPr>
          <p:nvPr/>
        </p:nvSpPr>
        <p:spPr bwMode="auto">
          <a:xfrm>
            <a:off x="9953103" y="3367098"/>
            <a:ext cx="1055688" cy="0"/>
          </a:xfrm>
          <a:prstGeom prst="line">
            <a:avLst/>
          </a:prstGeom>
          <a:noFill/>
          <a:ln w="28575" cap="rnd">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49"/>
          <p:cNvSpPr>
            <a:spLocks noChangeShapeType="1"/>
          </p:cNvSpPr>
          <p:nvPr/>
        </p:nvSpPr>
        <p:spPr bwMode="auto">
          <a:xfrm>
            <a:off x="9953103" y="3711586"/>
            <a:ext cx="1055688" cy="0"/>
          </a:xfrm>
          <a:prstGeom prst="line">
            <a:avLst/>
          </a:prstGeom>
          <a:noFill/>
          <a:ln w="28575" cap="rnd">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0"/>
          <p:cNvSpPr>
            <a:spLocks noChangeShapeType="1"/>
          </p:cNvSpPr>
          <p:nvPr/>
        </p:nvSpPr>
        <p:spPr bwMode="auto">
          <a:xfrm>
            <a:off x="9953103" y="4049723"/>
            <a:ext cx="1055688" cy="0"/>
          </a:xfrm>
          <a:prstGeom prst="line">
            <a:avLst/>
          </a:prstGeom>
          <a:noFill/>
          <a:ln w="28575" cap="rnd">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51"/>
          <p:cNvSpPr>
            <a:spLocks noChangeShapeType="1"/>
          </p:cNvSpPr>
          <p:nvPr/>
        </p:nvSpPr>
        <p:spPr bwMode="auto">
          <a:xfrm>
            <a:off x="9953103" y="4432311"/>
            <a:ext cx="1055688" cy="0"/>
          </a:xfrm>
          <a:prstGeom prst="line">
            <a:avLst/>
          </a:prstGeom>
          <a:noFill/>
          <a:ln w="28575" cap="rnd">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52"/>
          <p:cNvSpPr>
            <a:spLocks noChangeShapeType="1"/>
          </p:cNvSpPr>
          <p:nvPr/>
        </p:nvSpPr>
        <p:spPr bwMode="auto">
          <a:xfrm>
            <a:off x="9953103" y="4776798"/>
            <a:ext cx="1055688" cy="0"/>
          </a:xfrm>
          <a:prstGeom prst="line">
            <a:avLst/>
          </a:prstGeom>
          <a:noFill/>
          <a:ln w="28575" cap="rnd">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53"/>
          <p:cNvSpPr>
            <a:spLocks noChangeShapeType="1"/>
          </p:cNvSpPr>
          <p:nvPr/>
        </p:nvSpPr>
        <p:spPr bwMode="auto">
          <a:xfrm>
            <a:off x="9953103" y="5464186"/>
            <a:ext cx="1055688" cy="0"/>
          </a:xfrm>
          <a:prstGeom prst="line">
            <a:avLst/>
          </a:prstGeom>
          <a:noFill/>
          <a:ln w="28575" cap="rnd">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Text Box 54"/>
          <p:cNvSpPr txBox="1">
            <a:spLocks noChangeArrowheads="1"/>
          </p:cNvSpPr>
          <p:nvPr/>
        </p:nvSpPr>
        <p:spPr bwMode="auto">
          <a:xfrm>
            <a:off x="9918178" y="1978597"/>
            <a:ext cx="1125538" cy="3585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15000"/>
              </a:spcBef>
              <a:buClrTx/>
              <a:buSzTx/>
              <a:buFontTx/>
              <a:buNone/>
            </a:pPr>
            <a:r>
              <a:rPr lang="en-US" altLang="zh-CN" sz="2000" b="1" dirty="0">
                <a:latin typeface="隶书" pitchFamily="49" charset="-122"/>
                <a:ea typeface="隶书" pitchFamily="49" charset="-122"/>
              </a:rPr>
              <a:t>      </a:t>
            </a:r>
          </a:p>
          <a:p>
            <a:pPr algn="l">
              <a:spcBef>
                <a:spcPct val="15000"/>
              </a:spcBef>
              <a:buClrTx/>
              <a:buSzTx/>
              <a:buFontTx/>
              <a:buNone/>
            </a:pPr>
            <a:r>
              <a:rPr lang="en-US" altLang="zh-CN" sz="2000" b="1" dirty="0">
                <a:latin typeface="隶书" pitchFamily="49" charset="-122"/>
                <a:ea typeface="隶书" pitchFamily="49" charset="-122"/>
              </a:rPr>
              <a:t> A   -1  </a:t>
            </a:r>
          </a:p>
          <a:p>
            <a:pPr algn="l">
              <a:spcBef>
                <a:spcPct val="15000"/>
              </a:spcBef>
              <a:buClrTx/>
              <a:buSzTx/>
              <a:buFontTx/>
              <a:buNone/>
            </a:pPr>
            <a:r>
              <a:rPr lang="en-US" altLang="zh-CN" sz="2000" b="1" dirty="0">
                <a:latin typeface="隶书" pitchFamily="49" charset="-122"/>
                <a:ea typeface="隶书" pitchFamily="49" charset="-122"/>
              </a:rPr>
              <a:t> B    0</a:t>
            </a:r>
          </a:p>
          <a:p>
            <a:pPr algn="l">
              <a:spcBef>
                <a:spcPct val="15000"/>
              </a:spcBef>
              <a:buClrTx/>
              <a:buSzTx/>
              <a:buFontTx/>
              <a:buNone/>
            </a:pPr>
            <a:r>
              <a:rPr lang="en-US" altLang="zh-CN" sz="2000" b="1" dirty="0">
                <a:latin typeface="隶书" pitchFamily="49" charset="-122"/>
                <a:ea typeface="隶书" pitchFamily="49" charset="-122"/>
              </a:rPr>
              <a:t> C    0</a:t>
            </a:r>
          </a:p>
          <a:p>
            <a:pPr algn="l">
              <a:spcBef>
                <a:spcPct val="15000"/>
              </a:spcBef>
              <a:buClrTx/>
              <a:buSzTx/>
              <a:buFontTx/>
              <a:buNone/>
            </a:pPr>
            <a:r>
              <a:rPr lang="en-US" altLang="zh-CN" sz="2000" b="1" dirty="0">
                <a:latin typeface="隶书" pitchFamily="49" charset="-122"/>
                <a:ea typeface="隶书" pitchFamily="49" charset="-122"/>
              </a:rPr>
              <a:t> D    1</a:t>
            </a:r>
          </a:p>
          <a:p>
            <a:pPr algn="l">
              <a:spcBef>
                <a:spcPct val="15000"/>
              </a:spcBef>
              <a:buClrTx/>
              <a:buSzTx/>
              <a:buFontTx/>
              <a:buNone/>
            </a:pPr>
            <a:r>
              <a:rPr lang="en-US" altLang="zh-CN" sz="2000" b="1" dirty="0">
                <a:latin typeface="隶书" pitchFamily="49" charset="-122"/>
                <a:ea typeface="隶书" pitchFamily="49" charset="-122"/>
              </a:rPr>
              <a:t> E    1</a:t>
            </a:r>
          </a:p>
          <a:p>
            <a:pPr algn="l">
              <a:spcBef>
                <a:spcPct val="15000"/>
              </a:spcBef>
              <a:buClrTx/>
              <a:buSzTx/>
              <a:buFontTx/>
              <a:buNone/>
            </a:pPr>
            <a:r>
              <a:rPr lang="en-US" altLang="zh-CN" sz="2000" b="1" dirty="0">
                <a:latin typeface="隶书" pitchFamily="49" charset="-122"/>
                <a:ea typeface="隶书" pitchFamily="49" charset="-122"/>
              </a:rPr>
              <a:t> F    2</a:t>
            </a:r>
          </a:p>
          <a:p>
            <a:pPr algn="l">
              <a:spcBef>
                <a:spcPct val="15000"/>
              </a:spcBef>
              <a:buClrTx/>
              <a:buSzTx/>
              <a:buFontTx/>
              <a:buNone/>
            </a:pPr>
            <a:r>
              <a:rPr lang="en-US" altLang="zh-CN" sz="2000" b="1" dirty="0">
                <a:latin typeface="隶书" pitchFamily="49" charset="-122"/>
                <a:ea typeface="隶书" pitchFamily="49" charset="-122"/>
              </a:rPr>
              <a:t> G    4</a:t>
            </a:r>
          </a:p>
          <a:p>
            <a:pPr algn="l">
              <a:spcBef>
                <a:spcPct val="15000"/>
              </a:spcBef>
              <a:buClrTx/>
              <a:buSzTx/>
              <a:buFontTx/>
              <a:buNone/>
            </a:pPr>
            <a:r>
              <a:rPr lang="en-US" altLang="zh-CN" sz="2000" b="1" dirty="0">
                <a:latin typeface="隶书" pitchFamily="49" charset="-122"/>
                <a:ea typeface="隶书" pitchFamily="49" charset="-122"/>
              </a:rPr>
              <a:t> H    4</a:t>
            </a:r>
          </a:p>
          <a:p>
            <a:pPr algn="l">
              <a:spcBef>
                <a:spcPct val="15000"/>
              </a:spcBef>
              <a:buClrTx/>
              <a:buSzTx/>
              <a:buFontTx/>
              <a:buNone/>
            </a:pPr>
            <a:r>
              <a:rPr lang="en-US" altLang="zh-CN" sz="2000" b="1" dirty="0">
                <a:latin typeface="隶书" pitchFamily="49" charset="-122"/>
                <a:ea typeface="隶书" pitchFamily="49" charset="-122"/>
              </a:rPr>
              <a:t> I    4</a:t>
            </a:r>
          </a:p>
        </p:txBody>
      </p:sp>
      <p:sp>
        <p:nvSpPr>
          <p:cNvPr id="50" name="Text Box 55"/>
          <p:cNvSpPr txBox="1">
            <a:spLocks noChangeArrowheads="1"/>
          </p:cNvSpPr>
          <p:nvPr/>
        </p:nvSpPr>
        <p:spPr bwMode="auto">
          <a:xfrm>
            <a:off x="9179197" y="2285216"/>
            <a:ext cx="703263"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spcBef>
                <a:spcPct val="15000"/>
              </a:spcBef>
              <a:buClrTx/>
              <a:buSzTx/>
              <a:buFontTx/>
              <a:buNone/>
            </a:pPr>
            <a:r>
              <a:rPr lang="en-US" altLang="zh-CN" sz="2000" b="1" dirty="0">
                <a:latin typeface="隶书" pitchFamily="49" charset="-122"/>
                <a:ea typeface="隶书" pitchFamily="49" charset="-122"/>
              </a:rPr>
              <a:t>0</a:t>
            </a:r>
          </a:p>
          <a:p>
            <a:pPr>
              <a:spcBef>
                <a:spcPct val="15000"/>
              </a:spcBef>
              <a:buClrTx/>
              <a:buSzTx/>
              <a:buFontTx/>
              <a:buNone/>
            </a:pPr>
            <a:r>
              <a:rPr lang="en-US" altLang="zh-CN" sz="2000" b="1" dirty="0">
                <a:latin typeface="隶书" pitchFamily="49" charset="-122"/>
                <a:ea typeface="隶书" pitchFamily="49" charset="-122"/>
              </a:rPr>
              <a:t>1</a:t>
            </a:r>
          </a:p>
          <a:p>
            <a:pPr>
              <a:spcBef>
                <a:spcPct val="15000"/>
              </a:spcBef>
              <a:buClrTx/>
              <a:buSzTx/>
              <a:buFontTx/>
              <a:buNone/>
            </a:pPr>
            <a:r>
              <a:rPr lang="en-US" altLang="zh-CN" sz="2000" b="1" dirty="0">
                <a:latin typeface="隶书" pitchFamily="49" charset="-122"/>
                <a:ea typeface="隶书" pitchFamily="49" charset="-122"/>
              </a:rPr>
              <a:t>2</a:t>
            </a:r>
          </a:p>
          <a:p>
            <a:pPr>
              <a:spcBef>
                <a:spcPct val="15000"/>
              </a:spcBef>
              <a:buClrTx/>
              <a:buSzTx/>
              <a:buFontTx/>
              <a:buNone/>
            </a:pPr>
            <a:r>
              <a:rPr lang="en-US" altLang="zh-CN" sz="2000" b="1" dirty="0">
                <a:latin typeface="隶书" pitchFamily="49" charset="-122"/>
                <a:ea typeface="隶书" pitchFamily="49" charset="-122"/>
              </a:rPr>
              <a:t>3</a:t>
            </a:r>
          </a:p>
          <a:p>
            <a:pPr>
              <a:spcBef>
                <a:spcPct val="15000"/>
              </a:spcBef>
              <a:buClrTx/>
              <a:buSzTx/>
              <a:buFontTx/>
              <a:buNone/>
            </a:pPr>
            <a:r>
              <a:rPr lang="en-US" altLang="zh-CN" sz="2000" b="1" dirty="0">
                <a:latin typeface="隶书" pitchFamily="49" charset="-122"/>
                <a:ea typeface="隶书" pitchFamily="49" charset="-122"/>
              </a:rPr>
              <a:t>4</a:t>
            </a:r>
          </a:p>
          <a:p>
            <a:pPr>
              <a:spcBef>
                <a:spcPct val="15000"/>
              </a:spcBef>
              <a:buClrTx/>
              <a:buSzTx/>
              <a:buFontTx/>
              <a:buNone/>
            </a:pPr>
            <a:r>
              <a:rPr lang="en-US" altLang="zh-CN" sz="2000" b="1" dirty="0">
                <a:latin typeface="隶书" pitchFamily="49" charset="-122"/>
                <a:ea typeface="隶书" pitchFamily="49" charset="-122"/>
              </a:rPr>
              <a:t>5</a:t>
            </a:r>
          </a:p>
          <a:p>
            <a:pPr>
              <a:spcBef>
                <a:spcPct val="15000"/>
              </a:spcBef>
              <a:buClrTx/>
              <a:buSzTx/>
              <a:buFontTx/>
              <a:buNone/>
            </a:pPr>
            <a:r>
              <a:rPr lang="en-US" altLang="zh-CN" sz="2000" b="1" dirty="0">
                <a:latin typeface="隶书" pitchFamily="49" charset="-122"/>
                <a:ea typeface="隶书" pitchFamily="49" charset="-122"/>
              </a:rPr>
              <a:t>6</a:t>
            </a:r>
          </a:p>
          <a:p>
            <a:pPr>
              <a:spcBef>
                <a:spcPct val="15000"/>
              </a:spcBef>
              <a:buClrTx/>
              <a:buSzTx/>
              <a:buFontTx/>
              <a:buNone/>
            </a:pPr>
            <a:r>
              <a:rPr lang="en-US" altLang="zh-CN" sz="2000" b="1" dirty="0">
                <a:latin typeface="隶书" pitchFamily="49" charset="-122"/>
                <a:ea typeface="隶书" pitchFamily="49" charset="-122"/>
              </a:rPr>
              <a:t>7</a:t>
            </a:r>
          </a:p>
          <a:p>
            <a:pPr>
              <a:spcBef>
                <a:spcPct val="15000"/>
              </a:spcBef>
              <a:buClrTx/>
              <a:buSzTx/>
              <a:buFontTx/>
              <a:buNone/>
            </a:pPr>
            <a:r>
              <a:rPr lang="en-US" altLang="zh-CN" sz="2000" b="1" dirty="0">
                <a:latin typeface="隶书" pitchFamily="49" charset="-122"/>
                <a:ea typeface="隶书" pitchFamily="49" charset="-122"/>
              </a:rPr>
              <a:t>8</a:t>
            </a:r>
          </a:p>
        </p:txBody>
      </p:sp>
      <p:sp>
        <p:nvSpPr>
          <p:cNvPr id="52" name="Text Box 56"/>
          <p:cNvSpPr txBox="1">
            <a:spLocks noChangeArrowheads="1"/>
          </p:cNvSpPr>
          <p:nvPr/>
        </p:nvSpPr>
        <p:spPr bwMode="auto">
          <a:xfrm>
            <a:off x="9887250" y="1967245"/>
            <a:ext cx="13933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1800" dirty="0">
                <a:latin typeface="Times New Roman" pitchFamily="18" charset="0"/>
                <a:ea typeface="+mn-ea"/>
              </a:rPr>
              <a:t>data   parent  </a:t>
            </a:r>
          </a:p>
        </p:txBody>
      </p:sp>
      <p:sp>
        <p:nvSpPr>
          <p:cNvPr id="2" name="矩形 1"/>
          <p:cNvSpPr/>
          <p:nvPr/>
        </p:nvSpPr>
        <p:spPr>
          <a:xfrm>
            <a:off x="1011667" y="1602603"/>
            <a:ext cx="1874231"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、双亲表示法</a:t>
            </a:r>
          </a:p>
        </p:txBody>
      </p:sp>
      <p:sp>
        <p:nvSpPr>
          <p:cNvPr id="71" name="矩形 70"/>
          <p:cNvSpPr/>
          <p:nvPr/>
        </p:nvSpPr>
        <p:spPr>
          <a:xfrm>
            <a:off x="9396260" y="1799018"/>
            <a:ext cx="325730" cy="369332"/>
          </a:xfrm>
          <a:prstGeom prst="rect">
            <a:avLst/>
          </a:prstGeom>
        </p:spPr>
        <p:txBody>
          <a:bodyPr wrap="none">
            <a:spAutoFit/>
          </a:bodyPr>
          <a:lstStyle/>
          <a:p>
            <a:r>
              <a:rPr lang="en-US" altLang="zh-CN" dirty="0">
                <a:latin typeface="Times New Roman" pitchFamily="18" charset="0"/>
              </a:rPr>
              <a:t>T</a:t>
            </a:r>
            <a:endParaRPr lang="zh-CN" altLang="en-US" dirty="0"/>
          </a:p>
        </p:txBody>
      </p:sp>
      <p:sp>
        <p:nvSpPr>
          <p:cNvPr id="3" name="矩形 2">
            <a:extLst>
              <a:ext uri="{FF2B5EF4-FFF2-40B4-BE49-F238E27FC236}">
                <a16:creationId xmlns:a16="http://schemas.microsoft.com/office/drawing/2014/main" xmlns="" id="{8E3E6230-CACC-FBA7-91E9-21E5147BF064}"/>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5" name="Rectangle 2">
            <a:extLst>
              <a:ext uri="{FF2B5EF4-FFF2-40B4-BE49-F238E27FC236}">
                <a16:creationId xmlns:a16="http://schemas.microsoft.com/office/drawing/2014/main" xmlns="" id="{CD6DB1B7-0ED5-66CA-8A2A-D9CDA6E2D720}"/>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7.1.6 </a:t>
            </a:r>
            <a:r>
              <a:rPr lang="zh-CN" altLang="en-US" dirty="0"/>
              <a:t>树的存储结构</a:t>
            </a:r>
          </a:p>
        </p:txBody>
      </p:sp>
      <p:cxnSp>
        <p:nvCxnSpPr>
          <p:cNvPr id="6" name="直接连接符 5">
            <a:extLst>
              <a:ext uri="{FF2B5EF4-FFF2-40B4-BE49-F238E27FC236}">
                <a16:creationId xmlns:a16="http://schemas.microsoft.com/office/drawing/2014/main" xmlns="" id="{D7BABEF9-7D3B-264F-4A6F-3EEBF6A2238C}"/>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0" name="Text Box 4">
            <a:extLst>
              <a:ext uri="{FF2B5EF4-FFF2-40B4-BE49-F238E27FC236}">
                <a16:creationId xmlns:a16="http://schemas.microsoft.com/office/drawing/2014/main" xmlns="" id="{511A15FC-625B-A272-D699-D865F1332346}"/>
              </a:ext>
            </a:extLst>
          </p:cNvPr>
          <p:cNvSpPr txBox="1">
            <a:spLocks noChangeArrowheads="1"/>
          </p:cNvSpPr>
          <p:nvPr/>
        </p:nvSpPr>
        <p:spPr bwMode="auto">
          <a:xfrm>
            <a:off x="1125215" y="3204210"/>
            <a:ext cx="4618455" cy="1769303"/>
          </a:xfrm>
          <a:prstGeom prst="rect">
            <a:avLst/>
          </a:prstGeom>
          <a:solidFill>
            <a:schemeClr val="bg1">
              <a:lumMod val="95000"/>
            </a:schemeClr>
          </a:solidFill>
          <a:ln>
            <a:headEnd/>
            <a:tailEnd/>
          </a:ln>
        </p:spPr>
        <p:style>
          <a:lnRef idx="1">
            <a:schemeClr val="accent3"/>
          </a:lnRef>
          <a:fillRef idx="2">
            <a:schemeClr val="accent3"/>
          </a:fillRef>
          <a:effectRef idx="1">
            <a:schemeClr val="accent3"/>
          </a:effectRef>
          <a:fontRef idx="minor">
            <a:schemeClr val="dk1"/>
          </a:fontRef>
        </p:style>
        <p:txBody>
          <a:bodyPr wrap="square" lIns="144000" tIns="108000" rIns="144000" bIns="108000">
            <a:spAutoFit/>
          </a:bodyPr>
          <a:lstStyle/>
          <a:p>
            <a:pPr algn="l">
              <a:lnSpc>
                <a:spcPct val="140000"/>
              </a:lnSpc>
            </a:pPr>
            <a:r>
              <a:rPr lang="en-US" altLang="zh-CN" sz="1800" dirty="0">
                <a:solidFill>
                  <a:srgbClr val="3333FF"/>
                </a:solidFill>
                <a:latin typeface="Consolas" pitchFamily="49" charset="0"/>
                <a:ea typeface="仿宋" pitchFamily="49" charset="-122"/>
                <a:cs typeface="Consolas" pitchFamily="49" charset="0"/>
              </a:rPr>
              <a:t>typedef struct </a:t>
            </a:r>
          </a:p>
          <a:p>
            <a:pPr algn="l">
              <a:lnSpc>
                <a:spcPct val="140000"/>
              </a:lnSpc>
            </a:pPr>
            <a:r>
              <a:rPr lang="en-US" altLang="zh-CN" sz="1800" dirty="0">
                <a:solidFill>
                  <a:srgbClr val="3333FF"/>
                </a:solidFill>
                <a:latin typeface="Consolas" pitchFamily="49" charset="0"/>
                <a:ea typeface="仿宋" pitchFamily="49" charset="-122"/>
                <a:cs typeface="Consolas" pitchFamily="49" charset="0"/>
              </a:rPr>
              <a:t>{</a:t>
            </a:r>
            <a:r>
              <a:rPr lang="zh-CN" altLang="en-US" sz="1800" dirty="0">
                <a:solidFill>
                  <a:srgbClr val="3333FF"/>
                </a:solidFill>
                <a:latin typeface="Consolas" pitchFamily="49" charset="0"/>
                <a:ea typeface="仿宋" pitchFamily="49" charset="-122"/>
                <a:cs typeface="Consolas" pitchFamily="49" charset="0"/>
              </a:rPr>
              <a:t>  </a:t>
            </a:r>
            <a:r>
              <a:rPr lang="en-US" altLang="zh-CN" sz="1800" dirty="0" err="1">
                <a:solidFill>
                  <a:srgbClr val="3333FF"/>
                </a:solidFill>
                <a:latin typeface="Consolas" pitchFamily="49" charset="0"/>
                <a:ea typeface="仿宋" pitchFamily="49" charset="-122"/>
                <a:cs typeface="Consolas" pitchFamily="49" charset="0"/>
              </a:rPr>
              <a:t>ElemType</a:t>
            </a:r>
            <a:r>
              <a:rPr lang="en-US" altLang="zh-CN" sz="1800" dirty="0">
                <a:solidFill>
                  <a:srgbClr val="3333FF"/>
                </a:solidFill>
                <a:latin typeface="Consolas" pitchFamily="49" charset="0"/>
                <a:ea typeface="仿宋" pitchFamily="49" charset="-122"/>
                <a:cs typeface="Consolas" pitchFamily="49" charset="0"/>
              </a:rPr>
              <a:t> data;</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结点的值</a:t>
            </a:r>
          </a:p>
          <a:p>
            <a:pPr algn="l">
              <a:lnSpc>
                <a:spcPct val="140000"/>
              </a:lnSpc>
            </a:pPr>
            <a:r>
              <a:rPr lang="zh-CN" altLang="en-US" sz="1800" dirty="0">
                <a:solidFill>
                  <a:srgbClr val="3333FF"/>
                </a:solidFill>
                <a:latin typeface="Consolas" pitchFamily="49" charset="0"/>
                <a:ea typeface="仿宋" pitchFamily="49" charset="-122"/>
                <a:cs typeface="Consolas" pitchFamily="49" charset="0"/>
              </a:rPr>
              <a:t>   </a:t>
            </a:r>
            <a:r>
              <a:rPr lang="en-US" altLang="zh-CN" sz="1800" dirty="0">
                <a:solidFill>
                  <a:srgbClr val="3333FF"/>
                </a:solidFill>
                <a:latin typeface="Consolas" pitchFamily="49" charset="0"/>
                <a:ea typeface="仿宋" pitchFamily="49" charset="-122"/>
                <a:cs typeface="Consolas" pitchFamily="49" charset="0"/>
              </a:rPr>
              <a:t>int parent;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指向双亲的位置</a:t>
            </a:r>
          </a:p>
          <a:p>
            <a:pPr algn="l">
              <a:lnSpc>
                <a:spcPct val="140000"/>
              </a:lnSpc>
            </a:pPr>
            <a:r>
              <a:rPr lang="en-US" altLang="zh-CN" sz="1800" dirty="0">
                <a:solidFill>
                  <a:srgbClr val="3333FF"/>
                </a:solidFill>
                <a:latin typeface="Consolas" pitchFamily="49" charset="0"/>
                <a:ea typeface="仿宋" pitchFamily="49" charset="-122"/>
                <a:cs typeface="Consolas" pitchFamily="49" charset="0"/>
              </a:rPr>
              <a:t>} </a:t>
            </a:r>
            <a:r>
              <a:rPr lang="en-US" altLang="zh-CN" sz="1800" dirty="0" err="1">
                <a:solidFill>
                  <a:srgbClr val="FF0000"/>
                </a:solidFill>
                <a:latin typeface="Consolas" pitchFamily="49" charset="0"/>
                <a:ea typeface="仿宋" pitchFamily="49" charset="-122"/>
                <a:cs typeface="Consolas" pitchFamily="49" charset="0"/>
              </a:rPr>
              <a:t>PTree</a:t>
            </a:r>
            <a:r>
              <a:rPr lang="en-US" altLang="zh-CN" sz="1800" dirty="0">
                <a:solidFill>
                  <a:srgbClr val="3333FF"/>
                </a:solidFill>
                <a:latin typeface="Consolas" pitchFamily="49" charset="0"/>
                <a:ea typeface="仿宋" pitchFamily="49" charset="-122"/>
                <a:cs typeface="Consolas" pitchFamily="49" charset="0"/>
              </a:rPr>
              <a:t>[</a:t>
            </a:r>
            <a:r>
              <a:rPr lang="en-US" altLang="zh-CN" sz="1800" dirty="0" err="1">
                <a:solidFill>
                  <a:srgbClr val="3333FF"/>
                </a:solidFill>
                <a:latin typeface="Consolas" pitchFamily="49" charset="0"/>
                <a:ea typeface="仿宋" pitchFamily="49" charset="-122"/>
                <a:cs typeface="Consolas" pitchFamily="49" charset="0"/>
              </a:rPr>
              <a:t>MaxSize</a:t>
            </a:r>
            <a:r>
              <a:rPr lang="en-US" altLang="zh-CN" sz="1800" dirty="0">
                <a:solidFill>
                  <a:srgbClr val="3333FF"/>
                </a:solidFill>
                <a:latin typeface="Consolas" pitchFamily="49" charset="0"/>
                <a:ea typeface="仿宋" pitchFamily="49" charset="-122"/>
                <a:cs typeface="Consolas" pitchFamily="49" charset="0"/>
              </a:rPr>
              <a:t>];</a:t>
            </a:r>
          </a:p>
        </p:txBody>
      </p:sp>
      <p:sp>
        <p:nvSpPr>
          <p:cNvPr id="4" name="矩形 3">
            <a:extLst>
              <a:ext uri="{FF2B5EF4-FFF2-40B4-BE49-F238E27FC236}">
                <a16:creationId xmlns:a16="http://schemas.microsoft.com/office/drawing/2014/main" xmlns="" id="{A068B5ED-1F96-494A-DCE3-21C48FAF4D0E}"/>
              </a:ext>
            </a:extLst>
          </p:cNvPr>
          <p:cNvSpPr/>
          <p:nvPr/>
        </p:nvSpPr>
        <p:spPr>
          <a:xfrm>
            <a:off x="1035326" y="5222750"/>
            <a:ext cx="1044388" cy="369332"/>
          </a:xfrm>
          <a:prstGeom prst="rect">
            <a:avLst/>
          </a:prstGeom>
        </p:spPr>
        <p:txBody>
          <a:bodyPr wrap="none">
            <a:spAutoFit/>
          </a:bodyPr>
          <a:lstStyle/>
          <a:p>
            <a:r>
              <a:rPr lang="en-US" altLang="zh-CN" dirty="0" err="1">
                <a:latin typeface="Times New Roman" pitchFamily="18" charset="0"/>
              </a:rPr>
              <a:t>PTree</a:t>
            </a:r>
            <a:r>
              <a:rPr lang="en-US" altLang="zh-CN" dirty="0">
                <a:latin typeface="Times New Roman" pitchFamily="18" charset="0"/>
              </a:rPr>
              <a:t>  T;</a:t>
            </a:r>
            <a:endParaRPr lang="zh-CN" altLang="en-US" dirty="0"/>
          </a:p>
        </p:txBody>
      </p:sp>
    </p:spTree>
    <p:extLst>
      <p:ext uri="{BB962C8B-B14F-4D97-AF65-F5344CB8AC3E}">
        <p14:creationId xmlns:p14="http://schemas.microsoft.com/office/powerpoint/2010/main" val="3000675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3"/>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61"/>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6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9"/>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50"/>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2"/>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7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49" grpId="0"/>
      <p:bldP spid="50" grpId="0"/>
      <p:bldP spid="52" grpId="0"/>
      <p:bldP spid="71"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94891" y="2044919"/>
            <a:ext cx="10564888" cy="400110"/>
          </a:xfrm>
          <a:prstGeom prst="rect">
            <a:avLst/>
          </a:prstGeom>
        </p:spPr>
        <p:txBody>
          <a:bodyPr wrap="square">
            <a:spAutoFit/>
          </a:bodyPr>
          <a:lstStyle/>
          <a:p>
            <a:pPr>
              <a:defRPr/>
            </a:pPr>
            <a:r>
              <a:rPr kumimoji="1" lang="zh-CN" altLang="en-US" sz="2000" dirty="0">
                <a:latin typeface="微软雅黑" pitchFamily="34" charset="-122"/>
                <a:ea typeface="微软雅黑" pitchFamily="34" charset="-122"/>
                <a:cs typeface="经典粗黑简" pitchFamily="49" charset="-122"/>
              </a:rPr>
              <a:t>孩子链存储结构：若树的度为</a:t>
            </a:r>
            <a:r>
              <a:rPr kumimoji="1" lang="en-US" altLang="zh-CN" sz="2000" dirty="0">
                <a:latin typeface="微软雅黑" pitchFamily="34" charset="-122"/>
                <a:ea typeface="微软雅黑" pitchFamily="34" charset="-122"/>
                <a:cs typeface="经典粗黑简" pitchFamily="49" charset="-122"/>
              </a:rPr>
              <a:t>k</a:t>
            </a:r>
            <a:r>
              <a:rPr kumimoji="1" lang="zh-CN" altLang="en-US" sz="2000" dirty="0">
                <a:latin typeface="微软雅黑" pitchFamily="34" charset="-122"/>
                <a:ea typeface="微软雅黑" pitchFamily="34" charset="-122"/>
                <a:cs typeface="经典粗黑简" pitchFamily="49" charset="-122"/>
              </a:rPr>
              <a:t>，则在结点结构中设置</a:t>
            </a:r>
            <a:r>
              <a:rPr kumimoji="1" lang="en-US" altLang="zh-CN" sz="2000" dirty="0">
                <a:latin typeface="微软雅黑" pitchFamily="34" charset="-122"/>
                <a:ea typeface="微软雅黑" pitchFamily="34" charset="-122"/>
                <a:cs typeface="经典粗黑简" pitchFamily="49" charset="-122"/>
              </a:rPr>
              <a:t>k</a:t>
            </a:r>
            <a:r>
              <a:rPr kumimoji="1" lang="zh-CN" altLang="en-US" sz="2000" dirty="0">
                <a:latin typeface="微软雅黑" pitchFamily="34" charset="-122"/>
                <a:ea typeface="微软雅黑" pitchFamily="34" charset="-122"/>
                <a:cs typeface="经典粗黑简" pitchFamily="49" charset="-122"/>
              </a:rPr>
              <a:t>个孩子指针域，使所有结点同构。 </a:t>
            </a:r>
          </a:p>
        </p:txBody>
      </p:sp>
      <p:sp>
        <p:nvSpPr>
          <p:cNvPr id="4" name="矩形 3">
            <a:extLst>
              <a:ext uri="{FF2B5EF4-FFF2-40B4-BE49-F238E27FC236}">
                <a16:creationId xmlns:a16="http://schemas.microsoft.com/office/drawing/2014/main" xmlns="" id="{2C54A58B-8B5C-D94D-25D1-7B76C25F4573}"/>
              </a:ext>
            </a:extLst>
          </p:cNvPr>
          <p:cNvSpPr/>
          <p:nvPr/>
        </p:nvSpPr>
        <p:spPr>
          <a:xfrm>
            <a:off x="1011667" y="1602603"/>
            <a:ext cx="2387192"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、孩子链存储结构</a:t>
            </a:r>
          </a:p>
        </p:txBody>
      </p:sp>
      <p:sp>
        <p:nvSpPr>
          <p:cNvPr id="5" name="矩形 4">
            <a:extLst>
              <a:ext uri="{FF2B5EF4-FFF2-40B4-BE49-F238E27FC236}">
                <a16:creationId xmlns:a16="http://schemas.microsoft.com/office/drawing/2014/main" xmlns="" id="{B286E2F1-458B-6E4C-F4D9-F64F1223C7FD}"/>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6" name="Rectangle 2">
            <a:extLst>
              <a:ext uri="{FF2B5EF4-FFF2-40B4-BE49-F238E27FC236}">
                <a16:creationId xmlns:a16="http://schemas.microsoft.com/office/drawing/2014/main" xmlns="" id="{18D43954-7485-2A7A-BA44-CC82DBBA8704}"/>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7.1.6 </a:t>
            </a:r>
            <a:r>
              <a:rPr lang="zh-CN" altLang="en-US" dirty="0"/>
              <a:t>树的存储结构</a:t>
            </a:r>
          </a:p>
        </p:txBody>
      </p:sp>
      <p:cxnSp>
        <p:nvCxnSpPr>
          <p:cNvPr id="8" name="直接连接符 7">
            <a:extLst>
              <a:ext uri="{FF2B5EF4-FFF2-40B4-BE49-F238E27FC236}">
                <a16:creationId xmlns:a16="http://schemas.microsoft.com/office/drawing/2014/main" xmlns="" id="{491D37CF-2301-94CC-C6A7-188EBC622E83}"/>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Rectangle 144">
            <a:extLst>
              <a:ext uri="{FF2B5EF4-FFF2-40B4-BE49-F238E27FC236}">
                <a16:creationId xmlns:a16="http://schemas.microsoft.com/office/drawing/2014/main" xmlns="" id="{0F536C6D-587F-63ED-B3B3-DB2A24BDF788}"/>
              </a:ext>
            </a:extLst>
          </p:cNvPr>
          <p:cNvSpPr>
            <a:spLocks noChangeArrowheads="1"/>
          </p:cNvSpPr>
          <p:nvPr/>
        </p:nvSpPr>
        <p:spPr bwMode="auto">
          <a:xfrm>
            <a:off x="3257616" y="4932663"/>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2" name="Rectangle 146">
            <a:extLst>
              <a:ext uri="{FF2B5EF4-FFF2-40B4-BE49-F238E27FC236}">
                <a16:creationId xmlns:a16="http://schemas.microsoft.com/office/drawing/2014/main" xmlns="" id="{06928809-D176-9FBF-8B15-F440F9BF4A06}"/>
              </a:ext>
            </a:extLst>
          </p:cNvPr>
          <p:cNvSpPr>
            <a:spLocks noChangeArrowheads="1"/>
          </p:cNvSpPr>
          <p:nvPr/>
        </p:nvSpPr>
        <p:spPr bwMode="auto">
          <a:xfrm>
            <a:off x="3257616" y="5046963"/>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3" name="Rectangle 249">
            <a:extLst>
              <a:ext uri="{FF2B5EF4-FFF2-40B4-BE49-F238E27FC236}">
                <a16:creationId xmlns:a16="http://schemas.microsoft.com/office/drawing/2014/main" xmlns="" id="{BE842DE5-A99E-7DA2-B926-B00DB9681A3D}"/>
              </a:ext>
            </a:extLst>
          </p:cNvPr>
          <p:cNvSpPr>
            <a:spLocks noChangeArrowheads="1"/>
          </p:cNvSpPr>
          <p:nvPr/>
        </p:nvSpPr>
        <p:spPr bwMode="auto">
          <a:xfrm>
            <a:off x="3257616" y="5046963"/>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14" name="Rectangle 252">
            <a:extLst>
              <a:ext uri="{FF2B5EF4-FFF2-40B4-BE49-F238E27FC236}">
                <a16:creationId xmlns:a16="http://schemas.microsoft.com/office/drawing/2014/main" xmlns="" id="{472E98E0-AF11-1006-05D7-0314C210B10B}"/>
              </a:ext>
            </a:extLst>
          </p:cNvPr>
          <p:cNvSpPr>
            <a:spLocks noChangeArrowheads="1"/>
          </p:cNvSpPr>
          <p:nvPr/>
        </p:nvSpPr>
        <p:spPr bwMode="auto">
          <a:xfrm>
            <a:off x="3257616" y="5046963"/>
            <a:ext cx="9144000" cy="0"/>
          </a:xfrm>
          <a:prstGeom prst="rect">
            <a:avLst/>
          </a:prstGeom>
          <a:noFill/>
          <a:ln w="9525">
            <a:noFill/>
            <a:miter lim="800000"/>
            <a:headEnd/>
            <a:tailEnd/>
          </a:ln>
          <a:effectLst/>
        </p:spPr>
        <p:txBody>
          <a:bodyPr wrap="none" anchor="ctr">
            <a:spAutoFit/>
          </a:bodyPr>
          <a:lstStyle/>
          <a:p>
            <a:endParaRPr lang="zh-CN" altLang="en-US"/>
          </a:p>
        </p:txBody>
      </p:sp>
      <p:grpSp>
        <p:nvGrpSpPr>
          <p:cNvPr id="15" name="组合 60">
            <a:extLst>
              <a:ext uri="{FF2B5EF4-FFF2-40B4-BE49-F238E27FC236}">
                <a16:creationId xmlns:a16="http://schemas.microsoft.com/office/drawing/2014/main" xmlns="" id="{B9205DDA-BBA8-714E-99AC-7828D56457E5}"/>
              </a:ext>
            </a:extLst>
          </p:cNvPr>
          <p:cNvGrpSpPr/>
          <p:nvPr/>
        </p:nvGrpSpPr>
        <p:grpSpPr>
          <a:xfrm>
            <a:off x="4768872" y="2410492"/>
            <a:ext cx="2087562" cy="2660650"/>
            <a:chOff x="142844" y="1500174"/>
            <a:chExt cx="2087562" cy="2660650"/>
          </a:xfrm>
        </p:grpSpPr>
        <p:sp>
          <p:nvSpPr>
            <p:cNvPr id="16" name="Oval 8">
              <a:extLst>
                <a:ext uri="{FF2B5EF4-FFF2-40B4-BE49-F238E27FC236}">
                  <a16:creationId xmlns:a16="http://schemas.microsoft.com/office/drawing/2014/main" xmlns="" id="{34291471-701C-F642-5E5C-E55572E7D805}"/>
                </a:ext>
              </a:extLst>
            </p:cNvPr>
            <p:cNvSpPr>
              <a:spLocks noChangeArrowheads="1"/>
            </p:cNvSpPr>
            <p:nvPr/>
          </p:nvSpPr>
          <p:spPr bwMode="auto">
            <a:xfrm>
              <a:off x="1295369" y="1500174"/>
              <a:ext cx="431800"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b="0" dirty="0">
                  <a:solidFill>
                    <a:srgbClr val="3333FF"/>
                  </a:solidFill>
                  <a:latin typeface="Consolas" pitchFamily="49" charset="0"/>
                  <a:cs typeface="Consolas" pitchFamily="49" charset="0"/>
                </a:rPr>
                <a:t>A</a:t>
              </a:r>
            </a:p>
          </p:txBody>
        </p:sp>
        <p:sp>
          <p:nvSpPr>
            <p:cNvPr id="17" name="Oval 9">
              <a:extLst>
                <a:ext uri="{FF2B5EF4-FFF2-40B4-BE49-F238E27FC236}">
                  <a16:creationId xmlns:a16="http://schemas.microsoft.com/office/drawing/2014/main" xmlns="" id="{83CCF425-224A-3DD1-3C89-D24866B0C60E}"/>
                </a:ext>
              </a:extLst>
            </p:cNvPr>
            <p:cNvSpPr>
              <a:spLocks noChangeArrowheads="1"/>
            </p:cNvSpPr>
            <p:nvPr/>
          </p:nvSpPr>
          <p:spPr bwMode="auto">
            <a:xfrm>
              <a:off x="790544" y="3729024"/>
              <a:ext cx="431800"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G</a:t>
              </a:r>
            </a:p>
          </p:txBody>
        </p:sp>
        <p:sp>
          <p:nvSpPr>
            <p:cNvPr id="18" name="Oval 10">
              <a:extLst>
                <a:ext uri="{FF2B5EF4-FFF2-40B4-BE49-F238E27FC236}">
                  <a16:creationId xmlns:a16="http://schemas.microsoft.com/office/drawing/2014/main" xmlns="" id="{E890A2D2-89D7-122E-6879-1C3E890739B3}"/>
                </a:ext>
              </a:extLst>
            </p:cNvPr>
            <p:cNvSpPr>
              <a:spLocks noChangeArrowheads="1"/>
            </p:cNvSpPr>
            <p:nvPr/>
          </p:nvSpPr>
          <p:spPr bwMode="auto">
            <a:xfrm>
              <a:off x="790544" y="2216137"/>
              <a:ext cx="431800"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B</a:t>
              </a:r>
            </a:p>
          </p:txBody>
        </p:sp>
        <p:sp>
          <p:nvSpPr>
            <p:cNvPr id="19" name="Oval 11">
              <a:extLst>
                <a:ext uri="{FF2B5EF4-FFF2-40B4-BE49-F238E27FC236}">
                  <a16:creationId xmlns:a16="http://schemas.microsoft.com/office/drawing/2014/main" xmlns="" id="{1BF3C05F-A74D-1873-F324-E1FBE0FCBC43}"/>
                </a:ext>
              </a:extLst>
            </p:cNvPr>
            <p:cNvSpPr>
              <a:spLocks noChangeArrowheads="1"/>
            </p:cNvSpPr>
            <p:nvPr/>
          </p:nvSpPr>
          <p:spPr bwMode="auto">
            <a:xfrm>
              <a:off x="1798606" y="2216137"/>
              <a:ext cx="431800"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C</a:t>
              </a:r>
            </a:p>
          </p:txBody>
        </p:sp>
        <p:sp>
          <p:nvSpPr>
            <p:cNvPr id="20" name="Oval 12">
              <a:extLst>
                <a:ext uri="{FF2B5EF4-FFF2-40B4-BE49-F238E27FC236}">
                  <a16:creationId xmlns:a16="http://schemas.microsoft.com/office/drawing/2014/main" xmlns="" id="{53AF4BB4-F08A-C79F-9F5C-DCC33C904C4C}"/>
                </a:ext>
              </a:extLst>
            </p:cNvPr>
            <p:cNvSpPr>
              <a:spLocks noChangeArrowheads="1"/>
            </p:cNvSpPr>
            <p:nvPr/>
          </p:nvSpPr>
          <p:spPr bwMode="auto">
            <a:xfrm>
              <a:off x="142844" y="3008299"/>
              <a:ext cx="431800"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D</a:t>
              </a:r>
            </a:p>
          </p:txBody>
        </p:sp>
        <p:sp>
          <p:nvSpPr>
            <p:cNvPr id="21" name="Oval 13">
              <a:extLst>
                <a:ext uri="{FF2B5EF4-FFF2-40B4-BE49-F238E27FC236}">
                  <a16:creationId xmlns:a16="http://schemas.microsoft.com/office/drawing/2014/main" xmlns="" id="{F22B446F-F9E1-742C-D73F-FBC2BA8513EF}"/>
                </a:ext>
              </a:extLst>
            </p:cNvPr>
            <p:cNvSpPr>
              <a:spLocks noChangeArrowheads="1"/>
            </p:cNvSpPr>
            <p:nvPr/>
          </p:nvSpPr>
          <p:spPr bwMode="auto">
            <a:xfrm>
              <a:off x="790544" y="3008299"/>
              <a:ext cx="431800"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E</a:t>
              </a:r>
            </a:p>
          </p:txBody>
        </p:sp>
        <p:sp>
          <p:nvSpPr>
            <p:cNvPr id="22" name="Oval 14">
              <a:extLst>
                <a:ext uri="{FF2B5EF4-FFF2-40B4-BE49-F238E27FC236}">
                  <a16:creationId xmlns:a16="http://schemas.microsoft.com/office/drawing/2014/main" xmlns="" id="{66B491D3-3F34-4EE5-C530-BC2CCC2FD030}"/>
                </a:ext>
              </a:extLst>
            </p:cNvPr>
            <p:cNvSpPr>
              <a:spLocks noChangeArrowheads="1"/>
            </p:cNvSpPr>
            <p:nvPr/>
          </p:nvSpPr>
          <p:spPr bwMode="auto">
            <a:xfrm>
              <a:off x="1511269" y="3008299"/>
              <a:ext cx="431800" cy="431800"/>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F</a:t>
              </a:r>
            </a:p>
          </p:txBody>
        </p:sp>
        <p:sp>
          <p:nvSpPr>
            <p:cNvPr id="23" name="Freeform 15">
              <a:extLst>
                <a:ext uri="{FF2B5EF4-FFF2-40B4-BE49-F238E27FC236}">
                  <a16:creationId xmlns:a16="http://schemas.microsoft.com/office/drawing/2014/main" xmlns="" id="{2508F5EC-57D1-EB60-F5E4-48E90E792648}"/>
                </a:ext>
              </a:extLst>
            </p:cNvPr>
            <p:cNvSpPr>
              <a:spLocks/>
            </p:cNvSpPr>
            <p:nvPr/>
          </p:nvSpPr>
          <p:spPr bwMode="auto">
            <a:xfrm>
              <a:off x="1014381" y="3438512"/>
              <a:ext cx="1588" cy="285750"/>
            </a:xfrm>
            <a:custGeom>
              <a:avLst/>
              <a:gdLst/>
              <a:ahLst/>
              <a:cxnLst>
                <a:cxn ang="0">
                  <a:pos x="0" y="0"/>
                </a:cxn>
                <a:cxn ang="0">
                  <a:pos x="25" y="180"/>
                </a:cxn>
              </a:cxnLst>
              <a:rect l="0" t="0" r="r" b="b"/>
              <a:pathLst>
                <a:path w="25" h="180">
                  <a:moveTo>
                    <a:pt x="0" y="0"/>
                  </a:moveTo>
                  <a:lnTo>
                    <a:pt x="25" y="180"/>
                  </a:lnTo>
                </a:path>
              </a:pathLst>
            </a:custGeom>
            <a:ln>
              <a:headEnd type="none" w="med" len="med"/>
              <a:tailEnd type="none" w="med" len="lg"/>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24" name="Freeform 16">
              <a:extLst>
                <a:ext uri="{FF2B5EF4-FFF2-40B4-BE49-F238E27FC236}">
                  <a16:creationId xmlns:a16="http://schemas.microsoft.com/office/drawing/2014/main" xmlns="" id="{4F57F1FC-CD09-6B14-F27A-A3C9B20D67AE}"/>
                </a:ext>
              </a:extLst>
            </p:cNvPr>
            <p:cNvSpPr>
              <a:spLocks/>
            </p:cNvSpPr>
            <p:nvPr/>
          </p:nvSpPr>
          <p:spPr bwMode="auto">
            <a:xfrm>
              <a:off x="1071531" y="1857362"/>
              <a:ext cx="273050" cy="374650"/>
            </a:xfrm>
            <a:custGeom>
              <a:avLst/>
              <a:gdLst/>
              <a:ahLst/>
              <a:cxnLst>
                <a:cxn ang="0">
                  <a:pos x="172" y="0"/>
                </a:cxn>
                <a:cxn ang="0">
                  <a:pos x="0" y="236"/>
                </a:cxn>
              </a:cxnLst>
              <a:rect l="0" t="0" r="r" b="b"/>
              <a:pathLst>
                <a:path w="172" h="236">
                  <a:moveTo>
                    <a:pt x="172" y="0"/>
                  </a:moveTo>
                  <a:lnTo>
                    <a:pt x="0" y="236"/>
                  </a:lnTo>
                </a:path>
              </a:pathLst>
            </a:custGeom>
            <a:ln>
              <a:headEnd type="none" w="med" len="med"/>
              <a:tailEnd type="none" w="med" len="lg"/>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25" name="Freeform 17">
              <a:extLst>
                <a:ext uri="{FF2B5EF4-FFF2-40B4-BE49-F238E27FC236}">
                  <a16:creationId xmlns:a16="http://schemas.microsoft.com/office/drawing/2014/main" xmlns="" id="{CD40EF0D-C227-BE4D-2602-C79BAE2E01BB}"/>
                </a:ext>
              </a:extLst>
            </p:cNvPr>
            <p:cNvSpPr>
              <a:spLocks/>
            </p:cNvSpPr>
            <p:nvPr/>
          </p:nvSpPr>
          <p:spPr bwMode="auto">
            <a:xfrm>
              <a:off x="1674781" y="1851012"/>
              <a:ext cx="266700" cy="381000"/>
            </a:xfrm>
            <a:custGeom>
              <a:avLst/>
              <a:gdLst/>
              <a:ahLst/>
              <a:cxnLst>
                <a:cxn ang="0">
                  <a:pos x="0" y="0"/>
                </a:cxn>
                <a:cxn ang="0">
                  <a:pos x="168" y="240"/>
                </a:cxn>
              </a:cxnLst>
              <a:rect l="0" t="0" r="r" b="b"/>
              <a:pathLst>
                <a:path w="168" h="240">
                  <a:moveTo>
                    <a:pt x="0" y="0"/>
                  </a:moveTo>
                  <a:lnTo>
                    <a:pt x="168" y="240"/>
                  </a:lnTo>
                </a:path>
              </a:pathLst>
            </a:custGeom>
            <a:ln>
              <a:headEnd type="none" w="med" len="med"/>
              <a:tailEnd type="none" w="med" len="lg"/>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26" name="Line 18">
              <a:extLst>
                <a:ext uri="{FF2B5EF4-FFF2-40B4-BE49-F238E27FC236}">
                  <a16:creationId xmlns:a16="http://schemas.microsoft.com/office/drawing/2014/main" xmlns="" id="{17F0CB01-E9B4-5D53-5B3F-77357E13684E}"/>
                </a:ext>
              </a:extLst>
            </p:cNvPr>
            <p:cNvSpPr>
              <a:spLocks noChangeShapeType="1"/>
            </p:cNvSpPr>
            <p:nvPr/>
          </p:nvSpPr>
          <p:spPr bwMode="auto">
            <a:xfrm>
              <a:off x="1006444" y="2647937"/>
              <a:ext cx="0" cy="360362"/>
            </a:xfrm>
            <a:prstGeom prst="line">
              <a:avLst/>
            </a:prstGeom>
            <a:ln>
              <a:headEnd/>
              <a:tailEnd type="none" w="med" len="lg"/>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27" name="Freeform 19">
              <a:extLst>
                <a:ext uri="{FF2B5EF4-FFF2-40B4-BE49-F238E27FC236}">
                  <a16:creationId xmlns:a16="http://schemas.microsoft.com/office/drawing/2014/main" xmlns="" id="{7D516322-AEE9-C2CA-B359-939BCF0A384F}"/>
                </a:ext>
              </a:extLst>
            </p:cNvPr>
            <p:cNvSpPr>
              <a:spLocks/>
            </p:cNvSpPr>
            <p:nvPr/>
          </p:nvSpPr>
          <p:spPr bwMode="auto">
            <a:xfrm>
              <a:off x="419069" y="2547924"/>
              <a:ext cx="400050" cy="469900"/>
            </a:xfrm>
            <a:custGeom>
              <a:avLst/>
              <a:gdLst/>
              <a:ahLst/>
              <a:cxnLst>
                <a:cxn ang="0">
                  <a:pos x="252" y="0"/>
                </a:cxn>
                <a:cxn ang="0">
                  <a:pos x="0" y="296"/>
                </a:cxn>
              </a:cxnLst>
              <a:rect l="0" t="0" r="r" b="b"/>
              <a:pathLst>
                <a:path w="252" h="296">
                  <a:moveTo>
                    <a:pt x="252" y="0"/>
                  </a:moveTo>
                  <a:lnTo>
                    <a:pt x="0" y="296"/>
                  </a:lnTo>
                </a:path>
              </a:pathLst>
            </a:custGeom>
            <a:ln>
              <a:headEnd type="none" w="med" len="med"/>
              <a:tailEnd type="none" w="med" len="lg"/>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28" name="Freeform 20">
              <a:extLst>
                <a:ext uri="{FF2B5EF4-FFF2-40B4-BE49-F238E27FC236}">
                  <a16:creationId xmlns:a16="http://schemas.microsoft.com/office/drawing/2014/main" xmlns="" id="{5A6B62BD-B56C-CE20-1469-7C840D5B8A10}"/>
                </a:ext>
              </a:extLst>
            </p:cNvPr>
            <p:cNvSpPr>
              <a:spLocks/>
            </p:cNvSpPr>
            <p:nvPr/>
          </p:nvSpPr>
          <p:spPr bwMode="auto">
            <a:xfrm>
              <a:off x="1200119" y="2522524"/>
              <a:ext cx="438150" cy="501650"/>
            </a:xfrm>
            <a:custGeom>
              <a:avLst/>
              <a:gdLst/>
              <a:ahLst/>
              <a:cxnLst>
                <a:cxn ang="0">
                  <a:pos x="0" y="0"/>
                </a:cxn>
                <a:cxn ang="0">
                  <a:pos x="276" y="316"/>
                </a:cxn>
              </a:cxnLst>
              <a:rect l="0" t="0" r="r" b="b"/>
              <a:pathLst>
                <a:path w="276" h="316">
                  <a:moveTo>
                    <a:pt x="0" y="0"/>
                  </a:moveTo>
                  <a:lnTo>
                    <a:pt x="276" y="316"/>
                  </a:lnTo>
                </a:path>
              </a:pathLst>
            </a:custGeom>
            <a:ln>
              <a:headEnd type="none" w="med" len="med"/>
              <a:tailEnd type="none" w="med" len="lg"/>
            </a:ln>
          </p:spPr>
          <p:style>
            <a:lnRef idx="1">
              <a:schemeClr val="accent5"/>
            </a:lnRef>
            <a:fillRef idx="0">
              <a:schemeClr val="accent5"/>
            </a:fillRef>
            <a:effectRef idx="0">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grpSp>
      <p:grpSp>
        <p:nvGrpSpPr>
          <p:cNvPr id="29" name="组合 59">
            <a:extLst>
              <a:ext uri="{FF2B5EF4-FFF2-40B4-BE49-F238E27FC236}">
                <a16:creationId xmlns:a16="http://schemas.microsoft.com/office/drawing/2014/main" xmlns="" id="{6E455AFA-A7F5-0A39-2650-A1ADBD47398D}"/>
              </a:ext>
            </a:extLst>
          </p:cNvPr>
          <p:cNvGrpSpPr/>
          <p:nvPr/>
        </p:nvGrpSpPr>
        <p:grpSpPr>
          <a:xfrm>
            <a:off x="5972603" y="3405526"/>
            <a:ext cx="6119812" cy="2952751"/>
            <a:chOff x="2806669" y="1787512"/>
            <a:chExt cx="6119812" cy="2952751"/>
          </a:xfrm>
        </p:grpSpPr>
        <p:sp>
          <p:nvSpPr>
            <p:cNvPr id="30" name="AutoShape 21">
              <a:extLst>
                <a:ext uri="{FF2B5EF4-FFF2-40B4-BE49-F238E27FC236}">
                  <a16:creationId xmlns:a16="http://schemas.microsoft.com/office/drawing/2014/main" xmlns="" id="{CD700CBB-5894-CD40-1FAC-80927C4F4476}"/>
                </a:ext>
              </a:extLst>
            </p:cNvPr>
            <p:cNvSpPr>
              <a:spLocks noChangeArrowheads="1"/>
            </p:cNvSpPr>
            <p:nvPr/>
          </p:nvSpPr>
          <p:spPr bwMode="auto">
            <a:xfrm>
              <a:off x="3629725" y="2024887"/>
              <a:ext cx="684000" cy="360000"/>
            </a:xfrm>
            <a:prstGeom prst="rightArrow">
              <a:avLst>
                <a:gd name="adj1" fmla="val 50000"/>
                <a:gd name="adj2" fmla="val 25000"/>
              </a:avLst>
            </a:prstGeom>
            <a:ln>
              <a:headEnd/>
              <a:tailEnd type="none" w="med" len="lg"/>
            </a:ln>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sz="1800">
                <a:latin typeface="Consolas" pitchFamily="49" charset="0"/>
                <a:cs typeface="Consolas" pitchFamily="49" charset="0"/>
              </a:endParaRPr>
            </a:p>
          </p:txBody>
        </p:sp>
        <p:sp>
          <p:nvSpPr>
            <p:cNvPr id="31" name="Rectangle 22">
              <a:extLst>
                <a:ext uri="{FF2B5EF4-FFF2-40B4-BE49-F238E27FC236}">
                  <a16:creationId xmlns:a16="http://schemas.microsoft.com/office/drawing/2014/main" xmlns="" id="{385F935A-144C-1881-5033-4F377C78B196}"/>
                </a:ext>
              </a:extLst>
            </p:cNvPr>
            <p:cNvSpPr>
              <a:spLocks noChangeArrowheads="1"/>
            </p:cNvSpPr>
            <p:nvPr/>
          </p:nvSpPr>
          <p:spPr bwMode="auto">
            <a:xfrm>
              <a:off x="4895819" y="1787512"/>
              <a:ext cx="647700" cy="360363"/>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3333FF"/>
                  </a:solidFill>
                  <a:latin typeface="Consolas" pitchFamily="49" charset="0"/>
                  <a:cs typeface="Consolas" pitchFamily="49" charset="0"/>
                </a:rPr>
                <a:t>A</a:t>
              </a:r>
            </a:p>
          </p:txBody>
        </p:sp>
        <p:sp>
          <p:nvSpPr>
            <p:cNvPr id="32" name="Rectangle 23">
              <a:extLst>
                <a:ext uri="{FF2B5EF4-FFF2-40B4-BE49-F238E27FC236}">
                  <a16:creationId xmlns:a16="http://schemas.microsoft.com/office/drawing/2014/main" xmlns="" id="{ABB6D25C-3B55-3E05-CA3A-936A9DE273AC}"/>
                </a:ext>
              </a:extLst>
            </p:cNvPr>
            <p:cNvSpPr>
              <a:spLocks noChangeArrowheads="1"/>
            </p:cNvSpPr>
            <p:nvPr/>
          </p:nvSpPr>
          <p:spPr bwMode="auto">
            <a:xfrm>
              <a:off x="5975319" y="1787512"/>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sp>
          <p:nvSpPr>
            <p:cNvPr id="33" name="Rectangle 24">
              <a:extLst>
                <a:ext uri="{FF2B5EF4-FFF2-40B4-BE49-F238E27FC236}">
                  <a16:creationId xmlns:a16="http://schemas.microsoft.com/office/drawing/2014/main" xmlns="" id="{0349FAEC-568C-7604-C838-C1700133ABD9}"/>
                </a:ext>
              </a:extLst>
            </p:cNvPr>
            <p:cNvSpPr>
              <a:spLocks noChangeArrowheads="1"/>
            </p:cNvSpPr>
            <p:nvPr/>
          </p:nvSpPr>
          <p:spPr bwMode="auto">
            <a:xfrm>
              <a:off x="5543519" y="1787512"/>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sp>
          <p:nvSpPr>
            <p:cNvPr id="34" name="Rectangle 25">
              <a:extLst>
                <a:ext uri="{FF2B5EF4-FFF2-40B4-BE49-F238E27FC236}">
                  <a16:creationId xmlns:a16="http://schemas.microsoft.com/office/drawing/2014/main" xmlns="" id="{AAC3F1D2-6E01-9E5B-7D28-8C0BE323394C}"/>
                </a:ext>
              </a:extLst>
            </p:cNvPr>
            <p:cNvSpPr>
              <a:spLocks noChangeArrowheads="1"/>
            </p:cNvSpPr>
            <p:nvPr/>
          </p:nvSpPr>
          <p:spPr bwMode="auto">
            <a:xfrm>
              <a:off x="6407119" y="1787512"/>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latin typeface="Consolas" pitchFamily="49" charset="0"/>
                  <a:cs typeface="Consolas" pitchFamily="49" charset="0"/>
                </a:rPr>
                <a:t>∧</a:t>
              </a:r>
            </a:p>
          </p:txBody>
        </p:sp>
        <p:sp>
          <p:nvSpPr>
            <p:cNvPr id="35" name="Rectangle 26">
              <a:extLst>
                <a:ext uri="{FF2B5EF4-FFF2-40B4-BE49-F238E27FC236}">
                  <a16:creationId xmlns:a16="http://schemas.microsoft.com/office/drawing/2014/main" xmlns="" id="{2565F2D9-6AD4-D055-3C27-E72D56A05DCD}"/>
                </a:ext>
              </a:extLst>
            </p:cNvPr>
            <p:cNvSpPr>
              <a:spLocks noChangeArrowheads="1"/>
            </p:cNvSpPr>
            <p:nvPr/>
          </p:nvSpPr>
          <p:spPr bwMode="auto">
            <a:xfrm>
              <a:off x="4103656" y="2724137"/>
              <a:ext cx="647700" cy="360363"/>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3333FF"/>
                  </a:solidFill>
                  <a:latin typeface="Consolas" pitchFamily="49" charset="0"/>
                  <a:cs typeface="Consolas" pitchFamily="49" charset="0"/>
                </a:rPr>
                <a:t>B</a:t>
              </a:r>
            </a:p>
          </p:txBody>
        </p:sp>
        <p:sp>
          <p:nvSpPr>
            <p:cNvPr id="36" name="Rectangle 27">
              <a:extLst>
                <a:ext uri="{FF2B5EF4-FFF2-40B4-BE49-F238E27FC236}">
                  <a16:creationId xmlns:a16="http://schemas.microsoft.com/office/drawing/2014/main" xmlns="" id="{7130BB59-181A-6716-2ABF-28B10D81A07D}"/>
                </a:ext>
              </a:extLst>
            </p:cNvPr>
            <p:cNvSpPr>
              <a:spLocks noChangeArrowheads="1"/>
            </p:cNvSpPr>
            <p:nvPr/>
          </p:nvSpPr>
          <p:spPr bwMode="auto">
            <a:xfrm>
              <a:off x="5183156" y="27241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sp>
          <p:nvSpPr>
            <p:cNvPr id="37" name="Rectangle 28">
              <a:extLst>
                <a:ext uri="{FF2B5EF4-FFF2-40B4-BE49-F238E27FC236}">
                  <a16:creationId xmlns:a16="http://schemas.microsoft.com/office/drawing/2014/main" xmlns="" id="{201CE755-8EA7-D6F1-EC41-B2D4FE8EC672}"/>
                </a:ext>
              </a:extLst>
            </p:cNvPr>
            <p:cNvSpPr>
              <a:spLocks noChangeArrowheads="1"/>
            </p:cNvSpPr>
            <p:nvPr/>
          </p:nvSpPr>
          <p:spPr bwMode="auto">
            <a:xfrm>
              <a:off x="4751356" y="27241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sp>
          <p:nvSpPr>
            <p:cNvPr id="38" name="Rectangle 29">
              <a:extLst>
                <a:ext uri="{FF2B5EF4-FFF2-40B4-BE49-F238E27FC236}">
                  <a16:creationId xmlns:a16="http://schemas.microsoft.com/office/drawing/2014/main" xmlns="" id="{EF6683D9-3DA8-691C-E1C8-66F06C27B75B}"/>
                </a:ext>
              </a:extLst>
            </p:cNvPr>
            <p:cNvSpPr>
              <a:spLocks noChangeArrowheads="1"/>
            </p:cNvSpPr>
            <p:nvPr/>
          </p:nvSpPr>
          <p:spPr bwMode="auto">
            <a:xfrm>
              <a:off x="5614956" y="27241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sp>
          <p:nvSpPr>
            <p:cNvPr id="39" name="Rectangle 30">
              <a:extLst>
                <a:ext uri="{FF2B5EF4-FFF2-40B4-BE49-F238E27FC236}">
                  <a16:creationId xmlns:a16="http://schemas.microsoft.com/office/drawing/2014/main" xmlns="" id="{F3D26E36-EE0C-4F5A-8D13-D92F1D178E3C}"/>
                </a:ext>
              </a:extLst>
            </p:cNvPr>
            <p:cNvSpPr>
              <a:spLocks noChangeArrowheads="1"/>
            </p:cNvSpPr>
            <p:nvPr/>
          </p:nvSpPr>
          <p:spPr bwMode="auto">
            <a:xfrm>
              <a:off x="6480144" y="2724137"/>
              <a:ext cx="647700" cy="360363"/>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3333FF"/>
                  </a:solidFill>
                  <a:latin typeface="Consolas" pitchFamily="49" charset="0"/>
                  <a:cs typeface="Consolas" pitchFamily="49" charset="0"/>
                </a:rPr>
                <a:t>C</a:t>
              </a:r>
            </a:p>
          </p:txBody>
        </p:sp>
        <p:sp>
          <p:nvSpPr>
            <p:cNvPr id="40" name="Rectangle 31">
              <a:extLst>
                <a:ext uri="{FF2B5EF4-FFF2-40B4-BE49-F238E27FC236}">
                  <a16:creationId xmlns:a16="http://schemas.microsoft.com/office/drawing/2014/main" xmlns="" id="{17D97DB5-9DDF-F255-D4A0-289063B7D69E}"/>
                </a:ext>
              </a:extLst>
            </p:cNvPr>
            <p:cNvSpPr>
              <a:spLocks noChangeArrowheads="1"/>
            </p:cNvSpPr>
            <p:nvPr/>
          </p:nvSpPr>
          <p:spPr bwMode="auto">
            <a:xfrm>
              <a:off x="7559644" y="27241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latin typeface="Consolas" pitchFamily="49" charset="0"/>
                  <a:cs typeface="Consolas" pitchFamily="49" charset="0"/>
                </a:rPr>
                <a:t>∧</a:t>
              </a:r>
            </a:p>
          </p:txBody>
        </p:sp>
        <p:sp>
          <p:nvSpPr>
            <p:cNvPr id="41" name="Rectangle 32">
              <a:extLst>
                <a:ext uri="{FF2B5EF4-FFF2-40B4-BE49-F238E27FC236}">
                  <a16:creationId xmlns:a16="http://schemas.microsoft.com/office/drawing/2014/main" xmlns="" id="{8E0F94F5-0BB0-31CD-9AFA-0424BCD0713A}"/>
                </a:ext>
              </a:extLst>
            </p:cNvPr>
            <p:cNvSpPr>
              <a:spLocks noChangeArrowheads="1"/>
            </p:cNvSpPr>
            <p:nvPr/>
          </p:nvSpPr>
          <p:spPr bwMode="auto">
            <a:xfrm>
              <a:off x="7127844" y="27241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latin typeface="Consolas" pitchFamily="49" charset="0"/>
                  <a:cs typeface="Consolas" pitchFamily="49" charset="0"/>
                </a:rPr>
                <a:t>∧</a:t>
              </a:r>
            </a:p>
          </p:txBody>
        </p:sp>
        <p:sp>
          <p:nvSpPr>
            <p:cNvPr id="42" name="Rectangle 33">
              <a:extLst>
                <a:ext uri="{FF2B5EF4-FFF2-40B4-BE49-F238E27FC236}">
                  <a16:creationId xmlns:a16="http://schemas.microsoft.com/office/drawing/2014/main" xmlns="" id="{83D5675D-792A-951E-20D9-B233541F08C4}"/>
                </a:ext>
              </a:extLst>
            </p:cNvPr>
            <p:cNvSpPr>
              <a:spLocks noChangeArrowheads="1"/>
            </p:cNvSpPr>
            <p:nvPr/>
          </p:nvSpPr>
          <p:spPr bwMode="auto">
            <a:xfrm>
              <a:off x="7991444" y="27241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latin typeface="Consolas" pitchFamily="49" charset="0"/>
                  <a:cs typeface="Consolas" pitchFamily="49" charset="0"/>
                </a:rPr>
                <a:t>∧</a:t>
              </a:r>
            </a:p>
          </p:txBody>
        </p:sp>
        <p:sp>
          <p:nvSpPr>
            <p:cNvPr id="43" name="Rectangle 34">
              <a:extLst>
                <a:ext uri="{FF2B5EF4-FFF2-40B4-BE49-F238E27FC236}">
                  <a16:creationId xmlns:a16="http://schemas.microsoft.com/office/drawing/2014/main" xmlns="" id="{D04F6735-9725-56C5-8DFF-C41183FE3435}"/>
                </a:ext>
              </a:extLst>
            </p:cNvPr>
            <p:cNvSpPr>
              <a:spLocks noChangeArrowheads="1"/>
            </p:cNvSpPr>
            <p:nvPr/>
          </p:nvSpPr>
          <p:spPr bwMode="auto">
            <a:xfrm>
              <a:off x="2806669" y="3587737"/>
              <a:ext cx="647700" cy="360363"/>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3333FF"/>
                  </a:solidFill>
                  <a:latin typeface="Consolas" pitchFamily="49" charset="0"/>
                  <a:cs typeface="Consolas" pitchFamily="49" charset="0"/>
                </a:rPr>
                <a:t>D</a:t>
              </a:r>
            </a:p>
          </p:txBody>
        </p:sp>
        <p:sp>
          <p:nvSpPr>
            <p:cNvPr id="44" name="Rectangle 35">
              <a:extLst>
                <a:ext uri="{FF2B5EF4-FFF2-40B4-BE49-F238E27FC236}">
                  <a16:creationId xmlns:a16="http://schemas.microsoft.com/office/drawing/2014/main" xmlns="" id="{75F0205D-7630-69D8-139C-2E583B1AA484}"/>
                </a:ext>
              </a:extLst>
            </p:cNvPr>
            <p:cNvSpPr>
              <a:spLocks noChangeArrowheads="1"/>
            </p:cNvSpPr>
            <p:nvPr/>
          </p:nvSpPr>
          <p:spPr bwMode="auto">
            <a:xfrm>
              <a:off x="3886169" y="35877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latin typeface="Consolas" pitchFamily="49" charset="0"/>
                  <a:cs typeface="Consolas" pitchFamily="49" charset="0"/>
                </a:rPr>
                <a:t>∧</a:t>
              </a:r>
            </a:p>
          </p:txBody>
        </p:sp>
        <p:sp>
          <p:nvSpPr>
            <p:cNvPr id="45" name="Rectangle 36">
              <a:extLst>
                <a:ext uri="{FF2B5EF4-FFF2-40B4-BE49-F238E27FC236}">
                  <a16:creationId xmlns:a16="http://schemas.microsoft.com/office/drawing/2014/main" xmlns="" id="{888D2645-16A6-F6FB-E3F7-28DEDD451706}"/>
                </a:ext>
              </a:extLst>
            </p:cNvPr>
            <p:cNvSpPr>
              <a:spLocks noChangeArrowheads="1"/>
            </p:cNvSpPr>
            <p:nvPr/>
          </p:nvSpPr>
          <p:spPr bwMode="auto">
            <a:xfrm>
              <a:off x="3454369" y="35877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latin typeface="Consolas" pitchFamily="49" charset="0"/>
                  <a:cs typeface="Consolas" pitchFamily="49" charset="0"/>
                </a:rPr>
                <a:t>∧</a:t>
              </a:r>
            </a:p>
          </p:txBody>
        </p:sp>
        <p:sp>
          <p:nvSpPr>
            <p:cNvPr id="46" name="Rectangle 37">
              <a:extLst>
                <a:ext uri="{FF2B5EF4-FFF2-40B4-BE49-F238E27FC236}">
                  <a16:creationId xmlns:a16="http://schemas.microsoft.com/office/drawing/2014/main" xmlns="" id="{E6383CCA-EB3B-CAFC-AC3A-98D382B78731}"/>
                </a:ext>
              </a:extLst>
            </p:cNvPr>
            <p:cNvSpPr>
              <a:spLocks noChangeArrowheads="1"/>
            </p:cNvSpPr>
            <p:nvPr/>
          </p:nvSpPr>
          <p:spPr bwMode="auto">
            <a:xfrm>
              <a:off x="4317969" y="35877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latin typeface="Consolas" pitchFamily="49" charset="0"/>
                  <a:cs typeface="Consolas" pitchFamily="49" charset="0"/>
                </a:rPr>
                <a:t>∧</a:t>
              </a:r>
            </a:p>
          </p:txBody>
        </p:sp>
        <p:sp>
          <p:nvSpPr>
            <p:cNvPr id="47" name="Rectangle 38">
              <a:extLst>
                <a:ext uri="{FF2B5EF4-FFF2-40B4-BE49-F238E27FC236}">
                  <a16:creationId xmlns:a16="http://schemas.microsoft.com/office/drawing/2014/main" xmlns="" id="{1232579D-C183-5047-81FB-84E7579F7886}"/>
                </a:ext>
              </a:extLst>
            </p:cNvPr>
            <p:cNvSpPr>
              <a:spLocks noChangeArrowheads="1"/>
            </p:cNvSpPr>
            <p:nvPr/>
          </p:nvSpPr>
          <p:spPr bwMode="auto">
            <a:xfrm>
              <a:off x="4895819" y="3587737"/>
              <a:ext cx="647700" cy="360363"/>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3333FF"/>
                  </a:solidFill>
                  <a:latin typeface="Consolas" pitchFamily="49" charset="0"/>
                  <a:cs typeface="Consolas" pitchFamily="49" charset="0"/>
                </a:rPr>
                <a:t>E</a:t>
              </a:r>
            </a:p>
          </p:txBody>
        </p:sp>
        <p:sp>
          <p:nvSpPr>
            <p:cNvPr id="48" name="Rectangle 39">
              <a:extLst>
                <a:ext uri="{FF2B5EF4-FFF2-40B4-BE49-F238E27FC236}">
                  <a16:creationId xmlns:a16="http://schemas.microsoft.com/office/drawing/2014/main" xmlns="" id="{67923B09-5105-7E1C-110E-05D93F0D7AFA}"/>
                </a:ext>
              </a:extLst>
            </p:cNvPr>
            <p:cNvSpPr>
              <a:spLocks noChangeArrowheads="1"/>
            </p:cNvSpPr>
            <p:nvPr/>
          </p:nvSpPr>
          <p:spPr bwMode="auto">
            <a:xfrm>
              <a:off x="5975319" y="35877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latin typeface="Consolas" pitchFamily="49" charset="0"/>
                  <a:cs typeface="Consolas" pitchFamily="49" charset="0"/>
                </a:rPr>
                <a:t>∧</a:t>
              </a:r>
            </a:p>
          </p:txBody>
        </p:sp>
        <p:sp>
          <p:nvSpPr>
            <p:cNvPr id="49" name="Rectangle 40">
              <a:extLst>
                <a:ext uri="{FF2B5EF4-FFF2-40B4-BE49-F238E27FC236}">
                  <a16:creationId xmlns:a16="http://schemas.microsoft.com/office/drawing/2014/main" xmlns="" id="{98F41ABD-9EFC-AA5D-C816-80B3C1E27C60}"/>
                </a:ext>
              </a:extLst>
            </p:cNvPr>
            <p:cNvSpPr>
              <a:spLocks noChangeArrowheads="1"/>
            </p:cNvSpPr>
            <p:nvPr/>
          </p:nvSpPr>
          <p:spPr bwMode="auto">
            <a:xfrm>
              <a:off x="5543519" y="35877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endParaRPr lang="zh-CN" altLang="zh-CN" sz="1800">
                <a:latin typeface="Consolas" pitchFamily="49" charset="0"/>
                <a:cs typeface="Consolas" pitchFamily="49" charset="0"/>
              </a:endParaRPr>
            </a:p>
          </p:txBody>
        </p:sp>
        <p:sp>
          <p:nvSpPr>
            <p:cNvPr id="50" name="Rectangle 41">
              <a:extLst>
                <a:ext uri="{FF2B5EF4-FFF2-40B4-BE49-F238E27FC236}">
                  <a16:creationId xmlns:a16="http://schemas.microsoft.com/office/drawing/2014/main" xmlns="" id="{A9505520-3499-2425-DF98-F0F8F92F79F6}"/>
                </a:ext>
              </a:extLst>
            </p:cNvPr>
            <p:cNvSpPr>
              <a:spLocks noChangeArrowheads="1"/>
            </p:cNvSpPr>
            <p:nvPr/>
          </p:nvSpPr>
          <p:spPr bwMode="auto">
            <a:xfrm>
              <a:off x="6407119" y="35877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latin typeface="Consolas" pitchFamily="49" charset="0"/>
                  <a:cs typeface="Consolas" pitchFamily="49" charset="0"/>
                </a:rPr>
                <a:t>∧</a:t>
              </a:r>
            </a:p>
          </p:txBody>
        </p:sp>
        <p:sp>
          <p:nvSpPr>
            <p:cNvPr id="51" name="Rectangle 42">
              <a:extLst>
                <a:ext uri="{FF2B5EF4-FFF2-40B4-BE49-F238E27FC236}">
                  <a16:creationId xmlns:a16="http://schemas.microsoft.com/office/drawing/2014/main" xmlns="" id="{9E250C1C-120D-DD86-D043-78762478C8CF}"/>
                </a:ext>
              </a:extLst>
            </p:cNvPr>
            <p:cNvSpPr>
              <a:spLocks noChangeArrowheads="1"/>
            </p:cNvSpPr>
            <p:nvPr/>
          </p:nvSpPr>
          <p:spPr bwMode="auto">
            <a:xfrm>
              <a:off x="6983381" y="3587737"/>
              <a:ext cx="647700" cy="360363"/>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3333FF"/>
                  </a:solidFill>
                  <a:latin typeface="Consolas" pitchFamily="49" charset="0"/>
                  <a:cs typeface="Consolas" pitchFamily="49" charset="0"/>
                </a:rPr>
                <a:t>F</a:t>
              </a:r>
            </a:p>
          </p:txBody>
        </p:sp>
        <p:sp>
          <p:nvSpPr>
            <p:cNvPr id="52" name="Rectangle 43">
              <a:extLst>
                <a:ext uri="{FF2B5EF4-FFF2-40B4-BE49-F238E27FC236}">
                  <a16:creationId xmlns:a16="http://schemas.microsoft.com/office/drawing/2014/main" xmlns="" id="{1AF9B331-C69A-4137-7650-B0B4EC13F9FD}"/>
                </a:ext>
              </a:extLst>
            </p:cNvPr>
            <p:cNvSpPr>
              <a:spLocks noChangeArrowheads="1"/>
            </p:cNvSpPr>
            <p:nvPr/>
          </p:nvSpPr>
          <p:spPr bwMode="auto">
            <a:xfrm>
              <a:off x="8062881" y="35877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latin typeface="Consolas" pitchFamily="49" charset="0"/>
                  <a:cs typeface="Consolas" pitchFamily="49" charset="0"/>
                </a:rPr>
                <a:t>∧</a:t>
              </a:r>
            </a:p>
          </p:txBody>
        </p:sp>
        <p:sp>
          <p:nvSpPr>
            <p:cNvPr id="53" name="Rectangle 44">
              <a:extLst>
                <a:ext uri="{FF2B5EF4-FFF2-40B4-BE49-F238E27FC236}">
                  <a16:creationId xmlns:a16="http://schemas.microsoft.com/office/drawing/2014/main" xmlns="" id="{254A0F14-7DB1-3E0C-9D37-15495FDE5FA7}"/>
                </a:ext>
              </a:extLst>
            </p:cNvPr>
            <p:cNvSpPr>
              <a:spLocks noChangeArrowheads="1"/>
            </p:cNvSpPr>
            <p:nvPr/>
          </p:nvSpPr>
          <p:spPr bwMode="auto">
            <a:xfrm>
              <a:off x="7631081" y="35877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latin typeface="Consolas" pitchFamily="49" charset="0"/>
                  <a:cs typeface="Consolas" pitchFamily="49" charset="0"/>
                </a:rPr>
                <a:t>∧</a:t>
              </a:r>
            </a:p>
          </p:txBody>
        </p:sp>
        <p:sp>
          <p:nvSpPr>
            <p:cNvPr id="54" name="Rectangle 45">
              <a:extLst>
                <a:ext uri="{FF2B5EF4-FFF2-40B4-BE49-F238E27FC236}">
                  <a16:creationId xmlns:a16="http://schemas.microsoft.com/office/drawing/2014/main" xmlns="" id="{80E3649A-A373-0416-8F1C-AFC58FFFE155}"/>
                </a:ext>
              </a:extLst>
            </p:cNvPr>
            <p:cNvSpPr>
              <a:spLocks noChangeArrowheads="1"/>
            </p:cNvSpPr>
            <p:nvPr/>
          </p:nvSpPr>
          <p:spPr bwMode="auto">
            <a:xfrm>
              <a:off x="8494681" y="3587737"/>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latin typeface="Consolas" pitchFamily="49" charset="0"/>
                  <a:cs typeface="Consolas" pitchFamily="49" charset="0"/>
                </a:rPr>
                <a:t>∧</a:t>
              </a:r>
            </a:p>
          </p:txBody>
        </p:sp>
        <p:sp>
          <p:nvSpPr>
            <p:cNvPr id="55" name="Line 46">
              <a:extLst>
                <a:ext uri="{FF2B5EF4-FFF2-40B4-BE49-F238E27FC236}">
                  <a16:creationId xmlns:a16="http://schemas.microsoft.com/office/drawing/2014/main" xmlns="" id="{EED353AE-2537-F568-C6B7-E2BB324E84BF}"/>
                </a:ext>
              </a:extLst>
            </p:cNvPr>
            <p:cNvSpPr>
              <a:spLocks noChangeShapeType="1"/>
            </p:cNvSpPr>
            <p:nvPr/>
          </p:nvSpPr>
          <p:spPr bwMode="auto">
            <a:xfrm flipH="1">
              <a:off x="5110131" y="1931975"/>
              <a:ext cx="649287" cy="792163"/>
            </a:xfrm>
            <a:prstGeom prst="line">
              <a:avLst/>
            </a:prstGeom>
            <a:ln>
              <a:headEnd/>
              <a:tailEnd type="triangle" w="med" len="lg"/>
            </a:ln>
          </p:spPr>
          <p:style>
            <a:lnRef idx="2">
              <a:schemeClr val="accent6"/>
            </a:lnRef>
            <a:fillRef idx="0">
              <a:schemeClr val="accent6"/>
            </a:fillRef>
            <a:effectRef idx="1">
              <a:schemeClr val="accent6"/>
            </a:effectRef>
            <a:fontRef idx="minor">
              <a:schemeClr val="tx1"/>
            </a:fontRef>
          </p:style>
          <p:txBody>
            <a:bodyPr wrap="none"/>
            <a:lstStyle/>
            <a:p>
              <a:endParaRPr lang="zh-CN" altLang="en-US" sz="1800">
                <a:latin typeface="Consolas" pitchFamily="49" charset="0"/>
                <a:cs typeface="Consolas" pitchFamily="49" charset="0"/>
              </a:endParaRPr>
            </a:p>
          </p:txBody>
        </p:sp>
        <p:sp>
          <p:nvSpPr>
            <p:cNvPr id="56" name="Line 47">
              <a:extLst>
                <a:ext uri="{FF2B5EF4-FFF2-40B4-BE49-F238E27FC236}">
                  <a16:creationId xmlns:a16="http://schemas.microsoft.com/office/drawing/2014/main" xmlns="" id="{FB663FA6-CBA7-9CFD-FA08-D93F1DA46AD3}"/>
                </a:ext>
              </a:extLst>
            </p:cNvPr>
            <p:cNvSpPr>
              <a:spLocks noChangeShapeType="1"/>
            </p:cNvSpPr>
            <p:nvPr/>
          </p:nvSpPr>
          <p:spPr bwMode="auto">
            <a:xfrm>
              <a:off x="6191219" y="1931975"/>
              <a:ext cx="647700" cy="792163"/>
            </a:xfrm>
            <a:prstGeom prst="line">
              <a:avLst/>
            </a:prstGeom>
            <a:ln>
              <a:headEnd/>
              <a:tailEnd type="triangle" w="med" len="lg"/>
            </a:ln>
          </p:spPr>
          <p:style>
            <a:lnRef idx="2">
              <a:schemeClr val="accent6"/>
            </a:lnRef>
            <a:fillRef idx="0">
              <a:schemeClr val="accent6"/>
            </a:fillRef>
            <a:effectRef idx="1">
              <a:schemeClr val="accent6"/>
            </a:effectRef>
            <a:fontRef idx="minor">
              <a:schemeClr val="tx1"/>
            </a:fontRef>
          </p:style>
          <p:txBody>
            <a:bodyPr wrap="none"/>
            <a:lstStyle/>
            <a:p>
              <a:endParaRPr lang="zh-CN" altLang="en-US" sz="1800">
                <a:latin typeface="Consolas" pitchFamily="49" charset="0"/>
                <a:cs typeface="Consolas" pitchFamily="49" charset="0"/>
              </a:endParaRPr>
            </a:p>
          </p:txBody>
        </p:sp>
        <p:sp>
          <p:nvSpPr>
            <p:cNvPr id="57" name="Line 48">
              <a:extLst>
                <a:ext uri="{FF2B5EF4-FFF2-40B4-BE49-F238E27FC236}">
                  <a16:creationId xmlns:a16="http://schemas.microsoft.com/office/drawing/2014/main" xmlns="" id="{DDB02699-AEE8-CD1D-0336-9960C5F717E0}"/>
                </a:ext>
              </a:extLst>
            </p:cNvPr>
            <p:cNvSpPr>
              <a:spLocks noChangeShapeType="1"/>
            </p:cNvSpPr>
            <p:nvPr/>
          </p:nvSpPr>
          <p:spPr bwMode="auto">
            <a:xfrm flipH="1">
              <a:off x="4246531" y="2940037"/>
              <a:ext cx="720725" cy="647700"/>
            </a:xfrm>
            <a:prstGeom prst="line">
              <a:avLst/>
            </a:prstGeom>
            <a:ln>
              <a:headEnd/>
              <a:tailEnd type="triangle" w="med" len="lg"/>
            </a:ln>
          </p:spPr>
          <p:style>
            <a:lnRef idx="2">
              <a:schemeClr val="accent6"/>
            </a:lnRef>
            <a:fillRef idx="0">
              <a:schemeClr val="accent6"/>
            </a:fillRef>
            <a:effectRef idx="1">
              <a:schemeClr val="accent6"/>
            </a:effectRef>
            <a:fontRef idx="minor">
              <a:schemeClr val="tx1"/>
            </a:fontRef>
          </p:style>
          <p:txBody>
            <a:bodyPr wrap="none"/>
            <a:lstStyle/>
            <a:p>
              <a:endParaRPr lang="zh-CN" altLang="en-US" sz="1800">
                <a:latin typeface="Consolas" pitchFamily="49" charset="0"/>
                <a:cs typeface="Consolas" pitchFamily="49" charset="0"/>
              </a:endParaRPr>
            </a:p>
          </p:txBody>
        </p:sp>
        <p:sp>
          <p:nvSpPr>
            <p:cNvPr id="58" name="Line 49">
              <a:extLst>
                <a:ext uri="{FF2B5EF4-FFF2-40B4-BE49-F238E27FC236}">
                  <a16:creationId xmlns:a16="http://schemas.microsoft.com/office/drawing/2014/main" xmlns="" id="{397DBD91-07CF-35BF-443B-BC9A7C02CBB3}"/>
                </a:ext>
              </a:extLst>
            </p:cNvPr>
            <p:cNvSpPr>
              <a:spLocks noChangeShapeType="1"/>
            </p:cNvSpPr>
            <p:nvPr/>
          </p:nvSpPr>
          <p:spPr bwMode="auto">
            <a:xfrm>
              <a:off x="5399056" y="2868600"/>
              <a:ext cx="215900" cy="719138"/>
            </a:xfrm>
            <a:prstGeom prst="line">
              <a:avLst/>
            </a:prstGeom>
            <a:ln>
              <a:headEnd/>
              <a:tailEnd type="triangle" w="med" len="lg"/>
            </a:ln>
          </p:spPr>
          <p:style>
            <a:lnRef idx="2">
              <a:schemeClr val="accent6"/>
            </a:lnRef>
            <a:fillRef idx="0">
              <a:schemeClr val="accent6"/>
            </a:fillRef>
            <a:effectRef idx="1">
              <a:schemeClr val="accent6"/>
            </a:effectRef>
            <a:fontRef idx="minor">
              <a:schemeClr val="tx1"/>
            </a:fontRef>
          </p:style>
          <p:txBody>
            <a:bodyPr wrap="none"/>
            <a:lstStyle/>
            <a:p>
              <a:endParaRPr lang="zh-CN" altLang="en-US" sz="1800">
                <a:latin typeface="Consolas" pitchFamily="49" charset="0"/>
                <a:cs typeface="Consolas" pitchFamily="49" charset="0"/>
              </a:endParaRPr>
            </a:p>
          </p:txBody>
        </p:sp>
        <p:sp>
          <p:nvSpPr>
            <p:cNvPr id="59" name="Line 50">
              <a:extLst>
                <a:ext uri="{FF2B5EF4-FFF2-40B4-BE49-F238E27FC236}">
                  <a16:creationId xmlns:a16="http://schemas.microsoft.com/office/drawing/2014/main" xmlns="" id="{83B8FA1A-B53F-A844-1894-E9882A724C95}"/>
                </a:ext>
              </a:extLst>
            </p:cNvPr>
            <p:cNvSpPr>
              <a:spLocks noChangeShapeType="1"/>
            </p:cNvSpPr>
            <p:nvPr/>
          </p:nvSpPr>
          <p:spPr bwMode="auto">
            <a:xfrm>
              <a:off x="5830856" y="2940037"/>
              <a:ext cx="1439862" cy="647700"/>
            </a:xfrm>
            <a:prstGeom prst="line">
              <a:avLst/>
            </a:prstGeom>
            <a:ln>
              <a:headEnd/>
              <a:tailEnd type="triangle" w="med" len="lg"/>
            </a:ln>
          </p:spPr>
          <p:style>
            <a:lnRef idx="2">
              <a:schemeClr val="accent6"/>
            </a:lnRef>
            <a:fillRef idx="0">
              <a:schemeClr val="accent6"/>
            </a:fillRef>
            <a:effectRef idx="1">
              <a:schemeClr val="accent6"/>
            </a:effectRef>
            <a:fontRef idx="minor">
              <a:schemeClr val="tx1"/>
            </a:fontRef>
          </p:style>
          <p:txBody>
            <a:bodyPr wrap="none"/>
            <a:lstStyle/>
            <a:p>
              <a:endParaRPr lang="zh-CN" altLang="en-US" sz="1800">
                <a:latin typeface="Consolas" pitchFamily="49" charset="0"/>
                <a:cs typeface="Consolas" pitchFamily="49" charset="0"/>
              </a:endParaRPr>
            </a:p>
          </p:txBody>
        </p:sp>
        <p:sp>
          <p:nvSpPr>
            <p:cNvPr id="60" name="Rectangle 51">
              <a:extLst>
                <a:ext uri="{FF2B5EF4-FFF2-40B4-BE49-F238E27FC236}">
                  <a16:creationId xmlns:a16="http://schemas.microsoft.com/office/drawing/2014/main" xmlns="" id="{D54AAAE0-EBD3-E574-BC9B-0190B647E8C4}"/>
                </a:ext>
              </a:extLst>
            </p:cNvPr>
            <p:cNvSpPr>
              <a:spLocks noChangeArrowheads="1"/>
            </p:cNvSpPr>
            <p:nvPr/>
          </p:nvSpPr>
          <p:spPr bwMode="auto">
            <a:xfrm>
              <a:off x="4894231" y="4379900"/>
              <a:ext cx="647700" cy="360363"/>
            </a:xfrm>
            <a:prstGeom prst="rect">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3333FF"/>
                  </a:solidFill>
                  <a:latin typeface="Consolas" pitchFamily="49" charset="0"/>
                  <a:cs typeface="Consolas" pitchFamily="49" charset="0"/>
                </a:rPr>
                <a:t>G</a:t>
              </a:r>
            </a:p>
          </p:txBody>
        </p:sp>
        <p:sp>
          <p:nvSpPr>
            <p:cNvPr id="61" name="Rectangle 52">
              <a:extLst>
                <a:ext uri="{FF2B5EF4-FFF2-40B4-BE49-F238E27FC236}">
                  <a16:creationId xmlns:a16="http://schemas.microsoft.com/office/drawing/2014/main" xmlns="" id="{2CEE2822-A634-ABBC-E603-2098B932C4EF}"/>
                </a:ext>
              </a:extLst>
            </p:cNvPr>
            <p:cNvSpPr>
              <a:spLocks noChangeArrowheads="1"/>
            </p:cNvSpPr>
            <p:nvPr/>
          </p:nvSpPr>
          <p:spPr bwMode="auto">
            <a:xfrm>
              <a:off x="5973731" y="4379900"/>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latin typeface="Consolas" pitchFamily="49" charset="0"/>
                  <a:cs typeface="Consolas" pitchFamily="49" charset="0"/>
                </a:rPr>
                <a:t>∧</a:t>
              </a:r>
            </a:p>
          </p:txBody>
        </p:sp>
        <p:sp>
          <p:nvSpPr>
            <p:cNvPr id="62" name="Rectangle 53">
              <a:extLst>
                <a:ext uri="{FF2B5EF4-FFF2-40B4-BE49-F238E27FC236}">
                  <a16:creationId xmlns:a16="http://schemas.microsoft.com/office/drawing/2014/main" xmlns="" id="{4A4C1F14-E90B-2E5B-85C7-FEA6B4D61B85}"/>
                </a:ext>
              </a:extLst>
            </p:cNvPr>
            <p:cNvSpPr>
              <a:spLocks noChangeArrowheads="1"/>
            </p:cNvSpPr>
            <p:nvPr/>
          </p:nvSpPr>
          <p:spPr bwMode="auto">
            <a:xfrm>
              <a:off x="5541931" y="4379900"/>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dirty="0">
                  <a:latin typeface="Consolas" pitchFamily="49" charset="0"/>
                  <a:cs typeface="Consolas" pitchFamily="49" charset="0"/>
                </a:rPr>
                <a:t>∧</a:t>
              </a:r>
            </a:p>
          </p:txBody>
        </p:sp>
        <p:sp>
          <p:nvSpPr>
            <p:cNvPr id="63" name="Rectangle 54">
              <a:extLst>
                <a:ext uri="{FF2B5EF4-FFF2-40B4-BE49-F238E27FC236}">
                  <a16:creationId xmlns:a16="http://schemas.microsoft.com/office/drawing/2014/main" xmlns="" id="{E5EDACD7-DA56-F883-35F4-565F4CFAA27C}"/>
                </a:ext>
              </a:extLst>
            </p:cNvPr>
            <p:cNvSpPr>
              <a:spLocks noChangeArrowheads="1"/>
            </p:cNvSpPr>
            <p:nvPr/>
          </p:nvSpPr>
          <p:spPr bwMode="auto">
            <a:xfrm>
              <a:off x="6405531" y="4379900"/>
              <a:ext cx="431800" cy="360363"/>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a:latin typeface="Consolas" pitchFamily="49" charset="0"/>
                  <a:cs typeface="Consolas" pitchFamily="49" charset="0"/>
                </a:rPr>
                <a:t>∧</a:t>
              </a:r>
            </a:p>
          </p:txBody>
        </p:sp>
        <p:sp>
          <p:nvSpPr>
            <p:cNvPr id="64" name="Line 55">
              <a:extLst>
                <a:ext uri="{FF2B5EF4-FFF2-40B4-BE49-F238E27FC236}">
                  <a16:creationId xmlns:a16="http://schemas.microsoft.com/office/drawing/2014/main" xmlns="" id="{11B1E9AE-033E-B2E1-B522-181ACF994A68}"/>
                </a:ext>
              </a:extLst>
            </p:cNvPr>
            <p:cNvSpPr>
              <a:spLocks noChangeShapeType="1"/>
            </p:cNvSpPr>
            <p:nvPr/>
          </p:nvSpPr>
          <p:spPr bwMode="auto">
            <a:xfrm>
              <a:off x="5686394" y="3803637"/>
              <a:ext cx="0" cy="576263"/>
            </a:xfrm>
            <a:prstGeom prst="line">
              <a:avLst/>
            </a:prstGeom>
            <a:ln>
              <a:headEnd/>
              <a:tailEnd type="triangle" w="med" len="lg"/>
            </a:ln>
          </p:spPr>
          <p:style>
            <a:lnRef idx="2">
              <a:schemeClr val="accent6"/>
            </a:lnRef>
            <a:fillRef idx="0">
              <a:schemeClr val="accent6"/>
            </a:fillRef>
            <a:effectRef idx="1">
              <a:schemeClr val="accent6"/>
            </a:effectRef>
            <a:fontRef idx="minor">
              <a:schemeClr val="tx1"/>
            </a:fontRef>
          </p:style>
          <p:txBody>
            <a:bodyPr wrap="none"/>
            <a:lstStyle/>
            <a:p>
              <a:endParaRPr lang="zh-CN" altLang="en-US" sz="1800">
                <a:latin typeface="Consolas" pitchFamily="49" charset="0"/>
                <a:cs typeface="Consolas" pitchFamily="49" charset="0"/>
              </a:endParaRPr>
            </a:p>
          </p:txBody>
        </p:sp>
      </p:grpSp>
      <p:sp>
        <p:nvSpPr>
          <p:cNvPr id="65" name="TextBox 61">
            <a:extLst>
              <a:ext uri="{FF2B5EF4-FFF2-40B4-BE49-F238E27FC236}">
                <a16:creationId xmlns:a16="http://schemas.microsoft.com/office/drawing/2014/main" xmlns="" id="{3482B5BE-866C-E982-F100-3D10D3A9EC66}"/>
              </a:ext>
            </a:extLst>
          </p:cNvPr>
          <p:cNvSpPr txBox="1"/>
          <p:nvPr/>
        </p:nvSpPr>
        <p:spPr>
          <a:xfrm>
            <a:off x="7648597" y="2860954"/>
            <a:ext cx="3357586" cy="400110"/>
          </a:xfrm>
          <a:prstGeom prst="rect">
            <a:avLst/>
          </a:prstGeom>
          <a:noFill/>
        </p:spPr>
        <p:txBody>
          <a:bodyPr wrap="square" rtlCol="0">
            <a:spAutoFit/>
          </a:bodyPr>
          <a:lstStyle/>
          <a:p>
            <a:pPr algn="l"/>
            <a:r>
              <a:rPr lang="zh-CN" altLang="en-US" sz="2000" dirty="0">
                <a:latin typeface="仿宋" pitchFamily="49" charset="-122"/>
                <a:ea typeface="仿宋" pitchFamily="49" charset="-122"/>
                <a:cs typeface="Consolas" pitchFamily="49" charset="0"/>
              </a:rPr>
              <a:t>每个指针指向一颗子树</a:t>
            </a:r>
          </a:p>
        </p:txBody>
      </p:sp>
      <p:sp>
        <p:nvSpPr>
          <p:cNvPr id="70" name="Text Box 60">
            <a:extLst>
              <a:ext uri="{FF2B5EF4-FFF2-40B4-BE49-F238E27FC236}">
                <a16:creationId xmlns:a16="http://schemas.microsoft.com/office/drawing/2014/main" xmlns="" id="{83CB067D-2C9D-FC74-885E-895848627428}"/>
              </a:ext>
            </a:extLst>
          </p:cNvPr>
          <p:cNvSpPr txBox="1">
            <a:spLocks noChangeArrowheads="1"/>
          </p:cNvSpPr>
          <p:nvPr/>
        </p:nvSpPr>
        <p:spPr bwMode="auto">
          <a:xfrm>
            <a:off x="7737934" y="6383246"/>
            <a:ext cx="2951162" cy="400110"/>
          </a:xfrm>
          <a:prstGeom prst="rect">
            <a:avLst/>
          </a:prstGeom>
          <a:noFill/>
          <a:ln w="28575" algn="ctr">
            <a:noFill/>
            <a:miter lim="800000"/>
            <a:headEnd/>
            <a:tailEnd type="none" w="med" len="lg"/>
          </a:ln>
          <a:effectLst/>
        </p:spPr>
        <p:txBody>
          <a:bodyPr>
            <a:spAutoFit/>
          </a:bodyPr>
          <a:lstStyle/>
          <a:p>
            <a:pPr>
              <a:spcBef>
                <a:spcPct val="50000"/>
              </a:spcBef>
            </a:pPr>
            <a:r>
              <a:rPr lang="zh-CN" altLang="en-US" sz="2000" dirty="0">
                <a:latin typeface="仿宋" pitchFamily="49" charset="-122"/>
                <a:ea typeface="仿宋" pitchFamily="49" charset="-122"/>
                <a:cs typeface="Consolas" pitchFamily="49" charset="0"/>
              </a:rPr>
              <a:t>树的孩子链存储结构</a:t>
            </a:r>
          </a:p>
        </p:txBody>
      </p:sp>
      <p:sp>
        <p:nvSpPr>
          <p:cNvPr id="72" name="Text Box 4">
            <a:extLst>
              <a:ext uri="{FF2B5EF4-FFF2-40B4-BE49-F238E27FC236}">
                <a16:creationId xmlns:a16="http://schemas.microsoft.com/office/drawing/2014/main" xmlns="" id="{A5BA7B45-37EE-C31D-E9BC-9A26C429C177}"/>
              </a:ext>
            </a:extLst>
          </p:cNvPr>
          <p:cNvSpPr txBox="1">
            <a:spLocks noChangeArrowheads="1"/>
          </p:cNvSpPr>
          <p:nvPr/>
        </p:nvSpPr>
        <p:spPr bwMode="auto">
          <a:xfrm>
            <a:off x="54988" y="4500782"/>
            <a:ext cx="5262451" cy="170958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216000" tIns="180000" rIns="144000" bIns="216000">
            <a:spAutoFit/>
          </a:bodyPr>
          <a:lstStyle/>
          <a:p>
            <a:pPr algn="l">
              <a:lnSpc>
                <a:spcPts val="2600"/>
              </a:lnSpc>
            </a:pPr>
            <a:r>
              <a:rPr lang="en-US" altLang="zh-CN" sz="1600" dirty="0" err="1">
                <a:solidFill>
                  <a:srgbClr val="3333FF"/>
                </a:solidFill>
                <a:latin typeface="Consolas" pitchFamily="49" charset="0"/>
                <a:ea typeface="仿宋" pitchFamily="49" charset="-122"/>
                <a:cs typeface="Consolas" pitchFamily="49" charset="0"/>
              </a:rPr>
              <a:t>typedef</a:t>
            </a:r>
            <a:r>
              <a:rPr lang="en-US" altLang="zh-CN" sz="1600" dirty="0">
                <a:solidFill>
                  <a:srgbClr val="3333FF"/>
                </a:solidFill>
                <a:latin typeface="Consolas" pitchFamily="49" charset="0"/>
                <a:ea typeface="仿宋" pitchFamily="49" charset="-122"/>
                <a:cs typeface="Consolas" pitchFamily="49" charset="0"/>
              </a:rPr>
              <a:t> </a:t>
            </a:r>
            <a:r>
              <a:rPr lang="en-US" altLang="zh-CN" sz="1600" dirty="0" err="1">
                <a:solidFill>
                  <a:srgbClr val="3333FF"/>
                </a:solidFill>
                <a:latin typeface="Consolas" pitchFamily="49" charset="0"/>
                <a:ea typeface="仿宋" pitchFamily="49" charset="-122"/>
                <a:cs typeface="Consolas" pitchFamily="49" charset="0"/>
              </a:rPr>
              <a:t>struct</a:t>
            </a:r>
            <a:r>
              <a:rPr lang="en-US" altLang="zh-CN" sz="1600" dirty="0">
                <a:solidFill>
                  <a:srgbClr val="3333FF"/>
                </a:solidFill>
                <a:latin typeface="Consolas" pitchFamily="49" charset="0"/>
                <a:ea typeface="仿宋" pitchFamily="49" charset="-122"/>
                <a:cs typeface="Consolas" pitchFamily="49" charset="0"/>
              </a:rPr>
              <a:t> node</a:t>
            </a:r>
          </a:p>
          <a:p>
            <a:pPr algn="l">
              <a:lnSpc>
                <a:spcPts val="2600"/>
              </a:lnSpc>
            </a:pPr>
            <a:r>
              <a:rPr lang="en-US" altLang="zh-CN" sz="1600" dirty="0">
                <a:solidFill>
                  <a:srgbClr val="3333FF"/>
                </a:solidFill>
                <a:latin typeface="Consolas" pitchFamily="49" charset="0"/>
                <a:ea typeface="仿宋" pitchFamily="49" charset="-122"/>
                <a:cs typeface="Consolas" pitchFamily="49" charset="0"/>
              </a:rPr>
              <a:t>{  </a:t>
            </a:r>
            <a:r>
              <a:rPr lang="en-US" altLang="zh-CN" sz="1600" dirty="0" err="1">
                <a:solidFill>
                  <a:srgbClr val="3333FF"/>
                </a:solidFill>
                <a:latin typeface="Consolas" pitchFamily="49" charset="0"/>
                <a:ea typeface="仿宋" pitchFamily="49" charset="-122"/>
                <a:cs typeface="Consolas" pitchFamily="49" charset="0"/>
              </a:rPr>
              <a:t>ElemType</a:t>
            </a:r>
            <a:r>
              <a:rPr lang="en-US" altLang="zh-CN" sz="1600" dirty="0">
                <a:solidFill>
                  <a:srgbClr val="3333FF"/>
                </a:solidFill>
                <a:latin typeface="Consolas" pitchFamily="49" charset="0"/>
                <a:ea typeface="仿宋" pitchFamily="49" charset="-122"/>
                <a:cs typeface="Consolas" pitchFamily="49" charset="0"/>
              </a:rPr>
              <a:t> data;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结点的值</a:t>
            </a:r>
          </a:p>
          <a:p>
            <a:pPr algn="l">
              <a:lnSpc>
                <a:spcPts val="2600"/>
              </a:lnSpc>
            </a:pPr>
            <a:r>
              <a:rPr lang="zh-CN" altLang="en-US" sz="1600" dirty="0">
                <a:solidFill>
                  <a:srgbClr val="3333FF"/>
                </a:solidFill>
                <a:latin typeface="Consolas" pitchFamily="49" charset="0"/>
                <a:ea typeface="仿宋" pitchFamily="49" charset="-122"/>
                <a:cs typeface="Consolas" pitchFamily="49" charset="0"/>
              </a:rPr>
              <a:t>   </a:t>
            </a:r>
            <a:r>
              <a:rPr lang="en-US" altLang="zh-CN" sz="1600" dirty="0">
                <a:solidFill>
                  <a:srgbClr val="3333FF"/>
                </a:solidFill>
                <a:latin typeface="Consolas" pitchFamily="49" charset="0"/>
                <a:ea typeface="仿宋" pitchFamily="49" charset="-122"/>
                <a:cs typeface="Consolas" pitchFamily="49" charset="0"/>
              </a:rPr>
              <a:t>struct node *sons[</a:t>
            </a:r>
            <a:r>
              <a:rPr lang="en-US" altLang="zh-CN" sz="1600" dirty="0" err="1">
                <a:solidFill>
                  <a:srgbClr val="3333FF"/>
                </a:solidFill>
                <a:latin typeface="Consolas" pitchFamily="49" charset="0"/>
                <a:ea typeface="仿宋" pitchFamily="49" charset="-122"/>
                <a:cs typeface="Consolas" pitchFamily="49" charset="0"/>
              </a:rPr>
              <a:t>MaxSons</a:t>
            </a:r>
            <a:r>
              <a:rPr lang="en-US" altLang="zh-CN" sz="1600" dirty="0">
                <a:solidFill>
                  <a:srgbClr val="3333FF"/>
                </a:solidFill>
                <a:latin typeface="Consolas" pitchFamily="49" charset="0"/>
                <a:ea typeface="仿宋" pitchFamily="49" charset="-122"/>
                <a:cs typeface="Consolas" pitchFamily="49" charset="0"/>
              </a:rPr>
              <a:t>]; </a:t>
            </a:r>
            <a:r>
              <a:rPr lang="en-US" altLang="zh-CN" sz="1600" dirty="0">
                <a:solidFill>
                  <a:srgbClr val="00B0F0"/>
                </a:solidFill>
                <a:latin typeface="Consolas" pitchFamily="49" charset="0"/>
                <a:ea typeface="仿宋" pitchFamily="49" charset="-122"/>
                <a:cs typeface="Consolas" pitchFamily="49" charset="0"/>
              </a:rPr>
              <a:t>//</a:t>
            </a:r>
            <a:r>
              <a:rPr lang="zh-CN" altLang="en-US" sz="1600" dirty="0">
                <a:solidFill>
                  <a:srgbClr val="00B0F0"/>
                </a:solidFill>
                <a:latin typeface="Consolas" pitchFamily="49" charset="0"/>
                <a:ea typeface="仿宋" pitchFamily="49" charset="-122"/>
                <a:cs typeface="Consolas" pitchFamily="49" charset="0"/>
              </a:rPr>
              <a:t>指向孩子结点</a:t>
            </a:r>
          </a:p>
          <a:p>
            <a:pPr algn="l">
              <a:lnSpc>
                <a:spcPts val="2600"/>
              </a:lnSpc>
            </a:pPr>
            <a:r>
              <a:rPr lang="en-US" altLang="zh-CN" sz="1600" dirty="0">
                <a:solidFill>
                  <a:srgbClr val="3333FF"/>
                </a:solidFill>
                <a:latin typeface="Consolas" pitchFamily="49" charset="0"/>
                <a:ea typeface="仿宋" pitchFamily="49" charset="-122"/>
                <a:cs typeface="Consolas" pitchFamily="49" charset="0"/>
              </a:rPr>
              <a:t>} </a:t>
            </a:r>
            <a:r>
              <a:rPr lang="en-US" altLang="zh-CN" sz="1600" dirty="0" err="1">
                <a:solidFill>
                  <a:srgbClr val="FF0000"/>
                </a:solidFill>
                <a:latin typeface="Consolas" pitchFamily="49" charset="0"/>
                <a:ea typeface="仿宋" pitchFamily="49" charset="-122"/>
                <a:cs typeface="Consolas" pitchFamily="49" charset="0"/>
              </a:rPr>
              <a:t>TSonNode</a:t>
            </a:r>
            <a:r>
              <a:rPr lang="en-US" altLang="zh-CN" sz="1600" dirty="0">
                <a:solidFill>
                  <a:srgbClr val="3333FF"/>
                </a:solidFill>
                <a:latin typeface="Consolas" pitchFamily="49" charset="0"/>
                <a:ea typeface="仿宋" pitchFamily="49" charset="-122"/>
                <a:cs typeface="Consolas" pitchFamily="49" charset="0"/>
              </a:rPr>
              <a:t>;</a:t>
            </a:r>
          </a:p>
        </p:txBody>
      </p:sp>
      <p:sp>
        <p:nvSpPr>
          <p:cNvPr id="73" name="Text Box 8">
            <a:extLst>
              <a:ext uri="{FF2B5EF4-FFF2-40B4-BE49-F238E27FC236}">
                <a16:creationId xmlns:a16="http://schemas.microsoft.com/office/drawing/2014/main" xmlns="" id="{2AE9D1B4-F515-5652-75DA-1C12C602BC9A}"/>
              </a:ext>
            </a:extLst>
          </p:cNvPr>
          <p:cNvSpPr txBox="1">
            <a:spLocks noChangeArrowheads="1"/>
          </p:cNvSpPr>
          <p:nvPr/>
        </p:nvSpPr>
        <p:spPr bwMode="auto">
          <a:xfrm>
            <a:off x="321576" y="6342752"/>
            <a:ext cx="5689600" cy="400110"/>
          </a:xfrm>
          <a:prstGeom prst="rect">
            <a:avLst/>
          </a:prstGeom>
          <a:noFill/>
          <a:ln w="9525" algn="ctr">
            <a:noFill/>
            <a:miter lim="800000"/>
            <a:headEnd/>
            <a:tailEnd type="none" w="med" len="lg"/>
          </a:ln>
          <a:effectLst/>
        </p:spPr>
        <p:txBody>
          <a:bodyPr>
            <a:spAutoFit/>
          </a:bodyPr>
          <a:lstStyle/>
          <a:p>
            <a:pPr algn="l">
              <a:spcBef>
                <a:spcPct val="50000"/>
              </a:spcBef>
            </a:pPr>
            <a:r>
              <a:rPr lang="zh-CN" altLang="en-US" sz="2000" dirty="0">
                <a:latin typeface="Consolas" pitchFamily="49" charset="0"/>
                <a:ea typeface="楷体" pitchFamily="49" charset="-122"/>
                <a:cs typeface="Consolas" pitchFamily="49" charset="0"/>
              </a:rPr>
              <a:t>其中，</a:t>
            </a:r>
            <a:r>
              <a:rPr lang="en-US" altLang="zh-CN" sz="2000" dirty="0" err="1">
                <a:latin typeface="Consolas" pitchFamily="49" charset="0"/>
                <a:ea typeface="楷体" pitchFamily="49" charset="-122"/>
                <a:cs typeface="Consolas" pitchFamily="49" charset="0"/>
              </a:rPr>
              <a:t>MaxSons</a:t>
            </a:r>
            <a:r>
              <a:rPr lang="zh-CN" altLang="en-US" sz="2000" dirty="0">
                <a:latin typeface="Consolas" pitchFamily="49" charset="0"/>
                <a:ea typeface="楷体" pitchFamily="49" charset="-122"/>
                <a:cs typeface="Consolas" pitchFamily="49" charset="0"/>
              </a:rPr>
              <a:t>为最多的孩子结点个数。</a:t>
            </a:r>
          </a:p>
        </p:txBody>
      </p:sp>
    </p:spTree>
    <p:extLst>
      <p:ext uri="{BB962C8B-B14F-4D97-AF65-F5344CB8AC3E}">
        <p14:creationId xmlns:p14="http://schemas.microsoft.com/office/powerpoint/2010/main" val="179629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60478" y="2065481"/>
            <a:ext cx="8995962" cy="707886"/>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以二叉链表作为树的存储结构，链表中的结点的两个指针分别指向该结点的第一个孩子结点和下一个兄弟结点。</a:t>
            </a:r>
            <a:endParaRPr lang="zh-CN" altLang="en-US" sz="2000" dirty="0"/>
          </a:p>
        </p:txBody>
      </p:sp>
      <p:grpSp>
        <p:nvGrpSpPr>
          <p:cNvPr id="93" name="Group 3"/>
          <p:cNvGrpSpPr>
            <a:grpSpLocks/>
          </p:cNvGrpSpPr>
          <p:nvPr/>
        </p:nvGrpSpPr>
        <p:grpSpPr bwMode="auto">
          <a:xfrm>
            <a:off x="4653646" y="2538165"/>
            <a:ext cx="2447925" cy="2514600"/>
            <a:chOff x="2304" y="1680"/>
            <a:chExt cx="1542" cy="1584"/>
          </a:xfrm>
        </p:grpSpPr>
        <p:grpSp>
          <p:nvGrpSpPr>
            <p:cNvPr id="94" name="Group 4"/>
            <p:cNvGrpSpPr>
              <a:grpSpLocks/>
            </p:cNvGrpSpPr>
            <p:nvPr/>
          </p:nvGrpSpPr>
          <p:grpSpPr bwMode="auto">
            <a:xfrm>
              <a:off x="3205" y="3014"/>
              <a:ext cx="295" cy="250"/>
              <a:chOff x="2880" y="1104"/>
              <a:chExt cx="367" cy="343"/>
            </a:xfrm>
          </p:grpSpPr>
          <p:sp>
            <p:nvSpPr>
              <p:cNvPr id="209" name="Oval 5"/>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210" name="Text Box 6"/>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I</a:t>
                </a:r>
              </a:p>
            </p:txBody>
          </p:sp>
        </p:grpSp>
        <p:grpSp>
          <p:nvGrpSpPr>
            <p:cNvPr id="95" name="Group 7"/>
            <p:cNvGrpSpPr>
              <a:grpSpLocks/>
            </p:cNvGrpSpPr>
            <p:nvPr/>
          </p:nvGrpSpPr>
          <p:grpSpPr bwMode="auto">
            <a:xfrm>
              <a:off x="3019" y="1680"/>
              <a:ext cx="295" cy="250"/>
              <a:chOff x="2880" y="1104"/>
              <a:chExt cx="367" cy="343"/>
            </a:xfrm>
          </p:grpSpPr>
          <p:sp>
            <p:nvSpPr>
              <p:cNvPr id="207" name="Oval 8"/>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208" name="Text Box 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A</a:t>
                </a:r>
              </a:p>
            </p:txBody>
          </p:sp>
        </p:grpSp>
        <p:grpSp>
          <p:nvGrpSpPr>
            <p:cNvPr id="96" name="Group 10"/>
            <p:cNvGrpSpPr>
              <a:grpSpLocks/>
            </p:cNvGrpSpPr>
            <p:nvPr/>
          </p:nvGrpSpPr>
          <p:grpSpPr bwMode="auto">
            <a:xfrm>
              <a:off x="3551" y="2256"/>
              <a:ext cx="295" cy="250"/>
              <a:chOff x="2880" y="1104"/>
              <a:chExt cx="367" cy="343"/>
            </a:xfrm>
          </p:grpSpPr>
          <p:sp>
            <p:nvSpPr>
              <p:cNvPr id="205" name="Oval 11"/>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206" name="Text Box 12"/>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dirty="0"/>
                  <a:t>C</a:t>
                </a:r>
              </a:p>
            </p:txBody>
          </p:sp>
        </p:grpSp>
        <p:grpSp>
          <p:nvGrpSpPr>
            <p:cNvPr id="97" name="Group 13"/>
            <p:cNvGrpSpPr>
              <a:grpSpLocks/>
            </p:cNvGrpSpPr>
            <p:nvPr/>
          </p:nvGrpSpPr>
          <p:grpSpPr bwMode="auto">
            <a:xfrm>
              <a:off x="2570" y="2160"/>
              <a:ext cx="295" cy="250"/>
              <a:chOff x="2880" y="1104"/>
              <a:chExt cx="367" cy="343"/>
            </a:xfrm>
          </p:grpSpPr>
          <p:sp>
            <p:nvSpPr>
              <p:cNvPr id="203" name="Oval 14"/>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204" name="Text Box 15"/>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dirty="0"/>
                  <a:t>B</a:t>
                </a:r>
              </a:p>
            </p:txBody>
          </p:sp>
        </p:grpSp>
        <p:grpSp>
          <p:nvGrpSpPr>
            <p:cNvPr id="98" name="Group 16"/>
            <p:cNvGrpSpPr>
              <a:grpSpLocks/>
            </p:cNvGrpSpPr>
            <p:nvPr/>
          </p:nvGrpSpPr>
          <p:grpSpPr bwMode="auto">
            <a:xfrm>
              <a:off x="2850" y="3014"/>
              <a:ext cx="296" cy="250"/>
              <a:chOff x="2880" y="1104"/>
              <a:chExt cx="367" cy="343"/>
            </a:xfrm>
          </p:grpSpPr>
          <p:sp>
            <p:nvSpPr>
              <p:cNvPr id="201" name="Oval 17"/>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202" name="Text Box 18"/>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H</a:t>
                </a:r>
              </a:p>
            </p:txBody>
          </p:sp>
        </p:grpSp>
        <p:grpSp>
          <p:nvGrpSpPr>
            <p:cNvPr id="99" name="Group 19"/>
            <p:cNvGrpSpPr>
              <a:grpSpLocks/>
            </p:cNvGrpSpPr>
            <p:nvPr/>
          </p:nvGrpSpPr>
          <p:grpSpPr bwMode="auto">
            <a:xfrm>
              <a:off x="2496" y="3014"/>
              <a:ext cx="295" cy="250"/>
              <a:chOff x="2880" y="1104"/>
              <a:chExt cx="367" cy="343"/>
            </a:xfrm>
          </p:grpSpPr>
          <p:sp>
            <p:nvSpPr>
              <p:cNvPr id="199" name="Oval 20"/>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200" name="Text Box 21"/>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G</a:t>
                </a:r>
              </a:p>
            </p:txBody>
          </p:sp>
        </p:grpSp>
        <p:grpSp>
          <p:nvGrpSpPr>
            <p:cNvPr id="100" name="Group 22"/>
            <p:cNvGrpSpPr>
              <a:grpSpLocks/>
            </p:cNvGrpSpPr>
            <p:nvPr/>
          </p:nvGrpSpPr>
          <p:grpSpPr bwMode="auto">
            <a:xfrm>
              <a:off x="3551" y="2678"/>
              <a:ext cx="295" cy="250"/>
              <a:chOff x="2880" y="1104"/>
              <a:chExt cx="367" cy="343"/>
            </a:xfrm>
          </p:grpSpPr>
          <p:sp>
            <p:nvSpPr>
              <p:cNvPr id="197" name="Oval 23"/>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98" name="Text Box 24"/>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F</a:t>
                </a:r>
              </a:p>
            </p:txBody>
          </p:sp>
        </p:grpSp>
        <p:grpSp>
          <p:nvGrpSpPr>
            <p:cNvPr id="101" name="Group 25"/>
            <p:cNvGrpSpPr>
              <a:grpSpLocks/>
            </p:cNvGrpSpPr>
            <p:nvPr/>
          </p:nvGrpSpPr>
          <p:grpSpPr bwMode="auto">
            <a:xfrm>
              <a:off x="2806" y="2559"/>
              <a:ext cx="295" cy="250"/>
              <a:chOff x="2880" y="1104"/>
              <a:chExt cx="367" cy="343"/>
            </a:xfrm>
          </p:grpSpPr>
          <p:sp>
            <p:nvSpPr>
              <p:cNvPr id="195" name="Oval 26"/>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96" name="Text Box 27"/>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E</a:t>
                </a:r>
              </a:p>
            </p:txBody>
          </p:sp>
        </p:grpSp>
        <p:grpSp>
          <p:nvGrpSpPr>
            <p:cNvPr id="148" name="Group 28"/>
            <p:cNvGrpSpPr>
              <a:grpSpLocks/>
            </p:cNvGrpSpPr>
            <p:nvPr/>
          </p:nvGrpSpPr>
          <p:grpSpPr bwMode="auto">
            <a:xfrm>
              <a:off x="2304" y="2521"/>
              <a:ext cx="295" cy="250"/>
              <a:chOff x="2880" y="1104"/>
              <a:chExt cx="367" cy="343"/>
            </a:xfrm>
          </p:grpSpPr>
          <p:sp>
            <p:nvSpPr>
              <p:cNvPr id="193" name="Oval 29"/>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94" name="Text Box 30"/>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D</a:t>
                </a:r>
              </a:p>
            </p:txBody>
          </p:sp>
        </p:grpSp>
        <p:sp>
          <p:nvSpPr>
            <p:cNvPr id="185" name="Line 31"/>
            <p:cNvSpPr>
              <a:spLocks noChangeShapeType="1"/>
            </p:cNvSpPr>
            <p:nvPr/>
          </p:nvSpPr>
          <p:spPr bwMode="auto">
            <a:xfrm flipH="1">
              <a:off x="2797" y="1920"/>
              <a:ext cx="310" cy="287"/>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 name="Line 32"/>
            <p:cNvSpPr>
              <a:spLocks noChangeShapeType="1"/>
            </p:cNvSpPr>
            <p:nvPr/>
          </p:nvSpPr>
          <p:spPr bwMode="auto">
            <a:xfrm flipH="1">
              <a:off x="2487" y="2400"/>
              <a:ext cx="105" cy="143"/>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7" name="Line 33"/>
            <p:cNvSpPr>
              <a:spLocks noChangeShapeType="1"/>
            </p:cNvSpPr>
            <p:nvPr/>
          </p:nvSpPr>
          <p:spPr bwMode="auto">
            <a:xfrm>
              <a:off x="2736" y="2400"/>
              <a:ext cx="150" cy="143"/>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8" name="Line 34"/>
            <p:cNvSpPr>
              <a:spLocks noChangeShapeType="1"/>
            </p:cNvSpPr>
            <p:nvPr/>
          </p:nvSpPr>
          <p:spPr bwMode="auto">
            <a:xfrm>
              <a:off x="3196" y="1920"/>
              <a:ext cx="452" cy="336"/>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9" name="Line 35"/>
            <p:cNvSpPr>
              <a:spLocks noChangeShapeType="1"/>
            </p:cNvSpPr>
            <p:nvPr/>
          </p:nvSpPr>
          <p:spPr bwMode="auto">
            <a:xfrm flipH="1">
              <a:off x="2688" y="2784"/>
              <a:ext cx="162"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 name="Line 36"/>
            <p:cNvSpPr>
              <a:spLocks noChangeShapeType="1"/>
            </p:cNvSpPr>
            <p:nvPr/>
          </p:nvSpPr>
          <p:spPr bwMode="auto">
            <a:xfrm>
              <a:off x="3027" y="2774"/>
              <a:ext cx="285" cy="25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1" name="Line 37"/>
            <p:cNvSpPr>
              <a:spLocks noChangeShapeType="1"/>
            </p:cNvSpPr>
            <p:nvPr/>
          </p:nvSpPr>
          <p:spPr bwMode="auto">
            <a:xfrm>
              <a:off x="2976" y="2784"/>
              <a:ext cx="0"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2" name="Line 38"/>
            <p:cNvSpPr>
              <a:spLocks noChangeShapeType="1"/>
            </p:cNvSpPr>
            <p:nvPr/>
          </p:nvSpPr>
          <p:spPr bwMode="auto">
            <a:xfrm>
              <a:off x="3696" y="2496"/>
              <a:ext cx="0"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2" name="Group 41"/>
          <p:cNvGrpSpPr>
            <a:grpSpLocks/>
          </p:cNvGrpSpPr>
          <p:nvPr/>
        </p:nvGrpSpPr>
        <p:grpSpPr bwMode="auto">
          <a:xfrm>
            <a:off x="10530571" y="2881065"/>
            <a:ext cx="1143000" cy="304800"/>
            <a:chOff x="3312" y="2064"/>
            <a:chExt cx="720" cy="192"/>
          </a:xfrm>
        </p:grpSpPr>
        <p:sp>
          <p:nvSpPr>
            <p:cNvPr id="213" name="Rectangle 42"/>
            <p:cNvSpPr>
              <a:spLocks noChangeArrowheads="1"/>
            </p:cNvSpPr>
            <p:nvPr/>
          </p:nvSpPr>
          <p:spPr bwMode="auto">
            <a:xfrm>
              <a:off x="3552" y="2064"/>
              <a:ext cx="240" cy="192"/>
            </a:xfrm>
            <a:prstGeom prst="rect">
              <a:avLst/>
            </a:prstGeom>
            <a:solidFill>
              <a:schemeClr val="accent1"/>
            </a:solidFill>
            <a:ln w="12700" cap="rnd">
              <a:solidFill>
                <a:schemeClr val="tx1"/>
              </a:solidFill>
              <a:miter lim="800000"/>
              <a:headEnd/>
              <a:tailEnd/>
            </a:ln>
          </p:spPr>
          <p:txBody>
            <a:bodyPr wrap="none" anchor="ctr"/>
            <a:lstStyle/>
            <a:p>
              <a:pPr algn="ctr">
                <a:spcBef>
                  <a:spcPct val="0"/>
                </a:spcBef>
                <a:buClrTx/>
                <a:buSzTx/>
                <a:buFontTx/>
                <a:buNone/>
              </a:pPr>
              <a:r>
                <a:rPr lang="en-US" altLang="zh-CN" sz="2400"/>
                <a:t>A</a:t>
              </a:r>
            </a:p>
          </p:txBody>
        </p:sp>
        <p:sp>
          <p:nvSpPr>
            <p:cNvPr id="214" name="Rectangle 43"/>
            <p:cNvSpPr>
              <a:spLocks noChangeArrowheads="1"/>
            </p:cNvSpPr>
            <p:nvPr/>
          </p:nvSpPr>
          <p:spPr bwMode="auto">
            <a:xfrm>
              <a:off x="3792" y="2064"/>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a:t>
              </a:r>
            </a:p>
          </p:txBody>
        </p:sp>
        <p:sp>
          <p:nvSpPr>
            <p:cNvPr id="215" name="Rectangle 44"/>
            <p:cNvSpPr>
              <a:spLocks noChangeArrowheads="1"/>
            </p:cNvSpPr>
            <p:nvPr/>
          </p:nvSpPr>
          <p:spPr bwMode="auto">
            <a:xfrm>
              <a:off x="3312" y="2064"/>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grpSp>
      <p:grpSp>
        <p:nvGrpSpPr>
          <p:cNvPr id="216" name="Group 45"/>
          <p:cNvGrpSpPr>
            <a:grpSpLocks/>
          </p:cNvGrpSpPr>
          <p:nvPr/>
        </p:nvGrpSpPr>
        <p:grpSpPr bwMode="auto">
          <a:xfrm>
            <a:off x="8854171" y="3490665"/>
            <a:ext cx="1143000" cy="304800"/>
            <a:chOff x="2688" y="2448"/>
            <a:chExt cx="720" cy="192"/>
          </a:xfrm>
        </p:grpSpPr>
        <p:sp>
          <p:nvSpPr>
            <p:cNvPr id="217" name="Rectangle 46"/>
            <p:cNvSpPr>
              <a:spLocks noChangeArrowheads="1"/>
            </p:cNvSpPr>
            <p:nvPr/>
          </p:nvSpPr>
          <p:spPr bwMode="auto">
            <a:xfrm>
              <a:off x="2928" y="2448"/>
              <a:ext cx="240" cy="192"/>
            </a:xfrm>
            <a:prstGeom prst="rect">
              <a:avLst/>
            </a:prstGeom>
            <a:solidFill>
              <a:schemeClr val="accent1"/>
            </a:solidFill>
            <a:ln w="12700" cap="rnd">
              <a:solidFill>
                <a:schemeClr val="tx1"/>
              </a:solidFill>
              <a:miter lim="800000"/>
              <a:headEnd/>
              <a:tailEnd/>
            </a:ln>
          </p:spPr>
          <p:txBody>
            <a:bodyPr wrap="none" anchor="ctr"/>
            <a:lstStyle/>
            <a:p>
              <a:pPr algn="ctr">
                <a:spcBef>
                  <a:spcPct val="0"/>
                </a:spcBef>
                <a:buClrTx/>
                <a:buSzTx/>
                <a:buFontTx/>
                <a:buNone/>
              </a:pPr>
              <a:r>
                <a:rPr lang="en-US" altLang="zh-CN" sz="2400"/>
                <a:t>B</a:t>
              </a:r>
            </a:p>
          </p:txBody>
        </p:sp>
        <p:sp>
          <p:nvSpPr>
            <p:cNvPr id="218" name="Rectangle 47"/>
            <p:cNvSpPr>
              <a:spLocks noChangeArrowheads="1"/>
            </p:cNvSpPr>
            <p:nvPr/>
          </p:nvSpPr>
          <p:spPr bwMode="auto">
            <a:xfrm>
              <a:off x="316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219" name="Rectangle 48"/>
            <p:cNvSpPr>
              <a:spLocks noChangeArrowheads="1"/>
            </p:cNvSpPr>
            <p:nvPr/>
          </p:nvSpPr>
          <p:spPr bwMode="auto">
            <a:xfrm>
              <a:off x="268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grpSp>
      <p:sp>
        <p:nvSpPr>
          <p:cNvPr id="220" name="Line 49"/>
          <p:cNvSpPr>
            <a:spLocks noChangeShapeType="1"/>
          </p:cNvSpPr>
          <p:nvPr/>
        </p:nvSpPr>
        <p:spPr bwMode="auto">
          <a:xfrm flipH="1">
            <a:off x="9463771" y="3109665"/>
            <a:ext cx="1295400" cy="381000"/>
          </a:xfrm>
          <a:prstGeom prst="line">
            <a:avLst/>
          </a:prstGeom>
          <a:noFill/>
          <a:ln w="3175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21" name="Group 50"/>
          <p:cNvGrpSpPr>
            <a:grpSpLocks/>
          </p:cNvGrpSpPr>
          <p:nvPr/>
        </p:nvGrpSpPr>
        <p:grpSpPr bwMode="auto">
          <a:xfrm>
            <a:off x="9920971" y="4557465"/>
            <a:ext cx="1143000" cy="304800"/>
            <a:chOff x="2688" y="2448"/>
            <a:chExt cx="720" cy="192"/>
          </a:xfrm>
        </p:grpSpPr>
        <p:sp>
          <p:nvSpPr>
            <p:cNvPr id="222" name="Rectangle 51"/>
            <p:cNvSpPr>
              <a:spLocks noChangeArrowheads="1"/>
            </p:cNvSpPr>
            <p:nvPr/>
          </p:nvSpPr>
          <p:spPr bwMode="auto">
            <a:xfrm>
              <a:off x="2928" y="2448"/>
              <a:ext cx="240" cy="192"/>
            </a:xfrm>
            <a:prstGeom prst="rect">
              <a:avLst/>
            </a:prstGeom>
            <a:solidFill>
              <a:schemeClr val="accent1"/>
            </a:solidFill>
            <a:ln w="12700" cap="rnd">
              <a:solidFill>
                <a:schemeClr val="tx1"/>
              </a:solidFill>
              <a:miter lim="800000"/>
              <a:headEnd/>
              <a:tailEnd/>
            </a:ln>
          </p:spPr>
          <p:txBody>
            <a:bodyPr wrap="none" anchor="ctr"/>
            <a:lstStyle/>
            <a:p>
              <a:pPr algn="ctr">
                <a:spcBef>
                  <a:spcPct val="0"/>
                </a:spcBef>
                <a:buClrTx/>
                <a:buSzTx/>
                <a:buFontTx/>
                <a:buNone/>
              </a:pPr>
              <a:r>
                <a:rPr lang="en-US" altLang="zh-CN" sz="2400"/>
                <a:t>F</a:t>
              </a:r>
            </a:p>
          </p:txBody>
        </p:sp>
        <p:sp>
          <p:nvSpPr>
            <p:cNvPr id="223" name="Rectangle 52"/>
            <p:cNvSpPr>
              <a:spLocks noChangeArrowheads="1"/>
            </p:cNvSpPr>
            <p:nvPr/>
          </p:nvSpPr>
          <p:spPr bwMode="auto">
            <a:xfrm>
              <a:off x="316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a:t>
              </a:r>
            </a:p>
          </p:txBody>
        </p:sp>
        <p:sp>
          <p:nvSpPr>
            <p:cNvPr id="224" name="Rectangle 53"/>
            <p:cNvSpPr>
              <a:spLocks noChangeArrowheads="1"/>
            </p:cNvSpPr>
            <p:nvPr/>
          </p:nvSpPr>
          <p:spPr bwMode="auto">
            <a:xfrm>
              <a:off x="268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a:t>
              </a:r>
            </a:p>
          </p:txBody>
        </p:sp>
      </p:grpSp>
      <p:grpSp>
        <p:nvGrpSpPr>
          <p:cNvPr id="225" name="Group 54"/>
          <p:cNvGrpSpPr>
            <a:grpSpLocks/>
          </p:cNvGrpSpPr>
          <p:nvPr/>
        </p:nvGrpSpPr>
        <p:grpSpPr bwMode="auto">
          <a:xfrm>
            <a:off x="7101571" y="4024065"/>
            <a:ext cx="1143000" cy="304800"/>
            <a:chOff x="2400" y="2832"/>
            <a:chExt cx="720" cy="192"/>
          </a:xfrm>
        </p:grpSpPr>
        <p:sp>
          <p:nvSpPr>
            <p:cNvPr id="226" name="Rectangle 55"/>
            <p:cNvSpPr>
              <a:spLocks noChangeArrowheads="1"/>
            </p:cNvSpPr>
            <p:nvPr/>
          </p:nvSpPr>
          <p:spPr bwMode="auto">
            <a:xfrm>
              <a:off x="2640" y="2832"/>
              <a:ext cx="240" cy="192"/>
            </a:xfrm>
            <a:prstGeom prst="rect">
              <a:avLst/>
            </a:prstGeom>
            <a:solidFill>
              <a:schemeClr val="accent1"/>
            </a:solidFill>
            <a:ln w="12700" cap="rnd">
              <a:solidFill>
                <a:schemeClr val="tx1"/>
              </a:solidFill>
              <a:miter lim="800000"/>
              <a:headEnd/>
              <a:tailEnd/>
            </a:ln>
          </p:spPr>
          <p:txBody>
            <a:bodyPr wrap="none" anchor="ctr"/>
            <a:lstStyle/>
            <a:p>
              <a:pPr algn="ctr">
                <a:spcBef>
                  <a:spcPct val="0"/>
                </a:spcBef>
                <a:buClrTx/>
                <a:buSzTx/>
                <a:buFontTx/>
                <a:buNone/>
              </a:pPr>
              <a:r>
                <a:rPr lang="en-US" altLang="zh-CN" sz="2400"/>
                <a:t>D</a:t>
              </a:r>
            </a:p>
          </p:txBody>
        </p:sp>
        <p:sp>
          <p:nvSpPr>
            <p:cNvPr id="227" name="Rectangle 56"/>
            <p:cNvSpPr>
              <a:spLocks noChangeArrowheads="1"/>
            </p:cNvSpPr>
            <p:nvPr/>
          </p:nvSpPr>
          <p:spPr bwMode="auto">
            <a:xfrm>
              <a:off x="2880" y="2832"/>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228" name="Rectangle 57"/>
            <p:cNvSpPr>
              <a:spLocks noChangeArrowheads="1"/>
            </p:cNvSpPr>
            <p:nvPr/>
          </p:nvSpPr>
          <p:spPr bwMode="auto">
            <a:xfrm>
              <a:off x="2400" y="2832"/>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a:t>
              </a:r>
            </a:p>
          </p:txBody>
        </p:sp>
      </p:grpSp>
      <p:sp>
        <p:nvSpPr>
          <p:cNvPr id="229" name="Line 58"/>
          <p:cNvSpPr>
            <a:spLocks noChangeShapeType="1"/>
          </p:cNvSpPr>
          <p:nvPr/>
        </p:nvSpPr>
        <p:spPr bwMode="auto">
          <a:xfrm flipH="1">
            <a:off x="7634971" y="3643065"/>
            <a:ext cx="1447800" cy="381000"/>
          </a:xfrm>
          <a:prstGeom prst="line">
            <a:avLst/>
          </a:prstGeom>
          <a:noFill/>
          <a:ln w="3175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30" name="Group 59"/>
          <p:cNvGrpSpPr>
            <a:grpSpLocks/>
          </p:cNvGrpSpPr>
          <p:nvPr/>
        </p:nvGrpSpPr>
        <p:grpSpPr bwMode="auto">
          <a:xfrm>
            <a:off x="10911571" y="4024065"/>
            <a:ext cx="1143000" cy="304800"/>
            <a:chOff x="2688" y="2448"/>
            <a:chExt cx="720" cy="192"/>
          </a:xfrm>
        </p:grpSpPr>
        <p:sp>
          <p:nvSpPr>
            <p:cNvPr id="231" name="Rectangle 60"/>
            <p:cNvSpPr>
              <a:spLocks noChangeArrowheads="1"/>
            </p:cNvSpPr>
            <p:nvPr/>
          </p:nvSpPr>
          <p:spPr bwMode="auto">
            <a:xfrm>
              <a:off x="2928" y="2448"/>
              <a:ext cx="240" cy="192"/>
            </a:xfrm>
            <a:prstGeom prst="rect">
              <a:avLst/>
            </a:prstGeom>
            <a:solidFill>
              <a:schemeClr val="accent1"/>
            </a:solidFill>
            <a:ln w="12700" cap="rnd">
              <a:solidFill>
                <a:schemeClr val="tx1"/>
              </a:solidFill>
              <a:miter lim="800000"/>
              <a:headEnd/>
              <a:tailEnd/>
            </a:ln>
          </p:spPr>
          <p:txBody>
            <a:bodyPr wrap="none" anchor="ctr"/>
            <a:lstStyle/>
            <a:p>
              <a:pPr algn="ctr">
                <a:spcBef>
                  <a:spcPct val="0"/>
                </a:spcBef>
                <a:buClrTx/>
                <a:buSzTx/>
                <a:buFontTx/>
                <a:buNone/>
              </a:pPr>
              <a:r>
                <a:rPr lang="en-US" altLang="zh-CN" sz="2400"/>
                <a:t>C</a:t>
              </a:r>
            </a:p>
          </p:txBody>
        </p:sp>
        <p:sp>
          <p:nvSpPr>
            <p:cNvPr id="232" name="Rectangle 61"/>
            <p:cNvSpPr>
              <a:spLocks noChangeArrowheads="1"/>
            </p:cNvSpPr>
            <p:nvPr/>
          </p:nvSpPr>
          <p:spPr bwMode="auto">
            <a:xfrm>
              <a:off x="316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a:t>
              </a:r>
            </a:p>
          </p:txBody>
        </p:sp>
        <p:sp>
          <p:nvSpPr>
            <p:cNvPr id="233" name="Rectangle 62"/>
            <p:cNvSpPr>
              <a:spLocks noChangeArrowheads="1"/>
            </p:cNvSpPr>
            <p:nvPr/>
          </p:nvSpPr>
          <p:spPr bwMode="auto">
            <a:xfrm>
              <a:off x="268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grpSp>
      <p:sp>
        <p:nvSpPr>
          <p:cNvPr id="234" name="Line 63"/>
          <p:cNvSpPr>
            <a:spLocks noChangeShapeType="1"/>
          </p:cNvSpPr>
          <p:nvPr/>
        </p:nvSpPr>
        <p:spPr bwMode="auto">
          <a:xfrm>
            <a:off x="9844771" y="3643065"/>
            <a:ext cx="1600200" cy="381000"/>
          </a:xfrm>
          <a:prstGeom prst="line">
            <a:avLst/>
          </a:prstGeom>
          <a:noFill/>
          <a:ln w="3175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35" name="Group 64"/>
          <p:cNvGrpSpPr>
            <a:grpSpLocks/>
          </p:cNvGrpSpPr>
          <p:nvPr/>
        </p:nvGrpSpPr>
        <p:grpSpPr bwMode="auto">
          <a:xfrm>
            <a:off x="8625571" y="4557465"/>
            <a:ext cx="1143000" cy="304800"/>
            <a:chOff x="2688" y="2448"/>
            <a:chExt cx="720" cy="192"/>
          </a:xfrm>
        </p:grpSpPr>
        <p:sp>
          <p:nvSpPr>
            <p:cNvPr id="236" name="Rectangle 65"/>
            <p:cNvSpPr>
              <a:spLocks noChangeArrowheads="1"/>
            </p:cNvSpPr>
            <p:nvPr/>
          </p:nvSpPr>
          <p:spPr bwMode="auto">
            <a:xfrm>
              <a:off x="2928" y="2448"/>
              <a:ext cx="240" cy="192"/>
            </a:xfrm>
            <a:prstGeom prst="rect">
              <a:avLst/>
            </a:prstGeom>
            <a:solidFill>
              <a:schemeClr val="accent1"/>
            </a:solidFill>
            <a:ln w="12700" cap="rnd">
              <a:solidFill>
                <a:schemeClr val="tx1"/>
              </a:solidFill>
              <a:miter lim="800000"/>
              <a:headEnd/>
              <a:tailEnd/>
            </a:ln>
          </p:spPr>
          <p:txBody>
            <a:bodyPr wrap="none" anchor="ctr"/>
            <a:lstStyle/>
            <a:p>
              <a:pPr algn="ctr">
                <a:spcBef>
                  <a:spcPct val="0"/>
                </a:spcBef>
                <a:buClrTx/>
                <a:buSzTx/>
                <a:buFontTx/>
                <a:buNone/>
              </a:pPr>
              <a:r>
                <a:rPr lang="en-US" altLang="zh-CN" sz="2400"/>
                <a:t>E</a:t>
              </a:r>
            </a:p>
          </p:txBody>
        </p:sp>
        <p:sp>
          <p:nvSpPr>
            <p:cNvPr id="237" name="Rectangle 66"/>
            <p:cNvSpPr>
              <a:spLocks noChangeArrowheads="1"/>
            </p:cNvSpPr>
            <p:nvPr/>
          </p:nvSpPr>
          <p:spPr bwMode="auto">
            <a:xfrm>
              <a:off x="316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a:t>
              </a:r>
            </a:p>
          </p:txBody>
        </p:sp>
        <p:sp>
          <p:nvSpPr>
            <p:cNvPr id="238" name="Rectangle 67"/>
            <p:cNvSpPr>
              <a:spLocks noChangeArrowheads="1"/>
            </p:cNvSpPr>
            <p:nvPr/>
          </p:nvSpPr>
          <p:spPr bwMode="auto">
            <a:xfrm>
              <a:off x="268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grpSp>
      <p:sp>
        <p:nvSpPr>
          <p:cNvPr id="239" name="Line 68"/>
          <p:cNvSpPr>
            <a:spLocks noChangeShapeType="1"/>
          </p:cNvSpPr>
          <p:nvPr/>
        </p:nvSpPr>
        <p:spPr bwMode="auto">
          <a:xfrm>
            <a:off x="8015971" y="4252665"/>
            <a:ext cx="1143000" cy="304800"/>
          </a:xfrm>
          <a:prstGeom prst="line">
            <a:avLst/>
          </a:prstGeom>
          <a:noFill/>
          <a:ln w="3175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40" name="Group 69"/>
          <p:cNvGrpSpPr>
            <a:grpSpLocks/>
          </p:cNvGrpSpPr>
          <p:nvPr/>
        </p:nvGrpSpPr>
        <p:grpSpPr bwMode="auto">
          <a:xfrm>
            <a:off x="7482571" y="5090865"/>
            <a:ext cx="1143000" cy="304800"/>
            <a:chOff x="2688" y="2448"/>
            <a:chExt cx="720" cy="192"/>
          </a:xfrm>
        </p:grpSpPr>
        <p:sp>
          <p:nvSpPr>
            <p:cNvPr id="241" name="Rectangle 70"/>
            <p:cNvSpPr>
              <a:spLocks noChangeArrowheads="1"/>
            </p:cNvSpPr>
            <p:nvPr/>
          </p:nvSpPr>
          <p:spPr bwMode="auto">
            <a:xfrm>
              <a:off x="2928" y="2448"/>
              <a:ext cx="240" cy="192"/>
            </a:xfrm>
            <a:prstGeom prst="rect">
              <a:avLst/>
            </a:prstGeom>
            <a:solidFill>
              <a:schemeClr val="accent1"/>
            </a:solidFill>
            <a:ln w="12700" cap="rnd">
              <a:solidFill>
                <a:schemeClr val="tx1"/>
              </a:solidFill>
              <a:miter lim="800000"/>
              <a:headEnd/>
              <a:tailEnd/>
            </a:ln>
          </p:spPr>
          <p:txBody>
            <a:bodyPr wrap="none" anchor="ctr"/>
            <a:lstStyle/>
            <a:p>
              <a:pPr algn="ctr">
                <a:spcBef>
                  <a:spcPct val="0"/>
                </a:spcBef>
                <a:buClrTx/>
                <a:buSzTx/>
                <a:buFontTx/>
                <a:buNone/>
              </a:pPr>
              <a:r>
                <a:rPr lang="en-US" altLang="zh-CN" sz="2400"/>
                <a:t>G</a:t>
              </a:r>
            </a:p>
          </p:txBody>
        </p:sp>
        <p:sp>
          <p:nvSpPr>
            <p:cNvPr id="242" name="Rectangle 71"/>
            <p:cNvSpPr>
              <a:spLocks noChangeArrowheads="1"/>
            </p:cNvSpPr>
            <p:nvPr/>
          </p:nvSpPr>
          <p:spPr bwMode="auto">
            <a:xfrm>
              <a:off x="316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243" name="Rectangle 72"/>
            <p:cNvSpPr>
              <a:spLocks noChangeArrowheads="1"/>
            </p:cNvSpPr>
            <p:nvPr/>
          </p:nvSpPr>
          <p:spPr bwMode="auto">
            <a:xfrm>
              <a:off x="268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a:t>
              </a:r>
            </a:p>
          </p:txBody>
        </p:sp>
      </p:grpSp>
      <p:sp>
        <p:nvSpPr>
          <p:cNvPr id="244" name="Line 73"/>
          <p:cNvSpPr>
            <a:spLocks noChangeShapeType="1"/>
          </p:cNvSpPr>
          <p:nvPr/>
        </p:nvSpPr>
        <p:spPr bwMode="auto">
          <a:xfrm flipH="1">
            <a:off x="8092171" y="4786065"/>
            <a:ext cx="762000" cy="304800"/>
          </a:xfrm>
          <a:prstGeom prst="line">
            <a:avLst/>
          </a:prstGeom>
          <a:noFill/>
          <a:ln w="3175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45" name="Group 74"/>
          <p:cNvGrpSpPr>
            <a:grpSpLocks/>
          </p:cNvGrpSpPr>
          <p:nvPr/>
        </p:nvGrpSpPr>
        <p:grpSpPr bwMode="auto">
          <a:xfrm>
            <a:off x="8777971" y="5624265"/>
            <a:ext cx="1143000" cy="304800"/>
            <a:chOff x="2688" y="2448"/>
            <a:chExt cx="720" cy="192"/>
          </a:xfrm>
        </p:grpSpPr>
        <p:sp>
          <p:nvSpPr>
            <p:cNvPr id="246" name="Rectangle 75"/>
            <p:cNvSpPr>
              <a:spLocks noChangeArrowheads="1"/>
            </p:cNvSpPr>
            <p:nvPr/>
          </p:nvSpPr>
          <p:spPr bwMode="auto">
            <a:xfrm>
              <a:off x="2928" y="2448"/>
              <a:ext cx="240" cy="192"/>
            </a:xfrm>
            <a:prstGeom prst="rect">
              <a:avLst/>
            </a:prstGeom>
            <a:solidFill>
              <a:schemeClr val="accent1"/>
            </a:solidFill>
            <a:ln w="12700" cap="rnd">
              <a:solidFill>
                <a:schemeClr val="tx1"/>
              </a:solidFill>
              <a:miter lim="800000"/>
              <a:headEnd/>
              <a:tailEnd/>
            </a:ln>
          </p:spPr>
          <p:txBody>
            <a:bodyPr wrap="none" anchor="ctr"/>
            <a:lstStyle/>
            <a:p>
              <a:pPr algn="ctr">
                <a:spcBef>
                  <a:spcPct val="0"/>
                </a:spcBef>
                <a:buClrTx/>
                <a:buSzTx/>
                <a:buFontTx/>
                <a:buNone/>
              </a:pPr>
              <a:r>
                <a:rPr lang="en-US" altLang="zh-CN" sz="2400"/>
                <a:t>H</a:t>
              </a:r>
            </a:p>
          </p:txBody>
        </p:sp>
        <p:sp>
          <p:nvSpPr>
            <p:cNvPr id="247" name="Rectangle 76"/>
            <p:cNvSpPr>
              <a:spLocks noChangeArrowheads="1"/>
            </p:cNvSpPr>
            <p:nvPr/>
          </p:nvSpPr>
          <p:spPr bwMode="auto">
            <a:xfrm>
              <a:off x="316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248" name="Rectangle 77"/>
            <p:cNvSpPr>
              <a:spLocks noChangeArrowheads="1"/>
            </p:cNvSpPr>
            <p:nvPr/>
          </p:nvSpPr>
          <p:spPr bwMode="auto">
            <a:xfrm>
              <a:off x="268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a:t>
              </a:r>
            </a:p>
          </p:txBody>
        </p:sp>
      </p:grpSp>
      <p:sp>
        <p:nvSpPr>
          <p:cNvPr id="249" name="Line 78"/>
          <p:cNvSpPr>
            <a:spLocks noChangeShapeType="1"/>
          </p:cNvSpPr>
          <p:nvPr/>
        </p:nvSpPr>
        <p:spPr bwMode="auto">
          <a:xfrm>
            <a:off x="8473171" y="5319465"/>
            <a:ext cx="914400" cy="304800"/>
          </a:xfrm>
          <a:prstGeom prst="line">
            <a:avLst/>
          </a:prstGeom>
          <a:noFill/>
          <a:ln w="3175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50" name="Group 79"/>
          <p:cNvGrpSpPr>
            <a:grpSpLocks/>
          </p:cNvGrpSpPr>
          <p:nvPr/>
        </p:nvGrpSpPr>
        <p:grpSpPr bwMode="auto">
          <a:xfrm>
            <a:off x="9920971" y="6157665"/>
            <a:ext cx="1143000" cy="304800"/>
            <a:chOff x="2688" y="2448"/>
            <a:chExt cx="720" cy="192"/>
          </a:xfrm>
        </p:grpSpPr>
        <p:sp>
          <p:nvSpPr>
            <p:cNvPr id="251" name="Rectangle 80"/>
            <p:cNvSpPr>
              <a:spLocks noChangeArrowheads="1"/>
            </p:cNvSpPr>
            <p:nvPr/>
          </p:nvSpPr>
          <p:spPr bwMode="auto">
            <a:xfrm>
              <a:off x="2928" y="2448"/>
              <a:ext cx="240" cy="192"/>
            </a:xfrm>
            <a:prstGeom prst="rect">
              <a:avLst/>
            </a:prstGeom>
            <a:solidFill>
              <a:schemeClr val="accent1"/>
            </a:solidFill>
            <a:ln w="12700" cap="rnd">
              <a:solidFill>
                <a:schemeClr val="tx1"/>
              </a:solidFill>
              <a:miter lim="800000"/>
              <a:headEnd/>
              <a:tailEnd/>
            </a:ln>
          </p:spPr>
          <p:txBody>
            <a:bodyPr wrap="none" anchor="ctr"/>
            <a:lstStyle/>
            <a:p>
              <a:pPr algn="ctr">
                <a:spcBef>
                  <a:spcPct val="0"/>
                </a:spcBef>
                <a:buClrTx/>
                <a:buSzTx/>
                <a:buFontTx/>
                <a:buNone/>
              </a:pPr>
              <a:r>
                <a:rPr lang="en-US" altLang="zh-CN" sz="2400"/>
                <a:t>I</a:t>
              </a:r>
            </a:p>
          </p:txBody>
        </p:sp>
        <p:sp>
          <p:nvSpPr>
            <p:cNvPr id="252" name="Rectangle 81"/>
            <p:cNvSpPr>
              <a:spLocks noChangeArrowheads="1"/>
            </p:cNvSpPr>
            <p:nvPr/>
          </p:nvSpPr>
          <p:spPr bwMode="auto">
            <a:xfrm>
              <a:off x="316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a:t>
              </a:r>
            </a:p>
          </p:txBody>
        </p:sp>
        <p:sp>
          <p:nvSpPr>
            <p:cNvPr id="253" name="Rectangle 82"/>
            <p:cNvSpPr>
              <a:spLocks noChangeArrowheads="1"/>
            </p:cNvSpPr>
            <p:nvPr/>
          </p:nvSpPr>
          <p:spPr bwMode="auto">
            <a:xfrm>
              <a:off x="2688" y="2448"/>
              <a:ext cx="240" cy="192"/>
            </a:xfrm>
            <a:prstGeom prst="rect">
              <a:avLst/>
            </a:prstGeom>
            <a:noFill/>
            <a:ln w="12700" cap="rnd">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a:t>
              </a:r>
            </a:p>
          </p:txBody>
        </p:sp>
      </p:grpSp>
      <p:sp>
        <p:nvSpPr>
          <p:cNvPr id="254" name="Line 83"/>
          <p:cNvSpPr>
            <a:spLocks noChangeShapeType="1"/>
          </p:cNvSpPr>
          <p:nvPr/>
        </p:nvSpPr>
        <p:spPr bwMode="auto">
          <a:xfrm>
            <a:off x="9768571" y="5776665"/>
            <a:ext cx="762000" cy="381000"/>
          </a:xfrm>
          <a:prstGeom prst="line">
            <a:avLst/>
          </a:prstGeom>
          <a:noFill/>
          <a:ln w="3175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 name="Line 84"/>
          <p:cNvSpPr>
            <a:spLocks noChangeShapeType="1"/>
          </p:cNvSpPr>
          <p:nvPr/>
        </p:nvSpPr>
        <p:spPr bwMode="auto">
          <a:xfrm flipH="1">
            <a:off x="10454371" y="4176465"/>
            <a:ext cx="685800" cy="381000"/>
          </a:xfrm>
          <a:prstGeom prst="line">
            <a:avLst/>
          </a:prstGeom>
          <a:noFill/>
          <a:ln w="3175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 name="Text Box 85"/>
          <p:cNvSpPr txBox="1">
            <a:spLocks noChangeArrowheads="1"/>
          </p:cNvSpPr>
          <p:nvPr/>
        </p:nvSpPr>
        <p:spPr bwMode="auto">
          <a:xfrm>
            <a:off x="9006571" y="2652465"/>
            <a:ext cx="1066800" cy="457200"/>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eaLnBrk="1" hangingPunct="1">
              <a:spcBef>
                <a:spcPct val="50000"/>
              </a:spcBef>
              <a:buClrTx/>
              <a:buSzTx/>
              <a:buFontTx/>
              <a:buNone/>
            </a:pPr>
            <a:r>
              <a:rPr lang="en-US" altLang="zh-CN" sz="2400" dirty="0"/>
              <a:t>root</a:t>
            </a:r>
          </a:p>
        </p:txBody>
      </p:sp>
      <p:sp>
        <p:nvSpPr>
          <p:cNvPr id="257" name="Freeform 86"/>
          <p:cNvSpPr>
            <a:spLocks/>
          </p:cNvSpPr>
          <p:nvPr/>
        </p:nvSpPr>
        <p:spPr bwMode="auto">
          <a:xfrm>
            <a:off x="9844771" y="2703265"/>
            <a:ext cx="1219200" cy="177800"/>
          </a:xfrm>
          <a:custGeom>
            <a:avLst/>
            <a:gdLst>
              <a:gd name="T0" fmla="*/ 0 w 1152"/>
              <a:gd name="T1" fmla="*/ 160 h 160"/>
              <a:gd name="T2" fmla="*/ 144 w 1152"/>
              <a:gd name="T3" fmla="*/ 112 h 160"/>
              <a:gd name="T4" fmla="*/ 384 w 1152"/>
              <a:gd name="T5" fmla="*/ 64 h 160"/>
              <a:gd name="T6" fmla="*/ 672 w 1152"/>
              <a:gd name="T7" fmla="*/ 16 h 160"/>
              <a:gd name="T8" fmla="*/ 1152 w 1152"/>
              <a:gd name="T9" fmla="*/ 160 h 160"/>
              <a:gd name="T10" fmla="*/ 0 60000 65536"/>
              <a:gd name="T11" fmla="*/ 0 60000 65536"/>
              <a:gd name="T12" fmla="*/ 0 60000 65536"/>
              <a:gd name="T13" fmla="*/ 0 60000 65536"/>
              <a:gd name="T14" fmla="*/ 0 60000 65536"/>
              <a:gd name="T15" fmla="*/ 0 w 1152"/>
              <a:gd name="T16" fmla="*/ 0 h 160"/>
              <a:gd name="T17" fmla="*/ 1152 w 1152"/>
              <a:gd name="T18" fmla="*/ 160 h 160"/>
            </a:gdLst>
            <a:ahLst/>
            <a:cxnLst>
              <a:cxn ang="T10">
                <a:pos x="T0" y="T1"/>
              </a:cxn>
              <a:cxn ang="T11">
                <a:pos x="T2" y="T3"/>
              </a:cxn>
              <a:cxn ang="T12">
                <a:pos x="T4" y="T5"/>
              </a:cxn>
              <a:cxn ang="T13">
                <a:pos x="T6" y="T7"/>
              </a:cxn>
              <a:cxn ang="T14">
                <a:pos x="T8" y="T9"/>
              </a:cxn>
            </a:cxnLst>
            <a:rect l="T15" t="T16" r="T17" b="T18"/>
            <a:pathLst>
              <a:path w="1152" h="160">
                <a:moveTo>
                  <a:pt x="0" y="160"/>
                </a:moveTo>
                <a:cubicBezTo>
                  <a:pt x="40" y="144"/>
                  <a:pt x="80" y="128"/>
                  <a:pt x="144" y="112"/>
                </a:cubicBezTo>
                <a:cubicBezTo>
                  <a:pt x="208" y="96"/>
                  <a:pt x="296" y="80"/>
                  <a:pt x="384" y="64"/>
                </a:cubicBezTo>
                <a:cubicBezTo>
                  <a:pt x="472" y="48"/>
                  <a:pt x="544" y="0"/>
                  <a:pt x="672" y="16"/>
                </a:cubicBezTo>
                <a:cubicBezTo>
                  <a:pt x="800" y="32"/>
                  <a:pt x="1072" y="136"/>
                  <a:pt x="1152" y="160"/>
                </a:cubicBezTo>
              </a:path>
            </a:pathLst>
          </a:custGeom>
          <a:noFill/>
          <a:ln w="12700" cap="rnd">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en-US"/>
          </a:p>
        </p:txBody>
      </p:sp>
      <p:sp>
        <p:nvSpPr>
          <p:cNvPr id="2" name="矩形 1">
            <a:extLst>
              <a:ext uri="{FF2B5EF4-FFF2-40B4-BE49-F238E27FC236}">
                <a16:creationId xmlns:a16="http://schemas.microsoft.com/office/drawing/2014/main" xmlns="" id="{3D6E38E3-5CB7-48E6-E7C8-970E44EBFA96}"/>
              </a:ext>
            </a:extLst>
          </p:cNvPr>
          <p:cNvSpPr/>
          <p:nvPr/>
        </p:nvSpPr>
        <p:spPr>
          <a:xfrm>
            <a:off x="1011666" y="1602603"/>
            <a:ext cx="3390552" cy="400110"/>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3</a:t>
            </a:r>
            <a:r>
              <a:rPr kumimoji="1" lang="zh-CN" altLang="en-US" sz="2000" dirty="0">
                <a:latin typeface="微软雅黑" pitchFamily="34" charset="-122"/>
                <a:ea typeface="微软雅黑" pitchFamily="34" charset="-122"/>
                <a:cs typeface="经典粗黑简" pitchFamily="49" charset="-122"/>
              </a:rPr>
              <a:t>、孩子兄弟链存储结构</a:t>
            </a:r>
          </a:p>
        </p:txBody>
      </p:sp>
      <p:sp>
        <p:nvSpPr>
          <p:cNvPr id="3" name="矩形 2">
            <a:extLst>
              <a:ext uri="{FF2B5EF4-FFF2-40B4-BE49-F238E27FC236}">
                <a16:creationId xmlns:a16="http://schemas.microsoft.com/office/drawing/2014/main" xmlns="" id="{DED29EE2-D812-3A42-3449-2DE46B53FAD3}"/>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5" name="Rectangle 2">
            <a:extLst>
              <a:ext uri="{FF2B5EF4-FFF2-40B4-BE49-F238E27FC236}">
                <a16:creationId xmlns:a16="http://schemas.microsoft.com/office/drawing/2014/main" xmlns="" id="{5398A4D9-7AC4-4EA5-A081-92DE1F926968}"/>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7.1.6 </a:t>
            </a:r>
            <a:r>
              <a:rPr lang="zh-CN" altLang="en-US" dirty="0"/>
              <a:t>树的存储结构</a:t>
            </a:r>
          </a:p>
        </p:txBody>
      </p:sp>
      <p:cxnSp>
        <p:nvCxnSpPr>
          <p:cNvPr id="6" name="直接连接符 5">
            <a:extLst>
              <a:ext uri="{FF2B5EF4-FFF2-40B4-BE49-F238E27FC236}">
                <a16:creationId xmlns:a16="http://schemas.microsoft.com/office/drawing/2014/main" xmlns="" id="{BA4717B2-8611-7FAA-358D-E2890D70443B}"/>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4">
            <a:extLst>
              <a:ext uri="{FF2B5EF4-FFF2-40B4-BE49-F238E27FC236}">
                <a16:creationId xmlns:a16="http://schemas.microsoft.com/office/drawing/2014/main" xmlns="" id="{61AECF6B-BAA1-B6CA-2F63-55966249A150}"/>
              </a:ext>
            </a:extLst>
          </p:cNvPr>
          <p:cNvSpPr txBox="1">
            <a:spLocks noChangeArrowheads="1"/>
          </p:cNvSpPr>
          <p:nvPr/>
        </p:nvSpPr>
        <p:spPr bwMode="auto">
          <a:xfrm>
            <a:off x="67544" y="4353390"/>
            <a:ext cx="4760260" cy="1603104"/>
          </a:xfrm>
          <a:prstGeom prst="rect">
            <a:avLst/>
          </a:prstGeom>
          <a:solidFill>
            <a:schemeClr val="bg1">
              <a:lumMod val="95000"/>
            </a:schemeClr>
          </a:solidFill>
          <a:ln>
            <a:headEnd/>
            <a:tailEnd/>
          </a:ln>
        </p:spPr>
        <p:style>
          <a:lnRef idx="1">
            <a:schemeClr val="accent3"/>
          </a:lnRef>
          <a:fillRef idx="2">
            <a:schemeClr val="accent3"/>
          </a:fillRef>
          <a:effectRef idx="1">
            <a:schemeClr val="accent3"/>
          </a:effectRef>
          <a:fontRef idx="minor">
            <a:schemeClr val="dk1"/>
          </a:fontRef>
        </p:style>
        <p:txBody>
          <a:bodyPr wrap="square" lIns="144000" tIns="108000" rIns="144000" bIns="108000">
            <a:spAutoFit/>
          </a:bodyPr>
          <a:lstStyle/>
          <a:p>
            <a:pPr algn="l"/>
            <a:r>
              <a:rPr lang="en-US" altLang="zh-CN" sz="1800" dirty="0" err="1">
                <a:solidFill>
                  <a:srgbClr val="3333FF"/>
                </a:solidFill>
                <a:latin typeface="Consolas" pitchFamily="49" charset="0"/>
                <a:ea typeface="仿宋" pitchFamily="49" charset="-122"/>
                <a:cs typeface="Consolas" pitchFamily="49" charset="0"/>
              </a:rPr>
              <a:t>typedef</a:t>
            </a:r>
            <a:r>
              <a:rPr lang="en-US" altLang="zh-CN" sz="1800" dirty="0">
                <a:solidFill>
                  <a:srgbClr val="3333FF"/>
                </a:solidFill>
                <a:latin typeface="Consolas" pitchFamily="49" charset="0"/>
                <a:ea typeface="仿宋" pitchFamily="49" charset="-122"/>
                <a:cs typeface="Consolas" pitchFamily="49" charset="0"/>
              </a:rPr>
              <a:t> </a:t>
            </a:r>
            <a:r>
              <a:rPr lang="en-US" altLang="zh-CN" sz="1800" dirty="0" err="1">
                <a:solidFill>
                  <a:srgbClr val="3333FF"/>
                </a:solidFill>
                <a:latin typeface="Consolas" pitchFamily="49" charset="0"/>
                <a:ea typeface="仿宋" pitchFamily="49" charset="-122"/>
                <a:cs typeface="Consolas" pitchFamily="49" charset="0"/>
              </a:rPr>
              <a:t>struct</a:t>
            </a:r>
            <a:r>
              <a:rPr lang="en-US" altLang="zh-CN" sz="1800" dirty="0">
                <a:solidFill>
                  <a:srgbClr val="3333FF"/>
                </a:solidFill>
                <a:latin typeface="Consolas" pitchFamily="49" charset="0"/>
                <a:ea typeface="仿宋" pitchFamily="49" charset="-122"/>
                <a:cs typeface="Consolas" pitchFamily="49" charset="0"/>
              </a:rPr>
              <a:t> </a:t>
            </a:r>
            <a:r>
              <a:rPr lang="en-US" altLang="zh-CN" sz="1800" dirty="0" err="1">
                <a:solidFill>
                  <a:srgbClr val="3333FF"/>
                </a:solidFill>
                <a:latin typeface="Consolas" pitchFamily="49" charset="0"/>
                <a:ea typeface="仿宋" pitchFamily="49" charset="-122"/>
                <a:cs typeface="Consolas" pitchFamily="49" charset="0"/>
              </a:rPr>
              <a:t>tnode</a:t>
            </a:r>
            <a:r>
              <a:rPr lang="en-US" altLang="zh-CN" sz="1800" dirty="0">
                <a:solidFill>
                  <a:srgbClr val="3333FF"/>
                </a:solidFill>
                <a:latin typeface="Consolas" pitchFamily="49" charset="0"/>
                <a:ea typeface="仿宋" pitchFamily="49" charset="-122"/>
                <a:cs typeface="Consolas" pitchFamily="49" charset="0"/>
              </a:rPr>
              <a:t> </a:t>
            </a:r>
          </a:p>
          <a:p>
            <a:pPr algn="l"/>
            <a:r>
              <a:rPr lang="en-US" altLang="zh-CN" sz="1800" dirty="0">
                <a:solidFill>
                  <a:srgbClr val="3333FF"/>
                </a:solidFill>
                <a:latin typeface="Consolas" pitchFamily="49" charset="0"/>
                <a:ea typeface="仿宋" pitchFamily="49" charset="-122"/>
                <a:cs typeface="Consolas" pitchFamily="49" charset="0"/>
              </a:rPr>
              <a:t>{  </a:t>
            </a:r>
            <a:r>
              <a:rPr lang="en-US" altLang="zh-CN" sz="1800" dirty="0" err="1">
                <a:solidFill>
                  <a:srgbClr val="3333FF"/>
                </a:solidFill>
                <a:latin typeface="Consolas" pitchFamily="49" charset="0"/>
                <a:ea typeface="仿宋" pitchFamily="49" charset="-122"/>
                <a:cs typeface="Consolas" pitchFamily="49" charset="0"/>
              </a:rPr>
              <a:t>ElemType</a:t>
            </a:r>
            <a:r>
              <a:rPr lang="en-US" altLang="zh-CN" sz="1800" dirty="0">
                <a:solidFill>
                  <a:srgbClr val="3333FF"/>
                </a:solidFill>
                <a:latin typeface="Consolas" pitchFamily="49" charset="0"/>
                <a:ea typeface="仿宋" pitchFamily="49" charset="-122"/>
                <a:cs typeface="Consolas" pitchFamily="49" charset="0"/>
              </a:rPr>
              <a:t> data;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结点的值</a:t>
            </a:r>
          </a:p>
          <a:p>
            <a:pPr algn="l"/>
            <a:r>
              <a:rPr lang="zh-CN" altLang="en-US" sz="1800" dirty="0">
                <a:solidFill>
                  <a:srgbClr val="3333FF"/>
                </a:solidFill>
                <a:latin typeface="Consolas" pitchFamily="49" charset="0"/>
                <a:ea typeface="仿宋" pitchFamily="49" charset="-122"/>
                <a:cs typeface="Consolas" pitchFamily="49" charset="0"/>
              </a:rPr>
              <a:t>   </a:t>
            </a:r>
            <a:r>
              <a:rPr lang="en-US" altLang="zh-CN" sz="1800" dirty="0">
                <a:solidFill>
                  <a:srgbClr val="3333FF"/>
                </a:solidFill>
                <a:latin typeface="Consolas" pitchFamily="49" charset="0"/>
                <a:ea typeface="仿宋" pitchFamily="49" charset="-122"/>
                <a:cs typeface="Consolas" pitchFamily="49" charset="0"/>
              </a:rPr>
              <a:t>struct </a:t>
            </a:r>
            <a:r>
              <a:rPr lang="en-US" altLang="zh-CN" sz="1800" dirty="0" err="1">
                <a:solidFill>
                  <a:srgbClr val="3333FF"/>
                </a:solidFill>
                <a:latin typeface="Consolas" pitchFamily="49" charset="0"/>
                <a:ea typeface="仿宋" pitchFamily="49" charset="-122"/>
                <a:cs typeface="Consolas" pitchFamily="49" charset="0"/>
              </a:rPr>
              <a:t>tnode</a:t>
            </a:r>
            <a:r>
              <a:rPr lang="en-US" altLang="zh-CN" sz="1800" dirty="0">
                <a:solidFill>
                  <a:srgbClr val="3333FF"/>
                </a:solidFill>
                <a:latin typeface="Consolas" pitchFamily="49" charset="0"/>
                <a:ea typeface="仿宋" pitchFamily="49" charset="-122"/>
                <a:cs typeface="Consolas" pitchFamily="49" charset="0"/>
              </a:rPr>
              <a:t> *hp</a:t>
            </a:r>
            <a:r>
              <a:rPr lang="en-US" altLang="zh-CN" dirty="0">
                <a:solidFill>
                  <a:srgbClr val="3333FF"/>
                </a:solidFill>
                <a:latin typeface="Consolas" pitchFamily="49" charset="0"/>
                <a:ea typeface="仿宋" pitchFamily="49" charset="-122"/>
                <a:cs typeface="Consolas" pitchFamily="49" charset="0"/>
              </a:rPr>
              <a:t>;</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指向兄弟</a:t>
            </a:r>
          </a:p>
          <a:p>
            <a:pPr algn="l"/>
            <a:r>
              <a:rPr lang="zh-CN" altLang="en-US" sz="1800" dirty="0">
                <a:solidFill>
                  <a:srgbClr val="3333FF"/>
                </a:solidFill>
                <a:latin typeface="Consolas" pitchFamily="49" charset="0"/>
                <a:ea typeface="仿宋" pitchFamily="49" charset="-122"/>
                <a:cs typeface="Consolas" pitchFamily="49" charset="0"/>
              </a:rPr>
              <a:t>   </a:t>
            </a:r>
            <a:r>
              <a:rPr lang="en-US" altLang="zh-CN" sz="1800" dirty="0">
                <a:solidFill>
                  <a:srgbClr val="3333FF"/>
                </a:solidFill>
                <a:latin typeface="Consolas" pitchFamily="49" charset="0"/>
                <a:ea typeface="仿宋" pitchFamily="49" charset="-122"/>
                <a:cs typeface="Consolas" pitchFamily="49" charset="0"/>
              </a:rPr>
              <a:t>struct </a:t>
            </a:r>
            <a:r>
              <a:rPr lang="en-US" altLang="zh-CN" sz="1800" dirty="0" err="1">
                <a:solidFill>
                  <a:srgbClr val="3333FF"/>
                </a:solidFill>
                <a:latin typeface="Consolas" pitchFamily="49" charset="0"/>
                <a:ea typeface="仿宋" pitchFamily="49" charset="-122"/>
                <a:cs typeface="Consolas" pitchFamily="49" charset="0"/>
              </a:rPr>
              <a:t>tnode</a:t>
            </a:r>
            <a:r>
              <a:rPr lang="en-US" altLang="zh-CN" sz="1800" dirty="0">
                <a:solidFill>
                  <a:srgbClr val="3333FF"/>
                </a:solidFill>
                <a:latin typeface="Consolas" pitchFamily="49" charset="0"/>
                <a:ea typeface="仿宋" pitchFamily="49" charset="-122"/>
                <a:cs typeface="Consolas" pitchFamily="49" charset="0"/>
              </a:rPr>
              <a:t> *</a:t>
            </a:r>
            <a:r>
              <a:rPr lang="en-US" altLang="zh-CN" sz="1800" dirty="0" err="1">
                <a:solidFill>
                  <a:srgbClr val="3333FF"/>
                </a:solidFill>
                <a:latin typeface="Consolas" pitchFamily="49" charset="0"/>
                <a:ea typeface="仿宋" pitchFamily="49" charset="-122"/>
                <a:cs typeface="Consolas" pitchFamily="49" charset="0"/>
              </a:rPr>
              <a:t>vp</a:t>
            </a:r>
            <a:r>
              <a:rPr lang="en-US" altLang="zh-CN" sz="1800" dirty="0">
                <a:solidFill>
                  <a:srgbClr val="3333FF"/>
                </a:solidFill>
                <a:latin typeface="Consolas" pitchFamily="49" charset="0"/>
                <a:ea typeface="仿宋" pitchFamily="49" charset="-122"/>
                <a:cs typeface="Consolas" pitchFamily="49" charset="0"/>
              </a:rPr>
              <a:t>;	</a:t>
            </a:r>
            <a:r>
              <a:rPr lang="en-US" altLang="zh-CN"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指向孩子结点</a:t>
            </a:r>
          </a:p>
          <a:p>
            <a:pPr algn="l"/>
            <a:r>
              <a:rPr lang="en-US" altLang="zh-CN" sz="1800" dirty="0">
                <a:solidFill>
                  <a:srgbClr val="3333FF"/>
                </a:solidFill>
                <a:latin typeface="Consolas" pitchFamily="49" charset="0"/>
                <a:ea typeface="仿宋" pitchFamily="49" charset="-122"/>
                <a:cs typeface="Consolas" pitchFamily="49" charset="0"/>
              </a:rPr>
              <a:t>} </a:t>
            </a:r>
            <a:r>
              <a:rPr lang="en-US" altLang="zh-CN" sz="1800" dirty="0" err="1">
                <a:solidFill>
                  <a:srgbClr val="FF0000"/>
                </a:solidFill>
                <a:latin typeface="Consolas" pitchFamily="49" charset="0"/>
                <a:ea typeface="仿宋" pitchFamily="49" charset="-122"/>
                <a:cs typeface="Consolas" pitchFamily="49" charset="0"/>
              </a:rPr>
              <a:t>TSBNode</a:t>
            </a:r>
            <a:r>
              <a:rPr lang="en-US" altLang="zh-CN" sz="1800" dirty="0">
                <a:solidFill>
                  <a:srgbClr val="3333FF"/>
                </a:solidFill>
                <a:latin typeface="Consolas" pitchFamily="49" charset="0"/>
                <a:ea typeface="仿宋" pitchFamily="49" charset="-122"/>
                <a:cs typeface="Consolas" pitchFamily="49" charset="0"/>
              </a:rPr>
              <a:t>;</a:t>
            </a:r>
          </a:p>
        </p:txBody>
      </p:sp>
      <p:sp>
        <p:nvSpPr>
          <p:cNvPr id="8" name="Text Box 9">
            <a:extLst>
              <a:ext uri="{FF2B5EF4-FFF2-40B4-BE49-F238E27FC236}">
                <a16:creationId xmlns:a16="http://schemas.microsoft.com/office/drawing/2014/main" xmlns="" id="{C5343A50-80A0-DCBB-EDC3-9572C6535E15}"/>
              </a:ext>
            </a:extLst>
          </p:cNvPr>
          <p:cNvSpPr txBox="1">
            <a:spLocks noChangeArrowheads="1"/>
          </p:cNvSpPr>
          <p:nvPr/>
        </p:nvSpPr>
        <p:spPr bwMode="auto">
          <a:xfrm>
            <a:off x="405249" y="6110010"/>
            <a:ext cx="4422555" cy="400110"/>
          </a:xfrm>
          <a:prstGeom prst="rect">
            <a:avLst/>
          </a:prstGeom>
          <a:noFill/>
          <a:ln w="28575" algn="ctr">
            <a:noFill/>
            <a:miter lim="800000"/>
            <a:headEnd/>
            <a:tailEnd type="none" w="med" len="lg"/>
          </a:ln>
          <a:effectLst/>
        </p:spPr>
        <p:txBody>
          <a:bodyPr wrap="square">
            <a:spAutoFit/>
          </a:bodyPr>
          <a:lstStyle/>
          <a:p>
            <a:r>
              <a:rPr lang="zh-CN" altLang="en-US" sz="2000" dirty="0">
                <a:latin typeface="Consolas" pitchFamily="49" charset="0"/>
                <a:ea typeface="仿宋" pitchFamily="49" charset="-122"/>
                <a:cs typeface="Consolas" pitchFamily="49" charset="0"/>
              </a:rPr>
              <a:t>每个结点固定只有两个指针域！！！</a:t>
            </a:r>
            <a:endParaRPr lang="en-US" altLang="zh-CN" sz="2000" dirty="0">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319432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up)">
                                      <p:cBhvr>
                                        <p:cTn id="7" dur="500"/>
                                        <p:tgtEl>
                                          <p:spTgt spid="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12"/>
                                        </p:tgtEl>
                                        <p:attrNameLst>
                                          <p:attrName>style.visibility</p:attrName>
                                        </p:attrNameLst>
                                      </p:cBhvr>
                                      <p:to>
                                        <p:strVal val="visible"/>
                                      </p:to>
                                    </p:set>
                                    <p:animEffect transition="in" filter="wipe(up)">
                                      <p:cBhvr>
                                        <p:cTn id="12" dur="500"/>
                                        <p:tgtEl>
                                          <p:spTgt spid="21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20"/>
                                        </p:tgtEl>
                                        <p:attrNameLst>
                                          <p:attrName>style.visibility</p:attrName>
                                        </p:attrNameLst>
                                      </p:cBhvr>
                                      <p:to>
                                        <p:strVal val="visible"/>
                                      </p:to>
                                    </p:set>
                                    <p:animEffect transition="in" filter="wipe(up)">
                                      <p:cBhvr>
                                        <p:cTn id="17" dur="500"/>
                                        <p:tgtEl>
                                          <p:spTgt spid="2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16"/>
                                        </p:tgtEl>
                                        <p:attrNameLst>
                                          <p:attrName>style.visibility</p:attrName>
                                        </p:attrNameLst>
                                      </p:cBhvr>
                                      <p:to>
                                        <p:strVal val="visible"/>
                                      </p:to>
                                    </p:set>
                                    <p:animEffect transition="in" filter="wipe(up)">
                                      <p:cBhvr>
                                        <p:cTn id="22" dur="500"/>
                                        <p:tgtEl>
                                          <p:spTgt spid="2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29"/>
                                        </p:tgtEl>
                                        <p:attrNameLst>
                                          <p:attrName>style.visibility</p:attrName>
                                        </p:attrNameLst>
                                      </p:cBhvr>
                                      <p:to>
                                        <p:strVal val="visible"/>
                                      </p:to>
                                    </p:set>
                                    <p:animEffect transition="in" filter="wipe(up)">
                                      <p:cBhvr>
                                        <p:cTn id="27" dur="500"/>
                                        <p:tgtEl>
                                          <p:spTgt spid="2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25"/>
                                        </p:tgtEl>
                                        <p:attrNameLst>
                                          <p:attrName>style.visibility</p:attrName>
                                        </p:attrNameLst>
                                      </p:cBhvr>
                                      <p:to>
                                        <p:strVal val="visible"/>
                                      </p:to>
                                    </p:set>
                                    <p:animEffect transition="in" filter="wipe(up)">
                                      <p:cBhvr>
                                        <p:cTn id="32" dur="500"/>
                                        <p:tgtEl>
                                          <p:spTgt spid="2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34"/>
                                        </p:tgtEl>
                                        <p:attrNameLst>
                                          <p:attrName>style.visibility</p:attrName>
                                        </p:attrNameLst>
                                      </p:cBhvr>
                                      <p:to>
                                        <p:strVal val="visible"/>
                                      </p:to>
                                    </p:set>
                                    <p:animEffect transition="in" filter="wipe(up)">
                                      <p:cBhvr>
                                        <p:cTn id="37" dur="500"/>
                                        <p:tgtEl>
                                          <p:spTgt spid="23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30"/>
                                        </p:tgtEl>
                                        <p:attrNameLst>
                                          <p:attrName>style.visibility</p:attrName>
                                        </p:attrNameLst>
                                      </p:cBhvr>
                                      <p:to>
                                        <p:strVal val="visible"/>
                                      </p:to>
                                    </p:set>
                                    <p:animEffect transition="in" filter="wipe(up)">
                                      <p:cBhvr>
                                        <p:cTn id="42" dur="500"/>
                                        <p:tgtEl>
                                          <p:spTgt spid="23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39"/>
                                        </p:tgtEl>
                                        <p:attrNameLst>
                                          <p:attrName>style.visibility</p:attrName>
                                        </p:attrNameLst>
                                      </p:cBhvr>
                                      <p:to>
                                        <p:strVal val="visible"/>
                                      </p:to>
                                    </p:set>
                                    <p:animEffect transition="in" filter="wipe(up)">
                                      <p:cBhvr>
                                        <p:cTn id="47" dur="500"/>
                                        <p:tgtEl>
                                          <p:spTgt spid="23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235"/>
                                        </p:tgtEl>
                                        <p:attrNameLst>
                                          <p:attrName>style.visibility</p:attrName>
                                        </p:attrNameLst>
                                      </p:cBhvr>
                                      <p:to>
                                        <p:strVal val="visible"/>
                                      </p:to>
                                    </p:set>
                                    <p:animEffect transition="in" filter="wipe(up)">
                                      <p:cBhvr>
                                        <p:cTn id="52" dur="500"/>
                                        <p:tgtEl>
                                          <p:spTgt spid="23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55"/>
                                        </p:tgtEl>
                                        <p:attrNameLst>
                                          <p:attrName>style.visibility</p:attrName>
                                        </p:attrNameLst>
                                      </p:cBhvr>
                                      <p:to>
                                        <p:strVal val="visible"/>
                                      </p:to>
                                    </p:set>
                                    <p:animEffect transition="in" filter="wipe(up)">
                                      <p:cBhvr>
                                        <p:cTn id="57" dur="500"/>
                                        <p:tgtEl>
                                          <p:spTgt spid="25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221"/>
                                        </p:tgtEl>
                                        <p:attrNameLst>
                                          <p:attrName>style.visibility</p:attrName>
                                        </p:attrNameLst>
                                      </p:cBhvr>
                                      <p:to>
                                        <p:strVal val="visible"/>
                                      </p:to>
                                    </p:set>
                                    <p:animEffect transition="in" filter="wipe(up)">
                                      <p:cBhvr>
                                        <p:cTn id="62" dur="500"/>
                                        <p:tgtEl>
                                          <p:spTgt spid="2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244"/>
                                        </p:tgtEl>
                                        <p:attrNameLst>
                                          <p:attrName>style.visibility</p:attrName>
                                        </p:attrNameLst>
                                      </p:cBhvr>
                                      <p:to>
                                        <p:strVal val="visible"/>
                                      </p:to>
                                    </p:set>
                                    <p:animEffect transition="in" filter="wipe(up)">
                                      <p:cBhvr>
                                        <p:cTn id="67" dur="500"/>
                                        <p:tgtEl>
                                          <p:spTgt spid="24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240"/>
                                        </p:tgtEl>
                                        <p:attrNameLst>
                                          <p:attrName>style.visibility</p:attrName>
                                        </p:attrNameLst>
                                      </p:cBhvr>
                                      <p:to>
                                        <p:strVal val="visible"/>
                                      </p:to>
                                    </p:set>
                                    <p:animEffect transition="in" filter="wipe(up)">
                                      <p:cBhvr>
                                        <p:cTn id="72" dur="500"/>
                                        <p:tgtEl>
                                          <p:spTgt spid="24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249"/>
                                        </p:tgtEl>
                                        <p:attrNameLst>
                                          <p:attrName>style.visibility</p:attrName>
                                        </p:attrNameLst>
                                      </p:cBhvr>
                                      <p:to>
                                        <p:strVal val="visible"/>
                                      </p:to>
                                    </p:set>
                                    <p:animEffect transition="in" filter="wipe(up)">
                                      <p:cBhvr>
                                        <p:cTn id="77" dur="500"/>
                                        <p:tgtEl>
                                          <p:spTgt spid="24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245"/>
                                        </p:tgtEl>
                                        <p:attrNameLst>
                                          <p:attrName>style.visibility</p:attrName>
                                        </p:attrNameLst>
                                      </p:cBhvr>
                                      <p:to>
                                        <p:strVal val="visible"/>
                                      </p:to>
                                    </p:set>
                                    <p:animEffect transition="in" filter="wipe(up)">
                                      <p:cBhvr>
                                        <p:cTn id="82" dur="500"/>
                                        <p:tgtEl>
                                          <p:spTgt spid="24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254"/>
                                        </p:tgtEl>
                                        <p:attrNameLst>
                                          <p:attrName>style.visibility</p:attrName>
                                        </p:attrNameLst>
                                      </p:cBhvr>
                                      <p:to>
                                        <p:strVal val="visible"/>
                                      </p:to>
                                    </p:set>
                                    <p:animEffect transition="in" filter="wipe(up)">
                                      <p:cBhvr>
                                        <p:cTn id="87" dur="500"/>
                                        <p:tgtEl>
                                          <p:spTgt spid="25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nodeType="clickEffect">
                                  <p:stCondLst>
                                    <p:cond delay="0"/>
                                  </p:stCondLst>
                                  <p:childTnLst>
                                    <p:set>
                                      <p:cBhvr>
                                        <p:cTn id="91" dur="1" fill="hold">
                                          <p:stCondLst>
                                            <p:cond delay="0"/>
                                          </p:stCondLst>
                                        </p:cTn>
                                        <p:tgtEl>
                                          <p:spTgt spid="250"/>
                                        </p:tgtEl>
                                        <p:attrNameLst>
                                          <p:attrName>style.visibility</p:attrName>
                                        </p:attrNameLst>
                                      </p:cBhvr>
                                      <p:to>
                                        <p:strVal val="visible"/>
                                      </p:to>
                                    </p:set>
                                    <p:animEffect transition="in" filter="wipe(up)">
                                      <p:cBhvr>
                                        <p:cTn id="92" dur="500"/>
                                        <p:tgtEl>
                                          <p:spTgt spid="25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256"/>
                                        </p:tgtEl>
                                        <p:attrNameLst>
                                          <p:attrName>style.visibility</p:attrName>
                                        </p:attrNameLst>
                                      </p:cBhvr>
                                      <p:to>
                                        <p:strVal val="visible"/>
                                      </p:to>
                                    </p:set>
                                    <p:animEffect transition="in" filter="wipe(up)">
                                      <p:cBhvr>
                                        <p:cTn id="97" dur="500"/>
                                        <p:tgtEl>
                                          <p:spTgt spid="256"/>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257"/>
                                        </p:tgtEl>
                                        <p:attrNameLst>
                                          <p:attrName>style.visibility</p:attrName>
                                        </p:attrNameLst>
                                      </p:cBhvr>
                                      <p:to>
                                        <p:strVal val="visible"/>
                                      </p:to>
                                    </p:set>
                                    <p:animEffect transition="in" filter="dissolve">
                                      <p:cBhvr>
                                        <p:cTn id="102" dur="500"/>
                                        <p:tgtEl>
                                          <p:spTgt spid="257"/>
                                        </p:tgtEl>
                                      </p:cBhvr>
                                    </p:animEffect>
                                  </p:childTnLst>
                                  <p:subTnLst>
                                    <p:audio>
                                      <p:cMediaNode>
                                        <p:cTn display="0" masterRel="sameClick">
                                          <p:stCondLst>
                                            <p:cond evt="begin" delay="0">
                                              <p:tn val="10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animBg="1"/>
      <p:bldP spid="229" grpId="0" animBg="1"/>
      <p:bldP spid="234" grpId="0" animBg="1"/>
      <p:bldP spid="239" grpId="0" animBg="1"/>
      <p:bldP spid="244" grpId="0" animBg="1"/>
      <p:bldP spid="249" grpId="0" animBg="1"/>
      <p:bldP spid="254" grpId="0" animBg="1"/>
      <p:bldP spid="255" grpId="0" animBg="1"/>
      <p:bldP spid="256" grpId="0" autoUpdateAnimBg="0"/>
      <p:bldP spid="25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 name="Group 39"/>
          <p:cNvGrpSpPr>
            <a:grpSpLocks/>
          </p:cNvGrpSpPr>
          <p:nvPr/>
        </p:nvGrpSpPr>
        <p:grpSpPr bwMode="auto">
          <a:xfrm>
            <a:off x="5375920" y="2711399"/>
            <a:ext cx="4933368" cy="3747760"/>
            <a:chOff x="476" y="1152"/>
            <a:chExt cx="3028" cy="2400"/>
          </a:xfrm>
        </p:grpSpPr>
        <p:sp>
          <p:nvSpPr>
            <p:cNvPr id="103" name="Rectangle 40"/>
            <p:cNvSpPr>
              <a:spLocks noChangeArrowheads="1"/>
            </p:cNvSpPr>
            <p:nvPr/>
          </p:nvSpPr>
          <p:spPr bwMode="auto">
            <a:xfrm>
              <a:off x="1392" y="1392"/>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2</a:t>
              </a:r>
              <a:endParaRPr lang="en-US" altLang="zh-CN" sz="2400" baseline="-20000">
                <a:latin typeface="Times New Roman" pitchFamily="18" charset="0"/>
              </a:endParaRPr>
            </a:p>
          </p:txBody>
        </p:sp>
        <p:sp>
          <p:nvSpPr>
            <p:cNvPr id="104" name="Text Box 41"/>
            <p:cNvSpPr txBox="1">
              <a:spLocks noChangeArrowheads="1"/>
            </p:cNvSpPr>
            <p:nvPr/>
          </p:nvSpPr>
          <p:spPr bwMode="auto">
            <a:xfrm>
              <a:off x="476" y="1200"/>
              <a:ext cx="302" cy="2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20000"/>
                </a:spcBef>
                <a:buClrTx/>
                <a:buSzTx/>
                <a:buFontTx/>
                <a:buNone/>
              </a:pPr>
              <a:r>
                <a:rPr lang="en-US" altLang="zh-CN" sz="2000">
                  <a:latin typeface="Arial" charset="0"/>
                </a:rPr>
                <a:t>0 1 2 3 4 5 6 7 8 9</a:t>
              </a:r>
            </a:p>
          </p:txBody>
        </p:sp>
        <p:sp>
          <p:nvSpPr>
            <p:cNvPr id="105" name="Rectangle 42"/>
            <p:cNvSpPr>
              <a:spLocks noChangeArrowheads="1"/>
            </p:cNvSpPr>
            <p:nvPr/>
          </p:nvSpPr>
          <p:spPr bwMode="auto">
            <a:xfrm>
              <a:off x="720" y="1152"/>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endParaRPr lang="zh-CN" altLang="zh-CN" sz="2400">
                <a:latin typeface="Times New Roman" pitchFamily="18" charset="0"/>
              </a:endParaRPr>
            </a:p>
          </p:txBody>
        </p:sp>
        <p:sp>
          <p:nvSpPr>
            <p:cNvPr id="106" name="Rectangle 43"/>
            <p:cNvSpPr>
              <a:spLocks noChangeArrowheads="1"/>
            </p:cNvSpPr>
            <p:nvPr/>
          </p:nvSpPr>
          <p:spPr bwMode="auto">
            <a:xfrm>
              <a:off x="720" y="1384"/>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A</a:t>
              </a:r>
            </a:p>
          </p:txBody>
        </p:sp>
        <p:sp>
          <p:nvSpPr>
            <p:cNvPr id="107" name="Rectangle 44"/>
            <p:cNvSpPr>
              <a:spLocks noChangeArrowheads="1"/>
            </p:cNvSpPr>
            <p:nvPr/>
          </p:nvSpPr>
          <p:spPr bwMode="auto">
            <a:xfrm>
              <a:off x="720" y="1616"/>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B</a:t>
              </a:r>
            </a:p>
          </p:txBody>
        </p:sp>
        <p:sp>
          <p:nvSpPr>
            <p:cNvPr id="108" name="Rectangle 45"/>
            <p:cNvSpPr>
              <a:spLocks noChangeArrowheads="1"/>
            </p:cNvSpPr>
            <p:nvPr/>
          </p:nvSpPr>
          <p:spPr bwMode="auto">
            <a:xfrm>
              <a:off x="720" y="1848"/>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C</a:t>
              </a:r>
            </a:p>
          </p:txBody>
        </p:sp>
        <p:sp>
          <p:nvSpPr>
            <p:cNvPr id="109" name="Rectangle 46"/>
            <p:cNvSpPr>
              <a:spLocks noChangeArrowheads="1"/>
            </p:cNvSpPr>
            <p:nvPr/>
          </p:nvSpPr>
          <p:spPr bwMode="auto">
            <a:xfrm>
              <a:off x="720" y="2080"/>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D</a:t>
              </a:r>
            </a:p>
          </p:txBody>
        </p:sp>
        <p:sp>
          <p:nvSpPr>
            <p:cNvPr id="110" name="Rectangle 47"/>
            <p:cNvSpPr>
              <a:spLocks noChangeArrowheads="1"/>
            </p:cNvSpPr>
            <p:nvPr/>
          </p:nvSpPr>
          <p:spPr bwMode="auto">
            <a:xfrm>
              <a:off x="720" y="2312"/>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E</a:t>
              </a:r>
            </a:p>
          </p:txBody>
        </p:sp>
        <p:sp>
          <p:nvSpPr>
            <p:cNvPr id="111" name="Rectangle 48"/>
            <p:cNvSpPr>
              <a:spLocks noChangeArrowheads="1"/>
            </p:cNvSpPr>
            <p:nvPr/>
          </p:nvSpPr>
          <p:spPr bwMode="auto">
            <a:xfrm>
              <a:off x="720" y="2544"/>
              <a:ext cx="240" cy="216"/>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F</a:t>
              </a:r>
            </a:p>
          </p:txBody>
        </p:sp>
        <p:sp>
          <p:nvSpPr>
            <p:cNvPr id="112" name="Rectangle 49"/>
            <p:cNvSpPr>
              <a:spLocks noChangeArrowheads="1"/>
            </p:cNvSpPr>
            <p:nvPr/>
          </p:nvSpPr>
          <p:spPr bwMode="auto">
            <a:xfrm>
              <a:off x="720" y="2760"/>
              <a:ext cx="240" cy="216"/>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G</a:t>
              </a:r>
            </a:p>
          </p:txBody>
        </p:sp>
        <p:sp>
          <p:nvSpPr>
            <p:cNvPr id="113" name="Rectangle 50"/>
            <p:cNvSpPr>
              <a:spLocks noChangeArrowheads="1"/>
            </p:cNvSpPr>
            <p:nvPr/>
          </p:nvSpPr>
          <p:spPr bwMode="auto">
            <a:xfrm>
              <a:off x="720" y="2976"/>
              <a:ext cx="240" cy="216"/>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H</a:t>
              </a:r>
            </a:p>
          </p:txBody>
        </p:sp>
        <p:sp>
          <p:nvSpPr>
            <p:cNvPr id="114" name="Rectangle 51"/>
            <p:cNvSpPr>
              <a:spLocks noChangeArrowheads="1"/>
            </p:cNvSpPr>
            <p:nvPr/>
          </p:nvSpPr>
          <p:spPr bwMode="auto">
            <a:xfrm>
              <a:off x="720" y="3192"/>
              <a:ext cx="240" cy="216"/>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I</a:t>
              </a:r>
            </a:p>
          </p:txBody>
        </p:sp>
        <p:sp>
          <p:nvSpPr>
            <p:cNvPr id="115" name="Rectangle 52"/>
            <p:cNvSpPr>
              <a:spLocks noChangeArrowheads="1"/>
            </p:cNvSpPr>
            <p:nvPr/>
          </p:nvSpPr>
          <p:spPr bwMode="auto">
            <a:xfrm>
              <a:off x="960" y="1152"/>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endParaRPr lang="zh-CN" altLang="zh-CN" sz="2400">
                <a:latin typeface="Times New Roman" pitchFamily="18" charset="0"/>
              </a:endParaRPr>
            </a:p>
          </p:txBody>
        </p:sp>
        <p:sp>
          <p:nvSpPr>
            <p:cNvPr id="116" name="Rectangle 53"/>
            <p:cNvSpPr>
              <a:spLocks noChangeArrowheads="1"/>
            </p:cNvSpPr>
            <p:nvPr/>
          </p:nvSpPr>
          <p:spPr bwMode="auto">
            <a:xfrm>
              <a:off x="960" y="1384"/>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endParaRPr lang="zh-CN" altLang="zh-CN" sz="2400">
                <a:latin typeface="Times New Roman" pitchFamily="18" charset="0"/>
              </a:endParaRPr>
            </a:p>
          </p:txBody>
        </p:sp>
        <p:sp>
          <p:nvSpPr>
            <p:cNvPr id="117" name="Rectangle 54"/>
            <p:cNvSpPr>
              <a:spLocks noChangeArrowheads="1"/>
            </p:cNvSpPr>
            <p:nvPr/>
          </p:nvSpPr>
          <p:spPr bwMode="auto">
            <a:xfrm>
              <a:off x="960" y="1616"/>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endParaRPr lang="zh-CN" altLang="zh-CN" sz="2400">
                <a:latin typeface="Times New Roman" pitchFamily="18" charset="0"/>
              </a:endParaRPr>
            </a:p>
          </p:txBody>
        </p:sp>
        <p:sp>
          <p:nvSpPr>
            <p:cNvPr id="118" name="Rectangle 55"/>
            <p:cNvSpPr>
              <a:spLocks noChangeArrowheads="1"/>
            </p:cNvSpPr>
            <p:nvPr/>
          </p:nvSpPr>
          <p:spPr bwMode="auto">
            <a:xfrm>
              <a:off x="960" y="1848"/>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endParaRPr lang="zh-CN" altLang="zh-CN" sz="2400">
                <a:latin typeface="Times New Roman" pitchFamily="18" charset="0"/>
              </a:endParaRPr>
            </a:p>
          </p:txBody>
        </p:sp>
        <p:sp>
          <p:nvSpPr>
            <p:cNvPr id="119" name="Rectangle 56"/>
            <p:cNvSpPr>
              <a:spLocks noChangeArrowheads="1"/>
            </p:cNvSpPr>
            <p:nvPr/>
          </p:nvSpPr>
          <p:spPr bwMode="auto">
            <a:xfrm>
              <a:off x="960" y="2080"/>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800" baseline="-20000">
                  <a:latin typeface="Times New Roman" pitchFamily="18" charset="0"/>
                </a:rPr>
                <a:t>∧</a:t>
              </a:r>
            </a:p>
          </p:txBody>
        </p:sp>
        <p:sp>
          <p:nvSpPr>
            <p:cNvPr id="120" name="Rectangle 57"/>
            <p:cNvSpPr>
              <a:spLocks noChangeArrowheads="1"/>
            </p:cNvSpPr>
            <p:nvPr/>
          </p:nvSpPr>
          <p:spPr bwMode="auto">
            <a:xfrm>
              <a:off x="960" y="2312"/>
              <a:ext cx="240" cy="232"/>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endParaRPr lang="zh-CN" altLang="zh-CN" sz="2400">
                <a:latin typeface="Times New Roman" pitchFamily="18" charset="0"/>
              </a:endParaRPr>
            </a:p>
          </p:txBody>
        </p:sp>
        <p:sp>
          <p:nvSpPr>
            <p:cNvPr id="121" name="Rectangle 58"/>
            <p:cNvSpPr>
              <a:spLocks noChangeArrowheads="1"/>
            </p:cNvSpPr>
            <p:nvPr/>
          </p:nvSpPr>
          <p:spPr bwMode="auto">
            <a:xfrm>
              <a:off x="960" y="2544"/>
              <a:ext cx="240" cy="216"/>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800" baseline="-20000">
                  <a:latin typeface="Times New Roman" pitchFamily="18" charset="0"/>
                </a:rPr>
                <a:t>∧</a:t>
              </a:r>
            </a:p>
          </p:txBody>
        </p:sp>
        <p:sp>
          <p:nvSpPr>
            <p:cNvPr id="122" name="Rectangle 59"/>
            <p:cNvSpPr>
              <a:spLocks noChangeArrowheads="1"/>
            </p:cNvSpPr>
            <p:nvPr/>
          </p:nvSpPr>
          <p:spPr bwMode="auto">
            <a:xfrm>
              <a:off x="960" y="2760"/>
              <a:ext cx="240" cy="216"/>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800" baseline="-20000">
                  <a:latin typeface="Times New Roman" pitchFamily="18" charset="0"/>
                </a:rPr>
                <a:t>∧</a:t>
              </a:r>
            </a:p>
          </p:txBody>
        </p:sp>
        <p:sp>
          <p:nvSpPr>
            <p:cNvPr id="123" name="Rectangle 60"/>
            <p:cNvSpPr>
              <a:spLocks noChangeArrowheads="1"/>
            </p:cNvSpPr>
            <p:nvPr/>
          </p:nvSpPr>
          <p:spPr bwMode="auto">
            <a:xfrm>
              <a:off x="960" y="2976"/>
              <a:ext cx="240" cy="216"/>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800" baseline="-20000">
                  <a:latin typeface="Times New Roman" pitchFamily="18" charset="0"/>
                </a:rPr>
                <a:t>∧</a:t>
              </a:r>
            </a:p>
          </p:txBody>
        </p:sp>
        <p:sp>
          <p:nvSpPr>
            <p:cNvPr id="124" name="Rectangle 61"/>
            <p:cNvSpPr>
              <a:spLocks noChangeArrowheads="1"/>
            </p:cNvSpPr>
            <p:nvPr/>
          </p:nvSpPr>
          <p:spPr bwMode="auto">
            <a:xfrm>
              <a:off x="960" y="3192"/>
              <a:ext cx="240" cy="216"/>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800" baseline="-20000">
                  <a:latin typeface="Times New Roman" pitchFamily="18" charset="0"/>
                </a:rPr>
                <a:t>∧</a:t>
              </a:r>
            </a:p>
          </p:txBody>
        </p:sp>
        <p:sp>
          <p:nvSpPr>
            <p:cNvPr id="125" name="Line 62"/>
            <p:cNvSpPr>
              <a:spLocks noChangeShapeType="1"/>
            </p:cNvSpPr>
            <p:nvPr/>
          </p:nvSpPr>
          <p:spPr bwMode="auto">
            <a:xfrm>
              <a:off x="1104" y="1536"/>
              <a:ext cx="288" cy="0"/>
            </a:xfrm>
            <a:prstGeom prst="line">
              <a:avLst/>
            </a:prstGeom>
            <a:noFill/>
            <a:ln w="1270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 name="Rectangle 63"/>
            <p:cNvSpPr>
              <a:spLocks noChangeArrowheads="1"/>
            </p:cNvSpPr>
            <p:nvPr/>
          </p:nvSpPr>
          <p:spPr bwMode="auto">
            <a:xfrm>
              <a:off x="1680" y="1392"/>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endParaRPr lang="zh-CN" altLang="zh-CN" sz="2400" baseline="-20000">
                <a:latin typeface="Times New Roman" pitchFamily="18" charset="0"/>
              </a:endParaRPr>
            </a:p>
          </p:txBody>
        </p:sp>
        <p:sp>
          <p:nvSpPr>
            <p:cNvPr id="127" name="Line 64"/>
            <p:cNvSpPr>
              <a:spLocks noChangeShapeType="1"/>
            </p:cNvSpPr>
            <p:nvPr/>
          </p:nvSpPr>
          <p:spPr bwMode="auto">
            <a:xfrm>
              <a:off x="1824" y="1536"/>
              <a:ext cx="336" cy="0"/>
            </a:xfrm>
            <a:prstGeom prst="line">
              <a:avLst/>
            </a:prstGeom>
            <a:noFill/>
            <a:ln w="1270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 name="Rectangle 65"/>
            <p:cNvSpPr>
              <a:spLocks noChangeArrowheads="1"/>
            </p:cNvSpPr>
            <p:nvPr/>
          </p:nvSpPr>
          <p:spPr bwMode="auto">
            <a:xfrm>
              <a:off x="2160" y="1392"/>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3</a:t>
              </a:r>
              <a:endParaRPr lang="en-US" altLang="zh-CN" sz="2400" baseline="-20000">
                <a:latin typeface="Times New Roman" pitchFamily="18" charset="0"/>
              </a:endParaRPr>
            </a:p>
          </p:txBody>
        </p:sp>
        <p:sp>
          <p:nvSpPr>
            <p:cNvPr id="129" name="Rectangle 66"/>
            <p:cNvSpPr>
              <a:spLocks noChangeArrowheads="1"/>
            </p:cNvSpPr>
            <p:nvPr/>
          </p:nvSpPr>
          <p:spPr bwMode="auto">
            <a:xfrm>
              <a:off x="2448" y="1392"/>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800" baseline="-20000">
                  <a:latin typeface="Times New Roman" pitchFamily="18" charset="0"/>
                </a:rPr>
                <a:t>∧</a:t>
              </a:r>
            </a:p>
          </p:txBody>
        </p:sp>
        <p:sp>
          <p:nvSpPr>
            <p:cNvPr id="130" name="Rectangle 67"/>
            <p:cNvSpPr>
              <a:spLocks noChangeArrowheads="1"/>
            </p:cNvSpPr>
            <p:nvPr/>
          </p:nvSpPr>
          <p:spPr bwMode="auto">
            <a:xfrm>
              <a:off x="1392" y="1632"/>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4</a:t>
              </a:r>
              <a:endParaRPr lang="en-US" altLang="zh-CN" sz="2400" baseline="-20000">
                <a:latin typeface="Times New Roman" pitchFamily="18" charset="0"/>
              </a:endParaRPr>
            </a:p>
          </p:txBody>
        </p:sp>
        <p:sp>
          <p:nvSpPr>
            <p:cNvPr id="131" name="Rectangle 68"/>
            <p:cNvSpPr>
              <a:spLocks noChangeArrowheads="1"/>
            </p:cNvSpPr>
            <p:nvPr/>
          </p:nvSpPr>
          <p:spPr bwMode="auto">
            <a:xfrm>
              <a:off x="1680" y="1632"/>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endParaRPr lang="zh-CN" altLang="zh-CN" sz="2400" baseline="-20000">
                <a:latin typeface="Times New Roman" pitchFamily="18" charset="0"/>
              </a:endParaRPr>
            </a:p>
          </p:txBody>
        </p:sp>
        <p:sp>
          <p:nvSpPr>
            <p:cNvPr id="132" name="Line 69"/>
            <p:cNvSpPr>
              <a:spLocks noChangeShapeType="1"/>
            </p:cNvSpPr>
            <p:nvPr/>
          </p:nvSpPr>
          <p:spPr bwMode="auto">
            <a:xfrm>
              <a:off x="1824" y="1776"/>
              <a:ext cx="336" cy="0"/>
            </a:xfrm>
            <a:prstGeom prst="line">
              <a:avLst/>
            </a:prstGeom>
            <a:noFill/>
            <a:ln w="12700" cap="rnd">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 name="Rectangle 70"/>
            <p:cNvSpPr>
              <a:spLocks noChangeArrowheads="1"/>
            </p:cNvSpPr>
            <p:nvPr/>
          </p:nvSpPr>
          <p:spPr bwMode="auto">
            <a:xfrm>
              <a:off x="2160" y="1632"/>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5</a:t>
              </a:r>
              <a:endParaRPr lang="en-US" altLang="zh-CN" sz="2400" baseline="-20000">
                <a:latin typeface="Times New Roman" pitchFamily="18" charset="0"/>
              </a:endParaRPr>
            </a:p>
          </p:txBody>
        </p:sp>
        <p:sp>
          <p:nvSpPr>
            <p:cNvPr id="134" name="Rectangle 71"/>
            <p:cNvSpPr>
              <a:spLocks noChangeArrowheads="1"/>
            </p:cNvSpPr>
            <p:nvPr/>
          </p:nvSpPr>
          <p:spPr bwMode="auto">
            <a:xfrm>
              <a:off x="2448" y="1632"/>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800" baseline="-20000">
                  <a:latin typeface="Times New Roman" pitchFamily="18" charset="0"/>
                </a:rPr>
                <a:t>∧</a:t>
              </a:r>
            </a:p>
          </p:txBody>
        </p:sp>
        <p:sp>
          <p:nvSpPr>
            <p:cNvPr id="135" name="Line 72"/>
            <p:cNvSpPr>
              <a:spLocks noChangeShapeType="1"/>
            </p:cNvSpPr>
            <p:nvPr/>
          </p:nvSpPr>
          <p:spPr bwMode="auto">
            <a:xfrm>
              <a:off x="1104" y="1728"/>
              <a:ext cx="288" cy="0"/>
            </a:xfrm>
            <a:prstGeom prst="line">
              <a:avLst/>
            </a:prstGeom>
            <a:noFill/>
            <a:ln w="12700" cap="rnd">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Rectangle 73"/>
            <p:cNvSpPr>
              <a:spLocks noChangeArrowheads="1"/>
            </p:cNvSpPr>
            <p:nvPr/>
          </p:nvSpPr>
          <p:spPr bwMode="auto">
            <a:xfrm>
              <a:off x="1392" y="1867"/>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6</a:t>
              </a:r>
              <a:endParaRPr lang="en-US" altLang="zh-CN" sz="2400" baseline="-20000">
                <a:latin typeface="Times New Roman" pitchFamily="18" charset="0"/>
              </a:endParaRPr>
            </a:p>
          </p:txBody>
        </p:sp>
        <p:sp>
          <p:nvSpPr>
            <p:cNvPr id="137" name="Rectangle 74"/>
            <p:cNvSpPr>
              <a:spLocks noChangeArrowheads="1"/>
            </p:cNvSpPr>
            <p:nvPr/>
          </p:nvSpPr>
          <p:spPr bwMode="auto">
            <a:xfrm>
              <a:off x="1680" y="1867"/>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800" baseline="-20000">
                  <a:latin typeface="Times New Roman" pitchFamily="18" charset="0"/>
                </a:rPr>
                <a:t>∧</a:t>
              </a:r>
            </a:p>
          </p:txBody>
        </p:sp>
        <p:sp>
          <p:nvSpPr>
            <p:cNvPr id="138" name="Line 75"/>
            <p:cNvSpPr>
              <a:spLocks noChangeShapeType="1"/>
            </p:cNvSpPr>
            <p:nvPr/>
          </p:nvSpPr>
          <p:spPr bwMode="auto">
            <a:xfrm>
              <a:off x="1104" y="1968"/>
              <a:ext cx="288" cy="0"/>
            </a:xfrm>
            <a:prstGeom prst="line">
              <a:avLst/>
            </a:prstGeom>
            <a:noFill/>
            <a:ln w="1270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 name="Rectangle 76"/>
            <p:cNvSpPr>
              <a:spLocks noChangeArrowheads="1"/>
            </p:cNvSpPr>
            <p:nvPr/>
          </p:nvSpPr>
          <p:spPr bwMode="auto">
            <a:xfrm>
              <a:off x="1392" y="2326"/>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7</a:t>
              </a:r>
              <a:endParaRPr lang="en-US" altLang="zh-CN" sz="2400" baseline="-20000">
                <a:latin typeface="Times New Roman" pitchFamily="18" charset="0"/>
              </a:endParaRPr>
            </a:p>
          </p:txBody>
        </p:sp>
        <p:sp>
          <p:nvSpPr>
            <p:cNvPr id="140" name="Rectangle 77"/>
            <p:cNvSpPr>
              <a:spLocks noChangeArrowheads="1"/>
            </p:cNvSpPr>
            <p:nvPr/>
          </p:nvSpPr>
          <p:spPr bwMode="auto">
            <a:xfrm>
              <a:off x="1680" y="2326"/>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endParaRPr lang="zh-CN" altLang="zh-CN" sz="2400" baseline="-20000">
                <a:latin typeface="Times New Roman" pitchFamily="18" charset="0"/>
              </a:endParaRPr>
            </a:p>
          </p:txBody>
        </p:sp>
        <p:sp>
          <p:nvSpPr>
            <p:cNvPr id="141" name="Line 78"/>
            <p:cNvSpPr>
              <a:spLocks noChangeShapeType="1"/>
            </p:cNvSpPr>
            <p:nvPr/>
          </p:nvSpPr>
          <p:spPr bwMode="auto">
            <a:xfrm>
              <a:off x="1824" y="2470"/>
              <a:ext cx="336" cy="0"/>
            </a:xfrm>
            <a:prstGeom prst="line">
              <a:avLst/>
            </a:prstGeom>
            <a:noFill/>
            <a:ln w="1270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 name="Rectangle 79"/>
            <p:cNvSpPr>
              <a:spLocks noChangeArrowheads="1"/>
            </p:cNvSpPr>
            <p:nvPr/>
          </p:nvSpPr>
          <p:spPr bwMode="auto">
            <a:xfrm>
              <a:off x="2160" y="2326"/>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8</a:t>
              </a:r>
              <a:endParaRPr lang="en-US" altLang="zh-CN" sz="2400" baseline="-20000">
                <a:latin typeface="Times New Roman" pitchFamily="18" charset="0"/>
              </a:endParaRPr>
            </a:p>
          </p:txBody>
        </p:sp>
        <p:sp>
          <p:nvSpPr>
            <p:cNvPr id="143" name="Rectangle 80"/>
            <p:cNvSpPr>
              <a:spLocks noChangeArrowheads="1"/>
            </p:cNvSpPr>
            <p:nvPr/>
          </p:nvSpPr>
          <p:spPr bwMode="auto">
            <a:xfrm>
              <a:off x="2448" y="2326"/>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endParaRPr lang="zh-CN" altLang="zh-CN" sz="2800" baseline="-20000">
                <a:latin typeface="Times New Roman" pitchFamily="18" charset="0"/>
              </a:endParaRPr>
            </a:p>
          </p:txBody>
        </p:sp>
        <p:sp>
          <p:nvSpPr>
            <p:cNvPr id="144" name="Line 81"/>
            <p:cNvSpPr>
              <a:spLocks noChangeShapeType="1"/>
            </p:cNvSpPr>
            <p:nvPr/>
          </p:nvSpPr>
          <p:spPr bwMode="auto">
            <a:xfrm>
              <a:off x="1104" y="2400"/>
              <a:ext cx="288" cy="0"/>
            </a:xfrm>
            <a:prstGeom prst="line">
              <a:avLst/>
            </a:prstGeom>
            <a:noFill/>
            <a:ln w="1270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 name="Line 82"/>
            <p:cNvSpPr>
              <a:spLocks noChangeShapeType="1"/>
            </p:cNvSpPr>
            <p:nvPr/>
          </p:nvSpPr>
          <p:spPr bwMode="auto">
            <a:xfrm>
              <a:off x="2592" y="2470"/>
              <a:ext cx="336" cy="0"/>
            </a:xfrm>
            <a:prstGeom prst="line">
              <a:avLst/>
            </a:prstGeom>
            <a:noFill/>
            <a:ln w="12700" cap="rnd">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 name="Rectangle 83"/>
            <p:cNvSpPr>
              <a:spLocks noChangeArrowheads="1"/>
            </p:cNvSpPr>
            <p:nvPr/>
          </p:nvSpPr>
          <p:spPr bwMode="auto">
            <a:xfrm>
              <a:off x="2928" y="2326"/>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400">
                  <a:latin typeface="Times New Roman" pitchFamily="18" charset="0"/>
                </a:rPr>
                <a:t>9</a:t>
              </a:r>
              <a:endParaRPr lang="en-US" altLang="zh-CN" sz="2400" baseline="-20000">
                <a:latin typeface="Times New Roman" pitchFamily="18" charset="0"/>
              </a:endParaRPr>
            </a:p>
          </p:txBody>
        </p:sp>
        <p:sp>
          <p:nvSpPr>
            <p:cNvPr id="147" name="Rectangle 84"/>
            <p:cNvSpPr>
              <a:spLocks noChangeArrowheads="1"/>
            </p:cNvSpPr>
            <p:nvPr/>
          </p:nvSpPr>
          <p:spPr bwMode="auto">
            <a:xfrm>
              <a:off x="3216" y="2326"/>
              <a:ext cx="288" cy="218"/>
            </a:xfrm>
            <a:prstGeom prst="rect">
              <a:avLst/>
            </a:prstGeom>
            <a:solidFill>
              <a:schemeClr val="bg1"/>
            </a:solidFill>
            <a:ln w="9525">
              <a:solidFill>
                <a:schemeClr val="tx1"/>
              </a:solidFill>
              <a:miter lim="800000"/>
              <a:headEnd/>
              <a:tailEnd/>
            </a:ln>
          </p:spPr>
          <p:txBody>
            <a:bodyPr wrap="none" anchor="ctr"/>
            <a:lstStyle/>
            <a:p>
              <a:pPr algn="ctr">
                <a:spcBef>
                  <a:spcPct val="0"/>
                </a:spcBef>
                <a:buClrTx/>
                <a:buSzTx/>
                <a:buFontTx/>
                <a:buNone/>
              </a:pPr>
              <a:r>
                <a:rPr lang="en-US" altLang="zh-CN" sz="2800" baseline="-20000">
                  <a:latin typeface="Times New Roman" pitchFamily="18" charset="0"/>
                </a:rPr>
                <a:t>∧</a:t>
              </a:r>
            </a:p>
          </p:txBody>
        </p:sp>
      </p:grpSp>
      <p:grpSp>
        <p:nvGrpSpPr>
          <p:cNvPr id="149" name="Group 3"/>
          <p:cNvGrpSpPr>
            <a:grpSpLocks/>
          </p:cNvGrpSpPr>
          <p:nvPr/>
        </p:nvGrpSpPr>
        <p:grpSpPr bwMode="auto">
          <a:xfrm>
            <a:off x="2340679" y="2802253"/>
            <a:ext cx="2447925" cy="2514600"/>
            <a:chOff x="2304" y="1680"/>
            <a:chExt cx="1542" cy="1584"/>
          </a:xfrm>
        </p:grpSpPr>
        <p:grpSp>
          <p:nvGrpSpPr>
            <p:cNvPr id="150" name="Group 4"/>
            <p:cNvGrpSpPr>
              <a:grpSpLocks/>
            </p:cNvGrpSpPr>
            <p:nvPr/>
          </p:nvGrpSpPr>
          <p:grpSpPr bwMode="auto">
            <a:xfrm>
              <a:off x="3205" y="3014"/>
              <a:ext cx="295" cy="250"/>
              <a:chOff x="2880" y="1104"/>
              <a:chExt cx="367" cy="343"/>
            </a:xfrm>
          </p:grpSpPr>
          <p:sp>
            <p:nvSpPr>
              <p:cNvPr id="183" name="Oval 5"/>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84" name="Text Box 6"/>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I</a:t>
                </a:r>
              </a:p>
            </p:txBody>
          </p:sp>
        </p:grpSp>
        <p:grpSp>
          <p:nvGrpSpPr>
            <p:cNvPr id="151" name="Group 7"/>
            <p:cNvGrpSpPr>
              <a:grpSpLocks/>
            </p:cNvGrpSpPr>
            <p:nvPr/>
          </p:nvGrpSpPr>
          <p:grpSpPr bwMode="auto">
            <a:xfrm>
              <a:off x="3019" y="1680"/>
              <a:ext cx="295" cy="250"/>
              <a:chOff x="2880" y="1104"/>
              <a:chExt cx="367" cy="343"/>
            </a:xfrm>
          </p:grpSpPr>
          <p:sp>
            <p:nvSpPr>
              <p:cNvPr id="181" name="Oval 8"/>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82" name="Text Box 9"/>
              <p:cNvSpPr txBox="1">
                <a:spLocks noChangeArrowheads="1"/>
              </p:cNvSpPr>
              <p:nvPr/>
            </p:nvSpPr>
            <p:spPr bwMode="auto">
              <a:xfrm>
                <a:off x="2928" y="1104"/>
                <a:ext cx="319" cy="343"/>
              </a:xfrm>
              <a:prstGeom prst="rect">
                <a:avLst/>
              </a:prstGeom>
              <a:noFill/>
              <a:ln w="12700" cap="rnd">
                <a:noFill/>
                <a:miter lim="800000"/>
                <a:headEnd/>
                <a:tailEnd/>
              </a:ln>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50000"/>
                  </a:spcBef>
                  <a:buClrTx/>
                  <a:buSzTx/>
                  <a:buFontTx/>
                  <a:buNone/>
                </a:pPr>
                <a:r>
                  <a:rPr lang="en-US" altLang="zh-CN" sz="2000" b="1">
                    <a:latin typeface="隶书" pitchFamily="49" charset="-122"/>
                    <a:ea typeface="隶书" pitchFamily="49" charset="-122"/>
                  </a:rPr>
                  <a:t>A</a:t>
                </a:r>
              </a:p>
            </p:txBody>
          </p:sp>
        </p:grpSp>
        <p:grpSp>
          <p:nvGrpSpPr>
            <p:cNvPr id="152" name="Group 10"/>
            <p:cNvGrpSpPr>
              <a:grpSpLocks/>
            </p:cNvGrpSpPr>
            <p:nvPr/>
          </p:nvGrpSpPr>
          <p:grpSpPr bwMode="auto">
            <a:xfrm>
              <a:off x="3551" y="2256"/>
              <a:ext cx="295" cy="250"/>
              <a:chOff x="2880" y="1104"/>
              <a:chExt cx="367" cy="343"/>
            </a:xfrm>
          </p:grpSpPr>
          <p:sp>
            <p:nvSpPr>
              <p:cNvPr id="179" name="Oval 11"/>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80" name="Text Box 12"/>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C</a:t>
                </a:r>
              </a:p>
            </p:txBody>
          </p:sp>
        </p:grpSp>
        <p:grpSp>
          <p:nvGrpSpPr>
            <p:cNvPr id="153" name="Group 13"/>
            <p:cNvGrpSpPr>
              <a:grpSpLocks/>
            </p:cNvGrpSpPr>
            <p:nvPr/>
          </p:nvGrpSpPr>
          <p:grpSpPr bwMode="auto">
            <a:xfrm>
              <a:off x="2570" y="2160"/>
              <a:ext cx="295" cy="250"/>
              <a:chOff x="2880" y="1104"/>
              <a:chExt cx="367" cy="343"/>
            </a:xfrm>
          </p:grpSpPr>
          <p:sp>
            <p:nvSpPr>
              <p:cNvPr id="177" name="Oval 14"/>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78" name="Text Box 15"/>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dirty="0"/>
                  <a:t>B</a:t>
                </a:r>
              </a:p>
            </p:txBody>
          </p:sp>
        </p:grpSp>
        <p:grpSp>
          <p:nvGrpSpPr>
            <p:cNvPr id="154" name="Group 16"/>
            <p:cNvGrpSpPr>
              <a:grpSpLocks/>
            </p:cNvGrpSpPr>
            <p:nvPr/>
          </p:nvGrpSpPr>
          <p:grpSpPr bwMode="auto">
            <a:xfrm>
              <a:off x="2850" y="3014"/>
              <a:ext cx="296" cy="250"/>
              <a:chOff x="2880" y="1104"/>
              <a:chExt cx="367" cy="343"/>
            </a:xfrm>
          </p:grpSpPr>
          <p:sp>
            <p:nvSpPr>
              <p:cNvPr id="175" name="Oval 17"/>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76" name="Text Box 18"/>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H</a:t>
                </a:r>
              </a:p>
            </p:txBody>
          </p:sp>
        </p:grpSp>
        <p:grpSp>
          <p:nvGrpSpPr>
            <p:cNvPr id="155" name="Group 19"/>
            <p:cNvGrpSpPr>
              <a:grpSpLocks/>
            </p:cNvGrpSpPr>
            <p:nvPr/>
          </p:nvGrpSpPr>
          <p:grpSpPr bwMode="auto">
            <a:xfrm>
              <a:off x="2496" y="3014"/>
              <a:ext cx="295" cy="250"/>
              <a:chOff x="2880" y="1104"/>
              <a:chExt cx="367" cy="343"/>
            </a:xfrm>
          </p:grpSpPr>
          <p:sp>
            <p:nvSpPr>
              <p:cNvPr id="173" name="Oval 20"/>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74" name="Text Box 21"/>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G</a:t>
                </a:r>
              </a:p>
            </p:txBody>
          </p:sp>
        </p:grpSp>
        <p:grpSp>
          <p:nvGrpSpPr>
            <p:cNvPr id="156" name="Group 22"/>
            <p:cNvGrpSpPr>
              <a:grpSpLocks/>
            </p:cNvGrpSpPr>
            <p:nvPr/>
          </p:nvGrpSpPr>
          <p:grpSpPr bwMode="auto">
            <a:xfrm>
              <a:off x="3551" y="2678"/>
              <a:ext cx="295" cy="250"/>
              <a:chOff x="2880" y="1104"/>
              <a:chExt cx="367" cy="343"/>
            </a:xfrm>
          </p:grpSpPr>
          <p:sp>
            <p:nvSpPr>
              <p:cNvPr id="171" name="Oval 23"/>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72" name="Text Box 24"/>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F</a:t>
                </a:r>
              </a:p>
            </p:txBody>
          </p:sp>
        </p:grpSp>
        <p:grpSp>
          <p:nvGrpSpPr>
            <p:cNvPr id="157" name="Group 25"/>
            <p:cNvGrpSpPr>
              <a:grpSpLocks/>
            </p:cNvGrpSpPr>
            <p:nvPr/>
          </p:nvGrpSpPr>
          <p:grpSpPr bwMode="auto">
            <a:xfrm>
              <a:off x="2806" y="2559"/>
              <a:ext cx="295" cy="250"/>
              <a:chOff x="2880" y="1104"/>
              <a:chExt cx="367" cy="343"/>
            </a:xfrm>
          </p:grpSpPr>
          <p:sp>
            <p:nvSpPr>
              <p:cNvPr id="169" name="Oval 26"/>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70" name="Text Box 27"/>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E</a:t>
                </a:r>
              </a:p>
            </p:txBody>
          </p:sp>
        </p:grpSp>
        <p:grpSp>
          <p:nvGrpSpPr>
            <p:cNvPr id="158" name="Group 28"/>
            <p:cNvGrpSpPr>
              <a:grpSpLocks/>
            </p:cNvGrpSpPr>
            <p:nvPr/>
          </p:nvGrpSpPr>
          <p:grpSpPr bwMode="auto">
            <a:xfrm>
              <a:off x="2304" y="2521"/>
              <a:ext cx="295" cy="250"/>
              <a:chOff x="2880" y="1104"/>
              <a:chExt cx="367" cy="343"/>
            </a:xfrm>
          </p:grpSpPr>
          <p:sp>
            <p:nvSpPr>
              <p:cNvPr id="167" name="Oval 29"/>
              <p:cNvSpPr>
                <a:spLocks noChangeArrowheads="1"/>
              </p:cNvSpPr>
              <p:nvPr/>
            </p:nvSpPr>
            <p:spPr bwMode="auto">
              <a:xfrm>
                <a:off x="2880" y="1104"/>
                <a:ext cx="317" cy="336"/>
              </a:xfrm>
              <a:prstGeom prst="ellipse">
                <a:avLst/>
              </a:prstGeom>
              <a:solidFill>
                <a:srgbClr val="DBE0B4"/>
              </a:solidFill>
              <a:ln w="12700" cap="rnd">
                <a:solidFill>
                  <a:schemeClr val="tx1"/>
                </a:solidFill>
                <a:round/>
                <a:headEnd/>
                <a:tailEnd/>
              </a:ln>
            </p:spPr>
            <p:txBody>
              <a:bodyPr wrap="none" anchor="ctr"/>
              <a:lstStyle/>
              <a:p>
                <a:pPr algn="ctr" eaLnBrk="0" hangingPunct="0">
                  <a:spcBef>
                    <a:spcPct val="0"/>
                  </a:spcBef>
                  <a:buClrTx/>
                  <a:buSzTx/>
                  <a:buFontTx/>
                  <a:buNone/>
                </a:pPr>
                <a:endParaRPr lang="zh-CN" altLang="zh-CN" sz="2000" b="1">
                  <a:latin typeface="隶书" pitchFamily="49" charset="-122"/>
                  <a:ea typeface="隶书" pitchFamily="49" charset="-122"/>
                </a:endParaRPr>
              </a:p>
            </p:txBody>
          </p:sp>
          <p:sp>
            <p:nvSpPr>
              <p:cNvPr id="168" name="Text Box 30"/>
              <p:cNvSpPr txBox="1">
                <a:spLocks noChangeArrowheads="1"/>
              </p:cNvSpPr>
              <p:nvPr/>
            </p:nvSpPr>
            <p:spPr bwMode="auto">
              <a:xfrm>
                <a:off x="2928" y="1104"/>
                <a:ext cx="319" cy="343"/>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eaLnBrk="0" hangingPunct="0">
                  <a:spcBef>
                    <a:spcPct val="50000"/>
                  </a:spcBef>
                  <a:buClrTx/>
                  <a:buSzTx/>
                  <a:buFontTx/>
                  <a:buNone/>
                  <a:defRPr kumimoji="1" sz="2000" b="1">
                    <a:latin typeface="隶书" pitchFamily="49" charset="-122"/>
                    <a:ea typeface="隶书" pitchFamily="49"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D</a:t>
                </a:r>
              </a:p>
            </p:txBody>
          </p:sp>
        </p:grpSp>
        <p:sp>
          <p:nvSpPr>
            <p:cNvPr id="159" name="Line 31"/>
            <p:cNvSpPr>
              <a:spLocks noChangeShapeType="1"/>
            </p:cNvSpPr>
            <p:nvPr/>
          </p:nvSpPr>
          <p:spPr bwMode="auto">
            <a:xfrm flipH="1">
              <a:off x="2797" y="1920"/>
              <a:ext cx="310" cy="287"/>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 name="Line 32"/>
            <p:cNvSpPr>
              <a:spLocks noChangeShapeType="1"/>
            </p:cNvSpPr>
            <p:nvPr/>
          </p:nvSpPr>
          <p:spPr bwMode="auto">
            <a:xfrm flipH="1">
              <a:off x="2487" y="2400"/>
              <a:ext cx="105" cy="143"/>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1" name="Line 33"/>
            <p:cNvSpPr>
              <a:spLocks noChangeShapeType="1"/>
            </p:cNvSpPr>
            <p:nvPr/>
          </p:nvSpPr>
          <p:spPr bwMode="auto">
            <a:xfrm>
              <a:off x="2736" y="2400"/>
              <a:ext cx="150" cy="143"/>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 name="Line 34"/>
            <p:cNvSpPr>
              <a:spLocks noChangeShapeType="1"/>
            </p:cNvSpPr>
            <p:nvPr/>
          </p:nvSpPr>
          <p:spPr bwMode="auto">
            <a:xfrm>
              <a:off x="3196" y="1920"/>
              <a:ext cx="452" cy="336"/>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 name="Line 35"/>
            <p:cNvSpPr>
              <a:spLocks noChangeShapeType="1"/>
            </p:cNvSpPr>
            <p:nvPr/>
          </p:nvSpPr>
          <p:spPr bwMode="auto">
            <a:xfrm flipH="1">
              <a:off x="2688" y="2784"/>
              <a:ext cx="162"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 name="Line 36"/>
            <p:cNvSpPr>
              <a:spLocks noChangeShapeType="1"/>
            </p:cNvSpPr>
            <p:nvPr/>
          </p:nvSpPr>
          <p:spPr bwMode="auto">
            <a:xfrm>
              <a:off x="3027" y="2774"/>
              <a:ext cx="285" cy="25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5" name="Line 37"/>
            <p:cNvSpPr>
              <a:spLocks noChangeShapeType="1"/>
            </p:cNvSpPr>
            <p:nvPr/>
          </p:nvSpPr>
          <p:spPr bwMode="auto">
            <a:xfrm>
              <a:off x="2976" y="2784"/>
              <a:ext cx="0" cy="240"/>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6" name="Line 38"/>
            <p:cNvSpPr>
              <a:spLocks noChangeShapeType="1"/>
            </p:cNvSpPr>
            <p:nvPr/>
          </p:nvSpPr>
          <p:spPr bwMode="auto">
            <a:xfrm>
              <a:off x="3696" y="2496"/>
              <a:ext cx="0" cy="192"/>
            </a:xfrm>
            <a:prstGeom prst="line">
              <a:avLst/>
            </a:prstGeom>
            <a:noFill/>
            <a:ln w="12700" cap="rnd">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矩形 1"/>
          <p:cNvSpPr/>
          <p:nvPr/>
        </p:nvSpPr>
        <p:spPr>
          <a:xfrm>
            <a:off x="1011666" y="2161316"/>
            <a:ext cx="8296870" cy="400110"/>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通过保存每个结点的孩子结点的位置，表示树中结点之间的结构关系。</a:t>
            </a:r>
            <a:endParaRPr lang="zh-CN" altLang="en-US" sz="2000" dirty="0"/>
          </a:p>
        </p:txBody>
      </p:sp>
      <p:sp>
        <p:nvSpPr>
          <p:cNvPr id="3" name="矩形 2">
            <a:extLst>
              <a:ext uri="{FF2B5EF4-FFF2-40B4-BE49-F238E27FC236}">
                <a16:creationId xmlns:a16="http://schemas.microsoft.com/office/drawing/2014/main" xmlns="" id="{1C6AA6B7-CD4F-5E5F-F791-23697C8400F2}"/>
              </a:ext>
            </a:extLst>
          </p:cNvPr>
          <p:cNvSpPr/>
          <p:nvPr/>
        </p:nvSpPr>
        <p:spPr>
          <a:xfrm>
            <a:off x="1011666" y="1602603"/>
            <a:ext cx="3390552" cy="400110"/>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4</a:t>
            </a:r>
            <a:r>
              <a:rPr kumimoji="1" lang="zh-CN" altLang="en-US" sz="2000" dirty="0">
                <a:latin typeface="微软雅黑" pitchFamily="34" charset="-122"/>
                <a:ea typeface="微软雅黑" pitchFamily="34" charset="-122"/>
                <a:cs typeface="经典粗黑简" pitchFamily="49" charset="-122"/>
              </a:rPr>
              <a:t>、孩子链表存储结构</a:t>
            </a:r>
          </a:p>
        </p:txBody>
      </p:sp>
      <p:sp>
        <p:nvSpPr>
          <p:cNvPr id="4" name="矩形 3">
            <a:extLst>
              <a:ext uri="{FF2B5EF4-FFF2-40B4-BE49-F238E27FC236}">
                <a16:creationId xmlns:a16="http://schemas.microsoft.com/office/drawing/2014/main" xmlns="" id="{09EEAB21-2C89-240C-700E-BA5A00539D00}"/>
              </a:ext>
            </a:extLst>
          </p:cNvPr>
          <p:cNvSpPr/>
          <p:nvPr/>
        </p:nvSpPr>
        <p:spPr>
          <a:xfrm>
            <a:off x="4501069" y="126644"/>
            <a:ext cx="281109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7.1 </a:t>
            </a:r>
            <a:r>
              <a:rPr lang="zh-CN" altLang="en-US" sz="3000" b="1" dirty="0">
                <a:latin typeface="黑体" pitchFamily="49" charset="-122"/>
                <a:ea typeface="黑体" pitchFamily="49" charset="-122"/>
                <a:cs typeface="经典粗黑简" pitchFamily="49" charset="-122"/>
              </a:rPr>
              <a:t>树的概念 </a:t>
            </a:r>
          </a:p>
        </p:txBody>
      </p:sp>
      <p:sp>
        <p:nvSpPr>
          <p:cNvPr id="5" name="Rectangle 2">
            <a:extLst>
              <a:ext uri="{FF2B5EF4-FFF2-40B4-BE49-F238E27FC236}">
                <a16:creationId xmlns:a16="http://schemas.microsoft.com/office/drawing/2014/main" xmlns="" id="{274B5282-36F2-8B61-C4D1-74C0CE875A3C}"/>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7.1.6 </a:t>
            </a:r>
            <a:r>
              <a:rPr lang="zh-CN" altLang="en-US" dirty="0"/>
              <a:t>树的存储结构</a:t>
            </a:r>
          </a:p>
        </p:txBody>
      </p:sp>
      <p:cxnSp>
        <p:nvCxnSpPr>
          <p:cNvPr id="6" name="直接连接符 5">
            <a:extLst>
              <a:ext uri="{FF2B5EF4-FFF2-40B4-BE49-F238E27FC236}">
                <a16:creationId xmlns:a16="http://schemas.microsoft.com/office/drawing/2014/main" xmlns="" id="{649B1AA2-C846-428B-4254-21B40371D933}"/>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39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wipe(up)">
                                      <p:cBhvr>
                                        <p:cTn id="7" dur="500"/>
                                        <p:tgtEl>
                                          <p:spTgt spid="1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wipe(left)">
                                      <p:cBhvr>
                                        <p:cTn id="12"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 name="Group 80"/>
          <p:cNvGrpSpPr>
            <a:grpSpLocks/>
          </p:cNvGrpSpPr>
          <p:nvPr/>
        </p:nvGrpSpPr>
        <p:grpSpPr bwMode="auto">
          <a:xfrm>
            <a:off x="4151784" y="3429000"/>
            <a:ext cx="3888432" cy="2380925"/>
            <a:chOff x="1824" y="1974"/>
            <a:chExt cx="1680" cy="1242"/>
          </a:xfrm>
        </p:grpSpPr>
        <p:sp>
          <p:nvSpPr>
            <p:cNvPr id="97" name="Oval 81"/>
            <p:cNvSpPr>
              <a:spLocks noChangeArrowheads="1"/>
            </p:cNvSpPr>
            <p:nvPr/>
          </p:nvSpPr>
          <p:spPr bwMode="auto">
            <a:xfrm>
              <a:off x="2508" y="1974"/>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dirty="0"/>
                <a:t>A</a:t>
              </a:r>
            </a:p>
          </p:txBody>
        </p:sp>
        <p:grpSp>
          <p:nvGrpSpPr>
            <p:cNvPr id="98" name="Group 82"/>
            <p:cNvGrpSpPr>
              <a:grpSpLocks/>
            </p:cNvGrpSpPr>
            <p:nvPr/>
          </p:nvGrpSpPr>
          <p:grpSpPr bwMode="auto">
            <a:xfrm>
              <a:off x="1967" y="2138"/>
              <a:ext cx="1369" cy="874"/>
              <a:chOff x="3744" y="1008"/>
              <a:chExt cx="2155" cy="1344"/>
            </a:xfrm>
          </p:grpSpPr>
          <p:sp>
            <p:nvSpPr>
              <p:cNvPr id="105" name="Line 83"/>
              <p:cNvSpPr>
                <a:spLocks noChangeShapeType="1"/>
              </p:cNvSpPr>
              <p:nvPr/>
            </p:nvSpPr>
            <p:spPr bwMode="auto">
              <a:xfrm flipH="1">
                <a:off x="4224" y="1008"/>
                <a:ext cx="384" cy="288"/>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Line 84"/>
              <p:cNvSpPr>
                <a:spLocks noChangeShapeType="1"/>
              </p:cNvSpPr>
              <p:nvPr/>
            </p:nvSpPr>
            <p:spPr bwMode="auto">
              <a:xfrm>
                <a:off x="4896" y="1008"/>
                <a:ext cx="384" cy="286"/>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85"/>
              <p:cNvSpPr>
                <a:spLocks noChangeShapeType="1"/>
              </p:cNvSpPr>
              <p:nvPr/>
            </p:nvSpPr>
            <p:spPr bwMode="auto">
              <a:xfrm>
                <a:off x="4224" y="1488"/>
                <a:ext cx="288" cy="336"/>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 name="Line 86"/>
              <p:cNvSpPr>
                <a:spLocks noChangeShapeType="1"/>
              </p:cNvSpPr>
              <p:nvPr/>
            </p:nvSpPr>
            <p:spPr bwMode="auto">
              <a:xfrm flipH="1">
                <a:off x="4176" y="2075"/>
                <a:ext cx="336" cy="277"/>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87"/>
              <p:cNvSpPr>
                <a:spLocks noChangeShapeType="1"/>
              </p:cNvSpPr>
              <p:nvPr/>
            </p:nvSpPr>
            <p:spPr bwMode="auto">
              <a:xfrm flipH="1">
                <a:off x="3744" y="1559"/>
                <a:ext cx="304" cy="265"/>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88"/>
              <p:cNvSpPr>
                <a:spLocks noChangeShapeType="1"/>
              </p:cNvSpPr>
              <p:nvPr/>
            </p:nvSpPr>
            <p:spPr bwMode="auto">
              <a:xfrm>
                <a:off x="5568" y="1488"/>
                <a:ext cx="331" cy="336"/>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9" name="Oval 89"/>
            <p:cNvSpPr>
              <a:spLocks noChangeArrowheads="1"/>
            </p:cNvSpPr>
            <p:nvPr/>
          </p:nvSpPr>
          <p:spPr bwMode="auto">
            <a:xfrm>
              <a:off x="2928" y="2290"/>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a:t>C</a:t>
              </a:r>
            </a:p>
          </p:txBody>
        </p:sp>
        <p:sp>
          <p:nvSpPr>
            <p:cNvPr id="100" name="Oval 90"/>
            <p:cNvSpPr>
              <a:spLocks noChangeArrowheads="1"/>
            </p:cNvSpPr>
            <p:nvPr/>
          </p:nvSpPr>
          <p:spPr bwMode="auto">
            <a:xfrm>
              <a:off x="2112" y="2304"/>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dirty="0"/>
                <a:t>B</a:t>
              </a:r>
            </a:p>
          </p:txBody>
        </p:sp>
        <p:sp>
          <p:nvSpPr>
            <p:cNvPr id="101" name="Oval 91"/>
            <p:cNvSpPr>
              <a:spLocks noChangeArrowheads="1"/>
            </p:cNvSpPr>
            <p:nvPr/>
          </p:nvSpPr>
          <p:spPr bwMode="auto">
            <a:xfrm>
              <a:off x="3302" y="2626"/>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a:t>F</a:t>
              </a:r>
            </a:p>
          </p:txBody>
        </p:sp>
        <p:sp>
          <p:nvSpPr>
            <p:cNvPr id="102" name="Oval 92"/>
            <p:cNvSpPr>
              <a:spLocks noChangeArrowheads="1"/>
            </p:cNvSpPr>
            <p:nvPr/>
          </p:nvSpPr>
          <p:spPr bwMode="auto">
            <a:xfrm>
              <a:off x="2390" y="2640"/>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a:t>E</a:t>
              </a:r>
            </a:p>
          </p:txBody>
        </p:sp>
        <p:sp>
          <p:nvSpPr>
            <p:cNvPr id="103" name="Oval 93"/>
            <p:cNvSpPr>
              <a:spLocks noChangeArrowheads="1"/>
            </p:cNvSpPr>
            <p:nvPr/>
          </p:nvSpPr>
          <p:spPr bwMode="auto">
            <a:xfrm>
              <a:off x="1824" y="2640"/>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dirty="0"/>
                <a:t>D</a:t>
              </a:r>
            </a:p>
          </p:txBody>
        </p:sp>
        <p:sp>
          <p:nvSpPr>
            <p:cNvPr id="104" name="Oval 94"/>
            <p:cNvSpPr>
              <a:spLocks noChangeArrowheads="1"/>
            </p:cNvSpPr>
            <p:nvPr/>
          </p:nvSpPr>
          <p:spPr bwMode="auto">
            <a:xfrm>
              <a:off x="2112" y="3010"/>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a:t>G</a:t>
              </a:r>
            </a:p>
          </p:txBody>
        </p:sp>
      </p:grpSp>
      <p:sp>
        <p:nvSpPr>
          <p:cNvPr id="3" name="矩形 2"/>
          <p:cNvSpPr/>
          <p:nvPr/>
        </p:nvSpPr>
        <p:spPr>
          <a:xfrm>
            <a:off x="939208" y="1569425"/>
            <a:ext cx="10125343" cy="1384995"/>
          </a:xfrm>
          <a:prstGeom prst="rect">
            <a:avLst/>
          </a:prstGeom>
        </p:spPr>
        <p:txBody>
          <a:bodyPr wrap="square">
            <a:spAutoFit/>
          </a:bodyPr>
          <a:lstStyle/>
          <a:p>
            <a:r>
              <a:rPr kumimoji="1" lang="zh-CN" altLang="en-US" sz="2800" dirty="0">
                <a:latin typeface="微软雅黑" pitchFamily="34" charset="-122"/>
                <a:ea typeface="微软雅黑" pitchFamily="34" charset="-122"/>
                <a:cs typeface="经典粗黑简" pitchFamily="49" charset="-122"/>
              </a:rPr>
              <a:t>二叉树是</a:t>
            </a:r>
            <a:r>
              <a:rPr kumimoji="1" lang="en-US" altLang="zh-CN" sz="2800" dirty="0">
                <a:latin typeface="微软雅黑" pitchFamily="34" charset="-122"/>
                <a:ea typeface="微软雅黑" pitchFamily="34" charset="-122"/>
                <a:cs typeface="经典粗黑简" pitchFamily="49" charset="-122"/>
              </a:rPr>
              <a:t>n</a:t>
            </a:r>
            <a:r>
              <a:rPr kumimoji="1" lang="zh-CN" altLang="en-US" sz="2800" dirty="0">
                <a:latin typeface="微软雅黑" pitchFamily="34" charset="-122"/>
                <a:ea typeface="微软雅黑" pitchFamily="34" charset="-122"/>
                <a:cs typeface="经典粗黑简" pitchFamily="49" charset="-122"/>
              </a:rPr>
              <a:t>（</a:t>
            </a:r>
            <a:r>
              <a:rPr kumimoji="1" lang="en-US" altLang="zh-CN" sz="2800" dirty="0">
                <a:latin typeface="微软雅黑" pitchFamily="34" charset="-122"/>
                <a:ea typeface="微软雅黑" pitchFamily="34" charset="-122"/>
                <a:cs typeface="经典粗黑简" pitchFamily="49" charset="-122"/>
              </a:rPr>
              <a:t>n≥0</a:t>
            </a:r>
            <a:r>
              <a:rPr kumimoji="1" lang="zh-CN" altLang="en-US" sz="2800" dirty="0">
                <a:latin typeface="微软雅黑" pitchFamily="34" charset="-122"/>
                <a:ea typeface="微软雅黑" pitchFamily="34" charset="-122"/>
                <a:cs typeface="经典粗黑简" pitchFamily="49" charset="-122"/>
              </a:rPr>
              <a:t>）个结点的有限集合，该集合或者为空集（称为</a:t>
            </a:r>
            <a:r>
              <a:rPr kumimoji="1" lang="zh-CN" altLang="en-US" sz="2800" dirty="0">
                <a:solidFill>
                  <a:srgbClr val="FF0000"/>
                </a:solidFill>
                <a:latin typeface="微软雅黑" pitchFamily="34" charset="-122"/>
                <a:ea typeface="微软雅黑" pitchFamily="34" charset="-122"/>
                <a:cs typeface="经典粗黑简" pitchFamily="49" charset="-122"/>
              </a:rPr>
              <a:t>空二叉树</a:t>
            </a:r>
            <a:r>
              <a:rPr kumimoji="1" lang="zh-CN" altLang="en-US" sz="2800" dirty="0">
                <a:latin typeface="微软雅黑" pitchFamily="34" charset="-122"/>
                <a:ea typeface="微软雅黑" pitchFamily="34" charset="-122"/>
                <a:cs typeface="经典粗黑简" pitchFamily="49" charset="-122"/>
              </a:rPr>
              <a:t>），或者由一个根结点和两棵互不相交的、分别称为根结点的</a:t>
            </a:r>
            <a:r>
              <a:rPr kumimoji="1" lang="zh-CN" altLang="en-US" sz="2800" dirty="0">
                <a:solidFill>
                  <a:srgbClr val="FF0000"/>
                </a:solidFill>
                <a:latin typeface="微软雅黑" pitchFamily="34" charset="-122"/>
                <a:ea typeface="微软雅黑" pitchFamily="34" charset="-122"/>
                <a:cs typeface="经典粗黑简" pitchFamily="49" charset="-122"/>
              </a:rPr>
              <a:t>左子树</a:t>
            </a:r>
            <a:r>
              <a:rPr kumimoji="1" lang="zh-CN" altLang="en-US" sz="2800" dirty="0">
                <a:latin typeface="微软雅黑" pitchFamily="34" charset="-122"/>
                <a:ea typeface="微软雅黑" pitchFamily="34" charset="-122"/>
                <a:cs typeface="经典粗黑简" pitchFamily="49" charset="-122"/>
              </a:rPr>
              <a:t>和</a:t>
            </a:r>
            <a:r>
              <a:rPr kumimoji="1" lang="zh-CN" altLang="en-US" sz="2800" dirty="0">
                <a:solidFill>
                  <a:srgbClr val="FF0000"/>
                </a:solidFill>
                <a:latin typeface="微软雅黑" pitchFamily="34" charset="-122"/>
                <a:ea typeface="微软雅黑" pitchFamily="34" charset="-122"/>
                <a:cs typeface="经典粗黑简" pitchFamily="49" charset="-122"/>
              </a:rPr>
              <a:t>右子树</a:t>
            </a:r>
            <a:r>
              <a:rPr kumimoji="1" lang="zh-CN" altLang="en-US" sz="2800" dirty="0">
                <a:latin typeface="微软雅黑" pitchFamily="34" charset="-122"/>
                <a:ea typeface="微软雅黑" pitchFamily="34" charset="-122"/>
                <a:cs typeface="经典粗黑简" pitchFamily="49" charset="-122"/>
              </a:rPr>
              <a:t>的二叉树组成。</a:t>
            </a:r>
          </a:p>
        </p:txBody>
      </p:sp>
      <p:sp>
        <p:nvSpPr>
          <p:cNvPr id="2" name="矩形 1">
            <a:extLst>
              <a:ext uri="{FF2B5EF4-FFF2-40B4-BE49-F238E27FC236}">
                <a16:creationId xmlns:a16="http://schemas.microsoft.com/office/drawing/2014/main" xmlns="" id="{B7BE7396-FE21-45C2-1CB8-CAD2F802B51A}"/>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4" name="Rectangle 2">
            <a:extLst>
              <a:ext uri="{FF2B5EF4-FFF2-40B4-BE49-F238E27FC236}">
                <a16:creationId xmlns:a16="http://schemas.microsoft.com/office/drawing/2014/main" xmlns="" id="{B20006E5-210A-358F-E9CD-10194496BCED}"/>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5" name="直接连接符 4">
            <a:extLst>
              <a:ext uri="{FF2B5EF4-FFF2-40B4-BE49-F238E27FC236}">
                <a16:creationId xmlns:a16="http://schemas.microsoft.com/office/drawing/2014/main" xmlns="" id="{9EC21DC5-EA40-6138-BDA9-823523F6341B}"/>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441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 name="Group 80"/>
          <p:cNvGrpSpPr>
            <a:grpSpLocks/>
          </p:cNvGrpSpPr>
          <p:nvPr/>
        </p:nvGrpSpPr>
        <p:grpSpPr bwMode="auto">
          <a:xfrm>
            <a:off x="1977130" y="3068961"/>
            <a:ext cx="3888432" cy="2380925"/>
            <a:chOff x="1824" y="1974"/>
            <a:chExt cx="1680" cy="1242"/>
          </a:xfrm>
        </p:grpSpPr>
        <p:sp>
          <p:nvSpPr>
            <p:cNvPr id="97" name="Oval 81"/>
            <p:cNvSpPr>
              <a:spLocks noChangeArrowheads="1"/>
            </p:cNvSpPr>
            <p:nvPr/>
          </p:nvSpPr>
          <p:spPr bwMode="auto">
            <a:xfrm>
              <a:off x="2508" y="1974"/>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dirty="0"/>
                <a:t>A</a:t>
              </a:r>
            </a:p>
          </p:txBody>
        </p:sp>
        <p:grpSp>
          <p:nvGrpSpPr>
            <p:cNvPr id="98" name="Group 82"/>
            <p:cNvGrpSpPr>
              <a:grpSpLocks/>
            </p:cNvGrpSpPr>
            <p:nvPr/>
          </p:nvGrpSpPr>
          <p:grpSpPr bwMode="auto">
            <a:xfrm>
              <a:off x="1967" y="2138"/>
              <a:ext cx="1369" cy="874"/>
              <a:chOff x="3744" y="1008"/>
              <a:chExt cx="2155" cy="1344"/>
            </a:xfrm>
          </p:grpSpPr>
          <p:sp>
            <p:nvSpPr>
              <p:cNvPr id="105" name="Line 83"/>
              <p:cNvSpPr>
                <a:spLocks noChangeShapeType="1"/>
              </p:cNvSpPr>
              <p:nvPr/>
            </p:nvSpPr>
            <p:spPr bwMode="auto">
              <a:xfrm flipH="1">
                <a:off x="4224" y="1008"/>
                <a:ext cx="384" cy="288"/>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Line 84"/>
              <p:cNvSpPr>
                <a:spLocks noChangeShapeType="1"/>
              </p:cNvSpPr>
              <p:nvPr/>
            </p:nvSpPr>
            <p:spPr bwMode="auto">
              <a:xfrm>
                <a:off x="4896" y="1008"/>
                <a:ext cx="384" cy="286"/>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 name="Line 85"/>
              <p:cNvSpPr>
                <a:spLocks noChangeShapeType="1"/>
              </p:cNvSpPr>
              <p:nvPr/>
            </p:nvSpPr>
            <p:spPr bwMode="auto">
              <a:xfrm>
                <a:off x="4224" y="1488"/>
                <a:ext cx="288" cy="336"/>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 name="Line 86"/>
              <p:cNvSpPr>
                <a:spLocks noChangeShapeType="1"/>
              </p:cNvSpPr>
              <p:nvPr/>
            </p:nvSpPr>
            <p:spPr bwMode="auto">
              <a:xfrm flipH="1">
                <a:off x="4176" y="2075"/>
                <a:ext cx="336" cy="277"/>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87"/>
              <p:cNvSpPr>
                <a:spLocks noChangeShapeType="1"/>
              </p:cNvSpPr>
              <p:nvPr/>
            </p:nvSpPr>
            <p:spPr bwMode="auto">
              <a:xfrm flipH="1">
                <a:off x="3744" y="1559"/>
                <a:ext cx="304" cy="265"/>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88"/>
              <p:cNvSpPr>
                <a:spLocks noChangeShapeType="1"/>
              </p:cNvSpPr>
              <p:nvPr/>
            </p:nvSpPr>
            <p:spPr bwMode="auto">
              <a:xfrm>
                <a:off x="5568" y="1488"/>
                <a:ext cx="331" cy="336"/>
              </a:xfrm>
              <a:prstGeom prst="line">
                <a:avLst/>
              </a:prstGeom>
              <a:noFill/>
              <a:ln w="38100"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9" name="Oval 89"/>
            <p:cNvSpPr>
              <a:spLocks noChangeArrowheads="1"/>
            </p:cNvSpPr>
            <p:nvPr/>
          </p:nvSpPr>
          <p:spPr bwMode="auto">
            <a:xfrm>
              <a:off x="2928" y="2290"/>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a:t>C</a:t>
              </a:r>
            </a:p>
          </p:txBody>
        </p:sp>
        <p:sp>
          <p:nvSpPr>
            <p:cNvPr id="100" name="Oval 90"/>
            <p:cNvSpPr>
              <a:spLocks noChangeArrowheads="1"/>
            </p:cNvSpPr>
            <p:nvPr/>
          </p:nvSpPr>
          <p:spPr bwMode="auto">
            <a:xfrm>
              <a:off x="2112" y="2304"/>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a:t>B</a:t>
              </a:r>
            </a:p>
          </p:txBody>
        </p:sp>
        <p:sp>
          <p:nvSpPr>
            <p:cNvPr id="101" name="Oval 91"/>
            <p:cNvSpPr>
              <a:spLocks noChangeArrowheads="1"/>
            </p:cNvSpPr>
            <p:nvPr/>
          </p:nvSpPr>
          <p:spPr bwMode="auto">
            <a:xfrm>
              <a:off x="3302" y="2626"/>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a:t>F</a:t>
              </a:r>
            </a:p>
          </p:txBody>
        </p:sp>
        <p:sp>
          <p:nvSpPr>
            <p:cNvPr id="102" name="Oval 92"/>
            <p:cNvSpPr>
              <a:spLocks noChangeArrowheads="1"/>
            </p:cNvSpPr>
            <p:nvPr/>
          </p:nvSpPr>
          <p:spPr bwMode="auto">
            <a:xfrm>
              <a:off x="2390" y="2640"/>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a:t>E</a:t>
              </a:r>
            </a:p>
          </p:txBody>
        </p:sp>
        <p:sp>
          <p:nvSpPr>
            <p:cNvPr id="103" name="Oval 93"/>
            <p:cNvSpPr>
              <a:spLocks noChangeArrowheads="1"/>
            </p:cNvSpPr>
            <p:nvPr/>
          </p:nvSpPr>
          <p:spPr bwMode="auto">
            <a:xfrm>
              <a:off x="1824" y="2640"/>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dirty="0"/>
                <a:t>D</a:t>
              </a:r>
            </a:p>
          </p:txBody>
        </p:sp>
        <p:sp>
          <p:nvSpPr>
            <p:cNvPr id="104" name="Oval 94"/>
            <p:cNvSpPr>
              <a:spLocks noChangeArrowheads="1"/>
            </p:cNvSpPr>
            <p:nvPr/>
          </p:nvSpPr>
          <p:spPr bwMode="auto">
            <a:xfrm>
              <a:off x="2112" y="3010"/>
              <a:ext cx="202" cy="206"/>
            </a:xfrm>
            <a:prstGeom prst="ellipse">
              <a:avLst/>
            </a:prstGeom>
            <a:solidFill>
              <a:srgbClr val="C0C0C0"/>
            </a:solidFill>
            <a:ln w="12700" cap="rnd">
              <a:solidFill>
                <a:schemeClr val="tx1"/>
              </a:solidFill>
              <a:round/>
              <a:headEnd/>
              <a:tailEnd/>
            </a:ln>
          </p:spPr>
          <p:txBody>
            <a:bodyPr wrap="none" anchor="ctr"/>
            <a:lstStyle/>
            <a:p>
              <a:pPr algn="ctr">
                <a:spcBef>
                  <a:spcPct val="50000"/>
                </a:spcBef>
                <a:buClrTx/>
                <a:buSzTx/>
                <a:buFontTx/>
                <a:buNone/>
              </a:pPr>
              <a:r>
                <a:rPr lang="en-US" altLang="zh-CN" sz="2400"/>
                <a:t>G</a:t>
              </a:r>
            </a:p>
          </p:txBody>
        </p:sp>
      </p:grpSp>
      <p:sp>
        <p:nvSpPr>
          <p:cNvPr id="2" name="矩形 1"/>
          <p:cNvSpPr/>
          <p:nvPr/>
        </p:nvSpPr>
        <p:spPr>
          <a:xfrm>
            <a:off x="6087853" y="3569193"/>
            <a:ext cx="3788272" cy="707886"/>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①</a:t>
            </a:r>
            <a:r>
              <a:rPr kumimoji="1" lang="zh-CN" altLang="en-US" sz="2000" dirty="0">
                <a:latin typeface="微软雅黑" pitchFamily="34" charset="-122"/>
                <a:ea typeface="微软雅黑" pitchFamily="34" charset="-122"/>
                <a:cs typeface="经典粗黑简" pitchFamily="49" charset="-122"/>
              </a:rPr>
              <a:t>二叉树要么为空，要么由根结点、左子树和右子树组成；</a:t>
            </a:r>
            <a:endParaRPr lang="zh-CN" altLang="en-US" sz="2000" dirty="0"/>
          </a:p>
        </p:txBody>
      </p:sp>
      <p:sp>
        <p:nvSpPr>
          <p:cNvPr id="4" name="矩形 3"/>
          <p:cNvSpPr/>
          <p:nvPr/>
        </p:nvSpPr>
        <p:spPr>
          <a:xfrm>
            <a:off x="6087853" y="3094532"/>
            <a:ext cx="1980029"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二叉树的特点：</a:t>
            </a:r>
          </a:p>
        </p:txBody>
      </p:sp>
      <p:sp>
        <p:nvSpPr>
          <p:cNvPr id="5" name="矩形 4"/>
          <p:cNvSpPr/>
          <p:nvPr/>
        </p:nvSpPr>
        <p:spPr>
          <a:xfrm>
            <a:off x="6087852" y="4320851"/>
            <a:ext cx="4227440" cy="400110"/>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②</a:t>
            </a:r>
            <a:r>
              <a:rPr kumimoji="1" lang="zh-CN" altLang="en-US" sz="2000" dirty="0">
                <a:latin typeface="微软雅黑" pitchFamily="34" charset="-122"/>
                <a:ea typeface="微软雅黑" pitchFamily="34" charset="-122"/>
                <a:cs typeface="经典粗黑简" pitchFamily="49" charset="-122"/>
              </a:rPr>
              <a:t>左、右子树本身也是二叉树；</a:t>
            </a:r>
            <a:endParaRPr lang="zh-CN" altLang="en-US" sz="2000" dirty="0"/>
          </a:p>
        </p:txBody>
      </p:sp>
      <p:sp>
        <p:nvSpPr>
          <p:cNvPr id="6" name="矩形 5"/>
          <p:cNvSpPr/>
          <p:nvPr/>
        </p:nvSpPr>
        <p:spPr>
          <a:xfrm>
            <a:off x="6087852" y="4795511"/>
            <a:ext cx="4688668" cy="400110"/>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③</a:t>
            </a:r>
            <a:r>
              <a:rPr kumimoji="1" lang="zh-CN" altLang="en-US" sz="2000" dirty="0">
                <a:latin typeface="微软雅黑" pitchFamily="34" charset="-122"/>
                <a:ea typeface="微软雅黑" pitchFamily="34" charset="-122"/>
                <a:cs typeface="经典粗黑简" pitchFamily="49" charset="-122"/>
              </a:rPr>
              <a:t>二叉树的子树有严格的左右之分；</a:t>
            </a:r>
            <a:endParaRPr lang="zh-CN" altLang="en-US" sz="2000" dirty="0"/>
          </a:p>
        </p:txBody>
      </p:sp>
      <p:sp>
        <p:nvSpPr>
          <p:cNvPr id="9" name="矩形 8"/>
          <p:cNvSpPr/>
          <p:nvPr/>
        </p:nvSpPr>
        <p:spPr>
          <a:xfrm>
            <a:off x="6087853" y="5270171"/>
            <a:ext cx="4227439" cy="400110"/>
          </a:xfrm>
          <a:prstGeom prst="rect">
            <a:avLst/>
          </a:prstGeom>
        </p:spPr>
        <p:txBody>
          <a:bodyPr wrap="none">
            <a:spAutoFit/>
          </a:bodyPr>
          <a:lstStyle/>
          <a:p>
            <a:r>
              <a:rPr kumimoji="1" lang="en-US" altLang="zh-CN" sz="2000" dirty="0">
                <a:latin typeface="微软雅黑" pitchFamily="34" charset="-122"/>
                <a:ea typeface="微软雅黑" pitchFamily="34" charset="-122"/>
                <a:cs typeface="经典粗黑简" pitchFamily="49" charset="-122"/>
              </a:rPr>
              <a:t>④</a:t>
            </a:r>
            <a:r>
              <a:rPr kumimoji="1" lang="zh-CN" altLang="en-US" sz="2000" dirty="0">
                <a:latin typeface="微软雅黑" pitchFamily="34" charset="-122"/>
                <a:ea typeface="微软雅黑" pitchFamily="34" charset="-122"/>
                <a:cs typeface="经典粗黑简" pitchFamily="49" charset="-122"/>
              </a:rPr>
              <a:t>每个结点的度只可能是</a:t>
            </a:r>
            <a:r>
              <a:rPr kumimoji="1" lang="en-US" altLang="zh-CN" sz="2000" dirty="0">
                <a:latin typeface="微软雅黑" pitchFamily="34" charset="-122"/>
                <a:ea typeface="微软雅黑" pitchFamily="34" charset="-122"/>
                <a:cs typeface="经典粗黑简" pitchFamily="49" charset="-122"/>
              </a:rPr>
              <a:t>0</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a:t>
            </a:r>
            <a:endParaRPr lang="zh-CN" altLang="en-US" sz="2000" dirty="0"/>
          </a:p>
        </p:txBody>
      </p:sp>
      <p:sp>
        <p:nvSpPr>
          <p:cNvPr id="7" name="矩形 6">
            <a:extLst>
              <a:ext uri="{FF2B5EF4-FFF2-40B4-BE49-F238E27FC236}">
                <a16:creationId xmlns:a16="http://schemas.microsoft.com/office/drawing/2014/main" xmlns="" id="{0CAE1B9F-88F7-C02E-2B90-72F2DA677BB9}"/>
              </a:ext>
            </a:extLst>
          </p:cNvPr>
          <p:cNvSpPr/>
          <p:nvPr/>
        </p:nvSpPr>
        <p:spPr>
          <a:xfrm>
            <a:off x="939208" y="1569425"/>
            <a:ext cx="10125343" cy="1384995"/>
          </a:xfrm>
          <a:prstGeom prst="rect">
            <a:avLst/>
          </a:prstGeom>
        </p:spPr>
        <p:txBody>
          <a:bodyPr wrap="square">
            <a:spAutoFit/>
          </a:bodyPr>
          <a:lstStyle/>
          <a:p>
            <a:r>
              <a:rPr kumimoji="1" lang="zh-CN" altLang="en-US" sz="2800" dirty="0">
                <a:latin typeface="微软雅黑" pitchFamily="34" charset="-122"/>
                <a:ea typeface="微软雅黑" pitchFamily="34" charset="-122"/>
                <a:cs typeface="经典粗黑简" pitchFamily="49" charset="-122"/>
              </a:rPr>
              <a:t>二叉树是</a:t>
            </a:r>
            <a:r>
              <a:rPr kumimoji="1" lang="en-US" altLang="zh-CN" sz="2800" dirty="0">
                <a:latin typeface="微软雅黑" pitchFamily="34" charset="-122"/>
                <a:ea typeface="微软雅黑" pitchFamily="34" charset="-122"/>
                <a:cs typeface="经典粗黑简" pitchFamily="49" charset="-122"/>
              </a:rPr>
              <a:t>n</a:t>
            </a:r>
            <a:r>
              <a:rPr kumimoji="1" lang="zh-CN" altLang="en-US" sz="2800" dirty="0">
                <a:latin typeface="微软雅黑" pitchFamily="34" charset="-122"/>
                <a:ea typeface="微软雅黑" pitchFamily="34" charset="-122"/>
                <a:cs typeface="经典粗黑简" pitchFamily="49" charset="-122"/>
              </a:rPr>
              <a:t>（</a:t>
            </a:r>
            <a:r>
              <a:rPr kumimoji="1" lang="en-US" altLang="zh-CN" sz="2800" dirty="0">
                <a:latin typeface="微软雅黑" pitchFamily="34" charset="-122"/>
                <a:ea typeface="微软雅黑" pitchFamily="34" charset="-122"/>
                <a:cs typeface="经典粗黑简" pitchFamily="49" charset="-122"/>
              </a:rPr>
              <a:t>n≥0</a:t>
            </a:r>
            <a:r>
              <a:rPr kumimoji="1" lang="zh-CN" altLang="en-US" sz="2800" dirty="0">
                <a:latin typeface="微软雅黑" pitchFamily="34" charset="-122"/>
                <a:ea typeface="微软雅黑" pitchFamily="34" charset="-122"/>
                <a:cs typeface="经典粗黑简" pitchFamily="49" charset="-122"/>
              </a:rPr>
              <a:t>）个结点的有限集合，该集合或者为空集（称为</a:t>
            </a:r>
            <a:r>
              <a:rPr kumimoji="1" lang="zh-CN" altLang="en-US" sz="2800" dirty="0">
                <a:solidFill>
                  <a:srgbClr val="FF0000"/>
                </a:solidFill>
                <a:latin typeface="微软雅黑" pitchFamily="34" charset="-122"/>
                <a:ea typeface="微软雅黑" pitchFamily="34" charset="-122"/>
                <a:cs typeface="经典粗黑简" pitchFamily="49" charset="-122"/>
              </a:rPr>
              <a:t>空二叉树</a:t>
            </a:r>
            <a:r>
              <a:rPr kumimoji="1" lang="zh-CN" altLang="en-US" sz="2800" dirty="0">
                <a:latin typeface="微软雅黑" pitchFamily="34" charset="-122"/>
                <a:ea typeface="微软雅黑" pitchFamily="34" charset="-122"/>
                <a:cs typeface="经典粗黑简" pitchFamily="49" charset="-122"/>
              </a:rPr>
              <a:t>），或者由一个根结点和两棵互不相交的、分别称为根结点的</a:t>
            </a:r>
            <a:r>
              <a:rPr kumimoji="1" lang="zh-CN" altLang="en-US" sz="2800" dirty="0">
                <a:solidFill>
                  <a:srgbClr val="FF0000"/>
                </a:solidFill>
                <a:latin typeface="微软雅黑" pitchFamily="34" charset="-122"/>
                <a:ea typeface="微软雅黑" pitchFamily="34" charset="-122"/>
                <a:cs typeface="经典粗黑简" pitchFamily="49" charset="-122"/>
              </a:rPr>
              <a:t>左子树</a:t>
            </a:r>
            <a:r>
              <a:rPr kumimoji="1" lang="zh-CN" altLang="en-US" sz="2800" dirty="0">
                <a:latin typeface="微软雅黑" pitchFamily="34" charset="-122"/>
                <a:ea typeface="微软雅黑" pitchFamily="34" charset="-122"/>
                <a:cs typeface="经典粗黑简" pitchFamily="49" charset="-122"/>
              </a:rPr>
              <a:t>和</a:t>
            </a:r>
            <a:r>
              <a:rPr kumimoji="1" lang="zh-CN" altLang="en-US" sz="2800" dirty="0">
                <a:solidFill>
                  <a:srgbClr val="FF0000"/>
                </a:solidFill>
                <a:latin typeface="微软雅黑" pitchFamily="34" charset="-122"/>
                <a:ea typeface="微软雅黑" pitchFamily="34" charset="-122"/>
                <a:cs typeface="经典粗黑简" pitchFamily="49" charset="-122"/>
              </a:rPr>
              <a:t>右子树</a:t>
            </a:r>
            <a:r>
              <a:rPr kumimoji="1" lang="zh-CN" altLang="en-US" sz="2800" dirty="0">
                <a:latin typeface="微软雅黑" pitchFamily="34" charset="-122"/>
                <a:ea typeface="微软雅黑" pitchFamily="34" charset="-122"/>
                <a:cs typeface="经典粗黑简" pitchFamily="49" charset="-122"/>
              </a:rPr>
              <a:t>的二叉树组成。</a:t>
            </a:r>
          </a:p>
        </p:txBody>
      </p:sp>
      <p:sp>
        <p:nvSpPr>
          <p:cNvPr id="8" name="矩形 7">
            <a:extLst>
              <a:ext uri="{FF2B5EF4-FFF2-40B4-BE49-F238E27FC236}">
                <a16:creationId xmlns:a16="http://schemas.microsoft.com/office/drawing/2014/main" xmlns="" id="{8491321C-91F0-4E61-F5BB-1D336326700B}"/>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10" name="Rectangle 2">
            <a:extLst>
              <a:ext uri="{FF2B5EF4-FFF2-40B4-BE49-F238E27FC236}">
                <a16:creationId xmlns:a16="http://schemas.microsoft.com/office/drawing/2014/main" xmlns="" id="{FE6A4C27-F571-05AC-0F30-FCF119D2ED81}"/>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11" name="直接连接符 10">
            <a:extLst>
              <a:ext uri="{FF2B5EF4-FFF2-40B4-BE49-F238E27FC236}">
                <a16:creationId xmlns:a16="http://schemas.microsoft.com/office/drawing/2014/main" xmlns="" id="{378F888A-5D02-E3FC-CD90-2A010687DB24}"/>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635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3"/>
          <p:cNvSpPr txBox="1">
            <a:spLocks noChangeArrowheads="1"/>
          </p:cNvSpPr>
          <p:nvPr/>
        </p:nvSpPr>
        <p:spPr bwMode="auto">
          <a:xfrm>
            <a:off x="1695872" y="5513296"/>
            <a:ext cx="12192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eaLnBrk="1" hangingPunct="1">
              <a:spcBef>
                <a:spcPct val="50000"/>
              </a:spcBef>
              <a:buClrTx/>
              <a:buSzTx/>
              <a:buFontTx/>
              <a:buNone/>
            </a:pPr>
            <a:r>
              <a:rPr lang="en-US" altLang="zh-CN" sz="2400" dirty="0">
                <a:latin typeface="Times New Roman" pitchFamily="18" charset="0"/>
              </a:rPr>
              <a:t>(a)</a:t>
            </a:r>
          </a:p>
          <a:p>
            <a:pPr eaLnBrk="1" hangingPunct="1"/>
            <a:r>
              <a:rPr lang="zh-CN" altLang="en-US" sz="2000" dirty="0">
                <a:latin typeface="微软雅黑" pitchFamily="34" charset="-122"/>
                <a:ea typeface="微软雅黑" pitchFamily="34" charset="-122"/>
                <a:cs typeface="经典粗黑简" pitchFamily="49" charset="-122"/>
              </a:rPr>
              <a:t>空二叉树</a:t>
            </a:r>
          </a:p>
        </p:txBody>
      </p:sp>
      <p:sp>
        <p:nvSpPr>
          <p:cNvPr id="25" name="Oval 4"/>
          <p:cNvSpPr>
            <a:spLocks noChangeArrowheads="1"/>
          </p:cNvSpPr>
          <p:nvPr/>
        </p:nvSpPr>
        <p:spPr bwMode="auto">
          <a:xfrm>
            <a:off x="2153072" y="4598895"/>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en-US"/>
          </a:p>
        </p:txBody>
      </p:sp>
      <p:sp>
        <p:nvSpPr>
          <p:cNvPr id="26" name="Line 5"/>
          <p:cNvSpPr>
            <a:spLocks noChangeShapeType="1"/>
          </p:cNvSpPr>
          <p:nvPr/>
        </p:nvSpPr>
        <p:spPr bwMode="auto">
          <a:xfrm flipH="1">
            <a:off x="2076872" y="4522695"/>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Oval 6"/>
          <p:cNvSpPr>
            <a:spLocks noChangeArrowheads="1"/>
          </p:cNvSpPr>
          <p:nvPr/>
        </p:nvSpPr>
        <p:spPr bwMode="auto">
          <a:xfrm>
            <a:off x="3524672" y="4522695"/>
            <a:ext cx="609600" cy="533400"/>
          </a:xfrm>
          <a:prstGeom prst="ellipse">
            <a:avLst/>
          </a:prstGeom>
          <a:solidFill>
            <a:srgbClr val="C00000"/>
          </a:solidFill>
          <a:ln w="9525">
            <a:solidFill>
              <a:schemeClr val="bg1"/>
            </a:solidFill>
            <a:round/>
            <a:headEnd/>
            <a:tailEnd/>
          </a:ln>
        </p:spPr>
        <p:txBody>
          <a:bodyPr wrap="none" anchor="ctr"/>
          <a:lstStyle/>
          <a:p>
            <a:pPr algn="ctr">
              <a:spcBef>
                <a:spcPct val="0"/>
              </a:spcBef>
              <a:buClrTx/>
              <a:buSzTx/>
              <a:buFontTx/>
              <a:buNone/>
            </a:pPr>
            <a:r>
              <a:rPr lang="en-US" altLang="zh-CN" sz="2400" dirty="0">
                <a:solidFill>
                  <a:schemeClr val="bg1"/>
                </a:solidFill>
                <a:latin typeface="Times New Roman" pitchFamily="18" charset="0"/>
              </a:rPr>
              <a:t>A</a:t>
            </a:r>
          </a:p>
        </p:txBody>
      </p:sp>
      <p:sp>
        <p:nvSpPr>
          <p:cNvPr id="35" name="Line 14"/>
          <p:cNvSpPr>
            <a:spLocks noChangeShapeType="1"/>
          </p:cNvSpPr>
          <p:nvPr/>
        </p:nvSpPr>
        <p:spPr bwMode="auto">
          <a:xfrm flipH="1">
            <a:off x="5429672" y="4522695"/>
            <a:ext cx="228600" cy="381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15"/>
          <p:cNvSpPr>
            <a:spLocks noChangeShapeType="1"/>
          </p:cNvSpPr>
          <p:nvPr/>
        </p:nvSpPr>
        <p:spPr bwMode="auto">
          <a:xfrm>
            <a:off x="7258472" y="4522695"/>
            <a:ext cx="381000" cy="4572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16"/>
          <p:cNvSpPr>
            <a:spLocks noChangeShapeType="1"/>
          </p:cNvSpPr>
          <p:nvPr/>
        </p:nvSpPr>
        <p:spPr bwMode="auto">
          <a:xfrm flipH="1">
            <a:off x="9087272" y="4533809"/>
            <a:ext cx="381000" cy="4413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17"/>
          <p:cNvSpPr>
            <a:spLocks noChangeShapeType="1"/>
          </p:cNvSpPr>
          <p:nvPr/>
        </p:nvSpPr>
        <p:spPr bwMode="auto">
          <a:xfrm>
            <a:off x="9773072" y="4533808"/>
            <a:ext cx="228600" cy="4572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Text Box 18"/>
          <p:cNvSpPr txBox="1">
            <a:spLocks noChangeArrowheads="1"/>
          </p:cNvSpPr>
          <p:nvPr/>
        </p:nvSpPr>
        <p:spPr bwMode="auto">
          <a:xfrm>
            <a:off x="3143672" y="5513295"/>
            <a:ext cx="12192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eaLnBrk="1" hangingPunct="1">
              <a:buClrTx/>
              <a:buSzTx/>
              <a:buFontTx/>
              <a:buNone/>
            </a:pPr>
            <a:r>
              <a:rPr lang="en-US" altLang="zh-CN" sz="2400" dirty="0">
                <a:latin typeface="Times New Roman" pitchFamily="18" charset="0"/>
              </a:rPr>
              <a:t>(b)</a:t>
            </a:r>
          </a:p>
          <a:p>
            <a:pPr eaLnBrk="1" hangingPunct="1">
              <a:buClrTx/>
              <a:buSzTx/>
              <a:buFontTx/>
              <a:buNone/>
            </a:pPr>
            <a:r>
              <a:rPr lang="zh-CN" altLang="en-US" sz="2000" dirty="0">
                <a:latin typeface="微软雅黑" pitchFamily="34" charset="-122"/>
                <a:ea typeface="微软雅黑" pitchFamily="34" charset="-122"/>
                <a:cs typeface="经典粗黑简" pitchFamily="49" charset="-122"/>
              </a:rPr>
              <a:t>只有根的</a:t>
            </a:r>
          </a:p>
          <a:p>
            <a:pPr eaLnBrk="1" hangingPunct="1">
              <a:buClrTx/>
              <a:buSzTx/>
              <a:buFontTx/>
              <a:buNone/>
            </a:pPr>
            <a:r>
              <a:rPr lang="zh-CN" altLang="en-US" sz="2000" dirty="0">
                <a:latin typeface="微软雅黑" pitchFamily="34" charset="-122"/>
                <a:ea typeface="微软雅黑" pitchFamily="34" charset="-122"/>
                <a:cs typeface="经典粗黑简" pitchFamily="49" charset="-122"/>
              </a:rPr>
              <a:t>二叉树</a:t>
            </a:r>
          </a:p>
        </p:txBody>
      </p:sp>
      <p:sp>
        <p:nvSpPr>
          <p:cNvPr id="40" name="Text Box 19"/>
          <p:cNvSpPr txBox="1">
            <a:spLocks noChangeArrowheads="1"/>
          </p:cNvSpPr>
          <p:nvPr/>
        </p:nvSpPr>
        <p:spPr bwMode="auto">
          <a:xfrm>
            <a:off x="4743872" y="5513295"/>
            <a:ext cx="1454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eaLnBrk="1" hangingPunct="1">
              <a:buClrTx/>
              <a:buSzTx/>
              <a:buFontTx/>
              <a:buNone/>
            </a:pPr>
            <a:r>
              <a:rPr lang="en-US" altLang="zh-CN" sz="2400" dirty="0">
                <a:latin typeface="Times New Roman" pitchFamily="18" charset="0"/>
              </a:rPr>
              <a:t>(c)</a:t>
            </a:r>
          </a:p>
          <a:p>
            <a:pPr eaLnBrk="1" hangingPunct="1"/>
            <a:r>
              <a:rPr lang="zh-CN" altLang="en-US" sz="2000" dirty="0">
                <a:latin typeface="微软雅黑" pitchFamily="34" charset="-122"/>
                <a:ea typeface="微软雅黑" pitchFamily="34" charset="-122"/>
                <a:cs typeface="经典粗黑简" pitchFamily="49" charset="-122"/>
              </a:rPr>
              <a:t>根和左子树</a:t>
            </a:r>
          </a:p>
        </p:txBody>
      </p:sp>
      <p:sp>
        <p:nvSpPr>
          <p:cNvPr id="41" name="Text Box 20"/>
          <p:cNvSpPr txBox="1">
            <a:spLocks noChangeArrowheads="1"/>
          </p:cNvSpPr>
          <p:nvPr/>
        </p:nvSpPr>
        <p:spPr bwMode="auto">
          <a:xfrm>
            <a:off x="6804447" y="5589495"/>
            <a:ext cx="1454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eaLnBrk="1" hangingPunct="1">
              <a:buClrTx/>
              <a:buSzTx/>
              <a:buFontTx/>
              <a:buNone/>
            </a:pPr>
            <a:r>
              <a:rPr lang="en-US" altLang="zh-CN" sz="2400" dirty="0">
                <a:latin typeface="Times New Roman" pitchFamily="18" charset="0"/>
              </a:rPr>
              <a:t>(d)</a:t>
            </a:r>
          </a:p>
          <a:p>
            <a:pPr eaLnBrk="1" hangingPunct="1"/>
            <a:r>
              <a:rPr lang="zh-CN" altLang="en-US" sz="2000" dirty="0">
                <a:latin typeface="微软雅黑" pitchFamily="34" charset="-122"/>
                <a:ea typeface="微软雅黑" pitchFamily="34" charset="-122"/>
                <a:cs typeface="经典粗黑简" pitchFamily="49" charset="-122"/>
              </a:rPr>
              <a:t>根和右子树</a:t>
            </a:r>
          </a:p>
        </p:txBody>
      </p:sp>
      <p:sp>
        <p:nvSpPr>
          <p:cNvPr id="42" name="Text Box 21"/>
          <p:cNvSpPr txBox="1">
            <a:spLocks noChangeArrowheads="1"/>
          </p:cNvSpPr>
          <p:nvPr/>
        </p:nvSpPr>
        <p:spPr bwMode="auto">
          <a:xfrm>
            <a:off x="8598322" y="5665695"/>
            <a:ext cx="1708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eaLnBrk="1" hangingPunct="1">
              <a:buClrTx/>
              <a:buSzTx/>
              <a:buFontTx/>
              <a:buNone/>
            </a:pPr>
            <a:r>
              <a:rPr lang="en-US" altLang="zh-CN" sz="2400" dirty="0">
                <a:latin typeface="Times New Roman" pitchFamily="18" charset="0"/>
              </a:rPr>
              <a:t>(e)</a:t>
            </a:r>
          </a:p>
          <a:p>
            <a:pPr eaLnBrk="1" hangingPunct="1"/>
            <a:r>
              <a:rPr lang="zh-CN" altLang="en-US" sz="2000" dirty="0">
                <a:latin typeface="微软雅黑" pitchFamily="34" charset="-122"/>
                <a:ea typeface="微软雅黑" pitchFamily="34" charset="-122"/>
                <a:cs typeface="经典粗黑简" pitchFamily="49" charset="-122"/>
              </a:rPr>
              <a:t>根和左右子树</a:t>
            </a:r>
          </a:p>
        </p:txBody>
      </p:sp>
      <p:sp>
        <p:nvSpPr>
          <p:cNvPr id="44" name="Oval 6"/>
          <p:cNvSpPr>
            <a:spLocks noChangeArrowheads="1"/>
          </p:cNvSpPr>
          <p:nvPr/>
        </p:nvSpPr>
        <p:spPr bwMode="auto">
          <a:xfrm>
            <a:off x="5470947" y="4033257"/>
            <a:ext cx="609600" cy="533400"/>
          </a:xfrm>
          <a:prstGeom prst="ellipse">
            <a:avLst/>
          </a:prstGeom>
          <a:solidFill>
            <a:srgbClr val="C00000"/>
          </a:solidFill>
          <a:ln w="9525">
            <a:solidFill>
              <a:schemeClr val="bg1"/>
            </a:solidFill>
            <a:round/>
            <a:headEnd/>
            <a:tailEnd/>
          </a:ln>
        </p:spPr>
        <p:txBody>
          <a:bodyPr wrap="none" anchor="ctr"/>
          <a:lstStyle/>
          <a:p>
            <a:pPr algn="ctr">
              <a:spcBef>
                <a:spcPct val="0"/>
              </a:spcBef>
              <a:buClrTx/>
              <a:buSzTx/>
              <a:buFontTx/>
              <a:buNone/>
            </a:pPr>
            <a:r>
              <a:rPr lang="en-US" altLang="zh-CN" sz="2400" dirty="0">
                <a:solidFill>
                  <a:schemeClr val="bg1"/>
                </a:solidFill>
                <a:latin typeface="Times New Roman" pitchFamily="18" charset="0"/>
              </a:rPr>
              <a:t>A</a:t>
            </a:r>
          </a:p>
        </p:txBody>
      </p:sp>
      <p:sp>
        <p:nvSpPr>
          <p:cNvPr id="45" name="Oval 6"/>
          <p:cNvSpPr>
            <a:spLocks noChangeArrowheads="1"/>
          </p:cNvSpPr>
          <p:nvPr/>
        </p:nvSpPr>
        <p:spPr bwMode="auto">
          <a:xfrm>
            <a:off x="5048672" y="4865595"/>
            <a:ext cx="609600" cy="533400"/>
          </a:xfrm>
          <a:prstGeom prst="ellipse">
            <a:avLst/>
          </a:prstGeom>
          <a:solidFill>
            <a:srgbClr val="C00000"/>
          </a:solidFill>
          <a:ln w="9525">
            <a:solidFill>
              <a:schemeClr val="bg1"/>
            </a:solidFill>
            <a:round/>
            <a:headEnd/>
            <a:tailEnd/>
          </a:ln>
        </p:spPr>
        <p:txBody>
          <a:bodyPr wrap="none" anchor="ctr"/>
          <a:lstStyle/>
          <a:p>
            <a:pPr algn="ctr">
              <a:spcBef>
                <a:spcPct val="0"/>
              </a:spcBef>
              <a:buClrTx/>
              <a:buSzTx/>
              <a:buFontTx/>
              <a:buNone/>
            </a:pPr>
            <a:r>
              <a:rPr lang="en-US" altLang="zh-CN" sz="2400" dirty="0">
                <a:solidFill>
                  <a:schemeClr val="bg1"/>
                </a:solidFill>
                <a:latin typeface="Times New Roman" pitchFamily="18" charset="0"/>
              </a:rPr>
              <a:t>B</a:t>
            </a:r>
          </a:p>
        </p:txBody>
      </p:sp>
      <p:sp>
        <p:nvSpPr>
          <p:cNvPr id="46" name="Oval 6"/>
          <p:cNvSpPr>
            <a:spLocks noChangeArrowheads="1"/>
          </p:cNvSpPr>
          <p:nvPr/>
        </p:nvSpPr>
        <p:spPr bwMode="auto">
          <a:xfrm>
            <a:off x="6846495" y="3989295"/>
            <a:ext cx="609600" cy="533400"/>
          </a:xfrm>
          <a:prstGeom prst="ellipse">
            <a:avLst/>
          </a:prstGeom>
          <a:solidFill>
            <a:srgbClr val="C00000"/>
          </a:solidFill>
          <a:ln w="9525">
            <a:solidFill>
              <a:schemeClr val="bg1"/>
            </a:solidFill>
            <a:round/>
            <a:headEnd/>
            <a:tailEnd/>
          </a:ln>
        </p:spPr>
        <p:txBody>
          <a:bodyPr wrap="none" anchor="ctr"/>
          <a:lstStyle/>
          <a:p>
            <a:pPr algn="ctr">
              <a:spcBef>
                <a:spcPct val="0"/>
              </a:spcBef>
              <a:buClrTx/>
              <a:buSzTx/>
              <a:buFontTx/>
              <a:buNone/>
            </a:pPr>
            <a:r>
              <a:rPr lang="en-US" altLang="zh-CN" sz="2400" dirty="0">
                <a:solidFill>
                  <a:schemeClr val="bg1"/>
                </a:solidFill>
                <a:latin typeface="Times New Roman" pitchFamily="18" charset="0"/>
              </a:rPr>
              <a:t>A</a:t>
            </a:r>
          </a:p>
        </p:txBody>
      </p:sp>
      <p:sp>
        <p:nvSpPr>
          <p:cNvPr id="47" name="Oval 6"/>
          <p:cNvSpPr>
            <a:spLocks noChangeArrowheads="1"/>
          </p:cNvSpPr>
          <p:nvPr/>
        </p:nvSpPr>
        <p:spPr bwMode="auto">
          <a:xfrm>
            <a:off x="7448972" y="4914808"/>
            <a:ext cx="609600" cy="533400"/>
          </a:xfrm>
          <a:prstGeom prst="ellipse">
            <a:avLst/>
          </a:prstGeom>
          <a:solidFill>
            <a:srgbClr val="C00000"/>
          </a:solidFill>
          <a:ln w="9525">
            <a:solidFill>
              <a:schemeClr val="bg1"/>
            </a:solidFill>
            <a:round/>
            <a:headEnd/>
            <a:tailEnd/>
          </a:ln>
        </p:spPr>
        <p:txBody>
          <a:bodyPr wrap="none" anchor="ctr"/>
          <a:lstStyle/>
          <a:p>
            <a:pPr algn="ctr">
              <a:spcBef>
                <a:spcPct val="0"/>
              </a:spcBef>
              <a:buClrTx/>
              <a:buSzTx/>
              <a:buFontTx/>
              <a:buNone/>
            </a:pPr>
            <a:r>
              <a:rPr lang="en-US" altLang="zh-CN" sz="2400" dirty="0">
                <a:solidFill>
                  <a:schemeClr val="bg1"/>
                </a:solidFill>
                <a:latin typeface="Times New Roman" pitchFamily="18" charset="0"/>
              </a:rPr>
              <a:t>B</a:t>
            </a:r>
          </a:p>
        </p:txBody>
      </p:sp>
      <p:sp>
        <p:nvSpPr>
          <p:cNvPr id="48" name="Oval 6"/>
          <p:cNvSpPr>
            <a:spLocks noChangeArrowheads="1"/>
          </p:cNvSpPr>
          <p:nvPr/>
        </p:nvSpPr>
        <p:spPr bwMode="auto">
          <a:xfrm>
            <a:off x="8706272" y="4915418"/>
            <a:ext cx="609600" cy="533400"/>
          </a:xfrm>
          <a:prstGeom prst="ellipse">
            <a:avLst/>
          </a:prstGeom>
          <a:solidFill>
            <a:srgbClr val="C00000"/>
          </a:solidFill>
          <a:ln w="9525">
            <a:solidFill>
              <a:schemeClr val="bg1"/>
            </a:solidFill>
            <a:round/>
            <a:headEnd/>
            <a:tailEnd/>
          </a:ln>
        </p:spPr>
        <p:txBody>
          <a:bodyPr wrap="none" anchor="ctr"/>
          <a:lstStyle/>
          <a:p>
            <a:pPr algn="ctr">
              <a:spcBef>
                <a:spcPct val="0"/>
              </a:spcBef>
              <a:buClrTx/>
              <a:buSzTx/>
              <a:buFontTx/>
              <a:buNone/>
            </a:pPr>
            <a:r>
              <a:rPr lang="en-US" altLang="zh-CN" sz="2400" dirty="0">
                <a:solidFill>
                  <a:schemeClr val="bg1"/>
                </a:solidFill>
                <a:latin typeface="Times New Roman" pitchFamily="18" charset="0"/>
              </a:rPr>
              <a:t>B</a:t>
            </a:r>
          </a:p>
        </p:txBody>
      </p:sp>
      <p:sp>
        <p:nvSpPr>
          <p:cNvPr id="49" name="Oval 6"/>
          <p:cNvSpPr>
            <a:spLocks noChangeArrowheads="1"/>
          </p:cNvSpPr>
          <p:nvPr/>
        </p:nvSpPr>
        <p:spPr bwMode="auto">
          <a:xfrm>
            <a:off x="9308341" y="4033257"/>
            <a:ext cx="609600" cy="533400"/>
          </a:xfrm>
          <a:prstGeom prst="ellipse">
            <a:avLst/>
          </a:prstGeom>
          <a:solidFill>
            <a:srgbClr val="C00000"/>
          </a:solidFill>
          <a:ln w="9525">
            <a:solidFill>
              <a:schemeClr val="bg1"/>
            </a:solidFill>
            <a:round/>
            <a:headEnd/>
            <a:tailEnd/>
          </a:ln>
        </p:spPr>
        <p:txBody>
          <a:bodyPr wrap="none" anchor="ctr"/>
          <a:lstStyle/>
          <a:p>
            <a:pPr algn="ctr">
              <a:spcBef>
                <a:spcPct val="0"/>
              </a:spcBef>
              <a:buClrTx/>
              <a:buSzTx/>
              <a:buFontTx/>
              <a:buNone/>
            </a:pPr>
            <a:r>
              <a:rPr lang="en-US" altLang="zh-CN" sz="2400" dirty="0">
                <a:solidFill>
                  <a:schemeClr val="bg1"/>
                </a:solidFill>
                <a:latin typeface="Times New Roman" pitchFamily="18" charset="0"/>
              </a:rPr>
              <a:t>A</a:t>
            </a:r>
          </a:p>
        </p:txBody>
      </p:sp>
      <p:sp>
        <p:nvSpPr>
          <p:cNvPr id="50" name="Oval 6"/>
          <p:cNvSpPr>
            <a:spLocks noChangeArrowheads="1"/>
          </p:cNvSpPr>
          <p:nvPr/>
        </p:nvSpPr>
        <p:spPr bwMode="auto">
          <a:xfrm>
            <a:off x="9773072" y="4915418"/>
            <a:ext cx="609600" cy="533400"/>
          </a:xfrm>
          <a:prstGeom prst="ellipse">
            <a:avLst/>
          </a:prstGeom>
          <a:solidFill>
            <a:srgbClr val="C00000"/>
          </a:solidFill>
          <a:ln w="9525">
            <a:solidFill>
              <a:schemeClr val="bg1"/>
            </a:solidFill>
            <a:round/>
            <a:headEnd/>
            <a:tailEnd/>
          </a:ln>
        </p:spPr>
        <p:txBody>
          <a:bodyPr wrap="none" anchor="ctr"/>
          <a:lstStyle/>
          <a:p>
            <a:pPr algn="ctr">
              <a:spcBef>
                <a:spcPct val="0"/>
              </a:spcBef>
              <a:buClrTx/>
              <a:buSzTx/>
              <a:buFontTx/>
              <a:buNone/>
            </a:pPr>
            <a:r>
              <a:rPr lang="en-US" altLang="zh-CN" sz="2400" dirty="0">
                <a:solidFill>
                  <a:schemeClr val="bg1"/>
                </a:solidFill>
                <a:latin typeface="Times New Roman" pitchFamily="18" charset="0"/>
              </a:rPr>
              <a:t>C</a:t>
            </a:r>
          </a:p>
        </p:txBody>
      </p:sp>
      <p:sp>
        <p:nvSpPr>
          <p:cNvPr id="33" name="矩形 32"/>
          <p:cNvSpPr/>
          <p:nvPr/>
        </p:nvSpPr>
        <p:spPr>
          <a:xfrm>
            <a:off x="2724119" y="3116816"/>
            <a:ext cx="8507382" cy="646331"/>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⑤结点的子树要区分左子树和右子树，即使只有一棵子树也要进行区分，以说明它是左子树，还是右子树。这是二叉树与树的最主要的差别。</a:t>
            </a:r>
            <a:endParaRPr lang="zh-CN" altLang="en-US" dirty="0"/>
          </a:p>
        </p:txBody>
      </p:sp>
      <p:sp>
        <p:nvSpPr>
          <p:cNvPr id="34" name="矩形 33"/>
          <p:cNvSpPr/>
          <p:nvPr/>
        </p:nvSpPr>
        <p:spPr>
          <a:xfrm>
            <a:off x="939208" y="3893240"/>
            <a:ext cx="2627642" cy="369332"/>
          </a:xfrm>
          <a:prstGeom prst="rect">
            <a:avLst/>
          </a:prstGeom>
        </p:spPr>
        <p:txBody>
          <a:bodyPr wrap="none">
            <a:spAutoFit/>
          </a:bodyPr>
          <a:lstStyle/>
          <a:p>
            <a:pPr>
              <a:defRPr/>
            </a:pPr>
            <a:r>
              <a:rPr kumimoji="1" lang="zh-CN" altLang="en-US" dirty="0">
                <a:latin typeface="微软雅黑" pitchFamily="34" charset="-122"/>
                <a:ea typeface="微软雅黑" pitchFamily="34" charset="-122"/>
                <a:cs typeface="经典粗黑简" pitchFamily="49" charset="-122"/>
              </a:rPr>
              <a:t>二叉树的</a:t>
            </a:r>
            <a:r>
              <a:rPr kumimoji="1" lang="en-US" altLang="zh-CN" dirty="0">
                <a:latin typeface="微软雅黑" pitchFamily="34" charset="-122"/>
                <a:ea typeface="微软雅黑" pitchFamily="34" charset="-122"/>
                <a:cs typeface="经典粗黑简" pitchFamily="49" charset="-122"/>
              </a:rPr>
              <a:t>5</a:t>
            </a:r>
            <a:r>
              <a:rPr kumimoji="1" lang="zh-CN" altLang="en-US" dirty="0">
                <a:latin typeface="微软雅黑" pitchFamily="34" charset="-122"/>
                <a:ea typeface="微软雅黑" pitchFamily="34" charset="-122"/>
                <a:cs typeface="经典粗黑简" pitchFamily="49" charset="-122"/>
              </a:rPr>
              <a:t>种基本形态：</a:t>
            </a:r>
          </a:p>
        </p:txBody>
      </p:sp>
      <p:sp>
        <p:nvSpPr>
          <p:cNvPr id="3" name="矩形 2"/>
          <p:cNvSpPr/>
          <p:nvPr/>
        </p:nvSpPr>
        <p:spPr>
          <a:xfrm>
            <a:off x="4766910" y="6351495"/>
            <a:ext cx="3371436" cy="369332"/>
          </a:xfrm>
          <a:prstGeom prst="rect">
            <a:avLst/>
          </a:prstGeom>
        </p:spPr>
        <p:txBody>
          <a:bodyPr wrap="none">
            <a:spAutoFit/>
          </a:bodyPr>
          <a:lstStyle/>
          <a:p>
            <a:r>
              <a:rPr kumimoji="1" lang="en-US" altLang="zh-CN" dirty="0">
                <a:latin typeface="微软雅黑" pitchFamily="34" charset="-122"/>
                <a:ea typeface="微软雅黑" pitchFamily="34" charset="-122"/>
                <a:cs typeface="经典粗黑简" pitchFamily="49" charset="-122"/>
              </a:rPr>
              <a:t>(c)</a:t>
            </a:r>
            <a:r>
              <a:rPr kumimoji="1" lang="zh-CN" altLang="en-US" dirty="0">
                <a:latin typeface="微软雅黑" pitchFamily="34" charset="-122"/>
                <a:ea typeface="微软雅黑" pitchFamily="34" charset="-122"/>
                <a:cs typeface="经典粗黑简" pitchFamily="49" charset="-122"/>
              </a:rPr>
              <a:t>和（</a:t>
            </a:r>
            <a:r>
              <a:rPr kumimoji="1" lang="en-US" altLang="zh-CN" dirty="0">
                <a:latin typeface="微软雅黑" pitchFamily="34" charset="-122"/>
                <a:ea typeface="微软雅黑" pitchFamily="34" charset="-122"/>
                <a:cs typeface="经典粗黑简" pitchFamily="49" charset="-122"/>
              </a:rPr>
              <a:t>d</a:t>
            </a:r>
            <a:r>
              <a:rPr kumimoji="1" lang="zh-CN" altLang="en-US" dirty="0">
                <a:latin typeface="微软雅黑" pitchFamily="34" charset="-122"/>
                <a:ea typeface="微软雅黑" pitchFamily="34" charset="-122"/>
                <a:cs typeface="经典粗黑简" pitchFamily="49" charset="-122"/>
              </a:rPr>
              <a:t>）是不同的两棵二叉树</a:t>
            </a:r>
            <a:endParaRPr lang="zh-CN" altLang="en-US" dirty="0"/>
          </a:p>
        </p:txBody>
      </p:sp>
      <p:sp>
        <p:nvSpPr>
          <p:cNvPr id="2" name="矩形 1">
            <a:extLst>
              <a:ext uri="{FF2B5EF4-FFF2-40B4-BE49-F238E27FC236}">
                <a16:creationId xmlns:a16="http://schemas.microsoft.com/office/drawing/2014/main" xmlns="" id="{25D1B3A1-9BB1-AE01-219E-26EC794E7A03}"/>
              </a:ext>
            </a:extLst>
          </p:cNvPr>
          <p:cNvSpPr/>
          <p:nvPr/>
        </p:nvSpPr>
        <p:spPr>
          <a:xfrm>
            <a:off x="960499" y="3105534"/>
            <a:ext cx="1980029"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二叉树的特点：</a:t>
            </a:r>
          </a:p>
        </p:txBody>
      </p:sp>
      <p:sp>
        <p:nvSpPr>
          <p:cNvPr id="4" name="矩形 3">
            <a:extLst>
              <a:ext uri="{FF2B5EF4-FFF2-40B4-BE49-F238E27FC236}">
                <a16:creationId xmlns:a16="http://schemas.microsoft.com/office/drawing/2014/main" xmlns="" id="{F53876BB-D8BB-008A-F5E0-5A4F8DC53D90}"/>
              </a:ext>
            </a:extLst>
          </p:cNvPr>
          <p:cNvSpPr/>
          <p:nvPr/>
        </p:nvSpPr>
        <p:spPr>
          <a:xfrm>
            <a:off x="939208" y="1569425"/>
            <a:ext cx="10125343" cy="1384995"/>
          </a:xfrm>
          <a:prstGeom prst="rect">
            <a:avLst/>
          </a:prstGeom>
        </p:spPr>
        <p:txBody>
          <a:bodyPr wrap="square">
            <a:spAutoFit/>
          </a:bodyPr>
          <a:lstStyle/>
          <a:p>
            <a:r>
              <a:rPr kumimoji="1" lang="zh-CN" altLang="en-US" sz="2800" dirty="0">
                <a:latin typeface="微软雅黑" pitchFamily="34" charset="-122"/>
                <a:ea typeface="微软雅黑" pitchFamily="34" charset="-122"/>
                <a:cs typeface="经典粗黑简" pitchFamily="49" charset="-122"/>
              </a:rPr>
              <a:t>二叉树是</a:t>
            </a:r>
            <a:r>
              <a:rPr kumimoji="1" lang="en-US" altLang="zh-CN" sz="2800" dirty="0">
                <a:latin typeface="微软雅黑" pitchFamily="34" charset="-122"/>
                <a:ea typeface="微软雅黑" pitchFamily="34" charset="-122"/>
                <a:cs typeface="经典粗黑简" pitchFamily="49" charset="-122"/>
              </a:rPr>
              <a:t>n</a:t>
            </a:r>
            <a:r>
              <a:rPr kumimoji="1" lang="zh-CN" altLang="en-US" sz="2800" dirty="0">
                <a:latin typeface="微软雅黑" pitchFamily="34" charset="-122"/>
                <a:ea typeface="微软雅黑" pitchFamily="34" charset="-122"/>
                <a:cs typeface="经典粗黑简" pitchFamily="49" charset="-122"/>
              </a:rPr>
              <a:t>（</a:t>
            </a:r>
            <a:r>
              <a:rPr kumimoji="1" lang="en-US" altLang="zh-CN" sz="2800" dirty="0">
                <a:latin typeface="微软雅黑" pitchFamily="34" charset="-122"/>
                <a:ea typeface="微软雅黑" pitchFamily="34" charset="-122"/>
                <a:cs typeface="经典粗黑简" pitchFamily="49" charset="-122"/>
              </a:rPr>
              <a:t>n≥0</a:t>
            </a:r>
            <a:r>
              <a:rPr kumimoji="1" lang="zh-CN" altLang="en-US" sz="2800" dirty="0">
                <a:latin typeface="微软雅黑" pitchFamily="34" charset="-122"/>
                <a:ea typeface="微软雅黑" pitchFamily="34" charset="-122"/>
                <a:cs typeface="经典粗黑简" pitchFamily="49" charset="-122"/>
              </a:rPr>
              <a:t>）个结点的有限集合，该集合或者为空集（称为</a:t>
            </a:r>
            <a:r>
              <a:rPr kumimoji="1" lang="zh-CN" altLang="en-US" sz="2800" dirty="0">
                <a:solidFill>
                  <a:srgbClr val="FF0000"/>
                </a:solidFill>
                <a:latin typeface="微软雅黑" pitchFamily="34" charset="-122"/>
                <a:ea typeface="微软雅黑" pitchFamily="34" charset="-122"/>
                <a:cs typeface="经典粗黑简" pitchFamily="49" charset="-122"/>
              </a:rPr>
              <a:t>空二叉树</a:t>
            </a:r>
            <a:r>
              <a:rPr kumimoji="1" lang="zh-CN" altLang="en-US" sz="2800" dirty="0">
                <a:latin typeface="微软雅黑" pitchFamily="34" charset="-122"/>
                <a:ea typeface="微软雅黑" pitchFamily="34" charset="-122"/>
                <a:cs typeface="经典粗黑简" pitchFamily="49" charset="-122"/>
              </a:rPr>
              <a:t>），或者由一个根结点和两棵互不相交的、分别称为根结点的</a:t>
            </a:r>
            <a:r>
              <a:rPr kumimoji="1" lang="zh-CN" altLang="en-US" sz="2800" dirty="0">
                <a:solidFill>
                  <a:srgbClr val="FF0000"/>
                </a:solidFill>
                <a:latin typeface="微软雅黑" pitchFamily="34" charset="-122"/>
                <a:ea typeface="微软雅黑" pitchFamily="34" charset="-122"/>
                <a:cs typeface="经典粗黑简" pitchFamily="49" charset="-122"/>
              </a:rPr>
              <a:t>左子树</a:t>
            </a:r>
            <a:r>
              <a:rPr kumimoji="1" lang="zh-CN" altLang="en-US" sz="2800" dirty="0">
                <a:latin typeface="微软雅黑" pitchFamily="34" charset="-122"/>
                <a:ea typeface="微软雅黑" pitchFamily="34" charset="-122"/>
                <a:cs typeface="经典粗黑简" pitchFamily="49" charset="-122"/>
              </a:rPr>
              <a:t>和</a:t>
            </a:r>
            <a:r>
              <a:rPr kumimoji="1" lang="zh-CN" altLang="en-US" sz="2800" dirty="0">
                <a:solidFill>
                  <a:srgbClr val="FF0000"/>
                </a:solidFill>
                <a:latin typeface="微软雅黑" pitchFamily="34" charset="-122"/>
                <a:ea typeface="微软雅黑" pitchFamily="34" charset="-122"/>
                <a:cs typeface="经典粗黑简" pitchFamily="49" charset="-122"/>
              </a:rPr>
              <a:t>右子树</a:t>
            </a:r>
            <a:r>
              <a:rPr kumimoji="1" lang="zh-CN" altLang="en-US" sz="2800" dirty="0">
                <a:latin typeface="微软雅黑" pitchFamily="34" charset="-122"/>
                <a:ea typeface="微软雅黑" pitchFamily="34" charset="-122"/>
                <a:cs typeface="经典粗黑简" pitchFamily="49" charset="-122"/>
              </a:rPr>
              <a:t>的二叉树组成。</a:t>
            </a:r>
          </a:p>
        </p:txBody>
      </p:sp>
      <p:sp>
        <p:nvSpPr>
          <p:cNvPr id="5" name="矩形 4">
            <a:extLst>
              <a:ext uri="{FF2B5EF4-FFF2-40B4-BE49-F238E27FC236}">
                <a16:creationId xmlns:a16="http://schemas.microsoft.com/office/drawing/2014/main" xmlns="" id="{2618559C-85F2-E650-CF61-10BC536C072D}"/>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6" name="Rectangle 2">
            <a:extLst>
              <a:ext uri="{FF2B5EF4-FFF2-40B4-BE49-F238E27FC236}">
                <a16:creationId xmlns:a16="http://schemas.microsoft.com/office/drawing/2014/main" xmlns="" id="{AE4AF06C-45F3-DBB7-D0C3-0EB986A1DDC2}"/>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7" name="直接连接符 6">
            <a:extLst>
              <a:ext uri="{FF2B5EF4-FFF2-40B4-BE49-F238E27FC236}">
                <a16:creationId xmlns:a16="http://schemas.microsoft.com/office/drawing/2014/main" xmlns="" id="{E65C6A7E-D9D6-6B9C-60DF-0BFE1953F135}"/>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1306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animBg="1"/>
      <p:bldP spid="26" grpId="0" animBg="1"/>
      <p:bldP spid="27" grpId="0" animBg="1"/>
      <p:bldP spid="35" grpId="0" animBg="1"/>
      <p:bldP spid="36" grpId="0" animBg="1"/>
      <p:bldP spid="37" grpId="0" animBg="1"/>
      <p:bldP spid="38" grpId="0" animBg="1"/>
      <p:bldP spid="39" grpId="0"/>
      <p:bldP spid="40" grpId="0"/>
      <p:bldP spid="41" grpId="0"/>
      <p:bldP spid="42" grpId="0"/>
      <p:bldP spid="44" grpId="0" animBg="1"/>
      <p:bldP spid="45" grpId="0" animBg="1"/>
      <p:bldP spid="46" grpId="0" animBg="1"/>
      <p:bldP spid="47" grpId="0" animBg="1"/>
      <p:bldP spid="48" grpId="0" animBg="1"/>
      <p:bldP spid="49" grpId="0" animBg="1"/>
      <p:bldP spid="50" grpId="0" animBg="1"/>
      <p:bldP spid="34" grpId="0"/>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27"/>
          <p:cNvGrpSpPr>
            <a:grpSpLocks/>
          </p:cNvGrpSpPr>
          <p:nvPr/>
        </p:nvGrpSpPr>
        <p:grpSpPr bwMode="auto">
          <a:xfrm>
            <a:off x="7515975" y="2821814"/>
            <a:ext cx="3657600" cy="1600200"/>
            <a:chOff x="432" y="1584"/>
            <a:chExt cx="2304" cy="1008"/>
          </a:xfrm>
          <a:solidFill>
            <a:srgbClr val="00B050"/>
          </a:solidFill>
        </p:grpSpPr>
        <p:sp>
          <p:nvSpPr>
            <p:cNvPr id="37" name="Oval 28"/>
            <p:cNvSpPr>
              <a:spLocks noChangeArrowheads="1"/>
            </p:cNvSpPr>
            <p:nvPr/>
          </p:nvSpPr>
          <p:spPr bwMode="auto">
            <a:xfrm>
              <a:off x="1440" y="1584"/>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38" name="Oval 29"/>
            <p:cNvSpPr>
              <a:spLocks noChangeArrowheads="1"/>
            </p:cNvSpPr>
            <p:nvPr/>
          </p:nvSpPr>
          <p:spPr bwMode="auto">
            <a:xfrm>
              <a:off x="816" y="1968"/>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39" name="Oval 30"/>
            <p:cNvSpPr>
              <a:spLocks noChangeArrowheads="1"/>
            </p:cNvSpPr>
            <p:nvPr/>
          </p:nvSpPr>
          <p:spPr bwMode="auto">
            <a:xfrm>
              <a:off x="432" y="2304"/>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40" name="Oval 31"/>
            <p:cNvSpPr>
              <a:spLocks noChangeArrowheads="1"/>
            </p:cNvSpPr>
            <p:nvPr/>
          </p:nvSpPr>
          <p:spPr bwMode="auto">
            <a:xfrm>
              <a:off x="1200" y="2352"/>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41" name="Oval 32"/>
            <p:cNvSpPr>
              <a:spLocks noChangeArrowheads="1"/>
            </p:cNvSpPr>
            <p:nvPr/>
          </p:nvSpPr>
          <p:spPr bwMode="auto">
            <a:xfrm>
              <a:off x="2064" y="1968"/>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42" name="Oval 33"/>
            <p:cNvSpPr>
              <a:spLocks noChangeArrowheads="1"/>
            </p:cNvSpPr>
            <p:nvPr/>
          </p:nvSpPr>
          <p:spPr bwMode="auto">
            <a:xfrm>
              <a:off x="2496" y="2352"/>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43" name="AutoShape 34"/>
            <p:cNvCxnSpPr>
              <a:cxnSpLocks noChangeShapeType="1"/>
              <a:stCxn id="37" idx="3"/>
              <a:endCxn id="38" idx="7"/>
            </p:cNvCxnSpPr>
            <p:nvPr/>
          </p:nvCxnSpPr>
          <p:spPr bwMode="auto">
            <a:xfrm flipH="1">
              <a:off x="1021" y="1789"/>
              <a:ext cx="454" cy="214"/>
            </a:xfrm>
            <a:prstGeom prst="straightConnector1">
              <a:avLst/>
            </a:prstGeom>
            <a:grpFill/>
            <a:ln w="9525">
              <a:solidFill>
                <a:schemeClr val="tx1"/>
              </a:solidFill>
              <a:miter lim="800000"/>
              <a:headEnd/>
              <a:tailEnd/>
            </a:ln>
          </p:spPr>
        </p:cxnSp>
        <p:cxnSp>
          <p:nvCxnSpPr>
            <p:cNvPr id="44" name="AutoShape 35"/>
            <p:cNvCxnSpPr>
              <a:cxnSpLocks noChangeShapeType="1"/>
              <a:stCxn id="38" idx="3"/>
              <a:endCxn id="39" idx="7"/>
            </p:cNvCxnSpPr>
            <p:nvPr/>
          </p:nvCxnSpPr>
          <p:spPr bwMode="auto">
            <a:xfrm flipH="1">
              <a:off x="637" y="2173"/>
              <a:ext cx="214" cy="166"/>
            </a:xfrm>
            <a:prstGeom prst="straightConnector1">
              <a:avLst/>
            </a:prstGeom>
            <a:grpFill/>
            <a:ln w="9525">
              <a:solidFill>
                <a:schemeClr val="tx1"/>
              </a:solidFill>
              <a:miter lim="800000"/>
              <a:headEnd/>
              <a:tailEnd/>
            </a:ln>
          </p:spPr>
        </p:cxnSp>
        <p:cxnSp>
          <p:nvCxnSpPr>
            <p:cNvPr id="45" name="AutoShape 36"/>
            <p:cNvCxnSpPr>
              <a:cxnSpLocks noChangeShapeType="1"/>
              <a:stCxn id="37" idx="5"/>
              <a:endCxn id="41" idx="1"/>
            </p:cNvCxnSpPr>
            <p:nvPr/>
          </p:nvCxnSpPr>
          <p:spPr bwMode="auto">
            <a:xfrm>
              <a:off x="1645" y="1789"/>
              <a:ext cx="454" cy="214"/>
            </a:xfrm>
            <a:prstGeom prst="straightConnector1">
              <a:avLst/>
            </a:prstGeom>
            <a:grpFill/>
            <a:ln w="9525">
              <a:solidFill>
                <a:schemeClr val="tx1"/>
              </a:solidFill>
              <a:miter lim="800000"/>
              <a:headEnd/>
              <a:tailEnd/>
            </a:ln>
          </p:spPr>
        </p:cxnSp>
        <p:cxnSp>
          <p:nvCxnSpPr>
            <p:cNvPr id="46" name="AutoShape 37"/>
            <p:cNvCxnSpPr>
              <a:cxnSpLocks noChangeShapeType="1"/>
              <a:stCxn id="41" idx="5"/>
              <a:endCxn id="42" idx="1"/>
            </p:cNvCxnSpPr>
            <p:nvPr/>
          </p:nvCxnSpPr>
          <p:spPr bwMode="auto">
            <a:xfrm>
              <a:off x="2269" y="2173"/>
              <a:ext cx="262" cy="214"/>
            </a:xfrm>
            <a:prstGeom prst="straightConnector1">
              <a:avLst/>
            </a:prstGeom>
            <a:grpFill/>
            <a:ln w="9525">
              <a:solidFill>
                <a:schemeClr val="tx1"/>
              </a:solidFill>
              <a:miter lim="800000"/>
              <a:headEnd/>
              <a:tailEnd/>
            </a:ln>
          </p:spPr>
        </p:cxnSp>
        <p:cxnSp>
          <p:nvCxnSpPr>
            <p:cNvPr id="47" name="AutoShape 38"/>
            <p:cNvCxnSpPr>
              <a:cxnSpLocks noChangeShapeType="1"/>
              <a:stCxn id="38" idx="5"/>
              <a:endCxn id="40" idx="1"/>
            </p:cNvCxnSpPr>
            <p:nvPr/>
          </p:nvCxnSpPr>
          <p:spPr bwMode="auto">
            <a:xfrm>
              <a:off x="1021" y="2173"/>
              <a:ext cx="214" cy="214"/>
            </a:xfrm>
            <a:prstGeom prst="straightConnector1">
              <a:avLst/>
            </a:prstGeom>
            <a:grpFill/>
            <a:ln w="9525">
              <a:solidFill>
                <a:schemeClr val="tx1"/>
              </a:solidFill>
              <a:miter lim="800000"/>
              <a:headEnd/>
              <a:tailEnd/>
            </a:ln>
          </p:spPr>
        </p:cxnSp>
        <p:sp>
          <p:nvSpPr>
            <p:cNvPr id="48" name="Oval 39"/>
            <p:cNvSpPr>
              <a:spLocks noChangeArrowheads="1"/>
            </p:cNvSpPr>
            <p:nvPr/>
          </p:nvSpPr>
          <p:spPr bwMode="auto">
            <a:xfrm>
              <a:off x="1680" y="2339"/>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49" name="AutoShape 40"/>
            <p:cNvCxnSpPr>
              <a:cxnSpLocks noChangeShapeType="1"/>
              <a:stCxn id="41" idx="3"/>
              <a:endCxn id="48" idx="7"/>
            </p:cNvCxnSpPr>
            <p:nvPr/>
          </p:nvCxnSpPr>
          <p:spPr bwMode="auto">
            <a:xfrm flipH="1">
              <a:off x="1885" y="2173"/>
              <a:ext cx="214" cy="201"/>
            </a:xfrm>
            <a:prstGeom prst="straightConnector1">
              <a:avLst/>
            </a:prstGeom>
            <a:grpFill/>
            <a:ln w="9525">
              <a:solidFill>
                <a:schemeClr val="tx1"/>
              </a:solidFill>
              <a:miter lim="800000"/>
              <a:headEnd/>
              <a:tailEnd/>
            </a:ln>
          </p:spPr>
        </p:cxnSp>
      </p:grpSp>
      <p:sp>
        <p:nvSpPr>
          <p:cNvPr id="50" name="Text Box 41"/>
          <p:cNvSpPr txBox="1">
            <a:spLocks noChangeArrowheads="1"/>
          </p:cNvSpPr>
          <p:nvPr/>
        </p:nvSpPr>
        <p:spPr bwMode="auto">
          <a:xfrm>
            <a:off x="7935075" y="4797152"/>
            <a:ext cx="24178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zh-CN" altLang="en-US" sz="2000" dirty="0">
                <a:latin typeface="微软雅黑" pitchFamily="34" charset="-122"/>
                <a:ea typeface="微软雅黑" pitchFamily="34" charset="-122"/>
                <a:cs typeface="经典粗黑简" pitchFamily="49" charset="-122"/>
              </a:rPr>
              <a:t>高度为</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的满二叉树</a:t>
            </a:r>
          </a:p>
        </p:txBody>
      </p:sp>
      <p:sp>
        <p:nvSpPr>
          <p:cNvPr id="55" name="矩形 54"/>
          <p:cNvSpPr/>
          <p:nvPr/>
        </p:nvSpPr>
        <p:spPr>
          <a:xfrm>
            <a:off x="983432" y="1569472"/>
            <a:ext cx="2492990"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两种特殊的二叉树：</a:t>
            </a:r>
          </a:p>
        </p:txBody>
      </p:sp>
      <p:sp>
        <p:nvSpPr>
          <p:cNvPr id="3" name="矩形 2"/>
          <p:cNvSpPr/>
          <p:nvPr/>
        </p:nvSpPr>
        <p:spPr>
          <a:xfrm>
            <a:off x="1496393" y="2087351"/>
            <a:ext cx="1467068"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①满二叉树</a:t>
            </a:r>
            <a:endParaRPr lang="zh-CN" altLang="en-US" sz="2000" dirty="0"/>
          </a:p>
        </p:txBody>
      </p:sp>
      <p:sp>
        <p:nvSpPr>
          <p:cNvPr id="5" name="矩形 4"/>
          <p:cNvSpPr/>
          <p:nvPr/>
        </p:nvSpPr>
        <p:spPr>
          <a:xfrm>
            <a:off x="1530875" y="2663460"/>
            <a:ext cx="5312592"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在一棵二叉树中，如果所有分支结点都存在左子树和右子树，并且所有叶子都在同一层上。</a:t>
            </a:r>
          </a:p>
        </p:txBody>
      </p:sp>
      <p:sp>
        <p:nvSpPr>
          <p:cNvPr id="6" name="矩形 5"/>
          <p:cNvSpPr/>
          <p:nvPr/>
        </p:nvSpPr>
        <p:spPr>
          <a:xfrm>
            <a:off x="1493419" y="3729798"/>
            <a:ext cx="2119069" cy="400110"/>
          </a:xfrm>
          <a:prstGeom prst="rect">
            <a:avLst/>
          </a:prstGeom>
        </p:spPr>
        <p:txBody>
          <a:bodyPr wrap="square">
            <a:spAutoFit/>
          </a:bodyPr>
          <a:lstStyle/>
          <a:p>
            <a:pPr>
              <a:defRPr/>
            </a:pPr>
            <a:r>
              <a:rPr kumimoji="1" lang="zh-CN" altLang="en-US" sz="2000" dirty="0">
                <a:latin typeface="微软雅黑" pitchFamily="34" charset="-122"/>
                <a:ea typeface="微软雅黑" pitchFamily="34" charset="-122"/>
                <a:cs typeface="经典粗黑简" pitchFamily="49" charset="-122"/>
              </a:rPr>
              <a:t>满二叉树的特点：</a:t>
            </a:r>
          </a:p>
        </p:txBody>
      </p:sp>
      <p:sp>
        <p:nvSpPr>
          <p:cNvPr id="7" name="矩形 6"/>
          <p:cNvSpPr/>
          <p:nvPr/>
        </p:nvSpPr>
        <p:spPr>
          <a:xfrm>
            <a:off x="1839113" y="4233854"/>
            <a:ext cx="3262432"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叶子只能出现在最下一层；</a:t>
            </a:r>
            <a:endParaRPr lang="zh-CN" altLang="en-US" sz="2000" dirty="0"/>
          </a:p>
        </p:txBody>
      </p:sp>
      <p:sp>
        <p:nvSpPr>
          <p:cNvPr id="9" name="矩形 8"/>
          <p:cNvSpPr/>
          <p:nvPr/>
        </p:nvSpPr>
        <p:spPr>
          <a:xfrm>
            <a:off x="1839113" y="4656412"/>
            <a:ext cx="3307316" cy="400110"/>
          </a:xfrm>
          <a:prstGeom prst="rect">
            <a:avLst/>
          </a:prstGeom>
        </p:spPr>
        <p:txBody>
          <a:bodyPr wrap="none">
            <a:spAutoFit/>
          </a:bodyPr>
          <a:lstStyle/>
          <a:p>
            <a:pPr marL="0" lvl="1"/>
            <a:r>
              <a:rPr kumimoji="1" lang="zh-CN" altLang="en-US" sz="2000" dirty="0">
                <a:latin typeface="微软雅黑" pitchFamily="34" charset="-122"/>
                <a:ea typeface="微软雅黑" pitchFamily="34" charset="-122"/>
                <a:cs typeface="经典粗黑简" pitchFamily="49" charset="-122"/>
              </a:rPr>
              <a:t>只有度为</a:t>
            </a:r>
            <a:r>
              <a:rPr kumimoji="1" lang="en-US" altLang="zh-CN" sz="2000" dirty="0">
                <a:latin typeface="微软雅黑" pitchFamily="34" charset="-122"/>
                <a:ea typeface="微软雅黑" pitchFamily="34" charset="-122"/>
                <a:cs typeface="经典粗黑简" pitchFamily="49" charset="-122"/>
              </a:rPr>
              <a:t>0</a:t>
            </a:r>
            <a:r>
              <a:rPr kumimoji="1" lang="zh-CN" altLang="en-US" sz="2000" dirty="0">
                <a:latin typeface="微软雅黑" pitchFamily="34" charset="-122"/>
                <a:ea typeface="微软雅黑" pitchFamily="34" charset="-122"/>
                <a:cs typeface="经典粗黑简" pitchFamily="49" charset="-122"/>
              </a:rPr>
              <a:t>和度为</a:t>
            </a: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的结点。</a:t>
            </a:r>
          </a:p>
        </p:txBody>
      </p:sp>
      <p:sp>
        <p:nvSpPr>
          <p:cNvPr id="2" name="矩形 1">
            <a:extLst>
              <a:ext uri="{FF2B5EF4-FFF2-40B4-BE49-F238E27FC236}">
                <a16:creationId xmlns:a16="http://schemas.microsoft.com/office/drawing/2014/main" xmlns="" id="{AF42F2E4-87EA-AC06-8A28-91278D6D93AB}"/>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4" name="Rectangle 2">
            <a:extLst>
              <a:ext uri="{FF2B5EF4-FFF2-40B4-BE49-F238E27FC236}">
                <a16:creationId xmlns:a16="http://schemas.microsoft.com/office/drawing/2014/main" xmlns="" id="{FDC6D6CF-2CFF-9325-40BA-37E1A6C7E1EF}"/>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8" name="直接连接符 7">
            <a:extLst>
              <a:ext uri="{FF2B5EF4-FFF2-40B4-BE49-F238E27FC236}">
                <a16:creationId xmlns:a16="http://schemas.microsoft.com/office/drawing/2014/main" xmlns="" id="{EABCDDFE-16A3-1242-2404-0A1B1E9B784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xmlns="" id="{6A3B6A8A-877D-EA4C-0AFA-058F320BDF7D}"/>
              </a:ext>
            </a:extLst>
          </p:cNvPr>
          <p:cNvGrpSpPr/>
          <p:nvPr/>
        </p:nvGrpSpPr>
        <p:grpSpPr>
          <a:xfrm>
            <a:off x="1481841" y="5277719"/>
            <a:ext cx="6643734" cy="958755"/>
            <a:chOff x="714348" y="4572008"/>
            <a:chExt cx="6643734" cy="958755"/>
          </a:xfrm>
        </p:grpSpPr>
        <p:sp>
          <p:nvSpPr>
            <p:cNvPr id="11" name="Text Box 8">
              <a:extLst>
                <a:ext uri="{FF2B5EF4-FFF2-40B4-BE49-F238E27FC236}">
                  <a16:creationId xmlns:a16="http://schemas.microsoft.com/office/drawing/2014/main" xmlns="" id="{3F554BC2-ECE3-18BF-2194-406F93916C34}"/>
                </a:ext>
              </a:extLst>
            </p:cNvPr>
            <p:cNvSpPr txBox="1">
              <a:spLocks noChangeArrowheads="1"/>
            </p:cNvSpPr>
            <p:nvPr/>
          </p:nvSpPr>
          <p:spPr bwMode="auto">
            <a:xfrm>
              <a:off x="714348" y="4572008"/>
              <a:ext cx="5072098"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solidFill>
                    <a:srgbClr val="FF0000"/>
                  </a:solidFill>
                  <a:latin typeface="Consolas" pitchFamily="49" charset="0"/>
                  <a:ea typeface="黑体" pitchFamily="49" charset="-122"/>
                  <a:cs typeface="Consolas" pitchFamily="49" charset="0"/>
                </a:rPr>
                <a:t>满二叉树</a:t>
              </a:r>
              <a:r>
                <a:rPr kumimoji="1" lang="zh-CN" altLang="en-US" sz="2000" dirty="0">
                  <a:latin typeface="Consolas" pitchFamily="49" charset="0"/>
                  <a:ea typeface="楷体" pitchFamily="49" charset="-122"/>
                  <a:cs typeface="Consolas" pitchFamily="49" charset="0"/>
                </a:rPr>
                <a:t>：在一棵二叉树中：　　</a:t>
              </a:r>
            </a:p>
          </p:txBody>
        </p:sp>
        <p:sp>
          <p:nvSpPr>
            <p:cNvPr id="12" name="TextBox 59">
              <a:extLst>
                <a:ext uri="{FF2B5EF4-FFF2-40B4-BE49-F238E27FC236}">
                  <a16:creationId xmlns:a16="http://schemas.microsoft.com/office/drawing/2014/main" xmlns="" id="{04DB048B-9233-2686-D428-15F2EA3D8073}"/>
                </a:ext>
              </a:extLst>
            </p:cNvPr>
            <p:cNvSpPr txBox="1"/>
            <p:nvPr/>
          </p:nvSpPr>
          <p:spPr>
            <a:xfrm>
              <a:off x="2071670" y="5000636"/>
              <a:ext cx="5286412" cy="5301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marL="457200" indent="-457200" algn="l">
                <a:lnSpc>
                  <a:spcPts val="3000"/>
                </a:lnSpc>
                <a:buBlip>
                  <a:blip r:embed="rId2"/>
                </a:buBlip>
              </a:pPr>
              <a:r>
                <a:rPr kumimoji="1" lang="zh-CN" altLang="en-US" sz="2000" dirty="0">
                  <a:latin typeface="Consolas" pitchFamily="49" charset="0"/>
                  <a:ea typeface="仿宋" pitchFamily="49" charset="-122"/>
                  <a:cs typeface="Consolas" pitchFamily="49" charset="0"/>
                </a:rPr>
                <a:t>高度为</a:t>
              </a:r>
              <a:r>
                <a:rPr kumimoji="1" lang="en-US" altLang="zh-CN" sz="2000" i="1" dirty="0">
                  <a:latin typeface="Consolas" pitchFamily="49" charset="0"/>
                  <a:ea typeface="仿宋" pitchFamily="49" charset="-122"/>
                  <a:cs typeface="Consolas" pitchFamily="49" charset="0"/>
                </a:rPr>
                <a:t>h</a:t>
              </a:r>
              <a:r>
                <a:rPr kumimoji="1" lang="zh-CN" altLang="en-US" sz="2000" dirty="0">
                  <a:latin typeface="Consolas" pitchFamily="49" charset="0"/>
                  <a:ea typeface="仿宋" pitchFamily="49" charset="-122"/>
                  <a:cs typeface="Consolas" pitchFamily="49" charset="0"/>
                </a:rPr>
                <a:t>的二叉树恰好有</a:t>
              </a:r>
              <a:r>
                <a:rPr lang="en-US" altLang="zh-CN" sz="2000" dirty="0" err="1">
                  <a:latin typeface="Consolas" pitchFamily="49" charset="0"/>
                  <a:ea typeface="仿宋" pitchFamily="49" charset="-122"/>
                  <a:cs typeface="Consolas" pitchFamily="49" charset="0"/>
                </a:rPr>
                <a:t>2</a:t>
              </a:r>
              <a:r>
                <a:rPr lang="en-US" altLang="zh-CN" sz="2000" i="1" baseline="30000" dirty="0" err="1">
                  <a:latin typeface="Consolas" pitchFamily="49" charset="0"/>
                  <a:ea typeface="仿宋" pitchFamily="49" charset="-122"/>
                  <a:cs typeface="Consolas" pitchFamily="49" charset="0"/>
                </a:rPr>
                <a:t>h</a:t>
              </a:r>
              <a:r>
                <a:rPr lang="en-US" altLang="zh-CN" sz="2000">
                  <a:latin typeface="Consolas" pitchFamily="49" charset="0"/>
                  <a:ea typeface="仿宋" pitchFamily="49" charset="-122"/>
                  <a:cs typeface="Consolas" pitchFamily="49" charset="0"/>
                </a:rPr>
                <a:t>-1 </a:t>
              </a:r>
              <a:r>
                <a:rPr lang="zh-CN" altLang="en-US" sz="2000">
                  <a:latin typeface="Consolas" pitchFamily="49" charset="0"/>
                  <a:ea typeface="仿宋" pitchFamily="49" charset="-122"/>
                  <a:cs typeface="Consolas" pitchFamily="49" charset="0"/>
                </a:rPr>
                <a:t>个结点</a:t>
              </a:r>
              <a:r>
                <a:rPr kumimoji="1" lang="zh-CN" altLang="en-US" sz="2000">
                  <a:latin typeface="Consolas" pitchFamily="49" charset="0"/>
                  <a:ea typeface="仿宋" pitchFamily="49" charset="-122"/>
                  <a:cs typeface="Consolas" pitchFamily="49" charset="0"/>
                </a:rPr>
                <a:t>。</a:t>
              </a:r>
              <a:endParaRPr lang="zh-CN" altLang="en-US" sz="2000" dirty="0">
                <a:latin typeface="Consolas" pitchFamily="49" charset="0"/>
                <a:ea typeface="仿宋" pitchFamily="49" charset="-122"/>
                <a:cs typeface="Consolas" pitchFamily="49" charset="0"/>
              </a:endParaRPr>
            </a:p>
          </p:txBody>
        </p:sp>
      </p:grpSp>
    </p:spTree>
    <p:extLst>
      <p:ext uri="{BB962C8B-B14F-4D97-AF65-F5344CB8AC3E}">
        <p14:creationId xmlns:p14="http://schemas.microsoft.com/office/powerpoint/2010/main" val="3301841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3" grpId="0"/>
      <p:bldP spid="5" grpId="0"/>
      <p:bldP spid="6" grpId="0"/>
      <p:bldP spid="7"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180"/>
          <p:cNvGrpSpPr>
            <a:grpSpLocks/>
          </p:cNvGrpSpPr>
          <p:nvPr/>
        </p:nvGrpSpPr>
        <p:grpSpPr bwMode="auto">
          <a:xfrm>
            <a:off x="2338243" y="3699148"/>
            <a:ext cx="4224338" cy="2970213"/>
            <a:chOff x="682" y="1314"/>
            <a:chExt cx="2661" cy="1871"/>
          </a:xfrm>
        </p:grpSpPr>
        <p:sp>
          <p:nvSpPr>
            <p:cNvPr id="28" name="Oval 136"/>
            <p:cNvSpPr>
              <a:spLocks noChangeArrowheads="1"/>
            </p:cNvSpPr>
            <p:nvPr/>
          </p:nvSpPr>
          <p:spPr bwMode="auto">
            <a:xfrm>
              <a:off x="1797" y="1364"/>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A</a:t>
              </a:r>
            </a:p>
          </p:txBody>
        </p:sp>
        <p:sp>
          <p:nvSpPr>
            <p:cNvPr id="29" name="Text Box 137"/>
            <p:cNvSpPr txBox="1">
              <a:spLocks noChangeArrowheads="1"/>
            </p:cNvSpPr>
            <p:nvPr/>
          </p:nvSpPr>
          <p:spPr bwMode="auto">
            <a:xfrm>
              <a:off x="2105" y="1314"/>
              <a:ext cx="15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p>
          </p:txBody>
        </p:sp>
        <p:sp>
          <p:nvSpPr>
            <p:cNvPr id="30" name="Text Box 138"/>
            <p:cNvSpPr txBox="1">
              <a:spLocks noChangeArrowheads="1"/>
            </p:cNvSpPr>
            <p:nvPr/>
          </p:nvSpPr>
          <p:spPr bwMode="auto">
            <a:xfrm>
              <a:off x="1641" y="2226"/>
              <a:ext cx="156"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5</a:t>
              </a:r>
            </a:p>
          </p:txBody>
        </p:sp>
        <p:sp>
          <p:nvSpPr>
            <p:cNvPr id="31" name="Text Box 139"/>
            <p:cNvSpPr txBox="1">
              <a:spLocks noChangeArrowheads="1"/>
            </p:cNvSpPr>
            <p:nvPr/>
          </p:nvSpPr>
          <p:spPr bwMode="auto">
            <a:xfrm>
              <a:off x="1332" y="1771"/>
              <a:ext cx="15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2</a:t>
              </a:r>
            </a:p>
          </p:txBody>
        </p:sp>
        <p:sp>
          <p:nvSpPr>
            <p:cNvPr id="32" name="Text Box 140"/>
            <p:cNvSpPr txBox="1">
              <a:spLocks noChangeArrowheads="1"/>
            </p:cNvSpPr>
            <p:nvPr/>
          </p:nvSpPr>
          <p:spPr bwMode="auto">
            <a:xfrm>
              <a:off x="2878" y="1771"/>
              <a:ext cx="155"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3</a:t>
              </a:r>
            </a:p>
          </p:txBody>
        </p:sp>
        <p:sp>
          <p:nvSpPr>
            <p:cNvPr id="33" name="Text Box 141"/>
            <p:cNvSpPr txBox="1">
              <a:spLocks noChangeArrowheads="1"/>
            </p:cNvSpPr>
            <p:nvPr/>
          </p:nvSpPr>
          <p:spPr bwMode="auto">
            <a:xfrm>
              <a:off x="1024" y="2226"/>
              <a:ext cx="154"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4</a:t>
              </a:r>
            </a:p>
          </p:txBody>
        </p:sp>
        <p:sp>
          <p:nvSpPr>
            <p:cNvPr id="34" name="Text Box 142"/>
            <p:cNvSpPr txBox="1">
              <a:spLocks noChangeArrowheads="1"/>
            </p:cNvSpPr>
            <p:nvPr/>
          </p:nvSpPr>
          <p:spPr bwMode="auto">
            <a:xfrm>
              <a:off x="2570" y="2226"/>
              <a:ext cx="154"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6</a:t>
              </a:r>
            </a:p>
          </p:txBody>
        </p:sp>
        <p:sp>
          <p:nvSpPr>
            <p:cNvPr id="35" name="Text Box 143"/>
            <p:cNvSpPr txBox="1">
              <a:spLocks noChangeArrowheads="1"/>
            </p:cNvSpPr>
            <p:nvPr/>
          </p:nvSpPr>
          <p:spPr bwMode="auto">
            <a:xfrm>
              <a:off x="3187" y="2226"/>
              <a:ext cx="156"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7</a:t>
              </a:r>
            </a:p>
          </p:txBody>
        </p:sp>
        <p:sp>
          <p:nvSpPr>
            <p:cNvPr id="56" name="Line 147"/>
            <p:cNvSpPr>
              <a:spLocks noChangeShapeType="1"/>
            </p:cNvSpPr>
            <p:nvPr/>
          </p:nvSpPr>
          <p:spPr bwMode="auto">
            <a:xfrm flipH="1">
              <a:off x="1170" y="1515"/>
              <a:ext cx="627" cy="311"/>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57" name="Freeform 148"/>
            <p:cNvSpPr>
              <a:spLocks/>
            </p:cNvSpPr>
            <p:nvPr/>
          </p:nvSpPr>
          <p:spPr bwMode="auto">
            <a:xfrm>
              <a:off x="2008" y="1486"/>
              <a:ext cx="585" cy="358"/>
            </a:xfrm>
            <a:custGeom>
              <a:avLst/>
              <a:gdLst>
                <a:gd name="T0" fmla="*/ 0 w 767"/>
                <a:gd name="T1" fmla="*/ 0 h 488"/>
                <a:gd name="T2" fmla="*/ 8 w 767"/>
                <a:gd name="T3" fmla="*/ 3 h 488"/>
                <a:gd name="T4" fmla="*/ 0 60000 65536"/>
                <a:gd name="T5" fmla="*/ 0 60000 65536"/>
              </a:gdLst>
              <a:ahLst/>
              <a:cxnLst>
                <a:cxn ang="T4">
                  <a:pos x="T0" y="T1"/>
                </a:cxn>
                <a:cxn ang="T5">
                  <a:pos x="T2" y="T3"/>
                </a:cxn>
              </a:cxnLst>
              <a:rect l="0" t="0" r="r" b="b"/>
              <a:pathLst>
                <a:path w="767" h="488">
                  <a:moveTo>
                    <a:pt x="0" y="0"/>
                  </a:moveTo>
                  <a:lnTo>
                    <a:pt x="767" y="488"/>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58" name="Freeform 149"/>
            <p:cNvSpPr>
              <a:spLocks/>
            </p:cNvSpPr>
            <p:nvPr/>
          </p:nvSpPr>
          <p:spPr bwMode="auto">
            <a:xfrm>
              <a:off x="845" y="1965"/>
              <a:ext cx="196" cy="309"/>
            </a:xfrm>
            <a:custGeom>
              <a:avLst/>
              <a:gdLst>
                <a:gd name="T0" fmla="*/ 2 w 259"/>
                <a:gd name="T1" fmla="*/ 0 h 421"/>
                <a:gd name="T2" fmla="*/ 0 w 259"/>
                <a:gd name="T3" fmla="*/ 2 h 421"/>
                <a:gd name="T4" fmla="*/ 0 60000 65536"/>
                <a:gd name="T5" fmla="*/ 0 60000 65536"/>
              </a:gdLst>
              <a:ahLst/>
              <a:cxnLst>
                <a:cxn ang="T4">
                  <a:pos x="T0" y="T1"/>
                </a:cxn>
                <a:cxn ang="T5">
                  <a:pos x="T2" y="T3"/>
                </a:cxn>
              </a:cxnLst>
              <a:rect l="0" t="0" r="r" b="b"/>
              <a:pathLst>
                <a:path w="259" h="421">
                  <a:moveTo>
                    <a:pt x="259"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59" name="Freeform 150"/>
            <p:cNvSpPr>
              <a:spLocks/>
            </p:cNvSpPr>
            <p:nvPr/>
          </p:nvSpPr>
          <p:spPr bwMode="auto">
            <a:xfrm>
              <a:off x="1224" y="1965"/>
              <a:ext cx="169" cy="309"/>
            </a:xfrm>
            <a:custGeom>
              <a:avLst/>
              <a:gdLst>
                <a:gd name="T0" fmla="*/ 0 w 222"/>
                <a:gd name="T1" fmla="*/ 0 h 421"/>
                <a:gd name="T2" fmla="*/ 2 w 222"/>
                <a:gd name="T3" fmla="*/ 2 h 421"/>
                <a:gd name="T4" fmla="*/ 0 60000 65536"/>
                <a:gd name="T5" fmla="*/ 0 60000 65536"/>
              </a:gdLst>
              <a:ahLst/>
              <a:cxnLst>
                <a:cxn ang="T4">
                  <a:pos x="T0" y="T1"/>
                </a:cxn>
                <a:cxn ang="T5">
                  <a:pos x="T2" y="T3"/>
                </a:cxn>
              </a:cxnLst>
              <a:rect l="0" t="0" r="r" b="b"/>
              <a:pathLst>
                <a:path w="222" h="421">
                  <a:moveTo>
                    <a:pt x="0" y="0"/>
                  </a:moveTo>
                  <a:lnTo>
                    <a:pt x="222"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60" name="Freeform 151"/>
            <p:cNvSpPr>
              <a:spLocks/>
            </p:cNvSpPr>
            <p:nvPr/>
          </p:nvSpPr>
          <p:spPr bwMode="auto">
            <a:xfrm>
              <a:off x="2421" y="1976"/>
              <a:ext cx="172" cy="308"/>
            </a:xfrm>
            <a:custGeom>
              <a:avLst/>
              <a:gdLst>
                <a:gd name="T0" fmla="*/ 2 w 226"/>
                <a:gd name="T1" fmla="*/ 0 h 421"/>
                <a:gd name="T2" fmla="*/ 0 w 226"/>
                <a:gd name="T3" fmla="*/ 2 h 421"/>
                <a:gd name="T4" fmla="*/ 0 60000 65536"/>
                <a:gd name="T5" fmla="*/ 0 60000 65536"/>
              </a:gdLst>
              <a:ahLst/>
              <a:cxnLst>
                <a:cxn ang="T4">
                  <a:pos x="T0" y="T1"/>
                </a:cxn>
                <a:cxn ang="T5">
                  <a:pos x="T2" y="T3"/>
                </a:cxn>
              </a:cxnLst>
              <a:rect l="0" t="0" r="r" b="b"/>
              <a:pathLst>
                <a:path w="226" h="421">
                  <a:moveTo>
                    <a:pt x="226"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61" name="Line 152"/>
            <p:cNvSpPr>
              <a:spLocks noChangeShapeType="1"/>
            </p:cNvSpPr>
            <p:nvPr/>
          </p:nvSpPr>
          <p:spPr bwMode="auto">
            <a:xfrm>
              <a:off x="2758" y="1976"/>
              <a:ext cx="200" cy="294"/>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62" name="Line 157"/>
            <p:cNvSpPr>
              <a:spLocks noChangeShapeType="1"/>
            </p:cNvSpPr>
            <p:nvPr/>
          </p:nvSpPr>
          <p:spPr bwMode="auto">
            <a:xfrm flipH="1">
              <a:off x="2216" y="2469"/>
              <a:ext cx="103" cy="25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63" name="Line 158"/>
            <p:cNvSpPr>
              <a:spLocks noChangeShapeType="1"/>
            </p:cNvSpPr>
            <p:nvPr/>
          </p:nvSpPr>
          <p:spPr bwMode="auto">
            <a:xfrm>
              <a:off x="2414" y="2454"/>
              <a:ext cx="110" cy="26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64" name="Oval 161"/>
            <p:cNvSpPr>
              <a:spLocks noChangeArrowheads="1"/>
            </p:cNvSpPr>
            <p:nvPr/>
          </p:nvSpPr>
          <p:spPr bwMode="auto">
            <a:xfrm>
              <a:off x="988" y="1782"/>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dirty="0">
                  <a:solidFill>
                    <a:srgbClr val="FFFF99"/>
                  </a:solidFill>
                  <a:latin typeface="Times New Roman" pitchFamily="18" charset="0"/>
                  <a:ea typeface="华文行楷" pitchFamily="2" charset="-122"/>
                </a:rPr>
                <a:t>B</a:t>
              </a:r>
            </a:p>
          </p:txBody>
        </p:sp>
        <p:sp>
          <p:nvSpPr>
            <p:cNvPr id="65" name="Oval 162"/>
            <p:cNvSpPr>
              <a:spLocks noChangeArrowheads="1"/>
            </p:cNvSpPr>
            <p:nvPr/>
          </p:nvSpPr>
          <p:spPr bwMode="auto">
            <a:xfrm>
              <a:off x="2539" y="1782"/>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C</a:t>
              </a:r>
            </a:p>
          </p:txBody>
        </p:sp>
        <p:sp>
          <p:nvSpPr>
            <p:cNvPr id="66" name="Oval 163"/>
            <p:cNvSpPr>
              <a:spLocks noChangeArrowheads="1"/>
            </p:cNvSpPr>
            <p:nvPr/>
          </p:nvSpPr>
          <p:spPr bwMode="auto">
            <a:xfrm>
              <a:off x="682" y="2247"/>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D</a:t>
              </a:r>
            </a:p>
          </p:txBody>
        </p:sp>
        <p:sp>
          <p:nvSpPr>
            <p:cNvPr id="67" name="Oval 164"/>
            <p:cNvSpPr>
              <a:spLocks noChangeArrowheads="1"/>
            </p:cNvSpPr>
            <p:nvPr/>
          </p:nvSpPr>
          <p:spPr bwMode="auto">
            <a:xfrm>
              <a:off x="1295" y="2247"/>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E</a:t>
              </a:r>
            </a:p>
          </p:txBody>
        </p:sp>
        <p:sp>
          <p:nvSpPr>
            <p:cNvPr id="68" name="Oval 165"/>
            <p:cNvSpPr>
              <a:spLocks noChangeArrowheads="1"/>
            </p:cNvSpPr>
            <p:nvPr/>
          </p:nvSpPr>
          <p:spPr bwMode="auto">
            <a:xfrm>
              <a:off x="2252" y="2248"/>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F</a:t>
              </a:r>
            </a:p>
          </p:txBody>
        </p:sp>
        <p:sp>
          <p:nvSpPr>
            <p:cNvPr id="69" name="Oval 166"/>
            <p:cNvSpPr>
              <a:spLocks noChangeArrowheads="1"/>
            </p:cNvSpPr>
            <p:nvPr/>
          </p:nvSpPr>
          <p:spPr bwMode="auto">
            <a:xfrm>
              <a:off x="2884" y="2247"/>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G</a:t>
              </a:r>
            </a:p>
          </p:txBody>
        </p:sp>
        <p:sp>
          <p:nvSpPr>
            <p:cNvPr id="70" name="Oval 171"/>
            <p:cNvSpPr>
              <a:spLocks noChangeArrowheads="1"/>
            </p:cNvSpPr>
            <p:nvPr/>
          </p:nvSpPr>
          <p:spPr bwMode="auto">
            <a:xfrm>
              <a:off x="2076" y="2694"/>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L</a:t>
              </a:r>
            </a:p>
          </p:txBody>
        </p:sp>
        <p:sp>
          <p:nvSpPr>
            <p:cNvPr id="71" name="Oval 172"/>
            <p:cNvSpPr>
              <a:spLocks noChangeArrowheads="1"/>
            </p:cNvSpPr>
            <p:nvPr/>
          </p:nvSpPr>
          <p:spPr bwMode="auto">
            <a:xfrm>
              <a:off x="2402" y="2694"/>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M</a:t>
              </a:r>
            </a:p>
          </p:txBody>
        </p:sp>
        <p:sp>
          <p:nvSpPr>
            <p:cNvPr id="72" name="Text Box 176"/>
            <p:cNvSpPr txBox="1">
              <a:spLocks noChangeArrowheads="1"/>
            </p:cNvSpPr>
            <p:nvPr/>
          </p:nvSpPr>
          <p:spPr bwMode="auto">
            <a:xfrm>
              <a:off x="2165" y="2957"/>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en-US" altLang="zh-CN" sz="2400" b="1" dirty="0">
                  <a:latin typeface="Times New Roman" pitchFamily="18" charset="0"/>
                </a:rPr>
                <a:t>8</a:t>
              </a:r>
            </a:p>
          </p:txBody>
        </p:sp>
        <p:sp>
          <p:nvSpPr>
            <p:cNvPr id="73" name="Text Box 177"/>
            <p:cNvSpPr txBox="1">
              <a:spLocks noChangeArrowheads="1"/>
            </p:cNvSpPr>
            <p:nvPr/>
          </p:nvSpPr>
          <p:spPr bwMode="auto">
            <a:xfrm>
              <a:off x="2490" y="295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en-US" altLang="zh-CN" sz="2400" b="1">
                  <a:latin typeface="Times New Roman" pitchFamily="18" charset="0"/>
                </a:rPr>
                <a:t>9</a:t>
              </a:r>
            </a:p>
          </p:txBody>
        </p:sp>
      </p:grpSp>
      <p:sp>
        <p:nvSpPr>
          <p:cNvPr id="2" name="矩形 1"/>
          <p:cNvSpPr/>
          <p:nvPr/>
        </p:nvSpPr>
        <p:spPr>
          <a:xfrm>
            <a:off x="6672064" y="4444446"/>
            <a:ext cx="3888432" cy="646331"/>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不是满二叉树，虽然所有分支结点都有左右子树，但叶子不在同一层上。</a:t>
            </a:r>
          </a:p>
        </p:txBody>
      </p:sp>
      <p:sp>
        <p:nvSpPr>
          <p:cNvPr id="4" name="矩形 3"/>
          <p:cNvSpPr/>
          <p:nvPr/>
        </p:nvSpPr>
        <p:spPr>
          <a:xfrm>
            <a:off x="2839055" y="2677445"/>
            <a:ext cx="4974484" cy="369332"/>
          </a:xfrm>
          <a:prstGeom prst="rect">
            <a:avLst/>
          </a:prstGeom>
        </p:spPr>
        <p:txBody>
          <a:bodyPr wrap="square">
            <a:spAutoFit/>
          </a:bodyPr>
          <a:lstStyle/>
          <a:p>
            <a:pPr>
              <a:spcBef>
                <a:spcPct val="20000"/>
              </a:spcBef>
              <a:defRPr/>
            </a:pPr>
            <a:r>
              <a:rPr kumimoji="1" lang="zh-CN" altLang="en-US" dirty="0">
                <a:latin typeface="微软雅黑" pitchFamily="34" charset="-122"/>
                <a:ea typeface="微软雅黑" pitchFamily="34" charset="-122"/>
                <a:cs typeface="经典粗黑简" pitchFamily="49" charset="-122"/>
              </a:rPr>
              <a:t>满二叉树在同样深度的二叉树中结点个数最多；</a:t>
            </a:r>
          </a:p>
        </p:txBody>
      </p:sp>
      <p:sp>
        <p:nvSpPr>
          <p:cNvPr id="8" name="矩形 7"/>
          <p:cNvSpPr/>
          <p:nvPr/>
        </p:nvSpPr>
        <p:spPr>
          <a:xfrm>
            <a:off x="2839056" y="3109493"/>
            <a:ext cx="5636471" cy="369332"/>
          </a:xfrm>
          <a:prstGeom prst="rect">
            <a:avLst/>
          </a:prstGeom>
        </p:spPr>
        <p:txBody>
          <a:bodyPr wrap="square">
            <a:spAutoFit/>
          </a:bodyPr>
          <a:lstStyle/>
          <a:p>
            <a:pPr>
              <a:spcBef>
                <a:spcPct val="20000"/>
              </a:spcBef>
              <a:defRPr/>
            </a:pPr>
            <a:r>
              <a:rPr kumimoji="1" lang="zh-CN" altLang="en-US" dirty="0">
                <a:latin typeface="微软雅黑" pitchFamily="34" charset="-122"/>
                <a:ea typeface="微软雅黑" pitchFamily="34" charset="-122"/>
                <a:cs typeface="经典粗黑简" pitchFamily="49" charset="-122"/>
              </a:rPr>
              <a:t>满二叉树在同样深度的二叉树中叶子结点个数最多。</a:t>
            </a:r>
          </a:p>
        </p:txBody>
      </p:sp>
      <p:sp>
        <p:nvSpPr>
          <p:cNvPr id="5" name="矩形 4">
            <a:extLst>
              <a:ext uri="{FF2B5EF4-FFF2-40B4-BE49-F238E27FC236}">
                <a16:creationId xmlns:a16="http://schemas.microsoft.com/office/drawing/2014/main" xmlns="" id="{5E45483B-B12B-DABD-A6CD-F5BFB04234F1}"/>
              </a:ext>
            </a:extLst>
          </p:cNvPr>
          <p:cNvSpPr/>
          <p:nvPr/>
        </p:nvSpPr>
        <p:spPr>
          <a:xfrm>
            <a:off x="983432" y="1569472"/>
            <a:ext cx="2492990"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两种特殊的二叉树：</a:t>
            </a:r>
          </a:p>
        </p:txBody>
      </p:sp>
      <p:sp>
        <p:nvSpPr>
          <p:cNvPr id="6" name="矩形 5">
            <a:extLst>
              <a:ext uri="{FF2B5EF4-FFF2-40B4-BE49-F238E27FC236}">
                <a16:creationId xmlns:a16="http://schemas.microsoft.com/office/drawing/2014/main" xmlns="" id="{B28CCADC-3E73-32E7-FAF3-FEA5932EA72E}"/>
              </a:ext>
            </a:extLst>
          </p:cNvPr>
          <p:cNvSpPr/>
          <p:nvPr/>
        </p:nvSpPr>
        <p:spPr>
          <a:xfrm>
            <a:off x="1496393" y="2087351"/>
            <a:ext cx="1467068"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①满二叉树</a:t>
            </a:r>
            <a:endParaRPr lang="zh-CN" altLang="en-US" sz="2000" dirty="0"/>
          </a:p>
        </p:txBody>
      </p:sp>
      <p:sp>
        <p:nvSpPr>
          <p:cNvPr id="7" name="矩形 6">
            <a:extLst>
              <a:ext uri="{FF2B5EF4-FFF2-40B4-BE49-F238E27FC236}">
                <a16:creationId xmlns:a16="http://schemas.microsoft.com/office/drawing/2014/main" xmlns="" id="{31C3A347-C054-F311-21A8-DFBFC73A0C0D}"/>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9" name="Rectangle 2">
            <a:extLst>
              <a:ext uri="{FF2B5EF4-FFF2-40B4-BE49-F238E27FC236}">
                <a16:creationId xmlns:a16="http://schemas.microsoft.com/office/drawing/2014/main" xmlns="" id="{2D9B1D56-176E-32A6-C8A4-2E837215CCE9}"/>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10" name="直接连接符 9">
            <a:extLst>
              <a:ext uri="{FF2B5EF4-FFF2-40B4-BE49-F238E27FC236}">
                <a16:creationId xmlns:a16="http://schemas.microsoft.com/office/drawing/2014/main" xmlns="" id="{B01E235F-6A98-FD32-57E0-BBDDCFD25BB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251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43217" y="2631855"/>
            <a:ext cx="9277319" cy="646331"/>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对一棵具有</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个结点的二叉树按层序编号，编号为</a:t>
            </a:r>
            <a:r>
              <a:rPr kumimoji="1" lang="en-US" altLang="zh-CN" dirty="0">
                <a:latin typeface="微软雅黑" pitchFamily="34" charset="-122"/>
                <a:ea typeface="微软雅黑" pitchFamily="34" charset="-122"/>
                <a:cs typeface="经典粗黑简" pitchFamily="49" charset="-122"/>
              </a:rPr>
              <a:t>i（1≤i≤n）</a:t>
            </a:r>
            <a:r>
              <a:rPr kumimoji="1" lang="zh-CN" altLang="en-US" dirty="0">
                <a:latin typeface="微软雅黑" pitchFamily="34" charset="-122"/>
                <a:ea typeface="微软雅黑" pitchFamily="34" charset="-122"/>
                <a:cs typeface="经典粗黑简" pitchFamily="49" charset="-122"/>
              </a:rPr>
              <a:t>的结点与同样深度的满二叉树中编号为</a:t>
            </a:r>
            <a:r>
              <a:rPr kumimoji="1" lang="en-US" altLang="zh-CN" dirty="0">
                <a:latin typeface="微软雅黑" pitchFamily="34" charset="-122"/>
                <a:ea typeface="微软雅黑" pitchFamily="34" charset="-122"/>
                <a:cs typeface="经典粗黑简" pitchFamily="49" charset="-122"/>
              </a:rPr>
              <a:t>i</a:t>
            </a:r>
            <a:r>
              <a:rPr kumimoji="1" lang="zh-CN" altLang="en-US" dirty="0">
                <a:latin typeface="微软雅黑" pitchFamily="34" charset="-122"/>
                <a:ea typeface="微软雅黑" pitchFamily="34" charset="-122"/>
                <a:cs typeface="经典粗黑简" pitchFamily="49" charset="-122"/>
              </a:rPr>
              <a:t>的结点在二叉树中的位置完全相同。</a:t>
            </a:r>
          </a:p>
        </p:txBody>
      </p:sp>
      <p:sp>
        <p:nvSpPr>
          <p:cNvPr id="59" name="Oval 123"/>
          <p:cNvSpPr>
            <a:spLocks noChangeArrowheads="1"/>
          </p:cNvSpPr>
          <p:nvPr/>
        </p:nvSpPr>
        <p:spPr bwMode="auto">
          <a:xfrm>
            <a:off x="4088179" y="3609515"/>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A</a:t>
            </a:r>
          </a:p>
        </p:txBody>
      </p:sp>
      <p:sp>
        <p:nvSpPr>
          <p:cNvPr id="60" name="Text Box 124"/>
          <p:cNvSpPr txBox="1">
            <a:spLocks noChangeArrowheads="1"/>
          </p:cNvSpPr>
          <p:nvPr/>
        </p:nvSpPr>
        <p:spPr bwMode="auto">
          <a:xfrm>
            <a:off x="4804143" y="3573016"/>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1</a:t>
            </a:r>
          </a:p>
        </p:txBody>
      </p:sp>
      <p:sp>
        <p:nvSpPr>
          <p:cNvPr id="61" name="Text Box 125"/>
          <p:cNvSpPr txBox="1">
            <a:spLocks noChangeArrowheads="1"/>
          </p:cNvSpPr>
          <p:nvPr/>
        </p:nvSpPr>
        <p:spPr bwMode="auto">
          <a:xfrm>
            <a:off x="4037161" y="4756509"/>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5</a:t>
            </a:r>
          </a:p>
        </p:txBody>
      </p:sp>
      <p:sp>
        <p:nvSpPr>
          <p:cNvPr id="62" name="Text Box 126"/>
          <p:cNvSpPr txBox="1">
            <a:spLocks noChangeArrowheads="1"/>
          </p:cNvSpPr>
          <p:nvPr/>
        </p:nvSpPr>
        <p:spPr bwMode="auto">
          <a:xfrm>
            <a:off x="3546625" y="4034197"/>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2</a:t>
            </a:r>
          </a:p>
        </p:txBody>
      </p:sp>
      <p:sp>
        <p:nvSpPr>
          <p:cNvPr id="63" name="Text Box 127"/>
          <p:cNvSpPr txBox="1">
            <a:spLocks noChangeArrowheads="1"/>
          </p:cNvSpPr>
          <p:nvPr/>
        </p:nvSpPr>
        <p:spPr bwMode="auto">
          <a:xfrm>
            <a:off x="5702002" y="4034197"/>
            <a:ext cx="2460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3</a:t>
            </a:r>
          </a:p>
        </p:txBody>
      </p:sp>
      <p:sp>
        <p:nvSpPr>
          <p:cNvPr id="64" name="Text Box 128"/>
          <p:cNvSpPr txBox="1">
            <a:spLocks noChangeArrowheads="1"/>
          </p:cNvSpPr>
          <p:nvPr/>
        </p:nvSpPr>
        <p:spPr bwMode="auto">
          <a:xfrm>
            <a:off x="3057675" y="475650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4</a:t>
            </a:r>
          </a:p>
        </p:txBody>
      </p:sp>
      <p:sp>
        <p:nvSpPr>
          <p:cNvPr id="65" name="Text Box 129"/>
          <p:cNvSpPr txBox="1">
            <a:spLocks noChangeArrowheads="1"/>
          </p:cNvSpPr>
          <p:nvPr/>
        </p:nvSpPr>
        <p:spPr bwMode="auto">
          <a:xfrm>
            <a:off x="5213053" y="475650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6</a:t>
            </a:r>
          </a:p>
        </p:txBody>
      </p:sp>
      <p:sp>
        <p:nvSpPr>
          <p:cNvPr id="66" name="Text Box 130"/>
          <p:cNvSpPr txBox="1">
            <a:spLocks noChangeArrowheads="1"/>
          </p:cNvSpPr>
          <p:nvPr/>
        </p:nvSpPr>
        <p:spPr bwMode="auto">
          <a:xfrm>
            <a:off x="6294804" y="4977940"/>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7</a:t>
            </a:r>
          </a:p>
        </p:txBody>
      </p:sp>
      <p:sp>
        <p:nvSpPr>
          <p:cNvPr id="67" name="Text Box 132"/>
          <p:cNvSpPr txBox="1">
            <a:spLocks noChangeArrowheads="1"/>
          </p:cNvSpPr>
          <p:nvPr/>
        </p:nvSpPr>
        <p:spPr bwMode="auto">
          <a:xfrm>
            <a:off x="2843362" y="5931259"/>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9</a:t>
            </a:r>
          </a:p>
        </p:txBody>
      </p:sp>
      <p:sp>
        <p:nvSpPr>
          <p:cNvPr id="68" name="Text Box 133"/>
          <p:cNvSpPr txBox="1">
            <a:spLocks noChangeArrowheads="1"/>
          </p:cNvSpPr>
          <p:nvPr/>
        </p:nvSpPr>
        <p:spPr bwMode="auto">
          <a:xfrm>
            <a:off x="3295800" y="5931259"/>
            <a:ext cx="3841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10</a:t>
            </a:r>
          </a:p>
        </p:txBody>
      </p:sp>
      <p:sp>
        <p:nvSpPr>
          <p:cNvPr id="88" name="Line 134"/>
          <p:cNvSpPr>
            <a:spLocks noChangeShapeType="1"/>
          </p:cNvSpPr>
          <p:nvPr/>
        </p:nvSpPr>
        <p:spPr bwMode="auto">
          <a:xfrm flipH="1">
            <a:off x="3344435" y="3849228"/>
            <a:ext cx="743744" cy="246856"/>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89" name="Freeform 135"/>
          <p:cNvSpPr>
            <a:spLocks/>
          </p:cNvSpPr>
          <p:nvPr/>
        </p:nvSpPr>
        <p:spPr bwMode="auto">
          <a:xfrm>
            <a:off x="4423143" y="3803191"/>
            <a:ext cx="740697" cy="411187"/>
          </a:xfrm>
          <a:custGeom>
            <a:avLst/>
            <a:gdLst>
              <a:gd name="T0" fmla="*/ 0 w 767"/>
              <a:gd name="T1" fmla="*/ 0 h 488"/>
              <a:gd name="T2" fmla="*/ 2147483647 w 767"/>
              <a:gd name="T3" fmla="*/ 2147483647 h 488"/>
              <a:gd name="T4" fmla="*/ 0 60000 65536"/>
              <a:gd name="T5" fmla="*/ 0 60000 65536"/>
            </a:gdLst>
            <a:ahLst/>
            <a:cxnLst>
              <a:cxn ang="T4">
                <a:pos x="T0" y="T1"/>
              </a:cxn>
              <a:cxn ang="T5">
                <a:pos x="T2" y="T3"/>
              </a:cxn>
            </a:cxnLst>
            <a:rect l="0" t="0" r="r" b="b"/>
            <a:pathLst>
              <a:path w="767" h="488">
                <a:moveTo>
                  <a:pt x="0" y="0"/>
                </a:moveTo>
                <a:lnTo>
                  <a:pt x="767" y="488"/>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0" name="Freeform 136"/>
          <p:cNvSpPr>
            <a:spLocks/>
          </p:cNvSpPr>
          <p:nvPr/>
        </p:nvSpPr>
        <p:spPr bwMode="auto">
          <a:xfrm>
            <a:off x="2773511" y="4342171"/>
            <a:ext cx="311150" cy="490538"/>
          </a:xfrm>
          <a:custGeom>
            <a:avLst/>
            <a:gdLst>
              <a:gd name="T0" fmla="*/ 2147483647 w 259"/>
              <a:gd name="T1" fmla="*/ 0 h 421"/>
              <a:gd name="T2" fmla="*/ 0 w 259"/>
              <a:gd name="T3" fmla="*/ 2147483647 h 421"/>
              <a:gd name="T4" fmla="*/ 0 60000 65536"/>
              <a:gd name="T5" fmla="*/ 0 60000 65536"/>
            </a:gdLst>
            <a:ahLst/>
            <a:cxnLst>
              <a:cxn ang="T4">
                <a:pos x="T0" y="T1"/>
              </a:cxn>
              <a:cxn ang="T5">
                <a:pos x="T2" y="T3"/>
              </a:cxn>
            </a:cxnLst>
            <a:rect l="0" t="0" r="r" b="b"/>
            <a:pathLst>
              <a:path w="259" h="421">
                <a:moveTo>
                  <a:pt x="259"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1" name="Freeform 137"/>
          <p:cNvSpPr>
            <a:spLocks/>
          </p:cNvSpPr>
          <p:nvPr/>
        </p:nvSpPr>
        <p:spPr bwMode="auto">
          <a:xfrm>
            <a:off x="3375175" y="4342171"/>
            <a:ext cx="268287" cy="490538"/>
          </a:xfrm>
          <a:custGeom>
            <a:avLst/>
            <a:gdLst>
              <a:gd name="T0" fmla="*/ 0 w 222"/>
              <a:gd name="T1" fmla="*/ 0 h 421"/>
              <a:gd name="T2" fmla="*/ 2147483647 w 222"/>
              <a:gd name="T3" fmla="*/ 2147483647 h 421"/>
              <a:gd name="T4" fmla="*/ 0 60000 65536"/>
              <a:gd name="T5" fmla="*/ 0 60000 65536"/>
            </a:gdLst>
            <a:ahLst/>
            <a:cxnLst>
              <a:cxn ang="T4">
                <a:pos x="T0" y="T1"/>
              </a:cxn>
              <a:cxn ang="T5">
                <a:pos x="T2" y="T3"/>
              </a:cxn>
            </a:cxnLst>
            <a:rect l="0" t="0" r="r" b="b"/>
            <a:pathLst>
              <a:path w="222" h="421">
                <a:moveTo>
                  <a:pt x="0" y="0"/>
                </a:moveTo>
                <a:lnTo>
                  <a:pt x="222"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2" name="Freeform 138"/>
          <p:cNvSpPr>
            <a:spLocks/>
          </p:cNvSpPr>
          <p:nvPr/>
        </p:nvSpPr>
        <p:spPr bwMode="auto">
          <a:xfrm>
            <a:off x="4976514" y="4359634"/>
            <a:ext cx="273050" cy="488950"/>
          </a:xfrm>
          <a:custGeom>
            <a:avLst/>
            <a:gdLst>
              <a:gd name="T0" fmla="*/ 2147483647 w 226"/>
              <a:gd name="T1" fmla="*/ 0 h 421"/>
              <a:gd name="T2" fmla="*/ 0 w 226"/>
              <a:gd name="T3" fmla="*/ 2147483647 h 421"/>
              <a:gd name="T4" fmla="*/ 0 60000 65536"/>
              <a:gd name="T5" fmla="*/ 0 60000 65536"/>
            </a:gdLst>
            <a:ahLst/>
            <a:cxnLst>
              <a:cxn ang="T4">
                <a:pos x="T0" y="T1"/>
              </a:cxn>
              <a:cxn ang="T5">
                <a:pos x="T2" y="T3"/>
              </a:cxn>
            </a:cxnLst>
            <a:rect l="0" t="0" r="r" b="b"/>
            <a:pathLst>
              <a:path w="226" h="421">
                <a:moveTo>
                  <a:pt x="226"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3" name="Line 139"/>
          <p:cNvSpPr>
            <a:spLocks noChangeShapeType="1"/>
          </p:cNvSpPr>
          <p:nvPr/>
        </p:nvSpPr>
        <p:spPr bwMode="auto">
          <a:xfrm>
            <a:off x="5511502" y="4359635"/>
            <a:ext cx="317500" cy="466725"/>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94" name="Freeform 141"/>
          <p:cNvSpPr>
            <a:spLocks/>
          </p:cNvSpPr>
          <p:nvPr/>
        </p:nvSpPr>
        <p:spPr bwMode="auto">
          <a:xfrm>
            <a:off x="2482999" y="5131159"/>
            <a:ext cx="144462" cy="411162"/>
          </a:xfrm>
          <a:custGeom>
            <a:avLst/>
            <a:gdLst>
              <a:gd name="T0" fmla="*/ 2147483647 w 119"/>
              <a:gd name="T1" fmla="*/ 0 h 356"/>
              <a:gd name="T2" fmla="*/ 0 w 119"/>
              <a:gd name="T3" fmla="*/ 2147483647 h 356"/>
              <a:gd name="T4" fmla="*/ 0 60000 65536"/>
              <a:gd name="T5" fmla="*/ 0 60000 65536"/>
            </a:gdLst>
            <a:ahLst/>
            <a:cxnLst>
              <a:cxn ang="T4">
                <a:pos x="T0" y="T1"/>
              </a:cxn>
              <a:cxn ang="T5">
                <a:pos x="T2" y="T3"/>
              </a:cxn>
            </a:cxnLst>
            <a:rect l="0" t="0" r="r" b="b"/>
            <a:pathLst>
              <a:path w="119" h="356">
                <a:moveTo>
                  <a:pt x="119" y="0"/>
                </a:moveTo>
                <a:lnTo>
                  <a:pt x="0" y="356"/>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5" name="Line 142"/>
          <p:cNvSpPr>
            <a:spLocks noChangeShapeType="1"/>
          </p:cNvSpPr>
          <p:nvPr/>
        </p:nvSpPr>
        <p:spPr bwMode="auto">
          <a:xfrm>
            <a:off x="2808437" y="5118459"/>
            <a:ext cx="111125" cy="41275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96" name="Line 143"/>
          <p:cNvSpPr>
            <a:spLocks noChangeShapeType="1"/>
          </p:cNvSpPr>
          <p:nvPr/>
        </p:nvSpPr>
        <p:spPr bwMode="auto">
          <a:xfrm flipH="1">
            <a:off x="3484712" y="5142271"/>
            <a:ext cx="112713" cy="38735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97" name="Oval 148"/>
          <p:cNvSpPr>
            <a:spLocks noChangeArrowheads="1"/>
          </p:cNvSpPr>
          <p:nvPr/>
        </p:nvSpPr>
        <p:spPr bwMode="auto">
          <a:xfrm>
            <a:off x="3000524" y="40516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B</a:t>
            </a:r>
          </a:p>
        </p:txBody>
      </p:sp>
      <p:sp>
        <p:nvSpPr>
          <p:cNvPr id="98" name="Oval 149"/>
          <p:cNvSpPr>
            <a:spLocks noChangeArrowheads="1"/>
          </p:cNvSpPr>
          <p:nvPr/>
        </p:nvSpPr>
        <p:spPr bwMode="auto">
          <a:xfrm>
            <a:off x="5163839" y="40516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C</a:t>
            </a:r>
          </a:p>
        </p:txBody>
      </p:sp>
      <p:sp>
        <p:nvSpPr>
          <p:cNvPr id="99" name="Oval 150"/>
          <p:cNvSpPr>
            <a:spLocks noChangeArrowheads="1"/>
          </p:cNvSpPr>
          <p:nvPr/>
        </p:nvSpPr>
        <p:spPr bwMode="auto">
          <a:xfrm>
            <a:off x="2514749"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D</a:t>
            </a:r>
          </a:p>
        </p:txBody>
      </p:sp>
      <p:sp>
        <p:nvSpPr>
          <p:cNvPr id="100" name="Oval 151"/>
          <p:cNvSpPr>
            <a:spLocks noChangeArrowheads="1"/>
          </p:cNvSpPr>
          <p:nvPr/>
        </p:nvSpPr>
        <p:spPr bwMode="auto">
          <a:xfrm>
            <a:off x="3487886"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E</a:t>
            </a:r>
          </a:p>
        </p:txBody>
      </p:sp>
      <p:sp>
        <p:nvSpPr>
          <p:cNvPr id="101" name="Oval 152"/>
          <p:cNvSpPr>
            <a:spLocks noChangeArrowheads="1"/>
          </p:cNvSpPr>
          <p:nvPr/>
        </p:nvSpPr>
        <p:spPr bwMode="auto">
          <a:xfrm>
            <a:off x="4708227" y="4791434"/>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F</a:t>
            </a:r>
          </a:p>
        </p:txBody>
      </p:sp>
      <p:sp>
        <p:nvSpPr>
          <p:cNvPr id="102" name="Oval 153"/>
          <p:cNvSpPr>
            <a:spLocks noChangeArrowheads="1"/>
          </p:cNvSpPr>
          <p:nvPr/>
        </p:nvSpPr>
        <p:spPr bwMode="auto">
          <a:xfrm>
            <a:off x="5711527"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G</a:t>
            </a:r>
          </a:p>
        </p:txBody>
      </p:sp>
      <p:sp>
        <p:nvSpPr>
          <p:cNvPr id="103" name="Oval 154"/>
          <p:cNvSpPr>
            <a:spLocks noChangeArrowheads="1"/>
          </p:cNvSpPr>
          <p:nvPr/>
        </p:nvSpPr>
        <p:spPr bwMode="auto">
          <a:xfrm>
            <a:off x="2249636" y="5497872"/>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H</a:t>
            </a:r>
          </a:p>
        </p:txBody>
      </p:sp>
      <p:sp>
        <p:nvSpPr>
          <p:cNvPr id="104" name="Oval 155"/>
          <p:cNvSpPr>
            <a:spLocks noChangeArrowheads="1"/>
          </p:cNvSpPr>
          <p:nvPr/>
        </p:nvSpPr>
        <p:spPr bwMode="auto">
          <a:xfrm>
            <a:off x="2736999" y="5510572"/>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6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I</a:t>
            </a:r>
          </a:p>
        </p:txBody>
      </p:sp>
      <p:sp>
        <p:nvSpPr>
          <p:cNvPr id="105" name="Oval 156"/>
          <p:cNvSpPr>
            <a:spLocks noChangeArrowheads="1"/>
          </p:cNvSpPr>
          <p:nvPr/>
        </p:nvSpPr>
        <p:spPr bwMode="auto">
          <a:xfrm>
            <a:off x="3267224" y="55121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J</a:t>
            </a:r>
          </a:p>
        </p:txBody>
      </p:sp>
      <p:grpSp>
        <p:nvGrpSpPr>
          <p:cNvPr id="106" name="Group 171"/>
          <p:cNvGrpSpPr>
            <a:grpSpLocks/>
          </p:cNvGrpSpPr>
          <p:nvPr/>
        </p:nvGrpSpPr>
        <p:grpSpPr bwMode="auto">
          <a:xfrm>
            <a:off x="3740299" y="5118459"/>
            <a:ext cx="468312" cy="1173162"/>
            <a:chOff x="3871" y="1745"/>
            <a:chExt cx="295" cy="739"/>
          </a:xfrm>
        </p:grpSpPr>
        <p:sp>
          <p:nvSpPr>
            <p:cNvPr id="107" name="Line 140"/>
            <p:cNvSpPr>
              <a:spLocks noChangeShapeType="1"/>
            </p:cNvSpPr>
            <p:nvPr/>
          </p:nvSpPr>
          <p:spPr bwMode="auto">
            <a:xfrm>
              <a:off x="3903" y="1745"/>
              <a:ext cx="73" cy="259"/>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08" name="Oval 157"/>
            <p:cNvSpPr>
              <a:spLocks noChangeArrowheads="1"/>
            </p:cNvSpPr>
            <p:nvPr/>
          </p:nvSpPr>
          <p:spPr bwMode="auto">
            <a:xfrm>
              <a:off x="3871" y="1994"/>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K</a:t>
              </a:r>
            </a:p>
          </p:txBody>
        </p:sp>
        <p:sp>
          <p:nvSpPr>
            <p:cNvPr id="109" name="Text Box 162"/>
            <p:cNvSpPr txBox="1">
              <a:spLocks noChangeArrowheads="1"/>
            </p:cNvSpPr>
            <p:nvPr/>
          </p:nvSpPr>
          <p:spPr bwMode="auto">
            <a:xfrm>
              <a:off x="3924" y="2257"/>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1</a:t>
              </a:r>
            </a:p>
          </p:txBody>
        </p:sp>
      </p:grpSp>
      <p:grpSp>
        <p:nvGrpSpPr>
          <p:cNvPr id="110" name="Group 170"/>
          <p:cNvGrpSpPr>
            <a:grpSpLocks/>
          </p:cNvGrpSpPr>
          <p:nvPr/>
        </p:nvGrpSpPr>
        <p:grpSpPr bwMode="auto">
          <a:xfrm>
            <a:off x="4428827" y="5142272"/>
            <a:ext cx="431800" cy="1135063"/>
            <a:chOff x="4493" y="1760"/>
            <a:chExt cx="272" cy="715"/>
          </a:xfrm>
        </p:grpSpPr>
        <p:sp>
          <p:nvSpPr>
            <p:cNvPr id="111" name="Line 144"/>
            <p:cNvSpPr>
              <a:spLocks noChangeShapeType="1"/>
            </p:cNvSpPr>
            <p:nvPr/>
          </p:nvSpPr>
          <p:spPr bwMode="auto">
            <a:xfrm flipH="1">
              <a:off x="4633" y="1760"/>
              <a:ext cx="103" cy="25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12" name="Oval 158"/>
            <p:cNvSpPr>
              <a:spLocks noChangeArrowheads="1"/>
            </p:cNvSpPr>
            <p:nvPr/>
          </p:nvSpPr>
          <p:spPr bwMode="auto">
            <a:xfrm>
              <a:off x="4493" y="198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L</a:t>
              </a:r>
            </a:p>
          </p:txBody>
        </p:sp>
        <p:sp>
          <p:nvSpPr>
            <p:cNvPr id="113" name="Text Box 163"/>
            <p:cNvSpPr txBox="1">
              <a:spLocks noChangeArrowheads="1"/>
            </p:cNvSpPr>
            <p:nvPr/>
          </p:nvSpPr>
          <p:spPr bwMode="auto">
            <a:xfrm>
              <a:off x="4510"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2</a:t>
              </a:r>
            </a:p>
          </p:txBody>
        </p:sp>
      </p:grpSp>
      <p:grpSp>
        <p:nvGrpSpPr>
          <p:cNvPr id="114" name="Group 169"/>
          <p:cNvGrpSpPr>
            <a:grpSpLocks/>
          </p:cNvGrpSpPr>
          <p:nvPr/>
        </p:nvGrpSpPr>
        <p:grpSpPr bwMode="auto">
          <a:xfrm>
            <a:off x="4946352" y="5118459"/>
            <a:ext cx="431800" cy="1160462"/>
            <a:chOff x="4819" y="1745"/>
            <a:chExt cx="272" cy="731"/>
          </a:xfrm>
        </p:grpSpPr>
        <p:sp>
          <p:nvSpPr>
            <p:cNvPr id="115" name="Line 145"/>
            <p:cNvSpPr>
              <a:spLocks noChangeShapeType="1"/>
            </p:cNvSpPr>
            <p:nvPr/>
          </p:nvSpPr>
          <p:spPr bwMode="auto">
            <a:xfrm>
              <a:off x="4831" y="1745"/>
              <a:ext cx="110" cy="26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16" name="Oval 159"/>
            <p:cNvSpPr>
              <a:spLocks noChangeArrowheads="1"/>
            </p:cNvSpPr>
            <p:nvPr/>
          </p:nvSpPr>
          <p:spPr bwMode="auto">
            <a:xfrm>
              <a:off x="4819" y="198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M</a:t>
              </a:r>
            </a:p>
          </p:txBody>
        </p:sp>
        <p:sp>
          <p:nvSpPr>
            <p:cNvPr id="117" name="Text Box 164"/>
            <p:cNvSpPr txBox="1">
              <a:spLocks noChangeArrowheads="1"/>
            </p:cNvSpPr>
            <p:nvPr/>
          </p:nvSpPr>
          <p:spPr bwMode="auto">
            <a:xfrm>
              <a:off x="4835" y="2249"/>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3</a:t>
              </a:r>
            </a:p>
          </p:txBody>
        </p:sp>
      </p:grpSp>
      <p:grpSp>
        <p:nvGrpSpPr>
          <p:cNvPr id="118" name="Group 168"/>
          <p:cNvGrpSpPr>
            <a:grpSpLocks/>
          </p:cNvGrpSpPr>
          <p:nvPr/>
        </p:nvGrpSpPr>
        <p:grpSpPr bwMode="auto">
          <a:xfrm>
            <a:off x="5457528" y="5167672"/>
            <a:ext cx="434975" cy="1109663"/>
            <a:chOff x="5141" y="1776"/>
            <a:chExt cx="274" cy="699"/>
          </a:xfrm>
        </p:grpSpPr>
        <p:sp>
          <p:nvSpPr>
            <p:cNvPr id="119" name="Line 146"/>
            <p:cNvSpPr>
              <a:spLocks noChangeShapeType="1"/>
            </p:cNvSpPr>
            <p:nvPr/>
          </p:nvSpPr>
          <p:spPr bwMode="auto">
            <a:xfrm flipH="1">
              <a:off x="5295" y="1776"/>
              <a:ext cx="100" cy="22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20" name="Oval 160"/>
            <p:cNvSpPr>
              <a:spLocks noChangeArrowheads="1"/>
            </p:cNvSpPr>
            <p:nvPr/>
          </p:nvSpPr>
          <p:spPr bwMode="auto">
            <a:xfrm>
              <a:off x="5143" y="199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N</a:t>
              </a:r>
            </a:p>
          </p:txBody>
        </p:sp>
        <p:sp>
          <p:nvSpPr>
            <p:cNvPr id="121" name="Text Box 165"/>
            <p:cNvSpPr txBox="1">
              <a:spLocks noChangeArrowheads="1"/>
            </p:cNvSpPr>
            <p:nvPr/>
          </p:nvSpPr>
          <p:spPr bwMode="auto">
            <a:xfrm>
              <a:off x="5141"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4</a:t>
              </a:r>
            </a:p>
          </p:txBody>
        </p:sp>
      </p:grpSp>
      <p:grpSp>
        <p:nvGrpSpPr>
          <p:cNvPr id="122" name="Group 167"/>
          <p:cNvGrpSpPr>
            <a:grpSpLocks/>
          </p:cNvGrpSpPr>
          <p:nvPr/>
        </p:nvGrpSpPr>
        <p:grpSpPr bwMode="auto">
          <a:xfrm>
            <a:off x="5949652" y="5161322"/>
            <a:ext cx="438150" cy="1116013"/>
            <a:chOff x="5451" y="1772"/>
            <a:chExt cx="276" cy="703"/>
          </a:xfrm>
        </p:grpSpPr>
        <p:sp>
          <p:nvSpPr>
            <p:cNvPr id="123" name="Line 147"/>
            <p:cNvSpPr>
              <a:spLocks noChangeShapeType="1"/>
            </p:cNvSpPr>
            <p:nvPr/>
          </p:nvSpPr>
          <p:spPr bwMode="auto">
            <a:xfrm>
              <a:off x="5499" y="1772"/>
              <a:ext cx="99" cy="22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24" name="Oval 161"/>
            <p:cNvSpPr>
              <a:spLocks noChangeArrowheads="1"/>
            </p:cNvSpPr>
            <p:nvPr/>
          </p:nvSpPr>
          <p:spPr bwMode="auto">
            <a:xfrm>
              <a:off x="5451" y="199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O</a:t>
              </a:r>
            </a:p>
          </p:txBody>
        </p:sp>
        <p:sp>
          <p:nvSpPr>
            <p:cNvPr id="125" name="Text Box 166"/>
            <p:cNvSpPr txBox="1">
              <a:spLocks noChangeArrowheads="1"/>
            </p:cNvSpPr>
            <p:nvPr/>
          </p:nvSpPr>
          <p:spPr bwMode="auto">
            <a:xfrm>
              <a:off x="5485"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5</a:t>
              </a:r>
            </a:p>
          </p:txBody>
        </p:sp>
      </p:grpSp>
      <p:grpSp>
        <p:nvGrpSpPr>
          <p:cNvPr id="126" name="Group 42"/>
          <p:cNvGrpSpPr>
            <a:grpSpLocks/>
          </p:cNvGrpSpPr>
          <p:nvPr/>
        </p:nvGrpSpPr>
        <p:grpSpPr bwMode="auto">
          <a:xfrm>
            <a:off x="6977063" y="3933378"/>
            <a:ext cx="2971800" cy="1524000"/>
            <a:chOff x="3120" y="1104"/>
            <a:chExt cx="1872" cy="960"/>
          </a:xfrm>
          <a:solidFill>
            <a:srgbClr val="FF0000"/>
          </a:solidFill>
        </p:grpSpPr>
        <p:sp>
          <p:nvSpPr>
            <p:cNvPr id="127" name="Oval 43"/>
            <p:cNvSpPr>
              <a:spLocks noChangeArrowheads="1"/>
            </p:cNvSpPr>
            <p:nvPr/>
          </p:nvSpPr>
          <p:spPr bwMode="auto">
            <a:xfrm>
              <a:off x="4128" y="1104"/>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128" name="Oval 44"/>
            <p:cNvSpPr>
              <a:spLocks noChangeArrowheads="1"/>
            </p:cNvSpPr>
            <p:nvPr/>
          </p:nvSpPr>
          <p:spPr bwMode="auto">
            <a:xfrm>
              <a:off x="3504" y="1488"/>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129" name="Oval 45"/>
            <p:cNvSpPr>
              <a:spLocks noChangeArrowheads="1"/>
            </p:cNvSpPr>
            <p:nvPr/>
          </p:nvSpPr>
          <p:spPr bwMode="auto">
            <a:xfrm>
              <a:off x="3120" y="1824"/>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130" name="Oval 46"/>
            <p:cNvSpPr>
              <a:spLocks noChangeArrowheads="1"/>
            </p:cNvSpPr>
            <p:nvPr/>
          </p:nvSpPr>
          <p:spPr bwMode="auto">
            <a:xfrm>
              <a:off x="4752" y="1488"/>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131" name="AutoShape 47"/>
            <p:cNvCxnSpPr>
              <a:cxnSpLocks noChangeShapeType="1"/>
              <a:stCxn id="127" idx="3"/>
              <a:endCxn id="128" idx="7"/>
            </p:cNvCxnSpPr>
            <p:nvPr/>
          </p:nvCxnSpPr>
          <p:spPr bwMode="auto">
            <a:xfrm flipH="1">
              <a:off x="3709" y="1309"/>
              <a:ext cx="454" cy="214"/>
            </a:xfrm>
            <a:prstGeom prst="straightConnector1">
              <a:avLst/>
            </a:prstGeom>
            <a:grpFill/>
            <a:ln w="9525">
              <a:solidFill>
                <a:schemeClr val="tx1"/>
              </a:solidFill>
              <a:miter lim="800000"/>
              <a:headEnd/>
              <a:tailEnd/>
            </a:ln>
          </p:spPr>
        </p:cxnSp>
        <p:cxnSp>
          <p:nvCxnSpPr>
            <p:cNvPr id="132" name="AutoShape 48"/>
            <p:cNvCxnSpPr>
              <a:cxnSpLocks noChangeShapeType="1"/>
              <a:stCxn id="128" idx="3"/>
              <a:endCxn id="129" idx="7"/>
            </p:cNvCxnSpPr>
            <p:nvPr/>
          </p:nvCxnSpPr>
          <p:spPr bwMode="auto">
            <a:xfrm flipH="1">
              <a:off x="3325" y="1693"/>
              <a:ext cx="214" cy="166"/>
            </a:xfrm>
            <a:prstGeom prst="straightConnector1">
              <a:avLst/>
            </a:prstGeom>
            <a:grpFill/>
            <a:ln w="9525">
              <a:solidFill>
                <a:schemeClr val="tx1"/>
              </a:solidFill>
              <a:miter lim="800000"/>
              <a:headEnd/>
              <a:tailEnd/>
            </a:ln>
          </p:spPr>
        </p:cxnSp>
        <p:cxnSp>
          <p:nvCxnSpPr>
            <p:cNvPr id="133" name="AutoShape 49"/>
            <p:cNvCxnSpPr>
              <a:cxnSpLocks noChangeShapeType="1"/>
              <a:stCxn id="127" idx="5"/>
              <a:endCxn id="130" idx="1"/>
            </p:cNvCxnSpPr>
            <p:nvPr/>
          </p:nvCxnSpPr>
          <p:spPr bwMode="auto">
            <a:xfrm>
              <a:off x="4333" y="1309"/>
              <a:ext cx="454" cy="214"/>
            </a:xfrm>
            <a:prstGeom prst="straightConnector1">
              <a:avLst/>
            </a:prstGeom>
            <a:grpFill/>
            <a:ln w="9525">
              <a:solidFill>
                <a:schemeClr val="tx1"/>
              </a:solidFill>
              <a:miter lim="800000"/>
              <a:headEnd/>
              <a:tailEnd/>
            </a:ln>
          </p:spPr>
        </p:cxnSp>
      </p:grpSp>
      <p:sp>
        <p:nvSpPr>
          <p:cNvPr id="144" name="Text Box 50"/>
          <p:cNvSpPr txBox="1">
            <a:spLocks noChangeArrowheads="1"/>
          </p:cNvSpPr>
          <p:nvPr/>
        </p:nvSpPr>
        <p:spPr bwMode="auto">
          <a:xfrm>
            <a:off x="7172449" y="5549170"/>
            <a:ext cx="32590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zh-CN" altLang="en-US" sz="2000" dirty="0">
                <a:latin typeface="微软雅黑" pitchFamily="34" charset="-122"/>
                <a:ea typeface="微软雅黑" pitchFamily="34" charset="-122"/>
                <a:cs typeface="经典粗黑简" pitchFamily="49" charset="-122"/>
              </a:rPr>
              <a:t>高度为</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的一个完全二叉树</a:t>
            </a:r>
          </a:p>
        </p:txBody>
      </p:sp>
      <p:sp>
        <p:nvSpPr>
          <p:cNvPr id="145" name="Text Box 124"/>
          <p:cNvSpPr txBox="1">
            <a:spLocks noChangeArrowheads="1"/>
          </p:cNvSpPr>
          <p:nvPr/>
        </p:nvSpPr>
        <p:spPr bwMode="auto">
          <a:xfrm>
            <a:off x="9020856" y="3905650"/>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1</a:t>
            </a:r>
          </a:p>
        </p:txBody>
      </p:sp>
      <p:sp>
        <p:nvSpPr>
          <p:cNvPr id="146" name="Text Box 126"/>
          <p:cNvSpPr txBox="1">
            <a:spLocks noChangeArrowheads="1"/>
          </p:cNvSpPr>
          <p:nvPr/>
        </p:nvSpPr>
        <p:spPr bwMode="auto">
          <a:xfrm>
            <a:off x="8040410" y="4587441"/>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2</a:t>
            </a:r>
          </a:p>
        </p:txBody>
      </p:sp>
      <p:sp>
        <p:nvSpPr>
          <p:cNvPr id="147" name="Text Box 127"/>
          <p:cNvSpPr txBox="1">
            <a:spLocks noChangeArrowheads="1"/>
          </p:cNvSpPr>
          <p:nvPr/>
        </p:nvSpPr>
        <p:spPr bwMode="auto">
          <a:xfrm>
            <a:off x="10037094" y="4553297"/>
            <a:ext cx="2460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3</a:t>
            </a:r>
          </a:p>
        </p:txBody>
      </p:sp>
      <p:sp>
        <p:nvSpPr>
          <p:cNvPr id="148" name="Text Box 128"/>
          <p:cNvSpPr txBox="1">
            <a:spLocks noChangeArrowheads="1"/>
          </p:cNvSpPr>
          <p:nvPr/>
        </p:nvSpPr>
        <p:spPr bwMode="auto">
          <a:xfrm>
            <a:off x="7527709" y="511845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4</a:t>
            </a:r>
          </a:p>
        </p:txBody>
      </p:sp>
      <p:sp>
        <p:nvSpPr>
          <p:cNvPr id="149" name="Text Box 176"/>
          <p:cNvSpPr txBox="1">
            <a:spLocks noChangeArrowheads="1"/>
          </p:cNvSpPr>
          <p:nvPr/>
        </p:nvSpPr>
        <p:spPr bwMode="auto">
          <a:xfrm>
            <a:off x="2379876" y="5924973"/>
            <a:ext cx="269746"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en-US" altLang="zh-CN" sz="2400" b="1" dirty="0">
                <a:latin typeface="Times New Roman" pitchFamily="18" charset="0"/>
              </a:rPr>
              <a:t>8</a:t>
            </a:r>
          </a:p>
        </p:txBody>
      </p:sp>
      <p:sp>
        <p:nvSpPr>
          <p:cNvPr id="2" name="矩形 1">
            <a:extLst>
              <a:ext uri="{FF2B5EF4-FFF2-40B4-BE49-F238E27FC236}">
                <a16:creationId xmlns:a16="http://schemas.microsoft.com/office/drawing/2014/main" xmlns="" id="{F1ACA746-40C3-F5E5-B6E9-232E93513B78}"/>
              </a:ext>
            </a:extLst>
          </p:cNvPr>
          <p:cNvSpPr/>
          <p:nvPr/>
        </p:nvSpPr>
        <p:spPr>
          <a:xfrm>
            <a:off x="983432" y="1569472"/>
            <a:ext cx="2492990"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两种特殊的二叉树：</a:t>
            </a:r>
          </a:p>
        </p:txBody>
      </p:sp>
      <p:sp>
        <p:nvSpPr>
          <p:cNvPr id="4" name="矩形 3">
            <a:extLst>
              <a:ext uri="{FF2B5EF4-FFF2-40B4-BE49-F238E27FC236}">
                <a16:creationId xmlns:a16="http://schemas.microsoft.com/office/drawing/2014/main" xmlns="" id="{1A01C708-5D32-DE33-F414-25CD55B5C885}"/>
              </a:ext>
            </a:extLst>
          </p:cNvPr>
          <p:cNvSpPr/>
          <p:nvPr/>
        </p:nvSpPr>
        <p:spPr>
          <a:xfrm>
            <a:off x="1496393" y="2087351"/>
            <a:ext cx="179889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 ②完全二叉树</a:t>
            </a:r>
            <a:endParaRPr lang="zh-CN" altLang="en-US" sz="2000" dirty="0"/>
          </a:p>
        </p:txBody>
      </p:sp>
      <p:sp>
        <p:nvSpPr>
          <p:cNvPr id="5" name="矩形 4">
            <a:extLst>
              <a:ext uri="{FF2B5EF4-FFF2-40B4-BE49-F238E27FC236}">
                <a16:creationId xmlns:a16="http://schemas.microsoft.com/office/drawing/2014/main" xmlns="" id="{A24987F6-D9CE-ACD7-1A90-0C721D7FBAC2}"/>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6" name="Rectangle 2">
            <a:extLst>
              <a:ext uri="{FF2B5EF4-FFF2-40B4-BE49-F238E27FC236}">
                <a16:creationId xmlns:a16="http://schemas.microsoft.com/office/drawing/2014/main" xmlns="" id="{3341BD40-6AD7-2A30-259A-B642693D1AF5}"/>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7" name="直接连接符 6">
            <a:extLst>
              <a:ext uri="{FF2B5EF4-FFF2-40B4-BE49-F238E27FC236}">
                <a16:creationId xmlns:a16="http://schemas.microsoft.com/office/drawing/2014/main" xmlns="" id="{F36B0D22-0952-1BB1-7347-C2273510EDD8}"/>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323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0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1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2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4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2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4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4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4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9" grpId="0" animBg="1"/>
      <p:bldP spid="60" grpId="0"/>
      <p:bldP spid="61" grpId="0"/>
      <p:bldP spid="62" grpId="0"/>
      <p:bldP spid="63" grpId="0"/>
      <p:bldP spid="64" grpId="0"/>
      <p:bldP spid="65" grpId="0"/>
      <p:bldP spid="66" grpId="0"/>
      <p:bldP spid="67" grpId="0"/>
      <p:bldP spid="68" grpId="0"/>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44" grpId="0"/>
      <p:bldP spid="145" grpId="0"/>
      <p:bldP spid="146" grpId="0"/>
      <p:bldP spid="147" grpId="0"/>
      <p:bldP spid="148" grpId="0"/>
      <p:bldP spid="14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Oval 123"/>
          <p:cNvSpPr>
            <a:spLocks noChangeArrowheads="1"/>
          </p:cNvSpPr>
          <p:nvPr/>
        </p:nvSpPr>
        <p:spPr bwMode="auto">
          <a:xfrm>
            <a:off x="4088179" y="3609515"/>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A</a:t>
            </a:r>
          </a:p>
        </p:txBody>
      </p:sp>
      <p:sp>
        <p:nvSpPr>
          <p:cNvPr id="60" name="Text Box 124"/>
          <p:cNvSpPr txBox="1">
            <a:spLocks noChangeArrowheads="1"/>
          </p:cNvSpPr>
          <p:nvPr/>
        </p:nvSpPr>
        <p:spPr bwMode="auto">
          <a:xfrm>
            <a:off x="4804143" y="3573016"/>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1</a:t>
            </a:r>
          </a:p>
        </p:txBody>
      </p:sp>
      <p:sp>
        <p:nvSpPr>
          <p:cNvPr id="61" name="Text Box 125"/>
          <p:cNvSpPr txBox="1">
            <a:spLocks noChangeArrowheads="1"/>
          </p:cNvSpPr>
          <p:nvPr/>
        </p:nvSpPr>
        <p:spPr bwMode="auto">
          <a:xfrm>
            <a:off x="4037161" y="4756509"/>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5</a:t>
            </a:r>
          </a:p>
        </p:txBody>
      </p:sp>
      <p:sp>
        <p:nvSpPr>
          <p:cNvPr id="62" name="Text Box 126"/>
          <p:cNvSpPr txBox="1">
            <a:spLocks noChangeArrowheads="1"/>
          </p:cNvSpPr>
          <p:nvPr/>
        </p:nvSpPr>
        <p:spPr bwMode="auto">
          <a:xfrm>
            <a:off x="3546625" y="4034197"/>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2</a:t>
            </a:r>
          </a:p>
        </p:txBody>
      </p:sp>
      <p:sp>
        <p:nvSpPr>
          <p:cNvPr id="63" name="Text Box 127"/>
          <p:cNvSpPr txBox="1">
            <a:spLocks noChangeArrowheads="1"/>
          </p:cNvSpPr>
          <p:nvPr/>
        </p:nvSpPr>
        <p:spPr bwMode="auto">
          <a:xfrm>
            <a:off x="5702002" y="4034197"/>
            <a:ext cx="2460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3</a:t>
            </a:r>
          </a:p>
        </p:txBody>
      </p:sp>
      <p:sp>
        <p:nvSpPr>
          <p:cNvPr id="64" name="Text Box 128"/>
          <p:cNvSpPr txBox="1">
            <a:spLocks noChangeArrowheads="1"/>
          </p:cNvSpPr>
          <p:nvPr/>
        </p:nvSpPr>
        <p:spPr bwMode="auto">
          <a:xfrm>
            <a:off x="3057675" y="475650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4</a:t>
            </a:r>
          </a:p>
        </p:txBody>
      </p:sp>
      <p:sp>
        <p:nvSpPr>
          <p:cNvPr id="65" name="Text Box 129"/>
          <p:cNvSpPr txBox="1">
            <a:spLocks noChangeArrowheads="1"/>
          </p:cNvSpPr>
          <p:nvPr/>
        </p:nvSpPr>
        <p:spPr bwMode="auto">
          <a:xfrm>
            <a:off x="5213053" y="475650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6</a:t>
            </a:r>
          </a:p>
        </p:txBody>
      </p:sp>
      <p:sp>
        <p:nvSpPr>
          <p:cNvPr id="66" name="Text Box 130"/>
          <p:cNvSpPr txBox="1">
            <a:spLocks noChangeArrowheads="1"/>
          </p:cNvSpPr>
          <p:nvPr/>
        </p:nvSpPr>
        <p:spPr bwMode="auto">
          <a:xfrm>
            <a:off x="6294804" y="4977940"/>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7</a:t>
            </a:r>
          </a:p>
        </p:txBody>
      </p:sp>
      <p:sp>
        <p:nvSpPr>
          <p:cNvPr id="67" name="Text Box 132"/>
          <p:cNvSpPr txBox="1">
            <a:spLocks noChangeArrowheads="1"/>
          </p:cNvSpPr>
          <p:nvPr/>
        </p:nvSpPr>
        <p:spPr bwMode="auto">
          <a:xfrm>
            <a:off x="2843362" y="5931259"/>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9</a:t>
            </a:r>
          </a:p>
        </p:txBody>
      </p:sp>
      <p:sp>
        <p:nvSpPr>
          <p:cNvPr id="68" name="Text Box 133"/>
          <p:cNvSpPr txBox="1">
            <a:spLocks noChangeArrowheads="1"/>
          </p:cNvSpPr>
          <p:nvPr/>
        </p:nvSpPr>
        <p:spPr bwMode="auto">
          <a:xfrm>
            <a:off x="3295800" y="5931259"/>
            <a:ext cx="3841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10</a:t>
            </a:r>
          </a:p>
        </p:txBody>
      </p:sp>
      <p:sp>
        <p:nvSpPr>
          <p:cNvPr id="88" name="Line 134"/>
          <p:cNvSpPr>
            <a:spLocks noChangeShapeType="1"/>
          </p:cNvSpPr>
          <p:nvPr/>
        </p:nvSpPr>
        <p:spPr bwMode="auto">
          <a:xfrm flipH="1">
            <a:off x="3344435" y="3849228"/>
            <a:ext cx="743744" cy="246856"/>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89" name="Freeform 135"/>
          <p:cNvSpPr>
            <a:spLocks/>
          </p:cNvSpPr>
          <p:nvPr/>
        </p:nvSpPr>
        <p:spPr bwMode="auto">
          <a:xfrm>
            <a:off x="4423143" y="3803191"/>
            <a:ext cx="740697" cy="411187"/>
          </a:xfrm>
          <a:custGeom>
            <a:avLst/>
            <a:gdLst>
              <a:gd name="T0" fmla="*/ 0 w 767"/>
              <a:gd name="T1" fmla="*/ 0 h 488"/>
              <a:gd name="T2" fmla="*/ 2147483647 w 767"/>
              <a:gd name="T3" fmla="*/ 2147483647 h 488"/>
              <a:gd name="T4" fmla="*/ 0 60000 65536"/>
              <a:gd name="T5" fmla="*/ 0 60000 65536"/>
            </a:gdLst>
            <a:ahLst/>
            <a:cxnLst>
              <a:cxn ang="T4">
                <a:pos x="T0" y="T1"/>
              </a:cxn>
              <a:cxn ang="T5">
                <a:pos x="T2" y="T3"/>
              </a:cxn>
            </a:cxnLst>
            <a:rect l="0" t="0" r="r" b="b"/>
            <a:pathLst>
              <a:path w="767" h="488">
                <a:moveTo>
                  <a:pt x="0" y="0"/>
                </a:moveTo>
                <a:lnTo>
                  <a:pt x="767" y="488"/>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0" name="Freeform 136"/>
          <p:cNvSpPr>
            <a:spLocks/>
          </p:cNvSpPr>
          <p:nvPr/>
        </p:nvSpPr>
        <p:spPr bwMode="auto">
          <a:xfrm>
            <a:off x="2773511" y="4342171"/>
            <a:ext cx="311150" cy="490538"/>
          </a:xfrm>
          <a:custGeom>
            <a:avLst/>
            <a:gdLst>
              <a:gd name="T0" fmla="*/ 2147483647 w 259"/>
              <a:gd name="T1" fmla="*/ 0 h 421"/>
              <a:gd name="T2" fmla="*/ 0 w 259"/>
              <a:gd name="T3" fmla="*/ 2147483647 h 421"/>
              <a:gd name="T4" fmla="*/ 0 60000 65536"/>
              <a:gd name="T5" fmla="*/ 0 60000 65536"/>
            </a:gdLst>
            <a:ahLst/>
            <a:cxnLst>
              <a:cxn ang="T4">
                <a:pos x="T0" y="T1"/>
              </a:cxn>
              <a:cxn ang="T5">
                <a:pos x="T2" y="T3"/>
              </a:cxn>
            </a:cxnLst>
            <a:rect l="0" t="0" r="r" b="b"/>
            <a:pathLst>
              <a:path w="259" h="421">
                <a:moveTo>
                  <a:pt x="259"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1" name="Freeform 137"/>
          <p:cNvSpPr>
            <a:spLocks/>
          </p:cNvSpPr>
          <p:nvPr/>
        </p:nvSpPr>
        <p:spPr bwMode="auto">
          <a:xfrm>
            <a:off x="3375175" y="4342171"/>
            <a:ext cx="268287" cy="490538"/>
          </a:xfrm>
          <a:custGeom>
            <a:avLst/>
            <a:gdLst>
              <a:gd name="T0" fmla="*/ 0 w 222"/>
              <a:gd name="T1" fmla="*/ 0 h 421"/>
              <a:gd name="T2" fmla="*/ 2147483647 w 222"/>
              <a:gd name="T3" fmla="*/ 2147483647 h 421"/>
              <a:gd name="T4" fmla="*/ 0 60000 65536"/>
              <a:gd name="T5" fmla="*/ 0 60000 65536"/>
            </a:gdLst>
            <a:ahLst/>
            <a:cxnLst>
              <a:cxn ang="T4">
                <a:pos x="T0" y="T1"/>
              </a:cxn>
              <a:cxn ang="T5">
                <a:pos x="T2" y="T3"/>
              </a:cxn>
            </a:cxnLst>
            <a:rect l="0" t="0" r="r" b="b"/>
            <a:pathLst>
              <a:path w="222" h="421">
                <a:moveTo>
                  <a:pt x="0" y="0"/>
                </a:moveTo>
                <a:lnTo>
                  <a:pt x="222"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2" name="Freeform 138"/>
          <p:cNvSpPr>
            <a:spLocks/>
          </p:cNvSpPr>
          <p:nvPr/>
        </p:nvSpPr>
        <p:spPr bwMode="auto">
          <a:xfrm>
            <a:off x="4976514" y="4359634"/>
            <a:ext cx="273050" cy="488950"/>
          </a:xfrm>
          <a:custGeom>
            <a:avLst/>
            <a:gdLst>
              <a:gd name="T0" fmla="*/ 2147483647 w 226"/>
              <a:gd name="T1" fmla="*/ 0 h 421"/>
              <a:gd name="T2" fmla="*/ 0 w 226"/>
              <a:gd name="T3" fmla="*/ 2147483647 h 421"/>
              <a:gd name="T4" fmla="*/ 0 60000 65536"/>
              <a:gd name="T5" fmla="*/ 0 60000 65536"/>
            </a:gdLst>
            <a:ahLst/>
            <a:cxnLst>
              <a:cxn ang="T4">
                <a:pos x="T0" y="T1"/>
              </a:cxn>
              <a:cxn ang="T5">
                <a:pos x="T2" y="T3"/>
              </a:cxn>
            </a:cxnLst>
            <a:rect l="0" t="0" r="r" b="b"/>
            <a:pathLst>
              <a:path w="226" h="421">
                <a:moveTo>
                  <a:pt x="226"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3" name="Line 139"/>
          <p:cNvSpPr>
            <a:spLocks noChangeShapeType="1"/>
          </p:cNvSpPr>
          <p:nvPr/>
        </p:nvSpPr>
        <p:spPr bwMode="auto">
          <a:xfrm>
            <a:off x="5511502" y="4359635"/>
            <a:ext cx="317500" cy="466725"/>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94" name="Freeform 141"/>
          <p:cNvSpPr>
            <a:spLocks/>
          </p:cNvSpPr>
          <p:nvPr/>
        </p:nvSpPr>
        <p:spPr bwMode="auto">
          <a:xfrm>
            <a:off x="2482999" y="5131159"/>
            <a:ext cx="144462" cy="411162"/>
          </a:xfrm>
          <a:custGeom>
            <a:avLst/>
            <a:gdLst>
              <a:gd name="T0" fmla="*/ 2147483647 w 119"/>
              <a:gd name="T1" fmla="*/ 0 h 356"/>
              <a:gd name="T2" fmla="*/ 0 w 119"/>
              <a:gd name="T3" fmla="*/ 2147483647 h 356"/>
              <a:gd name="T4" fmla="*/ 0 60000 65536"/>
              <a:gd name="T5" fmla="*/ 0 60000 65536"/>
            </a:gdLst>
            <a:ahLst/>
            <a:cxnLst>
              <a:cxn ang="T4">
                <a:pos x="T0" y="T1"/>
              </a:cxn>
              <a:cxn ang="T5">
                <a:pos x="T2" y="T3"/>
              </a:cxn>
            </a:cxnLst>
            <a:rect l="0" t="0" r="r" b="b"/>
            <a:pathLst>
              <a:path w="119" h="356">
                <a:moveTo>
                  <a:pt x="119" y="0"/>
                </a:moveTo>
                <a:lnTo>
                  <a:pt x="0" y="356"/>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5" name="Line 142"/>
          <p:cNvSpPr>
            <a:spLocks noChangeShapeType="1"/>
          </p:cNvSpPr>
          <p:nvPr/>
        </p:nvSpPr>
        <p:spPr bwMode="auto">
          <a:xfrm>
            <a:off x="2808437" y="5118459"/>
            <a:ext cx="111125" cy="41275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96" name="Line 143"/>
          <p:cNvSpPr>
            <a:spLocks noChangeShapeType="1"/>
          </p:cNvSpPr>
          <p:nvPr/>
        </p:nvSpPr>
        <p:spPr bwMode="auto">
          <a:xfrm flipH="1">
            <a:off x="3484712" y="5142271"/>
            <a:ext cx="112713" cy="38735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97" name="Oval 148"/>
          <p:cNvSpPr>
            <a:spLocks noChangeArrowheads="1"/>
          </p:cNvSpPr>
          <p:nvPr/>
        </p:nvSpPr>
        <p:spPr bwMode="auto">
          <a:xfrm>
            <a:off x="3000524" y="40516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B</a:t>
            </a:r>
          </a:p>
        </p:txBody>
      </p:sp>
      <p:sp>
        <p:nvSpPr>
          <p:cNvPr id="98" name="Oval 149"/>
          <p:cNvSpPr>
            <a:spLocks noChangeArrowheads="1"/>
          </p:cNvSpPr>
          <p:nvPr/>
        </p:nvSpPr>
        <p:spPr bwMode="auto">
          <a:xfrm>
            <a:off x="5163839" y="40516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C</a:t>
            </a:r>
          </a:p>
        </p:txBody>
      </p:sp>
      <p:sp>
        <p:nvSpPr>
          <p:cNvPr id="99" name="Oval 150"/>
          <p:cNvSpPr>
            <a:spLocks noChangeArrowheads="1"/>
          </p:cNvSpPr>
          <p:nvPr/>
        </p:nvSpPr>
        <p:spPr bwMode="auto">
          <a:xfrm>
            <a:off x="2514749"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D</a:t>
            </a:r>
          </a:p>
        </p:txBody>
      </p:sp>
      <p:sp>
        <p:nvSpPr>
          <p:cNvPr id="100" name="Oval 151"/>
          <p:cNvSpPr>
            <a:spLocks noChangeArrowheads="1"/>
          </p:cNvSpPr>
          <p:nvPr/>
        </p:nvSpPr>
        <p:spPr bwMode="auto">
          <a:xfrm>
            <a:off x="3487886"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E</a:t>
            </a:r>
          </a:p>
        </p:txBody>
      </p:sp>
      <p:sp>
        <p:nvSpPr>
          <p:cNvPr id="101" name="Oval 152"/>
          <p:cNvSpPr>
            <a:spLocks noChangeArrowheads="1"/>
          </p:cNvSpPr>
          <p:nvPr/>
        </p:nvSpPr>
        <p:spPr bwMode="auto">
          <a:xfrm>
            <a:off x="4708227" y="4791434"/>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F</a:t>
            </a:r>
          </a:p>
        </p:txBody>
      </p:sp>
      <p:sp>
        <p:nvSpPr>
          <p:cNvPr id="102" name="Oval 153"/>
          <p:cNvSpPr>
            <a:spLocks noChangeArrowheads="1"/>
          </p:cNvSpPr>
          <p:nvPr/>
        </p:nvSpPr>
        <p:spPr bwMode="auto">
          <a:xfrm>
            <a:off x="5711527"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G</a:t>
            </a:r>
          </a:p>
        </p:txBody>
      </p:sp>
      <p:sp>
        <p:nvSpPr>
          <p:cNvPr id="103" name="Oval 154"/>
          <p:cNvSpPr>
            <a:spLocks noChangeArrowheads="1"/>
          </p:cNvSpPr>
          <p:nvPr/>
        </p:nvSpPr>
        <p:spPr bwMode="auto">
          <a:xfrm>
            <a:off x="2249636" y="5497872"/>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H</a:t>
            </a:r>
          </a:p>
        </p:txBody>
      </p:sp>
      <p:sp>
        <p:nvSpPr>
          <p:cNvPr id="104" name="Oval 155"/>
          <p:cNvSpPr>
            <a:spLocks noChangeArrowheads="1"/>
          </p:cNvSpPr>
          <p:nvPr/>
        </p:nvSpPr>
        <p:spPr bwMode="auto">
          <a:xfrm>
            <a:off x="2736999" y="5510572"/>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6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I</a:t>
            </a:r>
          </a:p>
        </p:txBody>
      </p:sp>
      <p:sp>
        <p:nvSpPr>
          <p:cNvPr id="105" name="Oval 156"/>
          <p:cNvSpPr>
            <a:spLocks noChangeArrowheads="1"/>
          </p:cNvSpPr>
          <p:nvPr/>
        </p:nvSpPr>
        <p:spPr bwMode="auto">
          <a:xfrm>
            <a:off x="3267224" y="55121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J</a:t>
            </a:r>
          </a:p>
        </p:txBody>
      </p:sp>
      <p:grpSp>
        <p:nvGrpSpPr>
          <p:cNvPr id="106" name="Group 171"/>
          <p:cNvGrpSpPr>
            <a:grpSpLocks/>
          </p:cNvGrpSpPr>
          <p:nvPr/>
        </p:nvGrpSpPr>
        <p:grpSpPr bwMode="auto">
          <a:xfrm>
            <a:off x="3740299" y="5118459"/>
            <a:ext cx="468312" cy="1173162"/>
            <a:chOff x="3871" y="1745"/>
            <a:chExt cx="295" cy="739"/>
          </a:xfrm>
        </p:grpSpPr>
        <p:sp>
          <p:nvSpPr>
            <p:cNvPr id="107" name="Line 140"/>
            <p:cNvSpPr>
              <a:spLocks noChangeShapeType="1"/>
            </p:cNvSpPr>
            <p:nvPr/>
          </p:nvSpPr>
          <p:spPr bwMode="auto">
            <a:xfrm>
              <a:off x="3903" y="1745"/>
              <a:ext cx="73" cy="259"/>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08" name="Oval 157"/>
            <p:cNvSpPr>
              <a:spLocks noChangeArrowheads="1"/>
            </p:cNvSpPr>
            <p:nvPr/>
          </p:nvSpPr>
          <p:spPr bwMode="auto">
            <a:xfrm>
              <a:off x="3871" y="1994"/>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K</a:t>
              </a:r>
            </a:p>
          </p:txBody>
        </p:sp>
        <p:sp>
          <p:nvSpPr>
            <p:cNvPr id="109" name="Text Box 162"/>
            <p:cNvSpPr txBox="1">
              <a:spLocks noChangeArrowheads="1"/>
            </p:cNvSpPr>
            <p:nvPr/>
          </p:nvSpPr>
          <p:spPr bwMode="auto">
            <a:xfrm>
              <a:off x="3924" y="2257"/>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1</a:t>
              </a:r>
            </a:p>
          </p:txBody>
        </p:sp>
      </p:grpSp>
      <p:grpSp>
        <p:nvGrpSpPr>
          <p:cNvPr id="110" name="Group 170"/>
          <p:cNvGrpSpPr>
            <a:grpSpLocks/>
          </p:cNvGrpSpPr>
          <p:nvPr/>
        </p:nvGrpSpPr>
        <p:grpSpPr bwMode="auto">
          <a:xfrm>
            <a:off x="4428827" y="5142272"/>
            <a:ext cx="431800" cy="1135063"/>
            <a:chOff x="4493" y="1760"/>
            <a:chExt cx="272" cy="715"/>
          </a:xfrm>
        </p:grpSpPr>
        <p:sp>
          <p:nvSpPr>
            <p:cNvPr id="111" name="Line 144"/>
            <p:cNvSpPr>
              <a:spLocks noChangeShapeType="1"/>
            </p:cNvSpPr>
            <p:nvPr/>
          </p:nvSpPr>
          <p:spPr bwMode="auto">
            <a:xfrm flipH="1">
              <a:off x="4633" y="1760"/>
              <a:ext cx="103" cy="25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12" name="Oval 158"/>
            <p:cNvSpPr>
              <a:spLocks noChangeArrowheads="1"/>
            </p:cNvSpPr>
            <p:nvPr/>
          </p:nvSpPr>
          <p:spPr bwMode="auto">
            <a:xfrm>
              <a:off x="4493" y="198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L</a:t>
              </a:r>
            </a:p>
          </p:txBody>
        </p:sp>
        <p:sp>
          <p:nvSpPr>
            <p:cNvPr id="113" name="Text Box 163"/>
            <p:cNvSpPr txBox="1">
              <a:spLocks noChangeArrowheads="1"/>
            </p:cNvSpPr>
            <p:nvPr/>
          </p:nvSpPr>
          <p:spPr bwMode="auto">
            <a:xfrm>
              <a:off x="4510"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2</a:t>
              </a:r>
            </a:p>
          </p:txBody>
        </p:sp>
      </p:grpSp>
      <p:grpSp>
        <p:nvGrpSpPr>
          <p:cNvPr id="114" name="Group 169"/>
          <p:cNvGrpSpPr>
            <a:grpSpLocks/>
          </p:cNvGrpSpPr>
          <p:nvPr/>
        </p:nvGrpSpPr>
        <p:grpSpPr bwMode="auto">
          <a:xfrm>
            <a:off x="4946352" y="5118459"/>
            <a:ext cx="431800" cy="1160462"/>
            <a:chOff x="4819" y="1745"/>
            <a:chExt cx="272" cy="731"/>
          </a:xfrm>
        </p:grpSpPr>
        <p:sp>
          <p:nvSpPr>
            <p:cNvPr id="115" name="Line 145"/>
            <p:cNvSpPr>
              <a:spLocks noChangeShapeType="1"/>
            </p:cNvSpPr>
            <p:nvPr/>
          </p:nvSpPr>
          <p:spPr bwMode="auto">
            <a:xfrm>
              <a:off x="4831" y="1745"/>
              <a:ext cx="110" cy="26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16" name="Oval 159"/>
            <p:cNvSpPr>
              <a:spLocks noChangeArrowheads="1"/>
            </p:cNvSpPr>
            <p:nvPr/>
          </p:nvSpPr>
          <p:spPr bwMode="auto">
            <a:xfrm>
              <a:off x="4819" y="198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M</a:t>
              </a:r>
            </a:p>
          </p:txBody>
        </p:sp>
        <p:sp>
          <p:nvSpPr>
            <p:cNvPr id="117" name="Text Box 164"/>
            <p:cNvSpPr txBox="1">
              <a:spLocks noChangeArrowheads="1"/>
            </p:cNvSpPr>
            <p:nvPr/>
          </p:nvSpPr>
          <p:spPr bwMode="auto">
            <a:xfrm>
              <a:off x="4835" y="2249"/>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3</a:t>
              </a:r>
            </a:p>
          </p:txBody>
        </p:sp>
      </p:grpSp>
      <p:grpSp>
        <p:nvGrpSpPr>
          <p:cNvPr id="118" name="Group 168"/>
          <p:cNvGrpSpPr>
            <a:grpSpLocks/>
          </p:cNvGrpSpPr>
          <p:nvPr/>
        </p:nvGrpSpPr>
        <p:grpSpPr bwMode="auto">
          <a:xfrm>
            <a:off x="5457528" y="5167672"/>
            <a:ext cx="434975" cy="1109663"/>
            <a:chOff x="5141" y="1776"/>
            <a:chExt cx="274" cy="699"/>
          </a:xfrm>
        </p:grpSpPr>
        <p:sp>
          <p:nvSpPr>
            <p:cNvPr id="119" name="Line 146"/>
            <p:cNvSpPr>
              <a:spLocks noChangeShapeType="1"/>
            </p:cNvSpPr>
            <p:nvPr/>
          </p:nvSpPr>
          <p:spPr bwMode="auto">
            <a:xfrm flipH="1">
              <a:off x="5295" y="1776"/>
              <a:ext cx="100" cy="22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20" name="Oval 160"/>
            <p:cNvSpPr>
              <a:spLocks noChangeArrowheads="1"/>
            </p:cNvSpPr>
            <p:nvPr/>
          </p:nvSpPr>
          <p:spPr bwMode="auto">
            <a:xfrm>
              <a:off x="5143" y="199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N</a:t>
              </a:r>
            </a:p>
          </p:txBody>
        </p:sp>
        <p:sp>
          <p:nvSpPr>
            <p:cNvPr id="121" name="Text Box 165"/>
            <p:cNvSpPr txBox="1">
              <a:spLocks noChangeArrowheads="1"/>
            </p:cNvSpPr>
            <p:nvPr/>
          </p:nvSpPr>
          <p:spPr bwMode="auto">
            <a:xfrm>
              <a:off x="5141"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4</a:t>
              </a:r>
            </a:p>
          </p:txBody>
        </p:sp>
      </p:grpSp>
      <p:grpSp>
        <p:nvGrpSpPr>
          <p:cNvPr id="122" name="Group 167"/>
          <p:cNvGrpSpPr>
            <a:grpSpLocks/>
          </p:cNvGrpSpPr>
          <p:nvPr/>
        </p:nvGrpSpPr>
        <p:grpSpPr bwMode="auto">
          <a:xfrm>
            <a:off x="5949652" y="5161322"/>
            <a:ext cx="438150" cy="1116013"/>
            <a:chOff x="5451" y="1772"/>
            <a:chExt cx="276" cy="703"/>
          </a:xfrm>
        </p:grpSpPr>
        <p:sp>
          <p:nvSpPr>
            <p:cNvPr id="123" name="Line 147"/>
            <p:cNvSpPr>
              <a:spLocks noChangeShapeType="1"/>
            </p:cNvSpPr>
            <p:nvPr/>
          </p:nvSpPr>
          <p:spPr bwMode="auto">
            <a:xfrm>
              <a:off x="5499" y="1772"/>
              <a:ext cx="99" cy="22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24" name="Oval 161"/>
            <p:cNvSpPr>
              <a:spLocks noChangeArrowheads="1"/>
            </p:cNvSpPr>
            <p:nvPr/>
          </p:nvSpPr>
          <p:spPr bwMode="auto">
            <a:xfrm>
              <a:off x="5451" y="199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O</a:t>
              </a:r>
            </a:p>
          </p:txBody>
        </p:sp>
        <p:sp>
          <p:nvSpPr>
            <p:cNvPr id="125" name="Text Box 166"/>
            <p:cNvSpPr txBox="1">
              <a:spLocks noChangeArrowheads="1"/>
            </p:cNvSpPr>
            <p:nvPr/>
          </p:nvSpPr>
          <p:spPr bwMode="auto">
            <a:xfrm>
              <a:off x="5485"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5</a:t>
              </a:r>
            </a:p>
          </p:txBody>
        </p:sp>
      </p:grpSp>
      <p:sp>
        <p:nvSpPr>
          <p:cNvPr id="144" name="Text Box 50"/>
          <p:cNvSpPr txBox="1">
            <a:spLocks noChangeArrowheads="1"/>
          </p:cNvSpPr>
          <p:nvPr/>
        </p:nvSpPr>
        <p:spPr bwMode="auto">
          <a:xfrm>
            <a:off x="7172449" y="5549170"/>
            <a:ext cx="32590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zh-CN" altLang="en-US" sz="2000" dirty="0">
                <a:latin typeface="微软雅黑" pitchFamily="34" charset="-122"/>
                <a:ea typeface="微软雅黑" pitchFamily="34" charset="-122"/>
                <a:cs typeface="经典粗黑简" pitchFamily="49" charset="-122"/>
              </a:rPr>
              <a:t>高度为</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的一个完全二叉树</a:t>
            </a:r>
          </a:p>
        </p:txBody>
      </p:sp>
      <p:sp>
        <p:nvSpPr>
          <p:cNvPr id="145" name="Text Box 124"/>
          <p:cNvSpPr txBox="1">
            <a:spLocks noChangeArrowheads="1"/>
          </p:cNvSpPr>
          <p:nvPr/>
        </p:nvSpPr>
        <p:spPr bwMode="auto">
          <a:xfrm>
            <a:off x="9020856" y="3905650"/>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1</a:t>
            </a:r>
          </a:p>
        </p:txBody>
      </p:sp>
      <p:sp>
        <p:nvSpPr>
          <p:cNvPr id="146" name="Text Box 126"/>
          <p:cNvSpPr txBox="1">
            <a:spLocks noChangeArrowheads="1"/>
          </p:cNvSpPr>
          <p:nvPr/>
        </p:nvSpPr>
        <p:spPr bwMode="auto">
          <a:xfrm>
            <a:off x="8040410" y="4587441"/>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2</a:t>
            </a:r>
          </a:p>
        </p:txBody>
      </p:sp>
      <p:sp>
        <p:nvSpPr>
          <p:cNvPr id="147" name="Text Box 127"/>
          <p:cNvSpPr txBox="1">
            <a:spLocks noChangeArrowheads="1"/>
          </p:cNvSpPr>
          <p:nvPr/>
        </p:nvSpPr>
        <p:spPr bwMode="auto">
          <a:xfrm>
            <a:off x="10037094" y="4553297"/>
            <a:ext cx="2460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3</a:t>
            </a:r>
          </a:p>
        </p:txBody>
      </p:sp>
      <p:sp>
        <p:nvSpPr>
          <p:cNvPr id="148" name="Text Box 128"/>
          <p:cNvSpPr txBox="1">
            <a:spLocks noChangeArrowheads="1"/>
          </p:cNvSpPr>
          <p:nvPr/>
        </p:nvSpPr>
        <p:spPr bwMode="auto">
          <a:xfrm>
            <a:off x="7527709" y="511845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4</a:t>
            </a:r>
          </a:p>
        </p:txBody>
      </p:sp>
      <p:grpSp>
        <p:nvGrpSpPr>
          <p:cNvPr id="80" name="Group 51"/>
          <p:cNvGrpSpPr>
            <a:grpSpLocks/>
          </p:cNvGrpSpPr>
          <p:nvPr/>
        </p:nvGrpSpPr>
        <p:grpSpPr bwMode="auto">
          <a:xfrm>
            <a:off x="6960096" y="3917032"/>
            <a:ext cx="2971800" cy="1600200"/>
            <a:chOff x="3120" y="2688"/>
            <a:chExt cx="1872" cy="1008"/>
          </a:xfrm>
          <a:solidFill>
            <a:srgbClr val="FF0000"/>
          </a:solidFill>
        </p:grpSpPr>
        <p:sp>
          <p:nvSpPr>
            <p:cNvPr id="81" name="Oval 52"/>
            <p:cNvSpPr>
              <a:spLocks noChangeArrowheads="1"/>
            </p:cNvSpPr>
            <p:nvPr/>
          </p:nvSpPr>
          <p:spPr bwMode="auto">
            <a:xfrm>
              <a:off x="4128" y="2688"/>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2" name="Oval 53"/>
            <p:cNvSpPr>
              <a:spLocks noChangeArrowheads="1"/>
            </p:cNvSpPr>
            <p:nvPr/>
          </p:nvSpPr>
          <p:spPr bwMode="auto">
            <a:xfrm>
              <a:off x="3504" y="3072"/>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3" name="Oval 54"/>
            <p:cNvSpPr>
              <a:spLocks noChangeArrowheads="1"/>
            </p:cNvSpPr>
            <p:nvPr/>
          </p:nvSpPr>
          <p:spPr bwMode="auto">
            <a:xfrm>
              <a:off x="3120" y="3408"/>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4" name="Oval 55"/>
            <p:cNvSpPr>
              <a:spLocks noChangeArrowheads="1"/>
            </p:cNvSpPr>
            <p:nvPr/>
          </p:nvSpPr>
          <p:spPr bwMode="auto">
            <a:xfrm>
              <a:off x="3888" y="3456"/>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5" name="Oval 56"/>
            <p:cNvSpPr>
              <a:spLocks noChangeArrowheads="1"/>
            </p:cNvSpPr>
            <p:nvPr/>
          </p:nvSpPr>
          <p:spPr bwMode="auto">
            <a:xfrm>
              <a:off x="4752" y="3072"/>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86" name="AutoShape 57"/>
            <p:cNvCxnSpPr>
              <a:cxnSpLocks noChangeShapeType="1"/>
              <a:stCxn id="81" idx="3"/>
              <a:endCxn id="82" idx="7"/>
            </p:cNvCxnSpPr>
            <p:nvPr/>
          </p:nvCxnSpPr>
          <p:spPr bwMode="auto">
            <a:xfrm flipH="1">
              <a:off x="3709" y="2893"/>
              <a:ext cx="454" cy="214"/>
            </a:xfrm>
            <a:prstGeom prst="straightConnector1">
              <a:avLst/>
            </a:prstGeom>
            <a:grpFill/>
            <a:ln w="9525">
              <a:solidFill>
                <a:schemeClr val="tx1"/>
              </a:solidFill>
              <a:miter lim="800000"/>
              <a:headEnd/>
              <a:tailEnd/>
            </a:ln>
          </p:spPr>
        </p:cxnSp>
        <p:cxnSp>
          <p:nvCxnSpPr>
            <p:cNvPr id="87" name="AutoShape 58"/>
            <p:cNvCxnSpPr>
              <a:cxnSpLocks noChangeShapeType="1"/>
              <a:stCxn id="82" idx="3"/>
              <a:endCxn id="83" idx="7"/>
            </p:cNvCxnSpPr>
            <p:nvPr/>
          </p:nvCxnSpPr>
          <p:spPr bwMode="auto">
            <a:xfrm flipH="1">
              <a:off x="3325" y="3277"/>
              <a:ext cx="214" cy="166"/>
            </a:xfrm>
            <a:prstGeom prst="straightConnector1">
              <a:avLst/>
            </a:prstGeom>
            <a:grpFill/>
            <a:ln w="9525">
              <a:solidFill>
                <a:schemeClr val="tx1"/>
              </a:solidFill>
              <a:miter lim="800000"/>
              <a:headEnd/>
              <a:tailEnd/>
            </a:ln>
          </p:spPr>
        </p:cxnSp>
        <p:cxnSp>
          <p:nvCxnSpPr>
            <p:cNvPr id="134" name="AutoShape 59"/>
            <p:cNvCxnSpPr>
              <a:cxnSpLocks noChangeShapeType="1"/>
              <a:stCxn id="81" idx="5"/>
              <a:endCxn id="85" idx="1"/>
            </p:cNvCxnSpPr>
            <p:nvPr/>
          </p:nvCxnSpPr>
          <p:spPr bwMode="auto">
            <a:xfrm>
              <a:off x="4333" y="2893"/>
              <a:ext cx="454" cy="214"/>
            </a:xfrm>
            <a:prstGeom prst="straightConnector1">
              <a:avLst/>
            </a:prstGeom>
            <a:grpFill/>
            <a:ln w="9525">
              <a:solidFill>
                <a:schemeClr val="tx1"/>
              </a:solidFill>
              <a:miter lim="800000"/>
              <a:headEnd/>
              <a:tailEnd/>
            </a:ln>
          </p:spPr>
        </p:cxnSp>
        <p:cxnSp>
          <p:nvCxnSpPr>
            <p:cNvPr id="135" name="AutoShape 60"/>
            <p:cNvCxnSpPr>
              <a:cxnSpLocks noChangeShapeType="1"/>
              <a:stCxn id="82" idx="5"/>
              <a:endCxn id="84" idx="1"/>
            </p:cNvCxnSpPr>
            <p:nvPr/>
          </p:nvCxnSpPr>
          <p:spPr bwMode="auto">
            <a:xfrm>
              <a:off x="3709" y="3277"/>
              <a:ext cx="214" cy="214"/>
            </a:xfrm>
            <a:prstGeom prst="straightConnector1">
              <a:avLst/>
            </a:prstGeom>
            <a:grpFill/>
            <a:ln w="9525">
              <a:solidFill>
                <a:schemeClr val="tx1"/>
              </a:solidFill>
              <a:miter lim="800000"/>
              <a:headEnd/>
              <a:tailEnd/>
            </a:ln>
          </p:spPr>
        </p:cxnSp>
      </p:grpSp>
      <p:sp>
        <p:nvSpPr>
          <p:cNvPr id="136" name="Text Box 125"/>
          <p:cNvSpPr txBox="1">
            <a:spLocks noChangeArrowheads="1"/>
          </p:cNvSpPr>
          <p:nvPr/>
        </p:nvSpPr>
        <p:spPr bwMode="auto">
          <a:xfrm>
            <a:off x="8615859" y="5115466"/>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5</a:t>
            </a:r>
          </a:p>
        </p:txBody>
      </p:sp>
      <p:sp>
        <p:nvSpPr>
          <p:cNvPr id="137" name="Text Box 176"/>
          <p:cNvSpPr txBox="1">
            <a:spLocks noChangeArrowheads="1"/>
          </p:cNvSpPr>
          <p:nvPr/>
        </p:nvSpPr>
        <p:spPr bwMode="auto">
          <a:xfrm>
            <a:off x="2379876" y="5924973"/>
            <a:ext cx="269746"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en-US" altLang="zh-CN" sz="2400" b="1" dirty="0">
                <a:latin typeface="Times New Roman" pitchFamily="18" charset="0"/>
              </a:rPr>
              <a:t>8</a:t>
            </a:r>
          </a:p>
        </p:txBody>
      </p:sp>
      <p:sp>
        <p:nvSpPr>
          <p:cNvPr id="2" name="矩形 1">
            <a:extLst>
              <a:ext uri="{FF2B5EF4-FFF2-40B4-BE49-F238E27FC236}">
                <a16:creationId xmlns:a16="http://schemas.microsoft.com/office/drawing/2014/main" xmlns="" id="{838FB137-5B7C-19BC-71FE-DEE28EC97FCB}"/>
              </a:ext>
            </a:extLst>
          </p:cNvPr>
          <p:cNvSpPr/>
          <p:nvPr/>
        </p:nvSpPr>
        <p:spPr>
          <a:xfrm>
            <a:off x="1643217" y="2631855"/>
            <a:ext cx="9277319" cy="646331"/>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对一棵具有</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个结点的二叉树按层序编号，编号为</a:t>
            </a:r>
            <a:r>
              <a:rPr kumimoji="1" lang="en-US" altLang="zh-CN" dirty="0">
                <a:latin typeface="微软雅黑" pitchFamily="34" charset="-122"/>
                <a:ea typeface="微软雅黑" pitchFamily="34" charset="-122"/>
                <a:cs typeface="经典粗黑简" pitchFamily="49" charset="-122"/>
              </a:rPr>
              <a:t>i（1≤i≤n）</a:t>
            </a:r>
            <a:r>
              <a:rPr kumimoji="1" lang="zh-CN" altLang="en-US" dirty="0">
                <a:latin typeface="微软雅黑" pitchFamily="34" charset="-122"/>
                <a:ea typeface="微软雅黑" pitchFamily="34" charset="-122"/>
                <a:cs typeface="经典粗黑简" pitchFamily="49" charset="-122"/>
              </a:rPr>
              <a:t>的结点与同样深度的满二叉树中编号为</a:t>
            </a:r>
            <a:r>
              <a:rPr kumimoji="1" lang="en-US" altLang="zh-CN" dirty="0">
                <a:latin typeface="微软雅黑" pitchFamily="34" charset="-122"/>
                <a:ea typeface="微软雅黑" pitchFamily="34" charset="-122"/>
                <a:cs typeface="经典粗黑简" pitchFamily="49" charset="-122"/>
              </a:rPr>
              <a:t>i</a:t>
            </a:r>
            <a:r>
              <a:rPr kumimoji="1" lang="zh-CN" altLang="en-US" dirty="0">
                <a:latin typeface="微软雅黑" pitchFamily="34" charset="-122"/>
                <a:ea typeface="微软雅黑" pitchFamily="34" charset="-122"/>
                <a:cs typeface="经典粗黑简" pitchFamily="49" charset="-122"/>
              </a:rPr>
              <a:t>的结点在二叉树中的位置完全相同。</a:t>
            </a:r>
          </a:p>
        </p:txBody>
      </p:sp>
      <p:sp>
        <p:nvSpPr>
          <p:cNvPr id="4" name="矩形 3">
            <a:extLst>
              <a:ext uri="{FF2B5EF4-FFF2-40B4-BE49-F238E27FC236}">
                <a16:creationId xmlns:a16="http://schemas.microsoft.com/office/drawing/2014/main" xmlns="" id="{DEF152E4-1C25-F2D7-768A-762E0CD278D6}"/>
              </a:ext>
            </a:extLst>
          </p:cNvPr>
          <p:cNvSpPr/>
          <p:nvPr/>
        </p:nvSpPr>
        <p:spPr>
          <a:xfrm>
            <a:off x="983432" y="1569472"/>
            <a:ext cx="2492990"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两种特殊的二叉树：</a:t>
            </a:r>
          </a:p>
        </p:txBody>
      </p:sp>
      <p:sp>
        <p:nvSpPr>
          <p:cNvPr id="5" name="矩形 4">
            <a:extLst>
              <a:ext uri="{FF2B5EF4-FFF2-40B4-BE49-F238E27FC236}">
                <a16:creationId xmlns:a16="http://schemas.microsoft.com/office/drawing/2014/main" xmlns="" id="{E5078113-E776-7792-9D74-8E92F6437085}"/>
              </a:ext>
            </a:extLst>
          </p:cNvPr>
          <p:cNvSpPr/>
          <p:nvPr/>
        </p:nvSpPr>
        <p:spPr>
          <a:xfrm>
            <a:off x="1496393" y="2087351"/>
            <a:ext cx="179889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 ②完全二叉树</a:t>
            </a:r>
            <a:endParaRPr lang="zh-CN" altLang="en-US" sz="2000" dirty="0"/>
          </a:p>
        </p:txBody>
      </p:sp>
      <p:sp>
        <p:nvSpPr>
          <p:cNvPr id="6" name="矩形 5">
            <a:extLst>
              <a:ext uri="{FF2B5EF4-FFF2-40B4-BE49-F238E27FC236}">
                <a16:creationId xmlns:a16="http://schemas.microsoft.com/office/drawing/2014/main" xmlns="" id="{5D84232C-7AB1-25A3-626E-4EF17A8B8C55}"/>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7" name="Rectangle 2">
            <a:extLst>
              <a:ext uri="{FF2B5EF4-FFF2-40B4-BE49-F238E27FC236}">
                <a16:creationId xmlns:a16="http://schemas.microsoft.com/office/drawing/2014/main" xmlns="" id="{C49038A9-6B2D-BE69-A223-DC7ECEBA864E}"/>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8" name="直接连接符 7">
            <a:extLst>
              <a:ext uri="{FF2B5EF4-FFF2-40B4-BE49-F238E27FC236}">
                <a16:creationId xmlns:a16="http://schemas.microsoft.com/office/drawing/2014/main" xmlns="" id="{9AD97B9F-AD83-CC4B-EBEB-6DC91AA3DBAB}"/>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754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Oval 123"/>
          <p:cNvSpPr>
            <a:spLocks noChangeArrowheads="1"/>
          </p:cNvSpPr>
          <p:nvPr/>
        </p:nvSpPr>
        <p:spPr bwMode="auto">
          <a:xfrm>
            <a:off x="4088179" y="3609515"/>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A</a:t>
            </a:r>
          </a:p>
        </p:txBody>
      </p:sp>
      <p:sp>
        <p:nvSpPr>
          <p:cNvPr id="61" name="Text Box 125"/>
          <p:cNvSpPr txBox="1">
            <a:spLocks noChangeArrowheads="1"/>
          </p:cNvSpPr>
          <p:nvPr/>
        </p:nvSpPr>
        <p:spPr bwMode="auto">
          <a:xfrm>
            <a:off x="4037161" y="4756509"/>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5</a:t>
            </a:r>
          </a:p>
        </p:txBody>
      </p:sp>
      <p:sp>
        <p:nvSpPr>
          <p:cNvPr id="62" name="Text Box 126"/>
          <p:cNvSpPr txBox="1">
            <a:spLocks noChangeArrowheads="1"/>
          </p:cNvSpPr>
          <p:nvPr/>
        </p:nvSpPr>
        <p:spPr bwMode="auto">
          <a:xfrm>
            <a:off x="3546625" y="4034197"/>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2</a:t>
            </a:r>
          </a:p>
        </p:txBody>
      </p:sp>
      <p:sp>
        <p:nvSpPr>
          <p:cNvPr id="63" name="Text Box 127"/>
          <p:cNvSpPr txBox="1">
            <a:spLocks noChangeArrowheads="1"/>
          </p:cNvSpPr>
          <p:nvPr/>
        </p:nvSpPr>
        <p:spPr bwMode="auto">
          <a:xfrm>
            <a:off x="5702002" y="4034197"/>
            <a:ext cx="2460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3</a:t>
            </a:r>
          </a:p>
        </p:txBody>
      </p:sp>
      <p:sp>
        <p:nvSpPr>
          <p:cNvPr id="64" name="Text Box 128"/>
          <p:cNvSpPr txBox="1">
            <a:spLocks noChangeArrowheads="1"/>
          </p:cNvSpPr>
          <p:nvPr/>
        </p:nvSpPr>
        <p:spPr bwMode="auto">
          <a:xfrm>
            <a:off x="3057675" y="475650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4</a:t>
            </a:r>
          </a:p>
        </p:txBody>
      </p:sp>
      <p:sp>
        <p:nvSpPr>
          <p:cNvPr id="65" name="Text Box 129"/>
          <p:cNvSpPr txBox="1">
            <a:spLocks noChangeArrowheads="1"/>
          </p:cNvSpPr>
          <p:nvPr/>
        </p:nvSpPr>
        <p:spPr bwMode="auto">
          <a:xfrm>
            <a:off x="5213053" y="475650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6</a:t>
            </a:r>
          </a:p>
        </p:txBody>
      </p:sp>
      <p:sp>
        <p:nvSpPr>
          <p:cNvPr id="66" name="Text Box 130"/>
          <p:cNvSpPr txBox="1">
            <a:spLocks noChangeArrowheads="1"/>
          </p:cNvSpPr>
          <p:nvPr/>
        </p:nvSpPr>
        <p:spPr bwMode="auto">
          <a:xfrm>
            <a:off x="6294804" y="4977940"/>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7</a:t>
            </a:r>
          </a:p>
        </p:txBody>
      </p:sp>
      <p:sp>
        <p:nvSpPr>
          <p:cNvPr id="67" name="Text Box 132"/>
          <p:cNvSpPr txBox="1">
            <a:spLocks noChangeArrowheads="1"/>
          </p:cNvSpPr>
          <p:nvPr/>
        </p:nvSpPr>
        <p:spPr bwMode="auto">
          <a:xfrm>
            <a:off x="2843362" y="5931259"/>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9</a:t>
            </a:r>
          </a:p>
        </p:txBody>
      </p:sp>
      <p:sp>
        <p:nvSpPr>
          <p:cNvPr id="68" name="Text Box 133"/>
          <p:cNvSpPr txBox="1">
            <a:spLocks noChangeArrowheads="1"/>
          </p:cNvSpPr>
          <p:nvPr/>
        </p:nvSpPr>
        <p:spPr bwMode="auto">
          <a:xfrm>
            <a:off x="3295800" y="5931259"/>
            <a:ext cx="3841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10</a:t>
            </a:r>
          </a:p>
        </p:txBody>
      </p:sp>
      <p:sp>
        <p:nvSpPr>
          <p:cNvPr id="88" name="Line 134"/>
          <p:cNvSpPr>
            <a:spLocks noChangeShapeType="1"/>
          </p:cNvSpPr>
          <p:nvPr/>
        </p:nvSpPr>
        <p:spPr bwMode="auto">
          <a:xfrm flipH="1">
            <a:off x="3344435" y="3849228"/>
            <a:ext cx="743744" cy="246856"/>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89" name="Freeform 135"/>
          <p:cNvSpPr>
            <a:spLocks/>
          </p:cNvSpPr>
          <p:nvPr/>
        </p:nvSpPr>
        <p:spPr bwMode="auto">
          <a:xfrm>
            <a:off x="4423143" y="3803191"/>
            <a:ext cx="740697" cy="411187"/>
          </a:xfrm>
          <a:custGeom>
            <a:avLst/>
            <a:gdLst>
              <a:gd name="T0" fmla="*/ 0 w 767"/>
              <a:gd name="T1" fmla="*/ 0 h 488"/>
              <a:gd name="T2" fmla="*/ 2147483647 w 767"/>
              <a:gd name="T3" fmla="*/ 2147483647 h 488"/>
              <a:gd name="T4" fmla="*/ 0 60000 65536"/>
              <a:gd name="T5" fmla="*/ 0 60000 65536"/>
            </a:gdLst>
            <a:ahLst/>
            <a:cxnLst>
              <a:cxn ang="T4">
                <a:pos x="T0" y="T1"/>
              </a:cxn>
              <a:cxn ang="T5">
                <a:pos x="T2" y="T3"/>
              </a:cxn>
            </a:cxnLst>
            <a:rect l="0" t="0" r="r" b="b"/>
            <a:pathLst>
              <a:path w="767" h="488">
                <a:moveTo>
                  <a:pt x="0" y="0"/>
                </a:moveTo>
                <a:lnTo>
                  <a:pt x="767" y="488"/>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0" name="Freeform 136"/>
          <p:cNvSpPr>
            <a:spLocks/>
          </p:cNvSpPr>
          <p:nvPr/>
        </p:nvSpPr>
        <p:spPr bwMode="auto">
          <a:xfrm>
            <a:off x="2773511" y="4342171"/>
            <a:ext cx="311150" cy="490538"/>
          </a:xfrm>
          <a:custGeom>
            <a:avLst/>
            <a:gdLst>
              <a:gd name="T0" fmla="*/ 2147483647 w 259"/>
              <a:gd name="T1" fmla="*/ 0 h 421"/>
              <a:gd name="T2" fmla="*/ 0 w 259"/>
              <a:gd name="T3" fmla="*/ 2147483647 h 421"/>
              <a:gd name="T4" fmla="*/ 0 60000 65536"/>
              <a:gd name="T5" fmla="*/ 0 60000 65536"/>
            </a:gdLst>
            <a:ahLst/>
            <a:cxnLst>
              <a:cxn ang="T4">
                <a:pos x="T0" y="T1"/>
              </a:cxn>
              <a:cxn ang="T5">
                <a:pos x="T2" y="T3"/>
              </a:cxn>
            </a:cxnLst>
            <a:rect l="0" t="0" r="r" b="b"/>
            <a:pathLst>
              <a:path w="259" h="421">
                <a:moveTo>
                  <a:pt x="259"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1" name="Freeform 137"/>
          <p:cNvSpPr>
            <a:spLocks/>
          </p:cNvSpPr>
          <p:nvPr/>
        </p:nvSpPr>
        <p:spPr bwMode="auto">
          <a:xfrm>
            <a:off x="3375175" y="4342171"/>
            <a:ext cx="268287" cy="490538"/>
          </a:xfrm>
          <a:custGeom>
            <a:avLst/>
            <a:gdLst>
              <a:gd name="T0" fmla="*/ 0 w 222"/>
              <a:gd name="T1" fmla="*/ 0 h 421"/>
              <a:gd name="T2" fmla="*/ 2147483647 w 222"/>
              <a:gd name="T3" fmla="*/ 2147483647 h 421"/>
              <a:gd name="T4" fmla="*/ 0 60000 65536"/>
              <a:gd name="T5" fmla="*/ 0 60000 65536"/>
            </a:gdLst>
            <a:ahLst/>
            <a:cxnLst>
              <a:cxn ang="T4">
                <a:pos x="T0" y="T1"/>
              </a:cxn>
              <a:cxn ang="T5">
                <a:pos x="T2" y="T3"/>
              </a:cxn>
            </a:cxnLst>
            <a:rect l="0" t="0" r="r" b="b"/>
            <a:pathLst>
              <a:path w="222" h="421">
                <a:moveTo>
                  <a:pt x="0" y="0"/>
                </a:moveTo>
                <a:lnTo>
                  <a:pt x="222"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2" name="Freeform 138"/>
          <p:cNvSpPr>
            <a:spLocks/>
          </p:cNvSpPr>
          <p:nvPr/>
        </p:nvSpPr>
        <p:spPr bwMode="auto">
          <a:xfrm>
            <a:off x="4976514" y="4359634"/>
            <a:ext cx="273050" cy="488950"/>
          </a:xfrm>
          <a:custGeom>
            <a:avLst/>
            <a:gdLst>
              <a:gd name="T0" fmla="*/ 2147483647 w 226"/>
              <a:gd name="T1" fmla="*/ 0 h 421"/>
              <a:gd name="T2" fmla="*/ 0 w 226"/>
              <a:gd name="T3" fmla="*/ 2147483647 h 421"/>
              <a:gd name="T4" fmla="*/ 0 60000 65536"/>
              <a:gd name="T5" fmla="*/ 0 60000 65536"/>
            </a:gdLst>
            <a:ahLst/>
            <a:cxnLst>
              <a:cxn ang="T4">
                <a:pos x="T0" y="T1"/>
              </a:cxn>
              <a:cxn ang="T5">
                <a:pos x="T2" y="T3"/>
              </a:cxn>
            </a:cxnLst>
            <a:rect l="0" t="0" r="r" b="b"/>
            <a:pathLst>
              <a:path w="226" h="421">
                <a:moveTo>
                  <a:pt x="226"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3" name="Line 139"/>
          <p:cNvSpPr>
            <a:spLocks noChangeShapeType="1"/>
          </p:cNvSpPr>
          <p:nvPr/>
        </p:nvSpPr>
        <p:spPr bwMode="auto">
          <a:xfrm>
            <a:off x="5511502" y="4359635"/>
            <a:ext cx="317500" cy="466725"/>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94" name="Freeform 141"/>
          <p:cNvSpPr>
            <a:spLocks/>
          </p:cNvSpPr>
          <p:nvPr/>
        </p:nvSpPr>
        <p:spPr bwMode="auto">
          <a:xfrm>
            <a:off x="2482999" y="5131159"/>
            <a:ext cx="144462" cy="411162"/>
          </a:xfrm>
          <a:custGeom>
            <a:avLst/>
            <a:gdLst>
              <a:gd name="T0" fmla="*/ 2147483647 w 119"/>
              <a:gd name="T1" fmla="*/ 0 h 356"/>
              <a:gd name="T2" fmla="*/ 0 w 119"/>
              <a:gd name="T3" fmla="*/ 2147483647 h 356"/>
              <a:gd name="T4" fmla="*/ 0 60000 65536"/>
              <a:gd name="T5" fmla="*/ 0 60000 65536"/>
            </a:gdLst>
            <a:ahLst/>
            <a:cxnLst>
              <a:cxn ang="T4">
                <a:pos x="T0" y="T1"/>
              </a:cxn>
              <a:cxn ang="T5">
                <a:pos x="T2" y="T3"/>
              </a:cxn>
            </a:cxnLst>
            <a:rect l="0" t="0" r="r" b="b"/>
            <a:pathLst>
              <a:path w="119" h="356">
                <a:moveTo>
                  <a:pt x="119" y="0"/>
                </a:moveTo>
                <a:lnTo>
                  <a:pt x="0" y="356"/>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95" name="Line 142"/>
          <p:cNvSpPr>
            <a:spLocks noChangeShapeType="1"/>
          </p:cNvSpPr>
          <p:nvPr/>
        </p:nvSpPr>
        <p:spPr bwMode="auto">
          <a:xfrm>
            <a:off x="2808437" y="5118459"/>
            <a:ext cx="111125" cy="41275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96" name="Line 143"/>
          <p:cNvSpPr>
            <a:spLocks noChangeShapeType="1"/>
          </p:cNvSpPr>
          <p:nvPr/>
        </p:nvSpPr>
        <p:spPr bwMode="auto">
          <a:xfrm flipH="1">
            <a:off x="3484712" y="5142271"/>
            <a:ext cx="112713" cy="38735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97" name="Oval 148"/>
          <p:cNvSpPr>
            <a:spLocks noChangeArrowheads="1"/>
          </p:cNvSpPr>
          <p:nvPr/>
        </p:nvSpPr>
        <p:spPr bwMode="auto">
          <a:xfrm>
            <a:off x="3000524" y="40516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B</a:t>
            </a:r>
          </a:p>
        </p:txBody>
      </p:sp>
      <p:sp>
        <p:nvSpPr>
          <p:cNvPr id="98" name="Oval 149"/>
          <p:cNvSpPr>
            <a:spLocks noChangeArrowheads="1"/>
          </p:cNvSpPr>
          <p:nvPr/>
        </p:nvSpPr>
        <p:spPr bwMode="auto">
          <a:xfrm>
            <a:off x="5163839" y="40516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C</a:t>
            </a:r>
          </a:p>
        </p:txBody>
      </p:sp>
      <p:sp>
        <p:nvSpPr>
          <p:cNvPr id="99" name="Oval 150"/>
          <p:cNvSpPr>
            <a:spLocks noChangeArrowheads="1"/>
          </p:cNvSpPr>
          <p:nvPr/>
        </p:nvSpPr>
        <p:spPr bwMode="auto">
          <a:xfrm>
            <a:off x="2514749"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D</a:t>
            </a:r>
          </a:p>
        </p:txBody>
      </p:sp>
      <p:sp>
        <p:nvSpPr>
          <p:cNvPr id="100" name="Oval 151"/>
          <p:cNvSpPr>
            <a:spLocks noChangeArrowheads="1"/>
          </p:cNvSpPr>
          <p:nvPr/>
        </p:nvSpPr>
        <p:spPr bwMode="auto">
          <a:xfrm>
            <a:off x="3487886"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E</a:t>
            </a:r>
          </a:p>
        </p:txBody>
      </p:sp>
      <p:sp>
        <p:nvSpPr>
          <p:cNvPr id="101" name="Oval 152"/>
          <p:cNvSpPr>
            <a:spLocks noChangeArrowheads="1"/>
          </p:cNvSpPr>
          <p:nvPr/>
        </p:nvSpPr>
        <p:spPr bwMode="auto">
          <a:xfrm>
            <a:off x="4708227" y="4791434"/>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F</a:t>
            </a:r>
          </a:p>
        </p:txBody>
      </p:sp>
      <p:sp>
        <p:nvSpPr>
          <p:cNvPr id="102" name="Oval 153"/>
          <p:cNvSpPr>
            <a:spLocks noChangeArrowheads="1"/>
          </p:cNvSpPr>
          <p:nvPr/>
        </p:nvSpPr>
        <p:spPr bwMode="auto">
          <a:xfrm>
            <a:off x="5711527"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G</a:t>
            </a:r>
          </a:p>
        </p:txBody>
      </p:sp>
      <p:sp>
        <p:nvSpPr>
          <p:cNvPr id="103" name="Oval 154"/>
          <p:cNvSpPr>
            <a:spLocks noChangeArrowheads="1"/>
          </p:cNvSpPr>
          <p:nvPr/>
        </p:nvSpPr>
        <p:spPr bwMode="auto">
          <a:xfrm>
            <a:off x="2249636" y="5497872"/>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H</a:t>
            </a:r>
          </a:p>
        </p:txBody>
      </p:sp>
      <p:sp>
        <p:nvSpPr>
          <p:cNvPr id="104" name="Oval 155"/>
          <p:cNvSpPr>
            <a:spLocks noChangeArrowheads="1"/>
          </p:cNvSpPr>
          <p:nvPr/>
        </p:nvSpPr>
        <p:spPr bwMode="auto">
          <a:xfrm>
            <a:off x="2736999" y="5510572"/>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6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I</a:t>
            </a:r>
          </a:p>
        </p:txBody>
      </p:sp>
      <p:sp>
        <p:nvSpPr>
          <p:cNvPr id="105" name="Oval 156"/>
          <p:cNvSpPr>
            <a:spLocks noChangeArrowheads="1"/>
          </p:cNvSpPr>
          <p:nvPr/>
        </p:nvSpPr>
        <p:spPr bwMode="auto">
          <a:xfrm>
            <a:off x="3267224" y="55121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J</a:t>
            </a:r>
          </a:p>
        </p:txBody>
      </p:sp>
      <p:grpSp>
        <p:nvGrpSpPr>
          <p:cNvPr id="106" name="Group 171"/>
          <p:cNvGrpSpPr>
            <a:grpSpLocks/>
          </p:cNvGrpSpPr>
          <p:nvPr/>
        </p:nvGrpSpPr>
        <p:grpSpPr bwMode="auto">
          <a:xfrm>
            <a:off x="3740299" y="5118459"/>
            <a:ext cx="468312" cy="1173162"/>
            <a:chOff x="3871" y="1745"/>
            <a:chExt cx="295" cy="739"/>
          </a:xfrm>
        </p:grpSpPr>
        <p:sp>
          <p:nvSpPr>
            <p:cNvPr id="107" name="Line 140"/>
            <p:cNvSpPr>
              <a:spLocks noChangeShapeType="1"/>
            </p:cNvSpPr>
            <p:nvPr/>
          </p:nvSpPr>
          <p:spPr bwMode="auto">
            <a:xfrm>
              <a:off x="3903" y="1745"/>
              <a:ext cx="73" cy="259"/>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08" name="Oval 157"/>
            <p:cNvSpPr>
              <a:spLocks noChangeArrowheads="1"/>
            </p:cNvSpPr>
            <p:nvPr/>
          </p:nvSpPr>
          <p:spPr bwMode="auto">
            <a:xfrm>
              <a:off x="3871" y="1994"/>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K</a:t>
              </a:r>
            </a:p>
          </p:txBody>
        </p:sp>
        <p:sp>
          <p:nvSpPr>
            <p:cNvPr id="109" name="Text Box 162"/>
            <p:cNvSpPr txBox="1">
              <a:spLocks noChangeArrowheads="1"/>
            </p:cNvSpPr>
            <p:nvPr/>
          </p:nvSpPr>
          <p:spPr bwMode="auto">
            <a:xfrm>
              <a:off x="3924" y="2257"/>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1</a:t>
              </a:r>
            </a:p>
          </p:txBody>
        </p:sp>
      </p:grpSp>
      <p:grpSp>
        <p:nvGrpSpPr>
          <p:cNvPr id="110" name="Group 170"/>
          <p:cNvGrpSpPr>
            <a:grpSpLocks/>
          </p:cNvGrpSpPr>
          <p:nvPr/>
        </p:nvGrpSpPr>
        <p:grpSpPr bwMode="auto">
          <a:xfrm>
            <a:off x="4428827" y="5142272"/>
            <a:ext cx="431800" cy="1135063"/>
            <a:chOff x="4493" y="1760"/>
            <a:chExt cx="272" cy="715"/>
          </a:xfrm>
        </p:grpSpPr>
        <p:sp>
          <p:nvSpPr>
            <p:cNvPr id="111" name="Line 144"/>
            <p:cNvSpPr>
              <a:spLocks noChangeShapeType="1"/>
            </p:cNvSpPr>
            <p:nvPr/>
          </p:nvSpPr>
          <p:spPr bwMode="auto">
            <a:xfrm flipH="1">
              <a:off x="4633" y="1760"/>
              <a:ext cx="103" cy="25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12" name="Oval 158"/>
            <p:cNvSpPr>
              <a:spLocks noChangeArrowheads="1"/>
            </p:cNvSpPr>
            <p:nvPr/>
          </p:nvSpPr>
          <p:spPr bwMode="auto">
            <a:xfrm>
              <a:off x="4493" y="198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L</a:t>
              </a:r>
            </a:p>
          </p:txBody>
        </p:sp>
        <p:sp>
          <p:nvSpPr>
            <p:cNvPr id="113" name="Text Box 163"/>
            <p:cNvSpPr txBox="1">
              <a:spLocks noChangeArrowheads="1"/>
            </p:cNvSpPr>
            <p:nvPr/>
          </p:nvSpPr>
          <p:spPr bwMode="auto">
            <a:xfrm>
              <a:off x="4510"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2</a:t>
              </a:r>
            </a:p>
          </p:txBody>
        </p:sp>
      </p:grpSp>
      <p:grpSp>
        <p:nvGrpSpPr>
          <p:cNvPr id="114" name="Group 169"/>
          <p:cNvGrpSpPr>
            <a:grpSpLocks/>
          </p:cNvGrpSpPr>
          <p:nvPr/>
        </p:nvGrpSpPr>
        <p:grpSpPr bwMode="auto">
          <a:xfrm>
            <a:off x="4946352" y="5118459"/>
            <a:ext cx="431800" cy="1160462"/>
            <a:chOff x="4819" y="1745"/>
            <a:chExt cx="272" cy="731"/>
          </a:xfrm>
        </p:grpSpPr>
        <p:sp>
          <p:nvSpPr>
            <p:cNvPr id="115" name="Line 145"/>
            <p:cNvSpPr>
              <a:spLocks noChangeShapeType="1"/>
            </p:cNvSpPr>
            <p:nvPr/>
          </p:nvSpPr>
          <p:spPr bwMode="auto">
            <a:xfrm>
              <a:off x="4831" y="1745"/>
              <a:ext cx="110" cy="26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16" name="Oval 159"/>
            <p:cNvSpPr>
              <a:spLocks noChangeArrowheads="1"/>
            </p:cNvSpPr>
            <p:nvPr/>
          </p:nvSpPr>
          <p:spPr bwMode="auto">
            <a:xfrm>
              <a:off x="4819" y="198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M</a:t>
              </a:r>
            </a:p>
          </p:txBody>
        </p:sp>
        <p:sp>
          <p:nvSpPr>
            <p:cNvPr id="117" name="Text Box 164"/>
            <p:cNvSpPr txBox="1">
              <a:spLocks noChangeArrowheads="1"/>
            </p:cNvSpPr>
            <p:nvPr/>
          </p:nvSpPr>
          <p:spPr bwMode="auto">
            <a:xfrm>
              <a:off x="4835" y="2249"/>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3</a:t>
              </a:r>
            </a:p>
          </p:txBody>
        </p:sp>
      </p:grpSp>
      <p:grpSp>
        <p:nvGrpSpPr>
          <p:cNvPr id="118" name="Group 168"/>
          <p:cNvGrpSpPr>
            <a:grpSpLocks/>
          </p:cNvGrpSpPr>
          <p:nvPr/>
        </p:nvGrpSpPr>
        <p:grpSpPr bwMode="auto">
          <a:xfrm>
            <a:off x="5457528" y="5167672"/>
            <a:ext cx="434975" cy="1109663"/>
            <a:chOff x="5141" y="1776"/>
            <a:chExt cx="274" cy="699"/>
          </a:xfrm>
        </p:grpSpPr>
        <p:sp>
          <p:nvSpPr>
            <p:cNvPr id="119" name="Line 146"/>
            <p:cNvSpPr>
              <a:spLocks noChangeShapeType="1"/>
            </p:cNvSpPr>
            <p:nvPr/>
          </p:nvSpPr>
          <p:spPr bwMode="auto">
            <a:xfrm flipH="1">
              <a:off x="5295" y="1776"/>
              <a:ext cx="100" cy="22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20" name="Oval 160"/>
            <p:cNvSpPr>
              <a:spLocks noChangeArrowheads="1"/>
            </p:cNvSpPr>
            <p:nvPr/>
          </p:nvSpPr>
          <p:spPr bwMode="auto">
            <a:xfrm>
              <a:off x="5143" y="199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N</a:t>
              </a:r>
            </a:p>
          </p:txBody>
        </p:sp>
        <p:sp>
          <p:nvSpPr>
            <p:cNvPr id="121" name="Text Box 165"/>
            <p:cNvSpPr txBox="1">
              <a:spLocks noChangeArrowheads="1"/>
            </p:cNvSpPr>
            <p:nvPr/>
          </p:nvSpPr>
          <p:spPr bwMode="auto">
            <a:xfrm>
              <a:off x="5141"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4</a:t>
              </a:r>
            </a:p>
          </p:txBody>
        </p:sp>
      </p:grpSp>
      <p:grpSp>
        <p:nvGrpSpPr>
          <p:cNvPr id="122" name="Group 167"/>
          <p:cNvGrpSpPr>
            <a:grpSpLocks/>
          </p:cNvGrpSpPr>
          <p:nvPr/>
        </p:nvGrpSpPr>
        <p:grpSpPr bwMode="auto">
          <a:xfrm>
            <a:off x="5949652" y="5161322"/>
            <a:ext cx="438150" cy="1116013"/>
            <a:chOff x="5451" y="1772"/>
            <a:chExt cx="276" cy="703"/>
          </a:xfrm>
        </p:grpSpPr>
        <p:sp>
          <p:nvSpPr>
            <p:cNvPr id="123" name="Line 147"/>
            <p:cNvSpPr>
              <a:spLocks noChangeShapeType="1"/>
            </p:cNvSpPr>
            <p:nvPr/>
          </p:nvSpPr>
          <p:spPr bwMode="auto">
            <a:xfrm>
              <a:off x="5499" y="1772"/>
              <a:ext cx="99" cy="22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24" name="Oval 161"/>
            <p:cNvSpPr>
              <a:spLocks noChangeArrowheads="1"/>
            </p:cNvSpPr>
            <p:nvPr/>
          </p:nvSpPr>
          <p:spPr bwMode="auto">
            <a:xfrm>
              <a:off x="5451" y="199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O</a:t>
              </a:r>
            </a:p>
          </p:txBody>
        </p:sp>
        <p:sp>
          <p:nvSpPr>
            <p:cNvPr id="125" name="Text Box 166"/>
            <p:cNvSpPr txBox="1">
              <a:spLocks noChangeArrowheads="1"/>
            </p:cNvSpPr>
            <p:nvPr/>
          </p:nvSpPr>
          <p:spPr bwMode="auto">
            <a:xfrm>
              <a:off x="5485"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5</a:t>
              </a:r>
            </a:p>
          </p:txBody>
        </p:sp>
      </p:grpSp>
      <p:sp>
        <p:nvSpPr>
          <p:cNvPr id="144" name="Text Box 50"/>
          <p:cNvSpPr txBox="1">
            <a:spLocks noChangeArrowheads="1"/>
          </p:cNvSpPr>
          <p:nvPr/>
        </p:nvSpPr>
        <p:spPr bwMode="auto">
          <a:xfrm>
            <a:off x="7172449" y="5549170"/>
            <a:ext cx="32590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zh-CN" altLang="en-US" sz="2000" dirty="0">
                <a:latin typeface="微软雅黑" pitchFamily="34" charset="-122"/>
                <a:ea typeface="微软雅黑" pitchFamily="34" charset="-122"/>
                <a:cs typeface="经典粗黑简" pitchFamily="49" charset="-122"/>
              </a:rPr>
              <a:t>高度为</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的一个完全二叉树</a:t>
            </a:r>
          </a:p>
        </p:txBody>
      </p:sp>
      <p:sp>
        <p:nvSpPr>
          <p:cNvPr id="145" name="Text Box 124"/>
          <p:cNvSpPr txBox="1">
            <a:spLocks noChangeArrowheads="1"/>
          </p:cNvSpPr>
          <p:nvPr/>
        </p:nvSpPr>
        <p:spPr bwMode="auto">
          <a:xfrm>
            <a:off x="9020856" y="3905650"/>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1</a:t>
            </a:r>
          </a:p>
        </p:txBody>
      </p:sp>
      <p:sp>
        <p:nvSpPr>
          <p:cNvPr id="146" name="Text Box 126"/>
          <p:cNvSpPr txBox="1">
            <a:spLocks noChangeArrowheads="1"/>
          </p:cNvSpPr>
          <p:nvPr/>
        </p:nvSpPr>
        <p:spPr bwMode="auto">
          <a:xfrm>
            <a:off x="8040410" y="4587441"/>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2</a:t>
            </a:r>
          </a:p>
        </p:txBody>
      </p:sp>
      <p:sp>
        <p:nvSpPr>
          <p:cNvPr id="147" name="Text Box 127"/>
          <p:cNvSpPr txBox="1">
            <a:spLocks noChangeArrowheads="1"/>
          </p:cNvSpPr>
          <p:nvPr/>
        </p:nvSpPr>
        <p:spPr bwMode="auto">
          <a:xfrm>
            <a:off x="10037094" y="4553297"/>
            <a:ext cx="2460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3</a:t>
            </a:r>
          </a:p>
        </p:txBody>
      </p:sp>
      <p:sp>
        <p:nvSpPr>
          <p:cNvPr id="148" name="Text Box 128"/>
          <p:cNvSpPr txBox="1">
            <a:spLocks noChangeArrowheads="1"/>
          </p:cNvSpPr>
          <p:nvPr/>
        </p:nvSpPr>
        <p:spPr bwMode="auto">
          <a:xfrm>
            <a:off x="7527709" y="511845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4</a:t>
            </a:r>
          </a:p>
        </p:txBody>
      </p:sp>
      <p:grpSp>
        <p:nvGrpSpPr>
          <p:cNvPr id="80" name="Group 51"/>
          <p:cNvGrpSpPr>
            <a:grpSpLocks/>
          </p:cNvGrpSpPr>
          <p:nvPr/>
        </p:nvGrpSpPr>
        <p:grpSpPr bwMode="auto">
          <a:xfrm>
            <a:off x="6960096" y="3917032"/>
            <a:ext cx="2971800" cy="1600200"/>
            <a:chOff x="3120" y="2688"/>
            <a:chExt cx="1872" cy="1008"/>
          </a:xfrm>
          <a:solidFill>
            <a:srgbClr val="FF0000"/>
          </a:solidFill>
        </p:grpSpPr>
        <p:sp>
          <p:nvSpPr>
            <p:cNvPr id="81" name="Oval 52"/>
            <p:cNvSpPr>
              <a:spLocks noChangeArrowheads="1"/>
            </p:cNvSpPr>
            <p:nvPr/>
          </p:nvSpPr>
          <p:spPr bwMode="auto">
            <a:xfrm>
              <a:off x="4128" y="2688"/>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2" name="Oval 53"/>
            <p:cNvSpPr>
              <a:spLocks noChangeArrowheads="1"/>
            </p:cNvSpPr>
            <p:nvPr/>
          </p:nvSpPr>
          <p:spPr bwMode="auto">
            <a:xfrm>
              <a:off x="3504" y="3072"/>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3" name="Oval 54"/>
            <p:cNvSpPr>
              <a:spLocks noChangeArrowheads="1"/>
            </p:cNvSpPr>
            <p:nvPr/>
          </p:nvSpPr>
          <p:spPr bwMode="auto">
            <a:xfrm>
              <a:off x="3120" y="3408"/>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4" name="Oval 55"/>
            <p:cNvSpPr>
              <a:spLocks noChangeArrowheads="1"/>
            </p:cNvSpPr>
            <p:nvPr/>
          </p:nvSpPr>
          <p:spPr bwMode="auto">
            <a:xfrm>
              <a:off x="3888" y="3456"/>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5" name="Oval 56"/>
            <p:cNvSpPr>
              <a:spLocks noChangeArrowheads="1"/>
            </p:cNvSpPr>
            <p:nvPr/>
          </p:nvSpPr>
          <p:spPr bwMode="auto">
            <a:xfrm>
              <a:off x="4752" y="3072"/>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86" name="AutoShape 57"/>
            <p:cNvCxnSpPr>
              <a:cxnSpLocks noChangeShapeType="1"/>
              <a:stCxn id="81" idx="3"/>
              <a:endCxn id="82" idx="7"/>
            </p:cNvCxnSpPr>
            <p:nvPr/>
          </p:nvCxnSpPr>
          <p:spPr bwMode="auto">
            <a:xfrm flipH="1">
              <a:off x="3709" y="2893"/>
              <a:ext cx="454" cy="214"/>
            </a:xfrm>
            <a:prstGeom prst="straightConnector1">
              <a:avLst/>
            </a:prstGeom>
            <a:grpFill/>
            <a:ln w="9525">
              <a:solidFill>
                <a:schemeClr val="tx1"/>
              </a:solidFill>
              <a:miter lim="800000"/>
              <a:headEnd/>
              <a:tailEnd/>
            </a:ln>
          </p:spPr>
        </p:cxnSp>
        <p:cxnSp>
          <p:nvCxnSpPr>
            <p:cNvPr id="87" name="AutoShape 58"/>
            <p:cNvCxnSpPr>
              <a:cxnSpLocks noChangeShapeType="1"/>
              <a:stCxn id="82" idx="3"/>
              <a:endCxn id="83" idx="7"/>
            </p:cNvCxnSpPr>
            <p:nvPr/>
          </p:nvCxnSpPr>
          <p:spPr bwMode="auto">
            <a:xfrm flipH="1">
              <a:off x="3325" y="3277"/>
              <a:ext cx="214" cy="166"/>
            </a:xfrm>
            <a:prstGeom prst="straightConnector1">
              <a:avLst/>
            </a:prstGeom>
            <a:grpFill/>
            <a:ln w="9525">
              <a:solidFill>
                <a:schemeClr val="tx1"/>
              </a:solidFill>
              <a:miter lim="800000"/>
              <a:headEnd/>
              <a:tailEnd/>
            </a:ln>
          </p:spPr>
        </p:cxnSp>
        <p:cxnSp>
          <p:nvCxnSpPr>
            <p:cNvPr id="134" name="AutoShape 59"/>
            <p:cNvCxnSpPr>
              <a:cxnSpLocks noChangeShapeType="1"/>
              <a:stCxn id="81" idx="5"/>
              <a:endCxn id="85" idx="1"/>
            </p:cNvCxnSpPr>
            <p:nvPr/>
          </p:nvCxnSpPr>
          <p:spPr bwMode="auto">
            <a:xfrm>
              <a:off x="4333" y="2893"/>
              <a:ext cx="454" cy="214"/>
            </a:xfrm>
            <a:prstGeom prst="straightConnector1">
              <a:avLst/>
            </a:prstGeom>
            <a:grpFill/>
            <a:ln w="9525">
              <a:solidFill>
                <a:schemeClr val="tx1"/>
              </a:solidFill>
              <a:miter lim="800000"/>
              <a:headEnd/>
              <a:tailEnd/>
            </a:ln>
          </p:spPr>
        </p:cxnSp>
        <p:cxnSp>
          <p:nvCxnSpPr>
            <p:cNvPr id="135" name="AutoShape 60"/>
            <p:cNvCxnSpPr>
              <a:cxnSpLocks noChangeShapeType="1"/>
              <a:stCxn id="82" idx="5"/>
              <a:endCxn id="84" idx="1"/>
            </p:cNvCxnSpPr>
            <p:nvPr/>
          </p:nvCxnSpPr>
          <p:spPr bwMode="auto">
            <a:xfrm>
              <a:off x="3709" y="3277"/>
              <a:ext cx="214" cy="214"/>
            </a:xfrm>
            <a:prstGeom prst="straightConnector1">
              <a:avLst/>
            </a:prstGeom>
            <a:grpFill/>
            <a:ln w="9525">
              <a:solidFill>
                <a:schemeClr val="tx1"/>
              </a:solidFill>
              <a:miter lim="800000"/>
              <a:headEnd/>
              <a:tailEnd/>
            </a:ln>
          </p:spPr>
        </p:cxnSp>
        <p:sp>
          <p:nvSpPr>
            <p:cNvPr id="73" name="Oval 54"/>
            <p:cNvSpPr>
              <a:spLocks noChangeArrowheads="1"/>
            </p:cNvSpPr>
            <p:nvPr/>
          </p:nvSpPr>
          <p:spPr bwMode="auto">
            <a:xfrm>
              <a:off x="4405" y="3453"/>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74" name="AutoShape 58"/>
            <p:cNvCxnSpPr>
              <a:cxnSpLocks noChangeShapeType="1"/>
              <a:endCxn id="73" idx="7"/>
            </p:cNvCxnSpPr>
            <p:nvPr/>
          </p:nvCxnSpPr>
          <p:spPr bwMode="auto">
            <a:xfrm flipH="1">
              <a:off x="4610" y="3322"/>
              <a:ext cx="214" cy="166"/>
            </a:xfrm>
            <a:prstGeom prst="straightConnector1">
              <a:avLst/>
            </a:prstGeom>
            <a:grpFill/>
            <a:ln w="9525">
              <a:solidFill>
                <a:schemeClr val="tx1"/>
              </a:solidFill>
              <a:miter lim="800000"/>
              <a:headEnd/>
              <a:tailEnd/>
            </a:ln>
          </p:spPr>
        </p:cxnSp>
      </p:grpSp>
      <p:sp>
        <p:nvSpPr>
          <p:cNvPr id="136" name="Text Box 125"/>
          <p:cNvSpPr txBox="1">
            <a:spLocks noChangeArrowheads="1"/>
          </p:cNvSpPr>
          <p:nvPr/>
        </p:nvSpPr>
        <p:spPr bwMode="auto">
          <a:xfrm>
            <a:off x="8615859" y="5115466"/>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5</a:t>
            </a:r>
          </a:p>
        </p:txBody>
      </p:sp>
      <p:sp>
        <p:nvSpPr>
          <p:cNvPr id="75" name="Text Box 129"/>
          <p:cNvSpPr txBox="1">
            <a:spLocks noChangeArrowheads="1"/>
          </p:cNvSpPr>
          <p:nvPr/>
        </p:nvSpPr>
        <p:spPr bwMode="auto">
          <a:xfrm>
            <a:off x="9484222" y="5151796"/>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6</a:t>
            </a:r>
          </a:p>
        </p:txBody>
      </p:sp>
      <p:sp>
        <p:nvSpPr>
          <p:cNvPr id="76" name="Text Box 176"/>
          <p:cNvSpPr txBox="1">
            <a:spLocks noChangeArrowheads="1"/>
          </p:cNvSpPr>
          <p:nvPr/>
        </p:nvSpPr>
        <p:spPr bwMode="auto">
          <a:xfrm>
            <a:off x="2379876" y="5924973"/>
            <a:ext cx="269746"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en-US" altLang="zh-CN" sz="2400" b="1" dirty="0">
                <a:latin typeface="Times New Roman" pitchFamily="18" charset="0"/>
              </a:rPr>
              <a:t>8</a:t>
            </a:r>
          </a:p>
        </p:txBody>
      </p:sp>
      <p:sp>
        <p:nvSpPr>
          <p:cNvPr id="2" name="矩形 1">
            <a:extLst>
              <a:ext uri="{FF2B5EF4-FFF2-40B4-BE49-F238E27FC236}">
                <a16:creationId xmlns:a16="http://schemas.microsoft.com/office/drawing/2014/main" xmlns="" id="{24F64C7E-493C-1572-1F10-4566C8CDD9B9}"/>
              </a:ext>
            </a:extLst>
          </p:cNvPr>
          <p:cNvSpPr/>
          <p:nvPr/>
        </p:nvSpPr>
        <p:spPr>
          <a:xfrm>
            <a:off x="1643217" y="2631855"/>
            <a:ext cx="9277319" cy="646331"/>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对一棵具有</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个结点的二叉树按层序编号，编号为</a:t>
            </a:r>
            <a:r>
              <a:rPr kumimoji="1" lang="en-US" altLang="zh-CN" dirty="0">
                <a:latin typeface="微软雅黑" pitchFamily="34" charset="-122"/>
                <a:ea typeface="微软雅黑" pitchFamily="34" charset="-122"/>
                <a:cs typeface="经典粗黑简" pitchFamily="49" charset="-122"/>
              </a:rPr>
              <a:t>i（1≤i≤n）</a:t>
            </a:r>
            <a:r>
              <a:rPr kumimoji="1" lang="zh-CN" altLang="en-US" dirty="0">
                <a:latin typeface="微软雅黑" pitchFamily="34" charset="-122"/>
                <a:ea typeface="微软雅黑" pitchFamily="34" charset="-122"/>
                <a:cs typeface="经典粗黑简" pitchFamily="49" charset="-122"/>
              </a:rPr>
              <a:t>的结点与同样深度的满二叉树中编号为</a:t>
            </a:r>
            <a:r>
              <a:rPr kumimoji="1" lang="en-US" altLang="zh-CN" dirty="0">
                <a:latin typeface="微软雅黑" pitchFamily="34" charset="-122"/>
                <a:ea typeface="微软雅黑" pitchFamily="34" charset="-122"/>
                <a:cs typeface="经典粗黑简" pitchFamily="49" charset="-122"/>
              </a:rPr>
              <a:t>i</a:t>
            </a:r>
            <a:r>
              <a:rPr kumimoji="1" lang="zh-CN" altLang="en-US" dirty="0">
                <a:latin typeface="微软雅黑" pitchFamily="34" charset="-122"/>
                <a:ea typeface="微软雅黑" pitchFamily="34" charset="-122"/>
                <a:cs typeface="经典粗黑简" pitchFamily="49" charset="-122"/>
              </a:rPr>
              <a:t>的结点在二叉树中的位置完全相同。</a:t>
            </a:r>
          </a:p>
        </p:txBody>
      </p:sp>
      <p:sp>
        <p:nvSpPr>
          <p:cNvPr id="4" name="矩形 3">
            <a:extLst>
              <a:ext uri="{FF2B5EF4-FFF2-40B4-BE49-F238E27FC236}">
                <a16:creationId xmlns:a16="http://schemas.microsoft.com/office/drawing/2014/main" xmlns="" id="{3F8194D3-CE32-8359-53A2-403E6B69FD69}"/>
              </a:ext>
            </a:extLst>
          </p:cNvPr>
          <p:cNvSpPr/>
          <p:nvPr/>
        </p:nvSpPr>
        <p:spPr>
          <a:xfrm>
            <a:off x="983432" y="1569472"/>
            <a:ext cx="2492990"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两种特殊的二叉树：</a:t>
            </a:r>
          </a:p>
        </p:txBody>
      </p:sp>
      <p:sp>
        <p:nvSpPr>
          <p:cNvPr id="5" name="矩形 4">
            <a:extLst>
              <a:ext uri="{FF2B5EF4-FFF2-40B4-BE49-F238E27FC236}">
                <a16:creationId xmlns:a16="http://schemas.microsoft.com/office/drawing/2014/main" xmlns="" id="{E571777E-7251-E61C-894B-741F91986C3F}"/>
              </a:ext>
            </a:extLst>
          </p:cNvPr>
          <p:cNvSpPr/>
          <p:nvPr/>
        </p:nvSpPr>
        <p:spPr>
          <a:xfrm>
            <a:off x="1496393" y="2087351"/>
            <a:ext cx="179889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 ②完全二叉树</a:t>
            </a:r>
            <a:endParaRPr lang="zh-CN" altLang="en-US" sz="2000" dirty="0"/>
          </a:p>
        </p:txBody>
      </p:sp>
      <p:sp>
        <p:nvSpPr>
          <p:cNvPr id="6" name="矩形 5">
            <a:extLst>
              <a:ext uri="{FF2B5EF4-FFF2-40B4-BE49-F238E27FC236}">
                <a16:creationId xmlns:a16="http://schemas.microsoft.com/office/drawing/2014/main" xmlns="" id="{CC577FE7-926E-5248-BEA9-B8C71573EC36}"/>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7" name="Rectangle 2">
            <a:extLst>
              <a:ext uri="{FF2B5EF4-FFF2-40B4-BE49-F238E27FC236}">
                <a16:creationId xmlns:a16="http://schemas.microsoft.com/office/drawing/2014/main" xmlns="" id="{20F448D7-3215-7091-DF91-2EA315A610E2}"/>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8" name="直接连接符 7">
            <a:extLst>
              <a:ext uri="{FF2B5EF4-FFF2-40B4-BE49-F238E27FC236}">
                <a16:creationId xmlns:a16="http://schemas.microsoft.com/office/drawing/2014/main" xmlns="" id="{84FE749B-1E61-B8F1-F4B5-BCF896278A0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3509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ext Box 50"/>
          <p:cNvSpPr txBox="1">
            <a:spLocks noChangeArrowheads="1"/>
          </p:cNvSpPr>
          <p:nvPr/>
        </p:nvSpPr>
        <p:spPr bwMode="auto">
          <a:xfrm>
            <a:off x="7172449" y="5549170"/>
            <a:ext cx="32590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zh-CN" altLang="en-US" sz="2000" dirty="0">
                <a:latin typeface="微软雅黑" pitchFamily="34" charset="-122"/>
                <a:ea typeface="微软雅黑" pitchFamily="34" charset="-122"/>
                <a:cs typeface="经典粗黑简" pitchFamily="49" charset="-122"/>
              </a:rPr>
              <a:t>高度为</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的一个完全二叉树</a:t>
            </a:r>
          </a:p>
        </p:txBody>
      </p:sp>
      <p:sp>
        <p:nvSpPr>
          <p:cNvPr id="145" name="Text Box 124"/>
          <p:cNvSpPr txBox="1">
            <a:spLocks noChangeArrowheads="1"/>
          </p:cNvSpPr>
          <p:nvPr/>
        </p:nvSpPr>
        <p:spPr bwMode="auto">
          <a:xfrm>
            <a:off x="9020856" y="3905650"/>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1</a:t>
            </a:r>
          </a:p>
        </p:txBody>
      </p:sp>
      <p:sp>
        <p:nvSpPr>
          <p:cNvPr id="146" name="Text Box 126"/>
          <p:cNvSpPr txBox="1">
            <a:spLocks noChangeArrowheads="1"/>
          </p:cNvSpPr>
          <p:nvPr/>
        </p:nvSpPr>
        <p:spPr bwMode="auto">
          <a:xfrm>
            <a:off x="8040410" y="4587441"/>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2</a:t>
            </a:r>
          </a:p>
        </p:txBody>
      </p:sp>
      <p:sp>
        <p:nvSpPr>
          <p:cNvPr id="147" name="Text Box 127"/>
          <p:cNvSpPr txBox="1">
            <a:spLocks noChangeArrowheads="1"/>
          </p:cNvSpPr>
          <p:nvPr/>
        </p:nvSpPr>
        <p:spPr bwMode="auto">
          <a:xfrm>
            <a:off x="10037094" y="4553297"/>
            <a:ext cx="2460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3</a:t>
            </a:r>
          </a:p>
        </p:txBody>
      </p:sp>
      <p:sp>
        <p:nvSpPr>
          <p:cNvPr id="148" name="Text Box 128"/>
          <p:cNvSpPr txBox="1">
            <a:spLocks noChangeArrowheads="1"/>
          </p:cNvSpPr>
          <p:nvPr/>
        </p:nvSpPr>
        <p:spPr bwMode="auto">
          <a:xfrm>
            <a:off x="7527709" y="511845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4</a:t>
            </a:r>
          </a:p>
        </p:txBody>
      </p:sp>
      <p:grpSp>
        <p:nvGrpSpPr>
          <p:cNvPr id="80" name="Group 51"/>
          <p:cNvGrpSpPr>
            <a:grpSpLocks/>
          </p:cNvGrpSpPr>
          <p:nvPr/>
        </p:nvGrpSpPr>
        <p:grpSpPr bwMode="auto">
          <a:xfrm>
            <a:off x="6960097" y="3917034"/>
            <a:ext cx="3525838" cy="1617663"/>
            <a:chOff x="3120" y="2688"/>
            <a:chExt cx="2221" cy="1019"/>
          </a:xfrm>
          <a:solidFill>
            <a:srgbClr val="FF0000"/>
          </a:solidFill>
        </p:grpSpPr>
        <p:sp>
          <p:nvSpPr>
            <p:cNvPr id="81" name="Oval 52"/>
            <p:cNvSpPr>
              <a:spLocks noChangeArrowheads="1"/>
            </p:cNvSpPr>
            <p:nvPr/>
          </p:nvSpPr>
          <p:spPr bwMode="auto">
            <a:xfrm>
              <a:off x="4128" y="2688"/>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2" name="Oval 53"/>
            <p:cNvSpPr>
              <a:spLocks noChangeArrowheads="1"/>
            </p:cNvSpPr>
            <p:nvPr/>
          </p:nvSpPr>
          <p:spPr bwMode="auto">
            <a:xfrm>
              <a:off x="3504" y="3072"/>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3" name="Oval 54"/>
            <p:cNvSpPr>
              <a:spLocks noChangeArrowheads="1"/>
            </p:cNvSpPr>
            <p:nvPr/>
          </p:nvSpPr>
          <p:spPr bwMode="auto">
            <a:xfrm>
              <a:off x="3120" y="3408"/>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4" name="Oval 55"/>
            <p:cNvSpPr>
              <a:spLocks noChangeArrowheads="1"/>
            </p:cNvSpPr>
            <p:nvPr/>
          </p:nvSpPr>
          <p:spPr bwMode="auto">
            <a:xfrm>
              <a:off x="3888" y="3456"/>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5" name="Oval 56"/>
            <p:cNvSpPr>
              <a:spLocks noChangeArrowheads="1"/>
            </p:cNvSpPr>
            <p:nvPr/>
          </p:nvSpPr>
          <p:spPr bwMode="auto">
            <a:xfrm>
              <a:off x="4752" y="3072"/>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86" name="AutoShape 57"/>
            <p:cNvCxnSpPr>
              <a:cxnSpLocks noChangeShapeType="1"/>
              <a:stCxn id="81" idx="3"/>
              <a:endCxn id="82" idx="7"/>
            </p:cNvCxnSpPr>
            <p:nvPr/>
          </p:nvCxnSpPr>
          <p:spPr bwMode="auto">
            <a:xfrm flipH="1">
              <a:off x="3709" y="2893"/>
              <a:ext cx="454" cy="214"/>
            </a:xfrm>
            <a:prstGeom prst="straightConnector1">
              <a:avLst/>
            </a:prstGeom>
            <a:grpFill/>
            <a:ln w="9525">
              <a:solidFill>
                <a:schemeClr val="tx1"/>
              </a:solidFill>
              <a:miter lim="800000"/>
              <a:headEnd/>
              <a:tailEnd/>
            </a:ln>
          </p:spPr>
        </p:cxnSp>
        <p:cxnSp>
          <p:nvCxnSpPr>
            <p:cNvPr id="87" name="AutoShape 58"/>
            <p:cNvCxnSpPr>
              <a:cxnSpLocks noChangeShapeType="1"/>
              <a:stCxn id="82" idx="3"/>
              <a:endCxn id="83" idx="7"/>
            </p:cNvCxnSpPr>
            <p:nvPr/>
          </p:nvCxnSpPr>
          <p:spPr bwMode="auto">
            <a:xfrm flipH="1">
              <a:off x="3325" y="3277"/>
              <a:ext cx="214" cy="166"/>
            </a:xfrm>
            <a:prstGeom prst="straightConnector1">
              <a:avLst/>
            </a:prstGeom>
            <a:grpFill/>
            <a:ln w="9525">
              <a:solidFill>
                <a:schemeClr val="tx1"/>
              </a:solidFill>
              <a:miter lim="800000"/>
              <a:headEnd/>
              <a:tailEnd/>
            </a:ln>
          </p:spPr>
        </p:cxnSp>
        <p:cxnSp>
          <p:nvCxnSpPr>
            <p:cNvPr id="134" name="AutoShape 59"/>
            <p:cNvCxnSpPr>
              <a:cxnSpLocks noChangeShapeType="1"/>
              <a:stCxn id="81" idx="5"/>
              <a:endCxn id="85" idx="1"/>
            </p:cNvCxnSpPr>
            <p:nvPr/>
          </p:nvCxnSpPr>
          <p:spPr bwMode="auto">
            <a:xfrm>
              <a:off x="4333" y="2893"/>
              <a:ext cx="454" cy="214"/>
            </a:xfrm>
            <a:prstGeom prst="straightConnector1">
              <a:avLst/>
            </a:prstGeom>
            <a:grpFill/>
            <a:ln w="9525">
              <a:solidFill>
                <a:schemeClr val="tx1"/>
              </a:solidFill>
              <a:miter lim="800000"/>
              <a:headEnd/>
              <a:tailEnd/>
            </a:ln>
          </p:spPr>
        </p:cxnSp>
        <p:cxnSp>
          <p:nvCxnSpPr>
            <p:cNvPr id="135" name="AutoShape 60"/>
            <p:cNvCxnSpPr>
              <a:cxnSpLocks noChangeShapeType="1"/>
              <a:stCxn id="82" idx="5"/>
              <a:endCxn id="84" idx="1"/>
            </p:cNvCxnSpPr>
            <p:nvPr/>
          </p:nvCxnSpPr>
          <p:spPr bwMode="auto">
            <a:xfrm>
              <a:off x="3709" y="3277"/>
              <a:ext cx="214" cy="214"/>
            </a:xfrm>
            <a:prstGeom prst="straightConnector1">
              <a:avLst/>
            </a:prstGeom>
            <a:grpFill/>
            <a:ln w="9525">
              <a:solidFill>
                <a:schemeClr val="tx1"/>
              </a:solidFill>
              <a:miter lim="800000"/>
              <a:headEnd/>
              <a:tailEnd/>
            </a:ln>
          </p:spPr>
        </p:cxnSp>
        <p:sp>
          <p:nvSpPr>
            <p:cNvPr id="73" name="Oval 54"/>
            <p:cNvSpPr>
              <a:spLocks noChangeArrowheads="1"/>
            </p:cNvSpPr>
            <p:nvPr/>
          </p:nvSpPr>
          <p:spPr bwMode="auto">
            <a:xfrm>
              <a:off x="4405" y="3453"/>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74" name="AutoShape 58"/>
            <p:cNvCxnSpPr>
              <a:cxnSpLocks noChangeShapeType="1"/>
              <a:endCxn id="73" idx="7"/>
            </p:cNvCxnSpPr>
            <p:nvPr/>
          </p:nvCxnSpPr>
          <p:spPr bwMode="auto">
            <a:xfrm flipH="1">
              <a:off x="4610" y="3322"/>
              <a:ext cx="214" cy="166"/>
            </a:xfrm>
            <a:prstGeom prst="straightConnector1">
              <a:avLst/>
            </a:prstGeom>
            <a:grpFill/>
            <a:ln w="9525">
              <a:solidFill>
                <a:schemeClr val="tx1"/>
              </a:solidFill>
              <a:miter lim="800000"/>
              <a:headEnd/>
              <a:tailEnd/>
            </a:ln>
          </p:spPr>
        </p:cxnSp>
        <p:sp>
          <p:nvSpPr>
            <p:cNvPr id="76" name="Oval 55"/>
            <p:cNvSpPr>
              <a:spLocks noChangeArrowheads="1"/>
            </p:cNvSpPr>
            <p:nvPr/>
          </p:nvSpPr>
          <p:spPr bwMode="auto">
            <a:xfrm>
              <a:off x="5101" y="3467"/>
              <a:ext cx="240" cy="240"/>
            </a:xfrm>
            <a:prstGeom prst="ellipse">
              <a:avLst/>
            </a:prstGeom>
            <a:grp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77" name="AutoShape 60"/>
            <p:cNvCxnSpPr>
              <a:cxnSpLocks noChangeShapeType="1"/>
              <a:endCxn id="76" idx="1"/>
            </p:cNvCxnSpPr>
            <p:nvPr/>
          </p:nvCxnSpPr>
          <p:spPr bwMode="auto">
            <a:xfrm>
              <a:off x="4922" y="3288"/>
              <a:ext cx="214" cy="214"/>
            </a:xfrm>
            <a:prstGeom prst="straightConnector1">
              <a:avLst/>
            </a:prstGeom>
            <a:grpFill/>
            <a:ln w="9525">
              <a:solidFill>
                <a:schemeClr val="tx1"/>
              </a:solidFill>
              <a:miter lim="800000"/>
              <a:headEnd/>
              <a:tailEnd/>
            </a:ln>
          </p:spPr>
        </p:cxnSp>
      </p:grpSp>
      <p:sp>
        <p:nvSpPr>
          <p:cNvPr id="136" name="Text Box 125"/>
          <p:cNvSpPr txBox="1">
            <a:spLocks noChangeArrowheads="1"/>
          </p:cNvSpPr>
          <p:nvPr/>
        </p:nvSpPr>
        <p:spPr bwMode="auto">
          <a:xfrm>
            <a:off x="8615859" y="5115466"/>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5</a:t>
            </a:r>
          </a:p>
        </p:txBody>
      </p:sp>
      <p:sp>
        <p:nvSpPr>
          <p:cNvPr id="75" name="Text Box 129"/>
          <p:cNvSpPr txBox="1">
            <a:spLocks noChangeArrowheads="1"/>
          </p:cNvSpPr>
          <p:nvPr/>
        </p:nvSpPr>
        <p:spPr bwMode="auto">
          <a:xfrm>
            <a:off x="9484222" y="5151796"/>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6</a:t>
            </a:r>
          </a:p>
        </p:txBody>
      </p:sp>
      <p:sp>
        <p:nvSpPr>
          <p:cNvPr id="78" name="Text Box 130"/>
          <p:cNvSpPr txBox="1">
            <a:spLocks noChangeArrowheads="1"/>
          </p:cNvSpPr>
          <p:nvPr/>
        </p:nvSpPr>
        <p:spPr bwMode="auto">
          <a:xfrm>
            <a:off x="10328651" y="4801385"/>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7</a:t>
            </a:r>
          </a:p>
        </p:txBody>
      </p:sp>
      <p:sp>
        <p:nvSpPr>
          <p:cNvPr id="2" name="矩形 1">
            <a:extLst>
              <a:ext uri="{FF2B5EF4-FFF2-40B4-BE49-F238E27FC236}">
                <a16:creationId xmlns:a16="http://schemas.microsoft.com/office/drawing/2014/main" xmlns="" id="{7E4F77AD-6E32-AC30-D597-D7C15517591D}"/>
              </a:ext>
            </a:extLst>
          </p:cNvPr>
          <p:cNvSpPr/>
          <p:nvPr/>
        </p:nvSpPr>
        <p:spPr>
          <a:xfrm>
            <a:off x="1643217" y="2631855"/>
            <a:ext cx="9277319" cy="646331"/>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对一棵具有</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个结点的二叉树按层序编号，编号为</a:t>
            </a:r>
            <a:r>
              <a:rPr kumimoji="1" lang="en-US" altLang="zh-CN" dirty="0">
                <a:latin typeface="微软雅黑" pitchFamily="34" charset="-122"/>
                <a:ea typeface="微软雅黑" pitchFamily="34" charset="-122"/>
                <a:cs typeface="经典粗黑简" pitchFamily="49" charset="-122"/>
              </a:rPr>
              <a:t>i（1≤i≤n）</a:t>
            </a:r>
            <a:r>
              <a:rPr kumimoji="1" lang="zh-CN" altLang="en-US" dirty="0">
                <a:latin typeface="微软雅黑" pitchFamily="34" charset="-122"/>
                <a:ea typeface="微软雅黑" pitchFamily="34" charset="-122"/>
                <a:cs typeface="经典粗黑简" pitchFamily="49" charset="-122"/>
              </a:rPr>
              <a:t>的结点与同样深度的满二叉树中编号为</a:t>
            </a:r>
            <a:r>
              <a:rPr kumimoji="1" lang="en-US" altLang="zh-CN" dirty="0">
                <a:latin typeface="微软雅黑" pitchFamily="34" charset="-122"/>
                <a:ea typeface="微软雅黑" pitchFamily="34" charset="-122"/>
                <a:cs typeface="经典粗黑简" pitchFamily="49" charset="-122"/>
              </a:rPr>
              <a:t>i</a:t>
            </a:r>
            <a:r>
              <a:rPr kumimoji="1" lang="zh-CN" altLang="en-US" dirty="0">
                <a:latin typeface="微软雅黑" pitchFamily="34" charset="-122"/>
                <a:ea typeface="微软雅黑" pitchFamily="34" charset="-122"/>
                <a:cs typeface="经典粗黑简" pitchFamily="49" charset="-122"/>
              </a:rPr>
              <a:t>的结点在二叉树中的位置完全相同。</a:t>
            </a:r>
          </a:p>
        </p:txBody>
      </p:sp>
      <p:sp>
        <p:nvSpPr>
          <p:cNvPr id="4" name="矩形 3">
            <a:extLst>
              <a:ext uri="{FF2B5EF4-FFF2-40B4-BE49-F238E27FC236}">
                <a16:creationId xmlns:a16="http://schemas.microsoft.com/office/drawing/2014/main" xmlns="" id="{AC2EFBAD-15D3-B7E2-3BA8-2E4A76E0C14D}"/>
              </a:ext>
            </a:extLst>
          </p:cNvPr>
          <p:cNvSpPr/>
          <p:nvPr/>
        </p:nvSpPr>
        <p:spPr>
          <a:xfrm>
            <a:off x="983432" y="1569472"/>
            <a:ext cx="2492990"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两种特殊的二叉树：</a:t>
            </a:r>
          </a:p>
        </p:txBody>
      </p:sp>
      <p:sp>
        <p:nvSpPr>
          <p:cNvPr id="5" name="矩形 4">
            <a:extLst>
              <a:ext uri="{FF2B5EF4-FFF2-40B4-BE49-F238E27FC236}">
                <a16:creationId xmlns:a16="http://schemas.microsoft.com/office/drawing/2014/main" xmlns="" id="{2686B932-C966-1E3F-2DDA-BF922E1DC6E2}"/>
              </a:ext>
            </a:extLst>
          </p:cNvPr>
          <p:cNvSpPr/>
          <p:nvPr/>
        </p:nvSpPr>
        <p:spPr>
          <a:xfrm>
            <a:off x="1496393" y="2087351"/>
            <a:ext cx="179889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 ②完全二叉树</a:t>
            </a:r>
            <a:endParaRPr lang="zh-CN" altLang="en-US" sz="2000" dirty="0"/>
          </a:p>
        </p:txBody>
      </p:sp>
      <p:sp>
        <p:nvSpPr>
          <p:cNvPr id="6" name="矩形 5">
            <a:extLst>
              <a:ext uri="{FF2B5EF4-FFF2-40B4-BE49-F238E27FC236}">
                <a16:creationId xmlns:a16="http://schemas.microsoft.com/office/drawing/2014/main" xmlns="" id="{A5159B53-07B0-1C2C-6691-FAB3B823694F}"/>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7" name="Rectangle 2">
            <a:extLst>
              <a:ext uri="{FF2B5EF4-FFF2-40B4-BE49-F238E27FC236}">
                <a16:creationId xmlns:a16="http://schemas.microsoft.com/office/drawing/2014/main" xmlns="" id="{FF1D1A07-1445-C0E6-C44C-D015E71E358F}"/>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8" name="直接连接符 7">
            <a:extLst>
              <a:ext uri="{FF2B5EF4-FFF2-40B4-BE49-F238E27FC236}">
                <a16:creationId xmlns:a16="http://schemas.microsoft.com/office/drawing/2014/main" xmlns="" id="{5CEBD4D8-219D-B0D0-C9BA-A2082C6CE541}"/>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Oval 123">
            <a:extLst>
              <a:ext uri="{FF2B5EF4-FFF2-40B4-BE49-F238E27FC236}">
                <a16:creationId xmlns:a16="http://schemas.microsoft.com/office/drawing/2014/main" xmlns="" id="{A2523F0D-F0AA-15F3-E8CC-63B2D95E0042}"/>
              </a:ext>
            </a:extLst>
          </p:cNvPr>
          <p:cNvSpPr>
            <a:spLocks noChangeArrowheads="1"/>
          </p:cNvSpPr>
          <p:nvPr/>
        </p:nvSpPr>
        <p:spPr bwMode="auto">
          <a:xfrm>
            <a:off x="4088179" y="3609515"/>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A</a:t>
            </a:r>
          </a:p>
        </p:txBody>
      </p:sp>
      <p:sp>
        <p:nvSpPr>
          <p:cNvPr id="9" name="Text Box 124">
            <a:extLst>
              <a:ext uri="{FF2B5EF4-FFF2-40B4-BE49-F238E27FC236}">
                <a16:creationId xmlns:a16="http://schemas.microsoft.com/office/drawing/2014/main" xmlns="" id="{6C0D33AD-63A8-3C27-AEDE-4AE0F947D401}"/>
              </a:ext>
            </a:extLst>
          </p:cNvPr>
          <p:cNvSpPr txBox="1">
            <a:spLocks noChangeArrowheads="1"/>
          </p:cNvSpPr>
          <p:nvPr/>
        </p:nvSpPr>
        <p:spPr bwMode="auto">
          <a:xfrm>
            <a:off x="4804143" y="3573016"/>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1</a:t>
            </a:r>
          </a:p>
        </p:txBody>
      </p:sp>
      <p:sp>
        <p:nvSpPr>
          <p:cNvPr id="10" name="Text Box 125">
            <a:extLst>
              <a:ext uri="{FF2B5EF4-FFF2-40B4-BE49-F238E27FC236}">
                <a16:creationId xmlns:a16="http://schemas.microsoft.com/office/drawing/2014/main" xmlns="" id="{5F460042-6501-3497-EA08-63B132D705D4}"/>
              </a:ext>
            </a:extLst>
          </p:cNvPr>
          <p:cNvSpPr txBox="1">
            <a:spLocks noChangeArrowheads="1"/>
          </p:cNvSpPr>
          <p:nvPr/>
        </p:nvSpPr>
        <p:spPr bwMode="auto">
          <a:xfrm>
            <a:off x="4037161" y="4756509"/>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5</a:t>
            </a:r>
          </a:p>
        </p:txBody>
      </p:sp>
      <p:sp>
        <p:nvSpPr>
          <p:cNvPr id="11" name="Text Box 126">
            <a:extLst>
              <a:ext uri="{FF2B5EF4-FFF2-40B4-BE49-F238E27FC236}">
                <a16:creationId xmlns:a16="http://schemas.microsoft.com/office/drawing/2014/main" xmlns="" id="{5FEF6191-37A5-6FFB-90C6-0BEEEB322F98}"/>
              </a:ext>
            </a:extLst>
          </p:cNvPr>
          <p:cNvSpPr txBox="1">
            <a:spLocks noChangeArrowheads="1"/>
          </p:cNvSpPr>
          <p:nvPr/>
        </p:nvSpPr>
        <p:spPr bwMode="auto">
          <a:xfrm>
            <a:off x="3546625" y="4034197"/>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2</a:t>
            </a:r>
          </a:p>
        </p:txBody>
      </p:sp>
      <p:sp>
        <p:nvSpPr>
          <p:cNvPr id="12" name="Text Box 127">
            <a:extLst>
              <a:ext uri="{FF2B5EF4-FFF2-40B4-BE49-F238E27FC236}">
                <a16:creationId xmlns:a16="http://schemas.microsoft.com/office/drawing/2014/main" xmlns="" id="{910E2DE4-4A52-4F7A-0427-0AEEDAE457F3}"/>
              </a:ext>
            </a:extLst>
          </p:cNvPr>
          <p:cNvSpPr txBox="1">
            <a:spLocks noChangeArrowheads="1"/>
          </p:cNvSpPr>
          <p:nvPr/>
        </p:nvSpPr>
        <p:spPr bwMode="auto">
          <a:xfrm>
            <a:off x="5702002" y="4034197"/>
            <a:ext cx="2460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3</a:t>
            </a:r>
          </a:p>
        </p:txBody>
      </p:sp>
      <p:sp>
        <p:nvSpPr>
          <p:cNvPr id="13" name="Text Box 128">
            <a:extLst>
              <a:ext uri="{FF2B5EF4-FFF2-40B4-BE49-F238E27FC236}">
                <a16:creationId xmlns:a16="http://schemas.microsoft.com/office/drawing/2014/main" xmlns="" id="{7A5DEDFC-79B0-1DE9-284A-FB453C671365}"/>
              </a:ext>
            </a:extLst>
          </p:cNvPr>
          <p:cNvSpPr txBox="1">
            <a:spLocks noChangeArrowheads="1"/>
          </p:cNvSpPr>
          <p:nvPr/>
        </p:nvSpPr>
        <p:spPr bwMode="auto">
          <a:xfrm>
            <a:off x="3057675" y="475650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4</a:t>
            </a:r>
          </a:p>
        </p:txBody>
      </p:sp>
      <p:sp>
        <p:nvSpPr>
          <p:cNvPr id="14" name="Text Box 129">
            <a:extLst>
              <a:ext uri="{FF2B5EF4-FFF2-40B4-BE49-F238E27FC236}">
                <a16:creationId xmlns:a16="http://schemas.microsoft.com/office/drawing/2014/main" xmlns="" id="{3EFCC85B-8180-DEDF-5484-DC17CC7E38FD}"/>
              </a:ext>
            </a:extLst>
          </p:cNvPr>
          <p:cNvSpPr txBox="1">
            <a:spLocks noChangeArrowheads="1"/>
          </p:cNvSpPr>
          <p:nvPr/>
        </p:nvSpPr>
        <p:spPr bwMode="auto">
          <a:xfrm>
            <a:off x="5213053" y="4756509"/>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6</a:t>
            </a:r>
          </a:p>
        </p:txBody>
      </p:sp>
      <p:sp>
        <p:nvSpPr>
          <p:cNvPr id="15" name="Text Box 130">
            <a:extLst>
              <a:ext uri="{FF2B5EF4-FFF2-40B4-BE49-F238E27FC236}">
                <a16:creationId xmlns:a16="http://schemas.microsoft.com/office/drawing/2014/main" xmlns="" id="{3297660D-A482-4D4B-CE30-A455014283B8}"/>
              </a:ext>
            </a:extLst>
          </p:cNvPr>
          <p:cNvSpPr txBox="1">
            <a:spLocks noChangeArrowheads="1"/>
          </p:cNvSpPr>
          <p:nvPr/>
        </p:nvSpPr>
        <p:spPr bwMode="auto">
          <a:xfrm>
            <a:off x="6294804" y="4977940"/>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7</a:t>
            </a:r>
          </a:p>
        </p:txBody>
      </p:sp>
      <p:sp>
        <p:nvSpPr>
          <p:cNvPr id="16" name="Text Box 132">
            <a:extLst>
              <a:ext uri="{FF2B5EF4-FFF2-40B4-BE49-F238E27FC236}">
                <a16:creationId xmlns:a16="http://schemas.microsoft.com/office/drawing/2014/main" xmlns="" id="{5AAAD88E-82C0-DD55-A12F-B457DDE9A9A0}"/>
              </a:ext>
            </a:extLst>
          </p:cNvPr>
          <p:cNvSpPr txBox="1">
            <a:spLocks noChangeArrowheads="1"/>
          </p:cNvSpPr>
          <p:nvPr/>
        </p:nvSpPr>
        <p:spPr bwMode="auto">
          <a:xfrm>
            <a:off x="2843362" y="5931259"/>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9</a:t>
            </a:r>
          </a:p>
        </p:txBody>
      </p:sp>
      <p:sp>
        <p:nvSpPr>
          <p:cNvPr id="17" name="Text Box 133">
            <a:extLst>
              <a:ext uri="{FF2B5EF4-FFF2-40B4-BE49-F238E27FC236}">
                <a16:creationId xmlns:a16="http://schemas.microsoft.com/office/drawing/2014/main" xmlns="" id="{D47ABC70-2BE2-8C62-91B3-ABEAF5E359AC}"/>
              </a:ext>
            </a:extLst>
          </p:cNvPr>
          <p:cNvSpPr txBox="1">
            <a:spLocks noChangeArrowheads="1"/>
          </p:cNvSpPr>
          <p:nvPr/>
        </p:nvSpPr>
        <p:spPr bwMode="auto">
          <a:xfrm>
            <a:off x="3295800" y="5931259"/>
            <a:ext cx="3841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10</a:t>
            </a:r>
          </a:p>
        </p:txBody>
      </p:sp>
      <p:sp>
        <p:nvSpPr>
          <p:cNvPr id="18" name="Line 134">
            <a:extLst>
              <a:ext uri="{FF2B5EF4-FFF2-40B4-BE49-F238E27FC236}">
                <a16:creationId xmlns:a16="http://schemas.microsoft.com/office/drawing/2014/main" xmlns="" id="{B313FD24-F181-841F-47DC-43071E26CE44}"/>
              </a:ext>
            </a:extLst>
          </p:cNvPr>
          <p:cNvSpPr>
            <a:spLocks noChangeShapeType="1"/>
          </p:cNvSpPr>
          <p:nvPr/>
        </p:nvSpPr>
        <p:spPr bwMode="auto">
          <a:xfrm flipH="1">
            <a:off x="3344435" y="3849228"/>
            <a:ext cx="743744" cy="246856"/>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19" name="Freeform 135">
            <a:extLst>
              <a:ext uri="{FF2B5EF4-FFF2-40B4-BE49-F238E27FC236}">
                <a16:creationId xmlns:a16="http://schemas.microsoft.com/office/drawing/2014/main" xmlns="" id="{F5D08C1B-E81B-5C6A-30C1-BEB905E07B1A}"/>
              </a:ext>
            </a:extLst>
          </p:cNvPr>
          <p:cNvSpPr>
            <a:spLocks/>
          </p:cNvSpPr>
          <p:nvPr/>
        </p:nvSpPr>
        <p:spPr bwMode="auto">
          <a:xfrm>
            <a:off x="4423143" y="3803191"/>
            <a:ext cx="740697" cy="411187"/>
          </a:xfrm>
          <a:custGeom>
            <a:avLst/>
            <a:gdLst>
              <a:gd name="T0" fmla="*/ 0 w 767"/>
              <a:gd name="T1" fmla="*/ 0 h 488"/>
              <a:gd name="T2" fmla="*/ 2147483647 w 767"/>
              <a:gd name="T3" fmla="*/ 2147483647 h 488"/>
              <a:gd name="T4" fmla="*/ 0 60000 65536"/>
              <a:gd name="T5" fmla="*/ 0 60000 65536"/>
            </a:gdLst>
            <a:ahLst/>
            <a:cxnLst>
              <a:cxn ang="T4">
                <a:pos x="T0" y="T1"/>
              </a:cxn>
              <a:cxn ang="T5">
                <a:pos x="T2" y="T3"/>
              </a:cxn>
            </a:cxnLst>
            <a:rect l="0" t="0" r="r" b="b"/>
            <a:pathLst>
              <a:path w="767" h="488">
                <a:moveTo>
                  <a:pt x="0" y="0"/>
                </a:moveTo>
                <a:lnTo>
                  <a:pt x="767" y="488"/>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20" name="Freeform 136">
            <a:extLst>
              <a:ext uri="{FF2B5EF4-FFF2-40B4-BE49-F238E27FC236}">
                <a16:creationId xmlns:a16="http://schemas.microsoft.com/office/drawing/2014/main" xmlns="" id="{5886BC71-B59E-301C-3A6B-CDCF3BAF92B0}"/>
              </a:ext>
            </a:extLst>
          </p:cNvPr>
          <p:cNvSpPr>
            <a:spLocks/>
          </p:cNvSpPr>
          <p:nvPr/>
        </p:nvSpPr>
        <p:spPr bwMode="auto">
          <a:xfrm>
            <a:off x="2773511" y="4342171"/>
            <a:ext cx="311150" cy="490538"/>
          </a:xfrm>
          <a:custGeom>
            <a:avLst/>
            <a:gdLst>
              <a:gd name="T0" fmla="*/ 2147483647 w 259"/>
              <a:gd name="T1" fmla="*/ 0 h 421"/>
              <a:gd name="T2" fmla="*/ 0 w 259"/>
              <a:gd name="T3" fmla="*/ 2147483647 h 421"/>
              <a:gd name="T4" fmla="*/ 0 60000 65536"/>
              <a:gd name="T5" fmla="*/ 0 60000 65536"/>
            </a:gdLst>
            <a:ahLst/>
            <a:cxnLst>
              <a:cxn ang="T4">
                <a:pos x="T0" y="T1"/>
              </a:cxn>
              <a:cxn ang="T5">
                <a:pos x="T2" y="T3"/>
              </a:cxn>
            </a:cxnLst>
            <a:rect l="0" t="0" r="r" b="b"/>
            <a:pathLst>
              <a:path w="259" h="421">
                <a:moveTo>
                  <a:pt x="259"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21" name="Freeform 137">
            <a:extLst>
              <a:ext uri="{FF2B5EF4-FFF2-40B4-BE49-F238E27FC236}">
                <a16:creationId xmlns:a16="http://schemas.microsoft.com/office/drawing/2014/main" xmlns="" id="{FBF74BF9-9A42-B0DD-08A3-7B3A9BC773AE}"/>
              </a:ext>
            </a:extLst>
          </p:cNvPr>
          <p:cNvSpPr>
            <a:spLocks/>
          </p:cNvSpPr>
          <p:nvPr/>
        </p:nvSpPr>
        <p:spPr bwMode="auto">
          <a:xfrm>
            <a:off x="3375175" y="4342171"/>
            <a:ext cx="268287" cy="490538"/>
          </a:xfrm>
          <a:custGeom>
            <a:avLst/>
            <a:gdLst>
              <a:gd name="T0" fmla="*/ 0 w 222"/>
              <a:gd name="T1" fmla="*/ 0 h 421"/>
              <a:gd name="T2" fmla="*/ 2147483647 w 222"/>
              <a:gd name="T3" fmla="*/ 2147483647 h 421"/>
              <a:gd name="T4" fmla="*/ 0 60000 65536"/>
              <a:gd name="T5" fmla="*/ 0 60000 65536"/>
            </a:gdLst>
            <a:ahLst/>
            <a:cxnLst>
              <a:cxn ang="T4">
                <a:pos x="T0" y="T1"/>
              </a:cxn>
              <a:cxn ang="T5">
                <a:pos x="T2" y="T3"/>
              </a:cxn>
            </a:cxnLst>
            <a:rect l="0" t="0" r="r" b="b"/>
            <a:pathLst>
              <a:path w="222" h="421">
                <a:moveTo>
                  <a:pt x="0" y="0"/>
                </a:moveTo>
                <a:lnTo>
                  <a:pt x="222"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22" name="Freeform 138">
            <a:extLst>
              <a:ext uri="{FF2B5EF4-FFF2-40B4-BE49-F238E27FC236}">
                <a16:creationId xmlns:a16="http://schemas.microsoft.com/office/drawing/2014/main" xmlns="" id="{405E8A13-0E1E-5053-E060-0C4A910C7CAA}"/>
              </a:ext>
            </a:extLst>
          </p:cNvPr>
          <p:cNvSpPr>
            <a:spLocks/>
          </p:cNvSpPr>
          <p:nvPr/>
        </p:nvSpPr>
        <p:spPr bwMode="auto">
          <a:xfrm>
            <a:off x="4976514" y="4359634"/>
            <a:ext cx="273050" cy="488950"/>
          </a:xfrm>
          <a:custGeom>
            <a:avLst/>
            <a:gdLst>
              <a:gd name="T0" fmla="*/ 2147483647 w 226"/>
              <a:gd name="T1" fmla="*/ 0 h 421"/>
              <a:gd name="T2" fmla="*/ 0 w 226"/>
              <a:gd name="T3" fmla="*/ 2147483647 h 421"/>
              <a:gd name="T4" fmla="*/ 0 60000 65536"/>
              <a:gd name="T5" fmla="*/ 0 60000 65536"/>
            </a:gdLst>
            <a:ahLst/>
            <a:cxnLst>
              <a:cxn ang="T4">
                <a:pos x="T0" y="T1"/>
              </a:cxn>
              <a:cxn ang="T5">
                <a:pos x="T2" y="T3"/>
              </a:cxn>
            </a:cxnLst>
            <a:rect l="0" t="0" r="r" b="b"/>
            <a:pathLst>
              <a:path w="226" h="421">
                <a:moveTo>
                  <a:pt x="226"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23" name="Line 139">
            <a:extLst>
              <a:ext uri="{FF2B5EF4-FFF2-40B4-BE49-F238E27FC236}">
                <a16:creationId xmlns:a16="http://schemas.microsoft.com/office/drawing/2014/main" xmlns="" id="{FA450050-C71B-C183-F71A-B0AC14542BE8}"/>
              </a:ext>
            </a:extLst>
          </p:cNvPr>
          <p:cNvSpPr>
            <a:spLocks noChangeShapeType="1"/>
          </p:cNvSpPr>
          <p:nvPr/>
        </p:nvSpPr>
        <p:spPr bwMode="auto">
          <a:xfrm>
            <a:off x="5511502" y="4359635"/>
            <a:ext cx="317500" cy="466725"/>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24" name="Freeform 141">
            <a:extLst>
              <a:ext uri="{FF2B5EF4-FFF2-40B4-BE49-F238E27FC236}">
                <a16:creationId xmlns:a16="http://schemas.microsoft.com/office/drawing/2014/main" xmlns="" id="{AD8F6480-F41A-F9A8-B4F0-352532FB16A5}"/>
              </a:ext>
            </a:extLst>
          </p:cNvPr>
          <p:cNvSpPr>
            <a:spLocks/>
          </p:cNvSpPr>
          <p:nvPr/>
        </p:nvSpPr>
        <p:spPr bwMode="auto">
          <a:xfrm>
            <a:off x="2482999" y="5131159"/>
            <a:ext cx="144462" cy="411162"/>
          </a:xfrm>
          <a:custGeom>
            <a:avLst/>
            <a:gdLst>
              <a:gd name="T0" fmla="*/ 2147483647 w 119"/>
              <a:gd name="T1" fmla="*/ 0 h 356"/>
              <a:gd name="T2" fmla="*/ 0 w 119"/>
              <a:gd name="T3" fmla="*/ 2147483647 h 356"/>
              <a:gd name="T4" fmla="*/ 0 60000 65536"/>
              <a:gd name="T5" fmla="*/ 0 60000 65536"/>
            </a:gdLst>
            <a:ahLst/>
            <a:cxnLst>
              <a:cxn ang="T4">
                <a:pos x="T0" y="T1"/>
              </a:cxn>
              <a:cxn ang="T5">
                <a:pos x="T2" y="T3"/>
              </a:cxn>
            </a:cxnLst>
            <a:rect l="0" t="0" r="r" b="b"/>
            <a:pathLst>
              <a:path w="119" h="356">
                <a:moveTo>
                  <a:pt x="119" y="0"/>
                </a:moveTo>
                <a:lnTo>
                  <a:pt x="0" y="356"/>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25" name="Line 142">
            <a:extLst>
              <a:ext uri="{FF2B5EF4-FFF2-40B4-BE49-F238E27FC236}">
                <a16:creationId xmlns:a16="http://schemas.microsoft.com/office/drawing/2014/main" xmlns="" id="{628DB98B-EA41-FFFE-C0C5-CE8B1E010BA2}"/>
              </a:ext>
            </a:extLst>
          </p:cNvPr>
          <p:cNvSpPr>
            <a:spLocks noChangeShapeType="1"/>
          </p:cNvSpPr>
          <p:nvPr/>
        </p:nvSpPr>
        <p:spPr bwMode="auto">
          <a:xfrm>
            <a:off x="2808437" y="5118459"/>
            <a:ext cx="111125" cy="41275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26" name="Line 143">
            <a:extLst>
              <a:ext uri="{FF2B5EF4-FFF2-40B4-BE49-F238E27FC236}">
                <a16:creationId xmlns:a16="http://schemas.microsoft.com/office/drawing/2014/main" xmlns="" id="{25E26D7D-1456-504F-8CE2-1F044EF986AE}"/>
              </a:ext>
            </a:extLst>
          </p:cNvPr>
          <p:cNvSpPr>
            <a:spLocks noChangeShapeType="1"/>
          </p:cNvSpPr>
          <p:nvPr/>
        </p:nvSpPr>
        <p:spPr bwMode="auto">
          <a:xfrm flipH="1">
            <a:off x="3484712" y="5142271"/>
            <a:ext cx="112713" cy="38735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27" name="Oval 148">
            <a:extLst>
              <a:ext uri="{FF2B5EF4-FFF2-40B4-BE49-F238E27FC236}">
                <a16:creationId xmlns:a16="http://schemas.microsoft.com/office/drawing/2014/main" xmlns="" id="{587CDD20-3B4E-C502-F243-EACB49D60B01}"/>
              </a:ext>
            </a:extLst>
          </p:cNvPr>
          <p:cNvSpPr>
            <a:spLocks noChangeArrowheads="1"/>
          </p:cNvSpPr>
          <p:nvPr/>
        </p:nvSpPr>
        <p:spPr bwMode="auto">
          <a:xfrm>
            <a:off x="3000524" y="40516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B</a:t>
            </a:r>
          </a:p>
        </p:txBody>
      </p:sp>
      <p:sp>
        <p:nvSpPr>
          <p:cNvPr id="28" name="Oval 149">
            <a:extLst>
              <a:ext uri="{FF2B5EF4-FFF2-40B4-BE49-F238E27FC236}">
                <a16:creationId xmlns:a16="http://schemas.microsoft.com/office/drawing/2014/main" xmlns="" id="{B22082ED-BCB8-ECE6-CD7E-31D8CF6439DC}"/>
              </a:ext>
            </a:extLst>
          </p:cNvPr>
          <p:cNvSpPr>
            <a:spLocks noChangeArrowheads="1"/>
          </p:cNvSpPr>
          <p:nvPr/>
        </p:nvSpPr>
        <p:spPr bwMode="auto">
          <a:xfrm>
            <a:off x="5163839" y="40516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C</a:t>
            </a:r>
          </a:p>
        </p:txBody>
      </p:sp>
      <p:sp>
        <p:nvSpPr>
          <p:cNvPr id="29" name="Oval 150">
            <a:extLst>
              <a:ext uri="{FF2B5EF4-FFF2-40B4-BE49-F238E27FC236}">
                <a16:creationId xmlns:a16="http://schemas.microsoft.com/office/drawing/2014/main" xmlns="" id="{E9A50A88-9D1C-98C5-5A40-1555287A9E8C}"/>
              </a:ext>
            </a:extLst>
          </p:cNvPr>
          <p:cNvSpPr>
            <a:spLocks noChangeArrowheads="1"/>
          </p:cNvSpPr>
          <p:nvPr/>
        </p:nvSpPr>
        <p:spPr bwMode="auto">
          <a:xfrm>
            <a:off x="2514749"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D</a:t>
            </a:r>
          </a:p>
        </p:txBody>
      </p:sp>
      <p:sp>
        <p:nvSpPr>
          <p:cNvPr id="30" name="Oval 151">
            <a:extLst>
              <a:ext uri="{FF2B5EF4-FFF2-40B4-BE49-F238E27FC236}">
                <a16:creationId xmlns:a16="http://schemas.microsoft.com/office/drawing/2014/main" xmlns="" id="{9E89064A-3E15-E657-7ADA-A41736DC1F45}"/>
              </a:ext>
            </a:extLst>
          </p:cNvPr>
          <p:cNvSpPr>
            <a:spLocks noChangeArrowheads="1"/>
          </p:cNvSpPr>
          <p:nvPr/>
        </p:nvSpPr>
        <p:spPr bwMode="auto">
          <a:xfrm>
            <a:off x="3487886"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E</a:t>
            </a:r>
          </a:p>
        </p:txBody>
      </p:sp>
      <p:sp>
        <p:nvSpPr>
          <p:cNvPr id="31" name="Oval 152">
            <a:extLst>
              <a:ext uri="{FF2B5EF4-FFF2-40B4-BE49-F238E27FC236}">
                <a16:creationId xmlns:a16="http://schemas.microsoft.com/office/drawing/2014/main" xmlns="" id="{317CDE34-8E92-77F2-0C2B-767D0712FC3E}"/>
              </a:ext>
            </a:extLst>
          </p:cNvPr>
          <p:cNvSpPr>
            <a:spLocks noChangeArrowheads="1"/>
          </p:cNvSpPr>
          <p:nvPr/>
        </p:nvSpPr>
        <p:spPr bwMode="auto">
          <a:xfrm>
            <a:off x="4708227" y="4791434"/>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F</a:t>
            </a:r>
          </a:p>
        </p:txBody>
      </p:sp>
      <p:sp>
        <p:nvSpPr>
          <p:cNvPr id="32" name="Oval 153">
            <a:extLst>
              <a:ext uri="{FF2B5EF4-FFF2-40B4-BE49-F238E27FC236}">
                <a16:creationId xmlns:a16="http://schemas.microsoft.com/office/drawing/2014/main" xmlns="" id="{41CE1566-5E1E-19A4-5FF9-FB3919D4F462}"/>
              </a:ext>
            </a:extLst>
          </p:cNvPr>
          <p:cNvSpPr>
            <a:spLocks noChangeArrowheads="1"/>
          </p:cNvSpPr>
          <p:nvPr/>
        </p:nvSpPr>
        <p:spPr bwMode="auto">
          <a:xfrm>
            <a:off x="5711527" y="47898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G</a:t>
            </a:r>
          </a:p>
        </p:txBody>
      </p:sp>
      <p:sp>
        <p:nvSpPr>
          <p:cNvPr id="33" name="Oval 154">
            <a:extLst>
              <a:ext uri="{FF2B5EF4-FFF2-40B4-BE49-F238E27FC236}">
                <a16:creationId xmlns:a16="http://schemas.microsoft.com/office/drawing/2014/main" xmlns="" id="{C6093D1D-58CE-E80D-040E-D7A95DB44A88}"/>
              </a:ext>
            </a:extLst>
          </p:cNvPr>
          <p:cNvSpPr>
            <a:spLocks noChangeArrowheads="1"/>
          </p:cNvSpPr>
          <p:nvPr/>
        </p:nvSpPr>
        <p:spPr bwMode="auto">
          <a:xfrm>
            <a:off x="2249636" y="5497872"/>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H</a:t>
            </a:r>
          </a:p>
        </p:txBody>
      </p:sp>
      <p:sp>
        <p:nvSpPr>
          <p:cNvPr id="34" name="Oval 155">
            <a:extLst>
              <a:ext uri="{FF2B5EF4-FFF2-40B4-BE49-F238E27FC236}">
                <a16:creationId xmlns:a16="http://schemas.microsoft.com/office/drawing/2014/main" xmlns="" id="{8B17C71F-E3C6-5AB9-0FBF-F40D613DEE09}"/>
              </a:ext>
            </a:extLst>
          </p:cNvPr>
          <p:cNvSpPr>
            <a:spLocks noChangeArrowheads="1"/>
          </p:cNvSpPr>
          <p:nvPr/>
        </p:nvSpPr>
        <p:spPr bwMode="auto">
          <a:xfrm>
            <a:off x="2736999" y="5510572"/>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6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I</a:t>
            </a:r>
          </a:p>
        </p:txBody>
      </p:sp>
      <p:sp>
        <p:nvSpPr>
          <p:cNvPr id="35" name="Oval 156">
            <a:extLst>
              <a:ext uri="{FF2B5EF4-FFF2-40B4-BE49-F238E27FC236}">
                <a16:creationId xmlns:a16="http://schemas.microsoft.com/office/drawing/2014/main" xmlns="" id="{BCB8E2C6-A3EF-C067-1E08-601F964F7F2B}"/>
              </a:ext>
            </a:extLst>
          </p:cNvPr>
          <p:cNvSpPr>
            <a:spLocks noChangeArrowheads="1"/>
          </p:cNvSpPr>
          <p:nvPr/>
        </p:nvSpPr>
        <p:spPr bwMode="auto">
          <a:xfrm>
            <a:off x="3267224" y="551215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J</a:t>
            </a:r>
          </a:p>
        </p:txBody>
      </p:sp>
      <p:grpSp>
        <p:nvGrpSpPr>
          <p:cNvPr id="36" name="Group 171">
            <a:extLst>
              <a:ext uri="{FF2B5EF4-FFF2-40B4-BE49-F238E27FC236}">
                <a16:creationId xmlns:a16="http://schemas.microsoft.com/office/drawing/2014/main" xmlns="" id="{CE8A2DC8-E3B7-1E2D-104B-11FE451CBE7C}"/>
              </a:ext>
            </a:extLst>
          </p:cNvPr>
          <p:cNvGrpSpPr>
            <a:grpSpLocks/>
          </p:cNvGrpSpPr>
          <p:nvPr/>
        </p:nvGrpSpPr>
        <p:grpSpPr bwMode="auto">
          <a:xfrm>
            <a:off x="3740299" y="5118459"/>
            <a:ext cx="468312" cy="1173162"/>
            <a:chOff x="3871" y="1745"/>
            <a:chExt cx="295" cy="739"/>
          </a:xfrm>
        </p:grpSpPr>
        <p:sp>
          <p:nvSpPr>
            <p:cNvPr id="37" name="Line 140">
              <a:extLst>
                <a:ext uri="{FF2B5EF4-FFF2-40B4-BE49-F238E27FC236}">
                  <a16:creationId xmlns:a16="http://schemas.microsoft.com/office/drawing/2014/main" xmlns="" id="{358D0306-6545-AAC1-F6C8-329D6135D9B1}"/>
                </a:ext>
              </a:extLst>
            </p:cNvPr>
            <p:cNvSpPr>
              <a:spLocks noChangeShapeType="1"/>
            </p:cNvSpPr>
            <p:nvPr/>
          </p:nvSpPr>
          <p:spPr bwMode="auto">
            <a:xfrm>
              <a:off x="3903" y="1745"/>
              <a:ext cx="73" cy="259"/>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38" name="Oval 157">
              <a:extLst>
                <a:ext uri="{FF2B5EF4-FFF2-40B4-BE49-F238E27FC236}">
                  <a16:creationId xmlns:a16="http://schemas.microsoft.com/office/drawing/2014/main" xmlns="" id="{BB9EDA60-355A-90AC-C6FC-73CE491ECCF6}"/>
                </a:ext>
              </a:extLst>
            </p:cNvPr>
            <p:cNvSpPr>
              <a:spLocks noChangeArrowheads="1"/>
            </p:cNvSpPr>
            <p:nvPr/>
          </p:nvSpPr>
          <p:spPr bwMode="auto">
            <a:xfrm>
              <a:off x="3871" y="1994"/>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K</a:t>
              </a:r>
            </a:p>
          </p:txBody>
        </p:sp>
        <p:sp>
          <p:nvSpPr>
            <p:cNvPr id="39" name="Text Box 162">
              <a:extLst>
                <a:ext uri="{FF2B5EF4-FFF2-40B4-BE49-F238E27FC236}">
                  <a16:creationId xmlns:a16="http://schemas.microsoft.com/office/drawing/2014/main" xmlns="" id="{1A2EAA2A-34A0-8F74-4E88-B3A60587511A}"/>
                </a:ext>
              </a:extLst>
            </p:cNvPr>
            <p:cNvSpPr txBox="1">
              <a:spLocks noChangeArrowheads="1"/>
            </p:cNvSpPr>
            <p:nvPr/>
          </p:nvSpPr>
          <p:spPr bwMode="auto">
            <a:xfrm>
              <a:off x="3924" y="2257"/>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1</a:t>
              </a:r>
            </a:p>
          </p:txBody>
        </p:sp>
      </p:grpSp>
      <p:grpSp>
        <p:nvGrpSpPr>
          <p:cNvPr id="40" name="Group 170">
            <a:extLst>
              <a:ext uri="{FF2B5EF4-FFF2-40B4-BE49-F238E27FC236}">
                <a16:creationId xmlns:a16="http://schemas.microsoft.com/office/drawing/2014/main" xmlns="" id="{1F37116F-FC2E-E1B1-D099-24710524A4FB}"/>
              </a:ext>
            </a:extLst>
          </p:cNvPr>
          <p:cNvGrpSpPr>
            <a:grpSpLocks/>
          </p:cNvGrpSpPr>
          <p:nvPr/>
        </p:nvGrpSpPr>
        <p:grpSpPr bwMode="auto">
          <a:xfrm>
            <a:off x="4428827" y="5142272"/>
            <a:ext cx="431800" cy="1135063"/>
            <a:chOff x="4493" y="1760"/>
            <a:chExt cx="272" cy="715"/>
          </a:xfrm>
        </p:grpSpPr>
        <p:sp>
          <p:nvSpPr>
            <p:cNvPr id="41" name="Line 144">
              <a:extLst>
                <a:ext uri="{FF2B5EF4-FFF2-40B4-BE49-F238E27FC236}">
                  <a16:creationId xmlns:a16="http://schemas.microsoft.com/office/drawing/2014/main" xmlns="" id="{2E394BB8-5435-96A8-E912-0554DEF7E74F}"/>
                </a:ext>
              </a:extLst>
            </p:cNvPr>
            <p:cNvSpPr>
              <a:spLocks noChangeShapeType="1"/>
            </p:cNvSpPr>
            <p:nvPr/>
          </p:nvSpPr>
          <p:spPr bwMode="auto">
            <a:xfrm flipH="1">
              <a:off x="4633" y="1760"/>
              <a:ext cx="103" cy="25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42" name="Oval 158">
              <a:extLst>
                <a:ext uri="{FF2B5EF4-FFF2-40B4-BE49-F238E27FC236}">
                  <a16:creationId xmlns:a16="http://schemas.microsoft.com/office/drawing/2014/main" xmlns="" id="{EC338FD7-49B0-CB50-2A36-27C7E76C35FF}"/>
                </a:ext>
              </a:extLst>
            </p:cNvPr>
            <p:cNvSpPr>
              <a:spLocks noChangeArrowheads="1"/>
            </p:cNvSpPr>
            <p:nvPr/>
          </p:nvSpPr>
          <p:spPr bwMode="auto">
            <a:xfrm>
              <a:off x="4493" y="198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L</a:t>
              </a:r>
            </a:p>
          </p:txBody>
        </p:sp>
        <p:sp>
          <p:nvSpPr>
            <p:cNvPr id="43" name="Text Box 163">
              <a:extLst>
                <a:ext uri="{FF2B5EF4-FFF2-40B4-BE49-F238E27FC236}">
                  <a16:creationId xmlns:a16="http://schemas.microsoft.com/office/drawing/2014/main" xmlns="" id="{028A2D2D-128A-DAC5-2A2C-6D6728680618}"/>
                </a:ext>
              </a:extLst>
            </p:cNvPr>
            <p:cNvSpPr txBox="1">
              <a:spLocks noChangeArrowheads="1"/>
            </p:cNvSpPr>
            <p:nvPr/>
          </p:nvSpPr>
          <p:spPr bwMode="auto">
            <a:xfrm>
              <a:off x="4510"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2</a:t>
              </a:r>
            </a:p>
          </p:txBody>
        </p:sp>
      </p:grpSp>
      <p:grpSp>
        <p:nvGrpSpPr>
          <p:cNvPr id="44" name="Group 169">
            <a:extLst>
              <a:ext uri="{FF2B5EF4-FFF2-40B4-BE49-F238E27FC236}">
                <a16:creationId xmlns:a16="http://schemas.microsoft.com/office/drawing/2014/main" xmlns="" id="{01EF4950-9B3A-15B1-A0C9-466787F32204}"/>
              </a:ext>
            </a:extLst>
          </p:cNvPr>
          <p:cNvGrpSpPr>
            <a:grpSpLocks/>
          </p:cNvGrpSpPr>
          <p:nvPr/>
        </p:nvGrpSpPr>
        <p:grpSpPr bwMode="auto">
          <a:xfrm>
            <a:off x="4946352" y="5118459"/>
            <a:ext cx="431800" cy="1160462"/>
            <a:chOff x="4819" y="1745"/>
            <a:chExt cx="272" cy="731"/>
          </a:xfrm>
        </p:grpSpPr>
        <p:sp>
          <p:nvSpPr>
            <p:cNvPr id="45" name="Line 145">
              <a:extLst>
                <a:ext uri="{FF2B5EF4-FFF2-40B4-BE49-F238E27FC236}">
                  <a16:creationId xmlns:a16="http://schemas.microsoft.com/office/drawing/2014/main" xmlns="" id="{3353E440-E0A6-A786-6EAA-9F8182BEA7D4}"/>
                </a:ext>
              </a:extLst>
            </p:cNvPr>
            <p:cNvSpPr>
              <a:spLocks noChangeShapeType="1"/>
            </p:cNvSpPr>
            <p:nvPr/>
          </p:nvSpPr>
          <p:spPr bwMode="auto">
            <a:xfrm>
              <a:off x="4831" y="1745"/>
              <a:ext cx="110" cy="26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46" name="Oval 159">
              <a:extLst>
                <a:ext uri="{FF2B5EF4-FFF2-40B4-BE49-F238E27FC236}">
                  <a16:creationId xmlns:a16="http://schemas.microsoft.com/office/drawing/2014/main" xmlns="" id="{652EA3B7-EFC3-1A62-E295-511538EA0B16}"/>
                </a:ext>
              </a:extLst>
            </p:cNvPr>
            <p:cNvSpPr>
              <a:spLocks noChangeArrowheads="1"/>
            </p:cNvSpPr>
            <p:nvPr/>
          </p:nvSpPr>
          <p:spPr bwMode="auto">
            <a:xfrm>
              <a:off x="4819" y="198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M</a:t>
              </a:r>
            </a:p>
          </p:txBody>
        </p:sp>
        <p:sp>
          <p:nvSpPr>
            <p:cNvPr id="47" name="Text Box 164">
              <a:extLst>
                <a:ext uri="{FF2B5EF4-FFF2-40B4-BE49-F238E27FC236}">
                  <a16:creationId xmlns:a16="http://schemas.microsoft.com/office/drawing/2014/main" xmlns="" id="{DD325BBA-2497-23E0-EEFD-DD59C6F3EE0D}"/>
                </a:ext>
              </a:extLst>
            </p:cNvPr>
            <p:cNvSpPr txBox="1">
              <a:spLocks noChangeArrowheads="1"/>
            </p:cNvSpPr>
            <p:nvPr/>
          </p:nvSpPr>
          <p:spPr bwMode="auto">
            <a:xfrm>
              <a:off x="4835" y="2249"/>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3</a:t>
              </a:r>
            </a:p>
          </p:txBody>
        </p:sp>
      </p:grpSp>
      <p:grpSp>
        <p:nvGrpSpPr>
          <p:cNvPr id="48" name="Group 168">
            <a:extLst>
              <a:ext uri="{FF2B5EF4-FFF2-40B4-BE49-F238E27FC236}">
                <a16:creationId xmlns:a16="http://schemas.microsoft.com/office/drawing/2014/main" xmlns="" id="{FFB5F763-15DF-69D9-095D-CF184AA6B062}"/>
              </a:ext>
            </a:extLst>
          </p:cNvPr>
          <p:cNvGrpSpPr>
            <a:grpSpLocks/>
          </p:cNvGrpSpPr>
          <p:nvPr/>
        </p:nvGrpSpPr>
        <p:grpSpPr bwMode="auto">
          <a:xfrm>
            <a:off x="5457528" y="5167672"/>
            <a:ext cx="434975" cy="1109663"/>
            <a:chOff x="5141" y="1776"/>
            <a:chExt cx="274" cy="699"/>
          </a:xfrm>
        </p:grpSpPr>
        <p:sp>
          <p:nvSpPr>
            <p:cNvPr id="49" name="Line 146">
              <a:extLst>
                <a:ext uri="{FF2B5EF4-FFF2-40B4-BE49-F238E27FC236}">
                  <a16:creationId xmlns:a16="http://schemas.microsoft.com/office/drawing/2014/main" xmlns="" id="{9EA35CD4-2D44-CDF4-C968-6B9BC643511A}"/>
                </a:ext>
              </a:extLst>
            </p:cNvPr>
            <p:cNvSpPr>
              <a:spLocks noChangeShapeType="1"/>
            </p:cNvSpPr>
            <p:nvPr/>
          </p:nvSpPr>
          <p:spPr bwMode="auto">
            <a:xfrm flipH="1">
              <a:off x="5295" y="1776"/>
              <a:ext cx="100" cy="22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50" name="Oval 160">
              <a:extLst>
                <a:ext uri="{FF2B5EF4-FFF2-40B4-BE49-F238E27FC236}">
                  <a16:creationId xmlns:a16="http://schemas.microsoft.com/office/drawing/2014/main" xmlns="" id="{7802811E-1744-0EF6-893F-25E7CEC06BFF}"/>
                </a:ext>
              </a:extLst>
            </p:cNvPr>
            <p:cNvSpPr>
              <a:spLocks noChangeArrowheads="1"/>
            </p:cNvSpPr>
            <p:nvPr/>
          </p:nvSpPr>
          <p:spPr bwMode="auto">
            <a:xfrm>
              <a:off x="5143" y="199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N</a:t>
              </a:r>
            </a:p>
          </p:txBody>
        </p:sp>
        <p:sp>
          <p:nvSpPr>
            <p:cNvPr id="51" name="Text Box 165">
              <a:extLst>
                <a:ext uri="{FF2B5EF4-FFF2-40B4-BE49-F238E27FC236}">
                  <a16:creationId xmlns:a16="http://schemas.microsoft.com/office/drawing/2014/main" xmlns="" id="{C4B32C25-DDFC-6670-2414-E05408C9278A}"/>
                </a:ext>
              </a:extLst>
            </p:cNvPr>
            <p:cNvSpPr txBox="1">
              <a:spLocks noChangeArrowheads="1"/>
            </p:cNvSpPr>
            <p:nvPr/>
          </p:nvSpPr>
          <p:spPr bwMode="auto">
            <a:xfrm>
              <a:off x="5141"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4</a:t>
              </a:r>
            </a:p>
          </p:txBody>
        </p:sp>
      </p:grpSp>
      <p:grpSp>
        <p:nvGrpSpPr>
          <p:cNvPr id="52" name="Group 167">
            <a:extLst>
              <a:ext uri="{FF2B5EF4-FFF2-40B4-BE49-F238E27FC236}">
                <a16:creationId xmlns:a16="http://schemas.microsoft.com/office/drawing/2014/main" xmlns="" id="{F0BFA7DA-3858-002D-4E50-0BEED0E0EF97}"/>
              </a:ext>
            </a:extLst>
          </p:cNvPr>
          <p:cNvGrpSpPr>
            <a:grpSpLocks/>
          </p:cNvGrpSpPr>
          <p:nvPr/>
        </p:nvGrpSpPr>
        <p:grpSpPr bwMode="auto">
          <a:xfrm>
            <a:off x="5949652" y="5161322"/>
            <a:ext cx="438150" cy="1116013"/>
            <a:chOff x="5451" y="1772"/>
            <a:chExt cx="276" cy="703"/>
          </a:xfrm>
        </p:grpSpPr>
        <p:sp>
          <p:nvSpPr>
            <p:cNvPr id="53" name="Line 147">
              <a:extLst>
                <a:ext uri="{FF2B5EF4-FFF2-40B4-BE49-F238E27FC236}">
                  <a16:creationId xmlns:a16="http://schemas.microsoft.com/office/drawing/2014/main" xmlns="" id="{ADC14195-4059-F872-5B1B-44A6214AAB0D}"/>
                </a:ext>
              </a:extLst>
            </p:cNvPr>
            <p:cNvSpPr>
              <a:spLocks noChangeShapeType="1"/>
            </p:cNvSpPr>
            <p:nvPr/>
          </p:nvSpPr>
          <p:spPr bwMode="auto">
            <a:xfrm>
              <a:off x="5499" y="1772"/>
              <a:ext cx="99" cy="22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54" name="Oval 161">
              <a:extLst>
                <a:ext uri="{FF2B5EF4-FFF2-40B4-BE49-F238E27FC236}">
                  <a16:creationId xmlns:a16="http://schemas.microsoft.com/office/drawing/2014/main" xmlns="" id="{AEB2AD75-0FCE-7984-941D-BDE47AF1B5C4}"/>
                </a:ext>
              </a:extLst>
            </p:cNvPr>
            <p:cNvSpPr>
              <a:spLocks noChangeArrowheads="1"/>
            </p:cNvSpPr>
            <p:nvPr/>
          </p:nvSpPr>
          <p:spPr bwMode="auto">
            <a:xfrm>
              <a:off x="5451" y="199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O</a:t>
              </a:r>
            </a:p>
          </p:txBody>
        </p:sp>
        <p:sp>
          <p:nvSpPr>
            <p:cNvPr id="55" name="Text Box 166">
              <a:extLst>
                <a:ext uri="{FF2B5EF4-FFF2-40B4-BE49-F238E27FC236}">
                  <a16:creationId xmlns:a16="http://schemas.microsoft.com/office/drawing/2014/main" xmlns="" id="{A8167D31-1DDD-8FDD-791A-EB9E7FC3BFB6}"/>
                </a:ext>
              </a:extLst>
            </p:cNvPr>
            <p:cNvSpPr txBox="1">
              <a:spLocks noChangeArrowheads="1"/>
            </p:cNvSpPr>
            <p:nvPr/>
          </p:nvSpPr>
          <p:spPr bwMode="auto">
            <a:xfrm>
              <a:off x="5485"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5</a:t>
              </a:r>
            </a:p>
          </p:txBody>
        </p:sp>
      </p:grpSp>
      <p:sp>
        <p:nvSpPr>
          <p:cNvPr id="56" name="Text Box 176">
            <a:extLst>
              <a:ext uri="{FF2B5EF4-FFF2-40B4-BE49-F238E27FC236}">
                <a16:creationId xmlns:a16="http://schemas.microsoft.com/office/drawing/2014/main" xmlns="" id="{6BC46F9E-B4F9-12AB-32E9-56B756869F97}"/>
              </a:ext>
            </a:extLst>
          </p:cNvPr>
          <p:cNvSpPr txBox="1">
            <a:spLocks noChangeArrowheads="1"/>
          </p:cNvSpPr>
          <p:nvPr/>
        </p:nvSpPr>
        <p:spPr bwMode="auto">
          <a:xfrm>
            <a:off x="2379876" y="5924973"/>
            <a:ext cx="269746"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en-US" altLang="zh-CN" sz="2400" b="1" dirty="0">
                <a:latin typeface="Times New Roman" pitchFamily="18" charset="0"/>
              </a:rPr>
              <a:t>8</a:t>
            </a:r>
          </a:p>
        </p:txBody>
      </p:sp>
    </p:spTree>
    <p:extLst>
      <p:ext uri="{BB962C8B-B14F-4D97-AF65-F5344CB8AC3E}">
        <p14:creationId xmlns:p14="http://schemas.microsoft.com/office/powerpoint/2010/main" val="5015915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Box 50"/>
          <p:cNvSpPr txBox="1">
            <a:spLocks noChangeArrowheads="1"/>
          </p:cNvSpPr>
          <p:nvPr/>
        </p:nvSpPr>
        <p:spPr bwMode="auto">
          <a:xfrm>
            <a:off x="6473580" y="5636096"/>
            <a:ext cx="379888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zh-CN" altLang="en-US" sz="2400" dirty="0">
                <a:latin typeface="微软雅黑" pitchFamily="34" charset="-122"/>
                <a:ea typeface="微软雅黑" pitchFamily="34" charset="-122"/>
                <a:cs typeface="经典粗黑简" pitchFamily="49" charset="-122"/>
              </a:rPr>
              <a:t>高度为</a:t>
            </a:r>
            <a:r>
              <a:rPr lang="en-US" altLang="zh-CN" sz="2400" dirty="0">
                <a:latin typeface="微软雅黑" pitchFamily="34" charset="-122"/>
                <a:ea typeface="微软雅黑" pitchFamily="34" charset="-122"/>
                <a:cs typeface="经典粗黑简" pitchFamily="49" charset="-122"/>
              </a:rPr>
              <a:t>3</a:t>
            </a:r>
            <a:r>
              <a:rPr lang="zh-CN" altLang="en-US" sz="2400" dirty="0">
                <a:latin typeface="微软雅黑" pitchFamily="34" charset="-122"/>
                <a:ea typeface="微软雅黑" pitchFamily="34" charset="-122"/>
                <a:cs typeface="经典粗黑简" pitchFamily="49" charset="-122"/>
              </a:rPr>
              <a:t>的一个完全二叉树</a:t>
            </a:r>
          </a:p>
        </p:txBody>
      </p:sp>
      <p:sp>
        <p:nvSpPr>
          <p:cNvPr id="51" name="Rectangle 2"/>
          <p:cNvSpPr txBox="1">
            <a:spLocks noChangeArrowheads="1"/>
          </p:cNvSpPr>
          <p:nvPr/>
        </p:nvSpPr>
        <p:spPr>
          <a:xfrm>
            <a:off x="4294609" y="3207783"/>
            <a:ext cx="3903663" cy="49826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kumimoji="1" lang="zh-CN" altLang="en-US" sz="2400" dirty="0">
                <a:latin typeface="微软雅黑" pitchFamily="34" charset="-122"/>
                <a:ea typeface="微软雅黑" pitchFamily="34" charset="-122"/>
                <a:cs typeface="经典粗黑简" pitchFamily="49" charset="-122"/>
              </a:rPr>
              <a:t>满二叉树和完全二叉树</a:t>
            </a:r>
          </a:p>
        </p:txBody>
      </p:sp>
      <p:grpSp>
        <p:nvGrpSpPr>
          <p:cNvPr id="69" name="Group 50"/>
          <p:cNvGrpSpPr>
            <a:grpSpLocks/>
          </p:cNvGrpSpPr>
          <p:nvPr/>
        </p:nvGrpSpPr>
        <p:grpSpPr bwMode="auto">
          <a:xfrm>
            <a:off x="2240567" y="3409807"/>
            <a:ext cx="3657600" cy="1600200"/>
            <a:chOff x="432" y="1584"/>
            <a:chExt cx="2304" cy="1008"/>
          </a:xfrm>
        </p:grpSpPr>
        <p:sp>
          <p:nvSpPr>
            <p:cNvPr id="70" name="Oval 51"/>
            <p:cNvSpPr>
              <a:spLocks noChangeArrowheads="1"/>
            </p:cNvSpPr>
            <p:nvPr/>
          </p:nvSpPr>
          <p:spPr bwMode="auto">
            <a:xfrm>
              <a:off x="1440" y="1584"/>
              <a:ext cx="240" cy="24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71" name="Oval 52"/>
            <p:cNvSpPr>
              <a:spLocks noChangeArrowheads="1"/>
            </p:cNvSpPr>
            <p:nvPr/>
          </p:nvSpPr>
          <p:spPr bwMode="auto">
            <a:xfrm>
              <a:off x="816" y="1968"/>
              <a:ext cx="240" cy="24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72" name="Oval 53"/>
            <p:cNvSpPr>
              <a:spLocks noChangeArrowheads="1"/>
            </p:cNvSpPr>
            <p:nvPr/>
          </p:nvSpPr>
          <p:spPr bwMode="auto">
            <a:xfrm>
              <a:off x="432" y="2304"/>
              <a:ext cx="240" cy="24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73" name="Oval 54"/>
            <p:cNvSpPr>
              <a:spLocks noChangeArrowheads="1"/>
            </p:cNvSpPr>
            <p:nvPr/>
          </p:nvSpPr>
          <p:spPr bwMode="auto">
            <a:xfrm>
              <a:off x="1200" y="2352"/>
              <a:ext cx="240" cy="24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74" name="Oval 55"/>
            <p:cNvSpPr>
              <a:spLocks noChangeArrowheads="1"/>
            </p:cNvSpPr>
            <p:nvPr/>
          </p:nvSpPr>
          <p:spPr bwMode="auto">
            <a:xfrm>
              <a:off x="2064" y="1968"/>
              <a:ext cx="240" cy="24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75" name="Oval 56"/>
            <p:cNvSpPr>
              <a:spLocks noChangeArrowheads="1"/>
            </p:cNvSpPr>
            <p:nvPr/>
          </p:nvSpPr>
          <p:spPr bwMode="auto">
            <a:xfrm>
              <a:off x="2496" y="2352"/>
              <a:ext cx="240" cy="24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76" name="AutoShape 57"/>
            <p:cNvCxnSpPr>
              <a:cxnSpLocks noChangeShapeType="1"/>
              <a:stCxn id="70" idx="3"/>
              <a:endCxn id="71" idx="7"/>
            </p:cNvCxnSpPr>
            <p:nvPr/>
          </p:nvCxnSpPr>
          <p:spPr bwMode="auto">
            <a:xfrm flipH="1">
              <a:off x="1021" y="1789"/>
              <a:ext cx="454" cy="214"/>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8" name="AutoShape 58"/>
            <p:cNvCxnSpPr>
              <a:cxnSpLocks noChangeShapeType="1"/>
              <a:stCxn id="71" idx="3"/>
              <a:endCxn id="72" idx="7"/>
            </p:cNvCxnSpPr>
            <p:nvPr/>
          </p:nvCxnSpPr>
          <p:spPr bwMode="auto">
            <a:xfrm flipH="1">
              <a:off x="637" y="2173"/>
              <a:ext cx="214" cy="166"/>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79" name="AutoShape 59"/>
            <p:cNvCxnSpPr>
              <a:cxnSpLocks noChangeShapeType="1"/>
              <a:stCxn id="70" idx="5"/>
              <a:endCxn id="74" idx="1"/>
            </p:cNvCxnSpPr>
            <p:nvPr/>
          </p:nvCxnSpPr>
          <p:spPr bwMode="auto">
            <a:xfrm>
              <a:off x="1645" y="1789"/>
              <a:ext cx="454" cy="214"/>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80" name="AutoShape 60"/>
            <p:cNvCxnSpPr>
              <a:cxnSpLocks noChangeShapeType="1"/>
              <a:stCxn id="74" idx="5"/>
              <a:endCxn id="75" idx="1"/>
            </p:cNvCxnSpPr>
            <p:nvPr/>
          </p:nvCxnSpPr>
          <p:spPr bwMode="auto">
            <a:xfrm>
              <a:off x="2269" y="2173"/>
              <a:ext cx="262" cy="214"/>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81" name="AutoShape 61"/>
            <p:cNvCxnSpPr>
              <a:cxnSpLocks noChangeShapeType="1"/>
              <a:stCxn id="71" idx="5"/>
              <a:endCxn id="73" idx="1"/>
            </p:cNvCxnSpPr>
            <p:nvPr/>
          </p:nvCxnSpPr>
          <p:spPr bwMode="auto">
            <a:xfrm>
              <a:off x="1021" y="2173"/>
              <a:ext cx="214" cy="214"/>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82" name="Oval 62"/>
            <p:cNvSpPr>
              <a:spLocks noChangeArrowheads="1"/>
            </p:cNvSpPr>
            <p:nvPr/>
          </p:nvSpPr>
          <p:spPr bwMode="auto">
            <a:xfrm>
              <a:off x="1680" y="2339"/>
              <a:ext cx="240" cy="24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83" name="AutoShape 63"/>
            <p:cNvCxnSpPr>
              <a:cxnSpLocks noChangeShapeType="1"/>
              <a:endCxn id="82" idx="7"/>
            </p:cNvCxnSpPr>
            <p:nvPr/>
          </p:nvCxnSpPr>
          <p:spPr bwMode="auto">
            <a:xfrm flipH="1">
              <a:off x="1885" y="2208"/>
              <a:ext cx="214" cy="166"/>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84" name="Text Box 64"/>
          <p:cNvSpPr txBox="1">
            <a:spLocks noChangeArrowheads="1"/>
          </p:cNvSpPr>
          <p:nvPr/>
        </p:nvSpPr>
        <p:spPr bwMode="auto">
          <a:xfrm>
            <a:off x="2777880" y="5636096"/>
            <a:ext cx="28194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zh-CN" altLang="en-US" sz="2400" dirty="0">
                <a:latin typeface="微软雅黑" pitchFamily="34" charset="-122"/>
                <a:ea typeface="微软雅黑" pitchFamily="34" charset="-122"/>
                <a:cs typeface="经典粗黑简" pitchFamily="49" charset="-122"/>
              </a:rPr>
              <a:t>高度为</a:t>
            </a:r>
            <a:r>
              <a:rPr lang="en-US" altLang="zh-CN" sz="2400" dirty="0">
                <a:latin typeface="微软雅黑" pitchFamily="34" charset="-122"/>
                <a:ea typeface="微软雅黑" pitchFamily="34" charset="-122"/>
                <a:cs typeface="经典粗黑简" pitchFamily="49" charset="-122"/>
              </a:rPr>
              <a:t>3</a:t>
            </a:r>
            <a:r>
              <a:rPr lang="zh-CN" altLang="en-US" sz="2400" dirty="0">
                <a:latin typeface="微软雅黑" pitchFamily="34" charset="-122"/>
                <a:ea typeface="微软雅黑" pitchFamily="34" charset="-122"/>
                <a:cs typeface="经典粗黑简" pitchFamily="49" charset="-122"/>
              </a:rPr>
              <a:t>的满二叉树</a:t>
            </a:r>
          </a:p>
        </p:txBody>
      </p:sp>
      <p:grpSp>
        <p:nvGrpSpPr>
          <p:cNvPr id="85" name="Group 65"/>
          <p:cNvGrpSpPr>
            <a:grpSpLocks/>
          </p:cNvGrpSpPr>
          <p:nvPr/>
        </p:nvGrpSpPr>
        <p:grpSpPr bwMode="auto">
          <a:xfrm>
            <a:off x="6627440" y="3588200"/>
            <a:ext cx="2971800" cy="1600200"/>
            <a:chOff x="3120" y="2688"/>
            <a:chExt cx="1872" cy="1008"/>
          </a:xfrm>
        </p:grpSpPr>
        <p:sp>
          <p:nvSpPr>
            <p:cNvPr id="86" name="Oval 66"/>
            <p:cNvSpPr>
              <a:spLocks noChangeArrowheads="1"/>
            </p:cNvSpPr>
            <p:nvPr/>
          </p:nvSpPr>
          <p:spPr bwMode="auto">
            <a:xfrm>
              <a:off x="4128" y="2688"/>
              <a:ext cx="240" cy="240"/>
            </a:xfrm>
            <a:prstGeom prst="ellipse">
              <a:avLst/>
            </a:prstGeom>
            <a:solidFill>
              <a:schemeClr val="accent2"/>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7" name="Oval 67"/>
            <p:cNvSpPr>
              <a:spLocks noChangeArrowheads="1"/>
            </p:cNvSpPr>
            <p:nvPr/>
          </p:nvSpPr>
          <p:spPr bwMode="auto">
            <a:xfrm>
              <a:off x="3504" y="3072"/>
              <a:ext cx="240" cy="240"/>
            </a:xfrm>
            <a:prstGeom prst="ellipse">
              <a:avLst/>
            </a:prstGeom>
            <a:solidFill>
              <a:schemeClr val="accent2"/>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115" name="Oval 68"/>
            <p:cNvSpPr>
              <a:spLocks noChangeArrowheads="1"/>
            </p:cNvSpPr>
            <p:nvPr/>
          </p:nvSpPr>
          <p:spPr bwMode="auto">
            <a:xfrm>
              <a:off x="3120" y="3408"/>
              <a:ext cx="240" cy="240"/>
            </a:xfrm>
            <a:prstGeom prst="ellipse">
              <a:avLst/>
            </a:prstGeom>
            <a:solidFill>
              <a:schemeClr val="accent2"/>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116" name="Oval 69"/>
            <p:cNvSpPr>
              <a:spLocks noChangeArrowheads="1"/>
            </p:cNvSpPr>
            <p:nvPr/>
          </p:nvSpPr>
          <p:spPr bwMode="auto">
            <a:xfrm>
              <a:off x="3888" y="3456"/>
              <a:ext cx="240" cy="240"/>
            </a:xfrm>
            <a:prstGeom prst="ellipse">
              <a:avLst/>
            </a:prstGeom>
            <a:solidFill>
              <a:schemeClr val="accent2"/>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117" name="Oval 70"/>
            <p:cNvSpPr>
              <a:spLocks noChangeArrowheads="1"/>
            </p:cNvSpPr>
            <p:nvPr/>
          </p:nvSpPr>
          <p:spPr bwMode="auto">
            <a:xfrm>
              <a:off x="4752" y="3072"/>
              <a:ext cx="240" cy="240"/>
            </a:xfrm>
            <a:prstGeom prst="ellipse">
              <a:avLst/>
            </a:prstGeom>
            <a:solidFill>
              <a:schemeClr val="accent2"/>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118" name="AutoShape 71"/>
            <p:cNvCxnSpPr>
              <a:cxnSpLocks noChangeShapeType="1"/>
              <a:stCxn id="86" idx="3"/>
              <a:endCxn id="87" idx="7"/>
            </p:cNvCxnSpPr>
            <p:nvPr/>
          </p:nvCxnSpPr>
          <p:spPr bwMode="auto">
            <a:xfrm flipH="1">
              <a:off x="3709" y="2893"/>
              <a:ext cx="454" cy="214"/>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19" name="AutoShape 72"/>
            <p:cNvCxnSpPr>
              <a:cxnSpLocks noChangeShapeType="1"/>
              <a:stCxn id="87" idx="3"/>
              <a:endCxn id="115" idx="7"/>
            </p:cNvCxnSpPr>
            <p:nvPr/>
          </p:nvCxnSpPr>
          <p:spPr bwMode="auto">
            <a:xfrm flipH="1">
              <a:off x="3325" y="3277"/>
              <a:ext cx="214" cy="166"/>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20" name="AutoShape 73"/>
            <p:cNvCxnSpPr>
              <a:cxnSpLocks noChangeShapeType="1"/>
              <a:stCxn id="86" idx="5"/>
              <a:endCxn id="117" idx="1"/>
            </p:cNvCxnSpPr>
            <p:nvPr/>
          </p:nvCxnSpPr>
          <p:spPr bwMode="auto">
            <a:xfrm>
              <a:off x="4333" y="2893"/>
              <a:ext cx="454" cy="214"/>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21" name="AutoShape 74"/>
            <p:cNvCxnSpPr>
              <a:cxnSpLocks noChangeShapeType="1"/>
              <a:stCxn id="87" idx="5"/>
              <a:endCxn id="116" idx="1"/>
            </p:cNvCxnSpPr>
            <p:nvPr/>
          </p:nvCxnSpPr>
          <p:spPr bwMode="auto">
            <a:xfrm>
              <a:off x="3709" y="3277"/>
              <a:ext cx="214" cy="214"/>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123" name="Text Box 76"/>
          <p:cNvSpPr txBox="1">
            <a:spLocks noChangeArrowheads="1"/>
          </p:cNvSpPr>
          <p:nvPr/>
        </p:nvSpPr>
        <p:spPr bwMode="auto">
          <a:xfrm>
            <a:off x="4341440" y="351200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1</a:t>
            </a:r>
          </a:p>
        </p:txBody>
      </p:sp>
      <p:sp>
        <p:nvSpPr>
          <p:cNvPr id="124" name="Text Box 77"/>
          <p:cNvSpPr txBox="1">
            <a:spLocks noChangeArrowheads="1"/>
          </p:cNvSpPr>
          <p:nvPr/>
        </p:nvSpPr>
        <p:spPr bwMode="auto">
          <a:xfrm>
            <a:off x="3198440" y="419780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2</a:t>
            </a:r>
          </a:p>
        </p:txBody>
      </p:sp>
      <p:sp>
        <p:nvSpPr>
          <p:cNvPr id="125" name="Text Box 78"/>
          <p:cNvSpPr txBox="1">
            <a:spLocks noChangeArrowheads="1"/>
          </p:cNvSpPr>
          <p:nvPr/>
        </p:nvSpPr>
        <p:spPr bwMode="auto">
          <a:xfrm>
            <a:off x="5255840" y="412160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3</a:t>
            </a:r>
          </a:p>
        </p:txBody>
      </p:sp>
      <p:sp>
        <p:nvSpPr>
          <p:cNvPr id="126" name="Text Box 79"/>
          <p:cNvSpPr txBox="1">
            <a:spLocks noChangeArrowheads="1"/>
          </p:cNvSpPr>
          <p:nvPr/>
        </p:nvSpPr>
        <p:spPr bwMode="auto">
          <a:xfrm>
            <a:off x="2588840" y="473120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4</a:t>
            </a:r>
          </a:p>
        </p:txBody>
      </p:sp>
      <p:sp>
        <p:nvSpPr>
          <p:cNvPr id="127" name="Text Box 80"/>
          <p:cNvSpPr txBox="1">
            <a:spLocks noChangeArrowheads="1"/>
          </p:cNvSpPr>
          <p:nvPr/>
        </p:nvSpPr>
        <p:spPr bwMode="auto">
          <a:xfrm>
            <a:off x="3731840" y="4759775"/>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5</a:t>
            </a:r>
          </a:p>
        </p:txBody>
      </p:sp>
      <p:sp>
        <p:nvSpPr>
          <p:cNvPr id="128" name="Text Box 81"/>
          <p:cNvSpPr txBox="1">
            <a:spLocks noChangeArrowheads="1"/>
          </p:cNvSpPr>
          <p:nvPr/>
        </p:nvSpPr>
        <p:spPr bwMode="auto">
          <a:xfrm>
            <a:off x="4570040" y="4759775"/>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6</a:t>
            </a:r>
          </a:p>
        </p:txBody>
      </p:sp>
      <p:sp>
        <p:nvSpPr>
          <p:cNvPr id="129" name="Text Box 82"/>
          <p:cNvSpPr txBox="1">
            <a:spLocks noChangeArrowheads="1"/>
          </p:cNvSpPr>
          <p:nvPr/>
        </p:nvSpPr>
        <p:spPr bwMode="auto">
          <a:xfrm>
            <a:off x="5789240" y="4759775"/>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7</a:t>
            </a:r>
          </a:p>
        </p:txBody>
      </p:sp>
      <p:sp>
        <p:nvSpPr>
          <p:cNvPr id="130" name="Text Box 83"/>
          <p:cNvSpPr txBox="1">
            <a:spLocks noChangeArrowheads="1"/>
          </p:cNvSpPr>
          <p:nvPr/>
        </p:nvSpPr>
        <p:spPr bwMode="auto">
          <a:xfrm>
            <a:off x="8684840" y="3483425"/>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1</a:t>
            </a:r>
          </a:p>
        </p:txBody>
      </p:sp>
      <p:sp>
        <p:nvSpPr>
          <p:cNvPr id="131" name="Text Box 84"/>
          <p:cNvSpPr txBox="1">
            <a:spLocks noChangeArrowheads="1"/>
          </p:cNvSpPr>
          <p:nvPr/>
        </p:nvSpPr>
        <p:spPr bwMode="auto">
          <a:xfrm>
            <a:off x="7618040" y="4169225"/>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2</a:t>
            </a:r>
          </a:p>
        </p:txBody>
      </p:sp>
      <p:sp>
        <p:nvSpPr>
          <p:cNvPr id="132" name="Text Box 85"/>
          <p:cNvSpPr txBox="1">
            <a:spLocks noChangeArrowheads="1"/>
          </p:cNvSpPr>
          <p:nvPr/>
        </p:nvSpPr>
        <p:spPr bwMode="auto">
          <a:xfrm>
            <a:off x="9675440" y="4093025"/>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3</a:t>
            </a:r>
          </a:p>
        </p:txBody>
      </p:sp>
      <p:sp>
        <p:nvSpPr>
          <p:cNvPr id="133" name="Text Box 86"/>
          <p:cNvSpPr txBox="1">
            <a:spLocks noChangeArrowheads="1"/>
          </p:cNvSpPr>
          <p:nvPr/>
        </p:nvSpPr>
        <p:spPr bwMode="auto">
          <a:xfrm>
            <a:off x="7008440" y="4702625"/>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4</a:t>
            </a:r>
          </a:p>
        </p:txBody>
      </p:sp>
      <p:sp>
        <p:nvSpPr>
          <p:cNvPr id="134" name="Text Box 87"/>
          <p:cNvSpPr txBox="1">
            <a:spLocks noChangeArrowheads="1"/>
          </p:cNvSpPr>
          <p:nvPr/>
        </p:nvSpPr>
        <p:spPr bwMode="auto">
          <a:xfrm>
            <a:off x="8227640" y="473120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5</a:t>
            </a:r>
          </a:p>
        </p:txBody>
      </p:sp>
      <p:sp>
        <p:nvSpPr>
          <p:cNvPr id="2" name="矩形 1">
            <a:extLst>
              <a:ext uri="{FF2B5EF4-FFF2-40B4-BE49-F238E27FC236}">
                <a16:creationId xmlns:a16="http://schemas.microsoft.com/office/drawing/2014/main" xmlns="" id="{69D35127-16FE-E282-2E30-9849C3D89978}"/>
              </a:ext>
            </a:extLst>
          </p:cNvPr>
          <p:cNvSpPr/>
          <p:nvPr/>
        </p:nvSpPr>
        <p:spPr>
          <a:xfrm>
            <a:off x="1643217" y="2631855"/>
            <a:ext cx="9277319" cy="646331"/>
          </a:xfrm>
          <a:prstGeom prst="rect">
            <a:avLst/>
          </a:prstGeom>
        </p:spPr>
        <p:txBody>
          <a:bodyPr wrap="square">
            <a:spAutoFit/>
          </a:bodyPr>
          <a:lstStyle/>
          <a:p>
            <a:r>
              <a:rPr kumimoji="1" lang="zh-CN" altLang="en-US" dirty="0">
                <a:latin typeface="微软雅黑" pitchFamily="34" charset="-122"/>
                <a:ea typeface="微软雅黑" pitchFamily="34" charset="-122"/>
                <a:cs typeface="经典粗黑简" pitchFamily="49" charset="-122"/>
              </a:rPr>
              <a:t>对一棵具有</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个结点的二叉树按层序编号，编号为</a:t>
            </a:r>
            <a:r>
              <a:rPr kumimoji="1" lang="en-US" altLang="zh-CN" dirty="0">
                <a:latin typeface="微软雅黑" pitchFamily="34" charset="-122"/>
                <a:ea typeface="微软雅黑" pitchFamily="34" charset="-122"/>
                <a:cs typeface="经典粗黑简" pitchFamily="49" charset="-122"/>
              </a:rPr>
              <a:t>i（1≤i≤n）</a:t>
            </a:r>
            <a:r>
              <a:rPr kumimoji="1" lang="zh-CN" altLang="en-US" dirty="0">
                <a:latin typeface="微软雅黑" pitchFamily="34" charset="-122"/>
                <a:ea typeface="微软雅黑" pitchFamily="34" charset="-122"/>
                <a:cs typeface="经典粗黑简" pitchFamily="49" charset="-122"/>
              </a:rPr>
              <a:t>的结点与同样深度的满二叉树中编号为</a:t>
            </a:r>
            <a:r>
              <a:rPr kumimoji="1" lang="en-US" altLang="zh-CN" dirty="0">
                <a:latin typeface="微软雅黑" pitchFamily="34" charset="-122"/>
                <a:ea typeface="微软雅黑" pitchFamily="34" charset="-122"/>
                <a:cs typeface="经典粗黑简" pitchFamily="49" charset="-122"/>
              </a:rPr>
              <a:t>i</a:t>
            </a:r>
            <a:r>
              <a:rPr kumimoji="1" lang="zh-CN" altLang="en-US" dirty="0">
                <a:latin typeface="微软雅黑" pitchFamily="34" charset="-122"/>
                <a:ea typeface="微软雅黑" pitchFamily="34" charset="-122"/>
                <a:cs typeface="经典粗黑简" pitchFamily="49" charset="-122"/>
              </a:rPr>
              <a:t>的结点在二叉树中的位置完全相同。</a:t>
            </a:r>
          </a:p>
        </p:txBody>
      </p:sp>
      <p:sp>
        <p:nvSpPr>
          <p:cNvPr id="3" name="矩形 2">
            <a:extLst>
              <a:ext uri="{FF2B5EF4-FFF2-40B4-BE49-F238E27FC236}">
                <a16:creationId xmlns:a16="http://schemas.microsoft.com/office/drawing/2014/main" xmlns="" id="{F5D30F9D-01F7-277E-A3A7-6D413732C2CA}"/>
              </a:ext>
            </a:extLst>
          </p:cNvPr>
          <p:cNvSpPr/>
          <p:nvPr/>
        </p:nvSpPr>
        <p:spPr>
          <a:xfrm>
            <a:off x="983432" y="1569472"/>
            <a:ext cx="2492990"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两种特殊的二叉树：</a:t>
            </a:r>
          </a:p>
        </p:txBody>
      </p:sp>
      <p:sp>
        <p:nvSpPr>
          <p:cNvPr id="4" name="矩形 3">
            <a:extLst>
              <a:ext uri="{FF2B5EF4-FFF2-40B4-BE49-F238E27FC236}">
                <a16:creationId xmlns:a16="http://schemas.microsoft.com/office/drawing/2014/main" xmlns="" id="{23EA1EE3-1573-71B2-5523-1A9B0975CF90}"/>
              </a:ext>
            </a:extLst>
          </p:cNvPr>
          <p:cNvSpPr/>
          <p:nvPr/>
        </p:nvSpPr>
        <p:spPr>
          <a:xfrm>
            <a:off x="1496393" y="2087351"/>
            <a:ext cx="179889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 ②完全二叉树</a:t>
            </a:r>
            <a:endParaRPr lang="zh-CN" altLang="en-US" sz="2000" dirty="0"/>
          </a:p>
        </p:txBody>
      </p:sp>
      <p:sp>
        <p:nvSpPr>
          <p:cNvPr id="5" name="矩形 4">
            <a:extLst>
              <a:ext uri="{FF2B5EF4-FFF2-40B4-BE49-F238E27FC236}">
                <a16:creationId xmlns:a16="http://schemas.microsoft.com/office/drawing/2014/main" xmlns="" id="{D9E80D94-E65E-BC39-6E95-B0C2B642E402}"/>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6" name="Rectangle 2">
            <a:extLst>
              <a:ext uri="{FF2B5EF4-FFF2-40B4-BE49-F238E27FC236}">
                <a16:creationId xmlns:a16="http://schemas.microsoft.com/office/drawing/2014/main" xmlns="" id="{D2F8A627-2F85-BD33-92B6-D96AC060AC61}"/>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7" name="直接连接符 6">
            <a:extLst>
              <a:ext uri="{FF2B5EF4-FFF2-40B4-BE49-F238E27FC236}">
                <a16:creationId xmlns:a16="http://schemas.microsoft.com/office/drawing/2014/main" xmlns="" id="{A2966F8F-0CD2-6CEB-49E6-39EDA69C1978}"/>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116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73798" y="2703012"/>
            <a:ext cx="9350453" cy="400110"/>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在满二叉树中，从最后一个结点开始，连续去掉任意个结点，即是一棵完全二叉树。</a:t>
            </a:r>
          </a:p>
        </p:txBody>
      </p:sp>
      <p:sp>
        <p:nvSpPr>
          <p:cNvPr id="10" name="Oval 123"/>
          <p:cNvSpPr>
            <a:spLocks noChangeArrowheads="1"/>
          </p:cNvSpPr>
          <p:nvPr/>
        </p:nvSpPr>
        <p:spPr bwMode="auto">
          <a:xfrm>
            <a:off x="5476577" y="3565090"/>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A</a:t>
            </a:r>
          </a:p>
        </p:txBody>
      </p:sp>
      <p:sp>
        <p:nvSpPr>
          <p:cNvPr id="11" name="Text Box 124"/>
          <p:cNvSpPr txBox="1">
            <a:spLocks noChangeArrowheads="1"/>
          </p:cNvSpPr>
          <p:nvPr/>
        </p:nvSpPr>
        <p:spPr bwMode="auto">
          <a:xfrm>
            <a:off x="6192541" y="3528591"/>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1</a:t>
            </a:r>
          </a:p>
        </p:txBody>
      </p:sp>
      <p:sp>
        <p:nvSpPr>
          <p:cNvPr id="12" name="Text Box 125"/>
          <p:cNvSpPr txBox="1">
            <a:spLocks noChangeArrowheads="1"/>
          </p:cNvSpPr>
          <p:nvPr/>
        </p:nvSpPr>
        <p:spPr bwMode="auto">
          <a:xfrm>
            <a:off x="5425559" y="4712084"/>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5</a:t>
            </a:r>
          </a:p>
        </p:txBody>
      </p:sp>
      <p:sp>
        <p:nvSpPr>
          <p:cNvPr id="13" name="Text Box 126"/>
          <p:cNvSpPr txBox="1">
            <a:spLocks noChangeArrowheads="1"/>
          </p:cNvSpPr>
          <p:nvPr/>
        </p:nvSpPr>
        <p:spPr bwMode="auto">
          <a:xfrm>
            <a:off x="4935023" y="3989772"/>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2</a:t>
            </a:r>
          </a:p>
        </p:txBody>
      </p:sp>
      <p:sp>
        <p:nvSpPr>
          <p:cNvPr id="14" name="Text Box 127"/>
          <p:cNvSpPr txBox="1">
            <a:spLocks noChangeArrowheads="1"/>
          </p:cNvSpPr>
          <p:nvPr/>
        </p:nvSpPr>
        <p:spPr bwMode="auto">
          <a:xfrm>
            <a:off x="7090400" y="3989772"/>
            <a:ext cx="2460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3</a:t>
            </a:r>
          </a:p>
        </p:txBody>
      </p:sp>
      <p:sp>
        <p:nvSpPr>
          <p:cNvPr id="15" name="Text Box 128"/>
          <p:cNvSpPr txBox="1">
            <a:spLocks noChangeArrowheads="1"/>
          </p:cNvSpPr>
          <p:nvPr/>
        </p:nvSpPr>
        <p:spPr bwMode="auto">
          <a:xfrm>
            <a:off x="4446073" y="4712084"/>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4</a:t>
            </a:r>
          </a:p>
        </p:txBody>
      </p:sp>
      <p:sp>
        <p:nvSpPr>
          <p:cNvPr id="16" name="Text Box 129"/>
          <p:cNvSpPr txBox="1">
            <a:spLocks noChangeArrowheads="1"/>
          </p:cNvSpPr>
          <p:nvPr/>
        </p:nvSpPr>
        <p:spPr bwMode="auto">
          <a:xfrm>
            <a:off x="6601451" y="4712084"/>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6</a:t>
            </a:r>
          </a:p>
        </p:txBody>
      </p:sp>
      <p:sp>
        <p:nvSpPr>
          <p:cNvPr id="17" name="Text Box 130"/>
          <p:cNvSpPr txBox="1">
            <a:spLocks noChangeArrowheads="1"/>
          </p:cNvSpPr>
          <p:nvPr/>
        </p:nvSpPr>
        <p:spPr bwMode="auto">
          <a:xfrm>
            <a:off x="7683202" y="4933515"/>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7</a:t>
            </a:r>
          </a:p>
        </p:txBody>
      </p:sp>
      <p:sp>
        <p:nvSpPr>
          <p:cNvPr id="18" name="Text Box 132"/>
          <p:cNvSpPr txBox="1">
            <a:spLocks noChangeArrowheads="1"/>
          </p:cNvSpPr>
          <p:nvPr/>
        </p:nvSpPr>
        <p:spPr bwMode="auto">
          <a:xfrm>
            <a:off x="4231760" y="5886834"/>
            <a:ext cx="2444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9</a:t>
            </a:r>
          </a:p>
        </p:txBody>
      </p:sp>
      <p:sp>
        <p:nvSpPr>
          <p:cNvPr id="19" name="Text Box 133"/>
          <p:cNvSpPr txBox="1">
            <a:spLocks noChangeArrowheads="1"/>
          </p:cNvSpPr>
          <p:nvPr/>
        </p:nvSpPr>
        <p:spPr bwMode="auto">
          <a:xfrm>
            <a:off x="4684198" y="5886834"/>
            <a:ext cx="3841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10</a:t>
            </a:r>
          </a:p>
        </p:txBody>
      </p:sp>
      <p:sp>
        <p:nvSpPr>
          <p:cNvPr id="20" name="Line 134"/>
          <p:cNvSpPr>
            <a:spLocks noChangeShapeType="1"/>
          </p:cNvSpPr>
          <p:nvPr/>
        </p:nvSpPr>
        <p:spPr bwMode="auto">
          <a:xfrm flipH="1">
            <a:off x="4732833" y="3804803"/>
            <a:ext cx="743744" cy="246856"/>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21" name="Freeform 135"/>
          <p:cNvSpPr>
            <a:spLocks/>
          </p:cNvSpPr>
          <p:nvPr/>
        </p:nvSpPr>
        <p:spPr bwMode="auto">
          <a:xfrm>
            <a:off x="5811541" y="3758766"/>
            <a:ext cx="740697" cy="411187"/>
          </a:xfrm>
          <a:custGeom>
            <a:avLst/>
            <a:gdLst>
              <a:gd name="T0" fmla="*/ 0 w 767"/>
              <a:gd name="T1" fmla="*/ 0 h 488"/>
              <a:gd name="T2" fmla="*/ 2147483647 w 767"/>
              <a:gd name="T3" fmla="*/ 2147483647 h 488"/>
              <a:gd name="T4" fmla="*/ 0 60000 65536"/>
              <a:gd name="T5" fmla="*/ 0 60000 65536"/>
            </a:gdLst>
            <a:ahLst/>
            <a:cxnLst>
              <a:cxn ang="T4">
                <a:pos x="T0" y="T1"/>
              </a:cxn>
              <a:cxn ang="T5">
                <a:pos x="T2" y="T3"/>
              </a:cxn>
            </a:cxnLst>
            <a:rect l="0" t="0" r="r" b="b"/>
            <a:pathLst>
              <a:path w="767" h="488">
                <a:moveTo>
                  <a:pt x="0" y="0"/>
                </a:moveTo>
                <a:lnTo>
                  <a:pt x="767" y="488"/>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22" name="Freeform 136"/>
          <p:cNvSpPr>
            <a:spLocks/>
          </p:cNvSpPr>
          <p:nvPr/>
        </p:nvSpPr>
        <p:spPr bwMode="auto">
          <a:xfrm>
            <a:off x="4161909" y="4297746"/>
            <a:ext cx="311150" cy="490538"/>
          </a:xfrm>
          <a:custGeom>
            <a:avLst/>
            <a:gdLst>
              <a:gd name="T0" fmla="*/ 2147483647 w 259"/>
              <a:gd name="T1" fmla="*/ 0 h 421"/>
              <a:gd name="T2" fmla="*/ 0 w 259"/>
              <a:gd name="T3" fmla="*/ 2147483647 h 421"/>
              <a:gd name="T4" fmla="*/ 0 60000 65536"/>
              <a:gd name="T5" fmla="*/ 0 60000 65536"/>
            </a:gdLst>
            <a:ahLst/>
            <a:cxnLst>
              <a:cxn ang="T4">
                <a:pos x="T0" y="T1"/>
              </a:cxn>
              <a:cxn ang="T5">
                <a:pos x="T2" y="T3"/>
              </a:cxn>
            </a:cxnLst>
            <a:rect l="0" t="0" r="r" b="b"/>
            <a:pathLst>
              <a:path w="259" h="421">
                <a:moveTo>
                  <a:pt x="259"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23" name="Freeform 137"/>
          <p:cNvSpPr>
            <a:spLocks/>
          </p:cNvSpPr>
          <p:nvPr/>
        </p:nvSpPr>
        <p:spPr bwMode="auto">
          <a:xfrm>
            <a:off x="4763573" y="4297746"/>
            <a:ext cx="268287" cy="490538"/>
          </a:xfrm>
          <a:custGeom>
            <a:avLst/>
            <a:gdLst>
              <a:gd name="T0" fmla="*/ 0 w 222"/>
              <a:gd name="T1" fmla="*/ 0 h 421"/>
              <a:gd name="T2" fmla="*/ 2147483647 w 222"/>
              <a:gd name="T3" fmla="*/ 2147483647 h 421"/>
              <a:gd name="T4" fmla="*/ 0 60000 65536"/>
              <a:gd name="T5" fmla="*/ 0 60000 65536"/>
            </a:gdLst>
            <a:ahLst/>
            <a:cxnLst>
              <a:cxn ang="T4">
                <a:pos x="T0" y="T1"/>
              </a:cxn>
              <a:cxn ang="T5">
                <a:pos x="T2" y="T3"/>
              </a:cxn>
            </a:cxnLst>
            <a:rect l="0" t="0" r="r" b="b"/>
            <a:pathLst>
              <a:path w="222" h="421">
                <a:moveTo>
                  <a:pt x="0" y="0"/>
                </a:moveTo>
                <a:lnTo>
                  <a:pt x="222"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24" name="Freeform 138"/>
          <p:cNvSpPr>
            <a:spLocks/>
          </p:cNvSpPr>
          <p:nvPr/>
        </p:nvSpPr>
        <p:spPr bwMode="auto">
          <a:xfrm>
            <a:off x="6364912" y="4315209"/>
            <a:ext cx="273050" cy="488950"/>
          </a:xfrm>
          <a:custGeom>
            <a:avLst/>
            <a:gdLst>
              <a:gd name="T0" fmla="*/ 2147483647 w 226"/>
              <a:gd name="T1" fmla="*/ 0 h 421"/>
              <a:gd name="T2" fmla="*/ 0 w 226"/>
              <a:gd name="T3" fmla="*/ 2147483647 h 421"/>
              <a:gd name="T4" fmla="*/ 0 60000 65536"/>
              <a:gd name="T5" fmla="*/ 0 60000 65536"/>
            </a:gdLst>
            <a:ahLst/>
            <a:cxnLst>
              <a:cxn ang="T4">
                <a:pos x="T0" y="T1"/>
              </a:cxn>
              <a:cxn ang="T5">
                <a:pos x="T2" y="T3"/>
              </a:cxn>
            </a:cxnLst>
            <a:rect l="0" t="0" r="r" b="b"/>
            <a:pathLst>
              <a:path w="226" h="421">
                <a:moveTo>
                  <a:pt x="226"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25" name="Line 139"/>
          <p:cNvSpPr>
            <a:spLocks noChangeShapeType="1"/>
          </p:cNvSpPr>
          <p:nvPr/>
        </p:nvSpPr>
        <p:spPr bwMode="auto">
          <a:xfrm>
            <a:off x="6899900" y="4315210"/>
            <a:ext cx="317500" cy="466725"/>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26" name="Freeform 141"/>
          <p:cNvSpPr>
            <a:spLocks/>
          </p:cNvSpPr>
          <p:nvPr/>
        </p:nvSpPr>
        <p:spPr bwMode="auto">
          <a:xfrm>
            <a:off x="3871397" y="5086734"/>
            <a:ext cx="144462" cy="411162"/>
          </a:xfrm>
          <a:custGeom>
            <a:avLst/>
            <a:gdLst>
              <a:gd name="T0" fmla="*/ 2147483647 w 119"/>
              <a:gd name="T1" fmla="*/ 0 h 356"/>
              <a:gd name="T2" fmla="*/ 0 w 119"/>
              <a:gd name="T3" fmla="*/ 2147483647 h 356"/>
              <a:gd name="T4" fmla="*/ 0 60000 65536"/>
              <a:gd name="T5" fmla="*/ 0 60000 65536"/>
            </a:gdLst>
            <a:ahLst/>
            <a:cxnLst>
              <a:cxn ang="T4">
                <a:pos x="T0" y="T1"/>
              </a:cxn>
              <a:cxn ang="T5">
                <a:pos x="T2" y="T3"/>
              </a:cxn>
            </a:cxnLst>
            <a:rect l="0" t="0" r="r" b="b"/>
            <a:pathLst>
              <a:path w="119" h="356">
                <a:moveTo>
                  <a:pt x="119" y="0"/>
                </a:moveTo>
                <a:lnTo>
                  <a:pt x="0" y="356"/>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27" name="Line 142"/>
          <p:cNvSpPr>
            <a:spLocks noChangeShapeType="1"/>
          </p:cNvSpPr>
          <p:nvPr/>
        </p:nvSpPr>
        <p:spPr bwMode="auto">
          <a:xfrm>
            <a:off x="4196835" y="5074034"/>
            <a:ext cx="111125" cy="41275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28" name="Line 143"/>
          <p:cNvSpPr>
            <a:spLocks noChangeShapeType="1"/>
          </p:cNvSpPr>
          <p:nvPr/>
        </p:nvSpPr>
        <p:spPr bwMode="auto">
          <a:xfrm flipH="1">
            <a:off x="4873110" y="5097846"/>
            <a:ext cx="112713" cy="38735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29" name="Oval 148"/>
          <p:cNvSpPr>
            <a:spLocks noChangeArrowheads="1"/>
          </p:cNvSpPr>
          <p:nvPr/>
        </p:nvSpPr>
        <p:spPr bwMode="auto">
          <a:xfrm>
            <a:off x="4388922" y="4007234"/>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B</a:t>
            </a:r>
          </a:p>
        </p:txBody>
      </p:sp>
      <p:sp>
        <p:nvSpPr>
          <p:cNvPr id="30" name="Oval 149"/>
          <p:cNvSpPr>
            <a:spLocks noChangeArrowheads="1"/>
          </p:cNvSpPr>
          <p:nvPr/>
        </p:nvSpPr>
        <p:spPr bwMode="auto">
          <a:xfrm>
            <a:off x="6552237" y="4007234"/>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C</a:t>
            </a:r>
          </a:p>
        </p:txBody>
      </p:sp>
      <p:sp>
        <p:nvSpPr>
          <p:cNvPr id="31" name="Oval 150"/>
          <p:cNvSpPr>
            <a:spLocks noChangeArrowheads="1"/>
          </p:cNvSpPr>
          <p:nvPr/>
        </p:nvSpPr>
        <p:spPr bwMode="auto">
          <a:xfrm>
            <a:off x="3903147" y="4745422"/>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D</a:t>
            </a:r>
          </a:p>
        </p:txBody>
      </p:sp>
      <p:sp>
        <p:nvSpPr>
          <p:cNvPr id="32" name="Oval 151"/>
          <p:cNvSpPr>
            <a:spLocks noChangeArrowheads="1"/>
          </p:cNvSpPr>
          <p:nvPr/>
        </p:nvSpPr>
        <p:spPr bwMode="auto">
          <a:xfrm>
            <a:off x="4876284" y="4745422"/>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E</a:t>
            </a:r>
          </a:p>
        </p:txBody>
      </p:sp>
      <p:sp>
        <p:nvSpPr>
          <p:cNvPr id="33" name="Oval 152"/>
          <p:cNvSpPr>
            <a:spLocks noChangeArrowheads="1"/>
          </p:cNvSpPr>
          <p:nvPr/>
        </p:nvSpPr>
        <p:spPr bwMode="auto">
          <a:xfrm>
            <a:off x="6096625" y="4747009"/>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F</a:t>
            </a:r>
          </a:p>
        </p:txBody>
      </p:sp>
      <p:sp>
        <p:nvSpPr>
          <p:cNvPr id="34" name="Oval 153"/>
          <p:cNvSpPr>
            <a:spLocks noChangeArrowheads="1"/>
          </p:cNvSpPr>
          <p:nvPr/>
        </p:nvSpPr>
        <p:spPr bwMode="auto">
          <a:xfrm>
            <a:off x="7099925" y="4745422"/>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G</a:t>
            </a:r>
          </a:p>
        </p:txBody>
      </p:sp>
      <p:sp>
        <p:nvSpPr>
          <p:cNvPr id="35" name="Oval 154"/>
          <p:cNvSpPr>
            <a:spLocks noChangeArrowheads="1"/>
          </p:cNvSpPr>
          <p:nvPr/>
        </p:nvSpPr>
        <p:spPr bwMode="auto">
          <a:xfrm>
            <a:off x="3638034" y="54534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H</a:t>
            </a:r>
          </a:p>
        </p:txBody>
      </p:sp>
      <p:sp>
        <p:nvSpPr>
          <p:cNvPr id="36" name="Oval 155"/>
          <p:cNvSpPr>
            <a:spLocks noChangeArrowheads="1"/>
          </p:cNvSpPr>
          <p:nvPr/>
        </p:nvSpPr>
        <p:spPr bwMode="auto">
          <a:xfrm>
            <a:off x="4125397" y="5466147"/>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6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I</a:t>
            </a:r>
          </a:p>
        </p:txBody>
      </p:sp>
      <p:sp>
        <p:nvSpPr>
          <p:cNvPr id="37" name="Oval 156"/>
          <p:cNvSpPr>
            <a:spLocks noChangeArrowheads="1"/>
          </p:cNvSpPr>
          <p:nvPr/>
        </p:nvSpPr>
        <p:spPr bwMode="auto">
          <a:xfrm>
            <a:off x="4655622" y="5467734"/>
            <a:ext cx="431800" cy="417512"/>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J</a:t>
            </a:r>
          </a:p>
        </p:txBody>
      </p:sp>
      <p:grpSp>
        <p:nvGrpSpPr>
          <p:cNvPr id="38" name="Group 171"/>
          <p:cNvGrpSpPr>
            <a:grpSpLocks/>
          </p:cNvGrpSpPr>
          <p:nvPr/>
        </p:nvGrpSpPr>
        <p:grpSpPr bwMode="auto">
          <a:xfrm>
            <a:off x="5128697" y="5074034"/>
            <a:ext cx="468312" cy="1173162"/>
            <a:chOff x="3871" y="1745"/>
            <a:chExt cx="295" cy="739"/>
          </a:xfrm>
        </p:grpSpPr>
        <p:sp>
          <p:nvSpPr>
            <p:cNvPr id="39" name="Line 140"/>
            <p:cNvSpPr>
              <a:spLocks noChangeShapeType="1"/>
            </p:cNvSpPr>
            <p:nvPr/>
          </p:nvSpPr>
          <p:spPr bwMode="auto">
            <a:xfrm>
              <a:off x="3903" y="1745"/>
              <a:ext cx="73" cy="259"/>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40" name="Oval 157"/>
            <p:cNvSpPr>
              <a:spLocks noChangeArrowheads="1"/>
            </p:cNvSpPr>
            <p:nvPr/>
          </p:nvSpPr>
          <p:spPr bwMode="auto">
            <a:xfrm>
              <a:off x="3871" y="1994"/>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K</a:t>
              </a:r>
            </a:p>
          </p:txBody>
        </p:sp>
        <p:sp>
          <p:nvSpPr>
            <p:cNvPr id="41" name="Text Box 162"/>
            <p:cNvSpPr txBox="1">
              <a:spLocks noChangeArrowheads="1"/>
            </p:cNvSpPr>
            <p:nvPr/>
          </p:nvSpPr>
          <p:spPr bwMode="auto">
            <a:xfrm>
              <a:off x="3924" y="2257"/>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1</a:t>
              </a:r>
            </a:p>
          </p:txBody>
        </p:sp>
      </p:grpSp>
      <p:grpSp>
        <p:nvGrpSpPr>
          <p:cNvPr id="42" name="Group 170"/>
          <p:cNvGrpSpPr>
            <a:grpSpLocks/>
          </p:cNvGrpSpPr>
          <p:nvPr/>
        </p:nvGrpSpPr>
        <p:grpSpPr bwMode="auto">
          <a:xfrm>
            <a:off x="5817225" y="5097847"/>
            <a:ext cx="431800" cy="1135063"/>
            <a:chOff x="4493" y="1760"/>
            <a:chExt cx="272" cy="715"/>
          </a:xfrm>
        </p:grpSpPr>
        <p:sp>
          <p:nvSpPr>
            <p:cNvPr id="43" name="Line 144"/>
            <p:cNvSpPr>
              <a:spLocks noChangeShapeType="1"/>
            </p:cNvSpPr>
            <p:nvPr/>
          </p:nvSpPr>
          <p:spPr bwMode="auto">
            <a:xfrm flipH="1">
              <a:off x="4633" y="1760"/>
              <a:ext cx="103" cy="25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44" name="Oval 158"/>
            <p:cNvSpPr>
              <a:spLocks noChangeArrowheads="1"/>
            </p:cNvSpPr>
            <p:nvPr/>
          </p:nvSpPr>
          <p:spPr bwMode="auto">
            <a:xfrm>
              <a:off x="4493" y="198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L</a:t>
              </a:r>
            </a:p>
          </p:txBody>
        </p:sp>
        <p:sp>
          <p:nvSpPr>
            <p:cNvPr id="45" name="Text Box 163"/>
            <p:cNvSpPr txBox="1">
              <a:spLocks noChangeArrowheads="1"/>
            </p:cNvSpPr>
            <p:nvPr/>
          </p:nvSpPr>
          <p:spPr bwMode="auto">
            <a:xfrm>
              <a:off x="4510"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2</a:t>
              </a:r>
            </a:p>
          </p:txBody>
        </p:sp>
      </p:grpSp>
      <p:grpSp>
        <p:nvGrpSpPr>
          <p:cNvPr id="46" name="Group 169"/>
          <p:cNvGrpSpPr>
            <a:grpSpLocks/>
          </p:cNvGrpSpPr>
          <p:nvPr/>
        </p:nvGrpSpPr>
        <p:grpSpPr bwMode="auto">
          <a:xfrm>
            <a:off x="6334750" y="5074034"/>
            <a:ext cx="431800" cy="1160462"/>
            <a:chOff x="4819" y="1745"/>
            <a:chExt cx="272" cy="731"/>
          </a:xfrm>
        </p:grpSpPr>
        <p:sp>
          <p:nvSpPr>
            <p:cNvPr id="47" name="Line 145"/>
            <p:cNvSpPr>
              <a:spLocks noChangeShapeType="1"/>
            </p:cNvSpPr>
            <p:nvPr/>
          </p:nvSpPr>
          <p:spPr bwMode="auto">
            <a:xfrm>
              <a:off x="4831" y="1745"/>
              <a:ext cx="110" cy="26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48" name="Oval 159"/>
            <p:cNvSpPr>
              <a:spLocks noChangeArrowheads="1"/>
            </p:cNvSpPr>
            <p:nvPr/>
          </p:nvSpPr>
          <p:spPr bwMode="auto">
            <a:xfrm>
              <a:off x="4819" y="198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M</a:t>
              </a:r>
            </a:p>
          </p:txBody>
        </p:sp>
        <p:sp>
          <p:nvSpPr>
            <p:cNvPr id="49" name="Text Box 164"/>
            <p:cNvSpPr txBox="1">
              <a:spLocks noChangeArrowheads="1"/>
            </p:cNvSpPr>
            <p:nvPr/>
          </p:nvSpPr>
          <p:spPr bwMode="auto">
            <a:xfrm>
              <a:off x="4835" y="2249"/>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3</a:t>
              </a:r>
            </a:p>
          </p:txBody>
        </p:sp>
      </p:grpSp>
      <p:grpSp>
        <p:nvGrpSpPr>
          <p:cNvPr id="50" name="Group 168"/>
          <p:cNvGrpSpPr>
            <a:grpSpLocks/>
          </p:cNvGrpSpPr>
          <p:nvPr/>
        </p:nvGrpSpPr>
        <p:grpSpPr bwMode="auto">
          <a:xfrm>
            <a:off x="6845926" y="5123247"/>
            <a:ext cx="434975" cy="1109663"/>
            <a:chOff x="5141" y="1776"/>
            <a:chExt cx="274" cy="699"/>
          </a:xfrm>
        </p:grpSpPr>
        <p:sp>
          <p:nvSpPr>
            <p:cNvPr id="57" name="Line 146"/>
            <p:cNvSpPr>
              <a:spLocks noChangeShapeType="1"/>
            </p:cNvSpPr>
            <p:nvPr/>
          </p:nvSpPr>
          <p:spPr bwMode="auto">
            <a:xfrm flipH="1">
              <a:off x="5295" y="1776"/>
              <a:ext cx="100" cy="22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58" name="Oval 160"/>
            <p:cNvSpPr>
              <a:spLocks noChangeArrowheads="1"/>
            </p:cNvSpPr>
            <p:nvPr/>
          </p:nvSpPr>
          <p:spPr bwMode="auto">
            <a:xfrm>
              <a:off x="5143" y="199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N</a:t>
              </a:r>
            </a:p>
          </p:txBody>
        </p:sp>
        <p:sp>
          <p:nvSpPr>
            <p:cNvPr id="59" name="Text Box 165"/>
            <p:cNvSpPr txBox="1">
              <a:spLocks noChangeArrowheads="1"/>
            </p:cNvSpPr>
            <p:nvPr/>
          </p:nvSpPr>
          <p:spPr bwMode="auto">
            <a:xfrm>
              <a:off x="5141"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4</a:t>
              </a:r>
            </a:p>
          </p:txBody>
        </p:sp>
      </p:grpSp>
      <p:grpSp>
        <p:nvGrpSpPr>
          <p:cNvPr id="60" name="Group 167"/>
          <p:cNvGrpSpPr>
            <a:grpSpLocks/>
          </p:cNvGrpSpPr>
          <p:nvPr/>
        </p:nvGrpSpPr>
        <p:grpSpPr bwMode="auto">
          <a:xfrm>
            <a:off x="7338050" y="5116897"/>
            <a:ext cx="438150" cy="1116013"/>
            <a:chOff x="5451" y="1772"/>
            <a:chExt cx="276" cy="703"/>
          </a:xfrm>
        </p:grpSpPr>
        <p:sp>
          <p:nvSpPr>
            <p:cNvPr id="61" name="Line 147"/>
            <p:cNvSpPr>
              <a:spLocks noChangeShapeType="1"/>
            </p:cNvSpPr>
            <p:nvPr/>
          </p:nvSpPr>
          <p:spPr bwMode="auto">
            <a:xfrm>
              <a:off x="5499" y="1772"/>
              <a:ext cx="99" cy="22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62" name="Oval 161"/>
            <p:cNvSpPr>
              <a:spLocks noChangeArrowheads="1"/>
            </p:cNvSpPr>
            <p:nvPr/>
          </p:nvSpPr>
          <p:spPr bwMode="auto">
            <a:xfrm>
              <a:off x="5451" y="1995"/>
              <a:ext cx="272" cy="26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O</a:t>
              </a:r>
            </a:p>
          </p:txBody>
        </p:sp>
        <p:sp>
          <p:nvSpPr>
            <p:cNvPr id="63" name="Text Box 166"/>
            <p:cNvSpPr txBox="1">
              <a:spLocks noChangeArrowheads="1"/>
            </p:cNvSpPr>
            <p:nvPr/>
          </p:nvSpPr>
          <p:spPr bwMode="auto">
            <a:xfrm>
              <a:off x="5485" y="2248"/>
              <a:ext cx="24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r>
                <a:rPr lang="en-US" altLang="zh-CN" sz="2400" b="1">
                  <a:latin typeface="Times New Roman" pitchFamily="18" charset="0"/>
                </a:rPr>
                <a:t>5</a:t>
              </a:r>
            </a:p>
          </p:txBody>
        </p:sp>
      </p:grpSp>
      <p:sp>
        <p:nvSpPr>
          <p:cNvPr id="64" name="Text Box 176"/>
          <p:cNvSpPr txBox="1">
            <a:spLocks noChangeArrowheads="1"/>
          </p:cNvSpPr>
          <p:nvPr/>
        </p:nvSpPr>
        <p:spPr bwMode="auto">
          <a:xfrm>
            <a:off x="3747856" y="5874135"/>
            <a:ext cx="269746"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en-US" altLang="zh-CN" sz="2400" b="1" dirty="0">
                <a:latin typeface="Times New Roman" pitchFamily="18" charset="0"/>
              </a:rPr>
              <a:t>8</a:t>
            </a:r>
          </a:p>
        </p:txBody>
      </p:sp>
      <p:sp>
        <p:nvSpPr>
          <p:cNvPr id="3" name="矩形 2">
            <a:extLst>
              <a:ext uri="{FF2B5EF4-FFF2-40B4-BE49-F238E27FC236}">
                <a16:creationId xmlns:a16="http://schemas.microsoft.com/office/drawing/2014/main" xmlns="" id="{A3D8A198-61F5-215B-C16F-D65128EF2D98}"/>
              </a:ext>
            </a:extLst>
          </p:cNvPr>
          <p:cNvSpPr/>
          <p:nvPr/>
        </p:nvSpPr>
        <p:spPr>
          <a:xfrm>
            <a:off x="983432" y="1569472"/>
            <a:ext cx="2492990"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两种特殊的二叉树：</a:t>
            </a:r>
          </a:p>
        </p:txBody>
      </p:sp>
      <p:sp>
        <p:nvSpPr>
          <p:cNvPr id="5" name="矩形 4">
            <a:extLst>
              <a:ext uri="{FF2B5EF4-FFF2-40B4-BE49-F238E27FC236}">
                <a16:creationId xmlns:a16="http://schemas.microsoft.com/office/drawing/2014/main" xmlns="" id="{22707498-B01D-D1EE-6213-0732C6EBE50D}"/>
              </a:ext>
            </a:extLst>
          </p:cNvPr>
          <p:cNvSpPr/>
          <p:nvPr/>
        </p:nvSpPr>
        <p:spPr>
          <a:xfrm>
            <a:off x="1496393" y="2087351"/>
            <a:ext cx="179889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 ②完全二叉树</a:t>
            </a:r>
            <a:endParaRPr lang="zh-CN" altLang="en-US" sz="2000" dirty="0"/>
          </a:p>
        </p:txBody>
      </p:sp>
      <p:sp>
        <p:nvSpPr>
          <p:cNvPr id="6" name="矩形 5">
            <a:extLst>
              <a:ext uri="{FF2B5EF4-FFF2-40B4-BE49-F238E27FC236}">
                <a16:creationId xmlns:a16="http://schemas.microsoft.com/office/drawing/2014/main" xmlns="" id="{7029C0D0-3C06-9ADD-D324-08BC9EFD3B98}"/>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7" name="Rectangle 2">
            <a:extLst>
              <a:ext uri="{FF2B5EF4-FFF2-40B4-BE49-F238E27FC236}">
                <a16:creationId xmlns:a16="http://schemas.microsoft.com/office/drawing/2014/main" xmlns="" id="{43204DA3-445F-7833-47F7-8503C6212900}"/>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8" name="直接连接符 7">
            <a:extLst>
              <a:ext uri="{FF2B5EF4-FFF2-40B4-BE49-F238E27FC236}">
                <a16:creationId xmlns:a16="http://schemas.microsoft.com/office/drawing/2014/main" xmlns="" id="{40F41952-FDF7-52A9-CCAF-0C76A6871F83}"/>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47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Oval 175"/>
          <p:cNvSpPr>
            <a:spLocks noChangeArrowheads="1"/>
          </p:cNvSpPr>
          <p:nvPr/>
        </p:nvSpPr>
        <p:spPr bwMode="auto">
          <a:xfrm>
            <a:off x="5595142" y="2840711"/>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A</a:t>
            </a:r>
          </a:p>
        </p:txBody>
      </p:sp>
      <p:sp>
        <p:nvSpPr>
          <p:cNvPr id="69" name="Text Box 176"/>
          <p:cNvSpPr txBox="1">
            <a:spLocks noChangeArrowheads="1"/>
          </p:cNvSpPr>
          <p:nvPr/>
        </p:nvSpPr>
        <p:spPr bwMode="auto">
          <a:xfrm>
            <a:off x="6084093" y="2761336"/>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p>
        </p:txBody>
      </p:sp>
      <p:sp>
        <p:nvSpPr>
          <p:cNvPr id="70" name="Text Box 177"/>
          <p:cNvSpPr txBox="1">
            <a:spLocks noChangeArrowheads="1"/>
          </p:cNvSpPr>
          <p:nvPr/>
        </p:nvSpPr>
        <p:spPr bwMode="auto">
          <a:xfrm>
            <a:off x="5347492" y="4209135"/>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5</a:t>
            </a:r>
          </a:p>
        </p:txBody>
      </p:sp>
      <p:sp>
        <p:nvSpPr>
          <p:cNvPr id="71" name="Text Box 178"/>
          <p:cNvSpPr txBox="1">
            <a:spLocks noChangeArrowheads="1"/>
          </p:cNvSpPr>
          <p:nvPr/>
        </p:nvSpPr>
        <p:spPr bwMode="auto">
          <a:xfrm>
            <a:off x="4856956" y="3486824"/>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2</a:t>
            </a:r>
          </a:p>
        </p:txBody>
      </p:sp>
      <p:sp>
        <p:nvSpPr>
          <p:cNvPr id="72" name="Text Box 179"/>
          <p:cNvSpPr txBox="1">
            <a:spLocks noChangeArrowheads="1"/>
          </p:cNvSpPr>
          <p:nvPr/>
        </p:nvSpPr>
        <p:spPr bwMode="auto">
          <a:xfrm>
            <a:off x="7311231" y="3486824"/>
            <a:ext cx="2460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3</a:t>
            </a:r>
          </a:p>
        </p:txBody>
      </p:sp>
      <p:sp>
        <p:nvSpPr>
          <p:cNvPr id="73" name="Text Box 180"/>
          <p:cNvSpPr txBox="1">
            <a:spLocks noChangeArrowheads="1"/>
          </p:cNvSpPr>
          <p:nvPr/>
        </p:nvSpPr>
        <p:spPr bwMode="auto">
          <a:xfrm>
            <a:off x="4368006" y="4209135"/>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4</a:t>
            </a:r>
          </a:p>
        </p:txBody>
      </p:sp>
      <p:sp>
        <p:nvSpPr>
          <p:cNvPr id="74" name="Text Box 181"/>
          <p:cNvSpPr txBox="1">
            <a:spLocks noChangeArrowheads="1"/>
          </p:cNvSpPr>
          <p:nvPr/>
        </p:nvSpPr>
        <p:spPr bwMode="auto">
          <a:xfrm>
            <a:off x="6822281" y="4209135"/>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6</a:t>
            </a:r>
          </a:p>
        </p:txBody>
      </p:sp>
      <p:sp>
        <p:nvSpPr>
          <p:cNvPr id="75" name="Text Box 182"/>
          <p:cNvSpPr txBox="1">
            <a:spLocks noChangeArrowheads="1"/>
          </p:cNvSpPr>
          <p:nvPr/>
        </p:nvSpPr>
        <p:spPr bwMode="auto">
          <a:xfrm>
            <a:off x="7801767" y="4209135"/>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7</a:t>
            </a:r>
          </a:p>
        </p:txBody>
      </p:sp>
      <p:sp>
        <p:nvSpPr>
          <p:cNvPr id="76" name="Text Box 183"/>
          <p:cNvSpPr txBox="1">
            <a:spLocks noChangeArrowheads="1"/>
          </p:cNvSpPr>
          <p:nvPr/>
        </p:nvSpPr>
        <p:spPr bwMode="auto">
          <a:xfrm>
            <a:off x="3531718" y="5383886"/>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8</a:t>
            </a:r>
          </a:p>
        </p:txBody>
      </p:sp>
      <p:sp>
        <p:nvSpPr>
          <p:cNvPr id="77" name="Text Box 184"/>
          <p:cNvSpPr txBox="1">
            <a:spLocks noChangeArrowheads="1"/>
          </p:cNvSpPr>
          <p:nvPr/>
        </p:nvSpPr>
        <p:spPr bwMode="auto">
          <a:xfrm>
            <a:off x="4258395" y="5383886"/>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9</a:t>
            </a:r>
          </a:p>
        </p:txBody>
      </p:sp>
      <p:sp>
        <p:nvSpPr>
          <p:cNvPr id="78" name="Text Box 185"/>
          <p:cNvSpPr txBox="1">
            <a:spLocks noChangeArrowheads="1"/>
          </p:cNvSpPr>
          <p:nvPr/>
        </p:nvSpPr>
        <p:spPr bwMode="auto">
          <a:xfrm>
            <a:off x="5207770" y="5383886"/>
            <a:ext cx="3841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10</a:t>
            </a:r>
          </a:p>
        </p:txBody>
      </p:sp>
      <p:sp>
        <p:nvSpPr>
          <p:cNvPr id="79" name="Line 186"/>
          <p:cNvSpPr>
            <a:spLocks noChangeShapeType="1"/>
          </p:cNvSpPr>
          <p:nvPr/>
        </p:nvSpPr>
        <p:spPr bwMode="auto">
          <a:xfrm flipH="1">
            <a:off x="4599781" y="3080424"/>
            <a:ext cx="995363" cy="493713"/>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80" name="Freeform 187"/>
          <p:cNvSpPr>
            <a:spLocks/>
          </p:cNvSpPr>
          <p:nvPr/>
        </p:nvSpPr>
        <p:spPr bwMode="auto">
          <a:xfrm>
            <a:off x="5930105" y="3034386"/>
            <a:ext cx="928688" cy="568325"/>
          </a:xfrm>
          <a:custGeom>
            <a:avLst/>
            <a:gdLst>
              <a:gd name="T0" fmla="*/ 0 w 767"/>
              <a:gd name="T1" fmla="*/ 0 h 488"/>
              <a:gd name="T2" fmla="*/ 8 w 767"/>
              <a:gd name="T3" fmla="*/ 3 h 488"/>
              <a:gd name="T4" fmla="*/ 0 60000 65536"/>
              <a:gd name="T5" fmla="*/ 0 60000 65536"/>
            </a:gdLst>
            <a:ahLst/>
            <a:cxnLst>
              <a:cxn ang="T4">
                <a:pos x="T0" y="T1"/>
              </a:cxn>
              <a:cxn ang="T5">
                <a:pos x="T2" y="T3"/>
              </a:cxn>
            </a:cxnLst>
            <a:rect l="0" t="0" r="r" b="b"/>
            <a:pathLst>
              <a:path w="767" h="488">
                <a:moveTo>
                  <a:pt x="0" y="0"/>
                </a:moveTo>
                <a:lnTo>
                  <a:pt x="767" y="488"/>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81" name="Freeform 188"/>
          <p:cNvSpPr>
            <a:spLocks/>
          </p:cNvSpPr>
          <p:nvPr/>
        </p:nvSpPr>
        <p:spPr bwMode="auto">
          <a:xfrm>
            <a:off x="4083842" y="3794798"/>
            <a:ext cx="311150" cy="490538"/>
          </a:xfrm>
          <a:custGeom>
            <a:avLst/>
            <a:gdLst>
              <a:gd name="T0" fmla="*/ 2 w 259"/>
              <a:gd name="T1" fmla="*/ 0 h 421"/>
              <a:gd name="T2" fmla="*/ 0 w 259"/>
              <a:gd name="T3" fmla="*/ 2 h 421"/>
              <a:gd name="T4" fmla="*/ 0 60000 65536"/>
              <a:gd name="T5" fmla="*/ 0 60000 65536"/>
            </a:gdLst>
            <a:ahLst/>
            <a:cxnLst>
              <a:cxn ang="T4">
                <a:pos x="T0" y="T1"/>
              </a:cxn>
              <a:cxn ang="T5">
                <a:pos x="T2" y="T3"/>
              </a:cxn>
            </a:cxnLst>
            <a:rect l="0" t="0" r="r" b="b"/>
            <a:pathLst>
              <a:path w="259" h="421">
                <a:moveTo>
                  <a:pt x="259"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82" name="Freeform 189"/>
          <p:cNvSpPr>
            <a:spLocks/>
          </p:cNvSpPr>
          <p:nvPr/>
        </p:nvSpPr>
        <p:spPr bwMode="auto">
          <a:xfrm>
            <a:off x="4685505" y="3794798"/>
            <a:ext cx="268288" cy="490538"/>
          </a:xfrm>
          <a:custGeom>
            <a:avLst/>
            <a:gdLst>
              <a:gd name="T0" fmla="*/ 0 w 222"/>
              <a:gd name="T1" fmla="*/ 0 h 421"/>
              <a:gd name="T2" fmla="*/ 2 w 222"/>
              <a:gd name="T3" fmla="*/ 2 h 421"/>
              <a:gd name="T4" fmla="*/ 0 60000 65536"/>
              <a:gd name="T5" fmla="*/ 0 60000 65536"/>
            </a:gdLst>
            <a:ahLst/>
            <a:cxnLst>
              <a:cxn ang="T4">
                <a:pos x="T0" y="T1"/>
              </a:cxn>
              <a:cxn ang="T5">
                <a:pos x="T2" y="T3"/>
              </a:cxn>
            </a:cxnLst>
            <a:rect l="0" t="0" r="r" b="b"/>
            <a:pathLst>
              <a:path w="222" h="421">
                <a:moveTo>
                  <a:pt x="0" y="0"/>
                </a:moveTo>
                <a:lnTo>
                  <a:pt x="222"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83" name="Freeform 190"/>
          <p:cNvSpPr>
            <a:spLocks/>
          </p:cNvSpPr>
          <p:nvPr/>
        </p:nvSpPr>
        <p:spPr bwMode="auto">
          <a:xfrm>
            <a:off x="6585742" y="3812260"/>
            <a:ext cx="273050" cy="488950"/>
          </a:xfrm>
          <a:custGeom>
            <a:avLst/>
            <a:gdLst>
              <a:gd name="T0" fmla="*/ 2 w 226"/>
              <a:gd name="T1" fmla="*/ 0 h 421"/>
              <a:gd name="T2" fmla="*/ 0 w 226"/>
              <a:gd name="T3" fmla="*/ 2 h 421"/>
              <a:gd name="T4" fmla="*/ 0 60000 65536"/>
              <a:gd name="T5" fmla="*/ 0 60000 65536"/>
            </a:gdLst>
            <a:ahLst/>
            <a:cxnLst>
              <a:cxn ang="T4">
                <a:pos x="T0" y="T1"/>
              </a:cxn>
              <a:cxn ang="T5">
                <a:pos x="T2" y="T3"/>
              </a:cxn>
            </a:cxnLst>
            <a:rect l="0" t="0" r="r" b="b"/>
            <a:pathLst>
              <a:path w="226" h="421">
                <a:moveTo>
                  <a:pt x="226"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84" name="Line 191"/>
          <p:cNvSpPr>
            <a:spLocks noChangeShapeType="1"/>
          </p:cNvSpPr>
          <p:nvPr/>
        </p:nvSpPr>
        <p:spPr bwMode="auto">
          <a:xfrm>
            <a:off x="7120730" y="3812261"/>
            <a:ext cx="317500" cy="466725"/>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85" name="Freeform 192"/>
          <p:cNvSpPr>
            <a:spLocks/>
          </p:cNvSpPr>
          <p:nvPr/>
        </p:nvSpPr>
        <p:spPr bwMode="auto">
          <a:xfrm>
            <a:off x="3665067" y="4607598"/>
            <a:ext cx="249644" cy="387350"/>
          </a:xfrm>
          <a:custGeom>
            <a:avLst/>
            <a:gdLst>
              <a:gd name="T0" fmla="*/ 2 w 119"/>
              <a:gd name="T1" fmla="*/ 0 h 356"/>
              <a:gd name="T2" fmla="*/ 0 w 119"/>
              <a:gd name="T3" fmla="*/ 1 h 356"/>
              <a:gd name="T4" fmla="*/ 0 60000 65536"/>
              <a:gd name="T5" fmla="*/ 0 60000 65536"/>
            </a:gdLst>
            <a:ahLst/>
            <a:cxnLst>
              <a:cxn ang="T4">
                <a:pos x="T0" y="T1"/>
              </a:cxn>
              <a:cxn ang="T5">
                <a:pos x="T2" y="T3"/>
              </a:cxn>
            </a:cxnLst>
            <a:rect l="0" t="0" r="r" b="b"/>
            <a:pathLst>
              <a:path w="119" h="356">
                <a:moveTo>
                  <a:pt x="119" y="0"/>
                </a:moveTo>
                <a:lnTo>
                  <a:pt x="0" y="356"/>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86" name="Line 193"/>
          <p:cNvSpPr>
            <a:spLocks noChangeShapeType="1"/>
          </p:cNvSpPr>
          <p:nvPr/>
        </p:nvSpPr>
        <p:spPr bwMode="auto">
          <a:xfrm>
            <a:off x="4152033" y="4607598"/>
            <a:ext cx="182562" cy="37623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87" name="Line 194"/>
          <p:cNvSpPr>
            <a:spLocks noChangeShapeType="1"/>
          </p:cNvSpPr>
          <p:nvPr/>
        </p:nvSpPr>
        <p:spPr bwMode="auto">
          <a:xfrm>
            <a:off x="5101430" y="4571086"/>
            <a:ext cx="276202" cy="411163"/>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88" name="Oval 195"/>
          <p:cNvSpPr>
            <a:spLocks noChangeArrowheads="1"/>
          </p:cNvSpPr>
          <p:nvPr/>
        </p:nvSpPr>
        <p:spPr bwMode="auto">
          <a:xfrm>
            <a:off x="4310855" y="3504286"/>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dirty="0">
                <a:solidFill>
                  <a:srgbClr val="FFFF99"/>
                </a:solidFill>
                <a:latin typeface="Times New Roman" pitchFamily="18" charset="0"/>
                <a:ea typeface="华文行楷" pitchFamily="2" charset="-122"/>
              </a:rPr>
              <a:t>B</a:t>
            </a:r>
          </a:p>
        </p:txBody>
      </p:sp>
      <p:sp>
        <p:nvSpPr>
          <p:cNvPr id="89" name="Oval 196"/>
          <p:cNvSpPr>
            <a:spLocks noChangeArrowheads="1"/>
          </p:cNvSpPr>
          <p:nvPr/>
        </p:nvSpPr>
        <p:spPr bwMode="auto">
          <a:xfrm>
            <a:off x="6773067" y="3504286"/>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C</a:t>
            </a:r>
          </a:p>
        </p:txBody>
      </p:sp>
      <p:sp>
        <p:nvSpPr>
          <p:cNvPr id="90" name="Oval 197"/>
          <p:cNvSpPr>
            <a:spLocks noChangeArrowheads="1"/>
          </p:cNvSpPr>
          <p:nvPr/>
        </p:nvSpPr>
        <p:spPr bwMode="auto">
          <a:xfrm>
            <a:off x="3825080" y="4242474"/>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D</a:t>
            </a:r>
          </a:p>
        </p:txBody>
      </p:sp>
      <p:sp>
        <p:nvSpPr>
          <p:cNvPr id="91" name="Oval 198"/>
          <p:cNvSpPr>
            <a:spLocks noChangeArrowheads="1"/>
          </p:cNvSpPr>
          <p:nvPr/>
        </p:nvSpPr>
        <p:spPr bwMode="auto">
          <a:xfrm>
            <a:off x="4798217" y="4242474"/>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E</a:t>
            </a:r>
          </a:p>
        </p:txBody>
      </p:sp>
      <p:sp>
        <p:nvSpPr>
          <p:cNvPr id="92" name="Oval 199"/>
          <p:cNvSpPr>
            <a:spLocks noChangeArrowheads="1"/>
          </p:cNvSpPr>
          <p:nvPr/>
        </p:nvSpPr>
        <p:spPr bwMode="auto">
          <a:xfrm>
            <a:off x="6317455" y="4244061"/>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F</a:t>
            </a:r>
          </a:p>
        </p:txBody>
      </p:sp>
      <p:sp>
        <p:nvSpPr>
          <p:cNvPr id="93" name="Oval 200"/>
          <p:cNvSpPr>
            <a:spLocks noChangeArrowheads="1"/>
          </p:cNvSpPr>
          <p:nvPr/>
        </p:nvSpPr>
        <p:spPr bwMode="auto">
          <a:xfrm>
            <a:off x="7320755" y="4242474"/>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G</a:t>
            </a:r>
          </a:p>
        </p:txBody>
      </p:sp>
      <p:sp>
        <p:nvSpPr>
          <p:cNvPr id="94" name="Oval 201"/>
          <p:cNvSpPr>
            <a:spLocks noChangeArrowheads="1"/>
          </p:cNvSpPr>
          <p:nvPr/>
        </p:nvSpPr>
        <p:spPr bwMode="auto">
          <a:xfrm>
            <a:off x="3431704" y="4950499"/>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H</a:t>
            </a:r>
          </a:p>
        </p:txBody>
      </p:sp>
      <p:sp>
        <p:nvSpPr>
          <p:cNvPr id="95" name="Oval 202"/>
          <p:cNvSpPr>
            <a:spLocks noChangeArrowheads="1"/>
          </p:cNvSpPr>
          <p:nvPr/>
        </p:nvSpPr>
        <p:spPr bwMode="auto">
          <a:xfrm>
            <a:off x="4152032" y="4963199"/>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6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I</a:t>
            </a:r>
          </a:p>
        </p:txBody>
      </p:sp>
      <p:sp>
        <p:nvSpPr>
          <p:cNvPr id="96" name="Oval 203"/>
          <p:cNvSpPr>
            <a:spLocks noChangeArrowheads="1"/>
          </p:cNvSpPr>
          <p:nvPr/>
        </p:nvSpPr>
        <p:spPr bwMode="auto">
          <a:xfrm>
            <a:off x="5160144" y="4964786"/>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J</a:t>
            </a:r>
          </a:p>
        </p:txBody>
      </p:sp>
      <p:sp>
        <p:nvSpPr>
          <p:cNvPr id="2" name="矩形 1"/>
          <p:cNvSpPr/>
          <p:nvPr/>
        </p:nvSpPr>
        <p:spPr>
          <a:xfrm>
            <a:off x="6138005" y="5409763"/>
            <a:ext cx="1451038" cy="369332"/>
          </a:xfrm>
          <a:prstGeom prst="rect">
            <a:avLst/>
          </a:prstGeom>
        </p:spPr>
        <p:txBody>
          <a:bodyPr wrap="none">
            <a:spAutoFit/>
          </a:bodyPr>
          <a:lstStyle/>
          <a:p>
            <a:r>
              <a:rPr kumimoji="1" lang="zh-CN" altLang="en-US" dirty="0">
                <a:latin typeface="微软雅黑" pitchFamily="34" charset="-122"/>
                <a:ea typeface="微软雅黑" pitchFamily="34" charset="-122"/>
                <a:cs typeface="经典粗黑简" pitchFamily="49" charset="-122"/>
              </a:rPr>
              <a:t>完全二叉树</a:t>
            </a:r>
            <a:r>
              <a:rPr kumimoji="1" lang="en-US" altLang="zh-CN" dirty="0">
                <a:latin typeface="微软雅黑" pitchFamily="34" charset="-122"/>
                <a:ea typeface="微软雅黑" pitchFamily="34" charset="-122"/>
                <a:cs typeface="经典粗黑简" pitchFamily="49" charset="-122"/>
              </a:rPr>
              <a:t>?</a:t>
            </a:r>
            <a:endParaRPr lang="zh-CN" altLang="en-US" dirty="0"/>
          </a:p>
        </p:txBody>
      </p:sp>
      <p:sp>
        <p:nvSpPr>
          <p:cNvPr id="4" name="矩形 3">
            <a:extLst>
              <a:ext uri="{FF2B5EF4-FFF2-40B4-BE49-F238E27FC236}">
                <a16:creationId xmlns:a16="http://schemas.microsoft.com/office/drawing/2014/main" xmlns="" id="{086B383A-C244-421E-7899-F1AA9E418B30}"/>
              </a:ext>
            </a:extLst>
          </p:cNvPr>
          <p:cNvSpPr/>
          <p:nvPr/>
        </p:nvSpPr>
        <p:spPr>
          <a:xfrm>
            <a:off x="983432" y="1569472"/>
            <a:ext cx="2492990"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两种特殊的二叉树：</a:t>
            </a:r>
          </a:p>
        </p:txBody>
      </p:sp>
      <p:sp>
        <p:nvSpPr>
          <p:cNvPr id="5" name="矩形 4">
            <a:extLst>
              <a:ext uri="{FF2B5EF4-FFF2-40B4-BE49-F238E27FC236}">
                <a16:creationId xmlns:a16="http://schemas.microsoft.com/office/drawing/2014/main" xmlns="" id="{3BD3BD91-EA36-C49A-90A8-F1BF382DA2D1}"/>
              </a:ext>
            </a:extLst>
          </p:cNvPr>
          <p:cNvSpPr/>
          <p:nvPr/>
        </p:nvSpPr>
        <p:spPr>
          <a:xfrm>
            <a:off x="1496393" y="2087351"/>
            <a:ext cx="179889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 ②完全二叉树</a:t>
            </a:r>
            <a:endParaRPr lang="zh-CN" altLang="en-US" sz="2000" dirty="0"/>
          </a:p>
        </p:txBody>
      </p:sp>
      <p:sp>
        <p:nvSpPr>
          <p:cNvPr id="6" name="矩形 5">
            <a:extLst>
              <a:ext uri="{FF2B5EF4-FFF2-40B4-BE49-F238E27FC236}">
                <a16:creationId xmlns:a16="http://schemas.microsoft.com/office/drawing/2014/main" xmlns="" id="{0BAF70D1-C598-442F-1C5E-4E9022E22785}"/>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7" name="Rectangle 2">
            <a:extLst>
              <a:ext uri="{FF2B5EF4-FFF2-40B4-BE49-F238E27FC236}">
                <a16:creationId xmlns:a16="http://schemas.microsoft.com/office/drawing/2014/main" xmlns="" id="{615A3237-5937-58CC-34B3-8DA8E5E88CCD}"/>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8" name="直接连接符 7">
            <a:extLst>
              <a:ext uri="{FF2B5EF4-FFF2-40B4-BE49-F238E27FC236}">
                <a16:creationId xmlns:a16="http://schemas.microsoft.com/office/drawing/2014/main" xmlns="" id="{CE9E7D4E-C026-9DB3-97AE-0335C2790DBC}"/>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9529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Oval 175"/>
          <p:cNvSpPr>
            <a:spLocks noChangeArrowheads="1"/>
          </p:cNvSpPr>
          <p:nvPr/>
        </p:nvSpPr>
        <p:spPr bwMode="auto">
          <a:xfrm>
            <a:off x="5595142" y="2840711"/>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A</a:t>
            </a:r>
          </a:p>
        </p:txBody>
      </p:sp>
      <p:sp>
        <p:nvSpPr>
          <p:cNvPr id="69" name="Text Box 176"/>
          <p:cNvSpPr txBox="1">
            <a:spLocks noChangeArrowheads="1"/>
          </p:cNvSpPr>
          <p:nvPr/>
        </p:nvSpPr>
        <p:spPr bwMode="auto">
          <a:xfrm>
            <a:off x="6084093" y="2761336"/>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p>
        </p:txBody>
      </p:sp>
      <p:sp>
        <p:nvSpPr>
          <p:cNvPr id="70" name="Text Box 177"/>
          <p:cNvSpPr txBox="1">
            <a:spLocks noChangeArrowheads="1"/>
          </p:cNvSpPr>
          <p:nvPr/>
        </p:nvSpPr>
        <p:spPr bwMode="auto">
          <a:xfrm>
            <a:off x="5347492" y="4209135"/>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5</a:t>
            </a:r>
          </a:p>
        </p:txBody>
      </p:sp>
      <p:sp>
        <p:nvSpPr>
          <p:cNvPr id="71" name="Text Box 178"/>
          <p:cNvSpPr txBox="1">
            <a:spLocks noChangeArrowheads="1"/>
          </p:cNvSpPr>
          <p:nvPr/>
        </p:nvSpPr>
        <p:spPr bwMode="auto">
          <a:xfrm>
            <a:off x="4856956" y="3486824"/>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2</a:t>
            </a:r>
          </a:p>
        </p:txBody>
      </p:sp>
      <p:sp>
        <p:nvSpPr>
          <p:cNvPr id="72" name="Text Box 179"/>
          <p:cNvSpPr txBox="1">
            <a:spLocks noChangeArrowheads="1"/>
          </p:cNvSpPr>
          <p:nvPr/>
        </p:nvSpPr>
        <p:spPr bwMode="auto">
          <a:xfrm>
            <a:off x="7311231" y="3486824"/>
            <a:ext cx="2460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3</a:t>
            </a:r>
          </a:p>
        </p:txBody>
      </p:sp>
      <p:sp>
        <p:nvSpPr>
          <p:cNvPr id="73" name="Text Box 180"/>
          <p:cNvSpPr txBox="1">
            <a:spLocks noChangeArrowheads="1"/>
          </p:cNvSpPr>
          <p:nvPr/>
        </p:nvSpPr>
        <p:spPr bwMode="auto">
          <a:xfrm>
            <a:off x="4368006" y="4209135"/>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4</a:t>
            </a:r>
          </a:p>
        </p:txBody>
      </p:sp>
      <p:sp>
        <p:nvSpPr>
          <p:cNvPr id="74" name="Text Box 181"/>
          <p:cNvSpPr txBox="1">
            <a:spLocks noChangeArrowheads="1"/>
          </p:cNvSpPr>
          <p:nvPr/>
        </p:nvSpPr>
        <p:spPr bwMode="auto">
          <a:xfrm>
            <a:off x="6822281" y="4209135"/>
            <a:ext cx="2444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6</a:t>
            </a:r>
          </a:p>
        </p:txBody>
      </p:sp>
      <p:sp>
        <p:nvSpPr>
          <p:cNvPr id="75" name="Text Box 182"/>
          <p:cNvSpPr txBox="1">
            <a:spLocks noChangeArrowheads="1"/>
          </p:cNvSpPr>
          <p:nvPr/>
        </p:nvSpPr>
        <p:spPr bwMode="auto">
          <a:xfrm>
            <a:off x="7801767" y="4209135"/>
            <a:ext cx="2476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7</a:t>
            </a:r>
          </a:p>
        </p:txBody>
      </p:sp>
      <p:sp>
        <p:nvSpPr>
          <p:cNvPr id="76" name="Text Box 183"/>
          <p:cNvSpPr txBox="1">
            <a:spLocks noChangeArrowheads="1"/>
          </p:cNvSpPr>
          <p:nvPr/>
        </p:nvSpPr>
        <p:spPr bwMode="auto">
          <a:xfrm>
            <a:off x="3531718" y="5383886"/>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8</a:t>
            </a:r>
          </a:p>
        </p:txBody>
      </p:sp>
      <p:sp>
        <p:nvSpPr>
          <p:cNvPr id="77" name="Text Box 184"/>
          <p:cNvSpPr txBox="1">
            <a:spLocks noChangeArrowheads="1"/>
          </p:cNvSpPr>
          <p:nvPr/>
        </p:nvSpPr>
        <p:spPr bwMode="auto">
          <a:xfrm>
            <a:off x="4258395" y="5383886"/>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9</a:t>
            </a:r>
          </a:p>
        </p:txBody>
      </p:sp>
      <p:sp>
        <p:nvSpPr>
          <p:cNvPr id="78" name="Text Box 185"/>
          <p:cNvSpPr txBox="1">
            <a:spLocks noChangeArrowheads="1"/>
          </p:cNvSpPr>
          <p:nvPr/>
        </p:nvSpPr>
        <p:spPr bwMode="auto">
          <a:xfrm>
            <a:off x="4703466" y="5373217"/>
            <a:ext cx="3841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dirty="0">
                <a:latin typeface="Times New Roman" pitchFamily="18" charset="0"/>
              </a:rPr>
              <a:t>10</a:t>
            </a:r>
          </a:p>
        </p:txBody>
      </p:sp>
      <p:sp>
        <p:nvSpPr>
          <p:cNvPr id="79" name="Line 186"/>
          <p:cNvSpPr>
            <a:spLocks noChangeShapeType="1"/>
          </p:cNvSpPr>
          <p:nvPr/>
        </p:nvSpPr>
        <p:spPr bwMode="auto">
          <a:xfrm flipH="1">
            <a:off x="4599781" y="3080424"/>
            <a:ext cx="995363" cy="493713"/>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80" name="Freeform 187"/>
          <p:cNvSpPr>
            <a:spLocks/>
          </p:cNvSpPr>
          <p:nvPr/>
        </p:nvSpPr>
        <p:spPr bwMode="auto">
          <a:xfrm>
            <a:off x="5930105" y="3034386"/>
            <a:ext cx="928688" cy="568325"/>
          </a:xfrm>
          <a:custGeom>
            <a:avLst/>
            <a:gdLst>
              <a:gd name="T0" fmla="*/ 0 w 767"/>
              <a:gd name="T1" fmla="*/ 0 h 488"/>
              <a:gd name="T2" fmla="*/ 8 w 767"/>
              <a:gd name="T3" fmla="*/ 3 h 488"/>
              <a:gd name="T4" fmla="*/ 0 60000 65536"/>
              <a:gd name="T5" fmla="*/ 0 60000 65536"/>
            </a:gdLst>
            <a:ahLst/>
            <a:cxnLst>
              <a:cxn ang="T4">
                <a:pos x="T0" y="T1"/>
              </a:cxn>
              <a:cxn ang="T5">
                <a:pos x="T2" y="T3"/>
              </a:cxn>
            </a:cxnLst>
            <a:rect l="0" t="0" r="r" b="b"/>
            <a:pathLst>
              <a:path w="767" h="488">
                <a:moveTo>
                  <a:pt x="0" y="0"/>
                </a:moveTo>
                <a:lnTo>
                  <a:pt x="767" y="488"/>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81" name="Freeform 188"/>
          <p:cNvSpPr>
            <a:spLocks/>
          </p:cNvSpPr>
          <p:nvPr/>
        </p:nvSpPr>
        <p:spPr bwMode="auto">
          <a:xfrm>
            <a:off x="4083842" y="3794798"/>
            <a:ext cx="311150" cy="490538"/>
          </a:xfrm>
          <a:custGeom>
            <a:avLst/>
            <a:gdLst>
              <a:gd name="T0" fmla="*/ 2 w 259"/>
              <a:gd name="T1" fmla="*/ 0 h 421"/>
              <a:gd name="T2" fmla="*/ 0 w 259"/>
              <a:gd name="T3" fmla="*/ 2 h 421"/>
              <a:gd name="T4" fmla="*/ 0 60000 65536"/>
              <a:gd name="T5" fmla="*/ 0 60000 65536"/>
            </a:gdLst>
            <a:ahLst/>
            <a:cxnLst>
              <a:cxn ang="T4">
                <a:pos x="T0" y="T1"/>
              </a:cxn>
              <a:cxn ang="T5">
                <a:pos x="T2" y="T3"/>
              </a:cxn>
            </a:cxnLst>
            <a:rect l="0" t="0" r="r" b="b"/>
            <a:pathLst>
              <a:path w="259" h="421">
                <a:moveTo>
                  <a:pt x="259"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82" name="Freeform 189"/>
          <p:cNvSpPr>
            <a:spLocks/>
          </p:cNvSpPr>
          <p:nvPr/>
        </p:nvSpPr>
        <p:spPr bwMode="auto">
          <a:xfrm>
            <a:off x="4685505" y="3794798"/>
            <a:ext cx="268288" cy="490538"/>
          </a:xfrm>
          <a:custGeom>
            <a:avLst/>
            <a:gdLst>
              <a:gd name="T0" fmla="*/ 0 w 222"/>
              <a:gd name="T1" fmla="*/ 0 h 421"/>
              <a:gd name="T2" fmla="*/ 2 w 222"/>
              <a:gd name="T3" fmla="*/ 2 h 421"/>
              <a:gd name="T4" fmla="*/ 0 60000 65536"/>
              <a:gd name="T5" fmla="*/ 0 60000 65536"/>
            </a:gdLst>
            <a:ahLst/>
            <a:cxnLst>
              <a:cxn ang="T4">
                <a:pos x="T0" y="T1"/>
              </a:cxn>
              <a:cxn ang="T5">
                <a:pos x="T2" y="T3"/>
              </a:cxn>
            </a:cxnLst>
            <a:rect l="0" t="0" r="r" b="b"/>
            <a:pathLst>
              <a:path w="222" h="421">
                <a:moveTo>
                  <a:pt x="0" y="0"/>
                </a:moveTo>
                <a:lnTo>
                  <a:pt x="222"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83" name="Freeform 190"/>
          <p:cNvSpPr>
            <a:spLocks/>
          </p:cNvSpPr>
          <p:nvPr/>
        </p:nvSpPr>
        <p:spPr bwMode="auto">
          <a:xfrm>
            <a:off x="6585742" y="3812260"/>
            <a:ext cx="273050" cy="488950"/>
          </a:xfrm>
          <a:custGeom>
            <a:avLst/>
            <a:gdLst>
              <a:gd name="T0" fmla="*/ 2 w 226"/>
              <a:gd name="T1" fmla="*/ 0 h 421"/>
              <a:gd name="T2" fmla="*/ 0 w 226"/>
              <a:gd name="T3" fmla="*/ 2 h 421"/>
              <a:gd name="T4" fmla="*/ 0 60000 65536"/>
              <a:gd name="T5" fmla="*/ 0 60000 65536"/>
            </a:gdLst>
            <a:ahLst/>
            <a:cxnLst>
              <a:cxn ang="T4">
                <a:pos x="T0" y="T1"/>
              </a:cxn>
              <a:cxn ang="T5">
                <a:pos x="T2" y="T3"/>
              </a:cxn>
            </a:cxnLst>
            <a:rect l="0" t="0" r="r" b="b"/>
            <a:pathLst>
              <a:path w="226" h="421">
                <a:moveTo>
                  <a:pt x="226" y="0"/>
                </a:moveTo>
                <a:lnTo>
                  <a:pt x="0" y="421"/>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84" name="Line 191"/>
          <p:cNvSpPr>
            <a:spLocks noChangeShapeType="1"/>
          </p:cNvSpPr>
          <p:nvPr/>
        </p:nvSpPr>
        <p:spPr bwMode="auto">
          <a:xfrm>
            <a:off x="7120730" y="3812261"/>
            <a:ext cx="317500" cy="466725"/>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85" name="Freeform 192"/>
          <p:cNvSpPr>
            <a:spLocks/>
          </p:cNvSpPr>
          <p:nvPr/>
        </p:nvSpPr>
        <p:spPr bwMode="auto">
          <a:xfrm>
            <a:off x="3665067" y="4607598"/>
            <a:ext cx="249644" cy="387350"/>
          </a:xfrm>
          <a:custGeom>
            <a:avLst/>
            <a:gdLst>
              <a:gd name="T0" fmla="*/ 2 w 119"/>
              <a:gd name="T1" fmla="*/ 0 h 356"/>
              <a:gd name="T2" fmla="*/ 0 w 119"/>
              <a:gd name="T3" fmla="*/ 1 h 356"/>
              <a:gd name="T4" fmla="*/ 0 60000 65536"/>
              <a:gd name="T5" fmla="*/ 0 60000 65536"/>
            </a:gdLst>
            <a:ahLst/>
            <a:cxnLst>
              <a:cxn ang="T4">
                <a:pos x="T0" y="T1"/>
              </a:cxn>
              <a:cxn ang="T5">
                <a:pos x="T2" y="T3"/>
              </a:cxn>
            </a:cxnLst>
            <a:rect l="0" t="0" r="r" b="b"/>
            <a:pathLst>
              <a:path w="119" h="356">
                <a:moveTo>
                  <a:pt x="119" y="0"/>
                </a:moveTo>
                <a:lnTo>
                  <a:pt x="0" y="356"/>
                </a:lnTo>
              </a:path>
            </a:pathLst>
          </a:custGeom>
          <a:noFill/>
          <a:ln w="28575" cmpd="sng">
            <a:solidFill>
              <a:srgbClr val="006666"/>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86" name="Line 193"/>
          <p:cNvSpPr>
            <a:spLocks noChangeShapeType="1"/>
          </p:cNvSpPr>
          <p:nvPr/>
        </p:nvSpPr>
        <p:spPr bwMode="auto">
          <a:xfrm>
            <a:off x="4152033" y="4607598"/>
            <a:ext cx="182562" cy="376237"/>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87" name="Line 194"/>
          <p:cNvSpPr>
            <a:spLocks noChangeShapeType="1"/>
          </p:cNvSpPr>
          <p:nvPr/>
        </p:nvSpPr>
        <p:spPr bwMode="auto">
          <a:xfrm flipH="1">
            <a:off x="4856956" y="4571086"/>
            <a:ext cx="244475" cy="423863"/>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88" name="Oval 195"/>
          <p:cNvSpPr>
            <a:spLocks noChangeArrowheads="1"/>
          </p:cNvSpPr>
          <p:nvPr/>
        </p:nvSpPr>
        <p:spPr bwMode="auto">
          <a:xfrm>
            <a:off x="4310855" y="3504286"/>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dirty="0">
                <a:solidFill>
                  <a:srgbClr val="FFFF99"/>
                </a:solidFill>
                <a:latin typeface="Times New Roman" pitchFamily="18" charset="0"/>
                <a:ea typeface="华文行楷" pitchFamily="2" charset="-122"/>
              </a:rPr>
              <a:t>B</a:t>
            </a:r>
          </a:p>
        </p:txBody>
      </p:sp>
      <p:sp>
        <p:nvSpPr>
          <p:cNvPr id="89" name="Oval 196"/>
          <p:cNvSpPr>
            <a:spLocks noChangeArrowheads="1"/>
          </p:cNvSpPr>
          <p:nvPr/>
        </p:nvSpPr>
        <p:spPr bwMode="auto">
          <a:xfrm>
            <a:off x="6773067" y="3504286"/>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C</a:t>
            </a:r>
          </a:p>
        </p:txBody>
      </p:sp>
      <p:sp>
        <p:nvSpPr>
          <p:cNvPr id="90" name="Oval 197"/>
          <p:cNvSpPr>
            <a:spLocks noChangeArrowheads="1"/>
          </p:cNvSpPr>
          <p:nvPr/>
        </p:nvSpPr>
        <p:spPr bwMode="auto">
          <a:xfrm>
            <a:off x="3825080" y="4242474"/>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D</a:t>
            </a:r>
          </a:p>
        </p:txBody>
      </p:sp>
      <p:sp>
        <p:nvSpPr>
          <p:cNvPr id="91" name="Oval 198"/>
          <p:cNvSpPr>
            <a:spLocks noChangeArrowheads="1"/>
          </p:cNvSpPr>
          <p:nvPr/>
        </p:nvSpPr>
        <p:spPr bwMode="auto">
          <a:xfrm>
            <a:off x="4798217" y="4242474"/>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E</a:t>
            </a:r>
          </a:p>
        </p:txBody>
      </p:sp>
      <p:sp>
        <p:nvSpPr>
          <p:cNvPr id="92" name="Oval 199"/>
          <p:cNvSpPr>
            <a:spLocks noChangeArrowheads="1"/>
          </p:cNvSpPr>
          <p:nvPr/>
        </p:nvSpPr>
        <p:spPr bwMode="auto">
          <a:xfrm>
            <a:off x="6317455" y="4244061"/>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F</a:t>
            </a:r>
          </a:p>
        </p:txBody>
      </p:sp>
      <p:sp>
        <p:nvSpPr>
          <p:cNvPr id="93" name="Oval 200"/>
          <p:cNvSpPr>
            <a:spLocks noChangeArrowheads="1"/>
          </p:cNvSpPr>
          <p:nvPr/>
        </p:nvSpPr>
        <p:spPr bwMode="auto">
          <a:xfrm>
            <a:off x="7320755" y="4242474"/>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G</a:t>
            </a:r>
          </a:p>
        </p:txBody>
      </p:sp>
      <p:sp>
        <p:nvSpPr>
          <p:cNvPr id="94" name="Oval 201"/>
          <p:cNvSpPr>
            <a:spLocks noChangeArrowheads="1"/>
          </p:cNvSpPr>
          <p:nvPr/>
        </p:nvSpPr>
        <p:spPr bwMode="auto">
          <a:xfrm>
            <a:off x="3431704" y="4950499"/>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H</a:t>
            </a:r>
          </a:p>
        </p:txBody>
      </p:sp>
      <p:sp>
        <p:nvSpPr>
          <p:cNvPr id="95" name="Oval 202"/>
          <p:cNvSpPr>
            <a:spLocks noChangeArrowheads="1"/>
          </p:cNvSpPr>
          <p:nvPr/>
        </p:nvSpPr>
        <p:spPr bwMode="auto">
          <a:xfrm>
            <a:off x="4152032" y="4963199"/>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6000" tIns="0" rIns="0" bIns="0"/>
          <a:lstStyle/>
          <a:p>
            <a:pPr eaLnBrk="1" hangingPunct="1">
              <a:lnSpc>
                <a:spcPct val="90000"/>
              </a:lnSpc>
              <a:defRPr/>
            </a:pPr>
            <a:r>
              <a:rPr lang="en-US" altLang="zh-CN" sz="2400" b="1">
                <a:solidFill>
                  <a:srgbClr val="FFFF99"/>
                </a:solidFill>
                <a:latin typeface="Times New Roman" pitchFamily="18" charset="0"/>
                <a:ea typeface="华文行楷" pitchFamily="2" charset="-122"/>
              </a:rPr>
              <a:t>I</a:t>
            </a:r>
          </a:p>
        </p:txBody>
      </p:sp>
      <p:sp>
        <p:nvSpPr>
          <p:cNvPr id="96" name="Oval 203"/>
          <p:cNvSpPr>
            <a:spLocks noChangeArrowheads="1"/>
          </p:cNvSpPr>
          <p:nvPr/>
        </p:nvSpPr>
        <p:spPr bwMode="auto">
          <a:xfrm>
            <a:off x="4655840" y="4964786"/>
            <a:ext cx="431800" cy="417513"/>
          </a:xfrm>
          <a:prstGeom prst="ellipse">
            <a:avLst/>
          </a:prstGeom>
          <a:gradFill rotWithShape="1">
            <a:gsLst>
              <a:gs pos="0">
                <a:schemeClr val="accent1"/>
              </a:gs>
              <a:gs pos="100000">
                <a:schemeClr val="accent1">
                  <a:gamma/>
                  <a:shade val="46275"/>
                  <a:invGamma/>
                </a:schemeClr>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0" rIns="0" bIns="0"/>
          <a:lstStyle/>
          <a:p>
            <a:pPr eaLnBrk="1" hangingPunct="1">
              <a:lnSpc>
                <a:spcPct val="90000"/>
              </a:lnSpc>
              <a:defRPr/>
            </a:pPr>
            <a:r>
              <a:rPr lang="en-US" altLang="zh-CN" sz="2400" b="1" dirty="0">
                <a:solidFill>
                  <a:srgbClr val="FFFF99"/>
                </a:solidFill>
                <a:latin typeface="Times New Roman" pitchFamily="18" charset="0"/>
                <a:ea typeface="华文行楷" pitchFamily="2" charset="-122"/>
              </a:rPr>
              <a:t>J</a:t>
            </a:r>
          </a:p>
        </p:txBody>
      </p:sp>
      <p:sp>
        <p:nvSpPr>
          <p:cNvPr id="2" name="矩形 1"/>
          <p:cNvSpPr/>
          <p:nvPr/>
        </p:nvSpPr>
        <p:spPr>
          <a:xfrm>
            <a:off x="6138005" y="5409763"/>
            <a:ext cx="1451038" cy="369332"/>
          </a:xfrm>
          <a:prstGeom prst="rect">
            <a:avLst/>
          </a:prstGeom>
        </p:spPr>
        <p:txBody>
          <a:bodyPr wrap="none">
            <a:spAutoFit/>
          </a:bodyPr>
          <a:lstStyle/>
          <a:p>
            <a:r>
              <a:rPr kumimoji="1" lang="zh-CN" altLang="en-US" dirty="0">
                <a:latin typeface="微软雅黑" pitchFamily="34" charset="-122"/>
                <a:ea typeface="微软雅黑" pitchFamily="34" charset="-122"/>
                <a:cs typeface="经典粗黑简" pitchFamily="49" charset="-122"/>
              </a:rPr>
              <a:t>完全二叉树</a:t>
            </a:r>
            <a:r>
              <a:rPr kumimoji="1" lang="en-US" altLang="zh-CN" dirty="0">
                <a:latin typeface="微软雅黑" pitchFamily="34" charset="-122"/>
                <a:ea typeface="微软雅黑" pitchFamily="34" charset="-122"/>
                <a:cs typeface="经典粗黑简" pitchFamily="49" charset="-122"/>
              </a:rPr>
              <a:t>?</a:t>
            </a:r>
            <a:endParaRPr lang="zh-CN" altLang="en-US" dirty="0"/>
          </a:p>
        </p:txBody>
      </p:sp>
      <p:sp>
        <p:nvSpPr>
          <p:cNvPr id="4" name="矩形 3">
            <a:extLst>
              <a:ext uri="{FF2B5EF4-FFF2-40B4-BE49-F238E27FC236}">
                <a16:creationId xmlns:a16="http://schemas.microsoft.com/office/drawing/2014/main" xmlns="" id="{4E04C5FC-61FC-5A30-B9C8-6CB73A7F174F}"/>
              </a:ext>
            </a:extLst>
          </p:cNvPr>
          <p:cNvSpPr/>
          <p:nvPr/>
        </p:nvSpPr>
        <p:spPr>
          <a:xfrm>
            <a:off x="983432" y="1569472"/>
            <a:ext cx="2492990"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两种特殊的二叉树：</a:t>
            </a:r>
          </a:p>
        </p:txBody>
      </p:sp>
      <p:sp>
        <p:nvSpPr>
          <p:cNvPr id="5" name="矩形 4">
            <a:extLst>
              <a:ext uri="{FF2B5EF4-FFF2-40B4-BE49-F238E27FC236}">
                <a16:creationId xmlns:a16="http://schemas.microsoft.com/office/drawing/2014/main" xmlns="" id="{02AEABD6-D80B-9B8E-877B-0F94FEB084D5}"/>
              </a:ext>
            </a:extLst>
          </p:cNvPr>
          <p:cNvSpPr/>
          <p:nvPr/>
        </p:nvSpPr>
        <p:spPr>
          <a:xfrm>
            <a:off x="1496393" y="2087351"/>
            <a:ext cx="179889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 ②完全二叉树</a:t>
            </a:r>
            <a:endParaRPr lang="zh-CN" altLang="en-US" sz="2000" dirty="0"/>
          </a:p>
        </p:txBody>
      </p:sp>
      <p:sp>
        <p:nvSpPr>
          <p:cNvPr id="6" name="矩形 5">
            <a:extLst>
              <a:ext uri="{FF2B5EF4-FFF2-40B4-BE49-F238E27FC236}">
                <a16:creationId xmlns:a16="http://schemas.microsoft.com/office/drawing/2014/main" xmlns="" id="{A6C3C04D-692F-0FC5-3870-1422C52EA068}"/>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7" name="Rectangle 2">
            <a:extLst>
              <a:ext uri="{FF2B5EF4-FFF2-40B4-BE49-F238E27FC236}">
                <a16:creationId xmlns:a16="http://schemas.microsoft.com/office/drawing/2014/main" xmlns="" id="{14BD4133-AA06-0865-D0CC-089D977CBD81}"/>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8" name="直接连接符 7">
            <a:extLst>
              <a:ext uri="{FF2B5EF4-FFF2-40B4-BE49-F238E27FC236}">
                <a16:creationId xmlns:a16="http://schemas.microsoft.com/office/drawing/2014/main" xmlns="" id="{7E2FEAAC-CD0C-B850-715A-DDD69DE36952}"/>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55468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Box 50"/>
          <p:cNvSpPr txBox="1">
            <a:spLocks noChangeArrowheads="1"/>
          </p:cNvSpPr>
          <p:nvPr/>
        </p:nvSpPr>
        <p:spPr bwMode="auto">
          <a:xfrm>
            <a:off x="1919536" y="4942492"/>
            <a:ext cx="32018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zh-CN" altLang="en-US" sz="2000" dirty="0">
                <a:latin typeface="微软雅黑" pitchFamily="34" charset="-122"/>
                <a:ea typeface="微软雅黑" pitchFamily="34" charset="-122"/>
                <a:cs typeface="经典粗黑简" pitchFamily="49" charset="-122"/>
              </a:rPr>
              <a:t>高度为</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的一个完全二叉树</a:t>
            </a:r>
          </a:p>
        </p:txBody>
      </p:sp>
      <p:grpSp>
        <p:nvGrpSpPr>
          <p:cNvPr id="85" name="Group 65"/>
          <p:cNvGrpSpPr>
            <a:grpSpLocks/>
          </p:cNvGrpSpPr>
          <p:nvPr/>
        </p:nvGrpSpPr>
        <p:grpSpPr bwMode="auto">
          <a:xfrm>
            <a:off x="1785364" y="3158315"/>
            <a:ext cx="2971800" cy="1600200"/>
            <a:chOff x="3120" y="2688"/>
            <a:chExt cx="1872" cy="1008"/>
          </a:xfrm>
        </p:grpSpPr>
        <p:sp>
          <p:nvSpPr>
            <p:cNvPr id="86" name="Oval 66"/>
            <p:cNvSpPr>
              <a:spLocks noChangeArrowheads="1"/>
            </p:cNvSpPr>
            <p:nvPr/>
          </p:nvSpPr>
          <p:spPr bwMode="auto">
            <a:xfrm>
              <a:off x="4128" y="2688"/>
              <a:ext cx="240" cy="240"/>
            </a:xfrm>
            <a:prstGeom prst="ellipse">
              <a:avLst/>
            </a:prstGeom>
            <a:solidFill>
              <a:schemeClr val="accent2"/>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87" name="Oval 67"/>
            <p:cNvSpPr>
              <a:spLocks noChangeArrowheads="1"/>
            </p:cNvSpPr>
            <p:nvPr/>
          </p:nvSpPr>
          <p:spPr bwMode="auto">
            <a:xfrm>
              <a:off x="3504" y="3072"/>
              <a:ext cx="240" cy="240"/>
            </a:xfrm>
            <a:prstGeom prst="ellipse">
              <a:avLst/>
            </a:prstGeom>
            <a:solidFill>
              <a:schemeClr val="accent2"/>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115" name="Oval 68"/>
            <p:cNvSpPr>
              <a:spLocks noChangeArrowheads="1"/>
            </p:cNvSpPr>
            <p:nvPr/>
          </p:nvSpPr>
          <p:spPr bwMode="auto">
            <a:xfrm>
              <a:off x="3120" y="3408"/>
              <a:ext cx="240" cy="240"/>
            </a:xfrm>
            <a:prstGeom prst="ellipse">
              <a:avLst/>
            </a:prstGeom>
            <a:solidFill>
              <a:schemeClr val="accent2"/>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116" name="Oval 69"/>
            <p:cNvSpPr>
              <a:spLocks noChangeArrowheads="1"/>
            </p:cNvSpPr>
            <p:nvPr/>
          </p:nvSpPr>
          <p:spPr bwMode="auto">
            <a:xfrm>
              <a:off x="3888" y="3456"/>
              <a:ext cx="240" cy="240"/>
            </a:xfrm>
            <a:prstGeom prst="ellipse">
              <a:avLst/>
            </a:prstGeom>
            <a:solidFill>
              <a:schemeClr val="accent2"/>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sp>
          <p:nvSpPr>
            <p:cNvPr id="117" name="Oval 70"/>
            <p:cNvSpPr>
              <a:spLocks noChangeArrowheads="1"/>
            </p:cNvSpPr>
            <p:nvPr/>
          </p:nvSpPr>
          <p:spPr bwMode="auto">
            <a:xfrm>
              <a:off x="4752" y="3072"/>
              <a:ext cx="240" cy="240"/>
            </a:xfrm>
            <a:prstGeom prst="ellipse">
              <a:avLst/>
            </a:prstGeom>
            <a:solidFill>
              <a:schemeClr val="accent2"/>
            </a:solidFill>
            <a:ln w="9525">
              <a:solidFill>
                <a:schemeClr val="tx1"/>
              </a:solidFill>
              <a:miter lim="800000"/>
              <a:headEnd/>
              <a:tailEnd/>
            </a:ln>
          </p:spPr>
          <p:txBody>
            <a:bodyPr wrap="none" anchor="ctr"/>
            <a:lstStyle/>
            <a:p>
              <a:pPr algn="ctr">
                <a:spcBef>
                  <a:spcPct val="0"/>
                </a:spcBef>
                <a:buClrTx/>
                <a:buSzTx/>
                <a:buFontTx/>
                <a:buNone/>
              </a:pPr>
              <a:endParaRPr lang="zh-CN" altLang="zh-CN" sz="2400"/>
            </a:p>
          </p:txBody>
        </p:sp>
        <p:cxnSp>
          <p:nvCxnSpPr>
            <p:cNvPr id="118" name="AutoShape 71"/>
            <p:cNvCxnSpPr>
              <a:cxnSpLocks noChangeShapeType="1"/>
              <a:stCxn id="86" idx="3"/>
              <a:endCxn id="87" idx="7"/>
            </p:cNvCxnSpPr>
            <p:nvPr/>
          </p:nvCxnSpPr>
          <p:spPr bwMode="auto">
            <a:xfrm flipH="1">
              <a:off x="3709" y="2893"/>
              <a:ext cx="454" cy="214"/>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19" name="AutoShape 72"/>
            <p:cNvCxnSpPr>
              <a:cxnSpLocks noChangeShapeType="1"/>
              <a:stCxn id="87" idx="3"/>
              <a:endCxn id="115" idx="7"/>
            </p:cNvCxnSpPr>
            <p:nvPr/>
          </p:nvCxnSpPr>
          <p:spPr bwMode="auto">
            <a:xfrm flipH="1">
              <a:off x="3325" y="3277"/>
              <a:ext cx="214" cy="166"/>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20" name="AutoShape 73"/>
            <p:cNvCxnSpPr>
              <a:cxnSpLocks noChangeShapeType="1"/>
              <a:stCxn id="86" idx="5"/>
              <a:endCxn id="117" idx="1"/>
            </p:cNvCxnSpPr>
            <p:nvPr/>
          </p:nvCxnSpPr>
          <p:spPr bwMode="auto">
            <a:xfrm>
              <a:off x="4333" y="2893"/>
              <a:ext cx="454" cy="214"/>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21" name="AutoShape 74"/>
            <p:cNvCxnSpPr>
              <a:cxnSpLocks noChangeShapeType="1"/>
              <a:stCxn id="87" idx="5"/>
              <a:endCxn id="116" idx="1"/>
            </p:cNvCxnSpPr>
            <p:nvPr/>
          </p:nvCxnSpPr>
          <p:spPr bwMode="auto">
            <a:xfrm>
              <a:off x="3709" y="3277"/>
              <a:ext cx="214" cy="214"/>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sp>
        <p:nvSpPr>
          <p:cNvPr id="130" name="Text Box 83"/>
          <p:cNvSpPr txBox="1">
            <a:spLocks noChangeArrowheads="1"/>
          </p:cNvSpPr>
          <p:nvPr/>
        </p:nvSpPr>
        <p:spPr bwMode="auto">
          <a:xfrm>
            <a:off x="3842764" y="305354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1</a:t>
            </a:r>
          </a:p>
        </p:txBody>
      </p:sp>
      <p:sp>
        <p:nvSpPr>
          <p:cNvPr id="131" name="Text Box 84"/>
          <p:cNvSpPr txBox="1">
            <a:spLocks noChangeArrowheads="1"/>
          </p:cNvSpPr>
          <p:nvPr/>
        </p:nvSpPr>
        <p:spPr bwMode="auto">
          <a:xfrm>
            <a:off x="2775964" y="373934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2</a:t>
            </a:r>
          </a:p>
        </p:txBody>
      </p:sp>
      <p:sp>
        <p:nvSpPr>
          <p:cNvPr id="132" name="Text Box 85"/>
          <p:cNvSpPr txBox="1">
            <a:spLocks noChangeArrowheads="1"/>
          </p:cNvSpPr>
          <p:nvPr/>
        </p:nvSpPr>
        <p:spPr bwMode="auto">
          <a:xfrm>
            <a:off x="4833364" y="366314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3</a:t>
            </a:r>
          </a:p>
        </p:txBody>
      </p:sp>
      <p:sp>
        <p:nvSpPr>
          <p:cNvPr id="133" name="Text Box 86"/>
          <p:cNvSpPr txBox="1">
            <a:spLocks noChangeArrowheads="1"/>
          </p:cNvSpPr>
          <p:nvPr/>
        </p:nvSpPr>
        <p:spPr bwMode="auto">
          <a:xfrm>
            <a:off x="2166364" y="427274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4</a:t>
            </a:r>
          </a:p>
        </p:txBody>
      </p:sp>
      <p:sp>
        <p:nvSpPr>
          <p:cNvPr id="134" name="Text Box 87"/>
          <p:cNvSpPr txBox="1">
            <a:spLocks noChangeArrowheads="1"/>
          </p:cNvSpPr>
          <p:nvPr/>
        </p:nvSpPr>
        <p:spPr bwMode="auto">
          <a:xfrm>
            <a:off x="3385564" y="4301315"/>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400">
                <a:latin typeface="Tahoma" pitchFamily="34" charset="0"/>
                <a:ea typeface="宋体" pitchFamily="2" charset="-122"/>
              </a:defRPr>
            </a:lvl1pPr>
            <a:lvl2pPr marL="742950" indent="-285750" algn="ctr" eaLnBrk="0" hangingPunct="0">
              <a:spcBef>
                <a:spcPct val="0"/>
              </a:spcBef>
              <a:defRPr kumimoji="1" sz="3200">
                <a:latin typeface="Tahoma" pitchFamily="34" charset="0"/>
                <a:ea typeface="宋体" pitchFamily="2" charset="-122"/>
              </a:defRPr>
            </a:lvl2pPr>
            <a:lvl3pPr marL="1143000" indent="-228600" algn="ctr" eaLnBrk="0" hangingPunct="0">
              <a:spcBef>
                <a:spcPct val="0"/>
              </a:spcBef>
              <a:defRPr kumimoji="1" sz="3200">
                <a:latin typeface="Tahoma" pitchFamily="34" charset="0"/>
                <a:ea typeface="宋体" pitchFamily="2" charset="-122"/>
              </a:defRPr>
            </a:lvl3pPr>
            <a:lvl4pPr marL="1600200" indent="-228600" algn="ctr" eaLnBrk="0" hangingPunct="0">
              <a:spcBef>
                <a:spcPct val="0"/>
              </a:spcBef>
              <a:defRPr kumimoji="1" sz="3200">
                <a:latin typeface="Tahoma" pitchFamily="34" charset="0"/>
                <a:ea typeface="宋体" pitchFamily="2" charset="-122"/>
              </a:defRPr>
            </a:lvl4pPr>
            <a:lvl5pPr marL="2057400" indent="-228600" algn="ctr" eaLnBrk="0" hangingPunct="0">
              <a:spcBef>
                <a:spcPct val="0"/>
              </a:spcBef>
              <a:defRPr kumimoji="1" sz="3200">
                <a:latin typeface="Tahoma" pitchFamily="34" charset="0"/>
                <a:ea typeface="宋体" pitchFamily="2" charset="-122"/>
              </a:defRPr>
            </a:lvl5pPr>
            <a:lvl6pPr marL="2514600" indent="-228600" algn="ctr" eaLnBrk="0" fontAlgn="base" hangingPunct="0">
              <a:spcBef>
                <a:spcPct val="0"/>
              </a:spcBef>
              <a:spcAft>
                <a:spcPct val="0"/>
              </a:spcAft>
              <a:defRPr kumimoji="1" sz="3200">
                <a:latin typeface="Tahoma" pitchFamily="34" charset="0"/>
                <a:ea typeface="宋体" pitchFamily="2" charset="-122"/>
              </a:defRPr>
            </a:lvl6pPr>
            <a:lvl7pPr marL="2971800" indent="-228600" algn="ctr" eaLnBrk="0" fontAlgn="base" hangingPunct="0">
              <a:spcBef>
                <a:spcPct val="0"/>
              </a:spcBef>
              <a:spcAft>
                <a:spcPct val="0"/>
              </a:spcAft>
              <a:defRPr kumimoji="1" sz="3200">
                <a:latin typeface="Tahoma" pitchFamily="34" charset="0"/>
                <a:ea typeface="宋体" pitchFamily="2" charset="-122"/>
              </a:defRPr>
            </a:lvl7pPr>
            <a:lvl8pPr marL="3429000" indent="-228600" algn="ctr" eaLnBrk="0" fontAlgn="base" hangingPunct="0">
              <a:spcBef>
                <a:spcPct val="0"/>
              </a:spcBef>
              <a:spcAft>
                <a:spcPct val="0"/>
              </a:spcAft>
              <a:defRPr kumimoji="1" sz="3200">
                <a:latin typeface="Tahoma" pitchFamily="34" charset="0"/>
                <a:ea typeface="宋体" pitchFamily="2" charset="-122"/>
              </a:defRPr>
            </a:lvl8pPr>
            <a:lvl9pPr marL="3886200" indent="-228600" algn="ctr" eaLnBrk="0" fontAlgn="base" hangingPunct="0">
              <a:spcBef>
                <a:spcPct val="0"/>
              </a:spcBef>
              <a:spcAft>
                <a:spcPct val="0"/>
              </a:spcAft>
              <a:defRPr kumimoji="1" sz="3200">
                <a:latin typeface="Tahoma" pitchFamily="34" charset="0"/>
                <a:ea typeface="宋体" pitchFamily="2" charset="-122"/>
              </a:defRPr>
            </a:lvl9pPr>
          </a:lstStyle>
          <a:p>
            <a:r>
              <a:rPr lang="en-US" altLang="zh-CN"/>
              <a:t>5</a:t>
            </a:r>
          </a:p>
        </p:txBody>
      </p:sp>
      <p:sp>
        <p:nvSpPr>
          <p:cNvPr id="2" name="矩形 1"/>
          <p:cNvSpPr/>
          <p:nvPr/>
        </p:nvSpPr>
        <p:spPr>
          <a:xfrm>
            <a:off x="5434531" y="2749570"/>
            <a:ext cx="2299027"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完全二叉树的特点</a:t>
            </a:r>
            <a:r>
              <a:rPr kumimoji="1" lang="en-US" altLang="zh-CN" sz="2000" dirty="0">
                <a:latin typeface="微软雅黑" pitchFamily="34" charset="-122"/>
                <a:ea typeface="微软雅黑" pitchFamily="34" charset="-122"/>
                <a:cs typeface="经典粗黑简" pitchFamily="49" charset="-122"/>
              </a:rPr>
              <a:t>:</a:t>
            </a:r>
            <a:endParaRPr kumimoji="1" lang="zh-CN" altLang="en-US" sz="2000" dirty="0">
              <a:latin typeface="微软雅黑" pitchFamily="34" charset="-122"/>
              <a:ea typeface="微软雅黑" pitchFamily="34" charset="-122"/>
              <a:cs typeface="经典粗黑简" pitchFamily="49" charset="-122"/>
            </a:endParaRPr>
          </a:p>
        </p:txBody>
      </p:sp>
      <p:sp>
        <p:nvSpPr>
          <p:cNvPr id="4" name="矩形 3"/>
          <p:cNvSpPr/>
          <p:nvPr/>
        </p:nvSpPr>
        <p:spPr>
          <a:xfrm>
            <a:off x="5434530" y="3276452"/>
            <a:ext cx="4896544" cy="707886"/>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1. </a:t>
            </a:r>
            <a:r>
              <a:rPr kumimoji="1" lang="zh-CN" altLang="en-US" sz="2000" dirty="0">
                <a:latin typeface="微软雅黑" pitchFamily="34" charset="-122"/>
                <a:ea typeface="微软雅黑" pitchFamily="34" charset="-122"/>
                <a:cs typeface="经典粗黑简" pitchFamily="49" charset="-122"/>
              </a:rPr>
              <a:t>叶子结点只能出现在最下两层，且最下层的叶子结点都集中在二叉树的左部</a:t>
            </a:r>
            <a:r>
              <a:rPr kumimoji="1" lang="en-US" altLang="zh-CN" sz="2000" dirty="0">
                <a:latin typeface="微软雅黑" pitchFamily="34" charset="-122"/>
                <a:ea typeface="微软雅黑" pitchFamily="34" charset="-122"/>
                <a:cs typeface="经典粗黑简" pitchFamily="49" charset="-122"/>
              </a:rPr>
              <a:t>;</a:t>
            </a:r>
            <a:endParaRPr kumimoji="1" lang="zh-CN" altLang="en-US" sz="2000" dirty="0">
              <a:latin typeface="微软雅黑" pitchFamily="34" charset="-122"/>
              <a:ea typeface="微软雅黑" pitchFamily="34" charset="-122"/>
              <a:cs typeface="经典粗黑简" pitchFamily="49" charset="-122"/>
            </a:endParaRPr>
          </a:p>
        </p:txBody>
      </p:sp>
      <p:sp>
        <p:nvSpPr>
          <p:cNvPr id="5" name="矩形 4"/>
          <p:cNvSpPr/>
          <p:nvPr/>
        </p:nvSpPr>
        <p:spPr>
          <a:xfrm>
            <a:off x="5434530" y="4080332"/>
            <a:ext cx="4896544" cy="707886"/>
          </a:xfrm>
          <a:prstGeom prst="rect">
            <a:avLst/>
          </a:prstGeom>
        </p:spPr>
        <p:txBody>
          <a:bodyPr wrap="square">
            <a:spAutoFit/>
          </a:bodyPr>
          <a:lstStyle/>
          <a:p>
            <a:r>
              <a:rPr kumimoji="1" lang="en-US" altLang="zh-CN" sz="2000" dirty="0">
                <a:latin typeface="微软雅黑" pitchFamily="34" charset="-122"/>
                <a:ea typeface="微软雅黑" pitchFamily="34" charset="-122"/>
                <a:cs typeface="经典粗黑简" pitchFamily="49" charset="-122"/>
              </a:rPr>
              <a:t>2. </a:t>
            </a:r>
            <a:r>
              <a:rPr kumimoji="1" lang="zh-CN" altLang="en-US" sz="2000" dirty="0">
                <a:latin typeface="微软雅黑" pitchFamily="34" charset="-122"/>
                <a:ea typeface="微软雅黑" pitchFamily="34" charset="-122"/>
                <a:cs typeface="经典粗黑简" pitchFamily="49" charset="-122"/>
              </a:rPr>
              <a:t>完全二叉树中如果有度为</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的结点，只可能有一个，且该结点只有左孩子</a:t>
            </a:r>
            <a:r>
              <a:rPr kumimoji="1" lang="en-US" altLang="zh-CN" sz="2000" dirty="0">
                <a:latin typeface="微软雅黑" pitchFamily="34" charset="-122"/>
                <a:ea typeface="微软雅黑" pitchFamily="34" charset="-122"/>
                <a:cs typeface="经典粗黑简" pitchFamily="49" charset="-122"/>
              </a:rPr>
              <a:t>;</a:t>
            </a:r>
            <a:endParaRPr kumimoji="1" lang="zh-CN" altLang="en-US" sz="2000" dirty="0">
              <a:latin typeface="微软雅黑" pitchFamily="34" charset="-122"/>
              <a:ea typeface="微软雅黑" pitchFamily="34" charset="-122"/>
              <a:cs typeface="经典粗黑简" pitchFamily="49" charset="-122"/>
            </a:endParaRPr>
          </a:p>
        </p:txBody>
      </p:sp>
      <p:sp>
        <p:nvSpPr>
          <p:cNvPr id="6" name="矩形 5"/>
          <p:cNvSpPr/>
          <p:nvPr/>
        </p:nvSpPr>
        <p:spPr>
          <a:xfrm>
            <a:off x="5434530" y="4884211"/>
            <a:ext cx="4837934" cy="707886"/>
          </a:xfrm>
          <a:prstGeom prst="rect">
            <a:avLst/>
          </a:prstGeom>
        </p:spPr>
        <p:txBody>
          <a:bodyPr wrap="square">
            <a:spAutoFit/>
          </a:bodyPr>
          <a:lstStyle/>
          <a:p>
            <a:pPr marL="0" lvl="1"/>
            <a:r>
              <a:rPr kumimoji="1" lang="en-US" altLang="zh-CN" sz="2000" dirty="0">
                <a:latin typeface="微软雅黑" pitchFamily="34" charset="-122"/>
                <a:ea typeface="微软雅黑" pitchFamily="34" charset="-122"/>
                <a:cs typeface="经典粗黑简" pitchFamily="49" charset="-122"/>
              </a:rPr>
              <a:t>3. </a:t>
            </a:r>
            <a:r>
              <a:rPr kumimoji="1" lang="zh-CN" altLang="en-US" sz="2000" dirty="0">
                <a:latin typeface="微软雅黑" pitchFamily="34" charset="-122"/>
                <a:ea typeface="微软雅黑" pitchFamily="34" charset="-122"/>
                <a:cs typeface="经典粗黑简" pitchFamily="49" charset="-122"/>
              </a:rPr>
              <a:t>深度为</a:t>
            </a:r>
            <a:r>
              <a:rPr kumimoji="1" lang="en-US" altLang="zh-CN" sz="2000" dirty="0">
                <a:latin typeface="微软雅黑" pitchFamily="34" charset="-122"/>
                <a:ea typeface="微软雅黑" pitchFamily="34" charset="-122"/>
                <a:cs typeface="经典粗黑简" pitchFamily="49" charset="-122"/>
              </a:rPr>
              <a:t>k</a:t>
            </a:r>
            <a:r>
              <a:rPr kumimoji="1" lang="zh-CN" altLang="en-US" sz="2000" dirty="0">
                <a:latin typeface="微软雅黑" pitchFamily="34" charset="-122"/>
                <a:ea typeface="微软雅黑" pitchFamily="34" charset="-122"/>
                <a:cs typeface="经典粗黑简" pitchFamily="49" charset="-122"/>
              </a:rPr>
              <a:t>的完全二叉树在</a:t>
            </a:r>
            <a:r>
              <a:rPr kumimoji="1" lang="en-US" altLang="zh-CN" sz="2000" dirty="0">
                <a:latin typeface="微软雅黑" pitchFamily="34" charset="-122"/>
                <a:ea typeface="微软雅黑" pitchFamily="34" charset="-122"/>
                <a:cs typeface="经典粗黑简" pitchFamily="49" charset="-122"/>
              </a:rPr>
              <a:t>k-1</a:t>
            </a:r>
            <a:r>
              <a:rPr kumimoji="1" lang="zh-CN" altLang="en-US" sz="2000" dirty="0">
                <a:latin typeface="微软雅黑" pitchFamily="34" charset="-122"/>
                <a:ea typeface="微软雅黑" pitchFamily="34" charset="-122"/>
                <a:cs typeface="经典粗黑简" pitchFamily="49" charset="-122"/>
              </a:rPr>
              <a:t>层上一定是满二叉树。</a:t>
            </a:r>
          </a:p>
        </p:txBody>
      </p:sp>
      <p:sp>
        <p:nvSpPr>
          <p:cNvPr id="7" name="矩形 6">
            <a:extLst>
              <a:ext uri="{FF2B5EF4-FFF2-40B4-BE49-F238E27FC236}">
                <a16:creationId xmlns:a16="http://schemas.microsoft.com/office/drawing/2014/main" xmlns="" id="{ECB652B9-CA48-99B2-53D9-CECCFC0A8032}"/>
              </a:ext>
            </a:extLst>
          </p:cNvPr>
          <p:cNvSpPr/>
          <p:nvPr/>
        </p:nvSpPr>
        <p:spPr>
          <a:xfrm>
            <a:off x="983432" y="1569472"/>
            <a:ext cx="2492990" cy="400110"/>
          </a:xfrm>
          <a:prstGeom prst="rect">
            <a:avLst/>
          </a:prstGeom>
        </p:spPr>
        <p:txBody>
          <a:bodyPr wrap="none">
            <a:spAutoFit/>
          </a:bodyPr>
          <a:lstStyle/>
          <a:p>
            <a:pPr>
              <a:defRPr/>
            </a:pPr>
            <a:r>
              <a:rPr kumimoji="1" lang="zh-CN" altLang="en-US" sz="2000" dirty="0">
                <a:latin typeface="微软雅黑" pitchFamily="34" charset="-122"/>
                <a:ea typeface="微软雅黑" pitchFamily="34" charset="-122"/>
                <a:cs typeface="经典粗黑简" pitchFamily="49" charset="-122"/>
              </a:rPr>
              <a:t>两种特殊的二叉树：</a:t>
            </a:r>
          </a:p>
        </p:txBody>
      </p:sp>
      <p:sp>
        <p:nvSpPr>
          <p:cNvPr id="8" name="矩形 7">
            <a:extLst>
              <a:ext uri="{FF2B5EF4-FFF2-40B4-BE49-F238E27FC236}">
                <a16:creationId xmlns:a16="http://schemas.microsoft.com/office/drawing/2014/main" xmlns="" id="{CB342864-6024-1B3E-F1DA-DCF5B5F05587}"/>
              </a:ext>
            </a:extLst>
          </p:cNvPr>
          <p:cNvSpPr/>
          <p:nvPr/>
        </p:nvSpPr>
        <p:spPr>
          <a:xfrm>
            <a:off x="1496393" y="2087351"/>
            <a:ext cx="1798890" cy="400110"/>
          </a:xfrm>
          <a:prstGeom prst="rect">
            <a:avLst/>
          </a:prstGeom>
        </p:spPr>
        <p:txBody>
          <a:bodyPr wrap="none">
            <a:spAutoFit/>
          </a:bodyPr>
          <a:lstStyle/>
          <a:p>
            <a:r>
              <a:rPr kumimoji="1" lang="zh-CN" altLang="en-US" sz="2000" dirty="0">
                <a:latin typeface="微软雅黑" pitchFamily="34" charset="-122"/>
                <a:ea typeface="微软雅黑" pitchFamily="34" charset="-122"/>
                <a:cs typeface="经典粗黑简" pitchFamily="49" charset="-122"/>
              </a:rPr>
              <a:t> ②完全二叉树</a:t>
            </a:r>
            <a:endParaRPr lang="zh-CN" altLang="en-US" sz="2000" dirty="0"/>
          </a:p>
        </p:txBody>
      </p:sp>
      <p:sp>
        <p:nvSpPr>
          <p:cNvPr id="9" name="矩形 8">
            <a:extLst>
              <a:ext uri="{FF2B5EF4-FFF2-40B4-BE49-F238E27FC236}">
                <a16:creationId xmlns:a16="http://schemas.microsoft.com/office/drawing/2014/main" xmlns="" id="{B828E714-C93A-465D-C9D8-A98E4572EA3D}"/>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10" name="Rectangle 2">
            <a:extLst>
              <a:ext uri="{FF2B5EF4-FFF2-40B4-BE49-F238E27FC236}">
                <a16:creationId xmlns:a16="http://schemas.microsoft.com/office/drawing/2014/main" xmlns="" id="{737A10F6-32DB-8FB3-63BD-AFE7A3380B2D}"/>
              </a:ext>
            </a:extLst>
          </p:cNvPr>
          <p:cNvSpPr txBox="1">
            <a:spLocks noChangeArrowheads="1"/>
          </p:cNvSpPr>
          <p:nvPr/>
        </p:nvSpPr>
        <p:spPr>
          <a:xfrm>
            <a:off x="79920" y="836712"/>
            <a:ext cx="356780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7.2.1 </a:t>
            </a:r>
            <a:r>
              <a:rPr lang="zh-CN" altLang="en-US" dirty="0"/>
              <a:t>二叉树的定义</a:t>
            </a:r>
          </a:p>
        </p:txBody>
      </p:sp>
      <p:cxnSp>
        <p:nvCxnSpPr>
          <p:cNvPr id="11" name="直接连接符 10">
            <a:extLst>
              <a:ext uri="{FF2B5EF4-FFF2-40B4-BE49-F238E27FC236}">
                <a16:creationId xmlns:a16="http://schemas.microsoft.com/office/drawing/2014/main" xmlns="" id="{CDD18BBC-E3EF-5324-02B4-C903D3AA9383}"/>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53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3"/>
          <p:cNvSpPr>
            <a:spLocks noChangeArrowheads="1"/>
          </p:cNvSpPr>
          <p:nvPr/>
        </p:nvSpPr>
        <p:spPr bwMode="auto">
          <a:xfrm>
            <a:off x="2423593" y="2511426"/>
            <a:ext cx="5904656" cy="78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buClr>
                <a:schemeClr val="tx1"/>
              </a:buClr>
              <a:buSzTx/>
            </a:pPr>
            <a:r>
              <a:rPr kumimoji="1" lang="zh-CN" altLang="en-US" sz="2000" dirty="0">
                <a:latin typeface="微软雅黑" pitchFamily="34" charset="-122"/>
                <a:ea typeface="微软雅黑" pitchFamily="34" charset="-122"/>
                <a:cs typeface="经典粗黑简" pitchFamily="49" charset="-122"/>
              </a:rPr>
              <a:t>性质</a:t>
            </a:r>
            <a:r>
              <a:rPr kumimoji="1" lang="en-US" altLang="zh-CN" sz="2000" dirty="0">
                <a:latin typeface="微软雅黑" pitchFamily="34" charset="-122"/>
                <a:ea typeface="微软雅黑" pitchFamily="34" charset="-122"/>
                <a:cs typeface="经典粗黑简" pitchFamily="49" charset="-122"/>
              </a:rPr>
              <a:t>1</a:t>
            </a:r>
          </a:p>
          <a:p>
            <a:pPr marL="665163" lvl="1">
              <a:lnSpc>
                <a:spcPct val="90000"/>
              </a:lnSpc>
              <a:buSzPct val="70000"/>
            </a:pPr>
            <a:r>
              <a:rPr kumimoji="1" lang="zh-CN" altLang="en-US" sz="2000" dirty="0">
                <a:latin typeface="微软雅黑" pitchFamily="34" charset="-122"/>
                <a:ea typeface="微软雅黑" pitchFamily="34" charset="-122"/>
                <a:cs typeface="经典粗黑简" pitchFamily="49" charset="-122"/>
              </a:rPr>
              <a:t>在二叉树的第</a:t>
            </a:r>
            <a:r>
              <a:rPr kumimoji="1" lang="en-US" altLang="zh-CN" sz="2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层上至多有</a:t>
            </a:r>
            <a:r>
              <a:rPr kumimoji="1" lang="en-US" altLang="zh-CN" sz="2000" dirty="0">
                <a:latin typeface="微软雅黑" pitchFamily="34" charset="-122"/>
                <a:ea typeface="微软雅黑" pitchFamily="34" charset="-122"/>
                <a:cs typeface="经典粗黑简" pitchFamily="49" charset="-122"/>
              </a:rPr>
              <a:t>2</a:t>
            </a:r>
            <a:r>
              <a:rPr kumimoji="1" lang="en-US" altLang="zh-CN" sz="2000" baseline="30000" dirty="0">
                <a:latin typeface="微软雅黑" pitchFamily="34" charset="-122"/>
                <a:ea typeface="微软雅黑" pitchFamily="34" charset="-122"/>
                <a:cs typeface="经典粗黑简" pitchFamily="49" charset="-122"/>
              </a:rPr>
              <a:t>i-1</a:t>
            </a:r>
            <a:r>
              <a:rPr kumimoji="1" lang="zh-CN" altLang="en-US" sz="2000" dirty="0">
                <a:latin typeface="微软雅黑" pitchFamily="34" charset="-122"/>
                <a:ea typeface="微软雅黑" pitchFamily="34" charset="-122"/>
                <a:cs typeface="经典粗黑简" pitchFamily="49" charset="-122"/>
              </a:rPr>
              <a:t>个结点。</a:t>
            </a:r>
          </a:p>
        </p:txBody>
      </p:sp>
      <p:sp>
        <p:nvSpPr>
          <p:cNvPr id="3" name="矩形 2"/>
          <p:cNvSpPr/>
          <p:nvPr/>
        </p:nvSpPr>
        <p:spPr>
          <a:xfrm>
            <a:off x="2423593" y="3347870"/>
            <a:ext cx="6552728" cy="646331"/>
          </a:xfrm>
          <a:prstGeom prst="rect">
            <a:avLst/>
          </a:prstGeom>
        </p:spPr>
        <p:txBody>
          <a:bodyPr wrap="square">
            <a:spAutoFit/>
          </a:bodyPr>
          <a:lstStyle/>
          <a:p>
            <a:pPr>
              <a:lnSpc>
                <a:spcPct val="90000"/>
              </a:lnSpc>
              <a:buClr>
                <a:schemeClr val="tx1"/>
              </a:buClr>
              <a:buSzTx/>
            </a:pPr>
            <a:r>
              <a:rPr kumimoji="1" lang="zh-CN" altLang="en-US" sz="2000" dirty="0">
                <a:latin typeface="微软雅黑" pitchFamily="34" charset="-122"/>
                <a:ea typeface="微软雅黑" pitchFamily="34" charset="-122"/>
                <a:cs typeface="经典粗黑简" pitchFamily="49" charset="-122"/>
              </a:rPr>
              <a:t>性质</a:t>
            </a:r>
            <a:r>
              <a:rPr kumimoji="1" lang="en-US" altLang="zh-CN" sz="2000" dirty="0">
                <a:latin typeface="微软雅黑" pitchFamily="34" charset="-122"/>
                <a:ea typeface="微软雅黑" pitchFamily="34" charset="-122"/>
                <a:cs typeface="经典粗黑简" pitchFamily="49" charset="-122"/>
              </a:rPr>
              <a:t>2</a:t>
            </a:r>
          </a:p>
          <a:p>
            <a:pPr marL="665163" lvl="1">
              <a:lnSpc>
                <a:spcPct val="90000"/>
              </a:lnSpc>
              <a:buSzPct val="70000"/>
            </a:pPr>
            <a:r>
              <a:rPr kumimoji="1" lang="zh-CN" altLang="en-US" sz="2000" dirty="0">
                <a:latin typeface="微软雅黑" pitchFamily="34" charset="-122"/>
                <a:ea typeface="微软雅黑" pitchFamily="34" charset="-122"/>
                <a:cs typeface="经典粗黑简" pitchFamily="49" charset="-122"/>
              </a:rPr>
              <a:t>深度为</a:t>
            </a:r>
            <a:r>
              <a:rPr kumimoji="1" lang="en-US" altLang="zh-CN" sz="2000" dirty="0">
                <a:latin typeface="微软雅黑" pitchFamily="34" charset="-122"/>
                <a:ea typeface="微软雅黑" pitchFamily="34" charset="-122"/>
                <a:cs typeface="经典粗黑简" pitchFamily="49" charset="-122"/>
              </a:rPr>
              <a:t>k</a:t>
            </a:r>
            <a:r>
              <a:rPr kumimoji="1" lang="zh-CN" altLang="en-US" sz="2000" dirty="0">
                <a:latin typeface="微软雅黑" pitchFamily="34" charset="-122"/>
                <a:ea typeface="微软雅黑" pitchFamily="34" charset="-122"/>
                <a:cs typeface="经典粗黑简" pitchFamily="49" charset="-122"/>
              </a:rPr>
              <a:t>的二叉树至多有</a:t>
            </a:r>
            <a:r>
              <a:rPr kumimoji="1" lang="en-US" altLang="zh-CN" sz="2000" dirty="0">
                <a:latin typeface="微软雅黑" pitchFamily="34" charset="-122"/>
                <a:ea typeface="微软雅黑" pitchFamily="34" charset="-122"/>
                <a:cs typeface="经典粗黑简" pitchFamily="49" charset="-122"/>
              </a:rPr>
              <a:t>2</a:t>
            </a:r>
            <a:r>
              <a:rPr kumimoji="1" lang="en-US" altLang="zh-CN" sz="2000" baseline="30000" dirty="0">
                <a:latin typeface="微软雅黑" pitchFamily="34" charset="-122"/>
                <a:ea typeface="微软雅黑" pitchFamily="34" charset="-122"/>
                <a:cs typeface="经典粗黑简" pitchFamily="49" charset="-122"/>
              </a:rPr>
              <a:t>k</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个结点。</a:t>
            </a:r>
          </a:p>
        </p:txBody>
      </p:sp>
      <p:sp>
        <p:nvSpPr>
          <p:cNvPr id="4" name="矩形 3"/>
          <p:cNvSpPr/>
          <p:nvPr/>
        </p:nvSpPr>
        <p:spPr>
          <a:xfrm>
            <a:off x="2423593" y="4158482"/>
            <a:ext cx="7446937" cy="923330"/>
          </a:xfrm>
          <a:prstGeom prst="rect">
            <a:avLst/>
          </a:prstGeom>
        </p:spPr>
        <p:txBody>
          <a:bodyPr wrap="square">
            <a:spAutoFit/>
          </a:bodyPr>
          <a:lstStyle/>
          <a:p>
            <a:pPr>
              <a:lnSpc>
                <a:spcPct val="90000"/>
              </a:lnSpc>
              <a:buClr>
                <a:schemeClr val="tx1"/>
              </a:buClr>
              <a:buSzTx/>
            </a:pPr>
            <a:r>
              <a:rPr kumimoji="1" lang="zh-CN" altLang="en-US" sz="2000" dirty="0">
                <a:latin typeface="微软雅黑" pitchFamily="34" charset="-122"/>
                <a:ea typeface="微软雅黑" pitchFamily="34" charset="-122"/>
                <a:cs typeface="经典粗黑简" pitchFamily="49" charset="-122"/>
              </a:rPr>
              <a:t>性质</a:t>
            </a:r>
            <a:r>
              <a:rPr kumimoji="1" lang="en-US" altLang="zh-CN" sz="2000" dirty="0">
                <a:latin typeface="微软雅黑" pitchFamily="34" charset="-122"/>
                <a:ea typeface="微软雅黑" pitchFamily="34" charset="-122"/>
                <a:cs typeface="经典粗黑简" pitchFamily="49" charset="-122"/>
              </a:rPr>
              <a:t>3</a:t>
            </a:r>
          </a:p>
          <a:p>
            <a:pPr marL="665163" lvl="1">
              <a:lnSpc>
                <a:spcPct val="90000"/>
              </a:lnSpc>
              <a:buSzPct val="70000"/>
            </a:pPr>
            <a:r>
              <a:rPr kumimoji="1" lang="zh-CN" altLang="en-US" sz="2000" dirty="0">
                <a:latin typeface="微软雅黑" pitchFamily="34" charset="-122"/>
                <a:ea typeface="微软雅黑" pitchFamily="34" charset="-122"/>
                <a:cs typeface="经典粗黑简" pitchFamily="49" charset="-122"/>
              </a:rPr>
              <a:t>任何一个二叉树中度为</a:t>
            </a: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的结点数目</a:t>
            </a:r>
            <a:r>
              <a:rPr kumimoji="1" lang="en-US" altLang="zh-CN" sz="2000" dirty="0">
                <a:latin typeface="微软雅黑" pitchFamily="34" charset="-122"/>
                <a:ea typeface="微软雅黑" pitchFamily="34" charset="-122"/>
                <a:cs typeface="经典粗黑简" pitchFamily="49" charset="-122"/>
              </a:rPr>
              <a:t>(n</a:t>
            </a:r>
            <a:r>
              <a:rPr kumimoji="1" lang="en-US" altLang="zh-CN" sz="2000" baseline="-25000" dirty="0">
                <a:latin typeface="微软雅黑" pitchFamily="34" charset="-122"/>
                <a:ea typeface="微软雅黑" pitchFamily="34" charset="-122"/>
                <a:cs typeface="经典粗黑简" pitchFamily="49" charset="-122"/>
              </a:rPr>
              <a:t>2</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比度为</a:t>
            </a:r>
            <a:r>
              <a:rPr kumimoji="1" lang="en-US" altLang="zh-CN" sz="2000" dirty="0">
                <a:latin typeface="微软雅黑" pitchFamily="34" charset="-122"/>
                <a:ea typeface="微软雅黑" pitchFamily="34" charset="-122"/>
                <a:cs typeface="经典粗黑简" pitchFamily="49" charset="-122"/>
              </a:rPr>
              <a:t>0</a:t>
            </a:r>
            <a:r>
              <a:rPr kumimoji="1" lang="zh-CN" altLang="en-US" sz="2000" dirty="0">
                <a:latin typeface="微软雅黑" pitchFamily="34" charset="-122"/>
                <a:ea typeface="微软雅黑" pitchFamily="34" charset="-122"/>
                <a:cs typeface="经典粗黑简" pitchFamily="49" charset="-122"/>
              </a:rPr>
              <a:t>的结点数目</a:t>
            </a:r>
            <a:r>
              <a:rPr kumimoji="1" lang="en-US" altLang="zh-CN" sz="2000" dirty="0">
                <a:latin typeface="微软雅黑" pitchFamily="34" charset="-122"/>
                <a:ea typeface="微软雅黑" pitchFamily="34" charset="-122"/>
                <a:cs typeface="经典粗黑简" pitchFamily="49" charset="-122"/>
              </a:rPr>
              <a:t>(n</a:t>
            </a:r>
            <a:r>
              <a:rPr kumimoji="1" lang="en-US" altLang="zh-CN" sz="2000" baseline="-25000" dirty="0">
                <a:latin typeface="微软雅黑" pitchFamily="34" charset="-122"/>
                <a:ea typeface="微软雅黑" pitchFamily="34" charset="-122"/>
                <a:cs typeface="经典粗黑简" pitchFamily="49" charset="-122"/>
              </a:rPr>
              <a:t>0</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少</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，即</a:t>
            </a:r>
            <a:r>
              <a:rPr kumimoji="1" lang="en-US" altLang="zh-CN" sz="2000" dirty="0">
                <a:latin typeface="微软雅黑" pitchFamily="34" charset="-122"/>
                <a:ea typeface="微软雅黑" pitchFamily="34" charset="-122"/>
                <a:cs typeface="经典粗黑简" pitchFamily="49" charset="-122"/>
              </a:rPr>
              <a:t>n</a:t>
            </a:r>
            <a:r>
              <a:rPr kumimoji="1" lang="en-US" altLang="zh-CN" sz="2000" baseline="-25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 </a:t>
            </a:r>
            <a:r>
              <a:rPr kumimoji="1" lang="en-US" altLang="zh-CN" sz="2000" dirty="0">
                <a:latin typeface="微软雅黑" pitchFamily="34" charset="-122"/>
                <a:ea typeface="微软雅黑" pitchFamily="34" charset="-122"/>
                <a:cs typeface="经典粗黑简" pitchFamily="49" charset="-122"/>
              </a:rPr>
              <a:t>n</a:t>
            </a:r>
            <a:r>
              <a:rPr kumimoji="1" lang="en-US" altLang="zh-CN" sz="2000" baseline="-25000" dirty="0">
                <a:latin typeface="微软雅黑" pitchFamily="34" charset="-122"/>
                <a:ea typeface="微软雅黑" pitchFamily="34" charset="-122"/>
                <a:cs typeface="经典粗黑简" pitchFamily="49" charset="-122"/>
              </a:rPr>
              <a:t>0</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a:t>
            </a:r>
          </a:p>
        </p:txBody>
      </p:sp>
      <p:grpSp>
        <p:nvGrpSpPr>
          <p:cNvPr id="31" name="Group 24"/>
          <p:cNvGrpSpPr>
            <a:grpSpLocks/>
          </p:cNvGrpSpPr>
          <p:nvPr/>
        </p:nvGrpSpPr>
        <p:grpSpPr bwMode="auto">
          <a:xfrm>
            <a:off x="7824192" y="1760290"/>
            <a:ext cx="3581400" cy="2057400"/>
            <a:chOff x="3360" y="240"/>
            <a:chExt cx="2256" cy="1296"/>
          </a:xfrm>
        </p:grpSpPr>
        <p:sp>
          <p:nvSpPr>
            <p:cNvPr id="32" name="Oval 25"/>
            <p:cNvSpPr>
              <a:spLocks noChangeArrowheads="1"/>
            </p:cNvSpPr>
            <p:nvPr/>
          </p:nvSpPr>
          <p:spPr bwMode="auto">
            <a:xfrm>
              <a:off x="5040" y="960"/>
              <a:ext cx="240" cy="240"/>
            </a:xfrm>
            <a:prstGeom prst="ellipse">
              <a:avLst/>
            </a:prstGeom>
            <a:solidFill>
              <a:schemeClr val="bg1"/>
            </a:solidFill>
            <a:ln w="9525">
              <a:solidFill>
                <a:schemeClr val="tx1"/>
              </a:solidFill>
              <a:round/>
              <a:headEnd/>
              <a:tailEnd/>
            </a:ln>
          </p:spPr>
          <p:txBody>
            <a:bodyPr wrap="none" anchor="ctr"/>
            <a:lstStyle/>
            <a:p>
              <a:pPr algn="ctr">
                <a:spcBef>
                  <a:spcPct val="0"/>
                </a:spcBef>
                <a:buClrTx/>
                <a:buSzTx/>
                <a:buFontTx/>
                <a:buNone/>
              </a:pPr>
              <a:r>
                <a:rPr lang="en-US" altLang="zh-CN" sz="2400" b="1">
                  <a:effectLst>
                    <a:outerShdw blurRad="38100" dist="38100" dir="2700000" algn="tl">
                      <a:srgbClr val="C0C0C0"/>
                    </a:outerShdw>
                  </a:effectLst>
                  <a:latin typeface="Times New Roman" pitchFamily="18" charset="0"/>
                </a:rPr>
                <a:t>G</a:t>
              </a:r>
            </a:p>
          </p:txBody>
        </p:sp>
        <p:sp>
          <p:nvSpPr>
            <p:cNvPr id="33" name="Oval 26"/>
            <p:cNvSpPr>
              <a:spLocks noChangeArrowheads="1"/>
            </p:cNvSpPr>
            <p:nvPr/>
          </p:nvSpPr>
          <p:spPr bwMode="auto">
            <a:xfrm>
              <a:off x="5376" y="1296"/>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K</a:t>
              </a:r>
            </a:p>
          </p:txBody>
        </p:sp>
        <p:cxnSp>
          <p:nvCxnSpPr>
            <p:cNvPr id="34" name="AutoShape 27"/>
            <p:cNvCxnSpPr>
              <a:cxnSpLocks noChangeShapeType="1"/>
              <a:stCxn id="33" idx="1"/>
              <a:endCxn id="32" idx="5"/>
            </p:cNvCxnSpPr>
            <p:nvPr/>
          </p:nvCxnSpPr>
          <p:spPr bwMode="auto">
            <a:xfrm flipH="1" flipV="1">
              <a:off x="5245" y="1165"/>
              <a:ext cx="166"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1" name="Oval 28"/>
            <p:cNvSpPr>
              <a:spLocks noChangeArrowheads="1"/>
            </p:cNvSpPr>
            <p:nvPr/>
          </p:nvSpPr>
          <p:spPr bwMode="auto">
            <a:xfrm>
              <a:off x="4752" y="1296"/>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dirty="0">
                  <a:latin typeface="Times New Roman" pitchFamily="18" charset="0"/>
                </a:rPr>
                <a:t>J</a:t>
              </a:r>
            </a:p>
          </p:txBody>
        </p:sp>
        <p:cxnSp>
          <p:nvCxnSpPr>
            <p:cNvPr id="52" name="AutoShape 29"/>
            <p:cNvCxnSpPr>
              <a:cxnSpLocks noChangeShapeType="1"/>
              <a:stCxn id="32" idx="3"/>
              <a:endCxn id="51" idx="7"/>
            </p:cNvCxnSpPr>
            <p:nvPr/>
          </p:nvCxnSpPr>
          <p:spPr bwMode="auto">
            <a:xfrm flipH="1">
              <a:off x="4957" y="1165"/>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3" name="Oval 30"/>
            <p:cNvSpPr>
              <a:spLocks noChangeArrowheads="1"/>
            </p:cNvSpPr>
            <p:nvPr/>
          </p:nvSpPr>
          <p:spPr bwMode="auto">
            <a:xfrm>
              <a:off x="4704" y="576"/>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dirty="0">
                  <a:latin typeface="Times New Roman" pitchFamily="18" charset="0"/>
                </a:rPr>
                <a:t>C</a:t>
              </a:r>
            </a:p>
          </p:txBody>
        </p:sp>
        <p:sp>
          <p:nvSpPr>
            <p:cNvPr id="54" name="Oval 31"/>
            <p:cNvSpPr>
              <a:spLocks noChangeArrowheads="1"/>
            </p:cNvSpPr>
            <p:nvPr/>
          </p:nvSpPr>
          <p:spPr bwMode="auto">
            <a:xfrm>
              <a:off x="4416" y="960"/>
              <a:ext cx="240" cy="240"/>
            </a:xfrm>
            <a:prstGeom prst="ellipse">
              <a:avLst/>
            </a:prstGeom>
            <a:solidFill>
              <a:schemeClr val="bg1"/>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F</a:t>
              </a:r>
            </a:p>
          </p:txBody>
        </p:sp>
        <p:sp>
          <p:nvSpPr>
            <p:cNvPr id="55" name="Oval 32"/>
            <p:cNvSpPr>
              <a:spLocks noChangeArrowheads="1"/>
            </p:cNvSpPr>
            <p:nvPr/>
          </p:nvSpPr>
          <p:spPr bwMode="auto">
            <a:xfrm>
              <a:off x="4224" y="240"/>
              <a:ext cx="240" cy="240"/>
            </a:xfrm>
            <a:prstGeom prst="ellipse">
              <a:avLst/>
            </a:prstGeom>
            <a:solidFill>
              <a:srgbClr val="FFFFFF"/>
            </a:solidFill>
            <a:ln w="9525">
              <a:solidFill>
                <a:schemeClr val="tx1"/>
              </a:solidFill>
              <a:round/>
              <a:headEnd/>
              <a:tailEnd/>
            </a:ln>
          </p:spPr>
          <p:txBody>
            <a:bodyPr wrap="none" anchor="ctr"/>
            <a:lstStyle/>
            <a:p>
              <a:pPr algn="ctr">
                <a:spcBef>
                  <a:spcPct val="0"/>
                </a:spcBef>
                <a:buClrTx/>
                <a:buSzTx/>
                <a:buFontTx/>
                <a:buNone/>
              </a:pPr>
              <a:r>
                <a:rPr lang="en-US" altLang="zh-CN" sz="2400" b="1" dirty="0">
                  <a:latin typeface="Times New Roman" pitchFamily="18" charset="0"/>
                </a:rPr>
                <a:t>A</a:t>
              </a:r>
            </a:p>
          </p:txBody>
        </p:sp>
        <p:sp>
          <p:nvSpPr>
            <p:cNvPr id="56" name="Oval 33"/>
            <p:cNvSpPr>
              <a:spLocks noChangeArrowheads="1"/>
            </p:cNvSpPr>
            <p:nvPr/>
          </p:nvSpPr>
          <p:spPr bwMode="auto">
            <a:xfrm>
              <a:off x="3792" y="576"/>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B</a:t>
              </a:r>
            </a:p>
          </p:txBody>
        </p:sp>
        <p:cxnSp>
          <p:nvCxnSpPr>
            <p:cNvPr id="57" name="AutoShape 34"/>
            <p:cNvCxnSpPr>
              <a:cxnSpLocks noChangeShapeType="1"/>
              <a:stCxn id="53" idx="5"/>
              <a:endCxn id="32" idx="1"/>
            </p:cNvCxnSpPr>
            <p:nvPr/>
          </p:nvCxnSpPr>
          <p:spPr bwMode="auto">
            <a:xfrm>
              <a:off x="4909" y="781"/>
              <a:ext cx="166" cy="21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8" name="AutoShape 35"/>
            <p:cNvCxnSpPr>
              <a:cxnSpLocks noChangeShapeType="1"/>
              <a:stCxn id="53" idx="3"/>
              <a:endCxn id="54" idx="7"/>
            </p:cNvCxnSpPr>
            <p:nvPr/>
          </p:nvCxnSpPr>
          <p:spPr bwMode="auto">
            <a:xfrm flipH="1">
              <a:off x="4621" y="781"/>
              <a:ext cx="118" cy="21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9" name="AutoShape 36"/>
            <p:cNvCxnSpPr>
              <a:cxnSpLocks noChangeShapeType="1"/>
              <a:endCxn id="53" idx="1"/>
            </p:cNvCxnSpPr>
            <p:nvPr/>
          </p:nvCxnSpPr>
          <p:spPr bwMode="auto">
            <a:xfrm>
              <a:off x="4416" y="432"/>
              <a:ext cx="323" cy="179"/>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0" name="AutoShape 37"/>
            <p:cNvCxnSpPr>
              <a:cxnSpLocks noChangeShapeType="1"/>
              <a:stCxn id="55" idx="3"/>
              <a:endCxn id="56" idx="7"/>
            </p:cNvCxnSpPr>
            <p:nvPr/>
          </p:nvCxnSpPr>
          <p:spPr bwMode="auto">
            <a:xfrm flipH="1">
              <a:off x="3997" y="445"/>
              <a:ext cx="262"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1" name="Oval 38"/>
            <p:cNvSpPr>
              <a:spLocks noChangeArrowheads="1"/>
            </p:cNvSpPr>
            <p:nvPr/>
          </p:nvSpPr>
          <p:spPr bwMode="auto">
            <a:xfrm>
              <a:off x="4080" y="947"/>
              <a:ext cx="240" cy="240"/>
            </a:xfrm>
            <a:prstGeom prst="ellipse">
              <a:avLst/>
            </a:prstGeom>
            <a:solidFill>
              <a:schemeClr val="bg1"/>
            </a:solidFill>
            <a:ln w="9525">
              <a:solidFill>
                <a:schemeClr val="tx1"/>
              </a:solidFill>
              <a:round/>
              <a:headEnd/>
              <a:tailEnd/>
            </a:ln>
          </p:spPr>
          <p:txBody>
            <a:bodyPr wrap="none" anchor="ctr"/>
            <a:lstStyle/>
            <a:p>
              <a:pPr algn="ctr">
                <a:spcBef>
                  <a:spcPct val="0"/>
                </a:spcBef>
                <a:buClrTx/>
                <a:buSzTx/>
                <a:buFontTx/>
                <a:buNone/>
              </a:pPr>
              <a:r>
                <a:rPr lang="en-US" altLang="zh-CN" sz="2400" b="1">
                  <a:effectLst>
                    <a:outerShdw blurRad="38100" dist="38100" dir="2700000" algn="tl">
                      <a:srgbClr val="C0C0C0"/>
                    </a:outerShdw>
                  </a:effectLst>
                  <a:latin typeface="Times New Roman" pitchFamily="18" charset="0"/>
                </a:rPr>
                <a:t>E</a:t>
              </a:r>
            </a:p>
          </p:txBody>
        </p:sp>
        <p:sp>
          <p:nvSpPr>
            <p:cNvPr id="62" name="Oval 39"/>
            <p:cNvSpPr>
              <a:spLocks noChangeArrowheads="1"/>
            </p:cNvSpPr>
            <p:nvPr/>
          </p:nvSpPr>
          <p:spPr bwMode="auto">
            <a:xfrm>
              <a:off x="4368" y="1283"/>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I</a:t>
              </a:r>
            </a:p>
          </p:txBody>
        </p:sp>
        <p:cxnSp>
          <p:nvCxnSpPr>
            <p:cNvPr id="63" name="AutoShape 40"/>
            <p:cNvCxnSpPr>
              <a:cxnSpLocks noChangeShapeType="1"/>
              <a:stCxn id="62" idx="1"/>
              <a:endCxn id="61" idx="5"/>
            </p:cNvCxnSpPr>
            <p:nvPr/>
          </p:nvCxnSpPr>
          <p:spPr bwMode="auto">
            <a:xfrm flipH="1" flipV="1">
              <a:off x="4285" y="1152"/>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4" name="Oval 41"/>
            <p:cNvSpPr>
              <a:spLocks noChangeArrowheads="1"/>
            </p:cNvSpPr>
            <p:nvPr/>
          </p:nvSpPr>
          <p:spPr bwMode="auto">
            <a:xfrm>
              <a:off x="3792" y="1283"/>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H</a:t>
              </a:r>
            </a:p>
          </p:txBody>
        </p:sp>
        <p:cxnSp>
          <p:nvCxnSpPr>
            <p:cNvPr id="65" name="AutoShape 42"/>
            <p:cNvCxnSpPr>
              <a:cxnSpLocks noChangeShapeType="1"/>
              <a:stCxn id="61" idx="3"/>
              <a:endCxn id="64" idx="7"/>
            </p:cNvCxnSpPr>
            <p:nvPr/>
          </p:nvCxnSpPr>
          <p:spPr bwMode="auto">
            <a:xfrm flipH="1">
              <a:off x="3997" y="1152"/>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6" name="Oval 43"/>
            <p:cNvSpPr>
              <a:spLocks noChangeArrowheads="1"/>
            </p:cNvSpPr>
            <p:nvPr/>
          </p:nvSpPr>
          <p:spPr bwMode="auto">
            <a:xfrm>
              <a:off x="3360" y="912"/>
              <a:ext cx="240" cy="240"/>
            </a:xfrm>
            <a:prstGeom prst="ellipse">
              <a:avLst/>
            </a:prstGeom>
            <a:solidFill>
              <a:schemeClr val="bg1"/>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D</a:t>
              </a:r>
            </a:p>
          </p:txBody>
        </p:sp>
        <p:cxnSp>
          <p:nvCxnSpPr>
            <p:cNvPr id="67" name="AutoShape 44"/>
            <p:cNvCxnSpPr>
              <a:cxnSpLocks noChangeShapeType="1"/>
              <a:endCxn id="61" idx="1"/>
            </p:cNvCxnSpPr>
            <p:nvPr/>
          </p:nvCxnSpPr>
          <p:spPr bwMode="auto">
            <a:xfrm>
              <a:off x="3997" y="816"/>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8" name="AutoShape 45"/>
            <p:cNvCxnSpPr>
              <a:cxnSpLocks noChangeShapeType="1"/>
              <a:stCxn id="56" idx="3"/>
              <a:endCxn id="66" idx="7"/>
            </p:cNvCxnSpPr>
            <p:nvPr/>
          </p:nvCxnSpPr>
          <p:spPr bwMode="auto">
            <a:xfrm flipH="1">
              <a:off x="3565" y="781"/>
              <a:ext cx="262"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
        <p:nvSpPr>
          <p:cNvPr id="7" name="矩形 6">
            <a:extLst>
              <a:ext uri="{FF2B5EF4-FFF2-40B4-BE49-F238E27FC236}">
                <a16:creationId xmlns:a16="http://schemas.microsoft.com/office/drawing/2014/main" xmlns="" id="{9F03EF6E-1904-C44F-CC73-212CF7D2D7B4}"/>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8" name="Rectangle 2">
            <a:extLst>
              <a:ext uri="{FF2B5EF4-FFF2-40B4-BE49-F238E27FC236}">
                <a16:creationId xmlns:a16="http://schemas.microsoft.com/office/drawing/2014/main" xmlns="" id="{47BAFA4F-B13D-D7C7-391E-FD618354BAD3}"/>
              </a:ext>
            </a:extLst>
          </p:cNvPr>
          <p:cNvSpPr txBox="1">
            <a:spLocks noChangeArrowheads="1"/>
          </p:cNvSpPr>
          <p:nvPr/>
        </p:nvSpPr>
        <p:spPr>
          <a:xfrm>
            <a:off x="79920" y="836712"/>
            <a:ext cx="363981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7.2.2 </a:t>
            </a:r>
            <a:r>
              <a:rPr lang="zh-CN" altLang="en-US" dirty="0"/>
              <a:t>二叉树的性质</a:t>
            </a:r>
          </a:p>
        </p:txBody>
      </p:sp>
      <p:cxnSp>
        <p:nvCxnSpPr>
          <p:cNvPr id="9" name="直接连接符 8">
            <a:extLst>
              <a:ext uri="{FF2B5EF4-FFF2-40B4-BE49-F238E27FC236}">
                <a16:creationId xmlns:a16="http://schemas.microsoft.com/office/drawing/2014/main" xmlns="" id="{90B836AF-9078-6121-843B-3B0558295C97}"/>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314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21143" y="2253352"/>
            <a:ext cx="6749714" cy="400110"/>
          </a:xfrm>
          <a:prstGeom prst="rect">
            <a:avLst/>
          </a:prstGeom>
        </p:spPr>
        <p:txBody>
          <a:bodyPr wrap="square">
            <a:spAutoFit/>
          </a:bodyPr>
          <a:lstStyle/>
          <a:p>
            <a:pPr>
              <a:defRPr/>
            </a:pPr>
            <a:r>
              <a:rPr kumimoji="1" lang="zh-CN" altLang="en-US" sz="2000" dirty="0">
                <a:latin typeface="微软雅黑" pitchFamily="34" charset="-122"/>
                <a:ea typeface="微软雅黑" pitchFamily="34" charset="-122"/>
                <a:cs typeface="经典粗黑简" pitchFamily="49" charset="-122"/>
              </a:rPr>
              <a:t>例</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：在有</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个结点的满二叉树中，有多少个叶子结点？</a:t>
            </a:r>
          </a:p>
        </p:txBody>
      </p:sp>
      <p:sp>
        <p:nvSpPr>
          <p:cNvPr id="7" name="矩形 6"/>
          <p:cNvSpPr/>
          <p:nvPr/>
        </p:nvSpPr>
        <p:spPr>
          <a:xfrm>
            <a:off x="2686527" y="4077072"/>
            <a:ext cx="7009873" cy="707886"/>
          </a:xfrm>
          <a:prstGeom prst="rect">
            <a:avLst/>
          </a:prstGeom>
        </p:spPr>
        <p:txBody>
          <a:bodyPr wrap="square">
            <a:spAutoFit/>
          </a:bodyPr>
          <a:lstStyle/>
          <a:p>
            <a:pPr>
              <a:defRPr/>
            </a:pPr>
            <a:r>
              <a:rPr kumimoji="1" lang="zh-CN" altLang="en-US" sz="2000" dirty="0">
                <a:latin typeface="微软雅黑" pitchFamily="34" charset="-122"/>
                <a:ea typeface="微软雅黑" pitchFamily="34" charset="-122"/>
                <a:cs typeface="经典粗黑简" pitchFamily="49" charset="-122"/>
              </a:rPr>
              <a:t>例</a:t>
            </a: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：任一个有</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个结点的二叉树，有</a:t>
            </a:r>
            <a:r>
              <a:rPr kumimoji="1" lang="en-US" altLang="zh-CN" sz="2000" dirty="0">
                <a:latin typeface="微软雅黑" pitchFamily="34" charset="-122"/>
                <a:ea typeface="微软雅黑" pitchFamily="34" charset="-122"/>
                <a:cs typeface="经典粗黑简" pitchFamily="49" charset="-122"/>
              </a:rPr>
              <a:t>m</a:t>
            </a:r>
            <a:r>
              <a:rPr kumimoji="1" lang="zh-CN" altLang="en-US" sz="2000" dirty="0">
                <a:latin typeface="微软雅黑" pitchFamily="34" charset="-122"/>
                <a:ea typeface="微软雅黑" pitchFamily="34" charset="-122"/>
                <a:cs typeface="经典粗黑简" pitchFamily="49" charset="-122"/>
              </a:rPr>
              <a:t>个叶子结点，则非叶子结点数（度为</a:t>
            </a: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）有多少个 ？</a:t>
            </a:r>
          </a:p>
        </p:txBody>
      </p:sp>
      <p:sp>
        <p:nvSpPr>
          <p:cNvPr id="2" name="矩形 1"/>
          <p:cNvSpPr/>
          <p:nvPr/>
        </p:nvSpPr>
        <p:spPr>
          <a:xfrm>
            <a:off x="2738728" y="2690337"/>
            <a:ext cx="6957671" cy="1200329"/>
          </a:xfrm>
          <a:prstGeom prst="rect">
            <a:avLst/>
          </a:prstGeom>
        </p:spPr>
        <p:txBody>
          <a:bodyPr wrap="square">
            <a:spAutoFit/>
          </a:bodyPr>
          <a:lstStyle/>
          <a:p>
            <a:pPr>
              <a:defRPr/>
            </a:pPr>
            <a:r>
              <a:rPr kumimoji="1" lang="zh-CN" altLang="en-US" dirty="0">
                <a:latin typeface="微软雅黑" pitchFamily="34" charset="-122"/>
                <a:ea typeface="微软雅黑" pitchFamily="34" charset="-122"/>
                <a:cs typeface="经典粗黑简" pitchFamily="49" charset="-122"/>
              </a:rPr>
              <a:t>因为在满二叉树中没有度为</a:t>
            </a:r>
            <a:r>
              <a:rPr kumimoji="1" lang="en-US" altLang="zh-CN" dirty="0">
                <a:latin typeface="微软雅黑" pitchFamily="34" charset="-122"/>
                <a:ea typeface="微软雅黑" pitchFamily="34" charset="-122"/>
                <a:cs typeface="经典粗黑简" pitchFamily="49" charset="-122"/>
              </a:rPr>
              <a:t>1</a:t>
            </a:r>
            <a:r>
              <a:rPr kumimoji="1" lang="zh-CN" altLang="en-US" dirty="0">
                <a:latin typeface="微软雅黑" pitchFamily="34" charset="-122"/>
                <a:ea typeface="微软雅黑" pitchFamily="34" charset="-122"/>
                <a:cs typeface="经典粗黑简" pitchFamily="49" charset="-122"/>
              </a:rPr>
              <a:t>的结点，只有度为</a:t>
            </a:r>
            <a:r>
              <a:rPr kumimoji="1" lang="en-US" altLang="zh-CN" dirty="0">
                <a:latin typeface="微软雅黑" pitchFamily="34" charset="-122"/>
                <a:ea typeface="微软雅黑" pitchFamily="34" charset="-122"/>
                <a:cs typeface="经典粗黑简" pitchFamily="49" charset="-122"/>
              </a:rPr>
              <a:t>0</a:t>
            </a:r>
            <a:r>
              <a:rPr kumimoji="1" lang="zh-CN" altLang="en-US" dirty="0">
                <a:latin typeface="微软雅黑" pitchFamily="34" charset="-122"/>
                <a:ea typeface="微软雅黑" pitchFamily="34" charset="-122"/>
                <a:cs typeface="经典粗黑简" pitchFamily="49" charset="-122"/>
              </a:rPr>
              <a:t>的叶子结点和度为</a:t>
            </a:r>
            <a:r>
              <a:rPr kumimoji="1" lang="en-US" altLang="zh-CN" dirty="0">
                <a:latin typeface="微软雅黑" pitchFamily="34" charset="-122"/>
                <a:ea typeface="微软雅黑" pitchFamily="34" charset="-122"/>
                <a:cs typeface="经典粗黑简" pitchFamily="49" charset="-122"/>
              </a:rPr>
              <a:t>2</a:t>
            </a:r>
            <a:r>
              <a:rPr kumimoji="1" lang="zh-CN" altLang="en-US" dirty="0">
                <a:latin typeface="微软雅黑" pitchFamily="34" charset="-122"/>
                <a:ea typeface="微软雅黑" pitchFamily="34" charset="-122"/>
                <a:cs typeface="经典粗黑简" pitchFamily="49" charset="-122"/>
              </a:rPr>
              <a:t>的分支结点，所以，</a:t>
            </a:r>
            <a:r>
              <a:rPr kumimoji="1" lang="en-US" altLang="zh-CN" dirty="0">
                <a:latin typeface="微软雅黑" pitchFamily="34" charset="-122"/>
                <a:ea typeface="微软雅黑" pitchFamily="34" charset="-122"/>
                <a:cs typeface="经典粗黑简" pitchFamily="49" charset="-122"/>
              </a:rPr>
              <a:t>n＝ n</a:t>
            </a:r>
            <a:r>
              <a:rPr kumimoji="1" lang="en-US" altLang="zh-CN" baseline="-25000" dirty="0">
                <a:latin typeface="微软雅黑" pitchFamily="34" charset="-122"/>
                <a:ea typeface="微软雅黑" pitchFamily="34" charset="-122"/>
                <a:cs typeface="经典粗黑简" pitchFamily="49" charset="-122"/>
              </a:rPr>
              <a:t>0</a:t>
            </a:r>
            <a:r>
              <a:rPr kumimoji="1" lang="en-US" altLang="zh-CN" dirty="0">
                <a:latin typeface="微软雅黑" pitchFamily="34" charset="-122"/>
                <a:ea typeface="微软雅黑" pitchFamily="34" charset="-122"/>
                <a:cs typeface="经典粗黑简" pitchFamily="49" charset="-122"/>
              </a:rPr>
              <a:t> + n</a:t>
            </a:r>
            <a:r>
              <a:rPr kumimoji="1" lang="en-US" altLang="zh-CN" baseline="-25000" dirty="0">
                <a:latin typeface="微软雅黑" pitchFamily="34" charset="-122"/>
                <a:ea typeface="微软雅黑" pitchFamily="34" charset="-122"/>
                <a:cs typeface="经典粗黑简" pitchFamily="49" charset="-122"/>
              </a:rPr>
              <a:t>2</a:t>
            </a:r>
            <a:r>
              <a:rPr kumimoji="1" lang="en-US" altLang="zh-CN" dirty="0">
                <a:latin typeface="微软雅黑" pitchFamily="34" charset="-122"/>
                <a:ea typeface="微软雅黑" pitchFamily="34" charset="-122"/>
                <a:cs typeface="经典粗黑简" pitchFamily="49" charset="-122"/>
              </a:rPr>
              <a:t/>
            </a:r>
            <a:br>
              <a:rPr kumimoji="1" lang="en-US" altLang="zh-CN" dirty="0">
                <a:latin typeface="微软雅黑" pitchFamily="34" charset="-122"/>
                <a:ea typeface="微软雅黑" pitchFamily="34" charset="-122"/>
                <a:cs typeface="经典粗黑简" pitchFamily="49" charset="-122"/>
              </a:rPr>
            </a:br>
            <a:r>
              <a:rPr kumimoji="1" lang="en-US" altLang="zh-CN" dirty="0">
                <a:latin typeface="微软雅黑" pitchFamily="34" charset="-122"/>
                <a:ea typeface="微软雅黑" pitchFamily="34" charset="-122"/>
                <a:cs typeface="经典粗黑简" pitchFamily="49" charset="-122"/>
              </a:rPr>
              <a:t>                    n</a:t>
            </a:r>
            <a:r>
              <a:rPr kumimoji="1" lang="en-US" altLang="zh-CN" baseline="-25000" dirty="0">
                <a:latin typeface="微软雅黑" pitchFamily="34" charset="-122"/>
                <a:ea typeface="微软雅黑" pitchFamily="34" charset="-122"/>
                <a:cs typeface="经典粗黑简" pitchFamily="49" charset="-122"/>
              </a:rPr>
              <a:t>0</a:t>
            </a:r>
            <a:r>
              <a:rPr kumimoji="1" lang="en-US" altLang="zh-CN" dirty="0">
                <a:latin typeface="微软雅黑" pitchFamily="34" charset="-122"/>
                <a:ea typeface="微软雅黑" pitchFamily="34" charset="-122"/>
                <a:cs typeface="经典粗黑简" pitchFamily="49" charset="-122"/>
              </a:rPr>
              <a:t>＝n</a:t>
            </a:r>
            <a:r>
              <a:rPr kumimoji="1" lang="en-US" altLang="zh-CN" baseline="-25000" dirty="0">
                <a:latin typeface="微软雅黑" pitchFamily="34" charset="-122"/>
                <a:ea typeface="微软雅黑" pitchFamily="34" charset="-122"/>
                <a:cs typeface="经典粗黑简" pitchFamily="49" charset="-122"/>
              </a:rPr>
              <a:t>2</a:t>
            </a:r>
            <a:r>
              <a:rPr kumimoji="1" lang="en-US" altLang="zh-CN" dirty="0">
                <a:latin typeface="微软雅黑" pitchFamily="34" charset="-122"/>
                <a:ea typeface="微软雅黑" pitchFamily="34" charset="-122"/>
                <a:cs typeface="经典粗黑简" pitchFamily="49" charset="-122"/>
              </a:rPr>
              <a:t> + 1</a:t>
            </a:r>
            <a:r>
              <a:rPr kumimoji="1" lang="zh-CN" altLang="en-US" dirty="0">
                <a:latin typeface="微软雅黑" pitchFamily="34" charset="-122"/>
                <a:ea typeface="微软雅黑" pitchFamily="34" charset="-122"/>
                <a:cs typeface="经典粗黑简" pitchFamily="49" charset="-122"/>
              </a:rPr>
              <a:t> </a:t>
            </a:r>
            <a:br>
              <a:rPr kumimoji="1" lang="zh-CN" altLang="en-US" dirty="0">
                <a:latin typeface="微软雅黑" pitchFamily="34" charset="-122"/>
                <a:ea typeface="微软雅黑" pitchFamily="34" charset="-122"/>
                <a:cs typeface="经典粗黑简" pitchFamily="49" charset="-122"/>
              </a:rPr>
            </a:br>
            <a:r>
              <a:rPr kumimoji="1" lang="zh-CN" altLang="en-US" dirty="0">
                <a:latin typeface="微软雅黑" pitchFamily="34" charset="-122"/>
                <a:ea typeface="微软雅黑" pitchFamily="34" charset="-122"/>
                <a:cs typeface="经典粗黑简" pitchFamily="49" charset="-122"/>
              </a:rPr>
              <a:t>即叶子结点</a:t>
            </a:r>
            <a:r>
              <a:rPr kumimoji="1" lang="en-US" altLang="zh-CN" dirty="0">
                <a:latin typeface="微软雅黑" pitchFamily="34" charset="-122"/>
                <a:ea typeface="微软雅黑" pitchFamily="34" charset="-122"/>
                <a:cs typeface="经典粗黑简" pitchFamily="49" charset="-122"/>
              </a:rPr>
              <a:t>n</a:t>
            </a:r>
            <a:r>
              <a:rPr kumimoji="1" lang="en-US" altLang="zh-CN" baseline="-25000" dirty="0">
                <a:latin typeface="微软雅黑" pitchFamily="34" charset="-122"/>
                <a:ea typeface="微软雅黑" pitchFamily="34" charset="-122"/>
                <a:cs typeface="经典粗黑简" pitchFamily="49" charset="-122"/>
              </a:rPr>
              <a:t>0</a:t>
            </a:r>
            <a:r>
              <a:rPr kumimoji="1" lang="en-US" altLang="zh-CN" dirty="0">
                <a:latin typeface="微软雅黑" pitchFamily="34" charset="-122"/>
                <a:ea typeface="微软雅黑" pitchFamily="34" charset="-122"/>
                <a:cs typeface="经典粗黑简" pitchFamily="49" charset="-122"/>
              </a:rPr>
              <a:t>＝(n + 1)/2 </a:t>
            </a:r>
            <a:endParaRPr kumimoji="1" lang="zh-CN" altLang="en-US" dirty="0">
              <a:latin typeface="微软雅黑" pitchFamily="34" charset="-122"/>
              <a:ea typeface="微软雅黑" pitchFamily="34" charset="-122"/>
              <a:cs typeface="经典粗黑简" pitchFamily="49" charset="-122"/>
            </a:endParaRPr>
          </a:p>
        </p:txBody>
      </p:sp>
      <p:sp>
        <p:nvSpPr>
          <p:cNvPr id="4" name="矩形 3"/>
          <p:cNvSpPr/>
          <p:nvPr/>
        </p:nvSpPr>
        <p:spPr>
          <a:xfrm>
            <a:off x="2755088" y="4869160"/>
            <a:ext cx="4572000" cy="923330"/>
          </a:xfrm>
          <a:prstGeom prst="rect">
            <a:avLst/>
          </a:prstGeom>
        </p:spPr>
        <p:txBody>
          <a:bodyPr>
            <a:spAutoFit/>
          </a:bodyPr>
          <a:lstStyle/>
          <a:p>
            <a:pPr>
              <a:defRPr/>
            </a:pPr>
            <a:r>
              <a:rPr kumimoji="1" lang="zh-CN" altLang="en-US" dirty="0">
                <a:latin typeface="微软雅黑" pitchFamily="34" charset="-122"/>
                <a:ea typeface="微软雅黑" pitchFamily="34" charset="-122"/>
                <a:cs typeface="经典粗黑简" pitchFamily="49" charset="-122"/>
              </a:rPr>
              <a:t>因为 </a:t>
            </a:r>
            <a:r>
              <a:rPr kumimoji="1" lang="en-US" altLang="zh-CN" dirty="0">
                <a:latin typeface="微软雅黑" pitchFamily="34" charset="-122"/>
                <a:ea typeface="微软雅黑" pitchFamily="34" charset="-122"/>
                <a:cs typeface="经典粗黑简" pitchFamily="49" charset="-122"/>
              </a:rPr>
              <a:t>n</a:t>
            </a:r>
            <a:r>
              <a:rPr kumimoji="1" lang="en-US" altLang="zh-CN" baseline="-25000" dirty="0">
                <a:latin typeface="微软雅黑" pitchFamily="34" charset="-122"/>
                <a:ea typeface="微软雅黑" pitchFamily="34" charset="-122"/>
                <a:cs typeface="经典粗黑简" pitchFamily="49" charset="-122"/>
              </a:rPr>
              <a:t>0</a:t>
            </a:r>
            <a:r>
              <a:rPr kumimoji="1" lang="en-US" altLang="zh-CN" dirty="0">
                <a:latin typeface="微软雅黑" pitchFamily="34" charset="-122"/>
                <a:ea typeface="微软雅黑" pitchFamily="34" charset="-122"/>
                <a:cs typeface="经典粗黑简" pitchFamily="49" charset="-122"/>
              </a:rPr>
              <a:t>＝n</a:t>
            </a:r>
            <a:r>
              <a:rPr kumimoji="1" lang="en-US" altLang="zh-CN" baseline="-25000" dirty="0">
                <a:latin typeface="微软雅黑" pitchFamily="34" charset="-122"/>
                <a:ea typeface="微软雅黑" pitchFamily="34" charset="-122"/>
                <a:cs typeface="经典粗黑简" pitchFamily="49" charset="-122"/>
              </a:rPr>
              <a:t>2</a:t>
            </a:r>
            <a:r>
              <a:rPr kumimoji="1" lang="en-US" altLang="zh-CN" dirty="0">
                <a:latin typeface="微软雅黑" pitchFamily="34" charset="-122"/>
                <a:ea typeface="微软雅黑" pitchFamily="34" charset="-122"/>
                <a:cs typeface="经典粗黑简" pitchFamily="49" charset="-122"/>
              </a:rPr>
              <a:t> + 1</a:t>
            </a:r>
            <a:r>
              <a:rPr kumimoji="1" lang="zh-CN" altLang="en-US" dirty="0">
                <a:latin typeface="微软雅黑" pitchFamily="34" charset="-122"/>
                <a:ea typeface="微软雅黑" pitchFamily="34" charset="-122"/>
                <a:cs typeface="经典粗黑简" pitchFamily="49" charset="-122"/>
              </a:rPr>
              <a:t> </a:t>
            </a:r>
            <a:br>
              <a:rPr kumimoji="1" lang="zh-CN" altLang="en-US" dirty="0">
                <a:latin typeface="微软雅黑" pitchFamily="34" charset="-122"/>
                <a:ea typeface="微软雅黑" pitchFamily="34" charset="-122"/>
                <a:cs typeface="经典粗黑简" pitchFamily="49" charset="-122"/>
              </a:rPr>
            </a:br>
            <a:r>
              <a:rPr kumimoji="1" lang="en-US" altLang="zh-CN" dirty="0">
                <a:latin typeface="微软雅黑" pitchFamily="34" charset="-122"/>
                <a:ea typeface="微软雅黑" pitchFamily="34" charset="-122"/>
                <a:cs typeface="经典粗黑简" pitchFamily="49" charset="-122"/>
              </a:rPr>
              <a:t>n</a:t>
            </a:r>
            <a:r>
              <a:rPr kumimoji="1" lang="en-US" altLang="zh-CN" baseline="-25000" dirty="0">
                <a:latin typeface="微软雅黑" pitchFamily="34" charset="-122"/>
                <a:ea typeface="微软雅黑" pitchFamily="34" charset="-122"/>
                <a:cs typeface="经典粗黑简" pitchFamily="49" charset="-122"/>
              </a:rPr>
              <a:t>2</a:t>
            </a:r>
            <a:r>
              <a:rPr kumimoji="1" lang="en-US" altLang="zh-CN" dirty="0">
                <a:latin typeface="微软雅黑" pitchFamily="34" charset="-122"/>
                <a:ea typeface="微软雅黑" pitchFamily="34" charset="-122"/>
                <a:cs typeface="经典粗黑简" pitchFamily="49" charset="-122"/>
              </a:rPr>
              <a:t> ＝ n</a:t>
            </a:r>
            <a:r>
              <a:rPr kumimoji="1" lang="en-US" altLang="zh-CN" baseline="-25000" dirty="0">
                <a:latin typeface="微软雅黑" pitchFamily="34" charset="-122"/>
                <a:ea typeface="微软雅黑" pitchFamily="34" charset="-122"/>
                <a:cs typeface="经典粗黑简" pitchFamily="49" charset="-122"/>
              </a:rPr>
              <a:t>0</a:t>
            </a:r>
            <a:r>
              <a:rPr kumimoji="1" lang="en-US" altLang="zh-CN" dirty="0">
                <a:latin typeface="微软雅黑" pitchFamily="34" charset="-122"/>
                <a:ea typeface="微软雅黑" pitchFamily="34" charset="-122"/>
                <a:cs typeface="经典粗黑简" pitchFamily="49" charset="-122"/>
              </a:rPr>
              <a:t> – 1</a:t>
            </a:r>
            <a:br>
              <a:rPr kumimoji="1" lang="en-US" altLang="zh-CN" dirty="0">
                <a:latin typeface="微软雅黑" pitchFamily="34" charset="-122"/>
                <a:ea typeface="微软雅黑" pitchFamily="34" charset="-122"/>
                <a:cs typeface="经典粗黑简" pitchFamily="49" charset="-122"/>
              </a:rPr>
            </a:br>
            <a:r>
              <a:rPr kumimoji="1" lang="en-US" altLang="zh-CN" dirty="0">
                <a:latin typeface="微软雅黑" pitchFamily="34" charset="-122"/>
                <a:ea typeface="微软雅黑" pitchFamily="34" charset="-122"/>
                <a:cs typeface="经典粗黑简" pitchFamily="49" charset="-122"/>
              </a:rPr>
              <a:t>n</a:t>
            </a:r>
            <a:r>
              <a:rPr kumimoji="1" lang="en-US" altLang="zh-CN" baseline="-25000" dirty="0">
                <a:latin typeface="微软雅黑" pitchFamily="34" charset="-122"/>
                <a:ea typeface="微软雅黑" pitchFamily="34" charset="-122"/>
                <a:cs typeface="经典粗黑简" pitchFamily="49" charset="-122"/>
              </a:rPr>
              <a:t>2</a:t>
            </a:r>
            <a:r>
              <a:rPr kumimoji="1" lang="en-US" altLang="zh-CN" dirty="0">
                <a:latin typeface="微软雅黑" pitchFamily="34" charset="-122"/>
                <a:ea typeface="微软雅黑" pitchFamily="34" charset="-122"/>
                <a:cs typeface="经典粗黑简" pitchFamily="49" charset="-122"/>
              </a:rPr>
              <a:t> ＝ m - 1</a:t>
            </a:r>
            <a:endParaRPr kumimoji="1" lang="zh-CN" altLang="en-US" dirty="0">
              <a:latin typeface="微软雅黑" pitchFamily="34" charset="-122"/>
              <a:ea typeface="微软雅黑" pitchFamily="34" charset="-122"/>
              <a:cs typeface="经典粗黑简" pitchFamily="49" charset="-122"/>
            </a:endParaRPr>
          </a:p>
        </p:txBody>
      </p:sp>
      <p:sp>
        <p:nvSpPr>
          <p:cNvPr id="5" name="矩形 4">
            <a:extLst>
              <a:ext uri="{FF2B5EF4-FFF2-40B4-BE49-F238E27FC236}">
                <a16:creationId xmlns:a16="http://schemas.microsoft.com/office/drawing/2014/main" xmlns="" id="{CFD62E8E-73F5-E67A-DD7E-D0C21B6B96D2}"/>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6" name="Rectangle 2">
            <a:extLst>
              <a:ext uri="{FF2B5EF4-FFF2-40B4-BE49-F238E27FC236}">
                <a16:creationId xmlns:a16="http://schemas.microsoft.com/office/drawing/2014/main" xmlns="" id="{60B68C59-9BE8-99F1-5159-AD77DF11E3E4}"/>
              </a:ext>
            </a:extLst>
          </p:cNvPr>
          <p:cNvSpPr txBox="1">
            <a:spLocks noChangeArrowheads="1"/>
          </p:cNvSpPr>
          <p:nvPr/>
        </p:nvSpPr>
        <p:spPr>
          <a:xfrm>
            <a:off x="79920" y="836712"/>
            <a:ext cx="363981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7.2.2 </a:t>
            </a:r>
            <a:r>
              <a:rPr lang="zh-CN" altLang="en-US" dirty="0"/>
              <a:t>二叉树的性质</a:t>
            </a:r>
          </a:p>
        </p:txBody>
      </p:sp>
      <p:cxnSp>
        <p:nvCxnSpPr>
          <p:cNvPr id="8" name="直接连接符 7">
            <a:extLst>
              <a:ext uri="{FF2B5EF4-FFF2-40B4-BE49-F238E27FC236}">
                <a16:creationId xmlns:a16="http://schemas.microsoft.com/office/drawing/2014/main" xmlns="" id="{AFEFF7B1-43CC-A97E-17FA-1FD80E72D707}"/>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47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3"/>
          <p:cNvSpPr txBox="1">
            <a:spLocks noChangeArrowheads="1"/>
          </p:cNvSpPr>
          <p:nvPr/>
        </p:nvSpPr>
        <p:spPr>
          <a:xfrm>
            <a:off x="2670146" y="3068961"/>
            <a:ext cx="6738223" cy="194421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chemeClr val="tx1"/>
              </a:buClr>
              <a:buNone/>
            </a:pPr>
            <a:r>
              <a:rPr kumimoji="1" lang="zh-CN" altLang="en-US" sz="2000" dirty="0">
                <a:latin typeface="微软雅黑" pitchFamily="34" charset="-122"/>
                <a:ea typeface="微软雅黑" pitchFamily="34" charset="-122"/>
                <a:cs typeface="经典粗黑简" pitchFamily="49" charset="-122"/>
              </a:rPr>
              <a:t>性质</a:t>
            </a:r>
            <a:r>
              <a:rPr kumimoji="1" lang="en-US" altLang="zh-CN" sz="2000" dirty="0">
                <a:latin typeface="微软雅黑" pitchFamily="34" charset="-122"/>
                <a:ea typeface="微软雅黑" pitchFamily="34" charset="-122"/>
                <a:cs typeface="经典粗黑简" pitchFamily="49" charset="-122"/>
              </a:rPr>
              <a:t>5</a:t>
            </a:r>
          </a:p>
          <a:p>
            <a:pPr marL="457200" lvl="1" indent="0">
              <a:buClr>
                <a:schemeClr val="folHlink"/>
              </a:buClr>
              <a:buSzPct val="70000"/>
              <a:buNone/>
            </a:pPr>
            <a:r>
              <a:rPr kumimoji="1" lang="zh-CN" altLang="en-US" sz="2000" dirty="0">
                <a:latin typeface="微软雅黑" pitchFamily="34" charset="-122"/>
                <a:ea typeface="微软雅黑" pitchFamily="34" charset="-122"/>
                <a:cs typeface="经典粗黑简" pitchFamily="49" charset="-122"/>
              </a:rPr>
              <a:t>完全二叉树中的某结点编号为</a:t>
            </a:r>
            <a:r>
              <a:rPr kumimoji="1" lang="en-US" altLang="zh-CN" sz="2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，则</a:t>
            </a:r>
          </a:p>
          <a:p>
            <a:pPr lvl="2">
              <a:buFontTx/>
              <a:buNone/>
            </a:pPr>
            <a:r>
              <a:rPr kumimoji="1" lang="en-US" altLang="zh-CN" sz="2000" dirty="0">
                <a:latin typeface="微软雅黑" pitchFamily="34" charset="-122"/>
                <a:ea typeface="微软雅黑" pitchFamily="34" charset="-122"/>
                <a:cs typeface="经典粗黑简" pitchFamily="49" charset="-122"/>
              </a:rPr>
              <a:t>1) </a:t>
            </a:r>
            <a:r>
              <a:rPr kumimoji="1" lang="zh-CN" altLang="en-US" sz="2000" dirty="0">
                <a:latin typeface="微软雅黑" pitchFamily="34" charset="-122"/>
                <a:ea typeface="微软雅黑" pitchFamily="34" charset="-122"/>
                <a:cs typeface="经典粗黑简" pitchFamily="49" charset="-122"/>
              </a:rPr>
              <a:t>若有左孩子，则左孩编号为</a:t>
            </a:r>
            <a:r>
              <a:rPr kumimoji="1" lang="en-US" altLang="zh-CN" sz="2000" dirty="0">
                <a:latin typeface="微软雅黑" pitchFamily="34" charset="-122"/>
                <a:ea typeface="微软雅黑" pitchFamily="34" charset="-122"/>
                <a:cs typeface="经典粗黑简" pitchFamily="49" charset="-122"/>
              </a:rPr>
              <a:t>2i</a:t>
            </a:r>
          </a:p>
          <a:p>
            <a:pPr lvl="2">
              <a:buFontTx/>
              <a:buNone/>
            </a:pP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）若有右孩子，则右孩子结点编号为</a:t>
            </a:r>
            <a:r>
              <a:rPr kumimoji="1" lang="en-US" altLang="zh-CN" sz="2000" dirty="0">
                <a:latin typeface="微软雅黑" pitchFamily="34" charset="-122"/>
                <a:ea typeface="微软雅黑" pitchFamily="34" charset="-122"/>
                <a:cs typeface="经典粗黑简" pitchFamily="49" charset="-122"/>
              </a:rPr>
              <a:t>2i+1</a:t>
            </a:r>
          </a:p>
          <a:p>
            <a:pPr lvl="2">
              <a:buFontTx/>
              <a:buNone/>
            </a:pPr>
            <a:r>
              <a:rPr kumimoji="1" lang="en-US" altLang="zh-CN" sz="2000" dirty="0">
                <a:latin typeface="微软雅黑" pitchFamily="34" charset="-122"/>
                <a:ea typeface="微软雅黑" pitchFamily="34" charset="-122"/>
                <a:cs typeface="经典粗黑简" pitchFamily="49" charset="-122"/>
              </a:rPr>
              <a:t>3</a:t>
            </a:r>
            <a:r>
              <a:rPr kumimoji="1" lang="zh-CN" altLang="en-US" sz="2000" dirty="0">
                <a:latin typeface="微软雅黑" pitchFamily="34" charset="-122"/>
                <a:ea typeface="微软雅黑" pitchFamily="34" charset="-122"/>
                <a:cs typeface="经典粗黑简" pitchFamily="49" charset="-122"/>
              </a:rPr>
              <a:t>）若有双亲，则双亲结点编号为</a:t>
            </a:r>
            <a:r>
              <a:rPr kumimoji="1" lang="en-US" altLang="zh-CN" sz="2000" dirty="0">
                <a:latin typeface="微软雅黑" pitchFamily="34" charset="-122"/>
                <a:ea typeface="微软雅黑" pitchFamily="34" charset="-122"/>
                <a:cs typeface="经典粗黑简" pitchFamily="49" charset="-122"/>
              </a:rPr>
              <a:t>[i/2]</a:t>
            </a:r>
            <a:endParaRPr lang="en-US" altLang="zh-CN" sz="2000" dirty="0">
              <a:latin typeface="Tahoma" pitchFamily="34" charset="0"/>
              <a:ea typeface="宋体" pitchFamily="2" charset="-122"/>
            </a:endParaRPr>
          </a:p>
        </p:txBody>
      </p:sp>
      <p:sp>
        <p:nvSpPr>
          <p:cNvPr id="3" name="矩形 2"/>
          <p:cNvSpPr/>
          <p:nvPr/>
        </p:nvSpPr>
        <p:spPr>
          <a:xfrm>
            <a:off x="2700600" y="2240739"/>
            <a:ext cx="7643872" cy="707886"/>
          </a:xfrm>
          <a:prstGeom prst="rect">
            <a:avLst/>
          </a:prstGeom>
        </p:spPr>
        <p:txBody>
          <a:bodyPr wrap="square">
            <a:spAutoFit/>
          </a:bodyPr>
          <a:lstStyle/>
          <a:p>
            <a:pPr>
              <a:buClr>
                <a:schemeClr val="tx1"/>
              </a:buClr>
            </a:pPr>
            <a:r>
              <a:rPr kumimoji="1" lang="zh-CN" altLang="en-US" sz="2000" dirty="0">
                <a:latin typeface="微软雅黑" pitchFamily="34" charset="-122"/>
                <a:ea typeface="微软雅黑" pitchFamily="34" charset="-122"/>
                <a:cs typeface="经典粗黑简" pitchFamily="49" charset="-122"/>
              </a:rPr>
              <a:t>性质</a:t>
            </a:r>
            <a:r>
              <a:rPr kumimoji="1" lang="en-US" altLang="zh-CN" sz="2000" dirty="0">
                <a:latin typeface="微软雅黑" pitchFamily="34" charset="-122"/>
                <a:ea typeface="微软雅黑" pitchFamily="34" charset="-122"/>
                <a:cs typeface="经典粗黑简" pitchFamily="49" charset="-122"/>
              </a:rPr>
              <a:t>4</a:t>
            </a:r>
          </a:p>
          <a:p>
            <a:pPr lvl="1">
              <a:buClr>
                <a:schemeClr val="folHlink"/>
              </a:buClr>
              <a:buSzPct val="70000"/>
            </a:pPr>
            <a:r>
              <a:rPr kumimoji="1" lang="zh-CN" altLang="en-US" sz="2000" dirty="0">
                <a:latin typeface="微软雅黑" pitchFamily="34" charset="-122"/>
                <a:ea typeface="微软雅黑" pitchFamily="34" charset="-122"/>
                <a:cs typeface="经典粗黑简" pitchFamily="49" charset="-122"/>
              </a:rPr>
              <a:t>一个有</a:t>
            </a:r>
            <a:r>
              <a:rPr kumimoji="1" lang="en-US" altLang="zh-CN" sz="2000" dirty="0">
                <a:latin typeface="微软雅黑" pitchFamily="34" charset="-122"/>
                <a:ea typeface="微软雅黑" pitchFamily="34" charset="-122"/>
                <a:cs typeface="经典粗黑简" pitchFamily="49" charset="-122"/>
              </a:rPr>
              <a:t>n</a:t>
            </a:r>
            <a:r>
              <a:rPr kumimoji="1" lang="zh-CN" altLang="en-US" sz="2000" dirty="0">
                <a:latin typeface="微软雅黑" pitchFamily="34" charset="-122"/>
                <a:ea typeface="微软雅黑" pitchFamily="34" charset="-122"/>
                <a:cs typeface="经典粗黑简" pitchFamily="49" charset="-122"/>
              </a:rPr>
              <a:t>个结点的完全二叉树的高度</a:t>
            </a:r>
            <a:r>
              <a:rPr kumimoji="1" lang="en-US" altLang="zh-CN" sz="2000" dirty="0">
                <a:latin typeface="微软雅黑" pitchFamily="34" charset="-122"/>
                <a:ea typeface="微软雅黑" pitchFamily="34" charset="-122"/>
                <a:cs typeface="经典粗黑简" pitchFamily="49" charset="-122"/>
              </a:rPr>
              <a:t>H</a:t>
            </a:r>
            <a:r>
              <a:rPr kumimoji="1" lang="zh-CN" altLang="en-US" sz="2000" dirty="0">
                <a:latin typeface="微软雅黑" pitchFamily="34" charset="-122"/>
                <a:ea typeface="微软雅黑" pitchFamily="34" charset="-122"/>
                <a:cs typeface="经典粗黑简" pitchFamily="49" charset="-122"/>
              </a:rPr>
              <a:t>＝</a:t>
            </a:r>
            <a:r>
              <a:rPr kumimoji="1" lang="en-US" altLang="zh-CN" sz="2000" dirty="0">
                <a:latin typeface="微软雅黑" pitchFamily="34" charset="-122"/>
                <a:ea typeface="微软雅黑" pitchFamily="34" charset="-122"/>
                <a:cs typeface="经典粗黑简" pitchFamily="49" charset="-122"/>
              </a:rPr>
              <a:t>[log(n)]+1</a:t>
            </a:r>
            <a:r>
              <a:rPr kumimoji="1" lang="zh-CN" altLang="en-US" sz="2000" dirty="0">
                <a:latin typeface="微软雅黑" pitchFamily="34" charset="-122"/>
                <a:ea typeface="微软雅黑" pitchFamily="34" charset="-122"/>
                <a:cs typeface="经典粗黑简" pitchFamily="49" charset="-122"/>
              </a:rPr>
              <a:t>。</a:t>
            </a:r>
          </a:p>
        </p:txBody>
      </p:sp>
      <p:sp>
        <p:nvSpPr>
          <p:cNvPr id="10" name="Text Box 37"/>
          <p:cNvSpPr txBox="1">
            <a:spLocks noChangeArrowheads="1"/>
          </p:cNvSpPr>
          <p:nvPr/>
        </p:nvSpPr>
        <p:spPr bwMode="auto">
          <a:xfrm>
            <a:off x="1991545" y="5014642"/>
            <a:ext cx="8532439" cy="400110"/>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eaLnBrk="1" hangingPunct="1">
              <a:spcBef>
                <a:spcPct val="50000"/>
              </a:spcBef>
              <a:buFont typeface="Wingdings" pitchFamily="2" charset="2"/>
              <a:buNone/>
              <a:defRPr/>
            </a:pPr>
            <a:r>
              <a:rPr kumimoji="1" lang="zh-CN" altLang="en-US" sz="2000" dirty="0">
                <a:latin typeface="微软雅黑" pitchFamily="34" charset="-122"/>
                <a:ea typeface="微软雅黑" pitchFamily="34" charset="-122"/>
                <a:cs typeface="经典粗黑简" pitchFamily="49" charset="-122"/>
              </a:rPr>
              <a:t>性质</a:t>
            </a:r>
            <a:r>
              <a:rPr kumimoji="1" lang="en-US" altLang="zh-CN" sz="2000" dirty="0">
                <a:latin typeface="微软雅黑" pitchFamily="34" charset="-122"/>
                <a:ea typeface="微软雅黑" pitchFamily="34" charset="-122"/>
                <a:cs typeface="经典粗黑简" pitchFamily="49" charset="-122"/>
              </a:rPr>
              <a:t>5</a:t>
            </a:r>
            <a:r>
              <a:rPr kumimoji="1" lang="zh-CN" altLang="en-US" sz="2000" dirty="0">
                <a:latin typeface="微软雅黑" pitchFamily="34" charset="-122"/>
                <a:ea typeface="微软雅黑" pitchFamily="34" charset="-122"/>
                <a:cs typeface="经典粗黑简" pitchFamily="49" charset="-122"/>
              </a:rPr>
              <a:t>表明，在完全二叉树中，结点的层序编号反映了结点之间的逻辑关系。</a:t>
            </a:r>
          </a:p>
        </p:txBody>
      </p:sp>
      <p:sp>
        <p:nvSpPr>
          <p:cNvPr id="2" name="矩形 1">
            <a:extLst>
              <a:ext uri="{FF2B5EF4-FFF2-40B4-BE49-F238E27FC236}">
                <a16:creationId xmlns:a16="http://schemas.microsoft.com/office/drawing/2014/main" xmlns="" id="{3A887C70-9457-E7E0-AA5A-CDA17CE7F2F2}"/>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4" name="Rectangle 2">
            <a:extLst>
              <a:ext uri="{FF2B5EF4-FFF2-40B4-BE49-F238E27FC236}">
                <a16:creationId xmlns:a16="http://schemas.microsoft.com/office/drawing/2014/main" xmlns="" id="{40FC0120-3A93-CE2A-1AD5-23674CCCD0F9}"/>
              </a:ext>
            </a:extLst>
          </p:cNvPr>
          <p:cNvSpPr txBox="1">
            <a:spLocks noChangeArrowheads="1"/>
          </p:cNvSpPr>
          <p:nvPr/>
        </p:nvSpPr>
        <p:spPr>
          <a:xfrm>
            <a:off x="79920" y="836712"/>
            <a:ext cx="363981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7.2.2 </a:t>
            </a:r>
            <a:r>
              <a:rPr lang="zh-CN" altLang="en-US" dirty="0"/>
              <a:t>二叉树的性质</a:t>
            </a:r>
          </a:p>
        </p:txBody>
      </p:sp>
      <p:cxnSp>
        <p:nvCxnSpPr>
          <p:cNvPr id="5" name="直接连接符 4">
            <a:extLst>
              <a:ext uri="{FF2B5EF4-FFF2-40B4-BE49-F238E27FC236}">
                <a16:creationId xmlns:a16="http://schemas.microsoft.com/office/drawing/2014/main" xmlns="" id="{20338443-5D12-FD5F-D472-9D8FDC805BA7}"/>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417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1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8" name="Oval 4"/>
          <p:cNvSpPr>
            <a:spLocks noChangeArrowheads="1"/>
          </p:cNvSpPr>
          <p:nvPr/>
        </p:nvSpPr>
        <p:spPr bwMode="auto">
          <a:xfrm>
            <a:off x="4322455" y="2536772"/>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A</a:t>
            </a:r>
          </a:p>
        </p:txBody>
      </p:sp>
      <p:sp>
        <p:nvSpPr>
          <p:cNvPr id="379909" name="Oval 5"/>
          <p:cNvSpPr>
            <a:spLocks noChangeArrowheads="1"/>
          </p:cNvSpPr>
          <p:nvPr/>
        </p:nvSpPr>
        <p:spPr bwMode="auto">
          <a:xfrm>
            <a:off x="3530292" y="325591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B</a:t>
            </a:r>
          </a:p>
        </p:txBody>
      </p:sp>
      <p:sp>
        <p:nvSpPr>
          <p:cNvPr id="379910" name="Oval 6"/>
          <p:cNvSpPr>
            <a:spLocks noChangeArrowheads="1"/>
          </p:cNvSpPr>
          <p:nvPr/>
        </p:nvSpPr>
        <p:spPr bwMode="auto">
          <a:xfrm>
            <a:off x="4322455" y="325591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379911" name="Oval 7"/>
          <p:cNvSpPr>
            <a:spLocks noChangeArrowheads="1"/>
          </p:cNvSpPr>
          <p:nvPr/>
        </p:nvSpPr>
        <p:spPr bwMode="auto">
          <a:xfrm>
            <a:off x="5109855" y="325591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379912" name="Freeform 8"/>
          <p:cNvSpPr>
            <a:spLocks/>
          </p:cNvSpPr>
          <p:nvPr/>
        </p:nvSpPr>
        <p:spPr bwMode="auto">
          <a:xfrm>
            <a:off x="3860492" y="2825697"/>
            <a:ext cx="488950" cy="463550"/>
          </a:xfrm>
          <a:custGeom>
            <a:avLst/>
            <a:gdLst/>
            <a:ahLst/>
            <a:cxnLst>
              <a:cxn ang="0">
                <a:pos x="308" y="0"/>
              </a:cxn>
              <a:cxn ang="0">
                <a:pos x="0" y="292"/>
              </a:cxn>
            </a:cxnLst>
            <a:rect l="0" t="0" r="r" b="b"/>
            <a:pathLst>
              <a:path w="308" h="292">
                <a:moveTo>
                  <a:pt x="308" y="0"/>
                </a:moveTo>
                <a:lnTo>
                  <a:pt x="0" y="292"/>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9916" name="Oval 12"/>
          <p:cNvSpPr>
            <a:spLocks noChangeArrowheads="1"/>
          </p:cNvSpPr>
          <p:nvPr/>
        </p:nvSpPr>
        <p:spPr bwMode="auto">
          <a:xfrm>
            <a:off x="3530292" y="4019497"/>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E</a:t>
            </a:r>
          </a:p>
        </p:txBody>
      </p:sp>
      <p:sp>
        <p:nvSpPr>
          <p:cNvPr id="379917" name="Oval 13"/>
          <p:cNvSpPr>
            <a:spLocks noChangeArrowheads="1"/>
          </p:cNvSpPr>
          <p:nvPr/>
        </p:nvSpPr>
        <p:spPr bwMode="auto">
          <a:xfrm>
            <a:off x="4322455" y="4019497"/>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379918" name="Oval 14"/>
          <p:cNvSpPr>
            <a:spLocks noChangeArrowheads="1"/>
          </p:cNvSpPr>
          <p:nvPr/>
        </p:nvSpPr>
        <p:spPr bwMode="auto">
          <a:xfrm>
            <a:off x="5109855" y="4019497"/>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G</a:t>
            </a:r>
          </a:p>
        </p:txBody>
      </p:sp>
      <p:sp>
        <p:nvSpPr>
          <p:cNvPr id="379919" name="Freeform 15"/>
          <p:cNvSpPr>
            <a:spLocks/>
          </p:cNvSpPr>
          <p:nvPr/>
        </p:nvSpPr>
        <p:spPr bwMode="auto">
          <a:xfrm>
            <a:off x="3860492" y="3589285"/>
            <a:ext cx="488950" cy="463550"/>
          </a:xfrm>
          <a:custGeom>
            <a:avLst/>
            <a:gdLst/>
            <a:ahLst/>
            <a:cxnLst>
              <a:cxn ang="0">
                <a:pos x="308" y="0"/>
              </a:cxn>
              <a:cxn ang="0">
                <a:pos x="0" y="292"/>
              </a:cxn>
            </a:cxnLst>
            <a:rect l="0" t="0" r="r" b="b"/>
            <a:pathLst>
              <a:path w="308" h="292">
                <a:moveTo>
                  <a:pt x="308" y="0"/>
                </a:moveTo>
                <a:lnTo>
                  <a:pt x="0" y="292"/>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9922" name="Oval 18"/>
          <p:cNvSpPr>
            <a:spLocks noChangeArrowheads="1"/>
          </p:cNvSpPr>
          <p:nvPr/>
        </p:nvSpPr>
        <p:spPr bwMode="auto">
          <a:xfrm>
            <a:off x="4324042" y="4781497"/>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379923" name="Freeform 19"/>
          <p:cNvSpPr>
            <a:spLocks/>
          </p:cNvSpPr>
          <p:nvPr/>
        </p:nvSpPr>
        <p:spPr bwMode="auto">
          <a:xfrm>
            <a:off x="4551056" y="4440185"/>
            <a:ext cx="1587" cy="342900"/>
          </a:xfrm>
          <a:custGeom>
            <a:avLst/>
            <a:gdLst/>
            <a:ahLst/>
            <a:cxnLst>
              <a:cxn ang="0">
                <a:pos x="0" y="0"/>
              </a:cxn>
              <a:cxn ang="0">
                <a:pos x="0" y="216"/>
              </a:cxn>
            </a:cxnLst>
            <a:rect l="0" t="0" r="r" b="b"/>
            <a:pathLst>
              <a:path w="1" h="216">
                <a:moveTo>
                  <a:pt x="0" y="0"/>
                </a:moveTo>
                <a:lnTo>
                  <a:pt x="0" y="216"/>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grpSp>
        <p:nvGrpSpPr>
          <p:cNvPr id="4" name="Group 47"/>
          <p:cNvGrpSpPr>
            <a:grpSpLocks/>
          </p:cNvGrpSpPr>
          <p:nvPr/>
        </p:nvGrpSpPr>
        <p:grpSpPr bwMode="auto">
          <a:xfrm>
            <a:off x="6267142" y="1889073"/>
            <a:ext cx="3024188" cy="3959225"/>
            <a:chOff x="2608" y="618"/>
            <a:chExt cx="1905" cy="2494"/>
          </a:xfrm>
        </p:grpSpPr>
        <p:grpSp>
          <p:nvGrpSpPr>
            <p:cNvPr id="5" name="Group 46"/>
            <p:cNvGrpSpPr>
              <a:grpSpLocks/>
            </p:cNvGrpSpPr>
            <p:nvPr/>
          </p:nvGrpSpPr>
          <p:grpSpPr bwMode="auto">
            <a:xfrm>
              <a:off x="3518" y="618"/>
              <a:ext cx="995" cy="2494"/>
              <a:chOff x="3518" y="618"/>
              <a:chExt cx="995" cy="2494"/>
            </a:xfrm>
          </p:grpSpPr>
          <p:sp>
            <p:nvSpPr>
              <p:cNvPr id="379925" name="Oval 21"/>
              <p:cNvSpPr>
                <a:spLocks noChangeArrowheads="1"/>
              </p:cNvSpPr>
              <p:nvPr/>
            </p:nvSpPr>
            <p:spPr bwMode="auto">
              <a:xfrm>
                <a:off x="4017" y="618"/>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A</a:t>
                </a:r>
              </a:p>
            </p:txBody>
          </p:sp>
          <p:sp>
            <p:nvSpPr>
              <p:cNvPr id="379926" name="Oval 22"/>
              <p:cNvSpPr>
                <a:spLocks noChangeArrowheads="1"/>
              </p:cNvSpPr>
              <p:nvPr/>
            </p:nvSpPr>
            <p:spPr bwMode="auto">
              <a:xfrm>
                <a:off x="3518" y="1071"/>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B</a:t>
                </a:r>
              </a:p>
            </p:txBody>
          </p:sp>
          <p:sp>
            <p:nvSpPr>
              <p:cNvPr id="379927" name="Oval 23"/>
              <p:cNvSpPr>
                <a:spLocks noChangeArrowheads="1"/>
              </p:cNvSpPr>
              <p:nvPr/>
            </p:nvSpPr>
            <p:spPr bwMode="auto">
              <a:xfrm>
                <a:off x="3878" y="1570"/>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379928" name="Oval 24"/>
              <p:cNvSpPr>
                <a:spLocks noChangeArrowheads="1"/>
              </p:cNvSpPr>
              <p:nvPr/>
            </p:nvSpPr>
            <p:spPr bwMode="auto">
              <a:xfrm>
                <a:off x="4196" y="2024"/>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379929" name="Freeform 25"/>
              <p:cNvSpPr>
                <a:spLocks/>
              </p:cNvSpPr>
              <p:nvPr/>
            </p:nvSpPr>
            <p:spPr bwMode="auto">
              <a:xfrm>
                <a:off x="3726" y="800"/>
                <a:ext cx="308" cy="292"/>
              </a:xfrm>
              <a:custGeom>
                <a:avLst/>
                <a:gdLst/>
                <a:ahLst/>
                <a:cxnLst>
                  <a:cxn ang="0">
                    <a:pos x="308" y="0"/>
                  </a:cxn>
                  <a:cxn ang="0">
                    <a:pos x="0" y="292"/>
                  </a:cxn>
                </a:cxnLst>
                <a:rect l="0" t="0" r="r" b="b"/>
                <a:pathLst>
                  <a:path w="308" h="292">
                    <a:moveTo>
                      <a:pt x="308" y="0"/>
                    </a:moveTo>
                    <a:lnTo>
                      <a:pt x="0" y="292"/>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9931" name="Freeform 27"/>
              <p:cNvSpPr>
                <a:spLocks/>
              </p:cNvSpPr>
              <p:nvPr/>
            </p:nvSpPr>
            <p:spPr bwMode="auto">
              <a:xfrm>
                <a:off x="4101" y="1803"/>
                <a:ext cx="216" cy="222"/>
              </a:xfrm>
              <a:custGeom>
                <a:avLst/>
                <a:gdLst/>
                <a:ahLst/>
                <a:cxnLst>
                  <a:cxn ang="0">
                    <a:pos x="0" y="0"/>
                  </a:cxn>
                  <a:cxn ang="0">
                    <a:pos x="216" y="222"/>
                  </a:cxn>
                </a:cxnLst>
                <a:rect l="0" t="0" r="r" b="b"/>
                <a:pathLst>
                  <a:path w="216" h="222">
                    <a:moveTo>
                      <a:pt x="0" y="0"/>
                    </a:moveTo>
                    <a:lnTo>
                      <a:pt x="216" y="222"/>
                    </a:lnTo>
                  </a:path>
                </a:pathLst>
              </a:custGeom>
              <a:noFill/>
              <a:ln w="28575" cap="flat" cmpd="sng">
                <a:solidFill>
                  <a:srgbClr val="0000CC"/>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9932" name="Oval 28"/>
              <p:cNvSpPr>
                <a:spLocks noChangeArrowheads="1"/>
              </p:cNvSpPr>
              <p:nvPr/>
            </p:nvSpPr>
            <p:spPr bwMode="auto">
              <a:xfrm>
                <a:off x="3561" y="2024"/>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E</a:t>
                </a:r>
              </a:p>
            </p:txBody>
          </p:sp>
          <p:sp>
            <p:nvSpPr>
              <p:cNvPr id="379933" name="Oval 29"/>
              <p:cNvSpPr>
                <a:spLocks noChangeArrowheads="1"/>
              </p:cNvSpPr>
              <p:nvPr/>
            </p:nvSpPr>
            <p:spPr bwMode="auto">
              <a:xfrm>
                <a:off x="3923" y="2432"/>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379934" name="Oval 30"/>
              <p:cNvSpPr>
                <a:spLocks noChangeArrowheads="1"/>
              </p:cNvSpPr>
              <p:nvPr/>
            </p:nvSpPr>
            <p:spPr bwMode="auto">
              <a:xfrm>
                <a:off x="4241" y="2840"/>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G</a:t>
                </a:r>
              </a:p>
            </p:txBody>
          </p:sp>
          <p:sp>
            <p:nvSpPr>
              <p:cNvPr id="379937" name="Freeform 33"/>
              <p:cNvSpPr>
                <a:spLocks/>
              </p:cNvSpPr>
              <p:nvPr/>
            </p:nvSpPr>
            <p:spPr bwMode="auto">
              <a:xfrm>
                <a:off x="3735" y="1317"/>
                <a:ext cx="216" cy="270"/>
              </a:xfrm>
              <a:custGeom>
                <a:avLst/>
                <a:gdLst/>
                <a:ahLst/>
                <a:cxnLst>
                  <a:cxn ang="0">
                    <a:pos x="0" y="0"/>
                  </a:cxn>
                  <a:cxn ang="0">
                    <a:pos x="216" y="270"/>
                  </a:cxn>
                </a:cxnLst>
                <a:rect l="0" t="0" r="r" b="b"/>
                <a:pathLst>
                  <a:path w="216" h="270">
                    <a:moveTo>
                      <a:pt x="0" y="0"/>
                    </a:moveTo>
                    <a:lnTo>
                      <a:pt x="216" y="270"/>
                    </a:lnTo>
                  </a:path>
                </a:pathLst>
              </a:custGeom>
              <a:noFill/>
              <a:ln w="28575" cap="flat" cmpd="sng">
                <a:solidFill>
                  <a:srgbClr val="0000CC"/>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9938" name="Oval 34"/>
              <p:cNvSpPr>
                <a:spLocks noChangeArrowheads="1"/>
              </p:cNvSpPr>
              <p:nvPr/>
            </p:nvSpPr>
            <p:spPr bwMode="auto">
              <a:xfrm>
                <a:off x="3651" y="2840"/>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379940" name="Freeform 36"/>
              <p:cNvSpPr>
                <a:spLocks/>
              </p:cNvSpPr>
              <p:nvPr/>
            </p:nvSpPr>
            <p:spPr bwMode="auto">
              <a:xfrm>
                <a:off x="3741" y="1797"/>
                <a:ext cx="183" cy="234"/>
              </a:xfrm>
              <a:custGeom>
                <a:avLst/>
                <a:gdLst/>
                <a:ahLst/>
                <a:cxnLst>
                  <a:cxn ang="0">
                    <a:pos x="183" y="0"/>
                  </a:cxn>
                  <a:cxn ang="0">
                    <a:pos x="0" y="234"/>
                  </a:cxn>
                </a:cxnLst>
                <a:rect l="0" t="0" r="r" b="b"/>
                <a:pathLst>
                  <a:path w="183" h="234">
                    <a:moveTo>
                      <a:pt x="183" y="0"/>
                    </a:moveTo>
                    <a:lnTo>
                      <a:pt x="0" y="234"/>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9942" name="Line 38"/>
              <p:cNvSpPr>
                <a:spLocks noChangeShapeType="1"/>
              </p:cNvSpPr>
              <p:nvPr/>
            </p:nvSpPr>
            <p:spPr bwMode="auto">
              <a:xfrm>
                <a:off x="3787" y="2251"/>
                <a:ext cx="182" cy="226"/>
              </a:xfrm>
              <a:prstGeom prst="line">
                <a:avLst/>
              </a:prstGeom>
              <a:noFill/>
              <a:ln w="28575">
                <a:solidFill>
                  <a:srgbClr val="0000CC"/>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379943" name="Freeform 39"/>
              <p:cNvSpPr>
                <a:spLocks/>
              </p:cNvSpPr>
              <p:nvPr/>
            </p:nvSpPr>
            <p:spPr bwMode="auto">
              <a:xfrm>
                <a:off x="3837" y="2659"/>
                <a:ext cx="132" cy="188"/>
              </a:xfrm>
              <a:custGeom>
                <a:avLst/>
                <a:gdLst/>
                <a:ahLst/>
                <a:cxnLst>
                  <a:cxn ang="0">
                    <a:pos x="132" y="0"/>
                  </a:cxn>
                  <a:cxn ang="0">
                    <a:pos x="0" y="188"/>
                  </a:cxn>
                </a:cxnLst>
                <a:rect l="0" t="0" r="r" b="b"/>
                <a:pathLst>
                  <a:path w="132" h="188">
                    <a:moveTo>
                      <a:pt x="132" y="0"/>
                    </a:moveTo>
                    <a:lnTo>
                      <a:pt x="0" y="188"/>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9944" name="Freeform 40"/>
              <p:cNvSpPr>
                <a:spLocks/>
              </p:cNvSpPr>
              <p:nvPr/>
            </p:nvSpPr>
            <p:spPr bwMode="auto">
              <a:xfrm>
                <a:off x="4150" y="2659"/>
                <a:ext cx="167" cy="194"/>
              </a:xfrm>
              <a:custGeom>
                <a:avLst/>
                <a:gdLst/>
                <a:ahLst/>
                <a:cxnLst>
                  <a:cxn ang="0">
                    <a:pos x="0" y="0"/>
                  </a:cxn>
                  <a:cxn ang="0">
                    <a:pos x="167" y="194"/>
                  </a:cxn>
                </a:cxnLst>
                <a:rect l="0" t="0" r="r" b="b"/>
                <a:pathLst>
                  <a:path w="167" h="194">
                    <a:moveTo>
                      <a:pt x="0" y="0"/>
                    </a:moveTo>
                    <a:lnTo>
                      <a:pt x="167" y="194"/>
                    </a:lnTo>
                  </a:path>
                </a:pathLst>
              </a:custGeom>
              <a:noFill/>
              <a:ln w="28575" cap="flat" cmpd="sng">
                <a:solidFill>
                  <a:srgbClr val="0000CC"/>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grpSp>
        <p:sp>
          <p:nvSpPr>
            <p:cNvPr id="379947" name="AutoShape 43"/>
            <p:cNvSpPr>
              <a:spLocks noChangeArrowheads="1"/>
            </p:cNvSpPr>
            <p:nvPr/>
          </p:nvSpPr>
          <p:spPr bwMode="auto">
            <a:xfrm>
              <a:off x="2608" y="1661"/>
              <a:ext cx="544" cy="227"/>
            </a:xfrm>
            <a:prstGeom prst="rightArrow">
              <a:avLst>
                <a:gd name="adj1" fmla="val 50000"/>
                <a:gd name="adj2" fmla="val 42767"/>
              </a:avLst>
            </a:prstGeom>
            <a:ln>
              <a:headEnd/>
              <a:tailEnd type="none" w="med" len="lg"/>
            </a:ln>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latin typeface="Consolas" pitchFamily="49" charset="0"/>
                <a:cs typeface="Consolas" pitchFamily="49" charset="0"/>
              </a:endParaRPr>
            </a:p>
          </p:txBody>
        </p:sp>
      </p:grpSp>
      <p:sp>
        <p:nvSpPr>
          <p:cNvPr id="45" name="TextBox 44"/>
          <p:cNvSpPr txBox="1"/>
          <p:nvPr/>
        </p:nvSpPr>
        <p:spPr>
          <a:xfrm>
            <a:off x="2298035" y="2174824"/>
            <a:ext cx="492443" cy="3929090"/>
          </a:xfrm>
          <a:prstGeom prst="rect">
            <a:avLst/>
          </a:prstGeom>
        </p:spPr>
        <p:style>
          <a:lnRef idx="1">
            <a:schemeClr val="accent5"/>
          </a:lnRef>
          <a:fillRef idx="2">
            <a:schemeClr val="accent5"/>
          </a:fillRef>
          <a:effectRef idx="1">
            <a:schemeClr val="accent5"/>
          </a:effectRef>
          <a:fontRef idx="minor">
            <a:schemeClr val="dk1"/>
          </a:fontRef>
        </p:style>
        <p:txBody>
          <a:bodyPr vert="eaVert" wrap="square" rtlCol="0">
            <a:spAutoFit/>
          </a:bodyPr>
          <a:lstStyle/>
          <a:p>
            <a:pPr marL="457200" indent="-457200">
              <a:buBlip>
                <a:blip r:embed="rId2"/>
              </a:buBlip>
            </a:pPr>
            <a:r>
              <a:rPr lang="zh-CN" altLang="en-US" sz="2000" spc="300">
                <a:solidFill>
                  <a:srgbClr val="3333FF"/>
                </a:solidFill>
                <a:latin typeface="Consolas" pitchFamily="49" charset="0"/>
                <a:ea typeface="华文中宋" pitchFamily="2" charset="-122"/>
                <a:cs typeface="Consolas" pitchFamily="49" charset="0"/>
              </a:rPr>
              <a:t>一颗</a:t>
            </a:r>
            <a:r>
              <a:rPr kumimoji="1" lang="zh-CN" altLang="en-US" sz="2000" spc="300">
                <a:solidFill>
                  <a:srgbClr val="3333FF"/>
                </a:solidFill>
                <a:latin typeface="Consolas" pitchFamily="49" charset="0"/>
                <a:ea typeface="华文中宋" pitchFamily="2" charset="-122"/>
                <a:cs typeface="Consolas" pitchFamily="49" charset="0"/>
              </a:rPr>
              <a:t>树转换</a:t>
            </a:r>
            <a:r>
              <a:rPr kumimoji="1" lang="zh-CN" altLang="en-US" sz="2000" spc="300" dirty="0">
                <a:solidFill>
                  <a:srgbClr val="3333FF"/>
                </a:solidFill>
                <a:latin typeface="Consolas" pitchFamily="49" charset="0"/>
                <a:ea typeface="华文中宋" pitchFamily="2" charset="-122"/>
                <a:cs typeface="Consolas" pitchFamily="49" charset="0"/>
              </a:rPr>
              <a:t>为二叉树</a:t>
            </a:r>
            <a:endParaRPr lang="zh-CN" altLang="en-US" sz="2000" spc="300" dirty="0">
              <a:solidFill>
                <a:srgbClr val="3333FF"/>
              </a:solidFill>
              <a:latin typeface="Consolas" pitchFamily="49" charset="0"/>
              <a:ea typeface="华文中宋" pitchFamily="2" charset="-122"/>
              <a:cs typeface="Consolas" pitchFamily="49" charset="0"/>
            </a:endParaRPr>
          </a:p>
        </p:txBody>
      </p:sp>
      <p:sp>
        <p:nvSpPr>
          <p:cNvPr id="379953" name="Text Box 49"/>
          <p:cNvSpPr txBox="1">
            <a:spLocks noChangeArrowheads="1"/>
          </p:cNvSpPr>
          <p:nvPr/>
        </p:nvSpPr>
        <p:spPr bwMode="auto">
          <a:xfrm>
            <a:off x="7780030" y="6135635"/>
            <a:ext cx="1814500" cy="400110"/>
          </a:xfrm>
          <a:prstGeom prst="rect">
            <a:avLst/>
          </a:prstGeom>
          <a:noFill/>
          <a:ln w="28575" algn="ctr">
            <a:noFill/>
            <a:miter lim="800000"/>
            <a:headEnd/>
            <a:tailEnd type="none" w="med" len="lg"/>
          </a:ln>
          <a:effectLst/>
        </p:spPr>
        <p:txBody>
          <a:bodyPr wrap="square">
            <a:spAutoFit/>
          </a:bodyPr>
          <a:lstStyle/>
          <a:p>
            <a:pPr algn="l">
              <a:spcBef>
                <a:spcPct val="50000"/>
              </a:spcBef>
            </a:pPr>
            <a:r>
              <a:rPr lang="zh-CN" altLang="en-US" sz="2000" dirty="0">
                <a:latin typeface="仿宋" pitchFamily="49" charset="-122"/>
                <a:ea typeface="仿宋" pitchFamily="49" charset="-122"/>
              </a:rPr>
              <a:t>对应的二叉树</a:t>
            </a:r>
          </a:p>
        </p:txBody>
      </p:sp>
      <p:sp>
        <p:nvSpPr>
          <p:cNvPr id="49" name="TextBox 48"/>
          <p:cNvSpPr txBox="1"/>
          <p:nvPr/>
        </p:nvSpPr>
        <p:spPr>
          <a:xfrm>
            <a:off x="3647728" y="5603848"/>
            <a:ext cx="3714776" cy="810478"/>
          </a:xfrm>
          <a:prstGeom prst="rect">
            <a:avLst/>
          </a:prstGeom>
          <a:noFill/>
        </p:spPr>
        <p:txBody>
          <a:bodyPr wrap="square" rtlCol="0">
            <a:spAutoFit/>
          </a:bodyPr>
          <a:lstStyle/>
          <a:p>
            <a:pPr marL="457200" indent="-457200">
              <a:lnSpc>
                <a:spcPts val="2800"/>
              </a:lnSpc>
              <a:buBlip>
                <a:blip r:embed="rId3"/>
              </a:buBlip>
            </a:pPr>
            <a:r>
              <a:rPr lang="zh-CN" altLang="en-US" sz="2000" dirty="0">
                <a:latin typeface="Consolas" pitchFamily="49" charset="0"/>
                <a:ea typeface="仿宋" pitchFamily="49" charset="-122"/>
                <a:cs typeface="Consolas" pitchFamily="49" charset="0"/>
              </a:rPr>
              <a:t>长子关系转换为左孩子关系</a:t>
            </a:r>
            <a:endParaRPr lang="en-US" altLang="zh-CN" sz="2000" dirty="0">
              <a:latin typeface="Consolas" pitchFamily="49" charset="0"/>
              <a:ea typeface="仿宋" pitchFamily="49" charset="-122"/>
              <a:cs typeface="Consolas" pitchFamily="49" charset="0"/>
            </a:endParaRPr>
          </a:p>
          <a:p>
            <a:pPr marL="457200" indent="-457200">
              <a:lnSpc>
                <a:spcPts val="2800"/>
              </a:lnSpc>
              <a:buBlip>
                <a:blip r:embed="rId3"/>
              </a:buBlip>
            </a:pPr>
            <a:r>
              <a:rPr lang="zh-CN" altLang="en-US" sz="2000" dirty="0">
                <a:latin typeface="Consolas" pitchFamily="49" charset="0"/>
                <a:ea typeface="仿宋" pitchFamily="49" charset="-122"/>
                <a:cs typeface="Consolas" pitchFamily="49" charset="0"/>
              </a:rPr>
              <a:t>兄弟关系转换为右孩子关系</a:t>
            </a:r>
          </a:p>
        </p:txBody>
      </p:sp>
      <p:sp>
        <p:nvSpPr>
          <p:cNvPr id="7" name="矩形 6">
            <a:extLst>
              <a:ext uri="{FF2B5EF4-FFF2-40B4-BE49-F238E27FC236}">
                <a16:creationId xmlns:a16="http://schemas.microsoft.com/office/drawing/2014/main" xmlns="" id="{25EAF377-1FD3-4E3B-9572-7D36A3E71C35}"/>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8" name="Rectangle 2">
            <a:extLst>
              <a:ext uri="{FF2B5EF4-FFF2-40B4-BE49-F238E27FC236}">
                <a16:creationId xmlns:a16="http://schemas.microsoft.com/office/drawing/2014/main" xmlns="" id="{EA0D15A9-C641-BFEA-E715-40D23860BE98}"/>
              </a:ext>
            </a:extLst>
          </p:cNvPr>
          <p:cNvSpPr txBox="1">
            <a:spLocks noChangeArrowheads="1"/>
          </p:cNvSpPr>
          <p:nvPr/>
        </p:nvSpPr>
        <p:spPr>
          <a:xfrm>
            <a:off x="79920" y="836712"/>
            <a:ext cx="60160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7.2.3 </a:t>
            </a:r>
            <a:r>
              <a:rPr lang="zh-CN" altLang="en-US" dirty="0"/>
              <a:t>二叉树与树、森林之间的转换</a:t>
            </a:r>
          </a:p>
        </p:txBody>
      </p:sp>
      <p:cxnSp>
        <p:nvCxnSpPr>
          <p:cNvPr id="9" name="直接连接符 8">
            <a:extLst>
              <a:ext uri="{FF2B5EF4-FFF2-40B4-BE49-F238E27FC236}">
                <a16:creationId xmlns:a16="http://schemas.microsoft.com/office/drawing/2014/main" xmlns="" id="{45E807E7-5A2C-7421-6CBC-BB22FD5AB0A8}"/>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xmlns="" id="{3AD806DB-E23A-4EED-5FF5-A0897F5AFC4A}"/>
              </a:ext>
            </a:extLst>
          </p:cNvPr>
          <p:cNvSpPr txBox="1"/>
          <p:nvPr/>
        </p:nvSpPr>
        <p:spPr>
          <a:xfrm>
            <a:off x="1028855" y="1522941"/>
            <a:ext cx="3626985" cy="400110"/>
          </a:xfrm>
          <a:prstGeom prst="rect">
            <a:avLst/>
          </a:prstGeom>
          <a:noFill/>
        </p:spPr>
        <p:txBody>
          <a:bodyPr wrap="square">
            <a:spAutoFit/>
          </a:bodyPr>
          <a:lstStyle/>
          <a:p>
            <a:pPr>
              <a:spcBef>
                <a:spcPct val="50000"/>
              </a:spcBef>
            </a:pP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a:t>
            </a:r>
            <a:r>
              <a:rPr kumimoji="1" lang="zh-CN" altLang="en-US" sz="2000" dirty="0">
                <a:solidFill>
                  <a:schemeClr val="tx1"/>
                </a:solidFill>
                <a:latin typeface="微软雅黑" pitchFamily="34" charset="-122"/>
                <a:ea typeface="微软雅黑" pitchFamily="34" charset="-122"/>
                <a:cs typeface="经典粗黑简" pitchFamily="49" charset="-122"/>
              </a:rPr>
              <a:t>森林、树转换为二叉树</a:t>
            </a:r>
          </a:p>
        </p:txBody>
      </p:sp>
      <p:sp>
        <p:nvSpPr>
          <p:cNvPr id="6" name="Freeform 10"/>
          <p:cNvSpPr>
            <a:spLocks/>
          </p:cNvSpPr>
          <p:nvPr/>
        </p:nvSpPr>
        <p:spPr bwMode="auto">
          <a:xfrm>
            <a:off x="4643130" y="3636883"/>
            <a:ext cx="508000" cy="438150"/>
          </a:xfrm>
          <a:custGeom>
            <a:avLst/>
            <a:gdLst/>
            <a:ahLst/>
            <a:cxnLst>
              <a:cxn ang="0">
                <a:pos x="0" y="0"/>
              </a:cxn>
              <a:cxn ang="0">
                <a:pos x="320" y="276"/>
              </a:cxn>
            </a:cxnLst>
            <a:rect l="0" t="0" r="r" b="b"/>
            <a:pathLst>
              <a:path w="320" h="276">
                <a:moveTo>
                  <a:pt x="0" y="0"/>
                </a:moveTo>
                <a:lnTo>
                  <a:pt x="320" y="276"/>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0" name="Freeform 10">
            <a:extLst>
              <a:ext uri="{FF2B5EF4-FFF2-40B4-BE49-F238E27FC236}">
                <a16:creationId xmlns:a16="http://schemas.microsoft.com/office/drawing/2014/main" xmlns="" id="{1745F8B0-9E07-C195-807A-AD9CE985B1D1}"/>
              </a:ext>
            </a:extLst>
          </p:cNvPr>
          <p:cNvSpPr>
            <a:spLocks/>
          </p:cNvSpPr>
          <p:nvPr/>
        </p:nvSpPr>
        <p:spPr bwMode="auto">
          <a:xfrm>
            <a:off x="4732427" y="2824111"/>
            <a:ext cx="508000" cy="438150"/>
          </a:xfrm>
          <a:custGeom>
            <a:avLst/>
            <a:gdLst/>
            <a:ahLst/>
            <a:cxnLst>
              <a:cxn ang="0">
                <a:pos x="0" y="0"/>
              </a:cxn>
              <a:cxn ang="0">
                <a:pos x="320" y="276"/>
              </a:cxn>
            </a:cxnLst>
            <a:rect l="0" t="0" r="r" b="b"/>
            <a:pathLst>
              <a:path w="320" h="276">
                <a:moveTo>
                  <a:pt x="0" y="0"/>
                </a:moveTo>
                <a:lnTo>
                  <a:pt x="320" y="276"/>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3" name="Freeform 19">
            <a:extLst>
              <a:ext uri="{FF2B5EF4-FFF2-40B4-BE49-F238E27FC236}">
                <a16:creationId xmlns:a16="http://schemas.microsoft.com/office/drawing/2014/main" xmlns="" id="{C823DA9E-601D-AAE1-20FD-D9DC02DFD14C}"/>
              </a:ext>
            </a:extLst>
          </p:cNvPr>
          <p:cNvSpPr>
            <a:spLocks/>
          </p:cNvSpPr>
          <p:nvPr/>
        </p:nvSpPr>
        <p:spPr bwMode="auto">
          <a:xfrm>
            <a:off x="4538355" y="2935408"/>
            <a:ext cx="1587" cy="342900"/>
          </a:xfrm>
          <a:custGeom>
            <a:avLst/>
            <a:gdLst/>
            <a:ahLst/>
            <a:cxnLst>
              <a:cxn ang="0">
                <a:pos x="0" y="0"/>
              </a:cxn>
              <a:cxn ang="0">
                <a:pos x="0" y="216"/>
              </a:cxn>
            </a:cxnLst>
            <a:rect l="0" t="0" r="r" b="b"/>
            <a:pathLst>
              <a:path w="1" h="216">
                <a:moveTo>
                  <a:pt x="0" y="0"/>
                </a:moveTo>
                <a:lnTo>
                  <a:pt x="0" y="216"/>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4" name="Freeform 19">
            <a:extLst>
              <a:ext uri="{FF2B5EF4-FFF2-40B4-BE49-F238E27FC236}">
                <a16:creationId xmlns:a16="http://schemas.microsoft.com/office/drawing/2014/main" xmlns="" id="{25AB0398-A2DE-4B97-871B-6B7C5BD7AE9B}"/>
              </a:ext>
            </a:extLst>
          </p:cNvPr>
          <p:cNvSpPr>
            <a:spLocks/>
          </p:cNvSpPr>
          <p:nvPr/>
        </p:nvSpPr>
        <p:spPr bwMode="auto">
          <a:xfrm>
            <a:off x="4538355" y="3690872"/>
            <a:ext cx="1587" cy="342900"/>
          </a:xfrm>
          <a:custGeom>
            <a:avLst/>
            <a:gdLst/>
            <a:ahLst/>
            <a:cxnLst>
              <a:cxn ang="0">
                <a:pos x="0" y="0"/>
              </a:cxn>
              <a:cxn ang="0">
                <a:pos x="0" y="216"/>
              </a:cxn>
            </a:cxnLst>
            <a:rect l="0" t="0" r="r" b="b"/>
            <a:pathLst>
              <a:path w="1" h="216">
                <a:moveTo>
                  <a:pt x="0" y="0"/>
                </a:moveTo>
                <a:lnTo>
                  <a:pt x="0" y="216"/>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4" name="Oval 4"/>
          <p:cNvSpPr>
            <a:spLocks noChangeArrowheads="1"/>
          </p:cNvSpPr>
          <p:nvPr/>
        </p:nvSpPr>
        <p:spPr bwMode="auto">
          <a:xfrm>
            <a:off x="2952959" y="235807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A</a:t>
            </a:r>
          </a:p>
        </p:txBody>
      </p:sp>
      <p:sp>
        <p:nvSpPr>
          <p:cNvPr id="378885" name="Oval 5"/>
          <p:cNvSpPr>
            <a:spLocks noChangeArrowheads="1"/>
          </p:cNvSpPr>
          <p:nvPr/>
        </p:nvSpPr>
        <p:spPr bwMode="auto">
          <a:xfrm>
            <a:off x="2160796" y="307720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B</a:t>
            </a:r>
          </a:p>
        </p:txBody>
      </p:sp>
      <p:sp>
        <p:nvSpPr>
          <p:cNvPr id="378886" name="Oval 6"/>
          <p:cNvSpPr>
            <a:spLocks noChangeArrowheads="1"/>
          </p:cNvSpPr>
          <p:nvPr/>
        </p:nvSpPr>
        <p:spPr bwMode="auto">
          <a:xfrm>
            <a:off x="2952959" y="307720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378887" name="Oval 7"/>
          <p:cNvSpPr>
            <a:spLocks noChangeArrowheads="1"/>
          </p:cNvSpPr>
          <p:nvPr/>
        </p:nvSpPr>
        <p:spPr bwMode="auto">
          <a:xfrm>
            <a:off x="3740359" y="307720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378888" name="Oval 8"/>
          <p:cNvSpPr>
            <a:spLocks noChangeArrowheads="1"/>
          </p:cNvSpPr>
          <p:nvPr/>
        </p:nvSpPr>
        <p:spPr bwMode="auto">
          <a:xfrm>
            <a:off x="4969084" y="2358071"/>
            <a:ext cx="431800" cy="431800"/>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E</a:t>
            </a:r>
          </a:p>
        </p:txBody>
      </p:sp>
      <p:sp>
        <p:nvSpPr>
          <p:cNvPr id="378889" name="Oval 9"/>
          <p:cNvSpPr>
            <a:spLocks noChangeArrowheads="1"/>
          </p:cNvSpPr>
          <p:nvPr/>
        </p:nvSpPr>
        <p:spPr bwMode="auto">
          <a:xfrm>
            <a:off x="4969084" y="3077208"/>
            <a:ext cx="431800" cy="431800"/>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378890" name="Oval 10"/>
          <p:cNvSpPr>
            <a:spLocks noChangeArrowheads="1"/>
          </p:cNvSpPr>
          <p:nvPr/>
        </p:nvSpPr>
        <p:spPr bwMode="auto">
          <a:xfrm>
            <a:off x="6913771" y="2358071"/>
            <a:ext cx="431800"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G</a:t>
            </a:r>
          </a:p>
        </p:txBody>
      </p:sp>
      <p:sp>
        <p:nvSpPr>
          <p:cNvPr id="378892" name="Oval 12"/>
          <p:cNvSpPr>
            <a:spLocks noChangeArrowheads="1"/>
          </p:cNvSpPr>
          <p:nvPr/>
        </p:nvSpPr>
        <p:spPr bwMode="auto">
          <a:xfrm>
            <a:off x="6408946" y="3077208"/>
            <a:ext cx="431800"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378893" name="Oval 13"/>
          <p:cNvSpPr>
            <a:spLocks noChangeArrowheads="1"/>
          </p:cNvSpPr>
          <p:nvPr/>
        </p:nvSpPr>
        <p:spPr bwMode="auto">
          <a:xfrm>
            <a:off x="7490034" y="3077208"/>
            <a:ext cx="431800" cy="431800"/>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I</a:t>
            </a:r>
          </a:p>
        </p:txBody>
      </p:sp>
      <p:sp>
        <p:nvSpPr>
          <p:cNvPr id="378894" name="Freeform 14"/>
          <p:cNvSpPr>
            <a:spLocks/>
          </p:cNvSpPr>
          <p:nvPr/>
        </p:nvSpPr>
        <p:spPr bwMode="auto">
          <a:xfrm>
            <a:off x="2490996" y="2646996"/>
            <a:ext cx="488950" cy="463550"/>
          </a:xfrm>
          <a:custGeom>
            <a:avLst/>
            <a:gdLst/>
            <a:ahLst/>
            <a:cxnLst>
              <a:cxn ang="0">
                <a:pos x="308" y="0"/>
              </a:cxn>
              <a:cxn ang="0">
                <a:pos x="0" y="292"/>
              </a:cxn>
            </a:cxnLst>
            <a:rect l="0" t="0" r="r" b="b"/>
            <a:pathLst>
              <a:path w="308" h="292">
                <a:moveTo>
                  <a:pt x="308" y="0"/>
                </a:moveTo>
                <a:lnTo>
                  <a:pt x="0" y="292"/>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897" name="Line 17"/>
          <p:cNvSpPr>
            <a:spLocks noChangeShapeType="1"/>
          </p:cNvSpPr>
          <p:nvPr/>
        </p:nvSpPr>
        <p:spPr bwMode="auto">
          <a:xfrm>
            <a:off x="5184984" y="2789872"/>
            <a:ext cx="0" cy="287337"/>
          </a:xfrm>
          <a:prstGeom prst="line">
            <a:avLst/>
          </a:prstGeom>
          <a:noFill/>
          <a:ln w="28575">
            <a:solidFill>
              <a:srgbClr val="FF0000"/>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378898" name="Freeform 18"/>
          <p:cNvSpPr>
            <a:spLocks/>
          </p:cNvSpPr>
          <p:nvPr/>
        </p:nvSpPr>
        <p:spPr bwMode="auto">
          <a:xfrm>
            <a:off x="6681996" y="2718434"/>
            <a:ext cx="304800" cy="373063"/>
          </a:xfrm>
          <a:custGeom>
            <a:avLst/>
            <a:gdLst/>
            <a:ahLst/>
            <a:cxnLst>
              <a:cxn ang="0">
                <a:pos x="192" y="0"/>
              </a:cxn>
              <a:cxn ang="0">
                <a:pos x="0" y="235"/>
              </a:cxn>
            </a:cxnLst>
            <a:rect l="0" t="0" r="r" b="b"/>
            <a:pathLst>
              <a:path w="192" h="235">
                <a:moveTo>
                  <a:pt x="192" y="0"/>
                </a:moveTo>
                <a:lnTo>
                  <a:pt x="0" y="235"/>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grpSp>
        <p:nvGrpSpPr>
          <p:cNvPr id="3" name="Group 59"/>
          <p:cNvGrpSpPr>
            <a:grpSpLocks/>
          </p:cNvGrpSpPr>
          <p:nvPr/>
        </p:nvGrpSpPr>
        <p:grpSpPr bwMode="auto">
          <a:xfrm>
            <a:off x="2592596" y="3293108"/>
            <a:ext cx="4897438" cy="0"/>
            <a:chOff x="2528910" y="1123950"/>
            <a:chExt cx="4897438" cy="0"/>
          </a:xfrm>
        </p:grpSpPr>
        <p:sp>
          <p:nvSpPr>
            <p:cNvPr id="378900" name="Line 20"/>
            <p:cNvSpPr>
              <a:spLocks noChangeShapeType="1"/>
            </p:cNvSpPr>
            <p:nvPr/>
          </p:nvSpPr>
          <p:spPr bwMode="auto">
            <a:xfrm>
              <a:off x="1020" y="708"/>
              <a:ext cx="726" cy="0"/>
            </a:xfrm>
            <a:prstGeom prst="line">
              <a:avLst/>
            </a:prstGeom>
            <a:noFill/>
            <a:ln w="28575">
              <a:solidFill>
                <a:srgbClr val="FF00FF"/>
              </a:solidFill>
              <a:prstDash val="sysDot"/>
              <a:round/>
              <a:headEnd/>
              <a:tailEnd type="none" w="med" len="lg"/>
            </a:ln>
            <a:effectLst/>
          </p:spPr>
          <p:txBody>
            <a:bodyPr wrap="none"/>
            <a:lstStyle/>
            <a:p>
              <a:endParaRPr lang="zh-CN" altLang="en-US">
                <a:latin typeface="Consolas" pitchFamily="49" charset="0"/>
                <a:cs typeface="Consolas" pitchFamily="49" charset="0"/>
              </a:endParaRPr>
            </a:p>
          </p:txBody>
        </p:sp>
        <p:sp>
          <p:nvSpPr>
            <p:cNvPr id="378901" name="Line 21"/>
            <p:cNvSpPr>
              <a:spLocks noChangeShapeType="1"/>
            </p:cNvSpPr>
            <p:nvPr/>
          </p:nvSpPr>
          <p:spPr bwMode="auto">
            <a:xfrm>
              <a:off x="3696" y="708"/>
              <a:ext cx="409" cy="0"/>
            </a:xfrm>
            <a:prstGeom prst="line">
              <a:avLst/>
            </a:prstGeom>
            <a:noFill/>
            <a:ln w="28575">
              <a:solidFill>
                <a:srgbClr val="FF00FF"/>
              </a:solidFill>
              <a:prstDash val="sysDot"/>
              <a:round/>
              <a:headEnd/>
              <a:tailEnd type="none" w="med" len="lg"/>
            </a:ln>
            <a:effectLst/>
          </p:spPr>
          <p:txBody>
            <a:bodyPr wrap="none"/>
            <a:lstStyle/>
            <a:p>
              <a:endParaRPr lang="zh-CN" altLang="en-US">
                <a:latin typeface="Consolas" pitchFamily="49" charset="0"/>
                <a:cs typeface="Consolas" pitchFamily="49" charset="0"/>
              </a:endParaRPr>
            </a:p>
          </p:txBody>
        </p:sp>
      </p:grpSp>
      <p:grpSp>
        <p:nvGrpSpPr>
          <p:cNvPr id="4" name="Group 61"/>
          <p:cNvGrpSpPr>
            <a:grpSpLocks/>
          </p:cNvGrpSpPr>
          <p:nvPr/>
        </p:nvGrpSpPr>
        <p:grpSpPr bwMode="auto">
          <a:xfrm>
            <a:off x="2160797" y="3766184"/>
            <a:ext cx="5472113" cy="2119313"/>
            <a:chOff x="748" y="1006"/>
            <a:chExt cx="3447" cy="1335"/>
          </a:xfrm>
        </p:grpSpPr>
        <p:sp>
          <p:nvSpPr>
            <p:cNvPr id="378902" name="AutoShape 22"/>
            <p:cNvSpPr>
              <a:spLocks noChangeArrowheads="1"/>
            </p:cNvSpPr>
            <p:nvPr/>
          </p:nvSpPr>
          <p:spPr bwMode="auto">
            <a:xfrm>
              <a:off x="2562" y="1006"/>
              <a:ext cx="195" cy="189"/>
            </a:xfrm>
            <a:prstGeom prst="downArrow">
              <a:avLst>
                <a:gd name="adj1" fmla="val 50000"/>
                <a:gd name="adj2" fmla="val 25000"/>
              </a:avLst>
            </a:prstGeom>
            <a:ln>
              <a:headEnd/>
              <a:tailEnd type="none" w="med" len="lg"/>
            </a:ln>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latin typeface="Consolas" pitchFamily="49" charset="0"/>
                <a:cs typeface="Consolas" pitchFamily="49" charset="0"/>
              </a:endParaRPr>
            </a:p>
          </p:txBody>
        </p:sp>
        <p:sp>
          <p:nvSpPr>
            <p:cNvPr id="378903" name="Oval 23"/>
            <p:cNvSpPr>
              <a:spLocks noChangeArrowheads="1"/>
            </p:cNvSpPr>
            <p:nvPr/>
          </p:nvSpPr>
          <p:spPr bwMode="auto">
            <a:xfrm>
              <a:off x="1247" y="1071"/>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A</a:t>
              </a:r>
            </a:p>
          </p:txBody>
        </p:sp>
        <p:sp>
          <p:nvSpPr>
            <p:cNvPr id="378904" name="Oval 24"/>
            <p:cNvSpPr>
              <a:spLocks noChangeArrowheads="1"/>
            </p:cNvSpPr>
            <p:nvPr/>
          </p:nvSpPr>
          <p:spPr bwMode="auto">
            <a:xfrm>
              <a:off x="748" y="1524"/>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B</a:t>
              </a:r>
            </a:p>
          </p:txBody>
        </p:sp>
        <p:sp>
          <p:nvSpPr>
            <p:cNvPr id="378905" name="Oval 25"/>
            <p:cNvSpPr>
              <a:spLocks noChangeArrowheads="1"/>
            </p:cNvSpPr>
            <p:nvPr/>
          </p:nvSpPr>
          <p:spPr bwMode="auto">
            <a:xfrm>
              <a:off x="1156" y="1797"/>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378906" name="Oval 26"/>
            <p:cNvSpPr>
              <a:spLocks noChangeArrowheads="1"/>
            </p:cNvSpPr>
            <p:nvPr/>
          </p:nvSpPr>
          <p:spPr bwMode="auto">
            <a:xfrm>
              <a:off x="1565" y="2069"/>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378907" name="Oval 27"/>
            <p:cNvSpPr>
              <a:spLocks noChangeArrowheads="1"/>
            </p:cNvSpPr>
            <p:nvPr/>
          </p:nvSpPr>
          <p:spPr bwMode="auto">
            <a:xfrm>
              <a:off x="2517" y="1298"/>
              <a:ext cx="272" cy="272"/>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E</a:t>
              </a:r>
            </a:p>
          </p:txBody>
        </p:sp>
        <p:sp>
          <p:nvSpPr>
            <p:cNvPr id="378908" name="Oval 28"/>
            <p:cNvSpPr>
              <a:spLocks noChangeArrowheads="1"/>
            </p:cNvSpPr>
            <p:nvPr/>
          </p:nvSpPr>
          <p:spPr bwMode="auto">
            <a:xfrm>
              <a:off x="2290" y="1751"/>
              <a:ext cx="272" cy="272"/>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378912" name="Freeform 32"/>
            <p:cNvSpPr>
              <a:spLocks/>
            </p:cNvSpPr>
            <p:nvPr/>
          </p:nvSpPr>
          <p:spPr bwMode="auto">
            <a:xfrm>
              <a:off x="956" y="1253"/>
              <a:ext cx="308" cy="292"/>
            </a:xfrm>
            <a:custGeom>
              <a:avLst/>
              <a:gdLst/>
              <a:ahLst/>
              <a:cxnLst>
                <a:cxn ang="0">
                  <a:pos x="308" y="0"/>
                </a:cxn>
                <a:cxn ang="0">
                  <a:pos x="0" y="292"/>
                </a:cxn>
              </a:cxnLst>
              <a:rect l="0" t="0" r="r" b="b"/>
              <a:pathLst>
                <a:path w="308" h="292">
                  <a:moveTo>
                    <a:pt x="308" y="0"/>
                  </a:moveTo>
                  <a:lnTo>
                    <a:pt x="0" y="292"/>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14" name="Freeform 34"/>
            <p:cNvSpPr>
              <a:spLocks/>
            </p:cNvSpPr>
            <p:nvPr/>
          </p:nvSpPr>
          <p:spPr bwMode="auto">
            <a:xfrm>
              <a:off x="1000" y="1729"/>
              <a:ext cx="176" cy="144"/>
            </a:xfrm>
            <a:custGeom>
              <a:avLst/>
              <a:gdLst/>
              <a:ahLst/>
              <a:cxnLst>
                <a:cxn ang="0">
                  <a:pos x="0" y="0"/>
                </a:cxn>
                <a:cxn ang="0">
                  <a:pos x="176" y="144"/>
                </a:cxn>
              </a:cxnLst>
              <a:rect l="0" t="0" r="r" b="b"/>
              <a:pathLst>
                <a:path w="176" h="144">
                  <a:moveTo>
                    <a:pt x="0" y="0"/>
                  </a:moveTo>
                  <a:lnTo>
                    <a:pt x="176" y="144"/>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15" name="Freeform 35"/>
            <p:cNvSpPr>
              <a:spLocks/>
            </p:cNvSpPr>
            <p:nvPr/>
          </p:nvSpPr>
          <p:spPr bwMode="auto">
            <a:xfrm>
              <a:off x="2472" y="1560"/>
              <a:ext cx="120" cy="200"/>
            </a:xfrm>
            <a:custGeom>
              <a:avLst/>
              <a:gdLst/>
              <a:ahLst/>
              <a:cxnLst>
                <a:cxn ang="0">
                  <a:pos x="120" y="0"/>
                </a:cxn>
                <a:cxn ang="0">
                  <a:pos x="0" y="200"/>
                </a:cxn>
              </a:cxnLst>
              <a:rect l="0" t="0" r="r" b="b"/>
              <a:pathLst>
                <a:path w="120" h="200">
                  <a:moveTo>
                    <a:pt x="120" y="0"/>
                  </a:moveTo>
                  <a:lnTo>
                    <a:pt x="0" y="200"/>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20" name="Line 40"/>
            <p:cNvSpPr>
              <a:spLocks noChangeShapeType="1"/>
            </p:cNvSpPr>
            <p:nvPr/>
          </p:nvSpPr>
          <p:spPr bwMode="auto">
            <a:xfrm>
              <a:off x="1403" y="2002"/>
              <a:ext cx="182" cy="137"/>
            </a:xfrm>
            <a:prstGeom prst="line">
              <a:avLst/>
            </a:prstGeom>
            <a:noFill/>
            <a:ln w="28575">
              <a:solidFill>
                <a:schemeClr val="tx1"/>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378931" name="Oval 51"/>
            <p:cNvSpPr>
              <a:spLocks noChangeArrowheads="1"/>
            </p:cNvSpPr>
            <p:nvPr/>
          </p:nvSpPr>
          <p:spPr bwMode="auto">
            <a:xfrm>
              <a:off x="3469" y="1484"/>
              <a:ext cx="272" cy="272"/>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378932" name="Oval 52"/>
            <p:cNvSpPr>
              <a:spLocks noChangeArrowheads="1"/>
            </p:cNvSpPr>
            <p:nvPr/>
          </p:nvSpPr>
          <p:spPr bwMode="auto">
            <a:xfrm>
              <a:off x="3923" y="1757"/>
              <a:ext cx="272" cy="272"/>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I</a:t>
              </a:r>
            </a:p>
          </p:txBody>
        </p:sp>
        <p:sp>
          <p:nvSpPr>
            <p:cNvPr id="378933" name="Freeform 53"/>
            <p:cNvSpPr>
              <a:spLocks/>
            </p:cNvSpPr>
            <p:nvPr/>
          </p:nvSpPr>
          <p:spPr bwMode="auto">
            <a:xfrm>
              <a:off x="3690" y="1284"/>
              <a:ext cx="210" cy="234"/>
            </a:xfrm>
            <a:custGeom>
              <a:avLst/>
              <a:gdLst/>
              <a:ahLst/>
              <a:cxnLst>
                <a:cxn ang="0">
                  <a:pos x="210" y="0"/>
                </a:cxn>
                <a:cxn ang="0">
                  <a:pos x="0" y="234"/>
                </a:cxn>
              </a:cxnLst>
              <a:rect l="0" t="0" r="r" b="b"/>
              <a:pathLst>
                <a:path w="210" h="234">
                  <a:moveTo>
                    <a:pt x="210" y="0"/>
                  </a:moveTo>
                  <a:lnTo>
                    <a:pt x="0" y="234"/>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34" name="Freeform 54"/>
            <p:cNvSpPr>
              <a:spLocks/>
            </p:cNvSpPr>
            <p:nvPr/>
          </p:nvSpPr>
          <p:spPr bwMode="auto">
            <a:xfrm>
              <a:off x="3732" y="1674"/>
              <a:ext cx="198" cy="168"/>
            </a:xfrm>
            <a:custGeom>
              <a:avLst/>
              <a:gdLst/>
              <a:ahLst/>
              <a:cxnLst>
                <a:cxn ang="0">
                  <a:pos x="0" y="0"/>
                </a:cxn>
                <a:cxn ang="0">
                  <a:pos x="198" y="168"/>
                </a:cxn>
              </a:cxnLst>
              <a:rect l="0" t="0" r="r" b="b"/>
              <a:pathLst>
                <a:path w="198" h="168">
                  <a:moveTo>
                    <a:pt x="0" y="0"/>
                  </a:moveTo>
                  <a:lnTo>
                    <a:pt x="198" y="168"/>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35" name="Oval 55"/>
            <p:cNvSpPr>
              <a:spLocks noChangeArrowheads="1"/>
            </p:cNvSpPr>
            <p:nvPr/>
          </p:nvSpPr>
          <p:spPr bwMode="auto">
            <a:xfrm>
              <a:off x="3878" y="1072"/>
              <a:ext cx="272" cy="272"/>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G</a:t>
              </a:r>
            </a:p>
          </p:txBody>
        </p:sp>
      </p:grpSp>
      <p:grpSp>
        <p:nvGrpSpPr>
          <p:cNvPr id="5" name="Group 68"/>
          <p:cNvGrpSpPr>
            <a:grpSpLocks/>
          </p:cNvGrpSpPr>
          <p:nvPr/>
        </p:nvGrpSpPr>
        <p:grpSpPr bwMode="auto">
          <a:xfrm>
            <a:off x="8594934" y="2331048"/>
            <a:ext cx="2881313" cy="2952750"/>
            <a:chOff x="2199" y="2296"/>
            <a:chExt cx="1815" cy="1860"/>
          </a:xfrm>
        </p:grpSpPr>
        <p:sp>
          <p:nvSpPr>
            <p:cNvPr id="378909" name="Oval 29"/>
            <p:cNvSpPr>
              <a:spLocks noChangeArrowheads="1"/>
            </p:cNvSpPr>
            <p:nvPr/>
          </p:nvSpPr>
          <p:spPr bwMode="auto">
            <a:xfrm>
              <a:off x="3651" y="3158"/>
              <a:ext cx="272" cy="272"/>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G</a:t>
              </a:r>
            </a:p>
          </p:txBody>
        </p:sp>
        <p:sp>
          <p:nvSpPr>
            <p:cNvPr id="378910" name="Oval 30"/>
            <p:cNvSpPr>
              <a:spLocks noChangeArrowheads="1"/>
            </p:cNvSpPr>
            <p:nvPr/>
          </p:nvSpPr>
          <p:spPr bwMode="auto">
            <a:xfrm>
              <a:off x="3333" y="3566"/>
              <a:ext cx="272" cy="272"/>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378911" name="Oval 31"/>
            <p:cNvSpPr>
              <a:spLocks noChangeArrowheads="1"/>
            </p:cNvSpPr>
            <p:nvPr/>
          </p:nvSpPr>
          <p:spPr bwMode="auto">
            <a:xfrm>
              <a:off x="3742" y="3884"/>
              <a:ext cx="272" cy="272"/>
            </a:xfrm>
            <a:prstGeom prst="ellipse">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I</a:t>
              </a:r>
            </a:p>
          </p:txBody>
        </p:sp>
        <p:sp>
          <p:nvSpPr>
            <p:cNvPr id="378916" name="Freeform 36"/>
            <p:cNvSpPr>
              <a:spLocks/>
            </p:cNvSpPr>
            <p:nvPr/>
          </p:nvSpPr>
          <p:spPr bwMode="auto">
            <a:xfrm>
              <a:off x="3528" y="3378"/>
              <a:ext cx="150" cy="210"/>
            </a:xfrm>
            <a:custGeom>
              <a:avLst/>
              <a:gdLst/>
              <a:ahLst/>
              <a:cxnLst>
                <a:cxn ang="0">
                  <a:pos x="150" y="0"/>
                </a:cxn>
                <a:cxn ang="0">
                  <a:pos x="0" y="210"/>
                </a:cxn>
              </a:cxnLst>
              <a:rect l="0" t="0" r="r" b="b"/>
              <a:pathLst>
                <a:path w="150" h="210">
                  <a:moveTo>
                    <a:pt x="150" y="0"/>
                  </a:moveTo>
                  <a:lnTo>
                    <a:pt x="0" y="210"/>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17" name="Freeform 37"/>
            <p:cNvSpPr>
              <a:spLocks/>
            </p:cNvSpPr>
            <p:nvPr/>
          </p:nvSpPr>
          <p:spPr bwMode="auto">
            <a:xfrm>
              <a:off x="3600" y="3762"/>
              <a:ext cx="192" cy="150"/>
            </a:xfrm>
            <a:custGeom>
              <a:avLst/>
              <a:gdLst/>
              <a:ahLst/>
              <a:cxnLst>
                <a:cxn ang="0">
                  <a:pos x="0" y="0"/>
                </a:cxn>
                <a:cxn ang="0">
                  <a:pos x="192" y="150"/>
                </a:cxn>
              </a:cxnLst>
              <a:rect l="0" t="0" r="r" b="b"/>
              <a:pathLst>
                <a:path w="192" h="150">
                  <a:moveTo>
                    <a:pt x="0" y="0"/>
                  </a:moveTo>
                  <a:lnTo>
                    <a:pt x="192" y="150"/>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21" name="Oval 41"/>
            <p:cNvSpPr>
              <a:spLocks noChangeArrowheads="1"/>
            </p:cNvSpPr>
            <p:nvPr/>
          </p:nvSpPr>
          <p:spPr bwMode="auto">
            <a:xfrm>
              <a:off x="2699" y="2296"/>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A</a:t>
              </a:r>
            </a:p>
          </p:txBody>
        </p:sp>
        <p:sp>
          <p:nvSpPr>
            <p:cNvPr id="378922" name="Oval 42"/>
            <p:cNvSpPr>
              <a:spLocks noChangeArrowheads="1"/>
            </p:cNvSpPr>
            <p:nvPr/>
          </p:nvSpPr>
          <p:spPr bwMode="auto">
            <a:xfrm>
              <a:off x="2199" y="2749"/>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B</a:t>
              </a:r>
            </a:p>
          </p:txBody>
        </p:sp>
        <p:sp>
          <p:nvSpPr>
            <p:cNvPr id="378923" name="Oval 43"/>
            <p:cNvSpPr>
              <a:spLocks noChangeArrowheads="1"/>
            </p:cNvSpPr>
            <p:nvPr/>
          </p:nvSpPr>
          <p:spPr bwMode="auto">
            <a:xfrm>
              <a:off x="2471" y="3204"/>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378924" name="Oval 44"/>
            <p:cNvSpPr>
              <a:spLocks noChangeArrowheads="1"/>
            </p:cNvSpPr>
            <p:nvPr/>
          </p:nvSpPr>
          <p:spPr bwMode="auto">
            <a:xfrm>
              <a:off x="2789" y="3566"/>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378925" name="Freeform 45"/>
            <p:cNvSpPr>
              <a:spLocks/>
            </p:cNvSpPr>
            <p:nvPr/>
          </p:nvSpPr>
          <p:spPr bwMode="auto">
            <a:xfrm>
              <a:off x="2436" y="2502"/>
              <a:ext cx="288" cy="288"/>
            </a:xfrm>
            <a:custGeom>
              <a:avLst/>
              <a:gdLst/>
              <a:ahLst/>
              <a:cxnLst>
                <a:cxn ang="0">
                  <a:pos x="288" y="0"/>
                </a:cxn>
                <a:cxn ang="0">
                  <a:pos x="0" y="288"/>
                </a:cxn>
              </a:cxnLst>
              <a:rect l="0" t="0" r="r" b="b"/>
              <a:pathLst>
                <a:path w="288" h="288">
                  <a:moveTo>
                    <a:pt x="288" y="0"/>
                  </a:moveTo>
                  <a:lnTo>
                    <a:pt x="0" y="288"/>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26" name="Freeform 46"/>
            <p:cNvSpPr>
              <a:spLocks/>
            </p:cNvSpPr>
            <p:nvPr/>
          </p:nvSpPr>
          <p:spPr bwMode="auto">
            <a:xfrm>
              <a:off x="2412" y="2994"/>
              <a:ext cx="156" cy="210"/>
            </a:xfrm>
            <a:custGeom>
              <a:avLst/>
              <a:gdLst/>
              <a:ahLst/>
              <a:cxnLst>
                <a:cxn ang="0">
                  <a:pos x="0" y="0"/>
                </a:cxn>
                <a:cxn ang="0">
                  <a:pos x="156" y="210"/>
                </a:cxn>
              </a:cxnLst>
              <a:rect l="0" t="0" r="r" b="b"/>
              <a:pathLst>
                <a:path w="156" h="210">
                  <a:moveTo>
                    <a:pt x="0" y="0"/>
                  </a:moveTo>
                  <a:lnTo>
                    <a:pt x="156" y="210"/>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27" name="Freeform 47"/>
            <p:cNvSpPr>
              <a:spLocks/>
            </p:cNvSpPr>
            <p:nvPr/>
          </p:nvSpPr>
          <p:spPr bwMode="auto">
            <a:xfrm>
              <a:off x="2706" y="3426"/>
              <a:ext cx="126" cy="168"/>
            </a:xfrm>
            <a:custGeom>
              <a:avLst/>
              <a:gdLst/>
              <a:ahLst/>
              <a:cxnLst>
                <a:cxn ang="0">
                  <a:pos x="0" y="0"/>
                </a:cxn>
                <a:cxn ang="0">
                  <a:pos x="126" y="168"/>
                </a:cxn>
              </a:cxnLst>
              <a:rect l="0" t="0" r="r" b="b"/>
              <a:pathLst>
                <a:path w="126" h="168">
                  <a:moveTo>
                    <a:pt x="0" y="0"/>
                  </a:moveTo>
                  <a:lnTo>
                    <a:pt x="126" y="168"/>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28" name="Oval 48"/>
            <p:cNvSpPr>
              <a:spLocks noChangeArrowheads="1"/>
            </p:cNvSpPr>
            <p:nvPr/>
          </p:nvSpPr>
          <p:spPr bwMode="auto">
            <a:xfrm>
              <a:off x="3197" y="2750"/>
              <a:ext cx="272" cy="272"/>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E</a:t>
              </a:r>
            </a:p>
          </p:txBody>
        </p:sp>
        <p:sp>
          <p:nvSpPr>
            <p:cNvPr id="378929" name="Oval 49"/>
            <p:cNvSpPr>
              <a:spLocks noChangeArrowheads="1"/>
            </p:cNvSpPr>
            <p:nvPr/>
          </p:nvSpPr>
          <p:spPr bwMode="auto">
            <a:xfrm>
              <a:off x="2970" y="3203"/>
              <a:ext cx="272" cy="272"/>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378930" name="Freeform 50"/>
            <p:cNvSpPr>
              <a:spLocks/>
            </p:cNvSpPr>
            <p:nvPr/>
          </p:nvSpPr>
          <p:spPr bwMode="auto">
            <a:xfrm>
              <a:off x="3152" y="3012"/>
              <a:ext cx="120" cy="200"/>
            </a:xfrm>
            <a:custGeom>
              <a:avLst/>
              <a:gdLst/>
              <a:ahLst/>
              <a:cxnLst>
                <a:cxn ang="0">
                  <a:pos x="120" y="0"/>
                </a:cxn>
                <a:cxn ang="0">
                  <a:pos x="0" y="200"/>
                </a:cxn>
              </a:cxnLst>
              <a:rect l="0" t="0" r="r" b="b"/>
              <a:pathLst>
                <a:path w="120" h="200">
                  <a:moveTo>
                    <a:pt x="120" y="0"/>
                  </a:moveTo>
                  <a:lnTo>
                    <a:pt x="0" y="200"/>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36" name="Freeform 56"/>
            <p:cNvSpPr>
              <a:spLocks/>
            </p:cNvSpPr>
            <p:nvPr/>
          </p:nvSpPr>
          <p:spPr bwMode="auto">
            <a:xfrm>
              <a:off x="2958" y="2496"/>
              <a:ext cx="300" cy="270"/>
            </a:xfrm>
            <a:custGeom>
              <a:avLst/>
              <a:gdLst/>
              <a:ahLst/>
              <a:cxnLst>
                <a:cxn ang="0">
                  <a:pos x="0" y="0"/>
                </a:cxn>
                <a:cxn ang="0">
                  <a:pos x="300" y="270"/>
                </a:cxn>
              </a:cxnLst>
              <a:rect l="0" t="0" r="r" b="b"/>
              <a:pathLst>
                <a:path w="300" h="270">
                  <a:moveTo>
                    <a:pt x="0" y="0"/>
                  </a:moveTo>
                  <a:lnTo>
                    <a:pt x="300" y="270"/>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78937" name="Freeform 57"/>
            <p:cNvSpPr>
              <a:spLocks/>
            </p:cNvSpPr>
            <p:nvPr/>
          </p:nvSpPr>
          <p:spPr bwMode="auto">
            <a:xfrm>
              <a:off x="3444" y="2958"/>
              <a:ext cx="252" cy="245"/>
            </a:xfrm>
            <a:custGeom>
              <a:avLst/>
              <a:gdLst/>
              <a:ahLst/>
              <a:cxnLst>
                <a:cxn ang="0">
                  <a:pos x="0" y="0"/>
                </a:cxn>
                <a:cxn ang="0">
                  <a:pos x="252" y="245"/>
                </a:cxn>
              </a:cxnLst>
              <a:rect l="0" t="0" r="r" b="b"/>
              <a:pathLst>
                <a:path w="252" h="245">
                  <a:moveTo>
                    <a:pt x="0" y="0"/>
                  </a:moveTo>
                  <a:lnTo>
                    <a:pt x="252" y="245"/>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grpSp>
      <p:sp>
        <p:nvSpPr>
          <p:cNvPr id="378949" name="Text Box 69"/>
          <p:cNvSpPr txBox="1">
            <a:spLocks noChangeArrowheads="1"/>
          </p:cNvSpPr>
          <p:nvPr/>
        </p:nvSpPr>
        <p:spPr bwMode="auto">
          <a:xfrm>
            <a:off x="1373287" y="2075388"/>
            <a:ext cx="492443" cy="4449775"/>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vert="eaVert" wrap="square">
            <a:spAutoFit/>
          </a:bodyPr>
          <a:lstStyle/>
          <a:p>
            <a:pPr marL="457200" indent="-457200">
              <a:spcBef>
                <a:spcPct val="50000"/>
              </a:spcBef>
              <a:buBlip>
                <a:blip r:embed="rId2"/>
              </a:buBlip>
            </a:pPr>
            <a:r>
              <a:rPr lang="zh-CN" altLang="en-US" sz="2000" dirty="0">
                <a:solidFill>
                  <a:srgbClr val="3333FF"/>
                </a:solidFill>
                <a:latin typeface="Consolas" pitchFamily="49" charset="0"/>
                <a:ea typeface="华文中宋" pitchFamily="2" charset="-122"/>
                <a:cs typeface="Consolas" pitchFamily="49" charset="0"/>
              </a:rPr>
              <a:t>多颗</a:t>
            </a:r>
            <a:r>
              <a:rPr kumimoji="1" lang="zh-CN" altLang="en-US" sz="2000" dirty="0">
                <a:solidFill>
                  <a:srgbClr val="3333FF"/>
                </a:solidFill>
                <a:latin typeface="Consolas" pitchFamily="49" charset="0"/>
                <a:ea typeface="华文中宋" pitchFamily="2" charset="-122"/>
                <a:cs typeface="Consolas" pitchFamily="49" charset="0"/>
              </a:rPr>
              <a:t>树转换为</a:t>
            </a:r>
            <a:r>
              <a:rPr lang="zh-CN" altLang="en-US" sz="2000" dirty="0">
                <a:solidFill>
                  <a:srgbClr val="3333FF"/>
                </a:solidFill>
                <a:latin typeface="Consolas" pitchFamily="49" charset="0"/>
                <a:ea typeface="华文中宋" pitchFamily="2" charset="-122"/>
                <a:cs typeface="Consolas" pitchFamily="49" charset="0"/>
              </a:rPr>
              <a:t>一颗</a:t>
            </a:r>
            <a:r>
              <a:rPr kumimoji="1" lang="zh-CN" altLang="en-US" sz="2000" dirty="0">
                <a:solidFill>
                  <a:srgbClr val="3333FF"/>
                </a:solidFill>
                <a:latin typeface="Consolas" pitchFamily="49" charset="0"/>
                <a:ea typeface="华文中宋" pitchFamily="2" charset="-122"/>
                <a:cs typeface="Consolas" pitchFamily="49" charset="0"/>
              </a:rPr>
              <a:t>二叉树</a:t>
            </a:r>
          </a:p>
        </p:txBody>
      </p:sp>
      <p:grpSp>
        <p:nvGrpSpPr>
          <p:cNvPr id="7" name="组合 71"/>
          <p:cNvGrpSpPr/>
          <p:nvPr/>
        </p:nvGrpSpPr>
        <p:grpSpPr>
          <a:xfrm>
            <a:off x="7943106" y="4957926"/>
            <a:ext cx="1928826" cy="757300"/>
            <a:chOff x="3000365" y="5572140"/>
            <a:chExt cx="1928826" cy="757300"/>
          </a:xfrm>
        </p:grpSpPr>
        <p:sp>
          <p:nvSpPr>
            <p:cNvPr id="378951" name="Text Box 71"/>
            <p:cNvSpPr txBox="1">
              <a:spLocks noChangeArrowheads="1"/>
            </p:cNvSpPr>
            <p:nvPr/>
          </p:nvSpPr>
          <p:spPr bwMode="auto">
            <a:xfrm>
              <a:off x="3000365" y="5929330"/>
              <a:ext cx="1928826" cy="400110"/>
            </a:xfrm>
            <a:prstGeom prst="rect">
              <a:avLst/>
            </a:prstGeom>
            <a:noFill/>
            <a:ln w="28575" algn="ctr">
              <a:noFill/>
              <a:miter lim="800000"/>
              <a:headEnd/>
              <a:tailEnd type="none" w="med" len="lg"/>
            </a:ln>
            <a:effectLst/>
          </p:spPr>
          <p:txBody>
            <a:bodyPr wrap="square">
              <a:spAutoFit/>
            </a:bodyPr>
            <a:lstStyle/>
            <a:p>
              <a:pPr algn="l">
                <a:spcBef>
                  <a:spcPct val="50000"/>
                </a:spcBef>
              </a:pPr>
              <a:r>
                <a:rPr lang="zh-CN" altLang="en-US" sz="2000" dirty="0">
                  <a:latin typeface="仿宋" pitchFamily="49" charset="-122"/>
                  <a:ea typeface="仿宋" pitchFamily="49" charset="-122"/>
                  <a:cs typeface="Consolas" pitchFamily="49" charset="0"/>
                </a:rPr>
                <a:t>对应的二叉树</a:t>
              </a:r>
            </a:p>
          </p:txBody>
        </p:sp>
        <p:sp>
          <p:nvSpPr>
            <p:cNvPr id="71" name="右箭头 70"/>
            <p:cNvSpPr/>
            <p:nvPr/>
          </p:nvSpPr>
          <p:spPr>
            <a:xfrm rot="19091015">
              <a:off x="4071934" y="5572140"/>
              <a:ext cx="571504" cy="214314"/>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600"/>
            </a:p>
          </p:txBody>
        </p:sp>
      </p:grpSp>
      <p:sp>
        <p:nvSpPr>
          <p:cNvPr id="9" name="矩形 8">
            <a:extLst>
              <a:ext uri="{FF2B5EF4-FFF2-40B4-BE49-F238E27FC236}">
                <a16:creationId xmlns:a16="http://schemas.microsoft.com/office/drawing/2014/main" xmlns="" id="{BBA4D541-53B1-3094-C8C9-551324AF4A7D}"/>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10" name="Rectangle 2">
            <a:extLst>
              <a:ext uri="{FF2B5EF4-FFF2-40B4-BE49-F238E27FC236}">
                <a16:creationId xmlns:a16="http://schemas.microsoft.com/office/drawing/2014/main" xmlns="" id="{B669D955-2C00-3FD5-6AFD-A9E5D8CEAB6B}"/>
              </a:ext>
            </a:extLst>
          </p:cNvPr>
          <p:cNvSpPr txBox="1">
            <a:spLocks noChangeArrowheads="1"/>
          </p:cNvSpPr>
          <p:nvPr/>
        </p:nvSpPr>
        <p:spPr>
          <a:xfrm>
            <a:off x="79920" y="836712"/>
            <a:ext cx="60160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7.2.3 </a:t>
            </a:r>
            <a:r>
              <a:rPr lang="zh-CN" altLang="en-US" dirty="0"/>
              <a:t>二叉树与树、森林之间的转换</a:t>
            </a:r>
          </a:p>
        </p:txBody>
      </p:sp>
      <p:cxnSp>
        <p:nvCxnSpPr>
          <p:cNvPr id="11" name="直接连接符 10">
            <a:extLst>
              <a:ext uri="{FF2B5EF4-FFF2-40B4-BE49-F238E27FC236}">
                <a16:creationId xmlns:a16="http://schemas.microsoft.com/office/drawing/2014/main" xmlns="" id="{51C512BB-8377-EB2D-4A86-255E1E3F99D0}"/>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xmlns="" id="{562A718A-CE05-E7FA-EE2D-C1DF2447AC38}"/>
              </a:ext>
            </a:extLst>
          </p:cNvPr>
          <p:cNvSpPr txBox="1"/>
          <p:nvPr/>
        </p:nvSpPr>
        <p:spPr>
          <a:xfrm>
            <a:off x="1028855" y="1522941"/>
            <a:ext cx="3626985" cy="400110"/>
          </a:xfrm>
          <a:prstGeom prst="rect">
            <a:avLst/>
          </a:prstGeom>
          <a:noFill/>
        </p:spPr>
        <p:txBody>
          <a:bodyPr wrap="square">
            <a:spAutoFit/>
          </a:bodyPr>
          <a:lstStyle/>
          <a:p>
            <a:pPr>
              <a:spcBef>
                <a:spcPct val="50000"/>
              </a:spcBef>
            </a:pP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a:t>
            </a:r>
            <a:r>
              <a:rPr kumimoji="1" lang="zh-CN" altLang="en-US" sz="2000" dirty="0">
                <a:solidFill>
                  <a:schemeClr val="tx1"/>
                </a:solidFill>
                <a:latin typeface="微软雅黑" pitchFamily="34" charset="-122"/>
                <a:ea typeface="微软雅黑" pitchFamily="34" charset="-122"/>
                <a:cs typeface="经典粗黑简" pitchFamily="49" charset="-122"/>
              </a:rPr>
              <a:t>森林、树转换为二叉树</a:t>
            </a:r>
          </a:p>
        </p:txBody>
      </p:sp>
      <p:sp>
        <p:nvSpPr>
          <p:cNvPr id="6" name="Freeform 19">
            <a:extLst>
              <a:ext uri="{FF2B5EF4-FFF2-40B4-BE49-F238E27FC236}">
                <a16:creationId xmlns:a16="http://schemas.microsoft.com/office/drawing/2014/main" xmlns="" id="{C51AF13D-0FD5-6FC8-1269-D185229A89FA}"/>
              </a:ext>
            </a:extLst>
          </p:cNvPr>
          <p:cNvSpPr>
            <a:spLocks/>
          </p:cNvSpPr>
          <p:nvPr/>
        </p:nvSpPr>
        <p:spPr bwMode="auto">
          <a:xfrm>
            <a:off x="3176213" y="2743651"/>
            <a:ext cx="1587" cy="342900"/>
          </a:xfrm>
          <a:custGeom>
            <a:avLst/>
            <a:gdLst/>
            <a:ahLst/>
            <a:cxnLst>
              <a:cxn ang="0">
                <a:pos x="0" y="0"/>
              </a:cxn>
              <a:cxn ang="0">
                <a:pos x="0" y="216"/>
              </a:cxn>
            </a:cxnLst>
            <a:rect l="0" t="0" r="r" b="b"/>
            <a:pathLst>
              <a:path w="1" h="216">
                <a:moveTo>
                  <a:pt x="0" y="0"/>
                </a:moveTo>
                <a:lnTo>
                  <a:pt x="0" y="216"/>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8" name="Freeform 19">
            <a:extLst>
              <a:ext uri="{FF2B5EF4-FFF2-40B4-BE49-F238E27FC236}">
                <a16:creationId xmlns:a16="http://schemas.microsoft.com/office/drawing/2014/main" xmlns="" id="{CC4923AB-1AD0-8AD5-253F-0C2E881CAA93}"/>
              </a:ext>
            </a:extLst>
          </p:cNvPr>
          <p:cNvSpPr>
            <a:spLocks/>
          </p:cNvSpPr>
          <p:nvPr/>
        </p:nvSpPr>
        <p:spPr bwMode="auto">
          <a:xfrm rot="18985562" flipH="1">
            <a:off x="3465958" y="2628003"/>
            <a:ext cx="171601" cy="672416"/>
          </a:xfrm>
          <a:custGeom>
            <a:avLst/>
            <a:gdLst/>
            <a:ahLst/>
            <a:cxnLst>
              <a:cxn ang="0">
                <a:pos x="0" y="0"/>
              </a:cxn>
              <a:cxn ang="0">
                <a:pos x="0" y="216"/>
              </a:cxn>
            </a:cxnLst>
            <a:rect l="0" t="0" r="r" b="b"/>
            <a:pathLst>
              <a:path w="1" h="216">
                <a:moveTo>
                  <a:pt x="0" y="0"/>
                </a:moveTo>
                <a:lnTo>
                  <a:pt x="0" y="216"/>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13" name="Freeform 19">
            <a:extLst>
              <a:ext uri="{FF2B5EF4-FFF2-40B4-BE49-F238E27FC236}">
                <a16:creationId xmlns:a16="http://schemas.microsoft.com/office/drawing/2014/main" xmlns="" id="{FFFFE7D9-8AF8-EFF5-308C-30AA464721F9}"/>
              </a:ext>
            </a:extLst>
          </p:cNvPr>
          <p:cNvSpPr>
            <a:spLocks/>
          </p:cNvSpPr>
          <p:nvPr/>
        </p:nvSpPr>
        <p:spPr bwMode="auto">
          <a:xfrm rot="18985562" flipH="1">
            <a:off x="7320598" y="2696424"/>
            <a:ext cx="173769" cy="549742"/>
          </a:xfrm>
          <a:custGeom>
            <a:avLst/>
            <a:gdLst/>
            <a:ahLst/>
            <a:cxnLst>
              <a:cxn ang="0">
                <a:pos x="0" y="0"/>
              </a:cxn>
              <a:cxn ang="0">
                <a:pos x="0" y="216"/>
              </a:cxn>
            </a:cxnLst>
            <a:rect l="0" t="0" r="r" b="b"/>
            <a:pathLst>
              <a:path w="1" h="216">
                <a:moveTo>
                  <a:pt x="0" y="0"/>
                </a:moveTo>
                <a:lnTo>
                  <a:pt x="0" y="216"/>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ChangeArrowheads="1"/>
          </p:cNvSpPr>
          <p:nvPr/>
        </p:nvSpPr>
        <p:spPr bwMode="auto">
          <a:xfrm>
            <a:off x="4397350" y="3690938"/>
            <a:ext cx="9144000" cy="369332"/>
          </a:xfrm>
          <a:prstGeom prst="rect">
            <a:avLst/>
          </a:prstGeom>
          <a:noFill/>
          <a:ln w="9525">
            <a:noFill/>
            <a:miter lim="800000"/>
            <a:headEnd/>
            <a:tailEnd/>
          </a:ln>
          <a:effectLst/>
        </p:spPr>
        <p:txBody>
          <a:bodyPr>
            <a:spAutoFit/>
          </a:bodyPr>
          <a:lstStyle/>
          <a:p>
            <a:endParaRPr lang="zh-CN" altLang="en-US"/>
          </a:p>
        </p:txBody>
      </p:sp>
      <p:sp>
        <p:nvSpPr>
          <p:cNvPr id="303107" name="Oval 3"/>
          <p:cNvSpPr>
            <a:spLocks noChangeArrowheads="1"/>
          </p:cNvSpPr>
          <p:nvPr/>
        </p:nvSpPr>
        <p:spPr bwMode="auto">
          <a:xfrm>
            <a:off x="4592853" y="252513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A</a:t>
            </a:r>
          </a:p>
        </p:txBody>
      </p:sp>
      <p:sp>
        <p:nvSpPr>
          <p:cNvPr id="303108" name="Oval 4"/>
          <p:cNvSpPr>
            <a:spLocks noChangeArrowheads="1"/>
          </p:cNvSpPr>
          <p:nvPr/>
        </p:nvSpPr>
        <p:spPr bwMode="auto">
          <a:xfrm>
            <a:off x="3919753" y="311568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B</a:t>
            </a:r>
          </a:p>
        </p:txBody>
      </p:sp>
      <p:sp>
        <p:nvSpPr>
          <p:cNvPr id="303110" name="Freeform 6"/>
          <p:cNvSpPr>
            <a:spLocks/>
          </p:cNvSpPr>
          <p:nvPr/>
        </p:nvSpPr>
        <p:spPr bwMode="auto">
          <a:xfrm>
            <a:off x="4267416" y="2860101"/>
            <a:ext cx="349250" cy="315912"/>
          </a:xfrm>
          <a:custGeom>
            <a:avLst/>
            <a:gdLst/>
            <a:ahLst/>
            <a:cxnLst>
              <a:cxn ang="0">
                <a:pos x="220" y="0"/>
              </a:cxn>
              <a:cxn ang="0">
                <a:pos x="0" y="199"/>
              </a:cxn>
            </a:cxnLst>
            <a:rect l="0" t="0" r="r" b="b"/>
            <a:pathLst>
              <a:path w="220" h="199">
                <a:moveTo>
                  <a:pt x="220" y="0"/>
                </a:moveTo>
                <a:lnTo>
                  <a:pt x="0" y="199"/>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03113" name="Oval 9"/>
          <p:cNvSpPr>
            <a:spLocks noChangeArrowheads="1"/>
          </p:cNvSpPr>
          <p:nvPr/>
        </p:nvSpPr>
        <p:spPr bwMode="auto">
          <a:xfrm>
            <a:off x="2735478" y="4528563"/>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E</a:t>
            </a:r>
          </a:p>
        </p:txBody>
      </p:sp>
      <p:sp>
        <p:nvSpPr>
          <p:cNvPr id="303114" name="Oval 10"/>
          <p:cNvSpPr>
            <a:spLocks noChangeArrowheads="1"/>
          </p:cNvSpPr>
          <p:nvPr/>
        </p:nvSpPr>
        <p:spPr bwMode="auto">
          <a:xfrm>
            <a:off x="3600666" y="4528563"/>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303115" name="Oval 11"/>
          <p:cNvSpPr>
            <a:spLocks noChangeArrowheads="1"/>
          </p:cNvSpPr>
          <p:nvPr/>
        </p:nvSpPr>
        <p:spPr bwMode="auto">
          <a:xfrm>
            <a:off x="3167278" y="3879276"/>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303116" name="Freeform 12"/>
          <p:cNvSpPr>
            <a:spLocks/>
          </p:cNvSpPr>
          <p:nvPr/>
        </p:nvSpPr>
        <p:spPr bwMode="auto">
          <a:xfrm>
            <a:off x="3457791" y="3449063"/>
            <a:ext cx="488950" cy="463550"/>
          </a:xfrm>
          <a:custGeom>
            <a:avLst/>
            <a:gdLst/>
            <a:ahLst/>
            <a:cxnLst>
              <a:cxn ang="0">
                <a:pos x="308" y="0"/>
              </a:cxn>
              <a:cxn ang="0">
                <a:pos x="0" y="292"/>
              </a:cxn>
            </a:cxnLst>
            <a:rect l="0" t="0" r="r" b="b"/>
            <a:pathLst>
              <a:path w="308" h="292">
                <a:moveTo>
                  <a:pt x="308" y="0"/>
                </a:moveTo>
                <a:lnTo>
                  <a:pt x="0" y="292"/>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03121" name="Line 17"/>
          <p:cNvSpPr>
            <a:spLocks noChangeShapeType="1"/>
          </p:cNvSpPr>
          <p:nvPr/>
        </p:nvSpPr>
        <p:spPr bwMode="auto">
          <a:xfrm flipH="1">
            <a:off x="3032342" y="4258689"/>
            <a:ext cx="217487" cy="288925"/>
          </a:xfrm>
          <a:prstGeom prst="line">
            <a:avLst/>
          </a:prstGeom>
          <a:noFill/>
          <a:ln w="28575">
            <a:solidFill>
              <a:srgbClr val="FF0000"/>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303123" name="Oval 19"/>
          <p:cNvSpPr>
            <a:spLocks noChangeArrowheads="1"/>
          </p:cNvSpPr>
          <p:nvPr/>
        </p:nvSpPr>
        <p:spPr bwMode="auto">
          <a:xfrm>
            <a:off x="4246778" y="4528563"/>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G</a:t>
            </a:r>
          </a:p>
        </p:txBody>
      </p:sp>
      <p:sp>
        <p:nvSpPr>
          <p:cNvPr id="303124" name="Oval 20"/>
          <p:cNvSpPr>
            <a:spLocks noChangeArrowheads="1"/>
          </p:cNvSpPr>
          <p:nvPr/>
        </p:nvSpPr>
        <p:spPr bwMode="auto">
          <a:xfrm>
            <a:off x="5111966" y="4528563"/>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303125" name="Oval 21"/>
          <p:cNvSpPr>
            <a:spLocks noChangeArrowheads="1"/>
          </p:cNvSpPr>
          <p:nvPr/>
        </p:nvSpPr>
        <p:spPr bwMode="auto">
          <a:xfrm>
            <a:off x="4678578" y="3879276"/>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303126" name="Line 22"/>
          <p:cNvSpPr>
            <a:spLocks noChangeShapeType="1"/>
          </p:cNvSpPr>
          <p:nvPr/>
        </p:nvSpPr>
        <p:spPr bwMode="auto">
          <a:xfrm flipH="1">
            <a:off x="4543642" y="4258689"/>
            <a:ext cx="217487" cy="288925"/>
          </a:xfrm>
          <a:prstGeom prst="line">
            <a:avLst/>
          </a:prstGeom>
          <a:noFill/>
          <a:ln w="28575">
            <a:solidFill>
              <a:srgbClr val="FF0000"/>
            </a:solidFill>
            <a:round/>
            <a:headEnd/>
            <a:tailEnd type="none" w="med" len="lg"/>
          </a:ln>
          <a:effectLst/>
        </p:spPr>
        <p:txBody>
          <a:bodyPr wrap="none"/>
          <a:lstStyle/>
          <a:p>
            <a:endParaRPr lang="zh-CN" altLang="en-US">
              <a:latin typeface="Consolas" pitchFamily="49" charset="0"/>
              <a:cs typeface="Consolas" pitchFamily="49" charset="0"/>
            </a:endParaRPr>
          </a:p>
        </p:txBody>
      </p:sp>
      <p:grpSp>
        <p:nvGrpSpPr>
          <p:cNvPr id="2" name="Group 47"/>
          <p:cNvGrpSpPr>
            <a:grpSpLocks/>
          </p:cNvGrpSpPr>
          <p:nvPr/>
        </p:nvGrpSpPr>
        <p:grpSpPr bwMode="auto">
          <a:xfrm>
            <a:off x="3535578" y="3430013"/>
            <a:ext cx="1739900" cy="1119188"/>
            <a:chOff x="753" y="1097"/>
            <a:chExt cx="1096" cy="705"/>
          </a:xfrm>
        </p:grpSpPr>
        <p:sp>
          <p:nvSpPr>
            <p:cNvPr id="303118" name="Freeform 14"/>
            <p:cNvSpPr>
              <a:spLocks/>
            </p:cNvSpPr>
            <p:nvPr/>
          </p:nvSpPr>
          <p:spPr bwMode="auto">
            <a:xfrm>
              <a:off x="1254" y="1097"/>
              <a:ext cx="326" cy="288"/>
            </a:xfrm>
            <a:custGeom>
              <a:avLst/>
              <a:gdLst/>
              <a:ahLst/>
              <a:cxnLst>
                <a:cxn ang="0">
                  <a:pos x="0" y="0"/>
                </a:cxn>
                <a:cxn ang="0">
                  <a:pos x="326" y="288"/>
                </a:cxn>
              </a:cxnLst>
              <a:rect l="0" t="0" r="r" b="b"/>
              <a:pathLst>
                <a:path w="326" h="288">
                  <a:moveTo>
                    <a:pt x="0" y="0"/>
                  </a:moveTo>
                  <a:lnTo>
                    <a:pt x="326" y="288"/>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03122" name="Freeform 18"/>
            <p:cNvSpPr>
              <a:spLocks/>
            </p:cNvSpPr>
            <p:nvPr/>
          </p:nvSpPr>
          <p:spPr bwMode="auto">
            <a:xfrm>
              <a:off x="753" y="1616"/>
              <a:ext cx="144" cy="186"/>
            </a:xfrm>
            <a:custGeom>
              <a:avLst/>
              <a:gdLst/>
              <a:ahLst/>
              <a:cxnLst>
                <a:cxn ang="0">
                  <a:pos x="0" y="0"/>
                </a:cxn>
                <a:cxn ang="0">
                  <a:pos x="144" y="186"/>
                </a:cxn>
              </a:cxnLst>
              <a:rect l="0" t="0" r="r" b="b"/>
              <a:pathLst>
                <a:path w="144" h="186">
                  <a:moveTo>
                    <a:pt x="0" y="0"/>
                  </a:moveTo>
                  <a:lnTo>
                    <a:pt x="144" y="186"/>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03127" name="Freeform 23"/>
            <p:cNvSpPr>
              <a:spLocks/>
            </p:cNvSpPr>
            <p:nvPr/>
          </p:nvSpPr>
          <p:spPr bwMode="auto">
            <a:xfrm>
              <a:off x="1705" y="1616"/>
              <a:ext cx="144" cy="186"/>
            </a:xfrm>
            <a:custGeom>
              <a:avLst/>
              <a:gdLst/>
              <a:ahLst/>
              <a:cxnLst>
                <a:cxn ang="0">
                  <a:pos x="0" y="0"/>
                </a:cxn>
                <a:cxn ang="0">
                  <a:pos x="144" y="186"/>
                </a:cxn>
              </a:cxnLst>
              <a:rect l="0" t="0" r="r" b="b"/>
              <a:pathLst>
                <a:path w="144" h="186">
                  <a:moveTo>
                    <a:pt x="0" y="0"/>
                  </a:moveTo>
                  <a:lnTo>
                    <a:pt x="144" y="186"/>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grpSp>
      <p:sp>
        <p:nvSpPr>
          <p:cNvPr id="303131" name="AutoShape 27"/>
          <p:cNvSpPr>
            <a:spLocks noChangeArrowheads="1"/>
          </p:cNvSpPr>
          <p:nvPr/>
        </p:nvSpPr>
        <p:spPr bwMode="auto">
          <a:xfrm>
            <a:off x="6191466" y="3604638"/>
            <a:ext cx="647700" cy="360000"/>
          </a:xfrm>
          <a:prstGeom prst="rightArrow">
            <a:avLst>
              <a:gd name="adj1" fmla="val 50000"/>
              <a:gd name="adj2" fmla="val 37363"/>
            </a:avLst>
          </a:prstGeom>
          <a:ln>
            <a:headEnd/>
            <a:tailEnd type="none" w="med" len="lg"/>
          </a:ln>
        </p:spPr>
        <p:style>
          <a:lnRef idx="1">
            <a:schemeClr val="accent4"/>
          </a:lnRef>
          <a:fillRef idx="3">
            <a:schemeClr val="accent4"/>
          </a:fillRef>
          <a:effectRef idx="2">
            <a:schemeClr val="accent4"/>
          </a:effectRef>
          <a:fontRef idx="minor">
            <a:schemeClr val="lt1"/>
          </a:fontRef>
        </p:style>
        <p:txBody>
          <a:bodyPr wrap="none" anchor="ctr"/>
          <a:lstStyle/>
          <a:p>
            <a:endParaRPr lang="zh-CN" altLang="en-US">
              <a:latin typeface="Consolas" pitchFamily="49" charset="0"/>
              <a:cs typeface="Consolas" pitchFamily="49" charset="0"/>
            </a:endParaRPr>
          </a:p>
        </p:txBody>
      </p:sp>
      <p:grpSp>
        <p:nvGrpSpPr>
          <p:cNvPr id="4" name="Group 52"/>
          <p:cNvGrpSpPr>
            <a:grpSpLocks/>
          </p:cNvGrpSpPr>
          <p:nvPr/>
        </p:nvGrpSpPr>
        <p:grpSpPr bwMode="auto">
          <a:xfrm>
            <a:off x="7132853" y="2525139"/>
            <a:ext cx="2947988" cy="2506663"/>
            <a:chOff x="3210" y="1208"/>
            <a:chExt cx="1857" cy="1579"/>
          </a:xfrm>
        </p:grpSpPr>
        <p:sp>
          <p:nvSpPr>
            <p:cNvPr id="303146" name="Freeform 42"/>
            <p:cNvSpPr>
              <a:spLocks/>
            </p:cNvSpPr>
            <p:nvPr/>
          </p:nvSpPr>
          <p:spPr bwMode="auto">
            <a:xfrm>
              <a:off x="4385" y="1392"/>
              <a:ext cx="456" cy="252"/>
            </a:xfrm>
            <a:custGeom>
              <a:avLst/>
              <a:gdLst/>
              <a:ahLst/>
              <a:cxnLst>
                <a:cxn ang="0">
                  <a:pos x="0" y="0"/>
                </a:cxn>
                <a:cxn ang="0">
                  <a:pos x="30" y="0"/>
                </a:cxn>
                <a:cxn ang="0">
                  <a:pos x="456" y="252"/>
                </a:cxn>
              </a:cxnLst>
              <a:rect l="0" t="0" r="r" b="b"/>
              <a:pathLst>
                <a:path w="456" h="252">
                  <a:moveTo>
                    <a:pt x="0" y="0"/>
                  </a:moveTo>
                  <a:lnTo>
                    <a:pt x="30" y="0"/>
                  </a:lnTo>
                  <a:lnTo>
                    <a:pt x="456" y="252"/>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03132" name="Oval 28"/>
            <p:cNvSpPr>
              <a:spLocks noChangeArrowheads="1"/>
            </p:cNvSpPr>
            <p:nvPr/>
          </p:nvSpPr>
          <p:spPr bwMode="auto">
            <a:xfrm>
              <a:off x="4138" y="1208"/>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A</a:t>
              </a:r>
            </a:p>
          </p:txBody>
        </p:sp>
        <p:sp>
          <p:nvSpPr>
            <p:cNvPr id="303133" name="Oval 29"/>
            <p:cNvSpPr>
              <a:spLocks noChangeArrowheads="1"/>
            </p:cNvSpPr>
            <p:nvPr/>
          </p:nvSpPr>
          <p:spPr bwMode="auto">
            <a:xfrm>
              <a:off x="3685" y="1625"/>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B</a:t>
              </a:r>
            </a:p>
          </p:txBody>
        </p:sp>
        <p:sp>
          <p:nvSpPr>
            <p:cNvPr id="303134" name="Freeform 30"/>
            <p:cNvSpPr>
              <a:spLocks/>
            </p:cNvSpPr>
            <p:nvPr/>
          </p:nvSpPr>
          <p:spPr bwMode="auto">
            <a:xfrm>
              <a:off x="3903" y="1410"/>
              <a:ext cx="254" cy="241"/>
            </a:xfrm>
            <a:custGeom>
              <a:avLst/>
              <a:gdLst/>
              <a:ahLst/>
              <a:cxnLst>
                <a:cxn ang="0">
                  <a:pos x="254" y="0"/>
                </a:cxn>
                <a:cxn ang="0">
                  <a:pos x="0" y="241"/>
                </a:cxn>
              </a:cxnLst>
              <a:rect l="0" t="0" r="r" b="b"/>
              <a:pathLst>
                <a:path w="254" h="241">
                  <a:moveTo>
                    <a:pt x="254" y="0"/>
                  </a:moveTo>
                  <a:lnTo>
                    <a:pt x="0" y="241"/>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03135" name="Oval 31"/>
            <p:cNvSpPr>
              <a:spLocks noChangeArrowheads="1"/>
            </p:cNvSpPr>
            <p:nvPr/>
          </p:nvSpPr>
          <p:spPr bwMode="auto">
            <a:xfrm>
              <a:off x="3210" y="2515"/>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E</a:t>
              </a:r>
            </a:p>
          </p:txBody>
        </p:sp>
        <p:sp>
          <p:nvSpPr>
            <p:cNvPr id="303136" name="Oval 32"/>
            <p:cNvSpPr>
              <a:spLocks noChangeArrowheads="1"/>
            </p:cNvSpPr>
            <p:nvPr/>
          </p:nvSpPr>
          <p:spPr bwMode="auto">
            <a:xfrm>
              <a:off x="3913" y="2115"/>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303137" name="Oval 33"/>
            <p:cNvSpPr>
              <a:spLocks noChangeArrowheads="1"/>
            </p:cNvSpPr>
            <p:nvPr/>
          </p:nvSpPr>
          <p:spPr bwMode="auto">
            <a:xfrm>
              <a:off x="3434" y="2106"/>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303138" name="Freeform 34"/>
            <p:cNvSpPr>
              <a:spLocks/>
            </p:cNvSpPr>
            <p:nvPr/>
          </p:nvSpPr>
          <p:spPr bwMode="auto">
            <a:xfrm>
              <a:off x="3605" y="1866"/>
              <a:ext cx="138" cy="252"/>
            </a:xfrm>
            <a:custGeom>
              <a:avLst/>
              <a:gdLst/>
              <a:ahLst/>
              <a:cxnLst>
                <a:cxn ang="0">
                  <a:pos x="138" y="0"/>
                </a:cxn>
                <a:cxn ang="0">
                  <a:pos x="0" y="252"/>
                </a:cxn>
              </a:cxnLst>
              <a:rect l="0" t="0" r="r" b="b"/>
              <a:pathLst>
                <a:path w="138" h="252">
                  <a:moveTo>
                    <a:pt x="138" y="0"/>
                  </a:moveTo>
                  <a:lnTo>
                    <a:pt x="0" y="252"/>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03139" name="Freeform 35"/>
            <p:cNvSpPr>
              <a:spLocks/>
            </p:cNvSpPr>
            <p:nvPr/>
          </p:nvSpPr>
          <p:spPr bwMode="auto">
            <a:xfrm>
              <a:off x="4481" y="1884"/>
              <a:ext cx="1" cy="240"/>
            </a:xfrm>
            <a:custGeom>
              <a:avLst/>
              <a:gdLst/>
              <a:ahLst/>
              <a:cxnLst>
                <a:cxn ang="0">
                  <a:pos x="0" y="0"/>
                </a:cxn>
                <a:cxn ang="0">
                  <a:pos x="0" y="240"/>
                </a:cxn>
              </a:cxnLst>
              <a:rect l="0" t="0" r="r" b="b"/>
              <a:pathLst>
                <a:path w="1" h="240">
                  <a:moveTo>
                    <a:pt x="0" y="0"/>
                  </a:moveTo>
                  <a:lnTo>
                    <a:pt x="0" y="240"/>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03140" name="Freeform 36"/>
            <p:cNvSpPr>
              <a:spLocks/>
            </p:cNvSpPr>
            <p:nvPr/>
          </p:nvSpPr>
          <p:spPr bwMode="auto">
            <a:xfrm>
              <a:off x="3377" y="2346"/>
              <a:ext cx="114" cy="174"/>
            </a:xfrm>
            <a:custGeom>
              <a:avLst/>
              <a:gdLst/>
              <a:ahLst/>
              <a:cxnLst>
                <a:cxn ang="0">
                  <a:pos x="114" y="0"/>
                </a:cxn>
                <a:cxn ang="0">
                  <a:pos x="0" y="174"/>
                </a:cxn>
              </a:cxnLst>
              <a:rect l="0" t="0" r="r" b="b"/>
              <a:pathLst>
                <a:path w="114" h="174">
                  <a:moveTo>
                    <a:pt x="114" y="0"/>
                  </a:moveTo>
                  <a:lnTo>
                    <a:pt x="0" y="174"/>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03141" name="Freeform 37"/>
            <p:cNvSpPr>
              <a:spLocks/>
            </p:cNvSpPr>
            <p:nvPr/>
          </p:nvSpPr>
          <p:spPr bwMode="auto">
            <a:xfrm>
              <a:off x="4331" y="1464"/>
              <a:ext cx="108" cy="156"/>
            </a:xfrm>
            <a:custGeom>
              <a:avLst/>
              <a:gdLst/>
              <a:ahLst/>
              <a:cxnLst>
                <a:cxn ang="0">
                  <a:pos x="0" y="0"/>
                </a:cxn>
                <a:cxn ang="0">
                  <a:pos x="108" y="156"/>
                </a:cxn>
              </a:cxnLst>
              <a:rect l="0" t="0" r="r" b="b"/>
              <a:pathLst>
                <a:path w="108" h="156">
                  <a:moveTo>
                    <a:pt x="0" y="0"/>
                  </a:moveTo>
                  <a:lnTo>
                    <a:pt x="108" y="156"/>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03142" name="Oval 38"/>
            <p:cNvSpPr>
              <a:spLocks noChangeArrowheads="1"/>
            </p:cNvSpPr>
            <p:nvPr/>
          </p:nvSpPr>
          <p:spPr bwMode="auto">
            <a:xfrm>
              <a:off x="4341" y="2115"/>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G</a:t>
              </a:r>
            </a:p>
          </p:txBody>
        </p:sp>
        <p:sp>
          <p:nvSpPr>
            <p:cNvPr id="303143" name="Oval 39"/>
            <p:cNvSpPr>
              <a:spLocks noChangeArrowheads="1"/>
            </p:cNvSpPr>
            <p:nvPr/>
          </p:nvSpPr>
          <p:spPr bwMode="auto">
            <a:xfrm>
              <a:off x="4795" y="1616"/>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303144" name="Oval 40"/>
            <p:cNvSpPr>
              <a:spLocks noChangeArrowheads="1"/>
            </p:cNvSpPr>
            <p:nvPr/>
          </p:nvSpPr>
          <p:spPr bwMode="auto">
            <a:xfrm>
              <a:off x="4341" y="1616"/>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303145" name="Freeform 41"/>
            <p:cNvSpPr>
              <a:spLocks/>
            </p:cNvSpPr>
            <p:nvPr/>
          </p:nvSpPr>
          <p:spPr bwMode="auto">
            <a:xfrm>
              <a:off x="3911" y="1866"/>
              <a:ext cx="138" cy="251"/>
            </a:xfrm>
            <a:custGeom>
              <a:avLst/>
              <a:gdLst/>
              <a:ahLst/>
              <a:cxnLst>
                <a:cxn ang="0">
                  <a:pos x="0" y="0"/>
                </a:cxn>
                <a:cxn ang="0">
                  <a:pos x="138" y="251"/>
                </a:cxn>
              </a:cxnLst>
              <a:rect l="0" t="0" r="r" b="b"/>
              <a:pathLst>
                <a:path w="138" h="251">
                  <a:moveTo>
                    <a:pt x="0" y="0"/>
                  </a:moveTo>
                  <a:lnTo>
                    <a:pt x="138" y="251"/>
                  </a:lnTo>
                </a:path>
              </a:pathLst>
            </a:custGeom>
            <a:noFill/>
            <a:ln w="28575" cap="flat" cmpd="sng">
              <a:solidFill>
                <a:schemeClr val="tx2"/>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grpSp>
      <p:sp>
        <p:nvSpPr>
          <p:cNvPr id="44" name="TextBox 43"/>
          <p:cNvSpPr txBox="1"/>
          <p:nvPr/>
        </p:nvSpPr>
        <p:spPr>
          <a:xfrm>
            <a:off x="1987290" y="1960228"/>
            <a:ext cx="492443" cy="4587395"/>
          </a:xfrm>
          <a:prstGeom prst="rect">
            <a:avLst/>
          </a:prstGeom>
        </p:spPr>
        <p:style>
          <a:lnRef idx="1">
            <a:schemeClr val="accent5"/>
          </a:lnRef>
          <a:fillRef idx="2">
            <a:schemeClr val="accent5"/>
          </a:fillRef>
          <a:effectRef idx="1">
            <a:schemeClr val="accent5"/>
          </a:effectRef>
          <a:fontRef idx="minor">
            <a:schemeClr val="dk1"/>
          </a:fontRef>
        </p:style>
        <p:txBody>
          <a:bodyPr vert="eaVert" wrap="square" rtlCol="0">
            <a:spAutoFit/>
          </a:bodyPr>
          <a:lstStyle/>
          <a:p>
            <a:pPr marL="457200" indent="-457200">
              <a:buBlip>
                <a:blip r:embed="rId2"/>
              </a:buBlip>
            </a:pPr>
            <a:r>
              <a:rPr kumimoji="1" lang="zh-CN" altLang="en-US" sz="2000" dirty="0">
                <a:solidFill>
                  <a:srgbClr val="3333FF"/>
                </a:solidFill>
                <a:latin typeface="Consolas" pitchFamily="49" charset="0"/>
                <a:ea typeface="华文中宋" pitchFamily="2" charset="-122"/>
                <a:cs typeface="Consolas" pitchFamily="49" charset="0"/>
              </a:rPr>
              <a:t>将一棵二叉树还原为一棵树</a:t>
            </a:r>
            <a:endParaRPr lang="zh-CN" altLang="en-US" sz="2000" dirty="0">
              <a:solidFill>
                <a:srgbClr val="3333FF"/>
              </a:solidFill>
              <a:latin typeface="Consolas" pitchFamily="49" charset="0"/>
              <a:ea typeface="华文中宋" pitchFamily="2" charset="-122"/>
              <a:cs typeface="Consolas" pitchFamily="49" charset="0"/>
            </a:endParaRPr>
          </a:p>
        </p:txBody>
      </p:sp>
      <p:grpSp>
        <p:nvGrpSpPr>
          <p:cNvPr id="5" name="组合 47"/>
          <p:cNvGrpSpPr/>
          <p:nvPr/>
        </p:nvGrpSpPr>
        <p:grpSpPr>
          <a:xfrm>
            <a:off x="8148892" y="4965132"/>
            <a:ext cx="1335116" cy="900176"/>
            <a:chOff x="6572264" y="4357694"/>
            <a:chExt cx="1335116" cy="900176"/>
          </a:xfrm>
        </p:grpSpPr>
        <p:sp>
          <p:nvSpPr>
            <p:cNvPr id="303154" name="Text Box 50"/>
            <p:cNvSpPr txBox="1">
              <a:spLocks noChangeArrowheads="1"/>
            </p:cNvSpPr>
            <p:nvPr/>
          </p:nvSpPr>
          <p:spPr bwMode="auto">
            <a:xfrm>
              <a:off x="6572264" y="4857760"/>
              <a:ext cx="1335116" cy="400110"/>
            </a:xfrm>
            <a:prstGeom prst="rect">
              <a:avLst/>
            </a:prstGeom>
            <a:noFill/>
            <a:ln w="28575" algn="ctr">
              <a:noFill/>
              <a:miter lim="800000"/>
              <a:headEnd/>
              <a:tailEnd type="none" w="med" len="lg"/>
            </a:ln>
            <a:effectLst/>
          </p:spPr>
          <p:txBody>
            <a:bodyPr wrap="square">
              <a:spAutoFit/>
            </a:bodyPr>
            <a:lstStyle/>
            <a:p>
              <a:pPr algn="l">
                <a:spcBef>
                  <a:spcPct val="50000"/>
                </a:spcBef>
              </a:pPr>
              <a:r>
                <a:rPr lang="zh-CN" altLang="en-US" sz="2000" dirty="0">
                  <a:latin typeface="仿宋" pitchFamily="49" charset="-122"/>
                  <a:ea typeface="仿宋" pitchFamily="49" charset="-122"/>
                </a:rPr>
                <a:t>还原的树</a:t>
              </a:r>
            </a:p>
          </p:txBody>
        </p:sp>
        <p:sp>
          <p:nvSpPr>
            <p:cNvPr id="47" name="上箭头 46"/>
            <p:cNvSpPr/>
            <p:nvPr/>
          </p:nvSpPr>
          <p:spPr>
            <a:xfrm>
              <a:off x="7072330" y="4357694"/>
              <a:ext cx="214314" cy="357190"/>
            </a:xfrm>
            <a:prstGeom prst="up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600"/>
            </a:p>
          </p:txBody>
        </p:sp>
      </p:grpSp>
      <p:sp>
        <p:nvSpPr>
          <p:cNvPr id="49" name="TextBox 48"/>
          <p:cNvSpPr txBox="1"/>
          <p:nvPr/>
        </p:nvSpPr>
        <p:spPr>
          <a:xfrm>
            <a:off x="3719736" y="5893827"/>
            <a:ext cx="3714776" cy="78213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ts val="2800"/>
              </a:lnSpc>
              <a:buBlip>
                <a:blip r:embed="rId3"/>
              </a:buBlip>
            </a:pPr>
            <a:r>
              <a:rPr lang="zh-CN" altLang="en-US" sz="2000">
                <a:latin typeface="Consolas" pitchFamily="49" charset="0"/>
                <a:ea typeface="仿宋" pitchFamily="49" charset="-122"/>
                <a:cs typeface="Consolas" pitchFamily="49" charset="0"/>
              </a:rPr>
              <a:t>左孩子关系恢复为长子关系</a:t>
            </a:r>
            <a:endParaRPr lang="en-US" altLang="zh-CN" sz="2000">
              <a:latin typeface="Consolas" pitchFamily="49" charset="0"/>
              <a:ea typeface="仿宋" pitchFamily="49" charset="-122"/>
              <a:cs typeface="Consolas" pitchFamily="49" charset="0"/>
            </a:endParaRPr>
          </a:p>
          <a:p>
            <a:pPr marL="457200" indent="-457200">
              <a:lnSpc>
                <a:spcPts val="2800"/>
              </a:lnSpc>
              <a:buBlip>
                <a:blip r:embed="rId3"/>
              </a:buBlip>
            </a:pPr>
            <a:r>
              <a:rPr lang="zh-CN" altLang="en-US" sz="2000">
                <a:latin typeface="Consolas" pitchFamily="49" charset="0"/>
                <a:ea typeface="仿宋" pitchFamily="49" charset="-122"/>
                <a:cs typeface="Consolas" pitchFamily="49" charset="0"/>
              </a:rPr>
              <a:t>右孩子关系恢复为兄弟关系</a:t>
            </a:r>
          </a:p>
        </p:txBody>
      </p:sp>
      <p:sp>
        <p:nvSpPr>
          <p:cNvPr id="6" name="矩形 5">
            <a:extLst>
              <a:ext uri="{FF2B5EF4-FFF2-40B4-BE49-F238E27FC236}">
                <a16:creationId xmlns:a16="http://schemas.microsoft.com/office/drawing/2014/main" xmlns="" id="{1B67EED7-B54C-0163-E74C-82766D49AE2B}"/>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7" name="Rectangle 2">
            <a:extLst>
              <a:ext uri="{FF2B5EF4-FFF2-40B4-BE49-F238E27FC236}">
                <a16:creationId xmlns:a16="http://schemas.microsoft.com/office/drawing/2014/main" xmlns="" id="{99801FD0-6352-4D00-72A8-8FA9E3FD36DC}"/>
              </a:ext>
            </a:extLst>
          </p:cNvPr>
          <p:cNvSpPr txBox="1">
            <a:spLocks noChangeArrowheads="1"/>
          </p:cNvSpPr>
          <p:nvPr/>
        </p:nvSpPr>
        <p:spPr>
          <a:xfrm>
            <a:off x="79920" y="836712"/>
            <a:ext cx="60160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7.2.3 </a:t>
            </a:r>
            <a:r>
              <a:rPr lang="zh-CN" altLang="en-US" dirty="0"/>
              <a:t>二叉树与树、森林之间的转换</a:t>
            </a:r>
          </a:p>
        </p:txBody>
      </p:sp>
      <p:cxnSp>
        <p:nvCxnSpPr>
          <p:cNvPr id="8" name="直接连接符 7">
            <a:extLst>
              <a:ext uri="{FF2B5EF4-FFF2-40B4-BE49-F238E27FC236}">
                <a16:creationId xmlns:a16="http://schemas.microsoft.com/office/drawing/2014/main" xmlns="" id="{7FB5C6A4-29C5-94B6-4408-3BF488AC29DB}"/>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xmlns="" id="{3A7B7562-0F33-E4D5-F1EB-7C924A79B9CA}"/>
              </a:ext>
            </a:extLst>
          </p:cNvPr>
          <p:cNvSpPr txBox="1"/>
          <p:nvPr/>
        </p:nvSpPr>
        <p:spPr>
          <a:xfrm>
            <a:off x="1028855" y="1522941"/>
            <a:ext cx="3368495" cy="400110"/>
          </a:xfrm>
          <a:prstGeom prst="rect">
            <a:avLst/>
          </a:prstGeom>
          <a:noFill/>
        </p:spPr>
        <p:txBody>
          <a:bodyPr wrap="square">
            <a:spAutoFit/>
          </a:bodyPr>
          <a:lstStyle/>
          <a:p>
            <a:pPr>
              <a:spcBef>
                <a:spcPct val="50000"/>
              </a:spcBef>
            </a:pP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、二叉树还原为</a:t>
            </a:r>
            <a:r>
              <a:rPr kumimoji="1" lang="zh-CN" altLang="en-US" sz="2000" dirty="0">
                <a:solidFill>
                  <a:schemeClr val="tx1"/>
                </a:solidFill>
                <a:latin typeface="微软雅黑" pitchFamily="34" charset="-122"/>
                <a:ea typeface="微软雅黑" pitchFamily="34" charset="-122"/>
                <a:cs typeface="经典粗黑简" pitchFamily="49" charset="-122"/>
              </a:rPr>
              <a:t>森林、树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31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3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81" name="Oval 5"/>
          <p:cNvSpPr>
            <a:spLocks noChangeArrowheads="1"/>
          </p:cNvSpPr>
          <p:nvPr/>
        </p:nvSpPr>
        <p:spPr bwMode="auto">
          <a:xfrm>
            <a:off x="5326681" y="4127990"/>
            <a:ext cx="431800" cy="431800"/>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G</a:t>
            </a:r>
          </a:p>
        </p:txBody>
      </p:sp>
      <p:sp>
        <p:nvSpPr>
          <p:cNvPr id="382982" name="Oval 6"/>
          <p:cNvSpPr>
            <a:spLocks noChangeArrowheads="1"/>
          </p:cNvSpPr>
          <p:nvPr/>
        </p:nvSpPr>
        <p:spPr bwMode="auto">
          <a:xfrm>
            <a:off x="4821856" y="4775690"/>
            <a:ext cx="431800" cy="431800"/>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382983" name="Oval 7"/>
          <p:cNvSpPr>
            <a:spLocks noChangeArrowheads="1"/>
          </p:cNvSpPr>
          <p:nvPr/>
        </p:nvSpPr>
        <p:spPr bwMode="auto">
          <a:xfrm>
            <a:off x="5471143" y="5280515"/>
            <a:ext cx="431800" cy="431800"/>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I</a:t>
            </a:r>
          </a:p>
        </p:txBody>
      </p:sp>
      <p:sp>
        <p:nvSpPr>
          <p:cNvPr id="382984" name="Freeform 8"/>
          <p:cNvSpPr>
            <a:spLocks/>
          </p:cNvSpPr>
          <p:nvPr/>
        </p:nvSpPr>
        <p:spPr bwMode="auto">
          <a:xfrm>
            <a:off x="5131419" y="4477241"/>
            <a:ext cx="238125" cy="333375"/>
          </a:xfrm>
          <a:custGeom>
            <a:avLst/>
            <a:gdLst/>
            <a:ahLst/>
            <a:cxnLst>
              <a:cxn ang="0">
                <a:pos x="150" y="0"/>
              </a:cxn>
              <a:cxn ang="0">
                <a:pos x="0" y="210"/>
              </a:cxn>
            </a:cxnLst>
            <a:rect l="0" t="0" r="r" b="b"/>
            <a:pathLst>
              <a:path w="150" h="210">
                <a:moveTo>
                  <a:pt x="150" y="0"/>
                </a:moveTo>
                <a:lnTo>
                  <a:pt x="0" y="210"/>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82985" name="Freeform 9"/>
          <p:cNvSpPr>
            <a:spLocks/>
          </p:cNvSpPr>
          <p:nvPr/>
        </p:nvSpPr>
        <p:spPr bwMode="auto">
          <a:xfrm>
            <a:off x="5245718" y="5086841"/>
            <a:ext cx="304800" cy="238125"/>
          </a:xfrm>
          <a:custGeom>
            <a:avLst/>
            <a:gdLst/>
            <a:ahLst/>
            <a:cxnLst>
              <a:cxn ang="0">
                <a:pos x="0" y="0"/>
              </a:cxn>
              <a:cxn ang="0">
                <a:pos x="192" y="150"/>
              </a:cxn>
            </a:cxnLst>
            <a:rect l="0" t="0" r="r" b="b"/>
            <a:pathLst>
              <a:path w="192" h="150">
                <a:moveTo>
                  <a:pt x="0" y="0"/>
                </a:moveTo>
                <a:lnTo>
                  <a:pt x="192" y="150"/>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82986" name="Oval 10"/>
          <p:cNvSpPr>
            <a:spLocks noChangeArrowheads="1"/>
          </p:cNvSpPr>
          <p:nvPr/>
        </p:nvSpPr>
        <p:spPr bwMode="auto">
          <a:xfrm>
            <a:off x="3815381" y="2759565"/>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A</a:t>
            </a:r>
          </a:p>
        </p:txBody>
      </p:sp>
      <p:sp>
        <p:nvSpPr>
          <p:cNvPr id="382987" name="Oval 11"/>
          <p:cNvSpPr>
            <a:spLocks noChangeArrowheads="1"/>
          </p:cNvSpPr>
          <p:nvPr/>
        </p:nvSpPr>
        <p:spPr bwMode="auto">
          <a:xfrm>
            <a:off x="3021631" y="3478703"/>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B</a:t>
            </a:r>
          </a:p>
        </p:txBody>
      </p:sp>
      <p:sp>
        <p:nvSpPr>
          <p:cNvPr id="382988" name="Oval 12"/>
          <p:cNvSpPr>
            <a:spLocks noChangeArrowheads="1"/>
          </p:cNvSpPr>
          <p:nvPr/>
        </p:nvSpPr>
        <p:spPr bwMode="auto">
          <a:xfrm>
            <a:off x="3453431" y="4201015"/>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382989" name="Oval 13"/>
          <p:cNvSpPr>
            <a:spLocks noChangeArrowheads="1"/>
          </p:cNvSpPr>
          <p:nvPr/>
        </p:nvSpPr>
        <p:spPr bwMode="auto">
          <a:xfrm>
            <a:off x="3958256" y="4775690"/>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382990" name="Freeform 14"/>
          <p:cNvSpPr>
            <a:spLocks/>
          </p:cNvSpPr>
          <p:nvPr/>
        </p:nvSpPr>
        <p:spPr bwMode="auto">
          <a:xfrm>
            <a:off x="3397868" y="3086590"/>
            <a:ext cx="457200" cy="457200"/>
          </a:xfrm>
          <a:custGeom>
            <a:avLst/>
            <a:gdLst/>
            <a:ahLst/>
            <a:cxnLst>
              <a:cxn ang="0">
                <a:pos x="288" y="0"/>
              </a:cxn>
              <a:cxn ang="0">
                <a:pos x="0" y="288"/>
              </a:cxn>
            </a:cxnLst>
            <a:rect l="0" t="0" r="r" b="b"/>
            <a:pathLst>
              <a:path w="288" h="288">
                <a:moveTo>
                  <a:pt x="288" y="0"/>
                </a:moveTo>
                <a:lnTo>
                  <a:pt x="0" y="288"/>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82991" name="Freeform 15"/>
          <p:cNvSpPr>
            <a:spLocks/>
          </p:cNvSpPr>
          <p:nvPr/>
        </p:nvSpPr>
        <p:spPr bwMode="auto">
          <a:xfrm>
            <a:off x="3359768" y="3867641"/>
            <a:ext cx="247650" cy="333375"/>
          </a:xfrm>
          <a:custGeom>
            <a:avLst/>
            <a:gdLst/>
            <a:ahLst/>
            <a:cxnLst>
              <a:cxn ang="0">
                <a:pos x="0" y="0"/>
              </a:cxn>
              <a:cxn ang="0">
                <a:pos x="156" y="210"/>
              </a:cxn>
            </a:cxnLst>
            <a:rect l="0" t="0" r="r" b="b"/>
            <a:pathLst>
              <a:path w="156" h="210">
                <a:moveTo>
                  <a:pt x="0" y="0"/>
                </a:moveTo>
                <a:lnTo>
                  <a:pt x="156" y="210"/>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82992" name="Freeform 16"/>
          <p:cNvSpPr>
            <a:spLocks/>
          </p:cNvSpPr>
          <p:nvPr/>
        </p:nvSpPr>
        <p:spPr bwMode="auto">
          <a:xfrm>
            <a:off x="3826494" y="4553440"/>
            <a:ext cx="200025" cy="266700"/>
          </a:xfrm>
          <a:custGeom>
            <a:avLst/>
            <a:gdLst/>
            <a:ahLst/>
            <a:cxnLst>
              <a:cxn ang="0">
                <a:pos x="0" y="0"/>
              </a:cxn>
              <a:cxn ang="0">
                <a:pos x="126" y="168"/>
              </a:cxn>
            </a:cxnLst>
            <a:rect l="0" t="0" r="r" b="b"/>
            <a:pathLst>
              <a:path w="126" h="168">
                <a:moveTo>
                  <a:pt x="0" y="0"/>
                </a:moveTo>
                <a:lnTo>
                  <a:pt x="126" y="168"/>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82993" name="Oval 17"/>
          <p:cNvSpPr>
            <a:spLocks noChangeArrowheads="1"/>
          </p:cNvSpPr>
          <p:nvPr/>
        </p:nvSpPr>
        <p:spPr bwMode="auto">
          <a:xfrm>
            <a:off x="4605956" y="3480290"/>
            <a:ext cx="431800" cy="431800"/>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E</a:t>
            </a:r>
          </a:p>
        </p:txBody>
      </p:sp>
      <p:sp>
        <p:nvSpPr>
          <p:cNvPr id="382994" name="Oval 18"/>
          <p:cNvSpPr>
            <a:spLocks noChangeArrowheads="1"/>
          </p:cNvSpPr>
          <p:nvPr/>
        </p:nvSpPr>
        <p:spPr bwMode="auto">
          <a:xfrm>
            <a:off x="4245593" y="4199428"/>
            <a:ext cx="431800" cy="431800"/>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382995" name="Freeform 19"/>
          <p:cNvSpPr>
            <a:spLocks/>
          </p:cNvSpPr>
          <p:nvPr/>
        </p:nvSpPr>
        <p:spPr bwMode="auto">
          <a:xfrm>
            <a:off x="4534518" y="3896215"/>
            <a:ext cx="190500" cy="317500"/>
          </a:xfrm>
          <a:custGeom>
            <a:avLst/>
            <a:gdLst/>
            <a:ahLst/>
            <a:cxnLst>
              <a:cxn ang="0">
                <a:pos x="120" y="0"/>
              </a:cxn>
              <a:cxn ang="0">
                <a:pos x="0" y="200"/>
              </a:cxn>
            </a:cxnLst>
            <a:rect l="0" t="0" r="r" b="b"/>
            <a:pathLst>
              <a:path w="120" h="200">
                <a:moveTo>
                  <a:pt x="120" y="0"/>
                </a:moveTo>
                <a:lnTo>
                  <a:pt x="0" y="200"/>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82996" name="Freeform 20"/>
          <p:cNvSpPr>
            <a:spLocks/>
          </p:cNvSpPr>
          <p:nvPr/>
        </p:nvSpPr>
        <p:spPr bwMode="auto">
          <a:xfrm>
            <a:off x="4226543" y="3077066"/>
            <a:ext cx="476250" cy="428625"/>
          </a:xfrm>
          <a:custGeom>
            <a:avLst/>
            <a:gdLst/>
            <a:ahLst/>
            <a:cxnLst>
              <a:cxn ang="0">
                <a:pos x="0" y="0"/>
              </a:cxn>
              <a:cxn ang="0">
                <a:pos x="300" y="270"/>
              </a:cxn>
            </a:cxnLst>
            <a:rect l="0" t="0" r="r" b="b"/>
            <a:pathLst>
              <a:path w="300" h="270">
                <a:moveTo>
                  <a:pt x="0" y="0"/>
                </a:moveTo>
                <a:lnTo>
                  <a:pt x="300" y="270"/>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82997" name="Freeform 21"/>
          <p:cNvSpPr>
            <a:spLocks/>
          </p:cNvSpPr>
          <p:nvPr/>
        </p:nvSpPr>
        <p:spPr bwMode="auto">
          <a:xfrm>
            <a:off x="4998068" y="3810490"/>
            <a:ext cx="400050" cy="388938"/>
          </a:xfrm>
          <a:custGeom>
            <a:avLst/>
            <a:gdLst/>
            <a:ahLst/>
            <a:cxnLst>
              <a:cxn ang="0">
                <a:pos x="0" y="0"/>
              </a:cxn>
              <a:cxn ang="0">
                <a:pos x="252" y="245"/>
              </a:cxn>
            </a:cxnLst>
            <a:rect l="0" t="0" r="r" b="b"/>
            <a:pathLst>
              <a:path w="252" h="245">
                <a:moveTo>
                  <a:pt x="0" y="0"/>
                </a:moveTo>
                <a:lnTo>
                  <a:pt x="252" y="245"/>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grpSp>
        <p:nvGrpSpPr>
          <p:cNvPr id="3" name="Group 53"/>
          <p:cNvGrpSpPr>
            <a:grpSpLocks/>
          </p:cNvGrpSpPr>
          <p:nvPr/>
        </p:nvGrpSpPr>
        <p:grpSpPr bwMode="auto">
          <a:xfrm>
            <a:off x="7269782" y="1535604"/>
            <a:ext cx="1728787" cy="2016125"/>
            <a:chOff x="3061" y="527"/>
            <a:chExt cx="1089" cy="1270"/>
          </a:xfrm>
        </p:grpSpPr>
        <p:sp>
          <p:nvSpPr>
            <p:cNvPr id="383006" name="Oval 30"/>
            <p:cNvSpPr>
              <a:spLocks noChangeArrowheads="1"/>
            </p:cNvSpPr>
            <p:nvPr/>
          </p:nvSpPr>
          <p:spPr bwMode="auto">
            <a:xfrm>
              <a:off x="3560" y="527"/>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A</a:t>
              </a:r>
            </a:p>
          </p:txBody>
        </p:sp>
        <p:sp>
          <p:nvSpPr>
            <p:cNvPr id="383007" name="Oval 31"/>
            <p:cNvSpPr>
              <a:spLocks noChangeArrowheads="1"/>
            </p:cNvSpPr>
            <p:nvPr/>
          </p:nvSpPr>
          <p:spPr bwMode="auto">
            <a:xfrm>
              <a:off x="3061" y="980"/>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B</a:t>
              </a:r>
            </a:p>
          </p:txBody>
        </p:sp>
        <p:sp>
          <p:nvSpPr>
            <p:cNvPr id="383008" name="Oval 32"/>
            <p:cNvSpPr>
              <a:spLocks noChangeArrowheads="1"/>
            </p:cNvSpPr>
            <p:nvPr/>
          </p:nvSpPr>
          <p:spPr bwMode="auto">
            <a:xfrm>
              <a:off x="3469" y="1253"/>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C</a:t>
              </a:r>
            </a:p>
          </p:txBody>
        </p:sp>
        <p:sp>
          <p:nvSpPr>
            <p:cNvPr id="383009" name="Oval 33"/>
            <p:cNvSpPr>
              <a:spLocks noChangeArrowheads="1"/>
            </p:cNvSpPr>
            <p:nvPr/>
          </p:nvSpPr>
          <p:spPr bwMode="auto">
            <a:xfrm>
              <a:off x="3878" y="1525"/>
              <a:ext cx="272" cy="272"/>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D</a:t>
              </a:r>
            </a:p>
          </p:txBody>
        </p:sp>
        <p:sp>
          <p:nvSpPr>
            <p:cNvPr id="383012" name="Freeform 36"/>
            <p:cNvSpPr>
              <a:spLocks/>
            </p:cNvSpPr>
            <p:nvPr/>
          </p:nvSpPr>
          <p:spPr bwMode="auto">
            <a:xfrm>
              <a:off x="3269" y="709"/>
              <a:ext cx="308" cy="292"/>
            </a:xfrm>
            <a:custGeom>
              <a:avLst/>
              <a:gdLst/>
              <a:ahLst/>
              <a:cxnLst>
                <a:cxn ang="0">
                  <a:pos x="308" y="0"/>
                </a:cxn>
                <a:cxn ang="0">
                  <a:pos x="0" y="292"/>
                </a:cxn>
              </a:cxnLst>
              <a:rect l="0" t="0" r="r" b="b"/>
              <a:pathLst>
                <a:path w="308" h="292">
                  <a:moveTo>
                    <a:pt x="308" y="0"/>
                  </a:moveTo>
                  <a:lnTo>
                    <a:pt x="0" y="292"/>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83013" name="Freeform 37"/>
            <p:cNvSpPr>
              <a:spLocks/>
            </p:cNvSpPr>
            <p:nvPr/>
          </p:nvSpPr>
          <p:spPr bwMode="auto">
            <a:xfrm>
              <a:off x="3313" y="1185"/>
              <a:ext cx="176" cy="144"/>
            </a:xfrm>
            <a:custGeom>
              <a:avLst/>
              <a:gdLst/>
              <a:ahLst/>
              <a:cxnLst>
                <a:cxn ang="0">
                  <a:pos x="0" y="0"/>
                </a:cxn>
                <a:cxn ang="0">
                  <a:pos x="176" y="144"/>
                </a:cxn>
              </a:cxnLst>
              <a:rect l="0" t="0" r="r" b="b"/>
              <a:pathLst>
                <a:path w="176" h="144">
                  <a:moveTo>
                    <a:pt x="0" y="0"/>
                  </a:moveTo>
                  <a:lnTo>
                    <a:pt x="176" y="144"/>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83015" name="Line 39"/>
            <p:cNvSpPr>
              <a:spLocks noChangeShapeType="1"/>
            </p:cNvSpPr>
            <p:nvPr/>
          </p:nvSpPr>
          <p:spPr bwMode="auto">
            <a:xfrm>
              <a:off x="3716" y="1458"/>
              <a:ext cx="182" cy="137"/>
            </a:xfrm>
            <a:prstGeom prst="line">
              <a:avLst/>
            </a:prstGeom>
            <a:noFill/>
            <a:ln w="28575">
              <a:solidFill>
                <a:schemeClr val="tx1"/>
              </a:solidFill>
              <a:round/>
              <a:headEnd/>
              <a:tailEnd type="none" w="med" len="lg"/>
            </a:ln>
            <a:effectLst/>
          </p:spPr>
          <p:txBody>
            <a:bodyPr wrap="none"/>
            <a:lstStyle/>
            <a:p>
              <a:endParaRPr lang="zh-CN" altLang="en-US">
                <a:latin typeface="Consolas" pitchFamily="49" charset="0"/>
                <a:cs typeface="Consolas" pitchFamily="49" charset="0"/>
              </a:endParaRPr>
            </a:p>
          </p:txBody>
        </p:sp>
      </p:grpSp>
      <p:sp>
        <p:nvSpPr>
          <p:cNvPr id="383022" name="AutoShape 46"/>
          <p:cNvSpPr>
            <a:spLocks noChangeArrowheads="1"/>
          </p:cNvSpPr>
          <p:nvPr/>
        </p:nvSpPr>
        <p:spPr bwMode="auto">
          <a:xfrm>
            <a:off x="6766543" y="3335828"/>
            <a:ext cx="649288" cy="360000"/>
          </a:xfrm>
          <a:prstGeom prst="rightArrow">
            <a:avLst>
              <a:gd name="adj1" fmla="val 50000"/>
              <a:gd name="adj2" fmla="val 32256"/>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latin typeface="Consolas" pitchFamily="49" charset="0"/>
              <a:cs typeface="Consolas" pitchFamily="49" charset="0"/>
            </a:endParaRPr>
          </a:p>
        </p:txBody>
      </p:sp>
      <p:grpSp>
        <p:nvGrpSpPr>
          <p:cNvPr id="4" name="Group 55"/>
          <p:cNvGrpSpPr>
            <a:grpSpLocks/>
          </p:cNvGrpSpPr>
          <p:nvPr/>
        </p:nvGrpSpPr>
        <p:grpSpPr bwMode="auto">
          <a:xfrm>
            <a:off x="7701582" y="5201143"/>
            <a:ext cx="1152525" cy="1519238"/>
            <a:chOff x="3333" y="2836"/>
            <a:chExt cx="726" cy="957"/>
          </a:xfrm>
        </p:grpSpPr>
        <p:sp>
          <p:nvSpPr>
            <p:cNvPr id="383016" name="Oval 40"/>
            <p:cNvSpPr>
              <a:spLocks noChangeArrowheads="1"/>
            </p:cNvSpPr>
            <p:nvPr/>
          </p:nvSpPr>
          <p:spPr bwMode="auto">
            <a:xfrm>
              <a:off x="3333" y="3248"/>
              <a:ext cx="272" cy="272"/>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H</a:t>
              </a:r>
            </a:p>
          </p:txBody>
        </p:sp>
        <p:sp>
          <p:nvSpPr>
            <p:cNvPr id="383017" name="Oval 41"/>
            <p:cNvSpPr>
              <a:spLocks noChangeArrowheads="1"/>
            </p:cNvSpPr>
            <p:nvPr/>
          </p:nvSpPr>
          <p:spPr bwMode="auto">
            <a:xfrm>
              <a:off x="3787" y="3521"/>
              <a:ext cx="272" cy="272"/>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I</a:t>
              </a:r>
            </a:p>
          </p:txBody>
        </p:sp>
        <p:sp>
          <p:nvSpPr>
            <p:cNvPr id="383018" name="Freeform 42"/>
            <p:cNvSpPr>
              <a:spLocks/>
            </p:cNvSpPr>
            <p:nvPr/>
          </p:nvSpPr>
          <p:spPr bwMode="auto">
            <a:xfrm>
              <a:off x="3554" y="3048"/>
              <a:ext cx="210" cy="234"/>
            </a:xfrm>
            <a:custGeom>
              <a:avLst/>
              <a:gdLst/>
              <a:ahLst/>
              <a:cxnLst>
                <a:cxn ang="0">
                  <a:pos x="210" y="0"/>
                </a:cxn>
                <a:cxn ang="0">
                  <a:pos x="0" y="234"/>
                </a:cxn>
              </a:cxnLst>
              <a:rect l="0" t="0" r="r" b="b"/>
              <a:pathLst>
                <a:path w="210" h="234">
                  <a:moveTo>
                    <a:pt x="210" y="0"/>
                  </a:moveTo>
                  <a:lnTo>
                    <a:pt x="0" y="234"/>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83019" name="Freeform 43"/>
            <p:cNvSpPr>
              <a:spLocks/>
            </p:cNvSpPr>
            <p:nvPr/>
          </p:nvSpPr>
          <p:spPr bwMode="auto">
            <a:xfrm>
              <a:off x="3596" y="3438"/>
              <a:ext cx="198" cy="168"/>
            </a:xfrm>
            <a:custGeom>
              <a:avLst/>
              <a:gdLst/>
              <a:ahLst/>
              <a:cxnLst>
                <a:cxn ang="0">
                  <a:pos x="0" y="0"/>
                </a:cxn>
                <a:cxn ang="0">
                  <a:pos x="198" y="168"/>
                </a:cxn>
              </a:cxnLst>
              <a:rect l="0" t="0" r="r" b="b"/>
              <a:pathLst>
                <a:path w="198" h="168">
                  <a:moveTo>
                    <a:pt x="0" y="0"/>
                  </a:moveTo>
                  <a:lnTo>
                    <a:pt x="198" y="168"/>
                  </a:lnTo>
                </a:path>
              </a:pathLst>
            </a:custGeom>
            <a:noFill/>
            <a:ln w="28575" cap="flat" cmpd="sng">
              <a:solidFill>
                <a:schemeClr val="tx1"/>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sp>
          <p:nvSpPr>
            <p:cNvPr id="383020" name="Oval 44"/>
            <p:cNvSpPr>
              <a:spLocks noChangeArrowheads="1"/>
            </p:cNvSpPr>
            <p:nvPr/>
          </p:nvSpPr>
          <p:spPr bwMode="auto">
            <a:xfrm>
              <a:off x="3742" y="2836"/>
              <a:ext cx="272" cy="272"/>
            </a:xfrm>
            <a:prstGeom prst="ellipse">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G</a:t>
              </a:r>
            </a:p>
          </p:txBody>
        </p:sp>
      </p:grpSp>
      <p:grpSp>
        <p:nvGrpSpPr>
          <p:cNvPr id="5" name="Group 54"/>
          <p:cNvGrpSpPr>
            <a:grpSpLocks/>
          </p:cNvGrpSpPr>
          <p:nvPr/>
        </p:nvGrpSpPr>
        <p:grpSpPr bwMode="auto">
          <a:xfrm>
            <a:off x="7990503" y="3840654"/>
            <a:ext cx="792162" cy="1150937"/>
            <a:chOff x="3515" y="1979"/>
            <a:chExt cx="499" cy="725"/>
          </a:xfrm>
        </p:grpSpPr>
        <p:sp>
          <p:nvSpPr>
            <p:cNvPr id="383010" name="Oval 34"/>
            <p:cNvSpPr>
              <a:spLocks noChangeArrowheads="1"/>
            </p:cNvSpPr>
            <p:nvPr/>
          </p:nvSpPr>
          <p:spPr bwMode="auto">
            <a:xfrm>
              <a:off x="3742" y="1979"/>
              <a:ext cx="272" cy="272"/>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dirty="0">
                  <a:solidFill>
                    <a:srgbClr val="3333FF"/>
                  </a:solidFill>
                  <a:latin typeface="Consolas" pitchFamily="49" charset="0"/>
                  <a:cs typeface="Consolas" pitchFamily="49" charset="0"/>
                </a:rPr>
                <a:t>E</a:t>
              </a:r>
            </a:p>
          </p:txBody>
        </p:sp>
        <p:sp>
          <p:nvSpPr>
            <p:cNvPr id="383011" name="Oval 35"/>
            <p:cNvSpPr>
              <a:spLocks noChangeArrowheads="1"/>
            </p:cNvSpPr>
            <p:nvPr/>
          </p:nvSpPr>
          <p:spPr bwMode="auto">
            <a:xfrm>
              <a:off x="3515" y="2432"/>
              <a:ext cx="272" cy="272"/>
            </a:xfrm>
            <a:prstGeom prst="ellipse">
              <a:avLst/>
            </a:prstGeom>
            <a:ln>
              <a:headEnd/>
              <a:tailEnd type="none" w="med" len="lg"/>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a:solidFill>
                    <a:srgbClr val="3333FF"/>
                  </a:solidFill>
                  <a:latin typeface="Consolas" pitchFamily="49" charset="0"/>
                  <a:cs typeface="Consolas" pitchFamily="49" charset="0"/>
                </a:rPr>
                <a:t>F</a:t>
              </a:r>
            </a:p>
          </p:txBody>
        </p:sp>
        <p:sp>
          <p:nvSpPr>
            <p:cNvPr id="383014" name="Freeform 38"/>
            <p:cNvSpPr>
              <a:spLocks/>
            </p:cNvSpPr>
            <p:nvPr/>
          </p:nvSpPr>
          <p:spPr bwMode="auto">
            <a:xfrm>
              <a:off x="3697" y="2241"/>
              <a:ext cx="120" cy="200"/>
            </a:xfrm>
            <a:custGeom>
              <a:avLst/>
              <a:gdLst/>
              <a:ahLst/>
              <a:cxnLst>
                <a:cxn ang="0">
                  <a:pos x="120" y="0"/>
                </a:cxn>
                <a:cxn ang="0">
                  <a:pos x="0" y="200"/>
                </a:cxn>
              </a:cxnLst>
              <a:rect l="0" t="0" r="r" b="b"/>
              <a:pathLst>
                <a:path w="120" h="200">
                  <a:moveTo>
                    <a:pt x="120" y="0"/>
                  </a:moveTo>
                  <a:lnTo>
                    <a:pt x="0" y="200"/>
                  </a:lnTo>
                </a:path>
              </a:pathLst>
            </a:custGeom>
            <a:noFill/>
            <a:ln w="28575" cap="flat" cmpd="sng">
              <a:solidFill>
                <a:srgbClr val="FF0000"/>
              </a:solidFill>
              <a:prstDash val="solid"/>
              <a:round/>
              <a:headEnd type="none" w="med" len="med"/>
              <a:tailEnd type="none" w="med" len="lg"/>
            </a:ln>
            <a:effectLst/>
          </p:spPr>
          <p:txBody>
            <a:bodyPr wrap="none"/>
            <a:lstStyle/>
            <a:p>
              <a:endParaRPr lang="zh-CN" altLang="en-US">
                <a:latin typeface="Consolas" pitchFamily="49" charset="0"/>
                <a:cs typeface="Consolas" pitchFamily="49" charset="0"/>
              </a:endParaRPr>
            </a:p>
          </p:txBody>
        </p:sp>
      </p:grpSp>
      <p:sp>
        <p:nvSpPr>
          <p:cNvPr id="47" name="TextBox 46"/>
          <p:cNvSpPr txBox="1"/>
          <p:nvPr/>
        </p:nvSpPr>
        <p:spPr>
          <a:xfrm>
            <a:off x="2272901" y="2023010"/>
            <a:ext cx="492443" cy="4641760"/>
          </a:xfrm>
          <a:prstGeom prst="rect">
            <a:avLst/>
          </a:prstGeom>
        </p:spPr>
        <p:style>
          <a:lnRef idx="1">
            <a:schemeClr val="accent5"/>
          </a:lnRef>
          <a:fillRef idx="2">
            <a:schemeClr val="accent5"/>
          </a:fillRef>
          <a:effectRef idx="1">
            <a:schemeClr val="accent5"/>
          </a:effectRef>
          <a:fontRef idx="minor">
            <a:schemeClr val="dk1"/>
          </a:fontRef>
        </p:style>
        <p:txBody>
          <a:bodyPr vert="eaVert" wrap="square" rtlCol="0">
            <a:spAutoFit/>
          </a:bodyPr>
          <a:lstStyle/>
          <a:p>
            <a:pPr marL="457200" indent="-457200">
              <a:buBlip>
                <a:blip r:embed="rId2"/>
              </a:buBlip>
            </a:pPr>
            <a:r>
              <a:rPr kumimoji="1" lang="zh-CN" altLang="en-US" sz="2000" dirty="0">
                <a:solidFill>
                  <a:srgbClr val="3333FF"/>
                </a:solidFill>
                <a:latin typeface="Consolas" pitchFamily="49" charset="0"/>
                <a:ea typeface="华文中宋" pitchFamily="2" charset="-122"/>
                <a:cs typeface="Consolas" pitchFamily="49" charset="0"/>
              </a:rPr>
              <a:t>将一棵二叉树还原为多棵树</a:t>
            </a:r>
            <a:endParaRPr lang="zh-CN" altLang="en-US" sz="2000" dirty="0">
              <a:solidFill>
                <a:srgbClr val="3333FF"/>
              </a:solidFill>
              <a:latin typeface="Consolas" pitchFamily="49" charset="0"/>
              <a:ea typeface="华文中宋" pitchFamily="2" charset="-122"/>
              <a:cs typeface="Consolas" pitchFamily="49" charset="0"/>
            </a:endParaRPr>
          </a:p>
        </p:txBody>
      </p:sp>
      <p:grpSp>
        <p:nvGrpSpPr>
          <p:cNvPr id="6" name="组合 49"/>
          <p:cNvGrpSpPr/>
          <p:nvPr/>
        </p:nvGrpSpPr>
        <p:grpSpPr>
          <a:xfrm>
            <a:off x="9627212" y="2616690"/>
            <a:ext cx="857259" cy="3154374"/>
            <a:chOff x="8072462" y="1917700"/>
            <a:chExt cx="857259" cy="3154374"/>
          </a:xfrm>
        </p:grpSpPr>
        <p:sp>
          <p:nvSpPr>
            <p:cNvPr id="383027" name="Text Box 51"/>
            <p:cNvSpPr txBox="1">
              <a:spLocks noChangeArrowheads="1"/>
            </p:cNvSpPr>
            <p:nvPr/>
          </p:nvSpPr>
          <p:spPr bwMode="auto">
            <a:xfrm>
              <a:off x="8437278" y="1917700"/>
              <a:ext cx="492443" cy="3154374"/>
            </a:xfrm>
            <a:prstGeom prst="rect">
              <a:avLst/>
            </a:prstGeom>
            <a:noFill/>
            <a:ln w="28575" algn="ctr">
              <a:noFill/>
              <a:miter lim="800000"/>
              <a:headEnd/>
              <a:tailEnd type="none" w="med" len="lg"/>
            </a:ln>
            <a:effectLst/>
          </p:spPr>
          <p:txBody>
            <a:bodyPr vert="eaVert">
              <a:spAutoFit/>
            </a:bodyPr>
            <a:lstStyle/>
            <a:p>
              <a:pPr>
                <a:spcBef>
                  <a:spcPct val="50000"/>
                </a:spcBef>
              </a:pPr>
              <a:r>
                <a:rPr lang="zh-CN" altLang="en-US" sz="2000" dirty="0">
                  <a:latin typeface="Consolas" pitchFamily="49" charset="0"/>
                  <a:ea typeface="仿宋" pitchFamily="49" charset="-122"/>
                  <a:cs typeface="Consolas" pitchFamily="49" charset="0"/>
                </a:rPr>
                <a:t>转换为</a:t>
              </a:r>
              <a:r>
                <a:rPr lang="en-US" altLang="zh-CN" sz="2000" dirty="0">
                  <a:latin typeface="Consolas" pitchFamily="49" charset="0"/>
                  <a:ea typeface="仿宋" pitchFamily="49" charset="-122"/>
                  <a:cs typeface="Consolas" pitchFamily="49" charset="0"/>
                </a:rPr>
                <a:t>3</a:t>
              </a:r>
              <a:r>
                <a:rPr lang="zh-CN" altLang="en-US" sz="2000" dirty="0">
                  <a:latin typeface="Consolas" pitchFamily="49" charset="0"/>
                  <a:ea typeface="仿宋" pitchFamily="49" charset="-122"/>
                  <a:cs typeface="Consolas" pitchFamily="49" charset="0"/>
                </a:rPr>
                <a:t>棵二</a:t>
              </a:r>
              <a:r>
                <a:rPr kumimoji="1" lang="zh-CN" altLang="en-US" sz="2000" dirty="0">
                  <a:latin typeface="Consolas" pitchFamily="49" charset="0"/>
                  <a:ea typeface="仿宋" pitchFamily="49" charset="-122"/>
                  <a:cs typeface="Consolas" pitchFamily="49" charset="0"/>
                </a:rPr>
                <a:t>叉</a:t>
              </a:r>
              <a:r>
                <a:rPr lang="zh-CN" altLang="en-US" sz="2000" dirty="0">
                  <a:latin typeface="Consolas" pitchFamily="49" charset="0"/>
                  <a:ea typeface="仿宋" pitchFamily="49" charset="-122"/>
                  <a:cs typeface="Consolas" pitchFamily="49" charset="0"/>
                </a:rPr>
                <a:t>树</a:t>
              </a:r>
            </a:p>
          </p:txBody>
        </p:sp>
        <p:sp>
          <p:nvSpPr>
            <p:cNvPr id="49" name="左箭头 48"/>
            <p:cNvSpPr/>
            <p:nvPr/>
          </p:nvSpPr>
          <p:spPr>
            <a:xfrm>
              <a:off x="8072462" y="3357562"/>
              <a:ext cx="428628" cy="214314"/>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7" name="矩形 6">
            <a:extLst>
              <a:ext uri="{FF2B5EF4-FFF2-40B4-BE49-F238E27FC236}">
                <a16:creationId xmlns:a16="http://schemas.microsoft.com/office/drawing/2014/main" xmlns="" id="{B1E2FEA9-193D-CDDA-090B-54A6EC14956C}"/>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7.2 </a:t>
            </a:r>
            <a:r>
              <a:rPr lang="zh-CN" altLang="en-US" sz="3000" b="1" dirty="0">
                <a:latin typeface="黑体" pitchFamily="49" charset="-122"/>
                <a:ea typeface="黑体" pitchFamily="49" charset="-122"/>
                <a:cs typeface="经典粗黑简" pitchFamily="49" charset="-122"/>
              </a:rPr>
              <a:t>二叉树的概念和性质 </a:t>
            </a:r>
          </a:p>
        </p:txBody>
      </p:sp>
      <p:sp>
        <p:nvSpPr>
          <p:cNvPr id="8" name="Rectangle 2">
            <a:extLst>
              <a:ext uri="{FF2B5EF4-FFF2-40B4-BE49-F238E27FC236}">
                <a16:creationId xmlns:a16="http://schemas.microsoft.com/office/drawing/2014/main" xmlns="" id="{10ED003B-7E37-47A8-3116-B0D21802925F}"/>
              </a:ext>
            </a:extLst>
          </p:cNvPr>
          <p:cNvSpPr txBox="1">
            <a:spLocks noChangeArrowheads="1"/>
          </p:cNvSpPr>
          <p:nvPr/>
        </p:nvSpPr>
        <p:spPr>
          <a:xfrm>
            <a:off x="79920" y="836712"/>
            <a:ext cx="601608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7.2.3 </a:t>
            </a:r>
            <a:r>
              <a:rPr lang="zh-CN" altLang="en-US" dirty="0"/>
              <a:t>二叉树与树、森林之间的转换</a:t>
            </a:r>
          </a:p>
        </p:txBody>
      </p:sp>
      <p:cxnSp>
        <p:nvCxnSpPr>
          <p:cNvPr id="9" name="直接连接符 8">
            <a:extLst>
              <a:ext uri="{FF2B5EF4-FFF2-40B4-BE49-F238E27FC236}">
                <a16:creationId xmlns:a16="http://schemas.microsoft.com/office/drawing/2014/main" xmlns="" id="{7D316946-E33C-F177-B497-1F088F6CCD4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xmlns="" id="{7FBC78F1-A0E2-6A1B-A612-318303C9032A}"/>
              </a:ext>
            </a:extLst>
          </p:cNvPr>
          <p:cNvSpPr txBox="1"/>
          <p:nvPr/>
        </p:nvSpPr>
        <p:spPr>
          <a:xfrm>
            <a:off x="1028855" y="1522941"/>
            <a:ext cx="3368495" cy="400110"/>
          </a:xfrm>
          <a:prstGeom prst="rect">
            <a:avLst/>
          </a:prstGeom>
          <a:noFill/>
        </p:spPr>
        <p:txBody>
          <a:bodyPr wrap="square">
            <a:spAutoFit/>
          </a:bodyPr>
          <a:lstStyle/>
          <a:p>
            <a:pPr>
              <a:spcBef>
                <a:spcPct val="50000"/>
              </a:spcBef>
            </a:pPr>
            <a:r>
              <a:rPr kumimoji="1" lang="en-US" altLang="zh-CN" sz="2000" dirty="0">
                <a:latin typeface="微软雅黑" pitchFamily="34" charset="-122"/>
                <a:ea typeface="微软雅黑" pitchFamily="34" charset="-122"/>
                <a:cs typeface="经典粗黑简" pitchFamily="49" charset="-122"/>
              </a:rPr>
              <a:t>2</a:t>
            </a:r>
            <a:r>
              <a:rPr kumimoji="1" lang="zh-CN" altLang="en-US" sz="2000" dirty="0">
                <a:latin typeface="微软雅黑" pitchFamily="34" charset="-122"/>
                <a:ea typeface="微软雅黑" pitchFamily="34" charset="-122"/>
                <a:cs typeface="经典粗黑简" pitchFamily="49" charset="-122"/>
              </a:rPr>
              <a:t>、二叉树还原为</a:t>
            </a:r>
            <a:r>
              <a:rPr kumimoji="1" lang="zh-CN" altLang="en-US" sz="2000" dirty="0">
                <a:solidFill>
                  <a:schemeClr val="tx1"/>
                </a:solidFill>
                <a:latin typeface="微软雅黑" pitchFamily="34" charset="-122"/>
                <a:ea typeface="微软雅黑" pitchFamily="34" charset="-122"/>
                <a:cs typeface="经典粗黑简" pitchFamily="49" charset="-122"/>
              </a:rPr>
              <a:t>森林、树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3022"/>
                                        </p:tgtEl>
                                        <p:attrNameLst>
                                          <p:attrName>style.visibility</p:attrName>
                                        </p:attrNameLst>
                                      </p:cBhvr>
                                      <p:to>
                                        <p:strVal val="visible"/>
                                      </p:to>
                                    </p:set>
                                    <p:animEffect transition="in" filter="wipe(left)">
                                      <p:cBhvr>
                                        <p:cTn id="7" dur="500"/>
                                        <p:tgtEl>
                                          <p:spTgt spid="3830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302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37F6A5-BA86-9C3C-B300-345DF8327E81}"/>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3B2FDC32-648E-130C-B8CB-B02F757568D0}"/>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7.3 </a:t>
            </a:r>
            <a:r>
              <a:rPr lang="zh-CN" altLang="en-US" sz="3000" b="1" dirty="0">
                <a:latin typeface="黑体" pitchFamily="49" charset="-122"/>
                <a:ea typeface="黑体" pitchFamily="49" charset="-122"/>
                <a:cs typeface="经典粗黑简" pitchFamily="49" charset="-122"/>
              </a:rPr>
              <a:t>二叉树的存储结构</a:t>
            </a:r>
          </a:p>
        </p:txBody>
      </p:sp>
      <p:sp>
        <p:nvSpPr>
          <p:cNvPr id="19" name="Rectangle 2">
            <a:extLst>
              <a:ext uri="{FF2B5EF4-FFF2-40B4-BE49-F238E27FC236}">
                <a16:creationId xmlns:a16="http://schemas.microsoft.com/office/drawing/2014/main" xmlns="" id="{3D7683C0-F5A0-6633-EA10-974FDF1EBC2A}"/>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7.3.1 </a:t>
            </a:r>
            <a:r>
              <a:rPr lang="zh-CN" altLang="en-US" dirty="0"/>
              <a:t>二叉树的顺序存储结构</a:t>
            </a:r>
          </a:p>
        </p:txBody>
      </p:sp>
      <p:cxnSp>
        <p:nvCxnSpPr>
          <p:cNvPr id="20" name="直接连接符 19">
            <a:extLst>
              <a:ext uri="{FF2B5EF4-FFF2-40B4-BE49-F238E27FC236}">
                <a16:creationId xmlns:a16="http://schemas.microsoft.com/office/drawing/2014/main" xmlns="" id="{0EFCE0C6-A7D6-0468-0ED2-5F133D46D1C5}"/>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xmlns="" id="{15BEAEA5-F3DC-DE21-1311-FFD5397E5B9C}"/>
              </a:ext>
            </a:extLst>
          </p:cNvPr>
          <p:cNvSpPr/>
          <p:nvPr/>
        </p:nvSpPr>
        <p:spPr>
          <a:xfrm>
            <a:off x="1127448" y="1628800"/>
            <a:ext cx="9361040" cy="736868"/>
          </a:xfrm>
          <a:prstGeom prst="rect">
            <a:avLst/>
          </a:prstGeom>
        </p:spPr>
        <p:txBody>
          <a:bodyPr wrap="square">
            <a:spAutoFit/>
          </a:bodyPr>
          <a:lstStyle/>
          <a:p>
            <a:pPr>
              <a:lnSpc>
                <a:spcPts val="2600"/>
              </a:lnSpc>
              <a:defRPr/>
            </a:pPr>
            <a:r>
              <a:rPr kumimoji="1" lang="zh-CN" altLang="en-US" sz="2000" dirty="0">
                <a:latin typeface="微软雅黑" pitchFamily="34" charset="-122"/>
                <a:ea typeface="微软雅黑" pitchFamily="34" charset="-122"/>
                <a:cs typeface="经典粗黑简" pitchFamily="49" charset="-122"/>
              </a:rPr>
              <a:t>二叉树的顺序存储结构就是用一维数组存储二叉树中的结点，并且结点的存储位置（下标）应能体现结点之间的逻辑关系——父子关系。</a:t>
            </a:r>
          </a:p>
        </p:txBody>
      </p:sp>
      <p:sp>
        <p:nvSpPr>
          <p:cNvPr id="5" name="矩形 4">
            <a:extLst>
              <a:ext uri="{FF2B5EF4-FFF2-40B4-BE49-F238E27FC236}">
                <a16:creationId xmlns:a16="http://schemas.microsoft.com/office/drawing/2014/main" xmlns="" id="{86269F66-833E-0B89-3720-AFD5ECB372E1}"/>
              </a:ext>
            </a:extLst>
          </p:cNvPr>
          <p:cNvSpPr/>
          <p:nvPr/>
        </p:nvSpPr>
        <p:spPr>
          <a:xfrm>
            <a:off x="1127447" y="2333341"/>
            <a:ext cx="5454352" cy="400110"/>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如何利用数组下标来反映结点之间的逻辑关系？</a:t>
            </a:r>
            <a:endParaRPr lang="zh-CN" altLang="en-US" sz="2000" dirty="0"/>
          </a:p>
        </p:txBody>
      </p:sp>
      <p:sp>
        <p:nvSpPr>
          <p:cNvPr id="7" name="矩形 6">
            <a:extLst>
              <a:ext uri="{FF2B5EF4-FFF2-40B4-BE49-F238E27FC236}">
                <a16:creationId xmlns:a16="http://schemas.microsoft.com/office/drawing/2014/main" xmlns="" id="{F9AE4C12-639D-60F9-58AF-650318AE69EB}"/>
              </a:ext>
            </a:extLst>
          </p:cNvPr>
          <p:cNvSpPr/>
          <p:nvPr/>
        </p:nvSpPr>
        <p:spPr>
          <a:xfrm>
            <a:off x="1127446" y="2730105"/>
            <a:ext cx="9505057" cy="707886"/>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二叉树的性质</a:t>
            </a:r>
            <a:r>
              <a:rPr kumimoji="1" lang="en-US" altLang="zh-CN" sz="2000" dirty="0">
                <a:latin typeface="微软雅黑" pitchFamily="34" charset="-122"/>
                <a:ea typeface="微软雅黑" pitchFamily="34" charset="-122"/>
                <a:cs typeface="经典粗黑简" pitchFamily="49" charset="-122"/>
              </a:rPr>
              <a:t>5</a:t>
            </a:r>
            <a:r>
              <a:rPr kumimoji="1" lang="zh-CN" altLang="en-US" sz="2000" dirty="0">
                <a:latin typeface="微软雅黑" pitchFamily="34" charset="-122"/>
                <a:ea typeface="微软雅黑" pitchFamily="34" charset="-122"/>
                <a:cs typeface="经典粗黑简" pitchFamily="49" charset="-122"/>
              </a:rPr>
              <a:t>为二叉树的顺序存储指明了存储规则：依照完全二叉树的结点编号次序，依次存放各个结点。</a:t>
            </a:r>
          </a:p>
        </p:txBody>
      </p:sp>
      <p:sp>
        <p:nvSpPr>
          <p:cNvPr id="8" name="矩形 7">
            <a:extLst>
              <a:ext uri="{FF2B5EF4-FFF2-40B4-BE49-F238E27FC236}">
                <a16:creationId xmlns:a16="http://schemas.microsoft.com/office/drawing/2014/main" xmlns="" id="{563D1B22-106C-780A-3FC1-70C2E4D23025}"/>
              </a:ext>
            </a:extLst>
          </p:cNvPr>
          <p:cNvSpPr/>
          <p:nvPr/>
        </p:nvSpPr>
        <p:spPr>
          <a:xfrm>
            <a:off x="1127447" y="5834785"/>
            <a:ext cx="9361041" cy="400110"/>
          </a:xfrm>
          <a:prstGeom prst="rect">
            <a:avLst/>
          </a:prstGeom>
        </p:spPr>
        <p:txBody>
          <a:bodyPr wrap="square">
            <a:spAutoFit/>
          </a:bodyPr>
          <a:lstStyle/>
          <a:p>
            <a:r>
              <a:rPr kumimoji="1" lang="zh-CN" altLang="en-US" sz="2000" dirty="0">
                <a:latin typeface="微软雅黑" pitchFamily="34" charset="-122"/>
                <a:ea typeface="微软雅黑" pitchFamily="34" charset="-122"/>
                <a:cs typeface="经典粗黑简" pitchFamily="49" charset="-122"/>
              </a:rPr>
              <a:t>注意：</a:t>
            </a:r>
            <a:r>
              <a:rPr kumimoji="1" lang="en-US" altLang="zh-CN" sz="2000" dirty="0">
                <a:latin typeface="微软雅黑" pitchFamily="34" charset="-122"/>
                <a:ea typeface="微软雅黑" pitchFamily="34" charset="-122"/>
                <a:cs typeface="经典粗黑简" pitchFamily="49" charset="-122"/>
              </a:rPr>
              <a:t>C/C++</a:t>
            </a:r>
            <a:r>
              <a:rPr kumimoji="1" lang="zh-CN" altLang="en-US" sz="2000" dirty="0">
                <a:latin typeface="微软雅黑" pitchFamily="34" charset="-122"/>
                <a:ea typeface="微软雅黑" pitchFamily="34" charset="-122"/>
                <a:cs typeface="经典粗黑简" pitchFamily="49" charset="-122"/>
              </a:rPr>
              <a:t>中数组的起始地址为</a:t>
            </a:r>
            <a:r>
              <a:rPr kumimoji="1" lang="en-US" altLang="zh-CN" sz="2000" dirty="0">
                <a:latin typeface="微软雅黑" pitchFamily="34" charset="-122"/>
                <a:ea typeface="微软雅黑" pitchFamily="34" charset="-122"/>
                <a:cs typeface="经典粗黑简" pitchFamily="49" charset="-122"/>
              </a:rPr>
              <a:t>0</a:t>
            </a:r>
            <a:r>
              <a:rPr kumimoji="1" lang="zh-CN" altLang="en-US" sz="2000" dirty="0">
                <a:latin typeface="微软雅黑" pitchFamily="34" charset="-122"/>
                <a:ea typeface="微软雅黑" pitchFamily="34" charset="-122"/>
                <a:cs typeface="经典粗黑简" pitchFamily="49" charset="-122"/>
              </a:rPr>
              <a:t>，编号为</a:t>
            </a:r>
            <a:r>
              <a:rPr kumimoji="1" lang="en-US" altLang="zh-CN" sz="2000" dirty="0">
                <a:latin typeface="微软雅黑" pitchFamily="34" charset="-122"/>
                <a:ea typeface="微软雅黑" pitchFamily="34" charset="-122"/>
                <a:cs typeface="经典粗黑简" pitchFamily="49" charset="-122"/>
              </a:rPr>
              <a:t>i</a:t>
            </a:r>
            <a:r>
              <a:rPr kumimoji="1" lang="zh-CN" altLang="en-US" sz="2000" dirty="0">
                <a:latin typeface="微软雅黑" pitchFamily="34" charset="-122"/>
                <a:ea typeface="微软雅黑" pitchFamily="34" charset="-122"/>
                <a:cs typeface="经典粗黑简" pitchFamily="49" charset="-122"/>
              </a:rPr>
              <a:t>的结点存储在下标为</a:t>
            </a:r>
            <a:r>
              <a:rPr kumimoji="1" lang="en-US" altLang="zh-CN" sz="2000" dirty="0">
                <a:latin typeface="微软雅黑" pitchFamily="34" charset="-122"/>
                <a:ea typeface="微软雅黑" pitchFamily="34" charset="-122"/>
                <a:cs typeface="经典粗黑简" pitchFamily="49" charset="-122"/>
              </a:rPr>
              <a:t>i</a:t>
            </a:r>
            <a:r>
              <a:rPr kumimoji="1" lang="en-US" altLang="zh-CN" sz="2000" dirty="0">
                <a:latin typeface="微软雅黑" pitchFamily="34" charset="-122"/>
                <a:ea typeface="微软雅黑" pitchFamily="34" charset="-122"/>
                <a:cs typeface="经典粗黑简" pitchFamily="49" charset="-122"/>
                <a:sym typeface="Symbol" pitchFamily="18" charset="2"/>
              </a:rPr>
              <a:t></a:t>
            </a:r>
            <a:r>
              <a:rPr kumimoji="1" lang="en-US" altLang="zh-CN" sz="2000" dirty="0">
                <a:latin typeface="微软雅黑" pitchFamily="34" charset="-122"/>
                <a:ea typeface="微软雅黑" pitchFamily="34" charset="-122"/>
                <a:cs typeface="经典粗黑简" pitchFamily="49" charset="-122"/>
              </a:rPr>
              <a:t>1</a:t>
            </a:r>
            <a:r>
              <a:rPr kumimoji="1" lang="zh-CN" altLang="en-US" sz="2000" dirty="0">
                <a:latin typeface="微软雅黑" pitchFamily="34" charset="-122"/>
                <a:ea typeface="微软雅黑" pitchFamily="34" charset="-122"/>
                <a:cs typeface="经典粗黑简" pitchFamily="49" charset="-122"/>
              </a:rPr>
              <a:t>的单元内。</a:t>
            </a:r>
            <a:endParaRPr lang="zh-CN" altLang="en-US" sz="2000" dirty="0"/>
          </a:p>
        </p:txBody>
      </p:sp>
      <p:sp>
        <p:nvSpPr>
          <p:cNvPr id="9" name="Text Box 12">
            <a:extLst>
              <a:ext uri="{FF2B5EF4-FFF2-40B4-BE49-F238E27FC236}">
                <a16:creationId xmlns:a16="http://schemas.microsoft.com/office/drawing/2014/main" xmlns="" id="{2F985218-5F65-7889-DE6F-59BFDA8FE612}"/>
              </a:ext>
            </a:extLst>
          </p:cNvPr>
          <p:cNvSpPr txBox="1">
            <a:spLocks noChangeArrowheads="1"/>
          </p:cNvSpPr>
          <p:nvPr/>
        </p:nvSpPr>
        <p:spPr bwMode="auto">
          <a:xfrm>
            <a:off x="1127446" y="3745872"/>
            <a:ext cx="5286412" cy="400110"/>
          </a:xfrm>
          <a:prstGeom prst="rect">
            <a:avLst/>
          </a:prstGeom>
          <a:noFill/>
          <a:ln w="28575" algn="ctr">
            <a:noFill/>
            <a:miter lim="800000"/>
            <a:headEnd/>
            <a:tailEnd type="none" w="med" len="lg"/>
          </a:ln>
          <a:effectLst/>
        </p:spPr>
        <p:txBody>
          <a:bodyPr wrap="square">
            <a:spAutoFit/>
          </a:bodyPr>
          <a:lstStyle/>
          <a:p>
            <a:pPr algn="l">
              <a:spcBef>
                <a:spcPct val="50000"/>
              </a:spcBef>
            </a:pPr>
            <a:r>
              <a:rPr kumimoji="1" lang="zh-CN" altLang="en-US" sz="2000" dirty="0">
                <a:latin typeface="微软雅黑" pitchFamily="34" charset="-122"/>
                <a:ea typeface="微软雅黑" pitchFamily="34" charset="-122"/>
                <a:cs typeface="经典粗黑简" pitchFamily="49" charset="-122"/>
              </a:rPr>
              <a:t>二叉树的性质</a:t>
            </a:r>
            <a:r>
              <a:rPr kumimoji="1" lang="en-US" altLang="zh-CN" sz="2000" dirty="0">
                <a:latin typeface="微软雅黑" pitchFamily="34" charset="-122"/>
                <a:ea typeface="微软雅黑" pitchFamily="34" charset="-122"/>
                <a:cs typeface="经典粗黑简" pitchFamily="49" charset="-122"/>
              </a:rPr>
              <a:t>4</a:t>
            </a:r>
            <a:r>
              <a:rPr kumimoji="1" lang="zh-CN" altLang="en-US" sz="2000" dirty="0">
                <a:latin typeface="微软雅黑" pitchFamily="34" charset="-122"/>
                <a:ea typeface="微软雅黑" pitchFamily="34" charset="-122"/>
                <a:cs typeface="经典粗黑简" pitchFamily="49" charset="-122"/>
              </a:rPr>
              <a:t>，完全二叉树结点按层序编号：</a:t>
            </a:r>
            <a:endParaRPr kumimoji="1" lang="en-US" altLang="zh-CN" sz="2000" dirty="0">
              <a:latin typeface="微软雅黑" pitchFamily="34" charset="-122"/>
              <a:ea typeface="微软雅黑" pitchFamily="34" charset="-122"/>
              <a:cs typeface="经典粗黑简" pitchFamily="49" charset="-122"/>
            </a:endParaRPr>
          </a:p>
        </p:txBody>
      </p:sp>
      <p:grpSp>
        <p:nvGrpSpPr>
          <p:cNvPr id="10" name="组合 12">
            <a:extLst>
              <a:ext uri="{FF2B5EF4-FFF2-40B4-BE49-F238E27FC236}">
                <a16:creationId xmlns:a16="http://schemas.microsoft.com/office/drawing/2014/main" xmlns="" id="{6E85E29C-1DC0-07FA-55A8-4E1488E4A5AA}"/>
              </a:ext>
            </a:extLst>
          </p:cNvPr>
          <p:cNvGrpSpPr/>
          <p:nvPr/>
        </p:nvGrpSpPr>
        <p:grpSpPr>
          <a:xfrm>
            <a:off x="7032104" y="3321018"/>
            <a:ext cx="2714644" cy="2166435"/>
            <a:chOff x="2500298" y="4000504"/>
            <a:chExt cx="2714644" cy="2166435"/>
          </a:xfrm>
        </p:grpSpPr>
        <p:sp>
          <p:nvSpPr>
            <p:cNvPr id="21" name="椭圆 20">
              <a:extLst>
                <a:ext uri="{FF2B5EF4-FFF2-40B4-BE49-F238E27FC236}">
                  <a16:creationId xmlns:a16="http://schemas.microsoft.com/office/drawing/2014/main" xmlns="" id="{D30C5F82-39EA-8C89-1B01-44C55280529F}"/>
                </a:ext>
              </a:extLst>
            </p:cNvPr>
            <p:cNvSpPr/>
            <p:nvPr/>
          </p:nvSpPr>
          <p:spPr>
            <a:xfrm>
              <a:off x="3428992" y="4000504"/>
              <a:ext cx="714380" cy="523361"/>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800" i="1" dirty="0" err="1">
                  <a:solidFill>
                    <a:srgbClr val="3333FF"/>
                  </a:solidFill>
                  <a:latin typeface="Consolas" pitchFamily="49" charset="0"/>
                  <a:cs typeface="Consolas" pitchFamily="49" charset="0"/>
                </a:rPr>
                <a:t>i</a:t>
              </a:r>
              <a:r>
                <a:rPr lang="en-US" altLang="zh-CN" sz="1800" dirty="0">
                  <a:solidFill>
                    <a:srgbClr val="3333FF"/>
                  </a:solidFill>
                  <a:latin typeface="Consolas" pitchFamily="49" charset="0"/>
                  <a:cs typeface="Consolas" pitchFamily="49" charset="0"/>
                </a:rPr>
                <a:t>/2</a:t>
              </a:r>
              <a:endParaRPr lang="zh-CN" altLang="en-US" sz="1800" dirty="0">
                <a:solidFill>
                  <a:srgbClr val="3333FF"/>
                </a:solidFill>
                <a:latin typeface="Consolas" pitchFamily="49" charset="0"/>
                <a:cs typeface="Consolas" pitchFamily="49" charset="0"/>
              </a:endParaRPr>
            </a:p>
          </p:txBody>
        </p:sp>
        <p:sp>
          <p:nvSpPr>
            <p:cNvPr id="27" name="椭圆 26">
              <a:extLst>
                <a:ext uri="{FF2B5EF4-FFF2-40B4-BE49-F238E27FC236}">
                  <a16:creationId xmlns:a16="http://schemas.microsoft.com/office/drawing/2014/main" xmlns="" id="{578A87E2-6943-56CC-5A13-6C95636CCBD7}"/>
                </a:ext>
              </a:extLst>
            </p:cNvPr>
            <p:cNvSpPr/>
            <p:nvPr/>
          </p:nvSpPr>
          <p:spPr>
            <a:xfrm>
              <a:off x="3428992" y="4857760"/>
              <a:ext cx="714380" cy="523361"/>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i="1" dirty="0" err="1">
                  <a:solidFill>
                    <a:srgbClr val="3333FF"/>
                  </a:solidFill>
                  <a:latin typeface="Consolas" pitchFamily="49" charset="0"/>
                  <a:cs typeface="Consolas" pitchFamily="49" charset="0"/>
                </a:rPr>
                <a:t>i</a:t>
              </a:r>
              <a:endParaRPr lang="zh-CN" altLang="en-US" sz="1800" dirty="0">
                <a:solidFill>
                  <a:srgbClr val="3333FF"/>
                </a:solidFill>
                <a:latin typeface="Consolas" pitchFamily="49" charset="0"/>
                <a:cs typeface="Consolas" pitchFamily="49" charset="0"/>
              </a:endParaRPr>
            </a:p>
          </p:txBody>
        </p:sp>
        <p:sp>
          <p:nvSpPr>
            <p:cNvPr id="29" name="椭圆 28">
              <a:extLst>
                <a:ext uri="{FF2B5EF4-FFF2-40B4-BE49-F238E27FC236}">
                  <a16:creationId xmlns:a16="http://schemas.microsoft.com/office/drawing/2014/main" xmlns="" id="{516E8DA5-9FEE-006C-B2AF-CEBE109A2D36}"/>
                </a:ext>
              </a:extLst>
            </p:cNvPr>
            <p:cNvSpPr/>
            <p:nvPr/>
          </p:nvSpPr>
          <p:spPr>
            <a:xfrm>
              <a:off x="2500298" y="5643578"/>
              <a:ext cx="714380" cy="523361"/>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err="1">
                  <a:solidFill>
                    <a:srgbClr val="3333FF"/>
                  </a:solidFill>
                  <a:latin typeface="Consolas" pitchFamily="49" charset="0"/>
                  <a:cs typeface="Consolas" pitchFamily="49" charset="0"/>
                </a:rPr>
                <a:t>2</a:t>
              </a:r>
              <a:r>
                <a:rPr lang="en-US" altLang="zh-CN" sz="1800" i="1" dirty="0" err="1">
                  <a:solidFill>
                    <a:srgbClr val="3333FF"/>
                  </a:solidFill>
                  <a:latin typeface="Consolas" pitchFamily="49" charset="0"/>
                  <a:cs typeface="Consolas" pitchFamily="49" charset="0"/>
                </a:rPr>
                <a:t>i</a:t>
              </a:r>
              <a:endParaRPr lang="zh-CN" altLang="en-US" sz="1800" dirty="0">
                <a:solidFill>
                  <a:srgbClr val="3333FF"/>
                </a:solidFill>
                <a:latin typeface="Consolas" pitchFamily="49" charset="0"/>
                <a:cs typeface="Consolas" pitchFamily="49" charset="0"/>
              </a:endParaRPr>
            </a:p>
          </p:txBody>
        </p:sp>
        <p:sp>
          <p:nvSpPr>
            <p:cNvPr id="41" name="椭圆 40">
              <a:extLst>
                <a:ext uri="{FF2B5EF4-FFF2-40B4-BE49-F238E27FC236}">
                  <a16:creationId xmlns:a16="http://schemas.microsoft.com/office/drawing/2014/main" xmlns="" id="{C5F83750-A82C-B03B-633B-D545B334515C}"/>
                </a:ext>
              </a:extLst>
            </p:cNvPr>
            <p:cNvSpPr/>
            <p:nvPr/>
          </p:nvSpPr>
          <p:spPr>
            <a:xfrm>
              <a:off x="4214810" y="5643578"/>
              <a:ext cx="1000132" cy="523361"/>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err="1">
                  <a:solidFill>
                    <a:srgbClr val="3333FF"/>
                  </a:solidFill>
                  <a:latin typeface="Consolas" pitchFamily="49" charset="0"/>
                  <a:cs typeface="Consolas" pitchFamily="49" charset="0"/>
                </a:rPr>
                <a:t>2</a:t>
              </a:r>
              <a:r>
                <a:rPr lang="en-US" altLang="zh-CN" sz="1800" i="1" dirty="0" err="1">
                  <a:solidFill>
                    <a:srgbClr val="3333FF"/>
                  </a:solidFill>
                  <a:latin typeface="Consolas" pitchFamily="49" charset="0"/>
                  <a:cs typeface="Consolas" pitchFamily="49" charset="0"/>
                </a:rPr>
                <a:t>i</a:t>
              </a:r>
              <a:r>
                <a:rPr lang="en-US" altLang="zh-CN" sz="1800" dirty="0" err="1">
                  <a:solidFill>
                    <a:srgbClr val="3333FF"/>
                  </a:solidFill>
                  <a:latin typeface="Consolas" pitchFamily="49" charset="0"/>
                  <a:cs typeface="Consolas" pitchFamily="49" charset="0"/>
                </a:rPr>
                <a:t>+1</a:t>
              </a:r>
              <a:endParaRPr lang="zh-CN" altLang="en-US" sz="1800" dirty="0">
                <a:solidFill>
                  <a:srgbClr val="3333FF"/>
                </a:solidFill>
                <a:latin typeface="Consolas" pitchFamily="49" charset="0"/>
                <a:cs typeface="Consolas" pitchFamily="49" charset="0"/>
              </a:endParaRPr>
            </a:p>
          </p:txBody>
        </p:sp>
        <p:cxnSp>
          <p:nvCxnSpPr>
            <p:cNvPr id="43" name="直接连接符 42">
              <a:extLst>
                <a:ext uri="{FF2B5EF4-FFF2-40B4-BE49-F238E27FC236}">
                  <a16:creationId xmlns:a16="http://schemas.microsoft.com/office/drawing/2014/main" xmlns="" id="{0A6AA795-B8B2-9266-78F5-EC8007C4546A}"/>
                </a:ext>
              </a:extLst>
            </p:cNvPr>
            <p:cNvCxnSpPr>
              <a:stCxn id="21" idx="4"/>
              <a:endCxn id="27" idx="0"/>
            </p:cNvCxnSpPr>
            <p:nvPr/>
          </p:nvCxnSpPr>
          <p:spPr>
            <a:xfrm rot="5400000">
              <a:off x="3619235" y="4690812"/>
              <a:ext cx="333895" cy="1588"/>
            </a:xfrm>
            <a:prstGeom prst="line">
              <a:avLst/>
            </a:prstGeom>
            <a:ln w="28575">
              <a:solidFill>
                <a:srgbClr val="FF00FF"/>
              </a:solidFill>
              <a:tailEnd type="none"/>
            </a:ln>
          </p:spPr>
          <p:style>
            <a:lnRef idx="1">
              <a:schemeClr val="dk1"/>
            </a:lnRef>
            <a:fillRef idx="0">
              <a:schemeClr val="dk1"/>
            </a:fillRef>
            <a:effectRef idx="0">
              <a:schemeClr val="dk1"/>
            </a:effectRef>
            <a:fontRef idx="minor">
              <a:schemeClr val="tx1"/>
            </a:fontRef>
          </p:style>
        </p:cxnSp>
        <p:cxnSp>
          <p:nvCxnSpPr>
            <p:cNvPr id="44" name="直接连接符 43">
              <a:extLst>
                <a:ext uri="{FF2B5EF4-FFF2-40B4-BE49-F238E27FC236}">
                  <a16:creationId xmlns:a16="http://schemas.microsoft.com/office/drawing/2014/main" xmlns="" id="{B96F42CC-8BDA-BD73-121C-E347CF6EE90A}"/>
                </a:ext>
              </a:extLst>
            </p:cNvPr>
            <p:cNvCxnSpPr>
              <a:stCxn id="27" idx="3"/>
              <a:endCxn id="29" idx="7"/>
            </p:cNvCxnSpPr>
            <p:nvPr/>
          </p:nvCxnSpPr>
          <p:spPr>
            <a:xfrm rot="5400000">
              <a:off x="3113963" y="5300573"/>
              <a:ext cx="415745" cy="423552"/>
            </a:xfrm>
            <a:prstGeom prst="line">
              <a:avLst/>
            </a:prstGeom>
            <a:ln w="28575">
              <a:solidFill>
                <a:srgbClr val="FF00FF"/>
              </a:solidFill>
              <a:tailEnd type="non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xmlns="" id="{1495D37B-1065-3A52-6EF3-1F3F4EA9BA95}"/>
                </a:ext>
              </a:extLst>
            </p:cNvPr>
            <p:cNvCxnSpPr>
              <a:stCxn id="27" idx="5"/>
              <a:endCxn id="41" idx="1"/>
            </p:cNvCxnSpPr>
            <p:nvPr/>
          </p:nvCxnSpPr>
          <p:spPr>
            <a:xfrm rot="16200000" flipH="1">
              <a:off x="3992142" y="5351087"/>
              <a:ext cx="415745" cy="322523"/>
            </a:xfrm>
            <a:prstGeom prst="straightConnector1">
              <a:avLst/>
            </a:prstGeom>
            <a:ln w="28575">
              <a:solidFill>
                <a:srgbClr val="FF00FF"/>
              </a:solidFill>
              <a:tailEnd type="non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34753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D78DF5A-FF1E-C07B-EC71-54FE3619DDCF}"/>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BE905FAE-CE49-DB1E-290F-35FCCD3124FF}"/>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7.3 </a:t>
            </a:r>
            <a:r>
              <a:rPr lang="zh-CN" altLang="en-US" sz="3000" b="1" dirty="0">
                <a:latin typeface="黑体" pitchFamily="49" charset="-122"/>
                <a:ea typeface="黑体" pitchFamily="49" charset="-122"/>
                <a:cs typeface="经典粗黑简" pitchFamily="49" charset="-122"/>
              </a:rPr>
              <a:t>二叉树的存储结构</a:t>
            </a:r>
          </a:p>
        </p:txBody>
      </p:sp>
      <p:cxnSp>
        <p:nvCxnSpPr>
          <p:cNvPr id="20" name="直接连接符 19">
            <a:extLst>
              <a:ext uri="{FF2B5EF4-FFF2-40B4-BE49-F238E27FC236}">
                <a16:creationId xmlns:a16="http://schemas.microsoft.com/office/drawing/2014/main" xmlns="" id="{0F7AC0D0-5D11-0171-DF55-570454A7BCB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Oval 1225">
            <a:extLst>
              <a:ext uri="{FF2B5EF4-FFF2-40B4-BE49-F238E27FC236}">
                <a16:creationId xmlns:a16="http://schemas.microsoft.com/office/drawing/2014/main" xmlns="" id="{4C4AECD6-D81D-8F27-B193-2AE95771F4D4}"/>
              </a:ext>
            </a:extLst>
          </p:cNvPr>
          <p:cNvSpPr>
            <a:spLocks noChangeArrowheads="1"/>
          </p:cNvSpPr>
          <p:nvPr/>
        </p:nvSpPr>
        <p:spPr bwMode="auto">
          <a:xfrm>
            <a:off x="5929432" y="1480603"/>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0" dirty="0">
                <a:solidFill>
                  <a:srgbClr val="3333FF"/>
                </a:solidFill>
                <a:latin typeface="Consolas" pitchFamily="49" charset="0"/>
                <a:cs typeface="Consolas" pitchFamily="49" charset="0"/>
              </a:rPr>
              <a:t>A</a:t>
            </a:r>
          </a:p>
        </p:txBody>
      </p:sp>
      <p:sp>
        <p:nvSpPr>
          <p:cNvPr id="4" name="Oval 1226">
            <a:extLst>
              <a:ext uri="{FF2B5EF4-FFF2-40B4-BE49-F238E27FC236}">
                <a16:creationId xmlns:a16="http://schemas.microsoft.com/office/drawing/2014/main" xmlns="" id="{EC9A7CB4-A9AE-970B-DBDA-BA392BF689C5}"/>
              </a:ext>
            </a:extLst>
          </p:cNvPr>
          <p:cNvSpPr>
            <a:spLocks noChangeArrowheads="1"/>
          </p:cNvSpPr>
          <p:nvPr/>
        </p:nvSpPr>
        <p:spPr bwMode="auto">
          <a:xfrm>
            <a:off x="4921369" y="219974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B</a:t>
            </a:r>
          </a:p>
        </p:txBody>
      </p:sp>
      <p:sp>
        <p:nvSpPr>
          <p:cNvPr id="6" name="Oval 1227">
            <a:extLst>
              <a:ext uri="{FF2B5EF4-FFF2-40B4-BE49-F238E27FC236}">
                <a16:creationId xmlns:a16="http://schemas.microsoft.com/office/drawing/2014/main" xmlns="" id="{40082CBE-DA05-2C3D-403C-134F83738246}"/>
              </a:ext>
            </a:extLst>
          </p:cNvPr>
          <p:cNvSpPr>
            <a:spLocks noChangeArrowheads="1"/>
          </p:cNvSpPr>
          <p:nvPr/>
        </p:nvSpPr>
        <p:spPr bwMode="auto">
          <a:xfrm>
            <a:off x="6937494" y="2199741"/>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C</a:t>
            </a:r>
          </a:p>
        </p:txBody>
      </p:sp>
      <p:sp>
        <p:nvSpPr>
          <p:cNvPr id="11" name="Oval 1228">
            <a:extLst>
              <a:ext uri="{FF2B5EF4-FFF2-40B4-BE49-F238E27FC236}">
                <a16:creationId xmlns:a16="http://schemas.microsoft.com/office/drawing/2014/main" xmlns="" id="{E2165DFF-787D-9235-6F4C-31BE78C322EB}"/>
              </a:ext>
            </a:extLst>
          </p:cNvPr>
          <p:cNvSpPr>
            <a:spLocks noChangeArrowheads="1"/>
          </p:cNvSpPr>
          <p:nvPr/>
        </p:nvSpPr>
        <p:spPr bwMode="auto">
          <a:xfrm>
            <a:off x="4203819" y="2991903"/>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D</a:t>
            </a:r>
          </a:p>
        </p:txBody>
      </p:sp>
      <p:sp>
        <p:nvSpPr>
          <p:cNvPr id="12" name="Freeform 1229">
            <a:extLst>
              <a:ext uri="{FF2B5EF4-FFF2-40B4-BE49-F238E27FC236}">
                <a16:creationId xmlns:a16="http://schemas.microsoft.com/office/drawing/2014/main" xmlns="" id="{2A1D6727-C8C8-8120-17FB-1D6D55AECA2D}"/>
              </a:ext>
            </a:extLst>
          </p:cNvPr>
          <p:cNvSpPr>
            <a:spLocks/>
          </p:cNvSpPr>
          <p:nvPr/>
        </p:nvSpPr>
        <p:spPr bwMode="auto">
          <a:xfrm>
            <a:off x="5286494" y="1794928"/>
            <a:ext cx="666750" cy="463550"/>
          </a:xfrm>
          <a:custGeom>
            <a:avLst/>
            <a:gdLst/>
            <a:ahLst/>
            <a:cxnLst>
              <a:cxn ang="0">
                <a:pos x="420" y="0"/>
              </a:cxn>
              <a:cxn ang="0">
                <a:pos x="0" y="292"/>
              </a:cxn>
            </a:cxnLst>
            <a:rect l="0" t="0" r="r" b="b"/>
            <a:pathLst>
              <a:path w="420" h="292">
                <a:moveTo>
                  <a:pt x="420" y="0"/>
                </a:moveTo>
                <a:lnTo>
                  <a:pt x="0" y="292"/>
                </a:lnTo>
              </a:path>
            </a:pathLst>
          </a:custGeom>
          <a:ln>
            <a:headEnd type="none" w="med" len="med"/>
            <a:tailEnd type="none" w="med" len="lg"/>
          </a:ln>
        </p:spPr>
        <p:style>
          <a:lnRef idx="1">
            <a:schemeClr val="accent2"/>
          </a:lnRef>
          <a:fillRef idx="0">
            <a:schemeClr val="accent2"/>
          </a:fillRef>
          <a:effectRef idx="0">
            <a:schemeClr val="accent2"/>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3" name="Freeform 1231">
            <a:extLst>
              <a:ext uri="{FF2B5EF4-FFF2-40B4-BE49-F238E27FC236}">
                <a16:creationId xmlns:a16="http://schemas.microsoft.com/office/drawing/2014/main" xmlns="" id="{44A0E810-5E82-94F5-CF7F-6118718D1EBD}"/>
              </a:ext>
            </a:extLst>
          </p:cNvPr>
          <p:cNvSpPr>
            <a:spLocks/>
          </p:cNvSpPr>
          <p:nvPr/>
        </p:nvSpPr>
        <p:spPr bwMode="auto">
          <a:xfrm>
            <a:off x="6346944" y="1775878"/>
            <a:ext cx="628650" cy="508000"/>
          </a:xfrm>
          <a:custGeom>
            <a:avLst/>
            <a:gdLst/>
            <a:ahLst/>
            <a:cxnLst>
              <a:cxn ang="0">
                <a:pos x="0" y="0"/>
              </a:cxn>
              <a:cxn ang="0">
                <a:pos x="396" y="320"/>
              </a:cxn>
            </a:cxnLst>
            <a:rect l="0" t="0" r="r" b="b"/>
            <a:pathLst>
              <a:path w="396" h="320">
                <a:moveTo>
                  <a:pt x="0" y="0"/>
                </a:moveTo>
                <a:lnTo>
                  <a:pt x="396" y="320"/>
                </a:lnTo>
              </a:path>
            </a:pathLst>
          </a:custGeom>
          <a:ln>
            <a:headEnd type="none" w="med" len="med"/>
            <a:tailEnd type="none" w="med" len="lg"/>
          </a:ln>
        </p:spPr>
        <p:style>
          <a:lnRef idx="1">
            <a:schemeClr val="accent2"/>
          </a:lnRef>
          <a:fillRef idx="0">
            <a:schemeClr val="accent2"/>
          </a:fillRef>
          <a:effectRef idx="0">
            <a:schemeClr val="accent2"/>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14" name="Oval 1232">
            <a:extLst>
              <a:ext uri="{FF2B5EF4-FFF2-40B4-BE49-F238E27FC236}">
                <a16:creationId xmlns:a16="http://schemas.microsoft.com/office/drawing/2014/main" xmlns="" id="{1D9509BB-D6E4-52F2-194B-3123C4E0E3CA}"/>
              </a:ext>
            </a:extLst>
          </p:cNvPr>
          <p:cNvSpPr>
            <a:spLocks noChangeArrowheads="1"/>
          </p:cNvSpPr>
          <p:nvPr/>
        </p:nvSpPr>
        <p:spPr bwMode="auto">
          <a:xfrm>
            <a:off x="5573832" y="296332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E</a:t>
            </a:r>
          </a:p>
        </p:txBody>
      </p:sp>
      <p:sp>
        <p:nvSpPr>
          <p:cNvPr id="15" name="Oval 1233">
            <a:extLst>
              <a:ext uri="{FF2B5EF4-FFF2-40B4-BE49-F238E27FC236}">
                <a16:creationId xmlns:a16="http://schemas.microsoft.com/office/drawing/2014/main" xmlns="" id="{E6845EDA-3BAD-8813-2758-0841C227A1DA}"/>
              </a:ext>
            </a:extLst>
          </p:cNvPr>
          <p:cNvSpPr>
            <a:spLocks noChangeArrowheads="1"/>
          </p:cNvSpPr>
          <p:nvPr/>
        </p:nvSpPr>
        <p:spPr bwMode="auto">
          <a:xfrm>
            <a:off x="6439019" y="296332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F</a:t>
            </a:r>
          </a:p>
        </p:txBody>
      </p:sp>
      <p:sp>
        <p:nvSpPr>
          <p:cNvPr id="16" name="Oval 1234">
            <a:extLst>
              <a:ext uri="{FF2B5EF4-FFF2-40B4-BE49-F238E27FC236}">
                <a16:creationId xmlns:a16="http://schemas.microsoft.com/office/drawing/2014/main" xmlns="" id="{D0A510F9-BEC2-6829-575B-BDB7DFB88B72}"/>
              </a:ext>
            </a:extLst>
          </p:cNvPr>
          <p:cNvSpPr>
            <a:spLocks noChangeArrowheads="1"/>
          </p:cNvSpPr>
          <p:nvPr/>
        </p:nvSpPr>
        <p:spPr bwMode="auto">
          <a:xfrm>
            <a:off x="7442319" y="2963328"/>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G</a:t>
            </a:r>
          </a:p>
        </p:txBody>
      </p:sp>
      <p:sp>
        <p:nvSpPr>
          <p:cNvPr id="18" name="Oval 1238">
            <a:extLst>
              <a:ext uri="{FF2B5EF4-FFF2-40B4-BE49-F238E27FC236}">
                <a16:creationId xmlns:a16="http://schemas.microsoft.com/office/drawing/2014/main" xmlns="" id="{F01CA7BC-42B6-0471-D28B-37F6F5919C26}"/>
              </a:ext>
            </a:extLst>
          </p:cNvPr>
          <p:cNvSpPr>
            <a:spLocks noChangeArrowheads="1"/>
          </p:cNvSpPr>
          <p:nvPr/>
        </p:nvSpPr>
        <p:spPr bwMode="auto">
          <a:xfrm>
            <a:off x="3768844" y="3784066"/>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H</a:t>
            </a:r>
          </a:p>
        </p:txBody>
      </p:sp>
      <p:sp>
        <p:nvSpPr>
          <p:cNvPr id="22" name="Freeform 1275">
            <a:extLst>
              <a:ext uri="{FF2B5EF4-FFF2-40B4-BE49-F238E27FC236}">
                <a16:creationId xmlns:a16="http://schemas.microsoft.com/office/drawing/2014/main" xmlns="" id="{79EF198C-A64B-0817-D71F-061408F6778E}"/>
              </a:ext>
            </a:extLst>
          </p:cNvPr>
          <p:cNvSpPr>
            <a:spLocks/>
          </p:cNvSpPr>
          <p:nvPr/>
        </p:nvSpPr>
        <p:spPr bwMode="auto">
          <a:xfrm>
            <a:off x="4537194" y="2550578"/>
            <a:ext cx="438150" cy="463550"/>
          </a:xfrm>
          <a:custGeom>
            <a:avLst/>
            <a:gdLst/>
            <a:ahLst/>
            <a:cxnLst>
              <a:cxn ang="0">
                <a:pos x="276" y="0"/>
              </a:cxn>
              <a:cxn ang="0">
                <a:pos x="0" y="292"/>
              </a:cxn>
            </a:cxnLst>
            <a:rect l="0" t="0" r="r" b="b"/>
            <a:pathLst>
              <a:path w="276" h="292">
                <a:moveTo>
                  <a:pt x="276" y="0"/>
                </a:moveTo>
                <a:lnTo>
                  <a:pt x="0" y="292"/>
                </a:lnTo>
              </a:path>
            </a:pathLst>
          </a:custGeom>
          <a:ln>
            <a:headEnd type="none" w="med" len="med"/>
            <a:tailEnd type="none" w="med" len="lg"/>
          </a:ln>
        </p:spPr>
        <p:style>
          <a:lnRef idx="1">
            <a:schemeClr val="accent2"/>
          </a:lnRef>
          <a:fillRef idx="0">
            <a:schemeClr val="accent2"/>
          </a:fillRef>
          <a:effectRef idx="0">
            <a:schemeClr val="accent2"/>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23" name="Freeform 1276">
            <a:extLst>
              <a:ext uri="{FF2B5EF4-FFF2-40B4-BE49-F238E27FC236}">
                <a16:creationId xmlns:a16="http://schemas.microsoft.com/office/drawing/2014/main" xmlns="" id="{7D172040-4120-B50B-295A-CCEBBCD492B9}"/>
              </a:ext>
            </a:extLst>
          </p:cNvPr>
          <p:cNvSpPr>
            <a:spLocks/>
          </p:cNvSpPr>
          <p:nvPr/>
        </p:nvSpPr>
        <p:spPr bwMode="auto">
          <a:xfrm>
            <a:off x="5318244" y="2544228"/>
            <a:ext cx="387350" cy="438150"/>
          </a:xfrm>
          <a:custGeom>
            <a:avLst/>
            <a:gdLst/>
            <a:ahLst/>
            <a:cxnLst>
              <a:cxn ang="0">
                <a:pos x="0" y="0"/>
              </a:cxn>
              <a:cxn ang="0">
                <a:pos x="244" y="276"/>
              </a:cxn>
            </a:cxnLst>
            <a:rect l="0" t="0" r="r" b="b"/>
            <a:pathLst>
              <a:path w="244" h="276">
                <a:moveTo>
                  <a:pt x="0" y="0"/>
                </a:moveTo>
                <a:lnTo>
                  <a:pt x="244" y="276"/>
                </a:lnTo>
              </a:path>
            </a:pathLst>
          </a:custGeom>
          <a:ln>
            <a:headEnd type="none" w="med" len="med"/>
            <a:tailEnd type="none" w="med" len="lg"/>
          </a:ln>
        </p:spPr>
        <p:style>
          <a:lnRef idx="1">
            <a:schemeClr val="accent2"/>
          </a:lnRef>
          <a:fillRef idx="0">
            <a:schemeClr val="accent2"/>
          </a:fillRef>
          <a:effectRef idx="0">
            <a:schemeClr val="accent2"/>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24" name="Freeform 1277">
            <a:extLst>
              <a:ext uri="{FF2B5EF4-FFF2-40B4-BE49-F238E27FC236}">
                <a16:creationId xmlns:a16="http://schemas.microsoft.com/office/drawing/2014/main" xmlns="" id="{F8E4244F-0A3B-22C0-9958-34AB41049412}"/>
              </a:ext>
            </a:extLst>
          </p:cNvPr>
          <p:cNvSpPr>
            <a:spLocks/>
          </p:cNvSpPr>
          <p:nvPr/>
        </p:nvSpPr>
        <p:spPr bwMode="auto">
          <a:xfrm>
            <a:off x="6740644" y="2569628"/>
            <a:ext cx="254000" cy="406400"/>
          </a:xfrm>
          <a:custGeom>
            <a:avLst/>
            <a:gdLst/>
            <a:ahLst/>
            <a:cxnLst>
              <a:cxn ang="0">
                <a:pos x="160" y="0"/>
              </a:cxn>
              <a:cxn ang="0">
                <a:pos x="0" y="256"/>
              </a:cxn>
            </a:cxnLst>
            <a:rect l="0" t="0" r="r" b="b"/>
            <a:pathLst>
              <a:path w="160" h="256">
                <a:moveTo>
                  <a:pt x="160" y="0"/>
                </a:moveTo>
                <a:lnTo>
                  <a:pt x="0" y="256"/>
                </a:lnTo>
              </a:path>
            </a:pathLst>
          </a:custGeom>
          <a:ln>
            <a:headEnd type="none" w="med" len="med"/>
            <a:tailEnd type="none" w="med" len="lg"/>
          </a:ln>
        </p:spPr>
        <p:style>
          <a:lnRef idx="1">
            <a:schemeClr val="accent2"/>
          </a:lnRef>
          <a:fillRef idx="0">
            <a:schemeClr val="accent2"/>
          </a:fillRef>
          <a:effectRef idx="0">
            <a:schemeClr val="accent2"/>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25" name="Freeform 1278">
            <a:extLst>
              <a:ext uri="{FF2B5EF4-FFF2-40B4-BE49-F238E27FC236}">
                <a16:creationId xmlns:a16="http://schemas.microsoft.com/office/drawing/2014/main" xmlns="" id="{43BE3A02-A530-A39F-FCD7-199724A9759A}"/>
              </a:ext>
            </a:extLst>
          </p:cNvPr>
          <p:cNvSpPr>
            <a:spLocks/>
          </p:cNvSpPr>
          <p:nvPr/>
        </p:nvSpPr>
        <p:spPr bwMode="auto">
          <a:xfrm>
            <a:off x="7299444" y="2575978"/>
            <a:ext cx="285750" cy="406400"/>
          </a:xfrm>
          <a:custGeom>
            <a:avLst/>
            <a:gdLst/>
            <a:ahLst/>
            <a:cxnLst>
              <a:cxn ang="0">
                <a:pos x="0" y="0"/>
              </a:cxn>
              <a:cxn ang="0">
                <a:pos x="180" y="256"/>
              </a:cxn>
            </a:cxnLst>
            <a:rect l="0" t="0" r="r" b="b"/>
            <a:pathLst>
              <a:path w="180" h="256">
                <a:moveTo>
                  <a:pt x="0" y="0"/>
                </a:moveTo>
                <a:lnTo>
                  <a:pt x="180" y="256"/>
                </a:lnTo>
              </a:path>
            </a:pathLst>
          </a:custGeom>
          <a:ln>
            <a:headEnd type="none" w="med" len="med"/>
            <a:tailEnd type="none" w="med" len="lg"/>
          </a:ln>
        </p:spPr>
        <p:style>
          <a:lnRef idx="1">
            <a:schemeClr val="accent2"/>
          </a:lnRef>
          <a:fillRef idx="0">
            <a:schemeClr val="accent2"/>
          </a:fillRef>
          <a:effectRef idx="0">
            <a:schemeClr val="accent2"/>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26" name="Oval 1279">
            <a:extLst>
              <a:ext uri="{FF2B5EF4-FFF2-40B4-BE49-F238E27FC236}">
                <a16:creationId xmlns:a16="http://schemas.microsoft.com/office/drawing/2014/main" xmlns="" id="{3D4B24FC-DCE3-3B9D-D34B-8A5F11E1F737}"/>
              </a:ext>
            </a:extLst>
          </p:cNvPr>
          <p:cNvSpPr>
            <a:spLocks noChangeArrowheads="1"/>
          </p:cNvSpPr>
          <p:nvPr/>
        </p:nvSpPr>
        <p:spPr bwMode="auto">
          <a:xfrm>
            <a:off x="4562594" y="3784066"/>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I</a:t>
            </a:r>
          </a:p>
        </p:txBody>
      </p:sp>
      <p:sp>
        <p:nvSpPr>
          <p:cNvPr id="28" name="Oval 1280">
            <a:extLst>
              <a:ext uri="{FF2B5EF4-FFF2-40B4-BE49-F238E27FC236}">
                <a16:creationId xmlns:a16="http://schemas.microsoft.com/office/drawing/2014/main" xmlns="" id="{8F760541-07D0-0B84-DFF6-42BD323FABF4}"/>
              </a:ext>
            </a:extLst>
          </p:cNvPr>
          <p:cNvSpPr>
            <a:spLocks noChangeArrowheads="1"/>
          </p:cNvSpPr>
          <p:nvPr/>
        </p:nvSpPr>
        <p:spPr bwMode="auto">
          <a:xfrm>
            <a:off x="5208707" y="3784066"/>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J</a:t>
            </a:r>
          </a:p>
        </p:txBody>
      </p:sp>
      <p:sp>
        <p:nvSpPr>
          <p:cNvPr id="30" name="Oval 1281">
            <a:extLst>
              <a:ext uri="{FF2B5EF4-FFF2-40B4-BE49-F238E27FC236}">
                <a16:creationId xmlns:a16="http://schemas.microsoft.com/office/drawing/2014/main" xmlns="" id="{567954C0-6AFE-DA6C-A872-AF1705E42792}"/>
              </a:ext>
            </a:extLst>
          </p:cNvPr>
          <p:cNvSpPr>
            <a:spLocks noChangeArrowheads="1"/>
          </p:cNvSpPr>
          <p:nvPr/>
        </p:nvSpPr>
        <p:spPr bwMode="auto">
          <a:xfrm>
            <a:off x="6002457" y="3784066"/>
            <a:ext cx="431800" cy="43180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K</a:t>
            </a:r>
          </a:p>
        </p:txBody>
      </p:sp>
      <p:sp>
        <p:nvSpPr>
          <p:cNvPr id="31" name="Freeform 1282">
            <a:extLst>
              <a:ext uri="{FF2B5EF4-FFF2-40B4-BE49-F238E27FC236}">
                <a16:creationId xmlns:a16="http://schemas.microsoft.com/office/drawing/2014/main" xmlns="" id="{F9D12BA4-7119-6FBC-1701-A71E6F5FF773}"/>
              </a:ext>
            </a:extLst>
          </p:cNvPr>
          <p:cNvSpPr>
            <a:spLocks/>
          </p:cNvSpPr>
          <p:nvPr/>
        </p:nvSpPr>
        <p:spPr bwMode="auto">
          <a:xfrm>
            <a:off x="4029194" y="3382428"/>
            <a:ext cx="266700" cy="412750"/>
          </a:xfrm>
          <a:custGeom>
            <a:avLst/>
            <a:gdLst/>
            <a:ahLst/>
            <a:cxnLst>
              <a:cxn ang="0">
                <a:pos x="168" y="0"/>
              </a:cxn>
              <a:cxn ang="0">
                <a:pos x="0" y="260"/>
              </a:cxn>
            </a:cxnLst>
            <a:rect l="0" t="0" r="r" b="b"/>
            <a:pathLst>
              <a:path w="168" h="260">
                <a:moveTo>
                  <a:pt x="168" y="0"/>
                </a:moveTo>
                <a:lnTo>
                  <a:pt x="0" y="260"/>
                </a:lnTo>
              </a:path>
            </a:pathLst>
          </a:custGeom>
          <a:ln>
            <a:headEnd type="none" w="med" len="med"/>
            <a:tailEnd type="none" w="med" len="lg"/>
          </a:ln>
        </p:spPr>
        <p:style>
          <a:lnRef idx="1">
            <a:schemeClr val="accent2"/>
          </a:lnRef>
          <a:fillRef idx="0">
            <a:schemeClr val="accent2"/>
          </a:fillRef>
          <a:effectRef idx="0">
            <a:schemeClr val="accent2"/>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32" name="Freeform 1283">
            <a:extLst>
              <a:ext uri="{FF2B5EF4-FFF2-40B4-BE49-F238E27FC236}">
                <a16:creationId xmlns:a16="http://schemas.microsoft.com/office/drawing/2014/main" xmlns="" id="{A574A9E6-3884-891C-0798-3B6A82415987}"/>
              </a:ext>
            </a:extLst>
          </p:cNvPr>
          <p:cNvSpPr>
            <a:spLocks/>
          </p:cNvSpPr>
          <p:nvPr/>
        </p:nvSpPr>
        <p:spPr bwMode="auto">
          <a:xfrm>
            <a:off x="4543544" y="3382428"/>
            <a:ext cx="215900" cy="419100"/>
          </a:xfrm>
          <a:custGeom>
            <a:avLst/>
            <a:gdLst/>
            <a:ahLst/>
            <a:cxnLst>
              <a:cxn ang="0">
                <a:pos x="0" y="0"/>
              </a:cxn>
              <a:cxn ang="0">
                <a:pos x="136" y="264"/>
              </a:cxn>
            </a:cxnLst>
            <a:rect l="0" t="0" r="r" b="b"/>
            <a:pathLst>
              <a:path w="136" h="264">
                <a:moveTo>
                  <a:pt x="0" y="0"/>
                </a:moveTo>
                <a:lnTo>
                  <a:pt x="136" y="264"/>
                </a:lnTo>
              </a:path>
            </a:pathLst>
          </a:custGeom>
          <a:ln>
            <a:headEnd type="none" w="med" len="med"/>
            <a:tailEnd type="none" w="med" len="lg"/>
          </a:ln>
        </p:spPr>
        <p:style>
          <a:lnRef idx="1">
            <a:schemeClr val="accent2"/>
          </a:lnRef>
          <a:fillRef idx="0">
            <a:schemeClr val="accent2"/>
          </a:fillRef>
          <a:effectRef idx="0">
            <a:schemeClr val="accent2"/>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33" name="Freeform 1284">
            <a:extLst>
              <a:ext uri="{FF2B5EF4-FFF2-40B4-BE49-F238E27FC236}">
                <a16:creationId xmlns:a16="http://schemas.microsoft.com/office/drawing/2014/main" xmlns="" id="{B4AD38A1-F88F-02B5-BB82-3DC6EE5E4F92}"/>
              </a:ext>
            </a:extLst>
          </p:cNvPr>
          <p:cNvSpPr>
            <a:spLocks/>
          </p:cNvSpPr>
          <p:nvPr/>
        </p:nvSpPr>
        <p:spPr bwMode="auto">
          <a:xfrm>
            <a:off x="5432544" y="3357028"/>
            <a:ext cx="228600" cy="431800"/>
          </a:xfrm>
          <a:custGeom>
            <a:avLst/>
            <a:gdLst/>
            <a:ahLst/>
            <a:cxnLst>
              <a:cxn ang="0">
                <a:pos x="144" y="0"/>
              </a:cxn>
              <a:cxn ang="0">
                <a:pos x="0" y="272"/>
              </a:cxn>
            </a:cxnLst>
            <a:rect l="0" t="0" r="r" b="b"/>
            <a:pathLst>
              <a:path w="144" h="272">
                <a:moveTo>
                  <a:pt x="144" y="0"/>
                </a:moveTo>
                <a:lnTo>
                  <a:pt x="0" y="272"/>
                </a:lnTo>
              </a:path>
            </a:pathLst>
          </a:custGeom>
          <a:ln>
            <a:headEnd type="none" w="med" len="med"/>
            <a:tailEnd type="none" w="med" len="lg"/>
          </a:ln>
        </p:spPr>
        <p:style>
          <a:lnRef idx="1">
            <a:schemeClr val="accent2"/>
          </a:lnRef>
          <a:fillRef idx="0">
            <a:schemeClr val="accent2"/>
          </a:fillRef>
          <a:effectRef idx="0">
            <a:schemeClr val="accent2"/>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34" name="Freeform 1285">
            <a:extLst>
              <a:ext uri="{FF2B5EF4-FFF2-40B4-BE49-F238E27FC236}">
                <a16:creationId xmlns:a16="http://schemas.microsoft.com/office/drawing/2014/main" xmlns="" id="{1FB239A1-D6DF-5790-3067-2F70E7C5E2D3}"/>
              </a:ext>
            </a:extLst>
          </p:cNvPr>
          <p:cNvSpPr>
            <a:spLocks/>
          </p:cNvSpPr>
          <p:nvPr/>
        </p:nvSpPr>
        <p:spPr bwMode="auto">
          <a:xfrm>
            <a:off x="5915144" y="3357028"/>
            <a:ext cx="260350" cy="431800"/>
          </a:xfrm>
          <a:custGeom>
            <a:avLst/>
            <a:gdLst/>
            <a:ahLst/>
            <a:cxnLst>
              <a:cxn ang="0">
                <a:pos x="0" y="0"/>
              </a:cxn>
              <a:cxn ang="0">
                <a:pos x="164" y="272"/>
              </a:cxn>
            </a:cxnLst>
            <a:rect l="0" t="0" r="r" b="b"/>
            <a:pathLst>
              <a:path w="164" h="272">
                <a:moveTo>
                  <a:pt x="0" y="0"/>
                </a:moveTo>
                <a:lnTo>
                  <a:pt x="164" y="272"/>
                </a:lnTo>
              </a:path>
            </a:pathLst>
          </a:custGeom>
          <a:ln>
            <a:headEnd type="none" w="med" len="med"/>
            <a:tailEnd type="none" w="med" len="lg"/>
          </a:ln>
        </p:spPr>
        <p:style>
          <a:lnRef idx="1">
            <a:schemeClr val="accent2"/>
          </a:lnRef>
          <a:fillRef idx="0">
            <a:schemeClr val="accent2"/>
          </a:fillRef>
          <a:effectRef idx="0">
            <a:schemeClr val="accent2"/>
          </a:effectRef>
          <a:fontRef idx="minor">
            <a:schemeClr val="tx1"/>
          </a:fontRef>
        </p:style>
        <p:txBody>
          <a:bodyPr wrap="none"/>
          <a:lstStyle/>
          <a:p>
            <a:endParaRPr lang="zh-CN" altLang="en-US" sz="1800" b="0">
              <a:latin typeface="Consolas" pitchFamily="49" charset="0"/>
              <a:cs typeface="Consolas" pitchFamily="49" charset="0"/>
            </a:endParaRPr>
          </a:p>
        </p:txBody>
      </p:sp>
      <p:grpSp>
        <p:nvGrpSpPr>
          <p:cNvPr id="35" name="组合 120">
            <a:extLst>
              <a:ext uri="{FF2B5EF4-FFF2-40B4-BE49-F238E27FC236}">
                <a16:creationId xmlns:a16="http://schemas.microsoft.com/office/drawing/2014/main" xmlns="" id="{9A318DAC-09A9-A91E-98AE-BBE7B02E7D02}"/>
              </a:ext>
            </a:extLst>
          </p:cNvPr>
          <p:cNvGrpSpPr/>
          <p:nvPr/>
        </p:nvGrpSpPr>
        <p:grpSpPr>
          <a:xfrm>
            <a:off x="3503712" y="1359932"/>
            <a:ext cx="4679950" cy="2620893"/>
            <a:chOff x="1692275" y="404813"/>
            <a:chExt cx="4679950" cy="2620893"/>
          </a:xfrm>
        </p:grpSpPr>
        <p:sp>
          <p:nvSpPr>
            <p:cNvPr id="36" name="Text Box 1274">
              <a:extLst>
                <a:ext uri="{FF2B5EF4-FFF2-40B4-BE49-F238E27FC236}">
                  <a16:creationId xmlns:a16="http://schemas.microsoft.com/office/drawing/2014/main" xmlns="" id="{21445B5F-8596-6E6E-16F9-2637D8A58F64}"/>
                </a:ext>
              </a:extLst>
            </p:cNvPr>
            <p:cNvSpPr txBox="1">
              <a:spLocks noChangeArrowheads="1"/>
            </p:cNvSpPr>
            <p:nvPr/>
          </p:nvSpPr>
          <p:spPr bwMode="auto">
            <a:xfrm>
              <a:off x="4532313" y="404813"/>
              <a:ext cx="431800" cy="353943"/>
            </a:xfrm>
            <a:prstGeom prst="rect">
              <a:avLst/>
            </a:prstGeom>
            <a:noFill/>
            <a:ln w="28575" algn="ctr">
              <a:noFill/>
              <a:miter lim="800000"/>
              <a:headEnd/>
              <a:tailEnd type="none" w="med" len="lg"/>
            </a:ln>
            <a:effectLst/>
          </p:spPr>
          <p:txBody>
            <a:bodyPr>
              <a:spAutoFit/>
            </a:bodyPr>
            <a:lstStyle/>
            <a:p>
              <a:pPr>
                <a:spcBef>
                  <a:spcPct val="50000"/>
                </a:spcBef>
              </a:pPr>
              <a:r>
                <a:rPr lang="en-US" altLang="zh-CN" sz="1700" b="0">
                  <a:solidFill>
                    <a:srgbClr val="FF0000"/>
                  </a:solidFill>
                  <a:latin typeface="Consolas" pitchFamily="49" charset="0"/>
                  <a:cs typeface="Consolas" pitchFamily="49" charset="0"/>
                </a:rPr>
                <a:t>1</a:t>
              </a:r>
            </a:p>
          </p:txBody>
        </p:sp>
        <p:sp>
          <p:nvSpPr>
            <p:cNvPr id="37" name="Text Box 1286">
              <a:extLst>
                <a:ext uri="{FF2B5EF4-FFF2-40B4-BE49-F238E27FC236}">
                  <a16:creationId xmlns:a16="http://schemas.microsoft.com/office/drawing/2014/main" xmlns="" id="{A7A53C8B-7BD8-E723-FC0A-C1A7BCED25DD}"/>
                </a:ext>
              </a:extLst>
            </p:cNvPr>
            <p:cNvSpPr txBox="1">
              <a:spLocks noChangeArrowheads="1"/>
            </p:cNvSpPr>
            <p:nvPr/>
          </p:nvSpPr>
          <p:spPr bwMode="auto">
            <a:xfrm>
              <a:off x="2916238" y="1087438"/>
              <a:ext cx="431800" cy="369332"/>
            </a:xfrm>
            <a:prstGeom prst="rect">
              <a:avLst/>
            </a:prstGeom>
            <a:noFill/>
            <a:ln w="28575" algn="ctr">
              <a:noFill/>
              <a:miter lim="800000"/>
              <a:headEnd/>
              <a:tailEnd type="none" w="med" len="lg"/>
            </a:ln>
            <a:effectLst/>
          </p:spPr>
          <p:txBody>
            <a:bodyPr>
              <a:spAutoFit/>
            </a:bodyPr>
            <a:lstStyle/>
            <a:p>
              <a:pPr>
                <a:spcBef>
                  <a:spcPct val="50000"/>
                </a:spcBef>
              </a:pPr>
              <a:r>
                <a:rPr lang="en-US" altLang="zh-CN" sz="1800" b="0">
                  <a:solidFill>
                    <a:srgbClr val="FF0000"/>
                  </a:solidFill>
                  <a:latin typeface="Consolas" pitchFamily="49" charset="0"/>
                  <a:cs typeface="Consolas" pitchFamily="49" charset="0"/>
                </a:rPr>
                <a:t>2</a:t>
              </a:r>
            </a:p>
          </p:txBody>
        </p:sp>
        <p:sp>
          <p:nvSpPr>
            <p:cNvPr id="38" name="Text Box 1287">
              <a:extLst>
                <a:ext uri="{FF2B5EF4-FFF2-40B4-BE49-F238E27FC236}">
                  <a16:creationId xmlns:a16="http://schemas.microsoft.com/office/drawing/2014/main" xmlns="" id="{9547CF81-45CD-2AD2-FE56-EB0834B1EA2B}"/>
                </a:ext>
              </a:extLst>
            </p:cNvPr>
            <p:cNvSpPr txBox="1">
              <a:spLocks noChangeArrowheads="1"/>
            </p:cNvSpPr>
            <p:nvPr/>
          </p:nvSpPr>
          <p:spPr bwMode="auto">
            <a:xfrm>
              <a:off x="2124075" y="1879600"/>
              <a:ext cx="431800" cy="353943"/>
            </a:xfrm>
            <a:prstGeom prst="rect">
              <a:avLst/>
            </a:prstGeom>
            <a:noFill/>
            <a:ln w="28575" algn="ctr">
              <a:noFill/>
              <a:miter lim="800000"/>
              <a:headEnd/>
              <a:tailEnd type="none" w="med" len="lg"/>
            </a:ln>
            <a:effectLst/>
          </p:spPr>
          <p:txBody>
            <a:bodyPr>
              <a:spAutoFit/>
            </a:bodyPr>
            <a:lstStyle/>
            <a:p>
              <a:pPr>
                <a:spcBef>
                  <a:spcPct val="50000"/>
                </a:spcBef>
              </a:pPr>
              <a:r>
                <a:rPr lang="en-US" altLang="zh-CN" sz="1700" b="0">
                  <a:solidFill>
                    <a:srgbClr val="FF0000"/>
                  </a:solidFill>
                  <a:latin typeface="Consolas" pitchFamily="49" charset="0"/>
                  <a:cs typeface="Consolas" pitchFamily="49" charset="0"/>
                </a:rPr>
                <a:t>4</a:t>
              </a:r>
            </a:p>
          </p:txBody>
        </p:sp>
        <p:sp>
          <p:nvSpPr>
            <p:cNvPr id="39" name="Text Box 1288">
              <a:extLst>
                <a:ext uri="{FF2B5EF4-FFF2-40B4-BE49-F238E27FC236}">
                  <a16:creationId xmlns:a16="http://schemas.microsoft.com/office/drawing/2014/main" xmlns="" id="{64DBA5E3-EF64-DDD4-A65A-F7206ABC5529}"/>
                </a:ext>
              </a:extLst>
            </p:cNvPr>
            <p:cNvSpPr txBox="1">
              <a:spLocks noChangeArrowheads="1"/>
            </p:cNvSpPr>
            <p:nvPr/>
          </p:nvSpPr>
          <p:spPr bwMode="auto">
            <a:xfrm>
              <a:off x="1692275" y="2671763"/>
              <a:ext cx="431800" cy="353943"/>
            </a:xfrm>
            <a:prstGeom prst="rect">
              <a:avLst/>
            </a:prstGeom>
            <a:noFill/>
            <a:ln w="28575" algn="ctr">
              <a:noFill/>
              <a:miter lim="800000"/>
              <a:headEnd/>
              <a:tailEnd type="none" w="med" len="lg"/>
            </a:ln>
            <a:effectLst/>
          </p:spPr>
          <p:txBody>
            <a:bodyPr>
              <a:spAutoFit/>
            </a:bodyPr>
            <a:lstStyle/>
            <a:p>
              <a:pPr>
                <a:spcBef>
                  <a:spcPct val="50000"/>
                </a:spcBef>
              </a:pPr>
              <a:r>
                <a:rPr lang="en-US" altLang="zh-CN" sz="1700" b="0">
                  <a:solidFill>
                    <a:srgbClr val="FF0000"/>
                  </a:solidFill>
                  <a:latin typeface="Consolas" pitchFamily="49" charset="0"/>
                  <a:cs typeface="Consolas" pitchFamily="49" charset="0"/>
                </a:rPr>
                <a:t>8</a:t>
              </a:r>
            </a:p>
          </p:txBody>
        </p:sp>
        <p:sp>
          <p:nvSpPr>
            <p:cNvPr id="40" name="Text Box 1289">
              <a:extLst>
                <a:ext uri="{FF2B5EF4-FFF2-40B4-BE49-F238E27FC236}">
                  <a16:creationId xmlns:a16="http://schemas.microsoft.com/office/drawing/2014/main" xmlns="" id="{939D3026-8843-D22C-4A61-74BABD570B92}"/>
                </a:ext>
              </a:extLst>
            </p:cNvPr>
            <p:cNvSpPr txBox="1">
              <a:spLocks noChangeArrowheads="1"/>
            </p:cNvSpPr>
            <p:nvPr/>
          </p:nvSpPr>
          <p:spPr bwMode="auto">
            <a:xfrm>
              <a:off x="2555875" y="2636838"/>
              <a:ext cx="431800" cy="353943"/>
            </a:xfrm>
            <a:prstGeom prst="rect">
              <a:avLst/>
            </a:prstGeom>
            <a:noFill/>
            <a:ln w="28575" algn="ctr">
              <a:noFill/>
              <a:miter lim="800000"/>
              <a:headEnd/>
              <a:tailEnd type="none" w="med" len="lg"/>
            </a:ln>
            <a:effectLst/>
          </p:spPr>
          <p:txBody>
            <a:bodyPr>
              <a:spAutoFit/>
            </a:bodyPr>
            <a:lstStyle/>
            <a:p>
              <a:pPr>
                <a:spcBef>
                  <a:spcPct val="50000"/>
                </a:spcBef>
              </a:pPr>
              <a:r>
                <a:rPr lang="en-US" altLang="zh-CN" sz="1700" b="0">
                  <a:solidFill>
                    <a:srgbClr val="FF0000"/>
                  </a:solidFill>
                  <a:latin typeface="Consolas" pitchFamily="49" charset="0"/>
                  <a:cs typeface="Consolas" pitchFamily="49" charset="0"/>
                </a:rPr>
                <a:t>9</a:t>
              </a:r>
            </a:p>
          </p:txBody>
        </p:sp>
        <p:sp>
          <p:nvSpPr>
            <p:cNvPr id="42" name="Text Box 1290">
              <a:extLst>
                <a:ext uri="{FF2B5EF4-FFF2-40B4-BE49-F238E27FC236}">
                  <a16:creationId xmlns:a16="http://schemas.microsoft.com/office/drawing/2014/main" xmlns="" id="{E90BB476-76EB-AE59-4E65-1D0E1F7BFF0F}"/>
                </a:ext>
              </a:extLst>
            </p:cNvPr>
            <p:cNvSpPr txBox="1">
              <a:spLocks noChangeArrowheads="1"/>
            </p:cNvSpPr>
            <p:nvPr/>
          </p:nvSpPr>
          <p:spPr bwMode="auto">
            <a:xfrm>
              <a:off x="3203575" y="2584450"/>
              <a:ext cx="504825" cy="353943"/>
            </a:xfrm>
            <a:prstGeom prst="rect">
              <a:avLst/>
            </a:prstGeom>
            <a:noFill/>
            <a:ln w="28575" algn="ctr">
              <a:noFill/>
              <a:miter lim="800000"/>
              <a:headEnd/>
              <a:tailEnd type="none" w="med" len="lg"/>
            </a:ln>
            <a:effectLst/>
          </p:spPr>
          <p:txBody>
            <a:bodyPr>
              <a:spAutoFit/>
            </a:bodyPr>
            <a:lstStyle/>
            <a:p>
              <a:pPr>
                <a:spcBef>
                  <a:spcPct val="50000"/>
                </a:spcBef>
              </a:pPr>
              <a:r>
                <a:rPr lang="en-US" altLang="zh-CN" sz="1700" b="0">
                  <a:solidFill>
                    <a:srgbClr val="FF0000"/>
                  </a:solidFill>
                  <a:latin typeface="Consolas" pitchFamily="49" charset="0"/>
                  <a:cs typeface="Consolas" pitchFamily="49" charset="0"/>
                </a:rPr>
                <a:t>10</a:t>
              </a:r>
            </a:p>
          </p:txBody>
        </p:sp>
        <p:sp>
          <p:nvSpPr>
            <p:cNvPr id="45" name="Text Box 1291">
              <a:extLst>
                <a:ext uri="{FF2B5EF4-FFF2-40B4-BE49-F238E27FC236}">
                  <a16:creationId xmlns:a16="http://schemas.microsoft.com/office/drawing/2014/main" xmlns="" id="{100F77F6-6B74-B37A-F3DC-4C67C6C7381F}"/>
                </a:ext>
              </a:extLst>
            </p:cNvPr>
            <p:cNvSpPr txBox="1">
              <a:spLocks noChangeArrowheads="1"/>
            </p:cNvSpPr>
            <p:nvPr/>
          </p:nvSpPr>
          <p:spPr bwMode="auto">
            <a:xfrm>
              <a:off x="4471988" y="2600325"/>
              <a:ext cx="477860" cy="353943"/>
            </a:xfrm>
            <a:prstGeom prst="rect">
              <a:avLst/>
            </a:prstGeom>
            <a:noFill/>
            <a:ln w="28575" algn="ctr">
              <a:noFill/>
              <a:miter lim="800000"/>
              <a:headEnd/>
              <a:tailEnd type="none" w="med" len="lg"/>
            </a:ln>
            <a:effectLst/>
          </p:spPr>
          <p:txBody>
            <a:bodyPr wrap="square">
              <a:spAutoFit/>
            </a:bodyPr>
            <a:lstStyle/>
            <a:p>
              <a:pPr>
                <a:spcBef>
                  <a:spcPct val="50000"/>
                </a:spcBef>
              </a:pPr>
              <a:r>
                <a:rPr lang="en-US" altLang="zh-CN" sz="1700" b="0">
                  <a:solidFill>
                    <a:srgbClr val="FF0000"/>
                  </a:solidFill>
                  <a:latin typeface="Consolas" pitchFamily="49" charset="0"/>
                  <a:cs typeface="Consolas" pitchFamily="49" charset="0"/>
                </a:rPr>
                <a:t>11</a:t>
              </a:r>
            </a:p>
          </p:txBody>
        </p:sp>
        <p:sp>
          <p:nvSpPr>
            <p:cNvPr id="47" name="Text Box 1292">
              <a:extLst>
                <a:ext uri="{FF2B5EF4-FFF2-40B4-BE49-F238E27FC236}">
                  <a16:creationId xmlns:a16="http://schemas.microsoft.com/office/drawing/2014/main" xmlns="" id="{3865DC44-38C3-2094-71DB-7EFD2D3B9D35}"/>
                </a:ext>
              </a:extLst>
            </p:cNvPr>
            <p:cNvSpPr txBox="1">
              <a:spLocks noChangeArrowheads="1"/>
            </p:cNvSpPr>
            <p:nvPr/>
          </p:nvSpPr>
          <p:spPr bwMode="auto">
            <a:xfrm>
              <a:off x="4067175" y="1773238"/>
              <a:ext cx="431800" cy="353943"/>
            </a:xfrm>
            <a:prstGeom prst="rect">
              <a:avLst/>
            </a:prstGeom>
            <a:noFill/>
            <a:ln w="28575" algn="ctr">
              <a:noFill/>
              <a:miter lim="800000"/>
              <a:headEnd/>
              <a:tailEnd type="none" w="med" len="lg"/>
            </a:ln>
            <a:effectLst/>
          </p:spPr>
          <p:txBody>
            <a:bodyPr>
              <a:spAutoFit/>
            </a:bodyPr>
            <a:lstStyle/>
            <a:p>
              <a:pPr>
                <a:spcBef>
                  <a:spcPct val="50000"/>
                </a:spcBef>
              </a:pPr>
              <a:r>
                <a:rPr lang="en-US" altLang="zh-CN" sz="1700" b="0">
                  <a:solidFill>
                    <a:srgbClr val="FF0000"/>
                  </a:solidFill>
                  <a:latin typeface="Consolas" pitchFamily="49" charset="0"/>
                  <a:cs typeface="Consolas" pitchFamily="49" charset="0"/>
                </a:rPr>
                <a:t>5</a:t>
              </a:r>
            </a:p>
          </p:txBody>
        </p:sp>
        <p:sp>
          <p:nvSpPr>
            <p:cNvPr id="48" name="Text Box 1293">
              <a:extLst>
                <a:ext uri="{FF2B5EF4-FFF2-40B4-BE49-F238E27FC236}">
                  <a16:creationId xmlns:a16="http://schemas.microsoft.com/office/drawing/2014/main" xmlns="" id="{E4D437C4-AF1E-5933-8D31-7FA1F8D2EA9F}"/>
                </a:ext>
              </a:extLst>
            </p:cNvPr>
            <p:cNvSpPr txBox="1">
              <a:spLocks noChangeArrowheads="1"/>
            </p:cNvSpPr>
            <p:nvPr/>
          </p:nvSpPr>
          <p:spPr bwMode="auto">
            <a:xfrm>
              <a:off x="4500563" y="1773238"/>
              <a:ext cx="431800" cy="353943"/>
            </a:xfrm>
            <a:prstGeom prst="rect">
              <a:avLst/>
            </a:prstGeom>
            <a:noFill/>
            <a:ln w="28575" algn="ctr">
              <a:noFill/>
              <a:miter lim="800000"/>
              <a:headEnd/>
              <a:tailEnd type="none" w="med" len="lg"/>
            </a:ln>
            <a:effectLst/>
          </p:spPr>
          <p:txBody>
            <a:bodyPr>
              <a:spAutoFit/>
            </a:bodyPr>
            <a:lstStyle/>
            <a:p>
              <a:pPr>
                <a:spcBef>
                  <a:spcPct val="50000"/>
                </a:spcBef>
              </a:pPr>
              <a:r>
                <a:rPr lang="en-US" altLang="zh-CN" sz="1700" b="0">
                  <a:solidFill>
                    <a:srgbClr val="FF0000"/>
                  </a:solidFill>
                  <a:latin typeface="Consolas" pitchFamily="49" charset="0"/>
                  <a:cs typeface="Consolas" pitchFamily="49" charset="0"/>
                </a:rPr>
                <a:t>6</a:t>
              </a:r>
            </a:p>
          </p:txBody>
        </p:sp>
        <p:sp>
          <p:nvSpPr>
            <p:cNvPr id="49" name="Text Box 1294">
              <a:extLst>
                <a:ext uri="{FF2B5EF4-FFF2-40B4-BE49-F238E27FC236}">
                  <a16:creationId xmlns:a16="http://schemas.microsoft.com/office/drawing/2014/main" xmlns="" id="{23993FA6-BA29-E3E4-35C0-909F31617382}"/>
                </a:ext>
              </a:extLst>
            </p:cNvPr>
            <p:cNvSpPr txBox="1">
              <a:spLocks noChangeArrowheads="1"/>
            </p:cNvSpPr>
            <p:nvPr/>
          </p:nvSpPr>
          <p:spPr bwMode="auto">
            <a:xfrm>
              <a:off x="5940425" y="1743075"/>
              <a:ext cx="431800" cy="353943"/>
            </a:xfrm>
            <a:prstGeom prst="rect">
              <a:avLst/>
            </a:prstGeom>
            <a:noFill/>
            <a:ln w="28575" algn="ctr">
              <a:noFill/>
              <a:miter lim="800000"/>
              <a:headEnd/>
              <a:tailEnd type="none" w="med" len="lg"/>
            </a:ln>
            <a:effectLst/>
          </p:spPr>
          <p:txBody>
            <a:bodyPr>
              <a:spAutoFit/>
            </a:bodyPr>
            <a:lstStyle/>
            <a:p>
              <a:pPr>
                <a:spcBef>
                  <a:spcPct val="50000"/>
                </a:spcBef>
              </a:pPr>
              <a:r>
                <a:rPr lang="en-US" altLang="zh-CN" sz="1700" b="0">
                  <a:solidFill>
                    <a:srgbClr val="FF0000"/>
                  </a:solidFill>
                  <a:latin typeface="Consolas" pitchFamily="49" charset="0"/>
                  <a:cs typeface="Consolas" pitchFamily="49" charset="0"/>
                </a:rPr>
                <a:t>7</a:t>
              </a:r>
            </a:p>
          </p:txBody>
        </p:sp>
        <p:sp>
          <p:nvSpPr>
            <p:cNvPr id="50" name="Text Box 1295">
              <a:extLst>
                <a:ext uri="{FF2B5EF4-FFF2-40B4-BE49-F238E27FC236}">
                  <a16:creationId xmlns:a16="http://schemas.microsoft.com/office/drawing/2014/main" xmlns="" id="{1687BDD4-AA71-BA5C-3615-641DCBA12C2A}"/>
                </a:ext>
              </a:extLst>
            </p:cNvPr>
            <p:cNvSpPr txBox="1">
              <a:spLocks noChangeArrowheads="1"/>
            </p:cNvSpPr>
            <p:nvPr/>
          </p:nvSpPr>
          <p:spPr bwMode="auto">
            <a:xfrm>
              <a:off x="5435600" y="981075"/>
              <a:ext cx="431800" cy="353943"/>
            </a:xfrm>
            <a:prstGeom prst="rect">
              <a:avLst/>
            </a:prstGeom>
            <a:noFill/>
            <a:ln w="28575" algn="ctr">
              <a:noFill/>
              <a:miter lim="800000"/>
              <a:headEnd/>
              <a:tailEnd type="none" w="med" len="lg"/>
            </a:ln>
            <a:effectLst/>
          </p:spPr>
          <p:txBody>
            <a:bodyPr>
              <a:spAutoFit/>
            </a:bodyPr>
            <a:lstStyle/>
            <a:p>
              <a:pPr>
                <a:spcBef>
                  <a:spcPct val="50000"/>
                </a:spcBef>
              </a:pPr>
              <a:r>
                <a:rPr lang="en-US" altLang="zh-CN" sz="1700" b="0">
                  <a:solidFill>
                    <a:srgbClr val="FF0000"/>
                  </a:solidFill>
                  <a:latin typeface="Consolas" pitchFamily="49" charset="0"/>
                  <a:cs typeface="Consolas" pitchFamily="49" charset="0"/>
                </a:rPr>
                <a:t>3</a:t>
              </a:r>
            </a:p>
          </p:txBody>
        </p:sp>
      </p:grpSp>
      <p:grpSp>
        <p:nvGrpSpPr>
          <p:cNvPr id="51" name="组合 119">
            <a:extLst>
              <a:ext uri="{FF2B5EF4-FFF2-40B4-BE49-F238E27FC236}">
                <a16:creationId xmlns:a16="http://schemas.microsoft.com/office/drawing/2014/main" xmlns="" id="{592101B2-5A7C-E774-FAF2-68142567FA71}"/>
              </a:ext>
            </a:extLst>
          </p:cNvPr>
          <p:cNvGrpSpPr/>
          <p:nvPr/>
        </p:nvGrpSpPr>
        <p:grpSpPr>
          <a:xfrm>
            <a:off x="3146522" y="5122328"/>
            <a:ext cx="6581799" cy="334963"/>
            <a:chOff x="1490663" y="4191000"/>
            <a:chExt cx="6248400" cy="334963"/>
          </a:xfrm>
        </p:grpSpPr>
        <p:sp>
          <p:nvSpPr>
            <p:cNvPr id="52" name="Rectangle 1070">
              <a:extLst>
                <a:ext uri="{FF2B5EF4-FFF2-40B4-BE49-F238E27FC236}">
                  <a16:creationId xmlns:a16="http://schemas.microsoft.com/office/drawing/2014/main" xmlns="" id="{9861F1C1-2768-6630-F6A0-7C33E69875AD}"/>
                </a:ext>
              </a:extLst>
            </p:cNvPr>
            <p:cNvSpPr>
              <a:spLocks noChangeArrowheads="1"/>
            </p:cNvSpPr>
            <p:nvPr/>
          </p:nvSpPr>
          <p:spPr bwMode="auto">
            <a:xfrm>
              <a:off x="7069947" y="4191000"/>
              <a:ext cx="415925"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15</a:t>
              </a:r>
            </a:p>
          </p:txBody>
        </p:sp>
        <p:sp>
          <p:nvSpPr>
            <p:cNvPr id="53" name="Rectangle 1071">
              <a:extLst>
                <a:ext uri="{FF2B5EF4-FFF2-40B4-BE49-F238E27FC236}">
                  <a16:creationId xmlns:a16="http://schemas.microsoft.com/office/drawing/2014/main" xmlns="" id="{7AA17C15-F839-B90D-D4B2-AED8B866AC13}"/>
                </a:ext>
              </a:extLst>
            </p:cNvPr>
            <p:cNvSpPr>
              <a:spLocks noChangeArrowheads="1"/>
            </p:cNvSpPr>
            <p:nvPr/>
          </p:nvSpPr>
          <p:spPr bwMode="auto">
            <a:xfrm>
              <a:off x="6706691" y="4191000"/>
              <a:ext cx="417513"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14</a:t>
              </a:r>
            </a:p>
          </p:txBody>
        </p:sp>
        <p:sp>
          <p:nvSpPr>
            <p:cNvPr id="54" name="Rectangle 1072">
              <a:extLst>
                <a:ext uri="{FF2B5EF4-FFF2-40B4-BE49-F238E27FC236}">
                  <a16:creationId xmlns:a16="http://schemas.microsoft.com/office/drawing/2014/main" xmlns="" id="{C8199A32-C6BA-4462-6C1A-E2F42A8D5827}"/>
                </a:ext>
              </a:extLst>
            </p:cNvPr>
            <p:cNvSpPr>
              <a:spLocks noChangeArrowheads="1"/>
            </p:cNvSpPr>
            <p:nvPr/>
          </p:nvSpPr>
          <p:spPr bwMode="auto">
            <a:xfrm>
              <a:off x="6299808" y="4191000"/>
              <a:ext cx="415925"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13</a:t>
              </a:r>
            </a:p>
          </p:txBody>
        </p:sp>
        <p:sp>
          <p:nvSpPr>
            <p:cNvPr id="55" name="Rectangle 1073">
              <a:extLst>
                <a:ext uri="{FF2B5EF4-FFF2-40B4-BE49-F238E27FC236}">
                  <a16:creationId xmlns:a16="http://schemas.microsoft.com/office/drawing/2014/main" xmlns="" id="{0D0F05A6-912B-1E17-134D-20C7433FBFE5}"/>
                </a:ext>
              </a:extLst>
            </p:cNvPr>
            <p:cNvSpPr>
              <a:spLocks noChangeArrowheads="1"/>
            </p:cNvSpPr>
            <p:nvPr/>
          </p:nvSpPr>
          <p:spPr bwMode="auto">
            <a:xfrm>
              <a:off x="5963539" y="4191000"/>
              <a:ext cx="390525" cy="334963"/>
            </a:xfrm>
            <a:prstGeom prst="rect">
              <a:avLst/>
            </a:prstGeom>
            <a:noFill/>
            <a:ln w="9525">
              <a:noFill/>
              <a:miter lim="800000"/>
              <a:headEnd/>
              <a:tailEnd/>
            </a:ln>
            <a:effectLst/>
          </p:spPr>
          <p:txBody>
            <a:bodyPr lIns="0" rIns="0"/>
            <a:lstStyle/>
            <a:p>
              <a:pPr algn="l">
                <a:spcBef>
                  <a:spcPct val="20000"/>
                </a:spcBef>
              </a:pPr>
              <a:r>
                <a:rPr lang="en-US" altLang="zh-CN" sz="1600" b="0">
                  <a:solidFill>
                    <a:srgbClr val="FF0000"/>
                  </a:solidFill>
                  <a:latin typeface="Consolas" pitchFamily="49" charset="0"/>
                  <a:ea typeface="宋体" charset="-122"/>
                  <a:cs typeface="Consolas" pitchFamily="49" charset="0"/>
                </a:rPr>
                <a:t>12</a:t>
              </a:r>
            </a:p>
          </p:txBody>
        </p:sp>
        <p:sp>
          <p:nvSpPr>
            <p:cNvPr id="56" name="Rectangle 1074">
              <a:extLst>
                <a:ext uri="{FF2B5EF4-FFF2-40B4-BE49-F238E27FC236}">
                  <a16:creationId xmlns:a16="http://schemas.microsoft.com/office/drawing/2014/main" xmlns="" id="{251F4402-E905-C60E-A732-18D292E67739}"/>
                </a:ext>
              </a:extLst>
            </p:cNvPr>
            <p:cNvSpPr>
              <a:spLocks noChangeArrowheads="1"/>
            </p:cNvSpPr>
            <p:nvPr/>
          </p:nvSpPr>
          <p:spPr bwMode="auto">
            <a:xfrm>
              <a:off x="5502540" y="4191000"/>
              <a:ext cx="442913"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11</a:t>
              </a:r>
            </a:p>
          </p:txBody>
        </p:sp>
        <p:sp>
          <p:nvSpPr>
            <p:cNvPr id="57" name="Rectangle 1075">
              <a:extLst>
                <a:ext uri="{FF2B5EF4-FFF2-40B4-BE49-F238E27FC236}">
                  <a16:creationId xmlns:a16="http://schemas.microsoft.com/office/drawing/2014/main" xmlns="" id="{68A7FBD3-9E88-83AE-8F98-891A5BF21434}"/>
                </a:ext>
              </a:extLst>
            </p:cNvPr>
            <p:cNvSpPr>
              <a:spLocks noChangeArrowheads="1"/>
            </p:cNvSpPr>
            <p:nvPr/>
          </p:nvSpPr>
          <p:spPr bwMode="auto">
            <a:xfrm>
              <a:off x="5077572" y="4191000"/>
              <a:ext cx="415925"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10</a:t>
              </a:r>
            </a:p>
          </p:txBody>
        </p:sp>
        <p:sp>
          <p:nvSpPr>
            <p:cNvPr id="58" name="Rectangle 1076">
              <a:extLst>
                <a:ext uri="{FF2B5EF4-FFF2-40B4-BE49-F238E27FC236}">
                  <a16:creationId xmlns:a16="http://schemas.microsoft.com/office/drawing/2014/main" xmlns="" id="{E5D94A1A-FB57-294E-961F-D04EC8652142}"/>
                </a:ext>
              </a:extLst>
            </p:cNvPr>
            <p:cNvSpPr>
              <a:spLocks noChangeArrowheads="1"/>
            </p:cNvSpPr>
            <p:nvPr/>
          </p:nvSpPr>
          <p:spPr bwMode="auto">
            <a:xfrm>
              <a:off x="4712106" y="4191000"/>
              <a:ext cx="401638"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9</a:t>
              </a:r>
            </a:p>
          </p:txBody>
        </p:sp>
        <p:sp>
          <p:nvSpPr>
            <p:cNvPr id="59" name="Rectangle 1077">
              <a:extLst>
                <a:ext uri="{FF2B5EF4-FFF2-40B4-BE49-F238E27FC236}">
                  <a16:creationId xmlns:a16="http://schemas.microsoft.com/office/drawing/2014/main" xmlns="" id="{3E78B76C-302A-9185-C877-AAD48AE01B6E}"/>
                </a:ext>
              </a:extLst>
            </p:cNvPr>
            <p:cNvSpPr>
              <a:spLocks noChangeArrowheads="1"/>
            </p:cNvSpPr>
            <p:nvPr/>
          </p:nvSpPr>
          <p:spPr bwMode="auto">
            <a:xfrm>
              <a:off x="4316615" y="4191000"/>
              <a:ext cx="458788"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8</a:t>
              </a:r>
            </a:p>
          </p:txBody>
        </p:sp>
        <p:sp>
          <p:nvSpPr>
            <p:cNvPr id="60" name="Rectangle 1078">
              <a:extLst>
                <a:ext uri="{FF2B5EF4-FFF2-40B4-BE49-F238E27FC236}">
                  <a16:creationId xmlns:a16="http://schemas.microsoft.com/office/drawing/2014/main" xmlns="" id="{32660AF7-F5A3-536B-DA5D-B35736774728}"/>
                </a:ext>
              </a:extLst>
            </p:cNvPr>
            <p:cNvSpPr>
              <a:spLocks noChangeArrowheads="1"/>
            </p:cNvSpPr>
            <p:nvPr/>
          </p:nvSpPr>
          <p:spPr bwMode="auto">
            <a:xfrm>
              <a:off x="3917048" y="4191000"/>
              <a:ext cx="390525"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7</a:t>
              </a:r>
            </a:p>
          </p:txBody>
        </p:sp>
        <p:sp>
          <p:nvSpPr>
            <p:cNvPr id="61" name="Rectangle 1079">
              <a:extLst>
                <a:ext uri="{FF2B5EF4-FFF2-40B4-BE49-F238E27FC236}">
                  <a16:creationId xmlns:a16="http://schemas.microsoft.com/office/drawing/2014/main" xmlns="" id="{9F4065FA-1274-ACBC-A12B-7F5D65FA5ECB}"/>
                </a:ext>
              </a:extLst>
            </p:cNvPr>
            <p:cNvSpPr>
              <a:spLocks noChangeArrowheads="1"/>
            </p:cNvSpPr>
            <p:nvPr/>
          </p:nvSpPr>
          <p:spPr bwMode="auto">
            <a:xfrm>
              <a:off x="3573463" y="4191000"/>
              <a:ext cx="415925"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6</a:t>
              </a:r>
            </a:p>
          </p:txBody>
        </p:sp>
        <p:sp>
          <p:nvSpPr>
            <p:cNvPr id="62" name="Rectangle 1080">
              <a:extLst>
                <a:ext uri="{FF2B5EF4-FFF2-40B4-BE49-F238E27FC236}">
                  <a16:creationId xmlns:a16="http://schemas.microsoft.com/office/drawing/2014/main" xmlns="" id="{474DF3F8-171E-0380-4557-BBD1E1163C28}"/>
                </a:ext>
              </a:extLst>
            </p:cNvPr>
            <p:cNvSpPr>
              <a:spLocks noChangeArrowheads="1"/>
            </p:cNvSpPr>
            <p:nvPr/>
          </p:nvSpPr>
          <p:spPr bwMode="auto">
            <a:xfrm>
              <a:off x="3157538" y="4191000"/>
              <a:ext cx="415925"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5</a:t>
              </a:r>
            </a:p>
          </p:txBody>
        </p:sp>
        <p:sp>
          <p:nvSpPr>
            <p:cNvPr id="63" name="Rectangle 1081">
              <a:extLst>
                <a:ext uri="{FF2B5EF4-FFF2-40B4-BE49-F238E27FC236}">
                  <a16:creationId xmlns:a16="http://schemas.microsoft.com/office/drawing/2014/main" xmlns="" id="{9CB0A1B0-BD07-9D9A-D95F-7F3F274888A9}"/>
                </a:ext>
              </a:extLst>
            </p:cNvPr>
            <p:cNvSpPr>
              <a:spLocks noChangeArrowheads="1"/>
            </p:cNvSpPr>
            <p:nvPr/>
          </p:nvSpPr>
          <p:spPr bwMode="auto">
            <a:xfrm>
              <a:off x="2740026" y="4191000"/>
              <a:ext cx="417513"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4</a:t>
              </a:r>
            </a:p>
          </p:txBody>
        </p:sp>
        <p:sp>
          <p:nvSpPr>
            <p:cNvPr id="64" name="Rectangle 1082">
              <a:extLst>
                <a:ext uri="{FF2B5EF4-FFF2-40B4-BE49-F238E27FC236}">
                  <a16:creationId xmlns:a16="http://schemas.microsoft.com/office/drawing/2014/main" xmlns="" id="{46422F61-7C60-FB72-2D30-C355DCB663CC}"/>
                </a:ext>
              </a:extLst>
            </p:cNvPr>
            <p:cNvSpPr>
              <a:spLocks noChangeArrowheads="1"/>
            </p:cNvSpPr>
            <p:nvPr/>
          </p:nvSpPr>
          <p:spPr bwMode="auto">
            <a:xfrm>
              <a:off x="2369313" y="4191000"/>
              <a:ext cx="415925"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3</a:t>
              </a:r>
            </a:p>
          </p:txBody>
        </p:sp>
        <p:sp>
          <p:nvSpPr>
            <p:cNvPr id="65" name="Rectangle 1083">
              <a:extLst>
                <a:ext uri="{FF2B5EF4-FFF2-40B4-BE49-F238E27FC236}">
                  <a16:creationId xmlns:a16="http://schemas.microsoft.com/office/drawing/2014/main" xmlns="" id="{A49E9FA0-3FD4-60AA-E475-CE0FEFCFF2EF}"/>
                </a:ext>
              </a:extLst>
            </p:cNvPr>
            <p:cNvSpPr>
              <a:spLocks noChangeArrowheads="1"/>
            </p:cNvSpPr>
            <p:nvPr/>
          </p:nvSpPr>
          <p:spPr bwMode="auto">
            <a:xfrm>
              <a:off x="1967816" y="4191000"/>
              <a:ext cx="365125" cy="334963"/>
            </a:xfrm>
            <a:prstGeom prst="rect">
              <a:avLst/>
            </a:prstGeom>
            <a:noFill/>
            <a:ln w="9525">
              <a:noFill/>
              <a:miter lim="800000"/>
              <a:headEnd/>
              <a:tailEnd/>
            </a:ln>
            <a:effectLst/>
          </p:spPr>
          <p:txBody>
            <a:bodyPr/>
            <a:lstStyle/>
            <a:p>
              <a:pPr algn="l">
                <a:spcBef>
                  <a:spcPct val="20000"/>
                </a:spcBef>
              </a:pPr>
              <a:r>
                <a:rPr lang="en-US" altLang="zh-CN" sz="1600" b="0" dirty="0">
                  <a:solidFill>
                    <a:srgbClr val="FF0000"/>
                  </a:solidFill>
                  <a:latin typeface="Consolas" pitchFamily="49" charset="0"/>
                  <a:ea typeface="宋体" charset="-122"/>
                  <a:cs typeface="Consolas" pitchFamily="49" charset="0"/>
                </a:rPr>
                <a:t>2</a:t>
              </a:r>
            </a:p>
          </p:txBody>
        </p:sp>
        <p:sp>
          <p:nvSpPr>
            <p:cNvPr id="66" name="Rectangle 1084">
              <a:extLst>
                <a:ext uri="{FF2B5EF4-FFF2-40B4-BE49-F238E27FC236}">
                  <a16:creationId xmlns:a16="http://schemas.microsoft.com/office/drawing/2014/main" xmlns="" id="{5523788C-1691-8677-56B8-999F98042770}"/>
                </a:ext>
              </a:extLst>
            </p:cNvPr>
            <p:cNvSpPr>
              <a:spLocks noChangeArrowheads="1"/>
            </p:cNvSpPr>
            <p:nvPr/>
          </p:nvSpPr>
          <p:spPr bwMode="auto">
            <a:xfrm>
              <a:off x="1544919" y="4191000"/>
              <a:ext cx="339097" cy="334963"/>
            </a:xfrm>
            <a:prstGeom prst="rect">
              <a:avLst/>
            </a:prstGeom>
            <a:noFill/>
            <a:ln w="9525">
              <a:noFill/>
              <a:miter lim="800000"/>
              <a:headEnd/>
              <a:tailEnd/>
            </a:ln>
            <a:effectLst/>
          </p:spPr>
          <p:txBody>
            <a:bodyPr/>
            <a:lstStyle/>
            <a:p>
              <a:pPr algn="l">
                <a:spcBef>
                  <a:spcPct val="20000"/>
                </a:spcBef>
              </a:pPr>
              <a:r>
                <a:rPr lang="en-US" altLang="zh-CN" sz="1600" b="0">
                  <a:solidFill>
                    <a:srgbClr val="FF0000"/>
                  </a:solidFill>
                  <a:latin typeface="Consolas" pitchFamily="49" charset="0"/>
                  <a:ea typeface="宋体" charset="-122"/>
                  <a:cs typeface="Consolas" pitchFamily="49" charset="0"/>
                </a:rPr>
                <a:t>1</a:t>
              </a:r>
            </a:p>
          </p:txBody>
        </p:sp>
        <p:sp>
          <p:nvSpPr>
            <p:cNvPr id="67" name="Line 1085">
              <a:extLst>
                <a:ext uri="{FF2B5EF4-FFF2-40B4-BE49-F238E27FC236}">
                  <a16:creationId xmlns:a16="http://schemas.microsoft.com/office/drawing/2014/main" xmlns="" id="{9C0AE663-BC52-8011-E4B8-8A953E4ECB0F}"/>
                </a:ext>
              </a:extLst>
            </p:cNvPr>
            <p:cNvSpPr>
              <a:spLocks noChangeShapeType="1"/>
            </p:cNvSpPr>
            <p:nvPr/>
          </p:nvSpPr>
          <p:spPr bwMode="auto">
            <a:xfrm>
              <a:off x="1490663" y="4525963"/>
              <a:ext cx="468313"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68" name="Line 1086">
              <a:extLst>
                <a:ext uri="{FF2B5EF4-FFF2-40B4-BE49-F238E27FC236}">
                  <a16:creationId xmlns:a16="http://schemas.microsoft.com/office/drawing/2014/main" xmlns="" id="{F603F4D8-CB91-362B-8EAB-5399D1DB640D}"/>
                </a:ext>
              </a:extLst>
            </p:cNvPr>
            <p:cNvSpPr>
              <a:spLocks noChangeShapeType="1"/>
            </p:cNvSpPr>
            <p:nvPr/>
          </p:nvSpPr>
          <p:spPr bwMode="auto">
            <a:xfrm>
              <a:off x="1490663" y="4191000"/>
              <a:ext cx="0" cy="334963"/>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69" name="Line 1101">
              <a:extLst>
                <a:ext uri="{FF2B5EF4-FFF2-40B4-BE49-F238E27FC236}">
                  <a16:creationId xmlns:a16="http://schemas.microsoft.com/office/drawing/2014/main" xmlns="" id="{383ABA44-EDC2-4F5B-6CB0-5DBF1C960DB2}"/>
                </a:ext>
              </a:extLst>
            </p:cNvPr>
            <p:cNvSpPr>
              <a:spLocks noChangeShapeType="1"/>
            </p:cNvSpPr>
            <p:nvPr/>
          </p:nvSpPr>
          <p:spPr bwMode="auto">
            <a:xfrm>
              <a:off x="7739063" y="4191000"/>
              <a:ext cx="0" cy="334963"/>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70" name="Line 1102">
              <a:extLst>
                <a:ext uri="{FF2B5EF4-FFF2-40B4-BE49-F238E27FC236}">
                  <a16:creationId xmlns:a16="http://schemas.microsoft.com/office/drawing/2014/main" xmlns="" id="{C288F15D-A598-15AB-D798-C7B89C0C9FD3}"/>
                </a:ext>
              </a:extLst>
            </p:cNvPr>
            <p:cNvSpPr>
              <a:spLocks noChangeShapeType="1"/>
            </p:cNvSpPr>
            <p:nvPr/>
          </p:nvSpPr>
          <p:spPr bwMode="auto">
            <a:xfrm>
              <a:off x="4379913" y="4191000"/>
              <a:ext cx="458788" cy="0"/>
            </a:xfrm>
            <a:prstGeom prst="line">
              <a:avLst/>
            </a:prstGeom>
            <a:noFill/>
            <a:ln w="12700">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71" name="Line 1103">
              <a:extLst>
                <a:ext uri="{FF2B5EF4-FFF2-40B4-BE49-F238E27FC236}">
                  <a16:creationId xmlns:a16="http://schemas.microsoft.com/office/drawing/2014/main" xmlns="" id="{3A7509EB-B86F-FF48-1E4B-A4FF3AE2314E}"/>
                </a:ext>
              </a:extLst>
            </p:cNvPr>
            <p:cNvSpPr>
              <a:spLocks noChangeShapeType="1"/>
            </p:cNvSpPr>
            <p:nvPr/>
          </p:nvSpPr>
          <p:spPr bwMode="auto">
            <a:xfrm>
              <a:off x="1490663" y="4191000"/>
              <a:ext cx="468313"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72" name="Line 1104">
              <a:extLst>
                <a:ext uri="{FF2B5EF4-FFF2-40B4-BE49-F238E27FC236}">
                  <a16:creationId xmlns:a16="http://schemas.microsoft.com/office/drawing/2014/main" xmlns="" id="{950E19A4-E2C8-9C9D-0E3D-880A926A9FD6}"/>
                </a:ext>
              </a:extLst>
            </p:cNvPr>
            <p:cNvSpPr>
              <a:spLocks noChangeShapeType="1"/>
            </p:cNvSpPr>
            <p:nvPr/>
          </p:nvSpPr>
          <p:spPr bwMode="auto">
            <a:xfrm>
              <a:off x="4838701" y="4191000"/>
              <a:ext cx="401638"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73" name="Line 1135">
              <a:extLst>
                <a:ext uri="{FF2B5EF4-FFF2-40B4-BE49-F238E27FC236}">
                  <a16:creationId xmlns:a16="http://schemas.microsoft.com/office/drawing/2014/main" xmlns="" id="{523E0A33-B96C-D12C-CE21-BA25E182911E}"/>
                </a:ext>
              </a:extLst>
            </p:cNvPr>
            <p:cNvSpPr>
              <a:spLocks noChangeShapeType="1"/>
            </p:cNvSpPr>
            <p:nvPr/>
          </p:nvSpPr>
          <p:spPr bwMode="auto">
            <a:xfrm>
              <a:off x="1958976" y="4525963"/>
              <a:ext cx="3651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74" name="Line 1136">
              <a:extLst>
                <a:ext uri="{FF2B5EF4-FFF2-40B4-BE49-F238E27FC236}">
                  <a16:creationId xmlns:a16="http://schemas.microsoft.com/office/drawing/2014/main" xmlns="" id="{F13E635B-2F33-E880-8941-F8EE5994B90B}"/>
                </a:ext>
              </a:extLst>
            </p:cNvPr>
            <p:cNvSpPr>
              <a:spLocks noChangeShapeType="1"/>
            </p:cNvSpPr>
            <p:nvPr/>
          </p:nvSpPr>
          <p:spPr bwMode="auto">
            <a:xfrm>
              <a:off x="2324101" y="4525963"/>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75" name="Line 1137">
              <a:extLst>
                <a:ext uri="{FF2B5EF4-FFF2-40B4-BE49-F238E27FC236}">
                  <a16:creationId xmlns:a16="http://schemas.microsoft.com/office/drawing/2014/main" xmlns="" id="{83ECAEF3-4473-BB1E-A91A-1A644B35FD17}"/>
                </a:ext>
              </a:extLst>
            </p:cNvPr>
            <p:cNvSpPr>
              <a:spLocks noChangeShapeType="1"/>
            </p:cNvSpPr>
            <p:nvPr/>
          </p:nvSpPr>
          <p:spPr bwMode="auto">
            <a:xfrm>
              <a:off x="2740026" y="4525963"/>
              <a:ext cx="417513"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76" name="Line 1138">
              <a:extLst>
                <a:ext uri="{FF2B5EF4-FFF2-40B4-BE49-F238E27FC236}">
                  <a16:creationId xmlns:a16="http://schemas.microsoft.com/office/drawing/2014/main" xmlns="" id="{7BBFD99C-50B8-804D-C8E0-11B43945D383}"/>
                </a:ext>
              </a:extLst>
            </p:cNvPr>
            <p:cNvSpPr>
              <a:spLocks noChangeShapeType="1"/>
            </p:cNvSpPr>
            <p:nvPr/>
          </p:nvSpPr>
          <p:spPr bwMode="auto">
            <a:xfrm>
              <a:off x="3157538" y="4525963"/>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77" name="Line 1139">
              <a:extLst>
                <a:ext uri="{FF2B5EF4-FFF2-40B4-BE49-F238E27FC236}">
                  <a16:creationId xmlns:a16="http://schemas.microsoft.com/office/drawing/2014/main" xmlns="" id="{94F10A7D-4246-71A3-9F1C-530690E7BFF4}"/>
                </a:ext>
              </a:extLst>
            </p:cNvPr>
            <p:cNvSpPr>
              <a:spLocks noChangeShapeType="1"/>
            </p:cNvSpPr>
            <p:nvPr/>
          </p:nvSpPr>
          <p:spPr bwMode="auto">
            <a:xfrm>
              <a:off x="3573463" y="4525963"/>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78" name="Line 1140">
              <a:extLst>
                <a:ext uri="{FF2B5EF4-FFF2-40B4-BE49-F238E27FC236}">
                  <a16:creationId xmlns:a16="http://schemas.microsoft.com/office/drawing/2014/main" xmlns="" id="{EDDCB7AC-0D77-33DF-91BD-F091820C71AE}"/>
                </a:ext>
              </a:extLst>
            </p:cNvPr>
            <p:cNvSpPr>
              <a:spLocks noChangeShapeType="1"/>
            </p:cNvSpPr>
            <p:nvPr/>
          </p:nvSpPr>
          <p:spPr bwMode="auto">
            <a:xfrm>
              <a:off x="3989388" y="4525963"/>
              <a:ext cx="3905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79" name="Line 1141">
              <a:extLst>
                <a:ext uri="{FF2B5EF4-FFF2-40B4-BE49-F238E27FC236}">
                  <a16:creationId xmlns:a16="http://schemas.microsoft.com/office/drawing/2014/main" xmlns="" id="{658DE4F9-7018-2CBE-2B4D-D9AA82106EF7}"/>
                </a:ext>
              </a:extLst>
            </p:cNvPr>
            <p:cNvSpPr>
              <a:spLocks noChangeShapeType="1"/>
            </p:cNvSpPr>
            <p:nvPr/>
          </p:nvSpPr>
          <p:spPr bwMode="auto">
            <a:xfrm>
              <a:off x="4379913" y="4525963"/>
              <a:ext cx="458788"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80" name="Line 1142">
              <a:extLst>
                <a:ext uri="{FF2B5EF4-FFF2-40B4-BE49-F238E27FC236}">
                  <a16:creationId xmlns:a16="http://schemas.microsoft.com/office/drawing/2014/main" xmlns="" id="{7466E56D-54B1-E69F-DB03-D7DF8BC0C6D5}"/>
                </a:ext>
              </a:extLst>
            </p:cNvPr>
            <p:cNvSpPr>
              <a:spLocks noChangeShapeType="1"/>
            </p:cNvSpPr>
            <p:nvPr/>
          </p:nvSpPr>
          <p:spPr bwMode="auto">
            <a:xfrm>
              <a:off x="4838701" y="4525963"/>
              <a:ext cx="401638"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81" name="Line 1143">
              <a:extLst>
                <a:ext uri="{FF2B5EF4-FFF2-40B4-BE49-F238E27FC236}">
                  <a16:creationId xmlns:a16="http://schemas.microsoft.com/office/drawing/2014/main" xmlns="" id="{6F9B0658-D28E-B1EF-D075-CA1B155D006B}"/>
                </a:ext>
              </a:extLst>
            </p:cNvPr>
            <p:cNvSpPr>
              <a:spLocks noChangeShapeType="1"/>
            </p:cNvSpPr>
            <p:nvPr/>
          </p:nvSpPr>
          <p:spPr bwMode="auto">
            <a:xfrm>
              <a:off x="5240338" y="4525963"/>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82" name="Line 1144">
              <a:extLst>
                <a:ext uri="{FF2B5EF4-FFF2-40B4-BE49-F238E27FC236}">
                  <a16:creationId xmlns:a16="http://schemas.microsoft.com/office/drawing/2014/main" xmlns="" id="{A36A78A1-9373-A1C3-A151-9C83BA6985EE}"/>
                </a:ext>
              </a:extLst>
            </p:cNvPr>
            <p:cNvSpPr>
              <a:spLocks noChangeShapeType="1"/>
            </p:cNvSpPr>
            <p:nvPr/>
          </p:nvSpPr>
          <p:spPr bwMode="auto">
            <a:xfrm>
              <a:off x="5656263" y="4525963"/>
              <a:ext cx="442913"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83" name="Line 1145">
              <a:extLst>
                <a:ext uri="{FF2B5EF4-FFF2-40B4-BE49-F238E27FC236}">
                  <a16:creationId xmlns:a16="http://schemas.microsoft.com/office/drawing/2014/main" xmlns="" id="{CC94BFFF-B52D-0956-D6B9-3402CF1DAC64}"/>
                </a:ext>
              </a:extLst>
            </p:cNvPr>
            <p:cNvSpPr>
              <a:spLocks noChangeShapeType="1"/>
            </p:cNvSpPr>
            <p:nvPr/>
          </p:nvSpPr>
          <p:spPr bwMode="auto">
            <a:xfrm>
              <a:off x="6099176" y="4525963"/>
              <a:ext cx="3905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84" name="Line 1146">
              <a:extLst>
                <a:ext uri="{FF2B5EF4-FFF2-40B4-BE49-F238E27FC236}">
                  <a16:creationId xmlns:a16="http://schemas.microsoft.com/office/drawing/2014/main" xmlns="" id="{C3EC309A-051F-F98B-E2AC-A0409F3182C2}"/>
                </a:ext>
              </a:extLst>
            </p:cNvPr>
            <p:cNvSpPr>
              <a:spLocks noChangeShapeType="1"/>
            </p:cNvSpPr>
            <p:nvPr/>
          </p:nvSpPr>
          <p:spPr bwMode="auto">
            <a:xfrm>
              <a:off x="6489701" y="4525963"/>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85" name="Line 1147">
              <a:extLst>
                <a:ext uri="{FF2B5EF4-FFF2-40B4-BE49-F238E27FC236}">
                  <a16:creationId xmlns:a16="http://schemas.microsoft.com/office/drawing/2014/main" xmlns="" id="{38FF918F-A751-8A0B-698C-9CEC78886D30}"/>
                </a:ext>
              </a:extLst>
            </p:cNvPr>
            <p:cNvSpPr>
              <a:spLocks noChangeShapeType="1"/>
            </p:cNvSpPr>
            <p:nvPr/>
          </p:nvSpPr>
          <p:spPr bwMode="auto">
            <a:xfrm>
              <a:off x="6905626" y="4525963"/>
              <a:ext cx="417513"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86" name="Line 1148">
              <a:extLst>
                <a:ext uri="{FF2B5EF4-FFF2-40B4-BE49-F238E27FC236}">
                  <a16:creationId xmlns:a16="http://schemas.microsoft.com/office/drawing/2014/main" xmlns="" id="{172BBABB-E28C-D692-CF19-7BA747181000}"/>
                </a:ext>
              </a:extLst>
            </p:cNvPr>
            <p:cNvSpPr>
              <a:spLocks noChangeShapeType="1"/>
            </p:cNvSpPr>
            <p:nvPr/>
          </p:nvSpPr>
          <p:spPr bwMode="auto">
            <a:xfrm>
              <a:off x="7323138" y="4525963"/>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87" name="Line 1196">
              <a:extLst>
                <a:ext uri="{FF2B5EF4-FFF2-40B4-BE49-F238E27FC236}">
                  <a16:creationId xmlns:a16="http://schemas.microsoft.com/office/drawing/2014/main" xmlns="" id="{CFE497A7-2787-98EB-2D36-A3BDCE618BBB}"/>
                </a:ext>
              </a:extLst>
            </p:cNvPr>
            <p:cNvSpPr>
              <a:spLocks noChangeShapeType="1"/>
            </p:cNvSpPr>
            <p:nvPr/>
          </p:nvSpPr>
          <p:spPr bwMode="auto">
            <a:xfrm>
              <a:off x="1958976" y="4191000"/>
              <a:ext cx="3651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88" name="Line 1197">
              <a:extLst>
                <a:ext uri="{FF2B5EF4-FFF2-40B4-BE49-F238E27FC236}">
                  <a16:creationId xmlns:a16="http://schemas.microsoft.com/office/drawing/2014/main" xmlns="" id="{F108684B-3D84-64A8-08AB-CF548538BCDD}"/>
                </a:ext>
              </a:extLst>
            </p:cNvPr>
            <p:cNvSpPr>
              <a:spLocks noChangeShapeType="1"/>
            </p:cNvSpPr>
            <p:nvPr/>
          </p:nvSpPr>
          <p:spPr bwMode="auto">
            <a:xfrm>
              <a:off x="2324101" y="4191000"/>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89" name="Line 1198">
              <a:extLst>
                <a:ext uri="{FF2B5EF4-FFF2-40B4-BE49-F238E27FC236}">
                  <a16:creationId xmlns:a16="http://schemas.microsoft.com/office/drawing/2014/main" xmlns="" id="{35A714D0-622D-624C-02AC-A43F68AA26B4}"/>
                </a:ext>
              </a:extLst>
            </p:cNvPr>
            <p:cNvSpPr>
              <a:spLocks noChangeShapeType="1"/>
            </p:cNvSpPr>
            <p:nvPr/>
          </p:nvSpPr>
          <p:spPr bwMode="auto">
            <a:xfrm>
              <a:off x="2740026" y="4191000"/>
              <a:ext cx="417513"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90" name="Line 1199">
              <a:extLst>
                <a:ext uri="{FF2B5EF4-FFF2-40B4-BE49-F238E27FC236}">
                  <a16:creationId xmlns:a16="http://schemas.microsoft.com/office/drawing/2014/main" xmlns="" id="{64313547-013D-CDEB-B602-94C376D8DCF0}"/>
                </a:ext>
              </a:extLst>
            </p:cNvPr>
            <p:cNvSpPr>
              <a:spLocks noChangeShapeType="1"/>
            </p:cNvSpPr>
            <p:nvPr/>
          </p:nvSpPr>
          <p:spPr bwMode="auto">
            <a:xfrm>
              <a:off x="3157538" y="4191000"/>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91" name="Line 1200">
              <a:extLst>
                <a:ext uri="{FF2B5EF4-FFF2-40B4-BE49-F238E27FC236}">
                  <a16:creationId xmlns:a16="http://schemas.microsoft.com/office/drawing/2014/main" xmlns="" id="{A1D6C3CB-FC74-DA85-B264-042E914E0306}"/>
                </a:ext>
              </a:extLst>
            </p:cNvPr>
            <p:cNvSpPr>
              <a:spLocks noChangeShapeType="1"/>
            </p:cNvSpPr>
            <p:nvPr/>
          </p:nvSpPr>
          <p:spPr bwMode="auto">
            <a:xfrm>
              <a:off x="3573463" y="4191000"/>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92" name="Line 1201">
              <a:extLst>
                <a:ext uri="{FF2B5EF4-FFF2-40B4-BE49-F238E27FC236}">
                  <a16:creationId xmlns:a16="http://schemas.microsoft.com/office/drawing/2014/main" xmlns="" id="{37840554-71D8-0170-87C0-2525607FD4A0}"/>
                </a:ext>
              </a:extLst>
            </p:cNvPr>
            <p:cNvSpPr>
              <a:spLocks noChangeShapeType="1"/>
            </p:cNvSpPr>
            <p:nvPr/>
          </p:nvSpPr>
          <p:spPr bwMode="auto">
            <a:xfrm>
              <a:off x="3989388" y="4191000"/>
              <a:ext cx="3905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93" name="Line 1202">
              <a:extLst>
                <a:ext uri="{FF2B5EF4-FFF2-40B4-BE49-F238E27FC236}">
                  <a16:creationId xmlns:a16="http://schemas.microsoft.com/office/drawing/2014/main" xmlns="" id="{DD32F971-05DF-AEB7-A28C-2B93128CFED3}"/>
                </a:ext>
              </a:extLst>
            </p:cNvPr>
            <p:cNvSpPr>
              <a:spLocks noChangeShapeType="1"/>
            </p:cNvSpPr>
            <p:nvPr/>
          </p:nvSpPr>
          <p:spPr bwMode="auto">
            <a:xfrm>
              <a:off x="5240338" y="4191000"/>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94" name="Line 1203">
              <a:extLst>
                <a:ext uri="{FF2B5EF4-FFF2-40B4-BE49-F238E27FC236}">
                  <a16:creationId xmlns:a16="http://schemas.microsoft.com/office/drawing/2014/main" xmlns="" id="{3AE59D06-66E8-0E5B-0955-CD9C705AB32E}"/>
                </a:ext>
              </a:extLst>
            </p:cNvPr>
            <p:cNvSpPr>
              <a:spLocks noChangeShapeType="1"/>
            </p:cNvSpPr>
            <p:nvPr/>
          </p:nvSpPr>
          <p:spPr bwMode="auto">
            <a:xfrm>
              <a:off x="5656263" y="4191000"/>
              <a:ext cx="442913"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95" name="Line 1204">
              <a:extLst>
                <a:ext uri="{FF2B5EF4-FFF2-40B4-BE49-F238E27FC236}">
                  <a16:creationId xmlns:a16="http://schemas.microsoft.com/office/drawing/2014/main" xmlns="" id="{AA3C14DF-490E-894C-2447-ABB8BC84E3A3}"/>
                </a:ext>
              </a:extLst>
            </p:cNvPr>
            <p:cNvSpPr>
              <a:spLocks noChangeShapeType="1"/>
            </p:cNvSpPr>
            <p:nvPr/>
          </p:nvSpPr>
          <p:spPr bwMode="auto">
            <a:xfrm>
              <a:off x="6099176" y="4191000"/>
              <a:ext cx="3905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96" name="Line 1205">
              <a:extLst>
                <a:ext uri="{FF2B5EF4-FFF2-40B4-BE49-F238E27FC236}">
                  <a16:creationId xmlns:a16="http://schemas.microsoft.com/office/drawing/2014/main" xmlns="" id="{CD10EE82-0FC5-0CBA-3E0D-E9755C249F10}"/>
                </a:ext>
              </a:extLst>
            </p:cNvPr>
            <p:cNvSpPr>
              <a:spLocks noChangeShapeType="1"/>
            </p:cNvSpPr>
            <p:nvPr/>
          </p:nvSpPr>
          <p:spPr bwMode="auto">
            <a:xfrm>
              <a:off x="6489701" y="4191000"/>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97" name="Line 1206">
              <a:extLst>
                <a:ext uri="{FF2B5EF4-FFF2-40B4-BE49-F238E27FC236}">
                  <a16:creationId xmlns:a16="http://schemas.microsoft.com/office/drawing/2014/main" xmlns="" id="{66BFD4C1-63F7-FB73-59E9-B4E1474BCF4A}"/>
                </a:ext>
              </a:extLst>
            </p:cNvPr>
            <p:cNvSpPr>
              <a:spLocks noChangeShapeType="1"/>
            </p:cNvSpPr>
            <p:nvPr/>
          </p:nvSpPr>
          <p:spPr bwMode="auto">
            <a:xfrm>
              <a:off x="6905626" y="4191000"/>
              <a:ext cx="417513"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sp>
          <p:nvSpPr>
            <p:cNvPr id="98" name="Line 1207">
              <a:extLst>
                <a:ext uri="{FF2B5EF4-FFF2-40B4-BE49-F238E27FC236}">
                  <a16:creationId xmlns:a16="http://schemas.microsoft.com/office/drawing/2014/main" xmlns="" id="{90AC8DC2-1C9B-D482-E8BC-96D2BF12DB4C}"/>
                </a:ext>
              </a:extLst>
            </p:cNvPr>
            <p:cNvSpPr>
              <a:spLocks noChangeShapeType="1"/>
            </p:cNvSpPr>
            <p:nvPr/>
          </p:nvSpPr>
          <p:spPr bwMode="auto">
            <a:xfrm>
              <a:off x="7323138" y="4191000"/>
              <a:ext cx="415925" cy="0"/>
            </a:xfrm>
            <a:prstGeom prst="line">
              <a:avLst/>
            </a:prstGeom>
            <a:noFill/>
            <a:ln w="28575" cap="sq">
              <a:noFill/>
              <a:miter lim="800000"/>
              <a:headEnd/>
              <a:tailEnd/>
            </a:ln>
            <a:effectLst/>
          </p:spPr>
          <p:txBody>
            <a:bodyPr wrap="none"/>
            <a:lstStyle/>
            <a:p>
              <a:endParaRPr lang="zh-CN" altLang="en-US" sz="1600" b="0">
                <a:latin typeface="Consolas" pitchFamily="49" charset="0"/>
                <a:cs typeface="Consolas" pitchFamily="49" charset="0"/>
              </a:endParaRPr>
            </a:p>
          </p:txBody>
        </p:sp>
      </p:grpSp>
      <p:sp>
        <p:nvSpPr>
          <p:cNvPr id="99" name="Text Box 1210">
            <a:extLst>
              <a:ext uri="{FF2B5EF4-FFF2-40B4-BE49-F238E27FC236}">
                <a16:creationId xmlns:a16="http://schemas.microsoft.com/office/drawing/2014/main" xmlns="" id="{CD877EC9-FF07-AE1B-B329-BF49F9DFDA54}"/>
              </a:ext>
            </a:extLst>
          </p:cNvPr>
          <p:cNvSpPr txBox="1">
            <a:spLocks noChangeArrowheads="1"/>
          </p:cNvSpPr>
          <p:nvPr/>
        </p:nvSpPr>
        <p:spPr bwMode="auto">
          <a:xfrm>
            <a:off x="3789464" y="6217716"/>
            <a:ext cx="4521213" cy="400110"/>
          </a:xfrm>
          <a:prstGeom prst="rect">
            <a:avLst/>
          </a:prstGeom>
          <a:noFill/>
          <a:ln w="9525">
            <a:noFill/>
            <a:miter lim="800000"/>
            <a:headEnd/>
            <a:tailEnd/>
          </a:ln>
          <a:effectLst/>
        </p:spPr>
        <p:txBody>
          <a:bodyPr wrap="square">
            <a:spAutoFit/>
          </a:bodyPr>
          <a:lstStyle/>
          <a:p>
            <a:pPr algn="l">
              <a:spcBef>
                <a:spcPct val="50000"/>
              </a:spcBef>
            </a:pPr>
            <a:r>
              <a:rPr kumimoji="1" lang="zh-CN" altLang="en-US" sz="2000" dirty="0">
                <a:latin typeface="Consolas" pitchFamily="49" charset="0"/>
                <a:ea typeface="仿宋" pitchFamily="49" charset="-122"/>
                <a:cs typeface="Consolas" pitchFamily="49" charset="0"/>
              </a:rPr>
              <a:t>顺序存储结构（不用下标为</a:t>
            </a:r>
            <a:r>
              <a:rPr kumimoji="1" lang="en-US" altLang="zh-CN" sz="2000" dirty="0">
                <a:latin typeface="Consolas" pitchFamily="49" charset="0"/>
                <a:ea typeface="仿宋" pitchFamily="49" charset="-122"/>
                <a:cs typeface="Consolas" pitchFamily="49" charset="0"/>
              </a:rPr>
              <a:t>0</a:t>
            </a:r>
            <a:r>
              <a:rPr kumimoji="1" lang="zh-CN" altLang="en-US" sz="2000" dirty="0">
                <a:latin typeface="Consolas" pitchFamily="49" charset="0"/>
                <a:ea typeface="仿宋" pitchFamily="49" charset="-122"/>
                <a:cs typeface="Consolas" pitchFamily="49" charset="0"/>
              </a:rPr>
              <a:t>的元素）</a:t>
            </a:r>
          </a:p>
        </p:txBody>
      </p:sp>
      <p:sp>
        <p:nvSpPr>
          <p:cNvPr id="100" name="AutoShape 1296">
            <a:extLst>
              <a:ext uri="{FF2B5EF4-FFF2-40B4-BE49-F238E27FC236}">
                <a16:creationId xmlns:a16="http://schemas.microsoft.com/office/drawing/2014/main" xmlns="" id="{5A02F372-2F63-9B9B-5926-A706C3BAFC0B}"/>
              </a:ext>
            </a:extLst>
          </p:cNvPr>
          <p:cNvSpPr>
            <a:spLocks noChangeArrowheads="1"/>
          </p:cNvSpPr>
          <p:nvPr/>
        </p:nvSpPr>
        <p:spPr bwMode="auto">
          <a:xfrm>
            <a:off x="6213598" y="4431766"/>
            <a:ext cx="219072" cy="504825"/>
          </a:xfrm>
          <a:prstGeom prst="downArrow">
            <a:avLst>
              <a:gd name="adj1" fmla="val 50000"/>
              <a:gd name="adj2" fmla="val 25000"/>
            </a:avLst>
          </a:prstGeom>
          <a:ln>
            <a:headEnd/>
            <a:tailEnd type="none" w="med" len="lg"/>
          </a:ln>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sz="1800" b="0">
              <a:latin typeface="Consolas" pitchFamily="49" charset="0"/>
              <a:cs typeface="Consolas" pitchFamily="49" charset="0"/>
            </a:endParaRPr>
          </a:p>
        </p:txBody>
      </p:sp>
      <p:sp>
        <p:nvSpPr>
          <p:cNvPr id="101" name="Text Box 1298">
            <a:extLst>
              <a:ext uri="{FF2B5EF4-FFF2-40B4-BE49-F238E27FC236}">
                <a16:creationId xmlns:a16="http://schemas.microsoft.com/office/drawing/2014/main" xmlns="" id="{E253F60E-0318-A236-FD0D-4637C6C8DB34}"/>
              </a:ext>
            </a:extLst>
          </p:cNvPr>
          <p:cNvSpPr txBox="1">
            <a:spLocks noChangeArrowheads="1"/>
          </p:cNvSpPr>
          <p:nvPr/>
        </p:nvSpPr>
        <p:spPr bwMode="auto">
          <a:xfrm>
            <a:off x="2225457" y="1756837"/>
            <a:ext cx="492443" cy="4603755"/>
          </a:xfrm>
          <a:prstGeom prst="rect">
            <a:avLst/>
          </a:prstGeom>
          <a:noFill/>
          <a:ln w="28575" algn="ctr">
            <a:noFill/>
            <a:miter lim="800000"/>
            <a:headEnd/>
            <a:tailEnd type="none" w="med" len="lg"/>
          </a:ln>
          <a:effectLst/>
        </p:spPr>
        <p:txBody>
          <a:bodyPr vert="eaVert" wrap="square">
            <a:spAutoFit/>
          </a:bodyPr>
          <a:lstStyle/>
          <a:p>
            <a:pPr marL="457200" indent="-457200">
              <a:spcBef>
                <a:spcPct val="50000"/>
              </a:spcBef>
              <a:buBlip>
                <a:blip r:embed="rId2"/>
              </a:buBlip>
            </a:pPr>
            <a:r>
              <a:rPr lang="zh-CN" altLang="en-US" sz="2000" dirty="0">
                <a:solidFill>
                  <a:srgbClr val="FF0000"/>
                </a:solidFill>
                <a:effectLst>
                  <a:outerShdw blurRad="38100" dist="38100" dir="2700000" algn="tl">
                    <a:srgbClr val="000000">
                      <a:alpha val="43137"/>
                    </a:srgbClr>
                  </a:outerShdw>
                </a:effectLst>
                <a:latin typeface="Consolas" pitchFamily="49" charset="0"/>
                <a:ea typeface="华文中宋" pitchFamily="2" charset="-122"/>
                <a:cs typeface="Consolas" pitchFamily="49" charset="0"/>
              </a:rPr>
              <a:t>完全二叉树的顺序存储结构</a:t>
            </a:r>
          </a:p>
        </p:txBody>
      </p:sp>
      <p:graphicFrame>
        <p:nvGraphicFramePr>
          <p:cNvPr id="102" name="表格 101">
            <a:extLst>
              <a:ext uri="{FF2B5EF4-FFF2-40B4-BE49-F238E27FC236}">
                <a16:creationId xmlns:a16="http://schemas.microsoft.com/office/drawing/2014/main" xmlns="" id="{F007333F-2518-E6D3-D055-DA9C53D185C6}"/>
              </a:ext>
            </a:extLst>
          </p:cNvPr>
          <p:cNvGraphicFramePr>
            <a:graphicFrameLocks noGrp="1"/>
          </p:cNvGraphicFramePr>
          <p:nvPr>
            <p:extLst>
              <p:ext uri="{D42A27DB-BD31-4B8C-83A1-F6EECF244321}">
                <p14:modId xmlns:p14="http://schemas.microsoft.com/office/powerpoint/2010/main" val="904738848"/>
              </p:ext>
            </p:extLst>
          </p:nvPr>
        </p:nvGraphicFramePr>
        <p:xfrm>
          <a:off x="3146522" y="5503336"/>
          <a:ext cx="6286545" cy="370840"/>
        </p:xfrm>
        <a:graphic>
          <a:graphicData uri="http://schemas.openxmlformats.org/drawingml/2006/table">
            <a:tbl>
              <a:tblPr firstRow="1" bandRow="1">
                <a:tableStyleId>{16D9F66E-5EB9-4882-86FB-DCBF35E3C3E4}</a:tableStyleId>
              </a:tblPr>
              <a:tblGrid>
                <a:gridCol w="419103">
                  <a:extLst>
                    <a:ext uri="{9D8B030D-6E8A-4147-A177-3AD203B41FA5}">
                      <a16:colId xmlns:a16="http://schemas.microsoft.com/office/drawing/2014/main" xmlns="" val="20000"/>
                    </a:ext>
                  </a:extLst>
                </a:gridCol>
                <a:gridCol w="419103">
                  <a:extLst>
                    <a:ext uri="{9D8B030D-6E8A-4147-A177-3AD203B41FA5}">
                      <a16:colId xmlns:a16="http://schemas.microsoft.com/office/drawing/2014/main" xmlns="" val="20001"/>
                    </a:ext>
                  </a:extLst>
                </a:gridCol>
                <a:gridCol w="419103">
                  <a:extLst>
                    <a:ext uri="{9D8B030D-6E8A-4147-A177-3AD203B41FA5}">
                      <a16:colId xmlns:a16="http://schemas.microsoft.com/office/drawing/2014/main" xmlns="" val="20002"/>
                    </a:ext>
                  </a:extLst>
                </a:gridCol>
                <a:gridCol w="419103">
                  <a:extLst>
                    <a:ext uri="{9D8B030D-6E8A-4147-A177-3AD203B41FA5}">
                      <a16:colId xmlns:a16="http://schemas.microsoft.com/office/drawing/2014/main" xmlns="" val="20003"/>
                    </a:ext>
                  </a:extLst>
                </a:gridCol>
                <a:gridCol w="419103">
                  <a:extLst>
                    <a:ext uri="{9D8B030D-6E8A-4147-A177-3AD203B41FA5}">
                      <a16:colId xmlns:a16="http://schemas.microsoft.com/office/drawing/2014/main" xmlns="" val="20004"/>
                    </a:ext>
                  </a:extLst>
                </a:gridCol>
                <a:gridCol w="419103">
                  <a:extLst>
                    <a:ext uri="{9D8B030D-6E8A-4147-A177-3AD203B41FA5}">
                      <a16:colId xmlns:a16="http://schemas.microsoft.com/office/drawing/2014/main" xmlns="" val="20005"/>
                    </a:ext>
                  </a:extLst>
                </a:gridCol>
                <a:gridCol w="419103">
                  <a:extLst>
                    <a:ext uri="{9D8B030D-6E8A-4147-A177-3AD203B41FA5}">
                      <a16:colId xmlns:a16="http://schemas.microsoft.com/office/drawing/2014/main" xmlns="" val="20006"/>
                    </a:ext>
                  </a:extLst>
                </a:gridCol>
                <a:gridCol w="419103">
                  <a:extLst>
                    <a:ext uri="{9D8B030D-6E8A-4147-A177-3AD203B41FA5}">
                      <a16:colId xmlns:a16="http://schemas.microsoft.com/office/drawing/2014/main" xmlns="" val="20007"/>
                    </a:ext>
                  </a:extLst>
                </a:gridCol>
                <a:gridCol w="419103">
                  <a:extLst>
                    <a:ext uri="{9D8B030D-6E8A-4147-A177-3AD203B41FA5}">
                      <a16:colId xmlns:a16="http://schemas.microsoft.com/office/drawing/2014/main" xmlns="" val="20008"/>
                    </a:ext>
                  </a:extLst>
                </a:gridCol>
                <a:gridCol w="419103">
                  <a:extLst>
                    <a:ext uri="{9D8B030D-6E8A-4147-A177-3AD203B41FA5}">
                      <a16:colId xmlns:a16="http://schemas.microsoft.com/office/drawing/2014/main" xmlns="" val="20009"/>
                    </a:ext>
                  </a:extLst>
                </a:gridCol>
                <a:gridCol w="419103">
                  <a:extLst>
                    <a:ext uri="{9D8B030D-6E8A-4147-A177-3AD203B41FA5}">
                      <a16:colId xmlns:a16="http://schemas.microsoft.com/office/drawing/2014/main" xmlns="" val="20010"/>
                    </a:ext>
                  </a:extLst>
                </a:gridCol>
                <a:gridCol w="419103">
                  <a:extLst>
                    <a:ext uri="{9D8B030D-6E8A-4147-A177-3AD203B41FA5}">
                      <a16:colId xmlns:a16="http://schemas.microsoft.com/office/drawing/2014/main" xmlns="" val="20011"/>
                    </a:ext>
                  </a:extLst>
                </a:gridCol>
                <a:gridCol w="419103">
                  <a:extLst>
                    <a:ext uri="{9D8B030D-6E8A-4147-A177-3AD203B41FA5}">
                      <a16:colId xmlns:a16="http://schemas.microsoft.com/office/drawing/2014/main" xmlns="" val="20012"/>
                    </a:ext>
                  </a:extLst>
                </a:gridCol>
                <a:gridCol w="419103">
                  <a:extLst>
                    <a:ext uri="{9D8B030D-6E8A-4147-A177-3AD203B41FA5}">
                      <a16:colId xmlns:a16="http://schemas.microsoft.com/office/drawing/2014/main" xmlns="" val="20013"/>
                    </a:ext>
                  </a:extLst>
                </a:gridCol>
                <a:gridCol w="419103">
                  <a:extLst>
                    <a:ext uri="{9D8B030D-6E8A-4147-A177-3AD203B41FA5}">
                      <a16:colId xmlns:a16="http://schemas.microsoft.com/office/drawing/2014/main" xmlns="" val="20014"/>
                    </a:ext>
                  </a:extLst>
                </a:gridCol>
              </a:tblGrid>
              <a:tr h="370840">
                <a:tc>
                  <a:txBody>
                    <a:bodyPr/>
                    <a:lstStyle/>
                    <a:p>
                      <a:pPr algn="ctr"/>
                      <a:r>
                        <a:rPr lang="en-US" altLang="zh-CN" sz="1800" b="0" i="0">
                          <a:solidFill>
                            <a:srgbClr val="3333FF"/>
                          </a:solidFill>
                          <a:latin typeface="Consolas" pitchFamily="49" charset="0"/>
                          <a:cs typeface="Consolas" pitchFamily="49" charset="0"/>
                        </a:rPr>
                        <a:t>A</a:t>
                      </a:r>
                      <a:endParaRPr lang="zh-CN" altLang="en-US" sz="1800" b="0" i="0">
                        <a:solidFill>
                          <a:srgbClr val="3333FF"/>
                        </a:solidFill>
                        <a:latin typeface="Consolas" pitchFamily="49" charset="0"/>
                        <a:cs typeface="Consolas" pitchFamily="49" charset="0"/>
                      </a:endParaRPr>
                    </a:p>
                  </a:txBody>
                  <a:tcPr/>
                </a:tc>
                <a:tc>
                  <a:txBody>
                    <a:bodyPr/>
                    <a:lstStyle/>
                    <a:p>
                      <a:pPr algn="ctr"/>
                      <a:r>
                        <a:rPr lang="en-US" altLang="zh-CN" sz="1800" b="0" i="0">
                          <a:solidFill>
                            <a:srgbClr val="3333FF"/>
                          </a:solidFill>
                          <a:latin typeface="Consolas" pitchFamily="49" charset="0"/>
                          <a:cs typeface="Consolas" pitchFamily="49" charset="0"/>
                        </a:rPr>
                        <a:t>B</a:t>
                      </a:r>
                      <a:endParaRPr lang="zh-CN" altLang="en-US" sz="1800" b="0" i="0">
                        <a:solidFill>
                          <a:srgbClr val="3333FF"/>
                        </a:solidFill>
                        <a:latin typeface="Consolas" pitchFamily="49" charset="0"/>
                        <a:cs typeface="Consolas" pitchFamily="49" charset="0"/>
                      </a:endParaRPr>
                    </a:p>
                  </a:txBody>
                  <a:tcPr/>
                </a:tc>
                <a:tc>
                  <a:txBody>
                    <a:bodyPr/>
                    <a:lstStyle/>
                    <a:p>
                      <a:pPr algn="ctr"/>
                      <a:r>
                        <a:rPr lang="en-US" altLang="zh-CN" sz="1800" b="0" i="0">
                          <a:solidFill>
                            <a:srgbClr val="3333FF"/>
                          </a:solidFill>
                          <a:latin typeface="Consolas" pitchFamily="49" charset="0"/>
                          <a:cs typeface="Consolas" pitchFamily="49" charset="0"/>
                        </a:rPr>
                        <a:t>C</a:t>
                      </a:r>
                      <a:endParaRPr lang="zh-CN" altLang="en-US" sz="1800" b="0" i="0">
                        <a:solidFill>
                          <a:srgbClr val="3333FF"/>
                        </a:solidFill>
                        <a:latin typeface="Consolas" pitchFamily="49" charset="0"/>
                        <a:cs typeface="Consolas" pitchFamily="49" charset="0"/>
                      </a:endParaRPr>
                    </a:p>
                  </a:txBody>
                  <a:tcPr/>
                </a:tc>
                <a:tc>
                  <a:txBody>
                    <a:bodyPr/>
                    <a:lstStyle/>
                    <a:p>
                      <a:pPr algn="ctr"/>
                      <a:r>
                        <a:rPr lang="en-US" altLang="zh-CN" sz="1800" b="0" i="0">
                          <a:solidFill>
                            <a:srgbClr val="3333FF"/>
                          </a:solidFill>
                          <a:latin typeface="Consolas" pitchFamily="49" charset="0"/>
                          <a:cs typeface="Consolas" pitchFamily="49" charset="0"/>
                        </a:rPr>
                        <a:t>D</a:t>
                      </a:r>
                      <a:endParaRPr lang="zh-CN" altLang="en-US" sz="1800" b="0" i="0">
                        <a:solidFill>
                          <a:srgbClr val="3333FF"/>
                        </a:solidFill>
                        <a:latin typeface="Consolas" pitchFamily="49" charset="0"/>
                        <a:cs typeface="Consolas" pitchFamily="49" charset="0"/>
                      </a:endParaRPr>
                    </a:p>
                  </a:txBody>
                  <a:tcPr/>
                </a:tc>
                <a:tc>
                  <a:txBody>
                    <a:bodyPr/>
                    <a:lstStyle/>
                    <a:p>
                      <a:pPr algn="ctr"/>
                      <a:r>
                        <a:rPr lang="en-US" altLang="zh-CN" sz="1800" b="0" i="0">
                          <a:solidFill>
                            <a:srgbClr val="3333FF"/>
                          </a:solidFill>
                          <a:latin typeface="Consolas" pitchFamily="49" charset="0"/>
                          <a:cs typeface="Consolas" pitchFamily="49" charset="0"/>
                        </a:rPr>
                        <a:t>E</a:t>
                      </a:r>
                      <a:endParaRPr lang="zh-CN" altLang="en-US" sz="1800" b="0" i="0">
                        <a:solidFill>
                          <a:srgbClr val="3333FF"/>
                        </a:solidFill>
                        <a:latin typeface="Consolas" pitchFamily="49" charset="0"/>
                        <a:cs typeface="Consolas" pitchFamily="49" charset="0"/>
                      </a:endParaRPr>
                    </a:p>
                  </a:txBody>
                  <a:tcPr/>
                </a:tc>
                <a:tc>
                  <a:txBody>
                    <a:bodyPr/>
                    <a:lstStyle/>
                    <a:p>
                      <a:pPr algn="ctr"/>
                      <a:r>
                        <a:rPr lang="en-US" altLang="zh-CN" sz="1800" b="0" i="0">
                          <a:solidFill>
                            <a:srgbClr val="3333FF"/>
                          </a:solidFill>
                          <a:latin typeface="Consolas" pitchFamily="49" charset="0"/>
                          <a:cs typeface="Consolas" pitchFamily="49" charset="0"/>
                        </a:rPr>
                        <a:t>F</a:t>
                      </a:r>
                      <a:endParaRPr lang="zh-CN" altLang="en-US" sz="1800" b="0" i="0">
                        <a:solidFill>
                          <a:srgbClr val="3333FF"/>
                        </a:solidFill>
                        <a:latin typeface="Consolas" pitchFamily="49" charset="0"/>
                        <a:cs typeface="Consolas" pitchFamily="49" charset="0"/>
                      </a:endParaRPr>
                    </a:p>
                  </a:txBody>
                  <a:tcPr/>
                </a:tc>
                <a:tc>
                  <a:txBody>
                    <a:bodyPr/>
                    <a:lstStyle/>
                    <a:p>
                      <a:pPr algn="ctr"/>
                      <a:r>
                        <a:rPr lang="en-US" altLang="zh-CN" sz="1800" b="0" i="0">
                          <a:solidFill>
                            <a:srgbClr val="3333FF"/>
                          </a:solidFill>
                          <a:latin typeface="Consolas" pitchFamily="49" charset="0"/>
                          <a:cs typeface="Consolas" pitchFamily="49" charset="0"/>
                        </a:rPr>
                        <a:t>G</a:t>
                      </a:r>
                      <a:endParaRPr lang="zh-CN" altLang="en-US" sz="1800" b="0" i="0">
                        <a:solidFill>
                          <a:srgbClr val="3333FF"/>
                        </a:solidFill>
                        <a:latin typeface="Consolas" pitchFamily="49" charset="0"/>
                        <a:cs typeface="Consolas" pitchFamily="49" charset="0"/>
                      </a:endParaRPr>
                    </a:p>
                  </a:txBody>
                  <a:tcPr/>
                </a:tc>
                <a:tc>
                  <a:txBody>
                    <a:bodyPr/>
                    <a:lstStyle/>
                    <a:p>
                      <a:pPr algn="ctr"/>
                      <a:r>
                        <a:rPr lang="en-US" altLang="zh-CN" sz="1800" b="0" i="0">
                          <a:solidFill>
                            <a:srgbClr val="3333FF"/>
                          </a:solidFill>
                          <a:latin typeface="Consolas" pitchFamily="49" charset="0"/>
                          <a:cs typeface="Consolas" pitchFamily="49" charset="0"/>
                        </a:rPr>
                        <a:t>H</a:t>
                      </a:r>
                      <a:endParaRPr lang="zh-CN" altLang="en-US" sz="1800" b="0" i="0">
                        <a:solidFill>
                          <a:srgbClr val="3333FF"/>
                        </a:solidFill>
                        <a:latin typeface="Consolas" pitchFamily="49" charset="0"/>
                        <a:cs typeface="Consolas" pitchFamily="49" charset="0"/>
                      </a:endParaRPr>
                    </a:p>
                  </a:txBody>
                  <a:tcPr/>
                </a:tc>
                <a:tc>
                  <a:txBody>
                    <a:bodyPr/>
                    <a:lstStyle/>
                    <a:p>
                      <a:pPr algn="ctr"/>
                      <a:r>
                        <a:rPr lang="en-US" altLang="zh-CN" sz="1800" b="0" i="0">
                          <a:solidFill>
                            <a:srgbClr val="3333FF"/>
                          </a:solidFill>
                          <a:latin typeface="Consolas" pitchFamily="49" charset="0"/>
                          <a:cs typeface="Consolas" pitchFamily="49" charset="0"/>
                        </a:rPr>
                        <a:t>I</a:t>
                      </a:r>
                      <a:endParaRPr lang="zh-CN" altLang="en-US" sz="1800" b="0" i="0">
                        <a:solidFill>
                          <a:srgbClr val="3333FF"/>
                        </a:solidFill>
                        <a:latin typeface="Consolas" pitchFamily="49" charset="0"/>
                        <a:cs typeface="Consolas" pitchFamily="49" charset="0"/>
                      </a:endParaRPr>
                    </a:p>
                  </a:txBody>
                  <a:tcPr/>
                </a:tc>
                <a:tc>
                  <a:txBody>
                    <a:bodyPr/>
                    <a:lstStyle/>
                    <a:p>
                      <a:pPr algn="ctr"/>
                      <a:r>
                        <a:rPr lang="en-US" altLang="zh-CN" sz="1800" b="0" i="0">
                          <a:solidFill>
                            <a:srgbClr val="3333FF"/>
                          </a:solidFill>
                          <a:latin typeface="Consolas" pitchFamily="49" charset="0"/>
                          <a:cs typeface="Consolas" pitchFamily="49" charset="0"/>
                        </a:rPr>
                        <a:t>J</a:t>
                      </a:r>
                      <a:endParaRPr lang="zh-CN" altLang="en-US" sz="1800" b="0" i="0">
                        <a:solidFill>
                          <a:srgbClr val="3333FF"/>
                        </a:solidFill>
                        <a:latin typeface="Consolas" pitchFamily="49" charset="0"/>
                        <a:cs typeface="Consolas" pitchFamily="49" charset="0"/>
                      </a:endParaRPr>
                    </a:p>
                  </a:txBody>
                  <a:tcPr/>
                </a:tc>
                <a:tc>
                  <a:txBody>
                    <a:bodyPr/>
                    <a:lstStyle/>
                    <a:p>
                      <a:pPr algn="ctr"/>
                      <a:r>
                        <a:rPr lang="en-US" altLang="zh-CN" sz="1800" b="0" i="0">
                          <a:solidFill>
                            <a:srgbClr val="3333FF"/>
                          </a:solidFill>
                          <a:latin typeface="Consolas" pitchFamily="49" charset="0"/>
                          <a:cs typeface="Consolas" pitchFamily="49" charset="0"/>
                        </a:rPr>
                        <a:t>K</a:t>
                      </a:r>
                      <a:endParaRPr lang="zh-CN" altLang="en-US" sz="1800" b="0" i="0">
                        <a:solidFill>
                          <a:srgbClr val="3333FF"/>
                        </a:solidFill>
                        <a:latin typeface="Consolas" pitchFamily="49" charset="0"/>
                        <a:cs typeface="Consolas" pitchFamily="49" charset="0"/>
                      </a:endParaRPr>
                    </a:p>
                  </a:txBody>
                  <a:tcPr/>
                </a:tc>
                <a:tc>
                  <a:txBody>
                    <a:bodyPr/>
                    <a:lstStyle/>
                    <a:p>
                      <a:pPr algn="ctr"/>
                      <a:r>
                        <a:rPr lang="en-US" altLang="zh-CN" sz="1800" b="0" i="0">
                          <a:solidFill>
                            <a:srgbClr val="FF00FF"/>
                          </a:solidFill>
                          <a:latin typeface="Consolas" pitchFamily="49" charset="0"/>
                          <a:cs typeface="Consolas" pitchFamily="49" charset="0"/>
                        </a:rPr>
                        <a:t>#</a:t>
                      </a:r>
                      <a:endParaRPr lang="zh-CN" altLang="en-US" sz="1800" b="0" i="0">
                        <a:solidFill>
                          <a:srgbClr val="FF00FF"/>
                        </a:solidFill>
                        <a:latin typeface="Consolas" pitchFamily="49" charset="0"/>
                        <a:cs typeface="Consolas" pitchFamily="49" charset="0"/>
                      </a:endParaRPr>
                    </a:p>
                  </a:txBody>
                  <a:tcPr/>
                </a:tc>
                <a:tc>
                  <a:txBody>
                    <a:bodyPr/>
                    <a:lstStyle/>
                    <a:p>
                      <a:pPr algn="ctr"/>
                      <a:r>
                        <a:rPr lang="en-US" altLang="zh-CN" sz="1800" b="0" i="0">
                          <a:solidFill>
                            <a:srgbClr val="FF00FF"/>
                          </a:solidFill>
                          <a:latin typeface="Consolas" pitchFamily="49" charset="0"/>
                          <a:cs typeface="Consolas" pitchFamily="49" charset="0"/>
                        </a:rPr>
                        <a:t>#</a:t>
                      </a:r>
                      <a:endParaRPr lang="zh-CN" altLang="en-US" sz="1800" b="0" i="0">
                        <a:solidFill>
                          <a:srgbClr val="FF00FF"/>
                        </a:solidFill>
                        <a:latin typeface="Consolas" pitchFamily="49" charset="0"/>
                        <a:cs typeface="Consolas" pitchFamily="49" charset="0"/>
                      </a:endParaRPr>
                    </a:p>
                  </a:txBody>
                  <a:tcPr/>
                </a:tc>
                <a:tc>
                  <a:txBody>
                    <a:bodyPr/>
                    <a:lstStyle/>
                    <a:p>
                      <a:pPr algn="ctr"/>
                      <a:r>
                        <a:rPr lang="en-US" altLang="zh-CN" sz="1800" b="0" i="0">
                          <a:solidFill>
                            <a:srgbClr val="FF00FF"/>
                          </a:solidFill>
                          <a:latin typeface="Consolas" pitchFamily="49" charset="0"/>
                          <a:cs typeface="Consolas" pitchFamily="49" charset="0"/>
                        </a:rPr>
                        <a:t>#</a:t>
                      </a:r>
                      <a:endParaRPr lang="zh-CN" altLang="en-US" sz="1800" b="0" i="0">
                        <a:solidFill>
                          <a:srgbClr val="FF00FF"/>
                        </a:solidFill>
                        <a:latin typeface="Consolas" pitchFamily="49" charset="0"/>
                        <a:cs typeface="Consolas" pitchFamily="49" charset="0"/>
                      </a:endParaRPr>
                    </a:p>
                  </a:txBody>
                  <a:tcPr/>
                </a:tc>
                <a:tc>
                  <a:txBody>
                    <a:bodyPr/>
                    <a:lstStyle/>
                    <a:p>
                      <a:pPr algn="ctr"/>
                      <a:r>
                        <a:rPr lang="en-US" altLang="zh-CN" sz="1800" b="0" i="0">
                          <a:solidFill>
                            <a:srgbClr val="FF00FF"/>
                          </a:solidFill>
                          <a:latin typeface="Consolas" pitchFamily="49" charset="0"/>
                          <a:cs typeface="Consolas" pitchFamily="49" charset="0"/>
                        </a:rPr>
                        <a:t>#</a:t>
                      </a:r>
                      <a:endParaRPr lang="zh-CN" altLang="en-US" sz="1800" b="0" i="0">
                        <a:solidFill>
                          <a:srgbClr val="FF00FF"/>
                        </a:solidFill>
                        <a:latin typeface="Consolas" pitchFamily="49" charset="0"/>
                        <a:cs typeface="Consolas" pitchFamily="49" charset="0"/>
                      </a:endParaRPr>
                    </a:p>
                  </a:txBody>
                  <a:tcPr/>
                </a:tc>
                <a:extLst>
                  <a:ext uri="{0D108BD9-81ED-4DB2-BD59-A6C34878D82A}">
                    <a16:rowId xmlns:a16="http://schemas.microsoft.com/office/drawing/2014/main" xmlns="" val="10000"/>
                  </a:ext>
                </a:extLst>
              </a:tr>
            </a:tbl>
          </a:graphicData>
        </a:graphic>
      </p:graphicFrame>
      <p:sp>
        <p:nvSpPr>
          <p:cNvPr id="103" name="Rectangle 2">
            <a:extLst>
              <a:ext uri="{FF2B5EF4-FFF2-40B4-BE49-F238E27FC236}">
                <a16:creationId xmlns:a16="http://schemas.microsoft.com/office/drawing/2014/main" xmlns="" id="{C6F88018-7BE4-C83B-9CCB-8FECD7C719C9}"/>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7.3.1 </a:t>
            </a:r>
            <a:r>
              <a:rPr lang="zh-CN" altLang="en-US" dirty="0"/>
              <a:t>二叉树的顺序存储结构</a:t>
            </a:r>
          </a:p>
        </p:txBody>
      </p:sp>
    </p:spTree>
    <p:extLst>
      <p:ext uri="{BB962C8B-B14F-4D97-AF65-F5344CB8AC3E}">
        <p14:creationId xmlns:p14="http://schemas.microsoft.com/office/powerpoint/2010/main" val="249973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10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82D6F01-626C-884C-C666-C0E84785B924}"/>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F6FCCF02-A947-D4AB-BD90-5268FB874198}"/>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7.3 </a:t>
            </a:r>
            <a:r>
              <a:rPr lang="zh-CN" altLang="en-US" sz="3000" b="1" dirty="0">
                <a:latin typeface="黑体" pitchFamily="49" charset="-122"/>
                <a:ea typeface="黑体" pitchFamily="49" charset="-122"/>
                <a:cs typeface="经典粗黑简" pitchFamily="49" charset="-122"/>
              </a:rPr>
              <a:t>二叉树的存储结构</a:t>
            </a:r>
          </a:p>
        </p:txBody>
      </p:sp>
      <p:cxnSp>
        <p:nvCxnSpPr>
          <p:cNvPr id="20" name="直接连接符 19">
            <a:extLst>
              <a:ext uri="{FF2B5EF4-FFF2-40B4-BE49-F238E27FC236}">
                <a16:creationId xmlns:a16="http://schemas.microsoft.com/office/drawing/2014/main" xmlns="" id="{61260D96-91AF-F138-0B5F-C1008B85E22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pSp>
        <p:nvGrpSpPr>
          <p:cNvPr id="271" name="组合 270">
            <a:extLst>
              <a:ext uri="{FF2B5EF4-FFF2-40B4-BE49-F238E27FC236}">
                <a16:creationId xmlns:a16="http://schemas.microsoft.com/office/drawing/2014/main" xmlns="" id="{F3E9BDB7-844E-7CF6-D775-2FFE0CFC6B58}"/>
              </a:ext>
            </a:extLst>
          </p:cNvPr>
          <p:cNvGrpSpPr/>
          <p:nvPr/>
        </p:nvGrpSpPr>
        <p:grpSpPr>
          <a:xfrm>
            <a:off x="3731578" y="1422121"/>
            <a:ext cx="4816610" cy="3017264"/>
            <a:chOff x="3727622" y="1779840"/>
            <a:chExt cx="4816610" cy="3017264"/>
          </a:xfrm>
        </p:grpSpPr>
        <p:sp>
          <p:nvSpPr>
            <p:cNvPr id="225" name="Line 30">
              <a:extLst>
                <a:ext uri="{FF2B5EF4-FFF2-40B4-BE49-F238E27FC236}">
                  <a16:creationId xmlns:a16="http://schemas.microsoft.com/office/drawing/2014/main" xmlns="" id="{393440EB-C1C0-0435-C490-A0C23DF6BD2B}"/>
                </a:ext>
              </a:extLst>
            </p:cNvPr>
            <p:cNvSpPr>
              <a:spLocks noChangeShapeType="1"/>
            </p:cNvSpPr>
            <p:nvPr/>
          </p:nvSpPr>
          <p:spPr bwMode="auto">
            <a:xfrm>
              <a:off x="5238945" y="3006429"/>
              <a:ext cx="428627" cy="571503"/>
            </a:xfrm>
            <a:prstGeom prst="line">
              <a:avLst/>
            </a:prstGeom>
            <a:ln>
              <a:headEnd type="none" w="sm" len="sm"/>
              <a:tailEnd type="none" w="sm" len="sm"/>
            </a:ln>
          </p:spPr>
          <p:style>
            <a:lnRef idx="1">
              <a:schemeClr val="accent2"/>
            </a:lnRef>
            <a:fillRef idx="0">
              <a:schemeClr val="accent2"/>
            </a:fillRef>
            <a:effectRef idx="0">
              <a:schemeClr val="accent2"/>
            </a:effectRef>
            <a:fontRef idx="minor">
              <a:schemeClr val="tx1"/>
            </a:fontRef>
          </p:style>
          <p:txBody>
            <a:bodyPr wrap="none" anchor="ctr"/>
            <a:lstStyle/>
            <a:p>
              <a:endParaRPr lang="zh-CN" altLang="en-US" sz="1800" b="0">
                <a:latin typeface="Consolas" pitchFamily="49" charset="0"/>
                <a:cs typeface="Consolas" pitchFamily="49" charset="0"/>
              </a:endParaRPr>
            </a:p>
          </p:txBody>
        </p:sp>
        <p:sp>
          <p:nvSpPr>
            <p:cNvPr id="226" name="Line 32">
              <a:extLst>
                <a:ext uri="{FF2B5EF4-FFF2-40B4-BE49-F238E27FC236}">
                  <a16:creationId xmlns:a16="http://schemas.microsoft.com/office/drawing/2014/main" xmlns="" id="{5110F156-4689-817B-0BDD-08DC4A4046F6}"/>
                </a:ext>
              </a:extLst>
            </p:cNvPr>
            <p:cNvSpPr>
              <a:spLocks noChangeShapeType="1"/>
            </p:cNvSpPr>
            <p:nvPr/>
          </p:nvSpPr>
          <p:spPr bwMode="auto">
            <a:xfrm>
              <a:off x="7667835" y="2934990"/>
              <a:ext cx="428629" cy="571504"/>
            </a:xfrm>
            <a:prstGeom prst="line">
              <a:avLst/>
            </a:prstGeom>
            <a:ln>
              <a:headEnd type="none" w="sm" len="sm"/>
              <a:tailEnd type="none" w="sm" len="sm"/>
            </a:ln>
          </p:spPr>
          <p:style>
            <a:lnRef idx="1">
              <a:schemeClr val="accent2"/>
            </a:lnRef>
            <a:fillRef idx="0">
              <a:schemeClr val="accent2"/>
            </a:fillRef>
            <a:effectRef idx="0">
              <a:schemeClr val="accent2"/>
            </a:effectRef>
            <a:fontRef idx="minor">
              <a:schemeClr val="tx1"/>
            </a:fontRef>
          </p:style>
          <p:txBody>
            <a:bodyPr wrap="none" anchor="ctr"/>
            <a:lstStyle/>
            <a:p>
              <a:endParaRPr lang="zh-CN" altLang="en-US" sz="1800" b="0">
                <a:latin typeface="Consolas" pitchFamily="49" charset="0"/>
                <a:cs typeface="Consolas" pitchFamily="49" charset="0"/>
              </a:endParaRPr>
            </a:p>
          </p:txBody>
        </p:sp>
        <p:sp>
          <p:nvSpPr>
            <p:cNvPr id="227" name="Line 31">
              <a:extLst>
                <a:ext uri="{FF2B5EF4-FFF2-40B4-BE49-F238E27FC236}">
                  <a16:creationId xmlns:a16="http://schemas.microsoft.com/office/drawing/2014/main" xmlns="" id="{1F90D710-5A08-5A0E-264B-B7664F80CB09}"/>
                </a:ext>
              </a:extLst>
            </p:cNvPr>
            <p:cNvSpPr>
              <a:spLocks noChangeShapeType="1"/>
            </p:cNvSpPr>
            <p:nvPr/>
          </p:nvSpPr>
          <p:spPr bwMode="auto">
            <a:xfrm>
              <a:off x="6596266" y="2220610"/>
              <a:ext cx="785817" cy="428628"/>
            </a:xfrm>
            <a:prstGeom prst="line">
              <a:avLst/>
            </a:prstGeom>
            <a:ln>
              <a:headEnd type="none" w="sm" len="sm"/>
              <a:tailEnd type="none" w="sm" len="sm"/>
            </a:ln>
          </p:spPr>
          <p:style>
            <a:lnRef idx="1">
              <a:schemeClr val="accent2"/>
            </a:lnRef>
            <a:fillRef idx="0">
              <a:schemeClr val="accent2"/>
            </a:fillRef>
            <a:effectRef idx="0">
              <a:schemeClr val="accent2"/>
            </a:effectRef>
            <a:fontRef idx="minor">
              <a:schemeClr val="tx1"/>
            </a:fontRef>
          </p:style>
          <p:txBody>
            <a:bodyPr wrap="none" anchor="ctr"/>
            <a:lstStyle/>
            <a:p>
              <a:endParaRPr lang="zh-CN" altLang="en-US" sz="1800" b="0">
                <a:latin typeface="Consolas" pitchFamily="49" charset="0"/>
                <a:cs typeface="Consolas" pitchFamily="49" charset="0"/>
              </a:endParaRPr>
            </a:p>
          </p:txBody>
        </p:sp>
        <p:sp>
          <p:nvSpPr>
            <p:cNvPr id="228" name="Oval 2">
              <a:extLst>
                <a:ext uri="{FF2B5EF4-FFF2-40B4-BE49-F238E27FC236}">
                  <a16:creationId xmlns:a16="http://schemas.microsoft.com/office/drawing/2014/main" xmlns="" id="{2EB7F4CF-4E06-D88B-1B21-2C2D373792E2}"/>
                </a:ext>
              </a:extLst>
            </p:cNvPr>
            <p:cNvSpPr>
              <a:spLocks noChangeArrowheads="1"/>
            </p:cNvSpPr>
            <p:nvPr/>
          </p:nvSpPr>
          <p:spPr bwMode="auto">
            <a:xfrm>
              <a:off x="6167638" y="1928529"/>
              <a:ext cx="432000" cy="4320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kumimoji="1" lang="en-US" altLang="zh-CN" sz="1800" b="0" dirty="0">
                  <a:solidFill>
                    <a:srgbClr val="3333FF"/>
                  </a:solidFill>
                  <a:latin typeface="Consolas" pitchFamily="49" charset="0"/>
                  <a:ea typeface="宋体" charset="-122"/>
                  <a:cs typeface="Consolas" pitchFamily="49" charset="0"/>
                </a:rPr>
                <a:t>A</a:t>
              </a:r>
            </a:p>
          </p:txBody>
        </p:sp>
        <p:sp>
          <p:nvSpPr>
            <p:cNvPr id="229" name="Oval 3">
              <a:extLst>
                <a:ext uri="{FF2B5EF4-FFF2-40B4-BE49-F238E27FC236}">
                  <a16:creationId xmlns:a16="http://schemas.microsoft.com/office/drawing/2014/main" xmlns="" id="{040FF7E9-3495-D3D6-14D3-930F613716C9}"/>
                </a:ext>
              </a:extLst>
            </p:cNvPr>
            <p:cNvSpPr>
              <a:spLocks noChangeArrowheads="1"/>
            </p:cNvSpPr>
            <p:nvPr/>
          </p:nvSpPr>
          <p:spPr bwMode="auto">
            <a:xfrm>
              <a:off x="4932573" y="2647667"/>
              <a:ext cx="432000" cy="4320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B</a:t>
              </a:r>
            </a:p>
          </p:txBody>
        </p:sp>
        <p:sp>
          <p:nvSpPr>
            <p:cNvPr id="230" name="Oval 4">
              <a:extLst>
                <a:ext uri="{FF2B5EF4-FFF2-40B4-BE49-F238E27FC236}">
                  <a16:creationId xmlns:a16="http://schemas.microsoft.com/office/drawing/2014/main" xmlns="" id="{200ADC54-5064-0B85-0247-D733600E11F1}"/>
                </a:ext>
              </a:extLst>
            </p:cNvPr>
            <p:cNvSpPr>
              <a:spLocks noChangeArrowheads="1"/>
            </p:cNvSpPr>
            <p:nvPr/>
          </p:nvSpPr>
          <p:spPr bwMode="auto">
            <a:xfrm>
              <a:off x="5580273" y="3495392"/>
              <a:ext cx="432000" cy="4320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C</a:t>
              </a:r>
            </a:p>
          </p:txBody>
        </p:sp>
        <p:sp>
          <p:nvSpPr>
            <p:cNvPr id="231" name="Oval 5">
              <a:extLst>
                <a:ext uri="{FF2B5EF4-FFF2-40B4-BE49-F238E27FC236}">
                  <a16:creationId xmlns:a16="http://schemas.microsoft.com/office/drawing/2014/main" xmlns="" id="{3995D064-FFC6-5B90-B4B9-63B2CEA4A25D}"/>
                </a:ext>
              </a:extLst>
            </p:cNvPr>
            <p:cNvSpPr>
              <a:spLocks noChangeArrowheads="1"/>
            </p:cNvSpPr>
            <p:nvPr/>
          </p:nvSpPr>
          <p:spPr bwMode="auto">
            <a:xfrm>
              <a:off x="7309095" y="2576229"/>
              <a:ext cx="432000" cy="4320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D</a:t>
              </a:r>
            </a:p>
          </p:txBody>
        </p:sp>
        <p:sp>
          <p:nvSpPr>
            <p:cNvPr id="232" name="Oval 6">
              <a:extLst>
                <a:ext uri="{FF2B5EF4-FFF2-40B4-BE49-F238E27FC236}">
                  <a16:creationId xmlns:a16="http://schemas.microsoft.com/office/drawing/2014/main" xmlns="" id="{C718D250-3C6C-53FC-82A0-E831C179100A}"/>
                </a:ext>
              </a:extLst>
            </p:cNvPr>
            <p:cNvSpPr>
              <a:spLocks noChangeArrowheads="1"/>
            </p:cNvSpPr>
            <p:nvPr/>
          </p:nvSpPr>
          <p:spPr bwMode="auto">
            <a:xfrm>
              <a:off x="7953588" y="3439829"/>
              <a:ext cx="432000" cy="4320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E</a:t>
              </a:r>
            </a:p>
          </p:txBody>
        </p:sp>
        <p:sp>
          <p:nvSpPr>
            <p:cNvPr id="233" name="Oval 7">
              <a:extLst>
                <a:ext uri="{FF2B5EF4-FFF2-40B4-BE49-F238E27FC236}">
                  <a16:creationId xmlns:a16="http://schemas.microsoft.com/office/drawing/2014/main" xmlns="" id="{60FE97C5-933F-BB61-84A5-384375B42435}"/>
                </a:ext>
              </a:extLst>
            </p:cNvPr>
            <p:cNvSpPr>
              <a:spLocks noChangeArrowheads="1"/>
            </p:cNvSpPr>
            <p:nvPr/>
          </p:nvSpPr>
          <p:spPr bwMode="auto">
            <a:xfrm>
              <a:off x="7739274" y="4365104"/>
              <a:ext cx="432000" cy="432000"/>
            </a:xfrm>
            <a:prstGeom prst="ellipse">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F</a:t>
              </a:r>
            </a:p>
          </p:txBody>
        </p:sp>
        <p:sp>
          <p:nvSpPr>
            <p:cNvPr id="234" name="Line 29">
              <a:extLst>
                <a:ext uri="{FF2B5EF4-FFF2-40B4-BE49-F238E27FC236}">
                  <a16:creationId xmlns:a16="http://schemas.microsoft.com/office/drawing/2014/main" xmlns="" id="{13A64C36-2F09-9789-28CD-AD9B024F3A44}"/>
                </a:ext>
              </a:extLst>
            </p:cNvPr>
            <p:cNvSpPr>
              <a:spLocks noChangeShapeType="1"/>
            </p:cNvSpPr>
            <p:nvPr/>
          </p:nvSpPr>
          <p:spPr bwMode="auto">
            <a:xfrm flipH="1">
              <a:off x="5310381" y="2220610"/>
              <a:ext cx="857255" cy="500066"/>
            </a:xfrm>
            <a:prstGeom prst="line">
              <a:avLst/>
            </a:prstGeom>
            <a:ln>
              <a:headEnd type="none" w="sm" len="sm"/>
              <a:tailEnd type="none" w="sm" len="sm"/>
            </a:ln>
          </p:spPr>
          <p:style>
            <a:lnRef idx="1">
              <a:schemeClr val="accent2"/>
            </a:lnRef>
            <a:fillRef idx="0">
              <a:schemeClr val="accent2"/>
            </a:fillRef>
            <a:effectRef idx="0">
              <a:schemeClr val="accent2"/>
            </a:effectRef>
            <a:fontRef idx="minor">
              <a:schemeClr val="tx1"/>
            </a:fontRef>
          </p:style>
          <p:txBody>
            <a:bodyPr wrap="none" anchor="ctr"/>
            <a:lstStyle/>
            <a:p>
              <a:endParaRPr lang="zh-CN" altLang="en-US" sz="1800" b="0">
                <a:latin typeface="Consolas" pitchFamily="49" charset="0"/>
                <a:cs typeface="Consolas" pitchFamily="49" charset="0"/>
              </a:endParaRPr>
            </a:p>
          </p:txBody>
        </p:sp>
        <p:sp>
          <p:nvSpPr>
            <p:cNvPr id="235" name="Line 33">
              <a:extLst>
                <a:ext uri="{FF2B5EF4-FFF2-40B4-BE49-F238E27FC236}">
                  <a16:creationId xmlns:a16="http://schemas.microsoft.com/office/drawing/2014/main" xmlns="" id="{A49E5F21-BC95-6FB9-4600-5192680010AF}"/>
                </a:ext>
              </a:extLst>
            </p:cNvPr>
            <p:cNvSpPr>
              <a:spLocks noChangeShapeType="1"/>
            </p:cNvSpPr>
            <p:nvPr/>
          </p:nvSpPr>
          <p:spPr bwMode="auto">
            <a:xfrm flipH="1">
              <a:off x="7953587" y="3863684"/>
              <a:ext cx="142876" cy="500066"/>
            </a:xfrm>
            <a:prstGeom prst="line">
              <a:avLst/>
            </a:prstGeom>
            <a:ln>
              <a:headEnd type="none" w="sm" len="sm"/>
              <a:tailEnd type="none" w="sm" len="sm"/>
            </a:ln>
          </p:spPr>
          <p:style>
            <a:lnRef idx="1">
              <a:schemeClr val="accent2"/>
            </a:lnRef>
            <a:fillRef idx="0">
              <a:schemeClr val="accent2"/>
            </a:fillRef>
            <a:effectRef idx="0">
              <a:schemeClr val="accent2"/>
            </a:effectRef>
            <a:fontRef idx="minor">
              <a:schemeClr val="tx1"/>
            </a:fontRef>
          </p:style>
          <p:txBody>
            <a:bodyPr wrap="none" anchor="ctr"/>
            <a:lstStyle/>
            <a:p>
              <a:endParaRPr lang="zh-CN" altLang="en-US" sz="1800" b="0">
                <a:latin typeface="Consolas" pitchFamily="49" charset="0"/>
                <a:cs typeface="Consolas" pitchFamily="49" charset="0"/>
              </a:endParaRPr>
            </a:p>
          </p:txBody>
        </p:sp>
        <p:sp>
          <p:nvSpPr>
            <p:cNvPr id="237" name="Oval 3">
              <a:extLst>
                <a:ext uri="{FF2B5EF4-FFF2-40B4-BE49-F238E27FC236}">
                  <a16:creationId xmlns:a16="http://schemas.microsoft.com/office/drawing/2014/main" xmlns="" id="{52562722-CFA7-8B60-A59D-52E702C824DE}"/>
                </a:ext>
              </a:extLst>
            </p:cNvPr>
            <p:cNvSpPr>
              <a:spLocks noChangeArrowheads="1"/>
            </p:cNvSpPr>
            <p:nvPr/>
          </p:nvSpPr>
          <p:spPr bwMode="auto">
            <a:xfrm>
              <a:off x="4310250" y="3503122"/>
              <a:ext cx="432000" cy="432000"/>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a:t>
              </a:r>
            </a:p>
          </p:txBody>
        </p:sp>
        <p:cxnSp>
          <p:nvCxnSpPr>
            <p:cNvPr id="238" name="直接连接符 237">
              <a:extLst>
                <a:ext uri="{FF2B5EF4-FFF2-40B4-BE49-F238E27FC236}">
                  <a16:creationId xmlns:a16="http://schemas.microsoft.com/office/drawing/2014/main" xmlns="" id="{49DF6DDC-D66D-277A-CC8E-0BFA6BEFE994}"/>
                </a:ext>
              </a:extLst>
            </p:cNvPr>
            <p:cNvCxnSpPr>
              <a:stCxn id="229" idx="3"/>
              <a:endCxn id="237" idx="0"/>
            </p:cNvCxnSpPr>
            <p:nvPr/>
          </p:nvCxnSpPr>
          <p:spPr>
            <a:xfrm rot="5400000">
              <a:off x="4517684" y="3024968"/>
              <a:ext cx="486720" cy="469588"/>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239" name="Oval 3">
              <a:extLst>
                <a:ext uri="{FF2B5EF4-FFF2-40B4-BE49-F238E27FC236}">
                  <a16:creationId xmlns:a16="http://schemas.microsoft.com/office/drawing/2014/main" xmlns="" id="{E6D1BA4D-7871-2B15-24CF-224A1C596864}"/>
                </a:ext>
              </a:extLst>
            </p:cNvPr>
            <p:cNvSpPr>
              <a:spLocks noChangeArrowheads="1"/>
            </p:cNvSpPr>
            <p:nvPr/>
          </p:nvSpPr>
          <p:spPr bwMode="auto">
            <a:xfrm>
              <a:off x="6786767" y="3506494"/>
              <a:ext cx="432000" cy="432000"/>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a:t>
              </a:r>
            </a:p>
          </p:txBody>
        </p:sp>
        <p:sp>
          <p:nvSpPr>
            <p:cNvPr id="240" name="Oval 3">
              <a:extLst>
                <a:ext uri="{FF2B5EF4-FFF2-40B4-BE49-F238E27FC236}">
                  <a16:creationId xmlns:a16="http://schemas.microsoft.com/office/drawing/2014/main" xmlns="" id="{20295AE0-FCE3-C7D8-C9BA-EBD133025CA5}"/>
                </a:ext>
              </a:extLst>
            </p:cNvPr>
            <p:cNvSpPr>
              <a:spLocks noChangeArrowheads="1"/>
            </p:cNvSpPr>
            <p:nvPr/>
          </p:nvSpPr>
          <p:spPr bwMode="auto">
            <a:xfrm>
              <a:off x="3953060" y="4365104"/>
              <a:ext cx="432000" cy="432000"/>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a:t>
              </a:r>
            </a:p>
          </p:txBody>
        </p:sp>
        <p:sp>
          <p:nvSpPr>
            <p:cNvPr id="241" name="Oval 3">
              <a:extLst>
                <a:ext uri="{FF2B5EF4-FFF2-40B4-BE49-F238E27FC236}">
                  <a16:creationId xmlns:a16="http://schemas.microsoft.com/office/drawing/2014/main" xmlns="" id="{E05DF4D7-13B0-9E0D-75D9-BCE32DC77801}"/>
                </a:ext>
              </a:extLst>
            </p:cNvPr>
            <p:cNvSpPr>
              <a:spLocks noChangeArrowheads="1"/>
            </p:cNvSpPr>
            <p:nvPr/>
          </p:nvSpPr>
          <p:spPr bwMode="auto">
            <a:xfrm>
              <a:off x="4611680" y="4365104"/>
              <a:ext cx="432000" cy="432000"/>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a:t>
              </a:r>
            </a:p>
          </p:txBody>
        </p:sp>
        <p:cxnSp>
          <p:nvCxnSpPr>
            <p:cNvPr id="242" name="直接连接符 241">
              <a:extLst>
                <a:ext uri="{FF2B5EF4-FFF2-40B4-BE49-F238E27FC236}">
                  <a16:creationId xmlns:a16="http://schemas.microsoft.com/office/drawing/2014/main" xmlns="" id="{380C1369-D87B-02E0-8361-16D4AADA733A}"/>
                </a:ext>
              </a:extLst>
            </p:cNvPr>
            <p:cNvCxnSpPr>
              <a:stCxn id="237" idx="3"/>
              <a:endCxn id="240" idx="0"/>
            </p:cNvCxnSpPr>
            <p:nvPr/>
          </p:nvCxnSpPr>
          <p:spPr>
            <a:xfrm rot="5400000">
              <a:off x="4024665" y="4016253"/>
              <a:ext cx="493247" cy="204455"/>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243" name="直接连接符 242">
              <a:extLst>
                <a:ext uri="{FF2B5EF4-FFF2-40B4-BE49-F238E27FC236}">
                  <a16:creationId xmlns:a16="http://schemas.microsoft.com/office/drawing/2014/main" xmlns="" id="{FF4E95A3-BF61-39EB-3EFC-5E8214617C7A}"/>
                </a:ext>
              </a:extLst>
            </p:cNvPr>
            <p:cNvCxnSpPr>
              <a:stCxn id="237" idx="5"/>
              <a:endCxn id="241" idx="0"/>
            </p:cNvCxnSpPr>
            <p:nvPr/>
          </p:nvCxnSpPr>
          <p:spPr>
            <a:xfrm rot="16200000" flipH="1">
              <a:off x="4506709" y="4044132"/>
              <a:ext cx="493247" cy="148695"/>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244" name="Oval 3">
              <a:extLst>
                <a:ext uri="{FF2B5EF4-FFF2-40B4-BE49-F238E27FC236}">
                  <a16:creationId xmlns:a16="http://schemas.microsoft.com/office/drawing/2014/main" xmlns="" id="{8CC7742E-F93C-18B9-26D7-F488FD21EC32}"/>
                </a:ext>
              </a:extLst>
            </p:cNvPr>
            <p:cNvSpPr>
              <a:spLocks noChangeArrowheads="1"/>
            </p:cNvSpPr>
            <p:nvPr/>
          </p:nvSpPr>
          <p:spPr bwMode="auto">
            <a:xfrm>
              <a:off x="5248469" y="4365104"/>
              <a:ext cx="432000" cy="432000"/>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a:t>
              </a:r>
            </a:p>
          </p:txBody>
        </p:sp>
        <p:sp>
          <p:nvSpPr>
            <p:cNvPr id="245" name="Oval 3">
              <a:extLst>
                <a:ext uri="{FF2B5EF4-FFF2-40B4-BE49-F238E27FC236}">
                  <a16:creationId xmlns:a16="http://schemas.microsoft.com/office/drawing/2014/main" xmlns="" id="{4EEE69A6-8489-59EE-E998-B6971F42EF72}"/>
                </a:ext>
              </a:extLst>
            </p:cNvPr>
            <p:cNvSpPr>
              <a:spLocks noChangeArrowheads="1"/>
            </p:cNvSpPr>
            <p:nvPr/>
          </p:nvSpPr>
          <p:spPr bwMode="auto">
            <a:xfrm>
              <a:off x="5907089" y="4365104"/>
              <a:ext cx="432000" cy="432000"/>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a:t>
              </a:r>
            </a:p>
          </p:txBody>
        </p:sp>
        <p:cxnSp>
          <p:nvCxnSpPr>
            <p:cNvPr id="246" name="直接连接符 245">
              <a:extLst>
                <a:ext uri="{FF2B5EF4-FFF2-40B4-BE49-F238E27FC236}">
                  <a16:creationId xmlns:a16="http://schemas.microsoft.com/office/drawing/2014/main" xmlns="" id="{A95AE4C2-96A4-580B-333E-6893F4840E22}"/>
                </a:ext>
              </a:extLst>
            </p:cNvPr>
            <p:cNvCxnSpPr>
              <a:endCxn id="244" idx="0"/>
            </p:cNvCxnSpPr>
            <p:nvPr/>
          </p:nvCxnSpPr>
          <p:spPr>
            <a:xfrm rot="5400000">
              <a:off x="5320752" y="4016929"/>
              <a:ext cx="491893" cy="204457"/>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247" name="直接连接符 246">
              <a:extLst>
                <a:ext uri="{FF2B5EF4-FFF2-40B4-BE49-F238E27FC236}">
                  <a16:creationId xmlns:a16="http://schemas.microsoft.com/office/drawing/2014/main" xmlns="" id="{4191704D-FE7C-1AA0-E306-775C6A9EFC30}"/>
                </a:ext>
              </a:extLst>
            </p:cNvPr>
            <p:cNvCxnSpPr>
              <a:stCxn id="230" idx="5"/>
              <a:endCxn id="245" idx="0"/>
            </p:cNvCxnSpPr>
            <p:nvPr/>
          </p:nvCxnSpPr>
          <p:spPr>
            <a:xfrm rot="16200000" flipH="1">
              <a:off x="5785560" y="4027574"/>
              <a:ext cx="500977" cy="174081"/>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248" name="Oval 3">
              <a:extLst>
                <a:ext uri="{FF2B5EF4-FFF2-40B4-BE49-F238E27FC236}">
                  <a16:creationId xmlns:a16="http://schemas.microsoft.com/office/drawing/2014/main" xmlns="" id="{E840E47B-15B9-CA77-F25A-21259EE26E68}"/>
                </a:ext>
              </a:extLst>
            </p:cNvPr>
            <p:cNvSpPr>
              <a:spLocks noChangeArrowheads="1"/>
            </p:cNvSpPr>
            <p:nvPr/>
          </p:nvSpPr>
          <p:spPr bwMode="auto">
            <a:xfrm>
              <a:off x="6453390" y="4365104"/>
              <a:ext cx="432000" cy="432000"/>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a:t>
              </a:r>
            </a:p>
          </p:txBody>
        </p:sp>
        <p:sp>
          <p:nvSpPr>
            <p:cNvPr id="249" name="Oval 3">
              <a:extLst>
                <a:ext uri="{FF2B5EF4-FFF2-40B4-BE49-F238E27FC236}">
                  <a16:creationId xmlns:a16="http://schemas.microsoft.com/office/drawing/2014/main" xmlns="" id="{594E0C9E-1934-60F9-D38A-CD2946612602}"/>
                </a:ext>
              </a:extLst>
            </p:cNvPr>
            <p:cNvSpPr>
              <a:spLocks noChangeArrowheads="1"/>
            </p:cNvSpPr>
            <p:nvPr/>
          </p:nvSpPr>
          <p:spPr bwMode="auto">
            <a:xfrm>
              <a:off x="7131060" y="4365104"/>
              <a:ext cx="432000" cy="432000"/>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r>
                <a:rPr kumimoji="1" lang="en-US" altLang="zh-CN" sz="1800" b="0">
                  <a:solidFill>
                    <a:srgbClr val="3333FF"/>
                  </a:solidFill>
                  <a:latin typeface="Consolas" pitchFamily="49" charset="0"/>
                  <a:ea typeface="宋体" charset="-122"/>
                  <a:cs typeface="Consolas" pitchFamily="49" charset="0"/>
                </a:rPr>
                <a:t>#</a:t>
              </a:r>
            </a:p>
          </p:txBody>
        </p:sp>
        <p:cxnSp>
          <p:nvCxnSpPr>
            <p:cNvPr id="250" name="直接连接符 249">
              <a:extLst>
                <a:ext uri="{FF2B5EF4-FFF2-40B4-BE49-F238E27FC236}">
                  <a16:creationId xmlns:a16="http://schemas.microsoft.com/office/drawing/2014/main" xmlns="" id="{1F7B14E8-76AC-14D4-5419-F57C2E9B71CE}"/>
                </a:ext>
              </a:extLst>
            </p:cNvPr>
            <p:cNvCxnSpPr>
              <a:stCxn id="239" idx="3"/>
              <a:endCxn id="248" idx="0"/>
            </p:cNvCxnSpPr>
            <p:nvPr/>
          </p:nvCxnSpPr>
          <p:spPr>
            <a:xfrm rot="5400000">
              <a:off x="6514774" y="4029845"/>
              <a:ext cx="489875" cy="180642"/>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251" name="直接连接符 250">
              <a:extLst>
                <a:ext uri="{FF2B5EF4-FFF2-40B4-BE49-F238E27FC236}">
                  <a16:creationId xmlns:a16="http://schemas.microsoft.com/office/drawing/2014/main" xmlns="" id="{3123F3DF-BFD7-4D8D-3B68-0CAB9A5DD931}"/>
                </a:ext>
              </a:extLst>
            </p:cNvPr>
            <p:cNvCxnSpPr>
              <a:stCxn id="239" idx="5"/>
              <a:endCxn id="249" idx="0"/>
            </p:cNvCxnSpPr>
            <p:nvPr/>
          </p:nvCxnSpPr>
          <p:spPr>
            <a:xfrm rot="16200000" flipH="1">
              <a:off x="7006344" y="4024387"/>
              <a:ext cx="489875" cy="191558"/>
            </a:xfrm>
            <a:prstGeom prst="line">
              <a:avLst/>
            </a:prstGeom>
            <a:ln>
              <a:tailEnd type="none"/>
            </a:ln>
          </p:spPr>
          <p:style>
            <a:lnRef idx="1">
              <a:schemeClr val="dk1"/>
            </a:lnRef>
            <a:fillRef idx="0">
              <a:schemeClr val="dk1"/>
            </a:fillRef>
            <a:effectRef idx="0">
              <a:schemeClr val="dk1"/>
            </a:effectRef>
            <a:fontRef idx="minor">
              <a:schemeClr val="tx1"/>
            </a:fontRef>
          </p:style>
        </p:cxnSp>
        <p:cxnSp>
          <p:nvCxnSpPr>
            <p:cNvPr id="252" name="直接连接符 251">
              <a:extLst>
                <a:ext uri="{FF2B5EF4-FFF2-40B4-BE49-F238E27FC236}">
                  <a16:creationId xmlns:a16="http://schemas.microsoft.com/office/drawing/2014/main" xmlns="" id="{94345DF2-6D84-3BE5-28CE-7F628C74EDEF}"/>
                </a:ext>
              </a:extLst>
            </p:cNvPr>
            <p:cNvCxnSpPr>
              <a:stCxn id="231" idx="3"/>
              <a:endCxn id="239" idx="0"/>
            </p:cNvCxnSpPr>
            <p:nvPr/>
          </p:nvCxnSpPr>
          <p:spPr>
            <a:xfrm rot="5400000">
              <a:off x="6906799" y="3040933"/>
              <a:ext cx="561530" cy="369593"/>
            </a:xfrm>
            <a:prstGeom prst="line">
              <a:avLst/>
            </a:prstGeom>
            <a:ln>
              <a:tailEnd type="none"/>
            </a:ln>
          </p:spPr>
          <p:style>
            <a:lnRef idx="1">
              <a:schemeClr val="dk1"/>
            </a:lnRef>
            <a:fillRef idx="0">
              <a:schemeClr val="dk1"/>
            </a:fillRef>
            <a:effectRef idx="0">
              <a:schemeClr val="dk1"/>
            </a:effectRef>
            <a:fontRef idx="minor">
              <a:schemeClr val="tx1"/>
            </a:fontRef>
          </p:style>
        </p:cxnSp>
        <p:sp>
          <p:nvSpPr>
            <p:cNvPr id="254" name="Text Box 34">
              <a:extLst>
                <a:ext uri="{FF2B5EF4-FFF2-40B4-BE49-F238E27FC236}">
                  <a16:creationId xmlns:a16="http://schemas.microsoft.com/office/drawing/2014/main" xmlns="" id="{4725AA5E-477D-EF67-6A78-BD1BF9F2B661}"/>
                </a:ext>
              </a:extLst>
            </p:cNvPr>
            <p:cNvSpPr txBox="1">
              <a:spLocks noChangeArrowheads="1"/>
            </p:cNvSpPr>
            <p:nvPr/>
          </p:nvSpPr>
          <p:spPr bwMode="auto">
            <a:xfrm>
              <a:off x="4715065" y="2494220"/>
              <a:ext cx="304892"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2</a:t>
              </a:r>
            </a:p>
          </p:txBody>
        </p:sp>
        <p:sp>
          <p:nvSpPr>
            <p:cNvPr id="255" name="Text Box 35">
              <a:extLst>
                <a:ext uri="{FF2B5EF4-FFF2-40B4-BE49-F238E27FC236}">
                  <a16:creationId xmlns:a16="http://schemas.microsoft.com/office/drawing/2014/main" xmlns="" id="{43E661CB-F62F-D140-C007-D50070C1EDAC}"/>
                </a:ext>
              </a:extLst>
            </p:cNvPr>
            <p:cNvSpPr txBox="1">
              <a:spLocks noChangeArrowheads="1"/>
            </p:cNvSpPr>
            <p:nvPr/>
          </p:nvSpPr>
          <p:spPr bwMode="auto">
            <a:xfrm>
              <a:off x="5824693" y="3239378"/>
              <a:ext cx="304892"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5</a:t>
              </a:r>
            </a:p>
          </p:txBody>
        </p:sp>
        <p:sp>
          <p:nvSpPr>
            <p:cNvPr id="256" name="Text Box 36">
              <a:extLst>
                <a:ext uri="{FF2B5EF4-FFF2-40B4-BE49-F238E27FC236}">
                  <a16:creationId xmlns:a16="http://schemas.microsoft.com/office/drawing/2014/main" xmlns="" id="{3B4818BE-3355-7B26-E76B-0F57AC08A5DF}"/>
                </a:ext>
              </a:extLst>
            </p:cNvPr>
            <p:cNvSpPr txBox="1">
              <a:spLocks noChangeArrowheads="1"/>
            </p:cNvSpPr>
            <p:nvPr/>
          </p:nvSpPr>
          <p:spPr bwMode="auto">
            <a:xfrm>
              <a:off x="5953324" y="1779840"/>
              <a:ext cx="304892"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dirty="0">
                  <a:solidFill>
                    <a:srgbClr val="FF0000"/>
                  </a:solidFill>
                  <a:latin typeface="Consolas" pitchFamily="49" charset="0"/>
                  <a:ea typeface="宋体" charset="-122"/>
                  <a:cs typeface="Consolas" pitchFamily="49" charset="0"/>
                </a:rPr>
                <a:t>1</a:t>
              </a:r>
            </a:p>
          </p:txBody>
        </p:sp>
        <p:sp>
          <p:nvSpPr>
            <p:cNvPr id="257" name="Text Box 37">
              <a:extLst>
                <a:ext uri="{FF2B5EF4-FFF2-40B4-BE49-F238E27FC236}">
                  <a16:creationId xmlns:a16="http://schemas.microsoft.com/office/drawing/2014/main" xmlns="" id="{7E44AE3E-1DC1-5C8B-10F5-5195B22C5B64}"/>
                </a:ext>
              </a:extLst>
            </p:cNvPr>
            <p:cNvSpPr txBox="1">
              <a:spLocks noChangeArrowheads="1"/>
            </p:cNvSpPr>
            <p:nvPr/>
          </p:nvSpPr>
          <p:spPr bwMode="auto">
            <a:xfrm>
              <a:off x="7973130" y="4137294"/>
              <a:ext cx="425116"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14</a:t>
              </a:r>
            </a:p>
          </p:txBody>
        </p:sp>
        <p:sp>
          <p:nvSpPr>
            <p:cNvPr id="258" name="Text Box 38">
              <a:extLst>
                <a:ext uri="{FF2B5EF4-FFF2-40B4-BE49-F238E27FC236}">
                  <a16:creationId xmlns:a16="http://schemas.microsoft.com/office/drawing/2014/main" xmlns="" id="{B416B6A4-FBE5-608C-ED1B-0BC48BA163E0}"/>
                </a:ext>
              </a:extLst>
            </p:cNvPr>
            <p:cNvSpPr txBox="1">
              <a:spLocks noChangeArrowheads="1"/>
            </p:cNvSpPr>
            <p:nvPr/>
          </p:nvSpPr>
          <p:spPr bwMode="auto">
            <a:xfrm>
              <a:off x="7656712" y="2453560"/>
              <a:ext cx="304892"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3</a:t>
              </a:r>
            </a:p>
          </p:txBody>
        </p:sp>
        <p:sp>
          <p:nvSpPr>
            <p:cNvPr id="259" name="Text Box 39">
              <a:extLst>
                <a:ext uri="{FF2B5EF4-FFF2-40B4-BE49-F238E27FC236}">
                  <a16:creationId xmlns:a16="http://schemas.microsoft.com/office/drawing/2014/main" xmlns="" id="{476B8702-2D24-2BE2-05C5-3674485491B0}"/>
                </a:ext>
              </a:extLst>
            </p:cNvPr>
            <p:cNvSpPr txBox="1">
              <a:spLocks noChangeArrowheads="1"/>
            </p:cNvSpPr>
            <p:nvPr/>
          </p:nvSpPr>
          <p:spPr bwMode="auto">
            <a:xfrm>
              <a:off x="8239340" y="3220742"/>
              <a:ext cx="304892"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7</a:t>
              </a:r>
            </a:p>
          </p:txBody>
        </p:sp>
        <p:sp>
          <p:nvSpPr>
            <p:cNvPr id="260" name="Text Box 34">
              <a:extLst>
                <a:ext uri="{FF2B5EF4-FFF2-40B4-BE49-F238E27FC236}">
                  <a16:creationId xmlns:a16="http://schemas.microsoft.com/office/drawing/2014/main" xmlns="" id="{F2396FF0-1FBC-9CE9-5C77-7D10E7365B95}"/>
                </a:ext>
              </a:extLst>
            </p:cNvPr>
            <p:cNvSpPr txBox="1">
              <a:spLocks noChangeArrowheads="1"/>
            </p:cNvSpPr>
            <p:nvPr/>
          </p:nvSpPr>
          <p:spPr bwMode="auto">
            <a:xfrm>
              <a:off x="4095936" y="3277892"/>
              <a:ext cx="304892"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4</a:t>
              </a:r>
            </a:p>
          </p:txBody>
        </p:sp>
        <p:sp>
          <p:nvSpPr>
            <p:cNvPr id="261" name="Text Box 35">
              <a:extLst>
                <a:ext uri="{FF2B5EF4-FFF2-40B4-BE49-F238E27FC236}">
                  <a16:creationId xmlns:a16="http://schemas.microsoft.com/office/drawing/2014/main" xmlns="" id="{D89D2912-5FA6-6E85-E6CE-AA3CA4AE8DDC}"/>
                </a:ext>
              </a:extLst>
            </p:cNvPr>
            <p:cNvSpPr txBox="1">
              <a:spLocks noChangeArrowheads="1"/>
            </p:cNvSpPr>
            <p:nvPr/>
          </p:nvSpPr>
          <p:spPr bwMode="auto">
            <a:xfrm>
              <a:off x="6656580" y="3220742"/>
              <a:ext cx="304892"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6</a:t>
              </a:r>
            </a:p>
          </p:txBody>
        </p:sp>
        <p:sp>
          <p:nvSpPr>
            <p:cNvPr id="262" name="Text Box 34">
              <a:extLst>
                <a:ext uri="{FF2B5EF4-FFF2-40B4-BE49-F238E27FC236}">
                  <a16:creationId xmlns:a16="http://schemas.microsoft.com/office/drawing/2014/main" xmlns="" id="{A3F4F9A8-8A3D-1D61-5B78-0857C29D96F4}"/>
                </a:ext>
              </a:extLst>
            </p:cNvPr>
            <p:cNvSpPr txBox="1">
              <a:spLocks noChangeArrowheads="1"/>
            </p:cNvSpPr>
            <p:nvPr/>
          </p:nvSpPr>
          <p:spPr bwMode="auto">
            <a:xfrm>
              <a:off x="3727622" y="4220874"/>
              <a:ext cx="304892"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8</a:t>
              </a:r>
            </a:p>
          </p:txBody>
        </p:sp>
        <p:sp>
          <p:nvSpPr>
            <p:cNvPr id="263" name="Text Box 34">
              <a:extLst>
                <a:ext uri="{FF2B5EF4-FFF2-40B4-BE49-F238E27FC236}">
                  <a16:creationId xmlns:a16="http://schemas.microsoft.com/office/drawing/2014/main" xmlns="" id="{D730D655-7043-8D7D-F3C5-DF13FC093670}"/>
                </a:ext>
              </a:extLst>
            </p:cNvPr>
            <p:cNvSpPr txBox="1">
              <a:spLocks noChangeArrowheads="1"/>
            </p:cNvSpPr>
            <p:nvPr/>
          </p:nvSpPr>
          <p:spPr bwMode="auto">
            <a:xfrm>
              <a:off x="4434076" y="4220874"/>
              <a:ext cx="304892"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9</a:t>
              </a:r>
            </a:p>
          </p:txBody>
        </p:sp>
        <p:sp>
          <p:nvSpPr>
            <p:cNvPr id="264" name="Text Box 34">
              <a:extLst>
                <a:ext uri="{FF2B5EF4-FFF2-40B4-BE49-F238E27FC236}">
                  <a16:creationId xmlns:a16="http://schemas.microsoft.com/office/drawing/2014/main" xmlns="" id="{61AC2385-20AF-F113-D356-C630489C3C44}"/>
                </a:ext>
              </a:extLst>
            </p:cNvPr>
            <p:cNvSpPr txBox="1">
              <a:spLocks noChangeArrowheads="1"/>
            </p:cNvSpPr>
            <p:nvPr/>
          </p:nvSpPr>
          <p:spPr bwMode="auto">
            <a:xfrm>
              <a:off x="5096068" y="4077999"/>
              <a:ext cx="425116"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10</a:t>
              </a:r>
            </a:p>
          </p:txBody>
        </p:sp>
        <p:sp>
          <p:nvSpPr>
            <p:cNvPr id="265" name="Text Box 34">
              <a:extLst>
                <a:ext uri="{FF2B5EF4-FFF2-40B4-BE49-F238E27FC236}">
                  <a16:creationId xmlns:a16="http://schemas.microsoft.com/office/drawing/2014/main" xmlns="" id="{37C82508-DB54-E8D8-C4CA-EBBD8F83A473}"/>
                </a:ext>
              </a:extLst>
            </p:cNvPr>
            <p:cNvSpPr txBox="1">
              <a:spLocks noChangeArrowheads="1"/>
            </p:cNvSpPr>
            <p:nvPr/>
          </p:nvSpPr>
          <p:spPr bwMode="auto">
            <a:xfrm>
              <a:off x="6087167" y="4054185"/>
              <a:ext cx="425116"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11</a:t>
              </a:r>
            </a:p>
          </p:txBody>
        </p:sp>
        <p:sp>
          <p:nvSpPr>
            <p:cNvPr id="266" name="Text Box 34">
              <a:extLst>
                <a:ext uri="{FF2B5EF4-FFF2-40B4-BE49-F238E27FC236}">
                  <a16:creationId xmlns:a16="http://schemas.microsoft.com/office/drawing/2014/main" xmlns="" id="{766AD74A-875F-CECD-EF06-6B27B03A75C6}"/>
                </a:ext>
              </a:extLst>
            </p:cNvPr>
            <p:cNvSpPr txBox="1">
              <a:spLocks noChangeArrowheads="1"/>
            </p:cNvSpPr>
            <p:nvPr/>
          </p:nvSpPr>
          <p:spPr bwMode="auto">
            <a:xfrm>
              <a:off x="6758684" y="4149436"/>
              <a:ext cx="425116"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12</a:t>
              </a:r>
            </a:p>
          </p:txBody>
        </p:sp>
        <p:sp>
          <p:nvSpPr>
            <p:cNvPr id="267" name="Text Box 34">
              <a:extLst>
                <a:ext uri="{FF2B5EF4-FFF2-40B4-BE49-F238E27FC236}">
                  <a16:creationId xmlns:a16="http://schemas.microsoft.com/office/drawing/2014/main" xmlns="" id="{13E5499B-D9EB-747F-0BEF-68B133093815}"/>
                </a:ext>
              </a:extLst>
            </p:cNvPr>
            <p:cNvSpPr txBox="1">
              <a:spLocks noChangeArrowheads="1"/>
            </p:cNvSpPr>
            <p:nvPr/>
          </p:nvSpPr>
          <p:spPr bwMode="auto">
            <a:xfrm>
              <a:off x="7342385" y="4149436"/>
              <a:ext cx="425116" cy="353943"/>
            </a:xfrm>
            <a:prstGeom prst="rect">
              <a:avLst/>
            </a:prstGeom>
            <a:noFill/>
            <a:ln w="12700" cap="sq">
              <a:noFill/>
              <a:miter lim="800000"/>
              <a:headEnd type="none" w="sm" len="sm"/>
              <a:tailEnd type="none" w="sm" len="sm"/>
            </a:ln>
            <a:effectLst/>
          </p:spPr>
          <p:txBody>
            <a:bodyPr wrap="none">
              <a:spAutoFit/>
            </a:bodyPr>
            <a:lstStyle/>
            <a:p>
              <a:pPr algn="l"/>
              <a:r>
                <a:rPr kumimoji="1" lang="en-US" altLang="zh-CN" sz="1700" b="0">
                  <a:solidFill>
                    <a:srgbClr val="FF0000"/>
                  </a:solidFill>
                  <a:latin typeface="Consolas" pitchFamily="49" charset="0"/>
                  <a:ea typeface="宋体" charset="-122"/>
                  <a:cs typeface="Consolas" pitchFamily="49" charset="0"/>
                </a:rPr>
                <a:t>13</a:t>
              </a:r>
            </a:p>
          </p:txBody>
        </p:sp>
      </p:grpSp>
      <p:sp>
        <p:nvSpPr>
          <p:cNvPr id="272" name="AutoShape 40">
            <a:extLst>
              <a:ext uri="{FF2B5EF4-FFF2-40B4-BE49-F238E27FC236}">
                <a16:creationId xmlns:a16="http://schemas.microsoft.com/office/drawing/2014/main" xmlns="" id="{8CBEF06A-2EBE-D45A-AE4A-0614ABA5B7F9}"/>
              </a:ext>
            </a:extLst>
          </p:cNvPr>
          <p:cNvSpPr>
            <a:spLocks noChangeArrowheads="1"/>
          </p:cNvSpPr>
          <p:nvPr/>
        </p:nvSpPr>
        <p:spPr bwMode="auto">
          <a:xfrm>
            <a:off x="7896200" y="1315666"/>
            <a:ext cx="2928958" cy="1093776"/>
          </a:xfrm>
          <a:prstGeom prst="wedgeRoundRectCallout">
            <a:avLst>
              <a:gd name="adj1" fmla="val -46379"/>
              <a:gd name="adj2" fmla="val 86589"/>
              <a:gd name="adj3" fmla="val 16667"/>
            </a:avLst>
          </a:prstGeom>
          <a:ln>
            <a:headEnd/>
            <a:tailEnd/>
          </a:ln>
        </p:spPr>
        <p:style>
          <a:lnRef idx="1">
            <a:schemeClr val="accent5"/>
          </a:lnRef>
          <a:fillRef idx="2">
            <a:schemeClr val="accent5"/>
          </a:fillRef>
          <a:effectRef idx="1">
            <a:schemeClr val="accent5"/>
          </a:effectRef>
          <a:fontRef idx="minor">
            <a:schemeClr val="dk1"/>
          </a:fontRef>
        </p:style>
        <p:txBody>
          <a:bodyPr tIns="0" rIns="0"/>
          <a:lstStyle/>
          <a:p>
            <a:pPr algn="l"/>
            <a:r>
              <a:rPr lang="zh-CN" altLang="en-US" sz="2000" dirty="0">
                <a:solidFill>
                  <a:srgbClr val="3333FF"/>
                </a:solidFill>
                <a:latin typeface="仿宋" pitchFamily="49" charset="-122"/>
                <a:ea typeface="仿宋" pitchFamily="49" charset="-122"/>
                <a:cs typeface="Consolas" pitchFamily="49" charset="0"/>
              </a:rPr>
              <a:t>一般的二叉树先</a:t>
            </a:r>
            <a:r>
              <a:rPr lang="zh-CN" altLang="en-US" sz="2000">
                <a:solidFill>
                  <a:srgbClr val="3333FF"/>
                </a:solidFill>
                <a:latin typeface="仿宋" pitchFamily="49" charset="-122"/>
                <a:ea typeface="仿宋" pitchFamily="49" charset="-122"/>
                <a:cs typeface="Consolas" pitchFamily="49" charset="0"/>
              </a:rPr>
              <a:t>用空结点补</a:t>
            </a:r>
            <a:r>
              <a:rPr lang="zh-CN" altLang="en-US" sz="2000" dirty="0">
                <a:solidFill>
                  <a:srgbClr val="3333FF"/>
                </a:solidFill>
                <a:latin typeface="仿宋" pitchFamily="49" charset="-122"/>
                <a:ea typeface="仿宋" pitchFamily="49" charset="-122"/>
                <a:cs typeface="Consolas" pitchFamily="49" charset="0"/>
              </a:rPr>
              <a:t>全成为</a:t>
            </a:r>
            <a:r>
              <a:rPr lang="zh-CN" altLang="en-US" sz="2000">
                <a:solidFill>
                  <a:srgbClr val="3333FF"/>
                </a:solidFill>
                <a:latin typeface="仿宋" pitchFamily="49" charset="-122"/>
                <a:ea typeface="仿宋" pitchFamily="49" charset="-122"/>
                <a:cs typeface="Consolas" pitchFamily="49" charset="0"/>
              </a:rPr>
              <a:t>完全二叉树，然后对结点编号</a:t>
            </a:r>
            <a:endParaRPr lang="zh-CN" altLang="en-US" sz="2000" dirty="0">
              <a:solidFill>
                <a:srgbClr val="3333FF"/>
              </a:solidFill>
              <a:latin typeface="仿宋" pitchFamily="49" charset="-122"/>
              <a:ea typeface="仿宋" pitchFamily="49" charset="-122"/>
              <a:cs typeface="Consolas" pitchFamily="49" charset="0"/>
            </a:endParaRPr>
          </a:p>
        </p:txBody>
      </p:sp>
      <p:sp>
        <p:nvSpPr>
          <p:cNvPr id="273" name="Text Box 44">
            <a:extLst>
              <a:ext uri="{FF2B5EF4-FFF2-40B4-BE49-F238E27FC236}">
                <a16:creationId xmlns:a16="http://schemas.microsoft.com/office/drawing/2014/main" xmlns="" id="{1FF499FD-627C-5F4D-AAA0-976B935A10E4}"/>
              </a:ext>
            </a:extLst>
          </p:cNvPr>
          <p:cNvSpPr txBox="1">
            <a:spLocks noChangeArrowheads="1"/>
          </p:cNvSpPr>
          <p:nvPr/>
        </p:nvSpPr>
        <p:spPr bwMode="auto">
          <a:xfrm>
            <a:off x="2279576" y="1523149"/>
            <a:ext cx="492443" cy="5040950"/>
          </a:xfrm>
          <a:prstGeom prst="rect">
            <a:avLst/>
          </a:prstGeom>
          <a:noFill/>
          <a:ln w="28575" algn="ctr">
            <a:noFill/>
            <a:miter lim="800000"/>
            <a:headEnd/>
            <a:tailEnd type="none" w="med" len="lg"/>
          </a:ln>
          <a:effectLst/>
        </p:spPr>
        <p:txBody>
          <a:bodyPr vert="eaVert" wrap="square">
            <a:spAutoFit/>
          </a:bodyPr>
          <a:lstStyle/>
          <a:p>
            <a:pPr marL="457200" indent="-457200">
              <a:spcBef>
                <a:spcPct val="50000"/>
              </a:spcBef>
              <a:buBlip>
                <a:blip r:embed="rId2"/>
              </a:buBlip>
            </a:pPr>
            <a:r>
              <a:rPr lang="zh-CN" altLang="en-US" sz="2000" dirty="0">
                <a:solidFill>
                  <a:srgbClr val="FF0000"/>
                </a:solidFill>
                <a:effectLst>
                  <a:outerShdw blurRad="38100" dist="38100" dir="2700000" algn="tl">
                    <a:srgbClr val="000000">
                      <a:alpha val="43137"/>
                    </a:srgbClr>
                  </a:outerShdw>
                </a:effectLst>
                <a:latin typeface="Consolas" pitchFamily="49" charset="0"/>
                <a:ea typeface="华文中宋" pitchFamily="2" charset="-122"/>
                <a:cs typeface="Consolas" pitchFamily="49" charset="0"/>
              </a:rPr>
              <a:t>非完全二叉树的顺序存储结构</a:t>
            </a:r>
          </a:p>
        </p:txBody>
      </p:sp>
      <p:sp>
        <p:nvSpPr>
          <p:cNvPr id="274" name="Text Box 41">
            <a:extLst>
              <a:ext uri="{FF2B5EF4-FFF2-40B4-BE49-F238E27FC236}">
                <a16:creationId xmlns:a16="http://schemas.microsoft.com/office/drawing/2014/main" xmlns="" id="{F6ACEB16-2174-C0D4-D0C4-2B577E880F29}"/>
              </a:ext>
            </a:extLst>
          </p:cNvPr>
          <p:cNvSpPr txBox="1">
            <a:spLocks noChangeArrowheads="1"/>
          </p:cNvSpPr>
          <p:nvPr/>
        </p:nvSpPr>
        <p:spPr bwMode="auto">
          <a:xfrm>
            <a:off x="3221736" y="5675579"/>
            <a:ext cx="4714879" cy="369332"/>
          </a:xfrm>
          <a:prstGeom prst="rect">
            <a:avLst/>
          </a:prstGeom>
          <a:noFill/>
          <a:ln w="9525">
            <a:noFill/>
            <a:miter lim="800000"/>
            <a:headEnd/>
            <a:tailEnd/>
          </a:ln>
          <a:effectLst/>
        </p:spPr>
        <p:txBody>
          <a:bodyPr wrap="square">
            <a:spAutoFit/>
          </a:bodyPr>
          <a:lstStyle/>
          <a:p>
            <a:pPr algn="l">
              <a:spcBef>
                <a:spcPct val="50000"/>
              </a:spcBef>
            </a:pPr>
            <a:r>
              <a:rPr lang="en-US" altLang="zh-CN" sz="1800" err="1">
                <a:latin typeface="Consolas" pitchFamily="49" charset="0"/>
                <a:cs typeface="Consolas" pitchFamily="49" charset="0"/>
              </a:rPr>
              <a:t>typedef</a:t>
            </a:r>
            <a:r>
              <a:rPr lang="en-US" altLang="zh-CN" sz="1800">
                <a:latin typeface="Consolas" pitchFamily="49" charset="0"/>
                <a:cs typeface="Consolas" pitchFamily="49" charset="0"/>
              </a:rPr>
              <a:t> ElemType </a:t>
            </a:r>
            <a:r>
              <a:rPr lang="en-US" altLang="zh-CN" sz="1800">
                <a:solidFill>
                  <a:srgbClr val="FF3300"/>
                </a:solidFill>
                <a:latin typeface="Consolas" pitchFamily="49" charset="0"/>
                <a:cs typeface="Consolas" pitchFamily="49" charset="0"/>
              </a:rPr>
              <a:t>SqBTree</a:t>
            </a:r>
            <a:r>
              <a:rPr lang="en-US" altLang="zh-CN" sz="1800">
                <a:latin typeface="Consolas" pitchFamily="49" charset="0"/>
                <a:cs typeface="Consolas" pitchFamily="49" charset="0"/>
              </a:rPr>
              <a:t>[MaxSize</a:t>
            </a:r>
            <a:r>
              <a:rPr lang="en-US" altLang="zh-CN" sz="1800" dirty="0">
                <a:latin typeface="Consolas" pitchFamily="49" charset="0"/>
                <a:cs typeface="Consolas" pitchFamily="49" charset="0"/>
              </a:rPr>
              <a:t>];</a:t>
            </a:r>
          </a:p>
        </p:txBody>
      </p:sp>
      <p:sp>
        <p:nvSpPr>
          <p:cNvPr id="275" name="Text Box 42">
            <a:extLst>
              <a:ext uri="{FF2B5EF4-FFF2-40B4-BE49-F238E27FC236}">
                <a16:creationId xmlns:a16="http://schemas.microsoft.com/office/drawing/2014/main" xmlns="" id="{7FDDCE64-EB89-2DF3-04A1-3F62A01C9F7A}"/>
              </a:ext>
            </a:extLst>
          </p:cNvPr>
          <p:cNvSpPr txBox="1">
            <a:spLocks noChangeArrowheads="1"/>
          </p:cNvSpPr>
          <p:nvPr/>
        </p:nvSpPr>
        <p:spPr bwMode="auto">
          <a:xfrm>
            <a:off x="3233768" y="6115316"/>
            <a:ext cx="4357689" cy="369332"/>
          </a:xfrm>
          <a:prstGeom prst="rect">
            <a:avLst/>
          </a:prstGeom>
          <a:noFill/>
          <a:ln w="9525" algn="ctr">
            <a:noFill/>
            <a:miter lim="800000"/>
            <a:headEnd/>
            <a:tailEnd type="none" w="med" len="lg"/>
          </a:ln>
          <a:effectLst/>
        </p:spPr>
        <p:txBody>
          <a:bodyPr wrap="square">
            <a:spAutoFit/>
          </a:bodyPr>
          <a:lstStyle/>
          <a:p>
            <a:pPr algn="l">
              <a:spcBef>
                <a:spcPct val="50000"/>
              </a:spcBef>
            </a:pPr>
            <a:r>
              <a:rPr lang="en-US" altLang="zh-CN" sz="1800" dirty="0" err="1">
                <a:latin typeface="Consolas" pitchFamily="49" charset="0"/>
                <a:cs typeface="Consolas" pitchFamily="49" charset="0"/>
              </a:rPr>
              <a:t>SqBTree</a:t>
            </a:r>
            <a:r>
              <a:rPr lang="en-US" altLang="zh-CN" sz="1800" dirty="0">
                <a:latin typeface="Consolas" pitchFamily="49" charset="0"/>
                <a:cs typeface="Consolas" pitchFamily="49" charset="0"/>
              </a:rPr>
              <a:t> </a:t>
            </a:r>
            <a:r>
              <a:rPr lang="en-US" altLang="zh-CN" sz="1800" dirty="0" err="1">
                <a:latin typeface="Consolas" pitchFamily="49" charset="0"/>
                <a:cs typeface="Consolas" pitchFamily="49" charset="0"/>
              </a:rPr>
              <a:t>bt</a:t>
            </a:r>
            <a:r>
              <a:rPr lang="en-US" altLang="zh-CN" sz="1800" dirty="0">
                <a:latin typeface="Consolas" pitchFamily="49" charset="0"/>
                <a:cs typeface="Consolas" pitchFamily="49" charset="0"/>
              </a:rPr>
              <a:t>="#</a:t>
            </a:r>
            <a:r>
              <a:rPr lang="en-US" altLang="zh-CN" sz="1800" i="1" dirty="0" err="1">
                <a:solidFill>
                  <a:srgbClr val="FF00FF"/>
                </a:solidFill>
                <a:latin typeface="Consolas" pitchFamily="49" charset="0"/>
                <a:cs typeface="Consolas" pitchFamily="49" charset="0"/>
              </a:rPr>
              <a:t>ABD</a:t>
            </a:r>
            <a:r>
              <a:rPr lang="en-US" altLang="zh-CN" sz="1800" dirty="0" err="1">
                <a:latin typeface="Consolas" pitchFamily="49" charset="0"/>
                <a:cs typeface="Consolas" pitchFamily="49" charset="0"/>
              </a:rPr>
              <a:t>#</a:t>
            </a:r>
            <a:r>
              <a:rPr lang="en-US" altLang="zh-CN" sz="1800" i="1" dirty="0" err="1">
                <a:solidFill>
                  <a:srgbClr val="FF00FF"/>
                </a:solidFill>
                <a:latin typeface="Consolas" pitchFamily="49" charset="0"/>
                <a:cs typeface="Consolas" pitchFamily="49" charset="0"/>
              </a:rPr>
              <a:t>C</a:t>
            </a:r>
            <a:r>
              <a:rPr lang="en-US" altLang="zh-CN" sz="1800" dirty="0" err="1">
                <a:latin typeface="Consolas" pitchFamily="49" charset="0"/>
                <a:cs typeface="Consolas" pitchFamily="49" charset="0"/>
              </a:rPr>
              <a:t>#</a:t>
            </a:r>
            <a:r>
              <a:rPr lang="en-US" altLang="zh-CN" sz="1800" i="1" dirty="0" err="1">
                <a:latin typeface="Consolas" pitchFamily="49" charset="0"/>
                <a:cs typeface="Consolas" pitchFamily="49" charset="0"/>
              </a:rPr>
              <a:t>E</a:t>
            </a:r>
            <a:r>
              <a:rPr lang="en-US" altLang="zh-CN" sz="1800" dirty="0">
                <a:latin typeface="Consolas" pitchFamily="49" charset="0"/>
                <a:cs typeface="Consolas" pitchFamily="49" charset="0"/>
              </a:rPr>
              <a:t>######</a:t>
            </a:r>
            <a:r>
              <a:rPr lang="en-US" altLang="zh-CN" sz="1800" i="1" dirty="0">
                <a:solidFill>
                  <a:srgbClr val="FF00FF"/>
                </a:solidFill>
                <a:latin typeface="Consolas" pitchFamily="49" charset="0"/>
                <a:cs typeface="Consolas" pitchFamily="49" charset="0"/>
              </a:rPr>
              <a:t>F</a:t>
            </a:r>
            <a:r>
              <a:rPr lang="en-US" altLang="zh-CN" sz="1800" dirty="0">
                <a:latin typeface="Consolas" pitchFamily="49" charset="0"/>
                <a:cs typeface="Consolas" pitchFamily="49" charset="0"/>
              </a:rPr>
              <a:t>";</a:t>
            </a:r>
          </a:p>
        </p:txBody>
      </p:sp>
      <p:sp>
        <p:nvSpPr>
          <p:cNvPr id="276" name="AutoShape 46">
            <a:extLst>
              <a:ext uri="{FF2B5EF4-FFF2-40B4-BE49-F238E27FC236}">
                <a16:creationId xmlns:a16="http://schemas.microsoft.com/office/drawing/2014/main" xmlns="" id="{5F41C591-E909-E106-548D-700BBE9082DF}"/>
              </a:ext>
            </a:extLst>
          </p:cNvPr>
          <p:cNvSpPr>
            <a:spLocks noChangeArrowheads="1"/>
          </p:cNvSpPr>
          <p:nvPr/>
        </p:nvSpPr>
        <p:spPr bwMode="auto">
          <a:xfrm>
            <a:off x="6020334" y="4592120"/>
            <a:ext cx="285752" cy="396562"/>
          </a:xfrm>
          <a:prstGeom prst="downArrow">
            <a:avLst>
              <a:gd name="adj1" fmla="val 50000"/>
              <a:gd name="adj2" fmla="val 28168"/>
            </a:avLst>
          </a:prstGeom>
          <a:ln>
            <a:headEnd/>
            <a:tailEnd type="none" w="med" len="lg"/>
          </a:ln>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sz="1800" b="0">
              <a:latin typeface="Consolas" pitchFamily="49" charset="0"/>
              <a:cs typeface="Consolas" pitchFamily="49" charset="0"/>
            </a:endParaRPr>
          </a:p>
        </p:txBody>
      </p:sp>
      <p:graphicFrame>
        <p:nvGraphicFramePr>
          <p:cNvPr id="277" name="表格 276">
            <a:extLst>
              <a:ext uri="{FF2B5EF4-FFF2-40B4-BE49-F238E27FC236}">
                <a16:creationId xmlns:a16="http://schemas.microsoft.com/office/drawing/2014/main" xmlns="" id="{03C647DB-ACC0-D9D2-3B33-B695D55B4A0C}"/>
              </a:ext>
            </a:extLst>
          </p:cNvPr>
          <p:cNvGraphicFramePr>
            <a:graphicFrameLocks noGrp="1"/>
          </p:cNvGraphicFramePr>
          <p:nvPr>
            <p:extLst>
              <p:ext uri="{D42A27DB-BD31-4B8C-83A1-F6EECF244321}">
                <p14:modId xmlns:p14="http://schemas.microsoft.com/office/powerpoint/2010/main" val="3635562734"/>
              </p:ext>
            </p:extLst>
          </p:nvPr>
        </p:nvGraphicFramePr>
        <p:xfrm>
          <a:off x="3240757" y="5023121"/>
          <a:ext cx="7000924" cy="396240"/>
        </p:xfrm>
        <a:graphic>
          <a:graphicData uri="http://schemas.openxmlformats.org/drawingml/2006/table">
            <a:tbl>
              <a:tblPr firstRow="1" bandRow="1">
                <a:tableStyleId>{93296810-A885-4BE3-A3E7-6D5BEEA58F35}</a:tableStyleId>
              </a:tblPr>
              <a:tblGrid>
                <a:gridCol w="500066">
                  <a:extLst>
                    <a:ext uri="{9D8B030D-6E8A-4147-A177-3AD203B41FA5}">
                      <a16:colId xmlns:a16="http://schemas.microsoft.com/office/drawing/2014/main" xmlns="" val="20000"/>
                    </a:ext>
                  </a:extLst>
                </a:gridCol>
                <a:gridCol w="500066">
                  <a:extLst>
                    <a:ext uri="{9D8B030D-6E8A-4147-A177-3AD203B41FA5}">
                      <a16:colId xmlns:a16="http://schemas.microsoft.com/office/drawing/2014/main" xmlns="" val="20001"/>
                    </a:ext>
                  </a:extLst>
                </a:gridCol>
                <a:gridCol w="500066">
                  <a:extLst>
                    <a:ext uri="{9D8B030D-6E8A-4147-A177-3AD203B41FA5}">
                      <a16:colId xmlns:a16="http://schemas.microsoft.com/office/drawing/2014/main" xmlns="" val="20002"/>
                    </a:ext>
                  </a:extLst>
                </a:gridCol>
                <a:gridCol w="500066">
                  <a:extLst>
                    <a:ext uri="{9D8B030D-6E8A-4147-A177-3AD203B41FA5}">
                      <a16:colId xmlns:a16="http://schemas.microsoft.com/office/drawing/2014/main" xmlns="" val="20003"/>
                    </a:ext>
                  </a:extLst>
                </a:gridCol>
                <a:gridCol w="500066">
                  <a:extLst>
                    <a:ext uri="{9D8B030D-6E8A-4147-A177-3AD203B41FA5}">
                      <a16:colId xmlns:a16="http://schemas.microsoft.com/office/drawing/2014/main" xmlns="" val="20004"/>
                    </a:ext>
                  </a:extLst>
                </a:gridCol>
                <a:gridCol w="500066">
                  <a:extLst>
                    <a:ext uri="{9D8B030D-6E8A-4147-A177-3AD203B41FA5}">
                      <a16:colId xmlns:a16="http://schemas.microsoft.com/office/drawing/2014/main" xmlns="" val="20005"/>
                    </a:ext>
                  </a:extLst>
                </a:gridCol>
                <a:gridCol w="500066">
                  <a:extLst>
                    <a:ext uri="{9D8B030D-6E8A-4147-A177-3AD203B41FA5}">
                      <a16:colId xmlns:a16="http://schemas.microsoft.com/office/drawing/2014/main" xmlns="" val="20006"/>
                    </a:ext>
                  </a:extLst>
                </a:gridCol>
                <a:gridCol w="500066">
                  <a:extLst>
                    <a:ext uri="{9D8B030D-6E8A-4147-A177-3AD203B41FA5}">
                      <a16:colId xmlns:a16="http://schemas.microsoft.com/office/drawing/2014/main" xmlns="" val="20007"/>
                    </a:ext>
                  </a:extLst>
                </a:gridCol>
                <a:gridCol w="500066">
                  <a:extLst>
                    <a:ext uri="{9D8B030D-6E8A-4147-A177-3AD203B41FA5}">
                      <a16:colId xmlns:a16="http://schemas.microsoft.com/office/drawing/2014/main" xmlns="" val="20008"/>
                    </a:ext>
                  </a:extLst>
                </a:gridCol>
                <a:gridCol w="500066">
                  <a:extLst>
                    <a:ext uri="{9D8B030D-6E8A-4147-A177-3AD203B41FA5}">
                      <a16:colId xmlns:a16="http://schemas.microsoft.com/office/drawing/2014/main" xmlns="" val="20009"/>
                    </a:ext>
                  </a:extLst>
                </a:gridCol>
                <a:gridCol w="500066">
                  <a:extLst>
                    <a:ext uri="{9D8B030D-6E8A-4147-A177-3AD203B41FA5}">
                      <a16:colId xmlns:a16="http://schemas.microsoft.com/office/drawing/2014/main" xmlns="" val="20010"/>
                    </a:ext>
                  </a:extLst>
                </a:gridCol>
                <a:gridCol w="500066">
                  <a:extLst>
                    <a:ext uri="{9D8B030D-6E8A-4147-A177-3AD203B41FA5}">
                      <a16:colId xmlns:a16="http://schemas.microsoft.com/office/drawing/2014/main" xmlns="" val="20011"/>
                    </a:ext>
                  </a:extLst>
                </a:gridCol>
                <a:gridCol w="500066">
                  <a:extLst>
                    <a:ext uri="{9D8B030D-6E8A-4147-A177-3AD203B41FA5}">
                      <a16:colId xmlns:a16="http://schemas.microsoft.com/office/drawing/2014/main" xmlns="" val="20012"/>
                    </a:ext>
                  </a:extLst>
                </a:gridCol>
                <a:gridCol w="500066">
                  <a:extLst>
                    <a:ext uri="{9D8B030D-6E8A-4147-A177-3AD203B41FA5}">
                      <a16:colId xmlns:a16="http://schemas.microsoft.com/office/drawing/2014/main" xmlns="" val="20013"/>
                    </a:ext>
                  </a:extLst>
                </a:gridCol>
              </a:tblGrid>
              <a:tr h="370840">
                <a:tc>
                  <a:txBody>
                    <a:bodyPr/>
                    <a:lstStyle/>
                    <a:p>
                      <a:pPr algn="ctr"/>
                      <a:r>
                        <a:rPr lang="en-US" altLang="zh-CN" sz="2000" b="0" i="0">
                          <a:solidFill>
                            <a:srgbClr val="3333FF"/>
                          </a:solidFill>
                          <a:latin typeface="Consolas" pitchFamily="49" charset="0"/>
                          <a:cs typeface="Consolas" pitchFamily="49" charset="0"/>
                        </a:rPr>
                        <a:t>A</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B</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D</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C</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E</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a:t>
                      </a:r>
                      <a:endParaRPr lang="zh-CN" altLang="en-US" sz="2000" b="0" i="0">
                        <a:solidFill>
                          <a:srgbClr val="3333FF"/>
                        </a:solidFill>
                        <a:latin typeface="Consolas" pitchFamily="49" charset="0"/>
                        <a:cs typeface="Consolas" pitchFamily="49" charset="0"/>
                      </a:endParaRPr>
                    </a:p>
                  </a:txBody>
                  <a:tcPr/>
                </a:tc>
                <a:tc>
                  <a:txBody>
                    <a:bodyPr/>
                    <a:lstStyle/>
                    <a:p>
                      <a:pPr algn="ctr"/>
                      <a:r>
                        <a:rPr lang="en-US" altLang="zh-CN" sz="2000" b="0" i="0">
                          <a:solidFill>
                            <a:srgbClr val="3333FF"/>
                          </a:solidFill>
                          <a:latin typeface="Consolas" pitchFamily="49" charset="0"/>
                          <a:cs typeface="Consolas" pitchFamily="49" charset="0"/>
                        </a:rPr>
                        <a:t>F</a:t>
                      </a:r>
                      <a:endParaRPr lang="zh-CN" altLang="en-US" sz="2000" b="0" i="0">
                        <a:solidFill>
                          <a:srgbClr val="3333FF"/>
                        </a:solidFill>
                        <a:latin typeface="Consolas" pitchFamily="49" charset="0"/>
                        <a:cs typeface="Consolas" pitchFamily="49" charset="0"/>
                      </a:endParaRPr>
                    </a:p>
                  </a:txBody>
                  <a:tcPr/>
                </a:tc>
                <a:extLst>
                  <a:ext uri="{0D108BD9-81ED-4DB2-BD59-A6C34878D82A}">
                    <a16:rowId xmlns:a16="http://schemas.microsoft.com/office/drawing/2014/main" xmlns="" val="10000"/>
                  </a:ext>
                </a:extLst>
              </a:tr>
            </a:tbl>
          </a:graphicData>
        </a:graphic>
      </p:graphicFrame>
      <p:grpSp>
        <p:nvGrpSpPr>
          <p:cNvPr id="278" name="组合 133">
            <a:extLst>
              <a:ext uri="{FF2B5EF4-FFF2-40B4-BE49-F238E27FC236}">
                <a16:creationId xmlns:a16="http://schemas.microsoft.com/office/drawing/2014/main" xmlns="" id="{991A5379-68D6-B9FB-0C8D-4F2BDFC8F5BA}"/>
              </a:ext>
            </a:extLst>
          </p:cNvPr>
          <p:cNvGrpSpPr/>
          <p:nvPr/>
        </p:nvGrpSpPr>
        <p:grpSpPr>
          <a:xfrm>
            <a:off x="3221707" y="4675447"/>
            <a:ext cx="7081865" cy="334963"/>
            <a:chOff x="1409678" y="4601139"/>
            <a:chExt cx="7081865" cy="334963"/>
          </a:xfrm>
        </p:grpSpPr>
        <p:sp>
          <p:nvSpPr>
            <p:cNvPr id="279" name="Rectangle 1071">
              <a:extLst>
                <a:ext uri="{FF2B5EF4-FFF2-40B4-BE49-F238E27FC236}">
                  <a16:creationId xmlns:a16="http://schemas.microsoft.com/office/drawing/2014/main" xmlns="" id="{BC139022-7C64-F292-868F-E1FD5EFDCB38}"/>
                </a:ext>
              </a:extLst>
            </p:cNvPr>
            <p:cNvSpPr>
              <a:spLocks noChangeArrowheads="1"/>
            </p:cNvSpPr>
            <p:nvPr/>
          </p:nvSpPr>
          <p:spPr bwMode="auto">
            <a:xfrm>
              <a:off x="7880225" y="4601139"/>
              <a:ext cx="473204"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14</a:t>
              </a:r>
            </a:p>
          </p:txBody>
        </p:sp>
        <p:sp>
          <p:nvSpPr>
            <p:cNvPr id="280" name="Rectangle 1072">
              <a:extLst>
                <a:ext uri="{FF2B5EF4-FFF2-40B4-BE49-F238E27FC236}">
                  <a16:creationId xmlns:a16="http://schemas.microsoft.com/office/drawing/2014/main" xmlns="" id="{BF4F816A-AD5C-0E82-7787-A41AB5542AEC}"/>
                </a:ext>
              </a:extLst>
            </p:cNvPr>
            <p:cNvSpPr>
              <a:spLocks noChangeArrowheads="1"/>
            </p:cNvSpPr>
            <p:nvPr/>
          </p:nvSpPr>
          <p:spPr bwMode="auto">
            <a:xfrm>
              <a:off x="7413708" y="4601139"/>
              <a:ext cx="471405"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13</a:t>
              </a:r>
            </a:p>
          </p:txBody>
        </p:sp>
        <p:sp>
          <p:nvSpPr>
            <p:cNvPr id="281" name="Rectangle 1073">
              <a:extLst>
                <a:ext uri="{FF2B5EF4-FFF2-40B4-BE49-F238E27FC236}">
                  <a16:creationId xmlns:a16="http://schemas.microsoft.com/office/drawing/2014/main" xmlns="" id="{E53D1494-AD56-50B3-0F47-DAB488A29A5A}"/>
                </a:ext>
              </a:extLst>
            </p:cNvPr>
            <p:cNvSpPr>
              <a:spLocks noChangeArrowheads="1"/>
            </p:cNvSpPr>
            <p:nvPr/>
          </p:nvSpPr>
          <p:spPr bwMode="auto">
            <a:xfrm>
              <a:off x="6905964" y="4601139"/>
              <a:ext cx="442617"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12</a:t>
              </a:r>
            </a:p>
          </p:txBody>
        </p:sp>
        <p:sp>
          <p:nvSpPr>
            <p:cNvPr id="282" name="Rectangle 1074">
              <a:extLst>
                <a:ext uri="{FF2B5EF4-FFF2-40B4-BE49-F238E27FC236}">
                  <a16:creationId xmlns:a16="http://schemas.microsoft.com/office/drawing/2014/main" xmlns="" id="{CB6C53B5-D943-0032-ADEF-3F6F6FA5C24C}"/>
                </a:ext>
              </a:extLst>
            </p:cNvPr>
            <p:cNvSpPr>
              <a:spLocks noChangeArrowheads="1"/>
            </p:cNvSpPr>
            <p:nvPr/>
          </p:nvSpPr>
          <p:spPr bwMode="auto">
            <a:xfrm>
              <a:off x="6403971" y="4601139"/>
              <a:ext cx="501993"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11</a:t>
              </a:r>
            </a:p>
          </p:txBody>
        </p:sp>
        <p:sp>
          <p:nvSpPr>
            <p:cNvPr id="283" name="Rectangle 1075">
              <a:extLst>
                <a:ext uri="{FF2B5EF4-FFF2-40B4-BE49-F238E27FC236}">
                  <a16:creationId xmlns:a16="http://schemas.microsoft.com/office/drawing/2014/main" xmlns="" id="{102FE980-CC3D-E4C9-5FF1-E74FACEE26BA}"/>
                </a:ext>
              </a:extLst>
            </p:cNvPr>
            <p:cNvSpPr>
              <a:spLocks noChangeArrowheads="1"/>
            </p:cNvSpPr>
            <p:nvPr/>
          </p:nvSpPr>
          <p:spPr bwMode="auto">
            <a:xfrm>
              <a:off x="5913517" y="4601139"/>
              <a:ext cx="471405"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10</a:t>
              </a:r>
            </a:p>
          </p:txBody>
        </p:sp>
        <p:sp>
          <p:nvSpPr>
            <p:cNvPr id="284" name="Rectangle 1076">
              <a:extLst>
                <a:ext uri="{FF2B5EF4-FFF2-40B4-BE49-F238E27FC236}">
                  <a16:creationId xmlns:a16="http://schemas.microsoft.com/office/drawing/2014/main" xmlns="" id="{94B26B35-2C02-FC24-0ADD-201C9F3D1945}"/>
                </a:ext>
              </a:extLst>
            </p:cNvPr>
            <p:cNvSpPr>
              <a:spLocks noChangeArrowheads="1"/>
            </p:cNvSpPr>
            <p:nvPr/>
          </p:nvSpPr>
          <p:spPr bwMode="auto">
            <a:xfrm>
              <a:off x="5426556" y="4601139"/>
              <a:ext cx="455212"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9</a:t>
              </a:r>
            </a:p>
          </p:txBody>
        </p:sp>
        <p:sp>
          <p:nvSpPr>
            <p:cNvPr id="285" name="Rectangle 1077">
              <a:extLst>
                <a:ext uri="{FF2B5EF4-FFF2-40B4-BE49-F238E27FC236}">
                  <a16:creationId xmlns:a16="http://schemas.microsoft.com/office/drawing/2014/main" xmlns="" id="{83F122F6-E4EF-0C70-F682-FDFB31DA32BF}"/>
                </a:ext>
              </a:extLst>
            </p:cNvPr>
            <p:cNvSpPr>
              <a:spLocks noChangeArrowheads="1"/>
            </p:cNvSpPr>
            <p:nvPr/>
          </p:nvSpPr>
          <p:spPr bwMode="auto">
            <a:xfrm>
              <a:off x="4906571" y="4601139"/>
              <a:ext cx="519985"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8</a:t>
              </a:r>
            </a:p>
          </p:txBody>
        </p:sp>
        <p:sp>
          <p:nvSpPr>
            <p:cNvPr id="286" name="Rectangle 1078">
              <a:extLst>
                <a:ext uri="{FF2B5EF4-FFF2-40B4-BE49-F238E27FC236}">
                  <a16:creationId xmlns:a16="http://schemas.microsoft.com/office/drawing/2014/main" xmlns="" id="{649A66D3-8B56-1524-2F8E-F3FF08BF3E2D}"/>
                </a:ext>
              </a:extLst>
            </p:cNvPr>
            <p:cNvSpPr>
              <a:spLocks noChangeArrowheads="1"/>
            </p:cNvSpPr>
            <p:nvPr/>
          </p:nvSpPr>
          <p:spPr bwMode="auto">
            <a:xfrm>
              <a:off x="4454429" y="4601139"/>
              <a:ext cx="442617"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7</a:t>
              </a:r>
            </a:p>
          </p:txBody>
        </p:sp>
        <p:sp>
          <p:nvSpPr>
            <p:cNvPr id="287" name="Rectangle 1079">
              <a:extLst>
                <a:ext uri="{FF2B5EF4-FFF2-40B4-BE49-F238E27FC236}">
                  <a16:creationId xmlns:a16="http://schemas.microsoft.com/office/drawing/2014/main" xmlns="" id="{D3216484-E117-868A-1DBA-8AEDAA455466}"/>
                </a:ext>
              </a:extLst>
            </p:cNvPr>
            <p:cNvSpPr>
              <a:spLocks noChangeArrowheads="1"/>
            </p:cNvSpPr>
            <p:nvPr/>
          </p:nvSpPr>
          <p:spPr bwMode="auto">
            <a:xfrm>
              <a:off x="3932225" y="4601139"/>
              <a:ext cx="471405"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6</a:t>
              </a:r>
            </a:p>
          </p:txBody>
        </p:sp>
        <p:sp>
          <p:nvSpPr>
            <p:cNvPr id="288" name="Rectangle 1080">
              <a:extLst>
                <a:ext uri="{FF2B5EF4-FFF2-40B4-BE49-F238E27FC236}">
                  <a16:creationId xmlns:a16="http://schemas.microsoft.com/office/drawing/2014/main" xmlns="" id="{B08258BE-A8D0-C715-0294-0FA25244EFBB}"/>
                </a:ext>
              </a:extLst>
            </p:cNvPr>
            <p:cNvSpPr>
              <a:spLocks noChangeArrowheads="1"/>
            </p:cNvSpPr>
            <p:nvPr/>
          </p:nvSpPr>
          <p:spPr bwMode="auto">
            <a:xfrm>
              <a:off x="3422720" y="4601139"/>
              <a:ext cx="471405"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5</a:t>
              </a:r>
            </a:p>
          </p:txBody>
        </p:sp>
        <p:sp>
          <p:nvSpPr>
            <p:cNvPr id="289" name="Rectangle 1081">
              <a:extLst>
                <a:ext uri="{FF2B5EF4-FFF2-40B4-BE49-F238E27FC236}">
                  <a16:creationId xmlns:a16="http://schemas.microsoft.com/office/drawing/2014/main" xmlns="" id="{A709E37E-4BE5-142B-4C95-347E3D1D8ACE}"/>
                </a:ext>
              </a:extLst>
            </p:cNvPr>
            <p:cNvSpPr>
              <a:spLocks noChangeArrowheads="1"/>
            </p:cNvSpPr>
            <p:nvPr/>
          </p:nvSpPr>
          <p:spPr bwMode="auto">
            <a:xfrm>
              <a:off x="2920942" y="4601139"/>
              <a:ext cx="473204"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4</a:t>
              </a:r>
            </a:p>
          </p:txBody>
        </p:sp>
        <p:sp>
          <p:nvSpPr>
            <p:cNvPr id="290" name="Rectangle 1082">
              <a:extLst>
                <a:ext uri="{FF2B5EF4-FFF2-40B4-BE49-F238E27FC236}">
                  <a16:creationId xmlns:a16="http://schemas.microsoft.com/office/drawing/2014/main" xmlns="" id="{64637A93-1011-9AB8-528B-1AAD1E6CF41A}"/>
                </a:ext>
              </a:extLst>
            </p:cNvPr>
            <p:cNvSpPr>
              <a:spLocks noChangeArrowheads="1"/>
            </p:cNvSpPr>
            <p:nvPr/>
          </p:nvSpPr>
          <p:spPr bwMode="auto">
            <a:xfrm>
              <a:off x="2449537" y="4601139"/>
              <a:ext cx="471405"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3</a:t>
              </a:r>
            </a:p>
          </p:txBody>
        </p:sp>
        <p:sp>
          <p:nvSpPr>
            <p:cNvPr id="291" name="Rectangle 1083">
              <a:extLst>
                <a:ext uri="{FF2B5EF4-FFF2-40B4-BE49-F238E27FC236}">
                  <a16:creationId xmlns:a16="http://schemas.microsoft.com/office/drawing/2014/main" xmlns="" id="{5F744322-0B14-FA7A-6B08-0E006DE44890}"/>
                </a:ext>
              </a:extLst>
            </p:cNvPr>
            <p:cNvSpPr>
              <a:spLocks noChangeArrowheads="1"/>
            </p:cNvSpPr>
            <p:nvPr/>
          </p:nvSpPr>
          <p:spPr bwMode="auto">
            <a:xfrm>
              <a:off x="1963738" y="4601139"/>
              <a:ext cx="413828" cy="334963"/>
            </a:xfrm>
            <a:prstGeom prst="rect">
              <a:avLst/>
            </a:prstGeom>
            <a:noFill/>
            <a:ln w="9525">
              <a:noFill/>
              <a:miter lim="800000"/>
              <a:headEnd/>
              <a:tailEnd/>
            </a:ln>
            <a:effectLst/>
          </p:spPr>
          <p:txBody>
            <a:bodyPr/>
            <a:lstStyle/>
            <a:p>
              <a:pPr>
                <a:spcBef>
                  <a:spcPct val="20000"/>
                </a:spcBef>
              </a:pPr>
              <a:r>
                <a:rPr lang="en-US" altLang="zh-CN" sz="1700" b="0" dirty="0">
                  <a:solidFill>
                    <a:srgbClr val="FF0000"/>
                  </a:solidFill>
                  <a:latin typeface="Consolas" pitchFamily="49" charset="0"/>
                  <a:ea typeface="宋体" charset="-122"/>
                  <a:cs typeface="Consolas" pitchFamily="49" charset="0"/>
                </a:rPr>
                <a:t>2</a:t>
              </a:r>
            </a:p>
          </p:txBody>
        </p:sp>
        <p:sp>
          <p:nvSpPr>
            <p:cNvPr id="292" name="Rectangle 1084">
              <a:extLst>
                <a:ext uri="{FF2B5EF4-FFF2-40B4-BE49-F238E27FC236}">
                  <a16:creationId xmlns:a16="http://schemas.microsoft.com/office/drawing/2014/main" xmlns="" id="{ADBBC302-817D-8B37-0C91-F45BD67ED102}"/>
                </a:ext>
              </a:extLst>
            </p:cNvPr>
            <p:cNvSpPr>
              <a:spLocks noChangeArrowheads="1"/>
            </p:cNvSpPr>
            <p:nvPr/>
          </p:nvSpPr>
          <p:spPr bwMode="auto">
            <a:xfrm>
              <a:off x="1409678" y="4601139"/>
              <a:ext cx="530781" cy="334963"/>
            </a:xfrm>
            <a:prstGeom prst="rect">
              <a:avLst/>
            </a:prstGeom>
            <a:noFill/>
            <a:ln w="9525">
              <a:noFill/>
              <a:miter lim="800000"/>
              <a:headEnd/>
              <a:tailEnd/>
            </a:ln>
            <a:effectLst/>
          </p:spPr>
          <p:txBody>
            <a:bodyPr/>
            <a:lstStyle/>
            <a:p>
              <a:pPr>
                <a:spcBef>
                  <a:spcPct val="20000"/>
                </a:spcBef>
              </a:pPr>
              <a:r>
                <a:rPr lang="en-US" altLang="zh-CN" sz="1700" b="0">
                  <a:solidFill>
                    <a:srgbClr val="FF0000"/>
                  </a:solidFill>
                  <a:latin typeface="Consolas" pitchFamily="49" charset="0"/>
                  <a:ea typeface="宋体" charset="-122"/>
                  <a:cs typeface="Consolas" pitchFamily="49" charset="0"/>
                </a:rPr>
                <a:t>1</a:t>
              </a:r>
            </a:p>
          </p:txBody>
        </p:sp>
        <p:sp>
          <p:nvSpPr>
            <p:cNvPr id="293" name="Line 1085">
              <a:extLst>
                <a:ext uri="{FF2B5EF4-FFF2-40B4-BE49-F238E27FC236}">
                  <a16:creationId xmlns:a16="http://schemas.microsoft.com/office/drawing/2014/main" xmlns="" id="{8A6871BC-49B8-830F-A506-C077CF4641E2}"/>
                </a:ext>
              </a:extLst>
            </p:cNvPr>
            <p:cNvSpPr>
              <a:spLocks noChangeShapeType="1"/>
            </p:cNvSpPr>
            <p:nvPr/>
          </p:nvSpPr>
          <p:spPr bwMode="auto">
            <a:xfrm>
              <a:off x="1409678" y="4936102"/>
              <a:ext cx="530781"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294" name="Line 1086">
              <a:extLst>
                <a:ext uri="{FF2B5EF4-FFF2-40B4-BE49-F238E27FC236}">
                  <a16:creationId xmlns:a16="http://schemas.microsoft.com/office/drawing/2014/main" xmlns="" id="{0222C1F9-F41E-6605-C2EE-01D658173957}"/>
                </a:ext>
              </a:extLst>
            </p:cNvPr>
            <p:cNvSpPr>
              <a:spLocks noChangeShapeType="1"/>
            </p:cNvSpPr>
            <p:nvPr/>
          </p:nvSpPr>
          <p:spPr bwMode="auto">
            <a:xfrm>
              <a:off x="1409678" y="4601139"/>
              <a:ext cx="0" cy="334963"/>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295" name="Line 1101">
              <a:extLst>
                <a:ext uri="{FF2B5EF4-FFF2-40B4-BE49-F238E27FC236}">
                  <a16:creationId xmlns:a16="http://schemas.microsoft.com/office/drawing/2014/main" xmlns="" id="{969F1221-15A4-3906-7AFF-B08EA697272D}"/>
                </a:ext>
              </a:extLst>
            </p:cNvPr>
            <p:cNvSpPr>
              <a:spLocks noChangeShapeType="1"/>
            </p:cNvSpPr>
            <p:nvPr/>
          </p:nvSpPr>
          <p:spPr bwMode="auto">
            <a:xfrm>
              <a:off x="8491543" y="4601139"/>
              <a:ext cx="0" cy="334963"/>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296" name="Line 1102">
              <a:extLst>
                <a:ext uri="{FF2B5EF4-FFF2-40B4-BE49-F238E27FC236}">
                  <a16:creationId xmlns:a16="http://schemas.microsoft.com/office/drawing/2014/main" xmlns="" id="{1751CB5D-923F-8C9E-C2A4-9A0B694CC6BE}"/>
                </a:ext>
              </a:extLst>
            </p:cNvPr>
            <p:cNvSpPr>
              <a:spLocks noChangeShapeType="1"/>
            </p:cNvSpPr>
            <p:nvPr/>
          </p:nvSpPr>
          <p:spPr bwMode="auto">
            <a:xfrm>
              <a:off x="4684321" y="4601139"/>
              <a:ext cx="519985" cy="0"/>
            </a:xfrm>
            <a:prstGeom prst="line">
              <a:avLst/>
            </a:prstGeom>
            <a:noFill/>
            <a:ln w="12700">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297" name="Line 1103">
              <a:extLst>
                <a:ext uri="{FF2B5EF4-FFF2-40B4-BE49-F238E27FC236}">
                  <a16:creationId xmlns:a16="http://schemas.microsoft.com/office/drawing/2014/main" xmlns="" id="{1D754AAC-9732-A7B3-1651-2EADDD28A71F}"/>
                </a:ext>
              </a:extLst>
            </p:cNvPr>
            <p:cNvSpPr>
              <a:spLocks noChangeShapeType="1"/>
            </p:cNvSpPr>
            <p:nvPr/>
          </p:nvSpPr>
          <p:spPr bwMode="auto">
            <a:xfrm>
              <a:off x="1409678" y="4601139"/>
              <a:ext cx="530781"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298" name="Line 1104">
              <a:extLst>
                <a:ext uri="{FF2B5EF4-FFF2-40B4-BE49-F238E27FC236}">
                  <a16:creationId xmlns:a16="http://schemas.microsoft.com/office/drawing/2014/main" xmlns="" id="{D1E85CEF-051A-1435-62E9-7B86A7D9B6A6}"/>
                </a:ext>
              </a:extLst>
            </p:cNvPr>
            <p:cNvSpPr>
              <a:spLocks noChangeShapeType="1"/>
            </p:cNvSpPr>
            <p:nvPr/>
          </p:nvSpPr>
          <p:spPr bwMode="auto">
            <a:xfrm>
              <a:off x="5204306" y="4601139"/>
              <a:ext cx="455212"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299" name="Line 1135">
              <a:extLst>
                <a:ext uri="{FF2B5EF4-FFF2-40B4-BE49-F238E27FC236}">
                  <a16:creationId xmlns:a16="http://schemas.microsoft.com/office/drawing/2014/main" xmlns="" id="{D3D407D9-F023-814E-8CE4-739887CC364B}"/>
                </a:ext>
              </a:extLst>
            </p:cNvPr>
            <p:cNvSpPr>
              <a:spLocks noChangeShapeType="1"/>
            </p:cNvSpPr>
            <p:nvPr/>
          </p:nvSpPr>
          <p:spPr bwMode="auto">
            <a:xfrm>
              <a:off x="1940459" y="4936102"/>
              <a:ext cx="413828"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00" name="Line 1136">
              <a:extLst>
                <a:ext uri="{FF2B5EF4-FFF2-40B4-BE49-F238E27FC236}">
                  <a16:creationId xmlns:a16="http://schemas.microsoft.com/office/drawing/2014/main" xmlns="" id="{194B2503-7504-AB57-2C94-813D1F80F3CC}"/>
                </a:ext>
              </a:extLst>
            </p:cNvPr>
            <p:cNvSpPr>
              <a:spLocks noChangeShapeType="1"/>
            </p:cNvSpPr>
            <p:nvPr/>
          </p:nvSpPr>
          <p:spPr bwMode="auto">
            <a:xfrm>
              <a:off x="2354287" y="4936102"/>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01" name="Line 1137">
              <a:extLst>
                <a:ext uri="{FF2B5EF4-FFF2-40B4-BE49-F238E27FC236}">
                  <a16:creationId xmlns:a16="http://schemas.microsoft.com/office/drawing/2014/main" xmlns="" id="{713871C9-5008-5FE7-A2F2-250A08AD1AEE}"/>
                </a:ext>
              </a:extLst>
            </p:cNvPr>
            <p:cNvSpPr>
              <a:spLocks noChangeShapeType="1"/>
            </p:cNvSpPr>
            <p:nvPr/>
          </p:nvSpPr>
          <p:spPr bwMode="auto">
            <a:xfrm>
              <a:off x="2825692" y="4936102"/>
              <a:ext cx="473204"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02" name="Line 1138">
              <a:extLst>
                <a:ext uri="{FF2B5EF4-FFF2-40B4-BE49-F238E27FC236}">
                  <a16:creationId xmlns:a16="http://schemas.microsoft.com/office/drawing/2014/main" xmlns="" id="{380BD782-6450-F9D2-4AD4-B153D2958CE9}"/>
                </a:ext>
              </a:extLst>
            </p:cNvPr>
            <p:cNvSpPr>
              <a:spLocks noChangeShapeType="1"/>
            </p:cNvSpPr>
            <p:nvPr/>
          </p:nvSpPr>
          <p:spPr bwMode="auto">
            <a:xfrm>
              <a:off x="3298895" y="4936102"/>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03" name="Line 1139">
              <a:extLst>
                <a:ext uri="{FF2B5EF4-FFF2-40B4-BE49-F238E27FC236}">
                  <a16:creationId xmlns:a16="http://schemas.microsoft.com/office/drawing/2014/main" xmlns="" id="{1BC884A4-A320-90AF-D0D1-4170A24014D6}"/>
                </a:ext>
              </a:extLst>
            </p:cNvPr>
            <p:cNvSpPr>
              <a:spLocks noChangeShapeType="1"/>
            </p:cNvSpPr>
            <p:nvPr/>
          </p:nvSpPr>
          <p:spPr bwMode="auto">
            <a:xfrm>
              <a:off x="3770300" y="4936102"/>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04" name="Line 1140">
              <a:extLst>
                <a:ext uri="{FF2B5EF4-FFF2-40B4-BE49-F238E27FC236}">
                  <a16:creationId xmlns:a16="http://schemas.microsoft.com/office/drawing/2014/main" xmlns="" id="{8F408631-800A-3EEC-5A16-9938FEF727C2}"/>
                </a:ext>
              </a:extLst>
            </p:cNvPr>
            <p:cNvSpPr>
              <a:spLocks noChangeShapeType="1"/>
            </p:cNvSpPr>
            <p:nvPr/>
          </p:nvSpPr>
          <p:spPr bwMode="auto">
            <a:xfrm>
              <a:off x="4241704" y="4936102"/>
              <a:ext cx="442617"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05" name="Line 1141">
              <a:extLst>
                <a:ext uri="{FF2B5EF4-FFF2-40B4-BE49-F238E27FC236}">
                  <a16:creationId xmlns:a16="http://schemas.microsoft.com/office/drawing/2014/main" xmlns="" id="{460EAA6F-3E72-8C89-36D6-85BA7DF2B4E2}"/>
                </a:ext>
              </a:extLst>
            </p:cNvPr>
            <p:cNvSpPr>
              <a:spLocks noChangeShapeType="1"/>
            </p:cNvSpPr>
            <p:nvPr/>
          </p:nvSpPr>
          <p:spPr bwMode="auto">
            <a:xfrm>
              <a:off x="4684321" y="4936102"/>
              <a:ext cx="51998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06" name="Line 1142">
              <a:extLst>
                <a:ext uri="{FF2B5EF4-FFF2-40B4-BE49-F238E27FC236}">
                  <a16:creationId xmlns:a16="http://schemas.microsoft.com/office/drawing/2014/main" xmlns="" id="{D5D98B9A-ECC3-E365-2DAB-800DA43F561E}"/>
                </a:ext>
              </a:extLst>
            </p:cNvPr>
            <p:cNvSpPr>
              <a:spLocks noChangeShapeType="1"/>
            </p:cNvSpPr>
            <p:nvPr/>
          </p:nvSpPr>
          <p:spPr bwMode="auto">
            <a:xfrm>
              <a:off x="5204306" y="4936102"/>
              <a:ext cx="455212"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07" name="Line 1143">
              <a:extLst>
                <a:ext uri="{FF2B5EF4-FFF2-40B4-BE49-F238E27FC236}">
                  <a16:creationId xmlns:a16="http://schemas.microsoft.com/office/drawing/2014/main" xmlns="" id="{F526F985-175F-42EE-16B8-398742BD2BA2}"/>
                </a:ext>
              </a:extLst>
            </p:cNvPr>
            <p:cNvSpPr>
              <a:spLocks noChangeShapeType="1"/>
            </p:cNvSpPr>
            <p:nvPr/>
          </p:nvSpPr>
          <p:spPr bwMode="auto">
            <a:xfrm>
              <a:off x="5659517" y="4936102"/>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08" name="Line 1144">
              <a:extLst>
                <a:ext uri="{FF2B5EF4-FFF2-40B4-BE49-F238E27FC236}">
                  <a16:creationId xmlns:a16="http://schemas.microsoft.com/office/drawing/2014/main" xmlns="" id="{8D45450A-8E2C-8D34-A485-417A4FE5C713}"/>
                </a:ext>
              </a:extLst>
            </p:cNvPr>
            <p:cNvSpPr>
              <a:spLocks noChangeShapeType="1"/>
            </p:cNvSpPr>
            <p:nvPr/>
          </p:nvSpPr>
          <p:spPr bwMode="auto">
            <a:xfrm>
              <a:off x="6130921" y="4936102"/>
              <a:ext cx="501993"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09" name="Line 1145">
              <a:extLst>
                <a:ext uri="{FF2B5EF4-FFF2-40B4-BE49-F238E27FC236}">
                  <a16:creationId xmlns:a16="http://schemas.microsoft.com/office/drawing/2014/main" xmlns="" id="{8EA485AD-C935-62B9-6B11-E6282ACDA8F6}"/>
                </a:ext>
              </a:extLst>
            </p:cNvPr>
            <p:cNvSpPr>
              <a:spLocks noChangeShapeType="1"/>
            </p:cNvSpPr>
            <p:nvPr/>
          </p:nvSpPr>
          <p:spPr bwMode="auto">
            <a:xfrm>
              <a:off x="6632914" y="4936102"/>
              <a:ext cx="442617"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10" name="Line 1146">
              <a:extLst>
                <a:ext uri="{FF2B5EF4-FFF2-40B4-BE49-F238E27FC236}">
                  <a16:creationId xmlns:a16="http://schemas.microsoft.com/office/drawing/2014/main" xmlns="" id="{28BD4E4B-2FCD-B3E2-323E-154F9E864541}"/>
                </a:ext>
              </a:extLst>
            </p:cNvPr>
            <p:cNvSpPr>
              <a:spLocks noChangeShapeType="1"/>
            </p:cNvSpPr>
            <p:nvPr/>
          </p:nvSpPr>
          <p:spPr bwMode="auto">
            <a:xfrm>
              <a:off x="7075530" y="4936102"/>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11" name="Line 1147">
              <a:extLst>
                <a:ext uri="{FF2B5EF4-FFF2-40B4-BE49-F238E27FC236}">
                  <a16:creationId xmlns:a16="http://schemas.microsoft.com/office/drawing/2014/main" xmlns="" id="{5C07A31A-7173-1025-5FFF-4B797DDED8C6}"/>
                </a:ext>
              </a:extLst>
            </p:cNvPr>
            <p:cNvSpPr>
              <a:spLocks noChangeShapeType="1"/>
            </p:cNvSpPr>
            <p:nvPr/>
          </p:nvSpPr>
          <p:spPr bwMode="auto">
            <a:xfrm>
              <a:off x="7546935" y="4936102"/>
              <a:ext cx="473204"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12" name="Line 1148">
              <a:extLst>
                <a:ext uri="{FF2B5EF4-FFF2-40B4-BE49-F238E27FC236}">
                  <a16:creationId xmlns:a16="http://schemas.microsoft.com/office/drawing/2014/main" xmlns="" id="{61EC0FBF-CD34-EE30-9F89-F082FCC4F980}"/>
                </a:ext>
              </a:extLst>
            </p:cNvPr>
            <p:cNvSpPr>
              <a:spLocks noChangeShapeType="1"/>
            </p:cNvSpPr>
            <p:nvPr/>
          </p:nvSpPr>
          <p:spPr bwMode="auto">
            <a:xfrm>
              <a:off x="8020138" y="4936102"/>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13" name="Line 1196">
              <a:extLst>
                <a:ext uri="{FF2B5EF4-FFF2-40B4-BE49-F238E27FC236}">
                  <a16:creationId xmlns:a16="http://schemas.microsoft.com/office/drawing/2014/main" xmlns="" id="{238388CC-06F9-4E85-0AA6-E18767B13726}"/>
                </a:ext>
              </a:extLst>
            </p:cNvPr>
            <p:cNvSpPr>
              <a:spLocks noChangeShapeType="1"/>
            </p:cNvSpPr>
            <p:nvPr/>
          </p:nvSpPr>
          <p:spPr bwMode="auto">
            <a:xfrm>
              <a:off x="1940459" y="4601139"/>
              <a:ext cx="413828"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14" name="Line 1197">
              <a:extLst>
                <a:ext uri="{FF2B5EF4-FFF2-40B4-BE49-F238E27FC236}">
                  <a16:creationId xmlns:a16="http://schemas.microsoft.com/office/drawing/2014/main" xmlns="" id="{010BA9D8-04B8-25AC-8B0E-7D60124F084B}"/>
                </a:ext>
              </a:extLst>
            </p:cNvPr>
            <p:cNvSpPr>
              <a:spLocks noChangeShapeType="1"/>
            </p:cNvSpPr>
            <p:nvPr/>
          </p:nvSpPr>
          <p:spPr bwMode="auto">
            <a:xfrm>
              <a:off x="2354287" y="4601139"/>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15" name="Line 1198">
              <a:extLst>
                <a:ext uri="{FF2B5EF4-FFF2-40B4-BE49-F238E27FC236}">
                  <a16:creationId xmlns:a16="http://schemas.microsoft.com/office/drawing/2014/main" xmlns="" id="{DE251115-0ECD-2BAC-3EF6-407A70139EB3}"/>
                </a:ext>
              </a:extLst>
            </p:cNvPr>
            <p:cNvSpPr>
              <a:spLocks noChangeShapeType="1"/>
            </p:cNvSpPr>
            <p:nvPr/>
          </p:nvSpPr>
          <p:spPr bwMode="auto">
            <a:xfrm>
              <a:off x="2825692" y="4601139"/>
              <a:ext cx="473204"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16" name="Line 1199">
              <a:extLst>
                <a:ext uri="{FF2B5EF4-FFF2-40B4-BE49-F238E27FC236}">
                  <a16:creationId xmlns:a16="http://schemas.microsoft.com/office/drawing/2014/main" xmlns="" id="{196F6B56-50A6-6D0E-D40A-5BBD7D1FAAE2}"/>
                </a:ext>
              </a:extLst>
            </p:cNvPr>
            <p:cNvSpPr>
              <a:spLocks noChangeShapeType="1"/>
            </p:cNvSpPr>
            <p:nvPr/>
          </p:nvSpPr>
          <p:spPr bwMode="auto">
            <a:xfrm>
              <a:off x="3298895" y="4601139"/>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17" name="Line 1200">
              <a:extLst>
                <a:ext uri="{FF2B5EF4-FFF2-40B4-BE49-F238E27FC236}">
                  <a16:creationId xmlns:a16="http://schemas.microsoft.com/office/drawing/2014/main" xmlns="" id="{CF12987A-CE9E-B768-0FE2-1C05C8DB8298}"/>
                </a:ext>
              </a:extLst>
            </p:cNvPr>
            <p:cNvSpPr>
              <a:spLocks noChangeShapeType="1"/>
            </p:cNvSpPr>
            <p:nvPr/>
          </p:nvSpPr>
          <p:spPr bwMode="auto">
            <a:xfrm>
              <a:off x="3770300" y="4601139"/>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18" name="Line 1201">
              <a:extLst>
                <a:ext uri="{FF2B5EF4-FFF2-40B4-BE49-F238E27FC236}">
                  <a16:creationId xmlns:a16="http://schemas.microsoft.com/office/drawing/2014/main" xmlns="" id="{E28D7DE3-C428-5CA3-8B1E-022D43ADE942}"/>
                </a:ext>
              </a:extLst>
            </p:cNvPr>
            <p:cNvSpPr>
              <a:spLocks noChangeShapeType="1"/>
            </p:cNvSpPr>
            <p:nvPr/>
          </p:nvSpPr>
          <p:spPr bwMode="auto">
            <a:xfrm>
              <a:off x="4241704" y="4601139"/>
              <a:ext cx="442617"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19" name="Line 1202">
              <a:extLst>
                <a:ext uri="{FF2B5EF4-FFF2-40B4-BE49-F238E27FC236}">
                  <a16:creationId xmlns:a16="http://schemas.microsoft.com/office/drawing/2014/main" xmlns="" id="{FF74FDD9-8864-277A-5968-ACD457B0AFAE}"/>
                </a:ext>
              </a:extLst>
            </p:cNvPr>
            <p:cNvSpPr>
              <a:spLocks noChangeShapeType="1"/>
            </p:cNvSpPr>
            <p:nvPr/>
          </p:nvSpPr>
          <p:spPr bwMode="auto">
            <a:xfrm>
              <a:off x="5659517" y="4601139"/>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20" name="Line 1203">
              <a:extLst>
                <a:ext uri="{FF2B5EF4-FFF2-40B4-BE49-F238E27FC236}">
                  <a16:creationId xmlns:a16="http://schemas.microsoft.com/office/drawing/2014/main" xmlns="" id="{CC65792B-2B53-57FA-A38A-42218D6A8E4F}"/>
                </a:ext>
              </a:extLst>
            </p:cNvPr>
            <p:cNvSpPr>
              <a:spLocks noChangeShapeType="1"/>
            </p:cNvSpPr>
            <p:nvPr/>
          </p:nvSpPr>
          <p:spPr bwMode="auto">
            <a:xfrm>
              <a:off x="6130921" y="4601139"/>
              <a:ext cx="501993"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21" name="Line 1204">
              <a:extLst>
                <a:ext uri="{FF2B5EF4-FFF2-40B4-BE49-F238E27FC236}">
                  <a16:creationId xmlns:a16="http://schemas.microsoft.com/office/drawing/2014/main" xmlns="" id="{BB7D4C14-B72E-B657-30FF-7C0058C6664A}"/>
                </a:ext>
              </a:extLst>
            </p:cNvPr>
            <p:cNvSpPr>
              <a:spLocks noChangeShapeType="1"/>
            </p:cNvSpPr>
            <p:nvPr/>
          </p:nvSpPr>
          <p:spPr bwMode="auto">
            <a:xfrm>
              <a:off x="6632914" y="4601139"/>
              <a:ext cx="442617"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22" name="Line 1205">
              <a:extLst>
                <a:ext uri="{FF2B5EF4-FFF2-40B4-BE49-F238E27FC236}">
                  <a16:creationId xmlns:a16="http://schemas.microsoft.com/office/drawing/2014/main" xmlns="" id="{69C4686D-72FE-7DD8-FFFA-EED459917A43}"/>
                </a:ext>
              </a:extLst>
            </p:cNvPr>
            <p:cNvSpPr>
              <a:spLocks noChangeShapeType="1"/>
            </p:cNvSpPr>
            <p:nvPr/>
          </p:nvSpPr>
          <p:spPr bwMode="auto">
            <a:xfrm>
              <a:off x="7075530" y="4601139"/>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23" name="Line 1206">
              <a:extLst>
                <a:ext uri="{FF2B5EF4-FFF2-40B4-BE49-F238E27FC236}">
                  <a16:creationId xmlns:a16="http://schemas.microsoft.com/office/drawing/2014/main" xmlns="" id="{7907F747-E77B-2084-7265-3AEB3F46A7EA}"/>
                </a:ext>
              </a:extLst>
            </p:cNvPr>
            <p:cNvSpPr>
              <a:spLocks noChangeShapeType="1"/>
            </p:cNvSpPr>
            <p:nvPr/>
          </p:nvSpPr>
          <p:spPr bwMode="auto">
            <a:xfrm>
              <a:off x="7546935" y="4601139"/>
              <a:ext cx="473204"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sp>
          <p:nvSpPr>
            <p:cNvPr id="324" name="Line 1207">
              <a:extLst>
                <a:ext uri="{FF2B5EF4-FFF2-40B4-BE49-F238E27FC236}">
                  <a16:creationId xmlns:a16="http://schemas.microsoft.com/office/drawing/2014/main" xmlns="" id="{B62813BF-BDE1-CB8B-8ABF-BC8CB7E8F630}"/>
                </a:ext>
              </a:extLst>
            </p:cNvPr>
            <p:cNvSpPr>
              <a:spLocks noChangeShapeType="1"/>
            </p:cNvSpPr>
            <p:nvPr/>
          </p:nvSpPr>
          <p:spPr bwMode="auto">
            <a:xfrm>
              <a:off x="8020138" y="4601139"/>
              <a:ext cx="471405" cy="0"/>
            </a:xfrm>
            <a:prstGeom prst="line">
              <a:avLst/>
            </a:prstGeom>
            <a:noFill/>
            <a:ln w="28575" cap="sq">
              <a:noFill/>
              <a:miter lim="800000"/>
              <a:headEnd/>
              <a:tailEnd/>
            </a:ln>
            <a:effectLst/>
          </p:spPr>
          <p:txBody>
            <a:bodyPr wrap="none"/>
            <a:lstStyle/>
            <a:p>
              <a:endParaRPr lang="zh-CN" altLang="en-US" sz="1700" b="0">
                <a:latin typeface="Consolas" pitchFamily="49" charset="0"/>
                <a:cs typeface="Consolas" pitchFamily="49" charset="0"/>
              </a:endParaRPr>
            </a:p>
          </p:txBody>
        </p:sp>
      </p:grpSp>
      <p:grpSp>
        <p:nvGrpSpPr>
          <p:cNvPr id="325" name="组合 99">
            <a:extLst>
              <a:ext uri="{FF2B5EF4-FFF2-40B4-BE49-F238E27FC236}">
                <a16:creationId xmlns:a16="http://schemas.microsoft.com/office/drawing/2014/main" xmlns="" id="{A09BFF0B-7D5A-2168-1CE3-64261964EE1C}"/>
              </a:ext>
            </a:extLst>
          </p:cNvPr>
          <p:cNvGrpSpPr/>
          <p:nvPr/>
        </p:nvGrpSpPr>
        <p:grpSpPr>
          <a:xfrm>
            <a:off x="7793739" y="5889893"/>
            <a:ext cx="2643206" cy="571504"/>
            <a:chOff x="6143636" y="5500702"/>
            <a:chExt cx="2643206" cy="571504"/>
          </a:xfrm>
        </p:grpSpPr>
        <p:sp>
          <p:nvSpPr>
            <p:cNvPr id="326" name="右大括号 325">
              <a:extLst>
                <a:ext uri="{FF2B5EF4-FFF2-40B4-BE49-F238E27FC236}">
                  <a16:creationId xmlns:a16="http://schemas.microsoft.com/office/drawing/2014/main" xmlns="" id="{C9330090-02A8-920E-4F16-F4269AD01A68}"/>
                </a:ext>
              </a:extLst>
            </p:cNvPr>
            <p:cNvSpPr/>
            <p:nvPr/>
          </p:nvSpPr>
          <p:spPr>
            <a:xfrm>
              <a:off x="6143636" y="5500702"/>
              <a:ext cx="214314" cy="571504"/>
            </a:xfrm>
            <a:prstGeom prst="rightBrace">
              <a:avLst/>
            </a:prstGeom>
            <a:ln>
              <a:tailEnd type="non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327" name="TextBox 98">
              <a:extLst>
                <a:ext uri="{FF2B5EF4-FFF2-40B4-BE49-F238E27FC236}">
                  <a16:creationId xmlns:a16="http://schemas.microsoft.com/office/drawing/2014/main" xmlns="" id="{E374E372-0A7C-96FD-EE14-E2185B3FD805}"/>
                </a:ext>
              </a:extLst>
            </p:cNvPr>
            <p:cNvSpPr txBox="1"/>
            <p:nvPr/>
          </p:nvSpPr>
          <p:spPr>
            <a:xfrm>
              <a:off x="6429388" y="5572140"/>
              <a:ext cx="2357454" cy="400110"/>
            </a:xfrm>
            <a:prstGeom prst="rect">
              <a:avLst/>
            </a:prstGeom>
            <a:noFill/>
          </p:spPr>
          <p:txBody>
            <a:bodyPr wrap="square" rtlCol="0">
              <a:spAutoFit/>
            </a:bodyPr>
            <a:lstStyle/>
            <a:p>
              <a:pPr algn="l"/>
              <a:r>
                <a:rPr lang="zh-CN" altLang="en-US" sz="2000">
                  <a:latin typeface="仿宋" pitchFamily="49" charset="-122"/>
                  <a:ea typeface="仿宋" pitchFamily="49" charset="-122"/>
                  <a:cs typeface="Consolas" pitchFamily="49" charset="0"/>
                </a:rPr>
                <a:t>用一个数组存储</a:t>
              </a:r>
            </a:p>
          </p:txBody>
        </p:sp>
      </p:grpSp>
      <p:sp>
        <p:nvSpPr>
          <p:cNvPr id="328" name="Rectangle 2">
            <a:extLst>
              <a:ext uri="{FF2B5EF4-FFF2-40B4-BE49-F238E27FC236}">
                <a16:creationId xmlns:a16="http://schemas.microsoft.com/office/drawing/2014/main" xmlns="" id="{D7CA6C56-362B-C36D-C81C-F30CFA831D27}"/>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7.3.1 </a:t>
            </a:r>
            <a:r>
              <a:rPr lang="zh-CN" altLang="en-US" dirty="0"/>
              <a:t>二叉树的顺序存储结构</a:t>
            </a:r>
          </a:p>
        </p:txBody>
      </p:sp>
    </p:spTree>
    <p:extLst>
      <p:ext uri="{BB962C8B-B14F-4D97-AF65-F5344CB8AC3E}">
        <p14:creationId xmlns:p14="http://schemas.microsoft.com/office/powerpoint/2010/main" val="219164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 grpId="0" animBg="1"/>
      <p:bldP spid="274" grpId="0"/>
      <p:bldP spid="275" grpId="0"/>
      <p:bldP spid="27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8EA991D-0FE7-EE35-62C4-E21157B02B6B}"/>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32BE4ECC-11FC-CFDD-5EEF-132FDBEBD530}"/>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7.3 </a:t>
            </a:r>
            <a:r>
              <a:rPr lang="zh-CN" altLang="en-US" sz="3000" b="1" dirty="0">
                <a:latin typeface="黑体" pitchFamily="49" charset="-122"/>
                <a:ea typeface="黑体" pitchFamily="49" charset="-122"/>
                <a:cs typeface="经典粗黑简" pitchFamily="49" charset="-122"/>
              </a:rPr>
              <a:t>二叉树的存储结构</a:t>
            </a:r>
          </a:p>
        </p:txBody>
      </p:sp>
      <p:cxnSp>
        <p:nvCxnSpPr>
          <p:cNvPr id="20" name="直接连接符 19">
            <a:extLst>
              <a:ext uri="{FF2B5EF4-FFF2-40B4-BE49-F238E27FC236}">
                <a16:creationId xmlns:a16="http://schemas.microsoft.com/office/drawing/2014/main" xmlns="" id="{2BF9D64D-5428-1C15-CED1-5BF18A3A8A1B}"/>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pSp>
        <p:nvGrpSpPr>
          <p:cNvPr id="5" name="组合 3">
            <a:extLst>
              <a:ext uri="{FF2B5EF4-FFF2-40B4-BE49-F238E27FC236}">
                <a16:creationId xmlns:a16="http://schemas.microsoft.com/office/drawing/2014/main" xmlns="" id="{D1B9DCE5-77E6-3A72-9491-80B7777D0F6B}"/>
              </a:ext>
            </a:extLst>
          </p:cNvPr>
          <p:cNvGrpSpPr>
            <a:grpSpLocks noChangeAspect="1"/>
          </p:cNvGrpSpPr>
          <p:nvPr/>
        </p:nvGrpSpPr>
        <p:grpSpPr>
          <a:xfrm>
            <a:off x="9480376" y="3075421"/>
            <a:ext cx="1834298" cy="1497440"/>
            <a:chOff x="2500298" y="4000504"/>
            <a:chExt cx="2653788" cy="2166435"/>
          </a:xfrm>
        </p:grpSpPr>
        <p:sp>
          <p:nvSpPr>
            <p:cNvPr id="9" name="椭圆 8">
              <a:extLst>
                <a:ext uri="{FF2B5EF4-FFF2-40B4-BE49-F238E27FC236}">
                  <a16:creationId xmlns:a16="http://schemas.microsoft.com/office/drawing/2014/main" xmlns="" id="{41FD0BA7-14D2-5E73-1292-48B16A75BCB1}"/>
                </a:ext>
              </a:extLst>
            </p:cNvPr>
            <p:cNvSpPr/>
            <p:nvPr/>
          </p:nvSpPr>
          <p:spPr>
            <a:xfrm>
              <a:off x="3428992" y="4000504"/>
              <a:ext cx="714380" cy="523361"/>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200" i="1" dirty="0" err="1">
                  <a:solidFill>
                    <a:srgbClr val="0000FF"/>
                  </a:solidFill>
                  <a:latin typeface="Consolas" pitchFamily="49" charset="0"/>
                  <a:cs typeface="Consolas" pitchFamily="49" charset="0"/>
                </a:rPr>
                <a:t>i</a:t>
              </a:r>
              <a:r>
                <a:rPr lang="en-US" altLang="zh-CN" sz="1200" dirty="0">
                  <a:solidFill>
                    <a:srgbClr val="0000FF"/>
                  </a:solidFill>
                  <a:latin typeface="Consolas" pitchFamily="49" charset="0"/>
                  <a:cs typeface="Consolas" pitchFamily="49" charset="0"/>
                </a:rPr>
                <a:t>/2</a:t>
              </a:r>
              <a:endParaRPr lang="zh-CN" altLang="en-US" sz="1200" dirty="0">
                <a:solidFill>
                  <a:srgbClr val="0000FF"/>
                </a:solidFill>
                <a:latin typeface="Consolas" pitchFamily="49" charset="0"/>
                <a:cs typeface="Consolas" pitchFamily="49" charset="0"/>
              </a:endParaRPr>
            </a:p>
          </p:txBody>
        </p:sp>
        <p:sp>
          <p:nvSpPr>
            <p:cNvPr id="10" name="椭圆 9">
              <a:extLst>
                <a:ext uri="{FF2B5EF4-FFF2-40B4-BE49-F238E27FC236}">
                  <a16:creationId xmlns:a16="http://schemas.microsoft.com/office/drawing/2014/main" xmlns="" id="{2CDE96FB-3C8D-36A0-8FC9-BD898A4374A9}"/>
                </a:ext>
              </a:extLst>
            </p:cNvPr>
            <p:cNvSpPr/>
            <p:nvPr/>
          </p:nvSpPr>
          <p:spPr>
            <a:xfrm>
              <a:off x="3428992" y="4857760"/>
              <a:ext cx="714380" cy="523361"/>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400" i="1" dirty="0" err="1">
                  <a:solidFill>
                    <a:srgbClr val="0000FF"/>
                  </a:solidFill>
                  <a:latin typeface="Consolas" pitchFamily="49" charset="0"/>
                  <a:cs typeface="Consolas" pitchFamily="49" charset="0"/>
                </a:rPr>
                <a:t>i</a:t>
              </a:r>
              <a:endParaRPr lang="zh-CN" altLang="en-US" sz="1400" dirty="0">
                <a:solidFill>
                  <a:srgbClr val="0000FF"/>
                </a:solidFill>
                <a:latin typeface="Consolas" pitchFamily="49" charset="0"/>
                <a:cs typeface="Consolas" pitchFamily="49" charset="0"/>
              </a:endParaRPr>
            </a:p>
          </p:txBody>
        </p:sp>
        <p:sp>
          <p:nvSpPr>
            <p:cNvPr id="11" name="椭圆 10">
              <a:extLst>
                <a:ext uri="{FF2B5EF4-FFF2-40B4-BE49-F238E27FC236}">
                  <a16:creationId xmlns:a16="http://schemas.microsoft.com/office/drawing/2014/main" xmlns="" id="{C6D89A82-46E2-AE2C-8758-5C130E4E6FC6}"/>
                </a:ext>
              </a:extLst>
            </p:cNvPr>
            <p:cNvSpPr/>
            <p:nvPr/>
          </p:nvSpPr>
          <p:spPr>
            <a:xfrm>
              <a:off x="2500298" y="5643578"/>
              <a:ext cx="714380" cy="523361"/>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400" dirty="0" err="1">
                  <a:solidFill>
                    <a:srgbClr val="0000FF"/>
                  </a:solidFill>
                  <a:latin typeface="Consolas" pitchFamily="49" charset="0"/>
                  <a:cs typeface="Consolas" pitchFamily="49" charset="0"/>
                </a:rPr>
                <a:t>2</a:t>
              </a:r>
              <a:r>
                <a:rPr lang="en-US" altLang="zh-CN" sz="1400" i="1" dirty="0" err="1">
                  <a:solidFill>
                    <a:srgbClr val="0000FF"/>
                  </a:solidFill>
                  <a:latin typeface="Consolas" pitchFamily="49" charset="0"/>
                  <a:cs typeface="Consolas" pitchFamily="49" charset="0"/>
                </a:rPr>
                <a:t>i</a:t>
              </a:r>
              <a:endParaRPr lang="zh-CN" altLang="en-US" sz="1400" dirty="0">
                <a:solidFill>
                  <a:srgbClr val="0000FF"/>
                </a:solidFill>
                <a:latin typeface="Consolas" pitchFamily="49" charset="0"/>
                <a:cs typeface="Consolas" pitchFamily="49" charset="0"/>
              </a:endParaRPr>
            </a:p>
          </p:txBody>
        </p:sp>
        <p:sp>
          <p:nvSpPr>
            <p:cNvPr id="12" name="椭圆 11">
              <a:extLst>
                <a:ext uri="{FF2B5EF4-FFF2-40B4-BE49-F238E27FC236}">
                  <a16:creationId xmlns:a16="http://schemas.microsoft.com/office/drawing/2014/main" xmlns="" id="{6BE9C1DB-8B4A-9423-B37A-38FF9FC56035}"/>
                </a:ext>
              </a:extLst>
            </p:cNvPr>
            <p:cNvSpPr/>
            <p:nvPr/>
          </p:nvSpPr>
          <p:spPr>
            <a:xfrm>
              <a:off x="4153954" y="5643578"/>
              <a:ext cx="1000132" cy="523361"/>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200" dirty="0" err="1">
                  <a:solidFill>
                    <a:srgbClr val="0000FF"/>
                  </a:solidFill>
                  <a:latin typeface="Consolas" pitchFamily="49" charset="0"/>
                  <a:cs typeface="Consolas" pitchFamily="49" charset="0"/>
                </a:rPr>
                <a:t>2</a:t>
              </a:r>
              <a:r>
                <a:rPr lang="en-US" altLang="zh-CN" sz="1200" i="1" dirty="0" err="1">
                  <a:solidFill>
                    <a:srgbClr val="0000FF"/>
                  </a:solidFill>
                  <a:latin typeface="Consolas" pitchFamily="49" charset="0"/>
                  <a:cs typeface="Consolas" pitchFamily="49" charset="0"/>
                </a:rPr>
                <a:t>i</a:t>
              </a:r>
              <a:r>
                <a:rPr lang="en-US" altLang="zh-CN" sz="1200" dirty="0" err="1">
                  <a:solidFill>
                    <a:srgbClr val="0000FF"/>
                  </a:solidFill>
                  <a:latin typeface="Consolas" pitchFamily="49" charset="0"/>
                  <a:cs typeface="Consolas" pitchFamily="49" charset="0"/>
                </a:rPr>
                <a:t>+1</a:t>
              </a:r>
              <a:endParaRPr lang="zh-CN" altLang="en-US" sz="1200" dirty="0">
                <a:solidFill>
                  <a:srgbClr val="0000FF"/>
                </a:solidFill>
                <a:latin typeface="Consolas" pitchFamily="49" charset="0"/>
                <a:cs typeface="Consolas" pitchFamily="49" charset="0"/>
              </a:endParaRPr>
            </a:p>
          </p:txBody>
        </p:sp>
        <p:cxnSp>
          <p:nvCxnSpPr>
            <p:cNvPr id="13" name="直接连接符 12">
              <a:extLst>
                <a:ext uri="{FF2B5EF4-FFF2-40B4-BE49-F238E27FC236}">
                  <a16:creationId xmlns:a16="http://schemas.microsoft.com/office/drawing/2014/main" xmlns="" id="{A19D32F4-7190-958F-36C0-9D3BDC131DE1}"/>
                </a:ext>
              </a:extLst>
            </p:cNvPr>
            <p:cNvCxnSpPr>
              <a:stCxn id="9" idx="4"/>
              <a:endCxn id="10" idx="0"/>
            </p:cNvCxnSpPr>
            <p:nvPr/>
          </p:nvCxnSpPr>
          <p:spPr>
            <a:xfrm rot="5400000">
              <a:off x="3619235" y="4690812"/>
              <a:ext cx="333895" cy="1588"/>
            </a:xfrm>
            <a:prstGeom prst="line">
              <a:avLst/>
            </a:prstGeom>
            <a:ln w="28575">
              <a:solidFill>
                <a:srgbClr val="FF00FF"/>
              </a:solidFill>
              <a:tailEnd type="none"/>
            </a:ln>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xmlns="" id="{15FA20C9-321E-5530-E1A5-801C2CBD9551}"/>
                </a:ext>
              </a:extLst>
            </p:cNvPr>
            <p:cNvCxnSpPr>
              <a:stCxn id="10" idx="3"/>
              <a:endCxn id="11" idx="7"/>
            </p:cNvCxnSpPr>
            <p:nvPr/>
          </p:nvCxnSpPr>
          <p:spPr>
            <a:xfrm rot="5400000">
              <a:off x="3113963" y="5300573"/>
              <a:ext cx="415745" cy="423552"/>
            </a:xfrm>
            <a:prstGeom prst="line">
              <a:avLst/>
            </a:prstGeom>
            <a:ln w="28575">
              <a:solidFill>
                <a:srgbClr val="FF00FF"/>
              </a:solidFill>
              <a:tailEnd type="none"/>
            </a:ln>
          </p:spPr>
          <p:style>
            <a:lnRef idx="1">
              <a:schemeClr val="dk1"/>
            </a:lnRef>
            <a:fillRef idx="0">
              <a:schemeClr val="dk1"/>
            </a:fillRef>
            <a:effectRef idx="0">
              <a:schemeClr val="dk1"/>
            </a:effectRef>
            <a:fontRef idx="minor">
              <a:schemeClr val="tx1"/>
            </a:fontRef>
          </p:style>
        </p:cxnSp>
        <p:cxnSp>
          <p:nvCxnSpPr>
            <p:cNvPr id="15" name="直接箭头连接符 14">
              <a:extLst>
                <a:ext uri="{FF2B5EF4-FFF2-40B4-BE49-F238E27FC236}">
                  <a16:creationId xmlns:a16="http://schemas.microsoft.com/office/drawing/2014/main" xmlns="" id="{F4E2E8F8-6704-648C-540E-5627E7476556}"/>
                </a:ext>
              </a:extLst>
            </p:cNvPr>
            <p:cNvCxnSpPr>
              <a:stCxn id="10" idx="5"/>
              <a:endCxn id="12" idx="1"/>
            </p:cNvCxnSpPr>
            <p:nvPr/>
          </p:nvCxnSpPr>
          <p:spPr>
            <a:xfrm rot="16200000" flipH="1">
              <a:off x="3961713" y="5381515"/>
              <a:ext cx="415748" cy="261665"/>
            </a:xfrm>
            <a:prstGeom prst="straightConnector1">
              <a:avLst/>
            </a:prstGeom>
            <a:ln w="28575">
              <a:solidFill>
                <a:srgbClr val="FF00FF"/>
              </a:solidFill>
              <a:tailEnd type="none"/>
            </a:ln>
          </p:spPr>
          <p:style>
            <a:lnRef idx="1">
              <a:schemeClr val="dk1"/>
            </a:lnRef>
            <a:fillRef idx="0">
              <a:schemeClr val="dk1"/>
            </a:fillRef>
            <a:effectRef idx="0">
              <a:schemeClr val="dk1"/>
            </a:effectRef>
            <a:fontRef idx="minor">
              <a:schemeClr val="tx1"/>
            </a:fontRef>
          </p:style>
        </p:cxnSp>
      </p:grpSp>
      <p:sp>
        <p:nvSpPr>
          <p:cNvPr id="60" name="文本框 59">
            <a:extLst>
              <a:ext uri="{FF2B5EF4-FFF2-40B4-BE49-F238E27FC236}">
                <a16:creationId xmlns:a16="http://schemas.microsoft.com/office/drawing/2014/main" xmlns="" id="{8E6D229F-5DAB-45C3-8899-6037705B2BE9}"/>
              </a:ext>
            </a:extLst>
          </p:cNvPr>
          <p:cNvSpPr txBox="1"/>
          <p:nvPr/>
        </p:nvSpPr>
        <p:spPr>
          <a:xfrm>
            <a:off x="1474878" y="1585160"/>
            <a:ext cx="3546380" cy="400110"/>
          </a:xfrm>
          <a:prstGeom prst="rect">
            <a:avLst/>
          </a:prstGeom>
          <a:noFill/>
        </p:spPr>
        <p:txBody>
          <a:bodyPr wrap="square">
            <a:spAutoFit/>
          </a:bodyPr>
          <a:lstStyle/>
          <a:p>
            <a:pPr>
              <a:spcBef>
                <a:spcPct val="50000"/>
              </a:spcBef>
            </a:pPr>
            <a:r>
              <a:rPr kumimoji="1" lang="zh-CN" altLang="en-US" sz="2000" dirty="0">
                <a:latin typeface="微软雅黑" pitchFamily="34" charset="-122"/>
                <a:ea typeface="微软雅黑" pitchFamily="34" charset="-122"/>
                <a:cs typeface="经典粗黑简" pitchFamily="49" charset="-122"/>
              </a:rPr>
              <a:t>二叉树顺序存储结构的特点：</a:t>
            </a:r>
          </a:p>
        </p:txBody>
      </p:sp>
      <p:sp>
        <p:nvSpPr>
          <p:cNvPr id="61" name="Rectangle 2">
            <a:extLst>
              <a:ext uri="{FF2B5EF4-FFF2-40B4-BE49-F238E27FC236}">
                <a16:creationId xmlns:a16="http://schemas.microsoft.com/office/drawing/2014/main" xmlns="" id="{0CE91F82-0089-2772-1351-99DF83F70CB9}"/>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7.3.1 </a:t>
            </a:r>
            <a:r>
              <a:rPr lang="zh-CN" altLang="en-US" dirty="0"/>
              <a:t>二叉树的顺序存储结构</a:t>
            </a:r>
          </a:p>
        </p:txBody>
      </p:sp>
      <p:sp>
        <p:nvSpPr>
          <p:cNvPr id="62" name="矩形 61">
            <a:extLst>
              <a:ext uri="{FF2B5EF4-FFF2-40B4-BE49-F238E27FC236}">
                <a16:creationId xmlns:a16="http://schemas.microsoft.com/office/drawing/2014/main" xmlns="" id="{63B1BE40-2C81-1C98-4DB4-79A4EE9898D1}"/>
              </a:ext>
            </a:extLst>
          </p:cNvPr>
          <p:cNvSpPr/>
          <p:nvPr/>
        </p:nvSpPr>
        <p:spPr>
          <a:xfrm>
            <a:off x="1460801" y="2362020"/>
            <a:ext cx="8536939" cy="1015663"/>
          </a:xfrm>
          <a:prstGeom prst="rect">
            <a:avLst/>
          </a:prstGeom>
        </p:spPr>
        <p:txBody>
          <a:bodyPr wrap="square">
            <a:spAutoFit/>
          </a:bodyPr>
          <a:lstStyle/>
          <a:p>
            <a:pPr>
              <a:defRPr/>
            </a:pPr>
            <a:r>
              <a:rPr kumimoji="1" lang="zh-CN" altLang="en-US" sz="2000" dirty="0">
                <a:latin typeface="微软雅黑" pitchFamily="34" charset="-122"/>
                <a:ea typeface="微软雅黑" pitchFamily="34" charset="-122"/>
                <a:cs typeface="经典粗黑简" pitchFamily="49" charset="-122"/>
              </a:rPr>
              <a:t>对于满二叉树、完全二叉树来说，顺序存储结构的存储效率极高，所有的空间仅仅用来存储数据元素的值，结点之间关系的存储未占用任何空间， 找一个结点的双亲和孩子都很容易，其顺序存储是十分合适的。</a:t>
            </a:r>
          </a:p>
        </p:txBody>
      </p:sp>
      <p:grpSp>
        <p:nvGrpSpPr>
          <p:cNvPr id="63" name="Group 4">
            <a:extLst>
              <a:ext uri="{FF2B5EF4-FFF2-40B4-BE49-F238E27FC236}">
                <a16:creationId xmlns:a16="http://schemas.microsoft.com/office/drawing/2014/main" xmlns="" id="{0BD6C543-0400-98F3-1A1B-BAD8D7A95CBF}"/>
              </a:ext>
            </a:extLst>
          </p:cNvPr>
          <p:cNvGrpSpPr>
            <a:grpSpLocks/>
          </p:cNvGrpSpPr>
          <p:nvPr/>
        </p:nvGrpSpPr>
        <p:grpSpPr bwMode="auto">
          <a:xfrm>
            <a:off x="1919376" y="4548940"/>
            <a:ext cx="2451597" cy="1752600"/>
            <a:chOff x="480" y="2640"/>
            <a:chExt cx="1392" cy="1104"/>
          </a:xfrm>
        </p:grpSpPr>
        <p:sp>
          <p:nvSpPr>
            <p:cNvPr id="192" name="Oval 5">
              <a:extLst>
                <a:ext uri="{FF2B5EF4-FFF2-40B4-BE49-F238E27FC236}">
                  <a16:creationId xmlns:a16="http://schemas.microsoft.com/office/drawing/2014/main" xmlns="" id="{BDB3FC78-3A39-71F9-AEDF-B85EBC83F45F}"/>
                </a:ext>
              </a:extLst>
            </p:cNvPr>
            <p:cNvSpPr>
              <a:spLocks noChangeArrowheads="1"/>
            </p:cNvSpPr>
            <p:nvPr/>
          </p:nvSpPr>
          <p:spPr bwMode="auto">
            <a:xfrm>
              <a:off x="912" y="3504"/>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dirty="0">
                  <a:effectLst>
                    <a:outerShdw blurRad="38100" dist="38100" dir="2700000" algn="tl">
                      <a:srgbClr val="000000"/>
                    </a:outerShdw>
                  </a:effectLst>
                  <a:latin typeface="Times New Roman" pitchFamily="18" charset="0"/>
                </a:rPr>
                <a:t>E</a:t>
              </a:r>
            </a:p>
          </p:txBody>
        </p:sp>
        <p:cxnSp>
          <p:nvCxnSpPr>
            <p:cNvPr id="193" name="AutoShape 6">
              <a:extLst>
                <a:ext uri="{FF2B5EF4-FFF2-40B4-BE49-F238E27FC236}">
                  <a16:creationId xmlns:a16="http://schemas.microsoft.com/office/drawing/2014/main" xmlns="" id="{70771904-BEBD-1FA1-4ADE-34BB474CB779}"/>
                </a:ext>
              </a:extLst>
            </p:cNvPr>
            <p:cNvCxnSpPr>
              <a:cxnSpLocks noChangeShapeType="1"/>
              <a:stCxn id="192" idx="0"/>
              <a:endCxn id="199" idx="4"/>
            </p:cNvCxnSpPr>
            <p:nvPr/>
          </p:nvCxnSpPr>
          <p:spPr bwMode="auto">
            <a:xfrm flipH="1" flipV="1">
              <a:off x="840" y="3264"/>
              <a:ext cx="192" cy="24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94" name="Oval 7">
              <a:extLst>
                <a:ext uri="{FF2B5EF4-FFF2-40B4-BE49-F238E27FC236}">
                  <a16:creationId xmlns:a16="http://schemas.microsoft.com/office/drawing/2014/main" xmlns="" id="{E24499AC-14D6-38A0-9D63-64009211A270}"/>
                </a:ext>
              </a:extLst>
            </p:cNvPr>
            <p:cNvSpPr>
              <a:spLocks noChangeArrowheads="1"/>
            </p:cNvSpPr>
            <p:nvPr/>
          </p:nvSpPr>
          <p:spPr bwMode="auto">
            <a:xfrm>
              <a:off x="480" y="3504"/>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D</a:t>
              </a:r>
            </a:p>
          </p:txBody>
        </p:sp>
        <p:cxnSp>
          <p:nvCxnSpPr>
            <p:cNvPr id="195" name="AutoShape 8">
              <a:extLst>
                <a:ext uri="{FF2B5EF4-FFF2-40B4-BE49-F238E27FC236}">
                  <a16:creationId xmlns:a16="http://schemas.microsoft.com/office/drawing/2014/main" xmlns="" id="{3124EC9E-F72E-951A-0E1C-8DD3F061926D}"/>
                </a:ext>
              </a:extLst>
            </p:cNvPr>
            <p:cNvCxnSpPr>
              <a:cxnSpLocks noChangeShapeType="1"/>
            </p:cNvCxnSpPr>
            <p:nvPr/>
          </p:nvCxnSpPr>
          <p:spPr bwMode="auto">
            <a:xfrm flipH="1">
              <a:off x="624" y="3264"/>
              <a:ext cx="166" cy="24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96" name="Oval 9">
              <a:extLst>
                <a:ext uri="{FF2B5EF4-FFF2-40B4-BE49-F238E27FC236}">
                  <a16:creationId xmlns:a16="http://schemas.microsoft.com/office/drawing/2014/main" xmlns="" id="{F9E4935A-62BD-4F84-5D98-EA950159FD76}"/>
                </a:ext>
              </a:extLst>
            </p:cNvPr>
            <p:cNvSpPr>
              <a:spLocks noChangeArrowheads="1"/>
            </p:cNvSpPr>
            <p:nvPr/>
          </p:nvSpPr>
          <p:spPr bwMode="auto">
            <a:xfrm>
              <a:off x="1632" y="3024"/>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dirty="0">
                  <a:latin typeface="Times New Roman" pitchFamily="18" charset="0"/>
                </a:rPr>
                <a:t>C</a:t>
              </a:r>
            </a:p>
          </p:txBody>
        </p:sp>
        <p:sp>
          <p:nvSpPr>
            <p:cNvPr id="197" name="Oval 10">
              <a:extLst>
                <a:ext uri="{FF2B5EF4-FFF2-40B4-BE49-F238E27FC236}">
                  <a16:creationId xmlns:a16="http://schemas.microsoft.com/office/drawing/2014/main" xmlns="" id="{4F6EB797-D290-1CB6-DE36-6CBF7DC4155F}"/>
                </a:ext>
              </a:extLst>
            </p:cNvPr>
            <p:cNvSpPr>
              <a:spLocks noChangeArrowheads="1"/>
            </p:cNvSpPr>
            <p:nvPr/>
          </p:nvSpPr>
          <p:spPr bwMode="auto">
            <a:xfrm>
              <a:off x="1344" y="3504"/>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F</a:t>
              </a:r>
            </a:p>
          </p:txBody>
        </p:sp>
        <p:sp>
          <p:nvSpPr>
            <p:cNvPr id="198" name="Oval 11">
              <a:extLst>
                <a:ext uri="{FF2B5EF4-FFF2-40B4-BE49-F238E27FC236}">
                  <a16:creationId xmlns:a16="http://schemas.microsoft.com/office/drawing/2014/main" xmlns="" id="{03B9F58B-FD7C-A05C-5535-229E87A98EA6}"/>
                </a:ext>
              </a:extLst>
            </p:cNvPr>
            <p:cNvSpPr>
              <a:spLocks noChangeArrowheads="1"/>
            </p:cNvSpPr>
            <p:nvPr/>
          </p:nvSpPr>
          <p:spPr bwMode="auto">
            <a:xfrm>
              <a:off x="1200" y="2640"/>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A</a:t>
              </a:r>
            </a:p>
          </p:txBody>
        </p:sp>
        <p:sp>
          <p:nvSpPr>
            <p:cNvPr id="199" name="Oval 12">
              <a:extLst>
                <a:ext uri="{FF2B5EF4-FFF2-40B4-BE49-F238E27FC236}">
                  <a16:creationId xmlns:a16="http://schemas.microsoft.com/office/drawing/2014/main" xmlns="" id="{A28FCFB9-5E4B-CDDE-F6BE-E6EACB3C9691}"/>
                </a:ext>
              </a:extLst>
            </p:cNvPr>
            <p:cNvSpPr>
              <a:spLocks noChangeArrowheads="1"/>
            </p:cNvSpPr>
            <p:nvPr/>
          </p:nvSpPr>
          <p:spPr bwMode="auto">
            <a:xfrm>
              <a:off x="720" y="3024"/>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B</a:t>
              </a:r>
            </a:p>
          </p:txBody>
        </p:sp>
        <p:cxnSp>
          <p:nvCxnSpPr>
            <p:cNvPr id="200" name="AutoShape 13">
              <a:extLst>
                <a:ext uri="{FF2B5EF4-FFF2-40B4-BE49-F238E27FC236}">
                  <a16:creationId xmlns:a16="http://schemas.microsoft.com/office/drawing/2014/main" xmlns="" id="{E60C441D-3498-654E-8E08-7480D2B94548}"/>
                </a:ext>
              </a:extLst>
            </p:cNvPr>
            <p:cNvCxnSpPr>
              <a:cxnSpLocks noChangeShapeType="1"/>
              <a:stCxn id="196" idx="3"/>
              <a:endCxn id="197" idx="7"/>
            </p:cNvCxnSpPr>
            <p:nvPr/>
          </p:nvCxnSpPr>
          <p:spPr bwMode="auto">
            <a:xfrm flipH="1">
              <a:off x="1549" y="3229"/>
              <a:ext cx="118" cy="31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01" name="AutoShape 14">
              <a:extLst>
                <a:ext uri="{FF2B5EF4-FFF2-40B4-BE49-F238E27FC236}">
                  <a16:creationId xmlns:a16="http://schemas.microsoft.com/office/drawing/2014/main" xmlns="" id="{E93F00BD-A9F6-3217-248C-4CCB0B78D597}"/>
                </a:ext>
              </a:extLst>
            </p:cNvPr>
            <p:cNvCxnSpPr>
              <a:cxnSpLocks noChangeShapeType="1"/>
              <a:stCxn id="198" idx="5"/>
              <a:endCxn id="196" idx="1"/>
            </p:cNvCxnSpPr>
            <p:nvPr/>
          </p:nvCxnSpPr>
          <p:spPr bwMode="auto">
            <a:xfrm>
              <a:off x="1405" y="2845"/>
              <a:ext cx="262" cy="21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02" name="AutoShape 15">
              <a:extLst>
                <a:ext uri="{FF2B5EF4-FFF2-40B4-BE49-F238E27FC236}">
                  <a16:creationId xmlns:a16="http://schemas.microsoft.com/office/drawing/2014/main" xmlns="" id="{30C5E8F8-5662-9E74-9282-4463CE5990FF}"/>
                </a:ext>
              </a:extLst>
            </p:cNvPr>
            <p:cNvCxnSpPr>
              <a:cxnSpLocks noChangeShapeType="1"/>
              <a:stCxn id="198" idx="3"/>
              <a:endCxn id="199" idx="7"/>
            </p:cNvCxnSpPr>
            <p:nvPr/>
          </p:nvCxnSpPr>
          <p:spPr bwMode="auto">
            <a:xfrm flipH="1">
              <a:off x="925" y="2845"/>
              <a:ext cx="310" cy="21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
        <p:nvSpPr>
          <p:cNvPr id="203" name="Rectangle 17">
            <a:extLst>
              <a:ext uri="{FF2B5EF4-FFF2-40B4-BE49-F238E27FC236}">
                <a16:creationId xmlns:a16="http://schemas.microsoft.com/office/drawing/2014/main" xmlns="" id="{C768FCF2-DCB9-D5F5-6FA5-969D28B345CB}"/>
              </a:ext>
            </a:extLst>
          </p:cNvPr>
          <p:cNvSpPr>
            <a:spLocks noChangeArrowheads="1"/>
          </p:cNvSpPr>
          <p:nvPr/>
        </p:nvSpPr>
        <p:spPr bwMode="auto">
          <a:xfrm>
            <a:off x="4397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A</a:t>
            </a:r>
          </a:p>
        </p:txBody>
      </p:sp>
      <p:sp>
        <p:nvSpPr>
          <p:cNvPr id="204" name="Rectangle 18">
            <a:extLst>
              <a:ext uri="{FF2B5EF4-FFF2-40B4-BE49-F238E27FC236}">
                <a16:creationId xmlns:a16="http://schemas.microsoft.com/office/drawing/2014/main" xmlns="" id="{54013E54-80A3-3830-2A27-8EABE3003F96}"/>
              </a:ext>
            </a:extLst>
          </p:cNvPr>
          <p:cNvSpPr>
            <a:spLocks noChangeArrowheads="1"/>
          </p:cNvSpPr>
          <p:nvPr/>
        </p:nvSpPr>
        <p:spPr bwMode="auto">
          <a:xfrm>
            <a:off x="4778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B</a:t>
            </a:r>
          </a:p>
        </p:txBody>
      </p:sp>
      <p:sp>
        <p:nvSpPr>
          <p:cNvPr id="205" name="Rectangle 19">
            <a:extLst>
              <a:ext uri="{FF2B5EF4-FFF2-40B4-BE49-F238E27FC236}">
                <a16:creationId xmlns:a16="http://schemas.microsoft.com/office/drawing/2014/main" xmlns="" id="{888D34A4-2728-2774-759D-F561B83C6F2B}"/>
              </a:ext>
            </a:extLst>
          </p:cNvPr>
          <p:cNvSpPr>
            <a:spLocks noChangeArrowheads="1"/>
          </p:cNvSpPr>
          <p:nvPr/>
        </p:nvSpPr>
        <p:spPr bwMode="auto">
          <a:xfrm>
            <a:off x="5159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C</a:t>
            </a:r>
          </a:p>
        </p:txBody>
      </p:sp>
      <p:sp>
        <p:nvSpPr>
          <p:cNvPr id="206" name="Rectangle 20">
            <a:extLst>
              <a:ext uri="{FF2B5EF4-FFF2-40B4-BE49-F238E27FC236}">
                <a16:creationId xmlns:a16="http://schemas.microsoft.com/office/drawing/2014/main" xmlns="" id="{D32A5878-3981-E12D-C3C4-FE3002491FBC}"/>
              </a:ext>
            </a:extLst>
          </p:cNvPr>
          <p:cNvSpPr>
            <a:spLocks noChangeArrowheads="1"/>
          </p:cNvSpPr>
          <p:nvPr/>
        </p:nvSpPr>
        <p:spPr bwMode="auto">
          <a:xfrm>
            <a:off x="5540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D</a:t>
            </a:r>
          </a:p>
        </p:txBody>
      </p:sp>
      <p:sp>
        <p:nvSpPr>
          <p:cNvPr id="207" name="Rectangle 21">
            <a:extLst>
              <a:ext uri="{FF2B5EF4-FFF2-40B4-BE49-F238E27FC236}">
                <a16:creationId xmlns:a16="http://schemas.microsoft.com/office/drawing/2014/main" xmlns="" id="{2F775E3B-2688-53AA-77CF-486EC8928758}"/>
              </a:ext>
            </a:extLst>
          </p:cNvPr>
          <p:cNvSpPr>
            <a:spLocks noChangeArrowheads="1"/>
          </p:cNvSpPr>
          <p:nvPr/>
        </p:nvSpPr>
        <p:spPr bwMode="auto">
          <a:xfrm>
            <a:off x="5921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E</a:t>
            </a:r>
          </a:p>
        </p:txBody>
      </p:sp>
      <p:sp>
        <p:nvSpPr>
          <p:cNvPr id="208" name="Rectangle 22">
            <a:extLst>
              <a:ext uri="{FF2B5EF4-FFF2-40B4-BE49-F238E27FC236}">
                <a16:creationId xmlns:a16="http://schemas.microsoft.com/office/drawing/2014/main" xmlns="" id="{B6FB74CD-FE79-A4DD-732A-D3839E0A53F1}"/>
              </a:ext>
            </a:extLst>
          </p:cNvPr>
          <p:cNvSpPr>
            <a:spLocks noChangeArrowheads="1"/>
          </p:cNvSpPr>
          <p:nvPr/>
        </p:nvSpPr>
        <p:spPr bwMode="auto">
          <a:xfrm>
            <a:off x="6302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F</a:t>
            </a:r>
          </a:p>
        </p:txBody>
      </p:sp>
      <p:sp>
        <p:nvSpPr>
          <p:cNvPr id="209" name="Rectangle 23">
            <a:extLst>
              <a:ext uri="{FF2B5EF4-FFF2-40B4-BE49-F238E27FC236}">
                <a16:creationId xmlns:a16="http://schemas.microsoft.com/office/drawing/2014/main" xmlns="" id="{F490DD09-B1CB-A1A3-8995-EBF81BD863F3}"/>
              </a:ext>
            </a:extLst>
          </p:cNvPr>
          <p:cNvSpPr>
            <a:spLocks noChangeArrowheads="1"/>
          </p:cNvSpPr>
          <p:nvPr/>
        </p:nvSpPr>
        <p:spPr bwMode="auto">
          <a:xfrm>
            <a:off x="6683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210" name="Rectangle 24">
            <a:extLst>
              <a:ext uri="{FF2B5EF4-FFF2-40B4-BE49-F238E27FC236}">
                <a16:creationId xmlns:a16="http://schemas.microsoft.com/office/drawing/2014/main" xmlns="" id="{372284EC-0855-5292-D087-D2E3DC02F026}"/>
              </a:ext>
            </a:extLst>
          </p:cNvPr>
          <p:cNvSpPr>
            <a:spLocks noChangeArrowheads="1"/>
          </p:cNvSpPr>
          <p:nvPr/>
        </p:nvSpPr>
        <p:spPr bwMode="auto">
          <a:xfrm>
            <a:off x="7064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211" name="Rectangle 25">
            <a:extLst>
              <a:ext uri="{FF2B5EF4-FFF2-40B4-BE49-F238E27FC236}">
                <a16:creationId xmlns:a16="http://schemas.microsoft.com/office/drawing/2014/main" xmlns="" id="{A0F7B3BF-E1BB-BCFB-BDFB-8CB10A909BDB}"/>
              </a:ext>
            </a:extLst>
          </p:cNvPr>
          <p:cNvSpPr>
            <a:spLocks noChangeArrowheads="1"/>
          </p:cNvSpPr>
          <p:nvPr/>
        </p:nvSpPr>
        <p:spPr bwMode="auto">
          <a:xfrm>
            <a:off x="7445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212" name="Rectangle 26">
            <a:extLst>
              <a:ext uri="{FF2B5EF4-FFF2-40B4-BE49-F238E27FC236}">
                <a16:creationId xmlns:a16="http://schemas.microsoft.com/office/drawing/2014/main" xmlns="" id="{DE6111A6-90F9-F63A-1EE9-58B04EF95809}"/>
              </a:ext>
            </a:extLst>
          </p:cNvPr>
          <p:cNvSpPr>
            <a:spLocks noChangeArrowheads="1"/>
          </p:cNvSpPr>
          <p:nvPr/>
        </p:nvSpPr>
        <p:spPr bwMode="auto">
          <a:xfrm>
            <a:off x="7826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213" name="Rectangle 27">
            <a:extLst>
              <a:ext uri="{FF2B5EF4-FFF2-40B4-BE49-F238E27FC236}">
                <a16:creationId xmlns:a16="http://schemas.microsoft.com/office/drawing/2014/main" xmlns="" id="{8835E655-5DC8-BE48-EBFE-1A57ED2396EC}"/>
              </a:ext>
            </a:extLst>
          </p:cNvPr>
          <p:cNvSpPr>
            <a:spLocks noChangeArrowheads="1"/>
          </p:cNvSpPr>
          <p:nvPr/>
        </p:nvSpPr>
        <p:spPr bwMode="auto">
          <a:xfrm>
            <a:off x="8207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214" name="Rectangle 28">
            <a:extLst>
              <a:ext uri="{FF2B5EF4-FFF2-40B4-BE49-F238E27FC236}">
                <a16:creationId xmlns:a16="http://schemas.microsoft.com/office/drawing/2014/main" xmlns="" id="{2B47D617-9B33-8B86-0A19-4FF095AA3CB6}"/>
              </a:ext>
            </a:extLst>
          </p:cNvPr>
          <p:cNvSpPr>
            <a:spLocks noChangeArrowheads="1"/>
          </p:cNvSpPr>
          <p:nvPr/>
        </p:nvSpPr>
        <p:spPr bwMode="auto">
          <a:xfrm>
            <a:off x="8588896" y="4891840"/>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215" name="Rectangle 29">
            <a:extLst>
              <a:ext uri="{FF2B5EF4-FFF2-40B4-BE49-F238E27FC236}">
                <a16:creationId xmlns:a16="http://schemas.microsoft.com/office/drawing/2014/main" xmlns="" id="{DD15DC4E-97A2-173B-58FB-394E9B37EF46}"/>
              </a:ext>
            </a:extLst>
          </p:cNvPr>
          <p:cNvSpPr>
            <a:spLocks noChangeArrowheads="1"/>
          </p:cNvSpPr>
          <p:nvPr/>
        </p:nvSpPr>
        <p:spPr bwMode="auto">
          <a:xfrm>
            <a:off x="4397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1</a:t>
            </a:r>
          </a:p>
        </p:txBody>
      </p:sp>
      <p:sp>
        <p:nvSpPr>
          <p:cNvPr id="216" name="Rectangle 30">
            <a:extLst>
              <a:ext uri="{FF2B5EF4-FFF2-40B4-BE49-F238E27FC236}">
                <a16:creationId xmlns:a16="http://schemas.microsoft.com/office/drawing/2014/main" xmlns="" id="{C3A352CB-4853-B6D7-7BE6-9E1E6EE3CD19}"/>
              </a:ext>
            </a:extLst>
          </p:cNvPr>
          <p:cNvSpPr>
            <a:spLocks noChangeArrowheads="1"/>
          </p:cNvSpPr>
          <p:nvPr/>
        </p:nvSpPr>
        <p:spPr bwMode="auto">
          <a:xfrm>
            <a:off x="4778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2</a:t>
            </a:r>
          </a:p>
        </p:txBody>
      </p:sp>
      <p:sp>
        <p:nvSpPr>
          <p:cNvPr id="217" name="Rectangle 31">
            <a:extLst>
              <a:ext uri="{FF2B5EF4-FFF2-40B4-BE49-F238E27FC236}">
                <a16:creationId xmlns:a16="http://schemas.microsoft.com/office/drawing/2014/main" xmlns="" id="{B71C482D-37BB-E9E4-5253-15FE51C350CF}"/>
              </a:ext>
            </a:extLst>
          </p:cNvPr>
          <p:cNvSpPr>
            <a:spLocks noChangeArrowheads="1"/>
          </p:cNvSpPr>
          <p:nvPr/>
        </p:nvSpPr>
        <p:spPr bwMode="auto">
          <a:xfrm>
            <a:off x="5159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3</a:t>
            </a:r>
          </a:p>
        </p:txBody>
      </p:sp>
      <p:sp>
        <p:nvSpPr>
          <p:cNvPr id="218" name="Rectangle 32">
            <a:extLst>
              <a:ext uri="{FF2B5EF4-FFF2-40B4-BE49-F238E27FC236}">
                <a16:creationId xmlns:a16="http://schemas.microsoft.com/office/drawing/2014/main" xmlns="" id="{64569265-D4F7-CBF8-5DF8-3163BF1EC6A2}"/>
              </a:ext>
            </a:extLst>
          </p:cNvPr>
          <p:cNvSpPr>
            <a:spLocks noChangeArrowheads="1"/>
          </p:cNvSpPr>
          <p:nvPr/>
        </p:nvSpPr>
        <p:spPr bwMode="auto">
          <a:xfrm>
            <a:off x="5540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4</a:t>
            </a:r>
          </a:p>
        </p:txBody>
      </p:sp>
      <p:sp>
        <p:nvSpPr>
          <p:cNvPr id="219" name="Rectangle 33">
            <a:extLst>
              <a:ext uri="{FF2B5EF4-FFF2-40B4-BE49-F238E27FC236}">
                <a16:creationId xmlns:a16="http://schemas.microsoft.com/office/drawing/2014/main" xmlns="" id="{511C9F17-6129-83CE-30F6-CFC256FCCC99}"/>
              </a:ext>
            </a:extLst>
          </p:cNvPr>
          <p:cNvSpPr>
            <a:spLocks noChangeArrowheads="1"/>
          </p:cNvSpPr>
          <p:nvPr/>
        </p:nvSpPr>
        <p:spPr bwMode="auto">
          <a:xfrm>
            <a:off x="5921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5</a:t>
            </a:r>
          </a:p>
        </p:txBody>
      </p:sp>
      <p:sp>
        <p:nvSpPr>
          <p:cNvPr id="220" name="Rectangle 34">
            <a:extLst>
              <a:ext uri="{FF2B5EF4-FFF2-40B4-BE49-F238E27FC236}">
                <a16:creationId xmlns:a16="http://schemas.microsoft.com/office/drawing/2014/main" xmlns="" id="{1CD8C8F0-A2D0-E150-8481-7E507B6CDE69}"/>
              </a:ext>
            </a:extLst>
          </p:cNvPr>
          <p:cNvSpPr>
            <a:spLocks noChangeArrowheads="1"/>
          </p:cNvSpPr>
          <p:nvPr/>
        </p:nvSpPr>
        <p:spPr bwMode="auto">
          <a:xfrm>
            <a:off x="6302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6</a:t>
            </a:r>
          </a:p>
        </p:txBody>
      </p:sp>
      <p:sp>
        <p:nvSpPr>
          <p:cNvPr id="221" name="Rectangle 35">
            <a:extLst>
              <a:ext uri="{FF2B5EF4-FFF2-40B4-BE49-F238E27FC236}">
                <a16:creationId xmlns:a16="http://schemas.microsoft.com/office/drawing/2014/main" xmlns="" id="{CB30892E-19FA-2898-D227-4641F2ADC560}"/>
              </a:ext>
            </a:extLst>
          </p:cNvPr>
          <p:cNvSpPr>
            <a:spLocks noChangeArrowheads="1"/>
          </p:cNvSpPr>
          <p:nvPr/>
        </p:nvSpPr>
        <p:spPr bwMode="auto">
          <a:xfrm>
            <a:off x="6683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7</a:t>
            </a:r>
          </a:p>
        </p:txBody>
      </p:sp>
      <p:sp>
        <p:nvSpPr>
          <p:cNvPr id="222" name="Rectangle 36">
            <a:extLst>
              <a:ext uri="{FF2B5EF4-FFF2-40B4-BE49-F238E27FC236}">
                <a16:creationId xmlns:a16="http://schemas.microsoft.com/office/drawing/2014/main" xmlns="" id="{A7AFE864-5251-022D-6865-CCA08A06DB58}"/>
              </a:ext>
            </a:extLst>
          </p:cNvPr>
          <p:cNvSpPr>
            <a:spLocks noChangeArrowheads="1"/>
          </p:cNvSpPr>
          <p:nvPr/>
        </p:nvSpPr>
        <p:spPr bwMode="auto">
          <a:xfrm>
            <a:off x="7064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8</a:t>
            </a:r>
          </a:p>
        </p:txBody>
      </p:sp>
      <p:sp>
        <p:nvSpPr>
          <p:cNvPr id="223" name="Rectangle 37">
            <a:extLst>
              <a:ext uri="{FF2B5EF4-FFF2-40B4-BE49-F238E27FC236}">
                <a16:creationId xmlns:a16="http://schemas.microsoft.com/office/drawing/2014/main" xmlns="" id="{05285171-3711-0A0F-8350-674502D2088F}"/>
              </a:ext>
            </a:extLst>
          </p:cNvPr>
          <p:cNvSpPr>
            <a:spLocks noChangeArrowheads="1"/>
          </p:cNvSpPr>
          <p:nvPr/>
        </p:nvSpPr>
        <p:spPr bwMode="auto">
          <a:xfrm>
            <a:off x="7445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9</a:t>
            </a:r>
          </a:p>
        </p:txBody>
      </p:sp>
      <p:sp>
        <p:nvSpPr>
          <p:cNvPr id="224" name="Rectangle 38">
            <a:extLst>
              <a:ext uri="{FF2B5EF4-FFF2-40B4-BE49-F238E27FC236}">
                <a16:creationId xmlns:a16="http://schemas.microsoft.com/office/drawing/2014/main" xmlns="" id="{D8A551E8-B702-A08F-F939-F56E6E00BFCB}"/>
              </a:ext>
            </a:extLst>
          </p:cNvPr>
          <p:cNvSpPr>
            <a:spLocks noChangeArrowheads="1"/>
          </p:cNvSpPr>
          <p:nvPr/>
        </p:nvSpPr>
        <p:spPr bwMode="auto">
          <a:xfrm>
            <a:off x="7826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10</a:t>
            </a:r>
          </a:p>
        </p:txBody>
      </p:sp>
      <p:sp>
        <p:nvSpPr>
          <p:cNvPr id="236" name="Rectangle 39">
            <a:extLst>
              <a:ext uri="{FF2B5EF4-FFF2-40B4-BE49-F238E27FC236}">
                <a16:creationId xmlns:a16="http://schemas.microsoft.com/office/drawing/2014/main" xmlns="" id="{B13B4F4D-0FD2-3B63-35E2-713E25BDAF60}"/>
              </a:ext>
            </a:extLst>
          </p:cNvPr>
          <p:cNvSpPr>
            <a:spLocks noChangeArrowheads="1"/>
          </p:cNvSpPr>
          <p:nvPr/>
        </p:nvSpPr>
        <p:spPr bwMode="auto">
          <a:xfrm>
            <a:off x="8207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11</a:t>
            </a:r>
          </a:p>
        </p:txBody>
      </p:sp>
      <p:sp>
        <p:nvSpPr>
          <p:cNvPr id="253" name="Rectangle 40">
            <a:extLst>
              <a:ext uri="{FF2B5EF4-FFF2-40B4-BE49-F238E27FC236}">
                <a16:creationId xmlns:a16="http://schemas.microsoft.com/office/drawing/2014/main" xmlns="" id="{4CE4EFCE-4700-832B-E6F9-19843BE944CB}"/>
              </a:ext>
            </a:extLst>
          </p:cNvPr>
          <p:cNvSpPr>
            <a:spLocks noChangeArrowheads="1"/>
          </p:cNvSpPr>
          <p:nvPr/>
        </p:nvSpPr>
        <p:spPr bwMode="auto">
          <a:xfrm>
            <a:off x="8588896" y="52728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12</a:t>
            </a:r>
          </a:p>
        </p:txBody>
      </p:sp>
      <p:sp>
        <p:nvSpPr>
          <p:cNvPr id="268" name="Rectangle 29">
            <a:extLst>
              <a:ext uri="{FF2B5EF4-FFF2-40B4-BE49-F238E27FC236}">
                <a16:creationId xmlns:a16="http://schemas.microsoft.com/office/drawing/2014/main" xmlns="" id="{F070F092-78CC-DA9F-61F6-58F4B19F5DE0}"/>
              </a:ext>
            </a:extLst>
          </p:cNvPr>
          <p:cNvSpPr>
            <a:spLocks noChangeArrowheads="1"/>
          </p:cNvSpPr>
          <p:nvPr/>
        </p:nvSpPr>
        <p:spPr bwMode="auto">
          <a:xfrm>
            <a:off x="2806442" y="459531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1</a:t>
            </a:r>
          </a:p>
        </p:txBody>
      </p:sp>
      <p:sp>
        <p:nvSpPr>
          <p:cNvPr id="269" name="Rectangle 29">
            <a:extLst>
              <a:ext uri="{FF2B5EF4-FFF2-40B4-BE49-F238E27FC236}">
                <a16:creationId xmlns:a16="http://schemas.microsoft.com/office/drawing/2014/main" xmlns="" id="{BCD8AB76-4830-7FC9-11C7-182EF7F8A0C2}"/>
              </a:ext>
            </a:extLst>
          </p:cNvPr>
          <p:cNvSpPr>
            <a:spLocks noChangeArrowheads="1"/>
          </p:cNvSpPr>
          <p:nvPr/>
        </p:nvSpPr>
        <p:spPr bwMode="auto">
          <a:xfrm>
            <a:off x="1961064" y="517917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2</a:t>
            </a:r>
          </a:p>
        </p:txBody>
      </p:sp>
      <p:sp>
        <p:nvSpPr>
          <p:cNvPr id="270" name="Rectangle 29">
            <a:extLst>
              <a:ext uri="{FF2B5EF4-FFF2-40B4-BE49-F238E27FC236}">
                <a16:creationId xmlns:a16="http://schemas.microsoft.com/office/drawing/2014/main" xmlns="" id="{DE2B1D21-19D4-7E19-810D-EE4D53C41560}"/>
              </a:ext>
            </a:extLst>
          </p:cNvPr>
          <p:cNvSpPr>
            <a:spLocks noChangeArrowheads="1"/>
          </p:cNvSpPr>
          <p:nvPr/>
        </p:nvSpPr>
        <p:spPr bwMode="auto">
          <a:xfrm>
            <a:off x="3548489" y="519624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3</a:t>
            </a:r>
          </a:p>
        </p:txBody>
      </p:sp>
      <p:sp>
        <p:nvSpPr>
          <p:cNvPr id="328" name="Rectangle 29">
            <a:extLst>
              <a:ext uri="{FF2B5EF4-FFF2-40B4-BE49-F238E27FC236}">
                <a16:creationId xmlns:a16="http://schemas.microsoft.com/office/drawing/2014/main" xmlns="" id="{1479259C-227B-5434-90DC-529335CF9C11}"/>
              </a:ext>
            </a:extLst>
          </p:cNvPr>
          <p:cNvSpPr>
            <a:spLocks noChangeArrowheads="1"/>
          </p:cNvSpPr>
          <p:nvPr/>
        </p:nvSpPr>
        <p:spPr bwMode="auto">
          <a:xfrm>
            <a:off x="1538375" y="595864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4</a:t>
            </a:r>
          </a:p>
        </p:txBody>
      </p:sp>
      <p:sp>
        <p:nvSpPr>
          <p:cNvPr id="329" name="Rectangle 29">
            <a:extLst>
              <a:ext uri="{FF2B5EF4-FFF2-40B4-BE49-F238E27FC236}">
                <a16:creationId xmlns:a16="http://schemas.microsoft.com/office/drawing/2014/main" xmlns="" id="{68D4390D-D974-1947-F8FA-0F78AF1596CB}"/>
              </a:ext>
            </a:extLst>
          </p:cNvPr>
          <p:cNvSpPr>
            <a:spLocks noChangeArrowheads="1"/>
          </p:cNvSpPr>
          <p:nvPr/>
        </p:nvSpPr>
        <p:spPr bwMode="auto">
          <a:xfrm>
            <a:off x="2303624" y="597570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5</a:t>
            </a:r>
          </a:p>
        </p:txBody>
      </p:sp>
      <p:sp>
        <p:nvSpPr>
          <p:cNvPr id="330" name="Rectangle 29">
            <a:extLst>
              <a:ext uri="{FF2B5EF4-FFF2-40B4-BE49-F238E27FC236}">
                <a16:creationId xmlns:a16="http://schemas.microsoft.com/office/drawing/2014/main" xmlns="" id="{8D949106-453A-CFAC-E0D2-85E37218FA56}"/>
              </a:ext>
            </a:extLst>
          </p:cNvPr>
          <p:cNvSpPr>
            <a:spLocks noChangeArrowheads="1"/>
          </p:cNvSpPr>
          <p:nvPr/>
        </p:nvSpPr>
        <p:spPr bwMode="auto">
          <a:xfrm>
            <a:off x="3070962" y="600156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6</a:t>
            </a:r>
          </a:p>
        </p:txBody>
      </p:sp>
    </p:spTree>
    <p:extLst>
      <p:ext uri="{BB962C8B-B14F-4D97-AF65-F5344CB8AC3E}">
        <p14:creationId xmlns:p14="http://schemas.microsoft.com/office/powerpoint/2010/main" val="3489075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E9459EB-8E1D-BD3D-5B3E-E61B6F0952E3}"/>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140306B6-F461-A86B-7184-2C8F9B74C0F4}"/>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7.3 </a:t>
            </a:r>
            <a:r>
              <a:rPr lang="zh-CN" altLang="en-US" sz="3000" b="1" dirty="0">
                <a:latin typeface="黑体" pitchFamily="49" charset="-122"/>
                <a:ea typeface="黑体" pitchFamily="49" charset="-122"/>
                <a:cs typeface="经典粗黑简" pitchFamily="49" charset="-122"/>
              </a:rPr>
              <a:t>二叉树的存储结构</a:t>
            </a:r>
          </a:p>
        </p:txBody>
      </p:sp>
      <p:cxnSp>
        <p:nvCxnSpPr>
          <p:cNvPr id="20" name="直接连接符 19">
            <a:extLst>
              <a:ext uri="{FF2B5EF4-FFF2-40B4-BE49-F238E27FC236}">
                <a16:creationId xmlns:a16="http://schemas.microsoft.com/office/drawing/2014/main" xmlns="" id="{F37D55D6-1EB4-A2DC-5D0D-FBCD1FFB26B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xmlns="" id="{A2C0B269-CB8F-064C-9BC0-D08B9A0D23CF}"/>
              </a:ext>
            </a:extLst>
          </p:cNvPr>
          <p:cNvSpPr txBox="1"/>
          <p:nvPr/>
        </p:nvSpPr>
        <p:spPr>
          <a:xfrm>
            <a:off x="1474878" y="1585160"/>
            <a:ext cx="3546380" cy="400110"/>
          </a:xfrm>
          <a:prstGeom prst="rect">
            <a:avLst/>
          </a:prstGeom>
          <a:noFill/>
        </p:spPr>
        <p:txBody>
          <a:bodyPr wrap="square">
            <a:spAutoFit/>
          </a:bodyPr>
          <a:lstStyle/>
          <a:p>
            <a:pPr>
              <a:spcBef>
                <a:spcPct val="50000"/>
              </a:spcBef>
            </a:pPr>
            <a:r>
              <a:rPr kumimoji="1" lang="zh-CN" altLang="en-US" sz="2000" dirty="0">
                <a:latin typeface="微软雅黑" pitchFamily="34" charset="-122"/>
                <a:ea typeface="微软雅黑" pitchFamily="34" charset="-122"/>
                <a:cs typeface="经典粗黑简" pitchFamily="49" charset="-122"/>
              </a:rPr>
              <a:t>二叉树顺序存储结构的特点：</a:t>
            </a:r>
          </a:p>
        </p:txBody>
      </p:sp>
      <p:sp>
        <p:nvSpPr>
          <p:cNvPr id="61" name="Rectangle 2">
            <a:extLst>
              <a:ext uri="{FF2B5EF4-FFF2-40B4-BE49-F238E27FC236}">
                <a16:creationId xmlns:a16="http://schemas.microsoft.com/office/drawing/2014/main" xmlns="" id="{50AB1299-EEB1-92E3-D48F-16458795522A}"/>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7.3.1 </a:t>
            </a:r>
            <a:r>
              <a:rPr lang="zh-CN" altLang="en-US" dirty="0"/>
              <a:t>二叉树的顺序存储结构</a:t>
            </a:r>
          </a:p>
        </p:txBody>
      </p:sp>
      <p:sp>
        <p:nvSpPr>
          <p:cNvPr id="76" name="文本框 75">
            <a:extLst>
              <a:ext uri="{FF2B5EF4-FFF2-40B4-BE49-F238E27FC236}">
                <a16:creationId xmlns:a16="http://schemas.microsoft.com/office/drawing/2014/main" xmlns="" id="{358B2D93-5270-4F9F-E6F8-77AAB2E7225D}"/>
              </a:ext>
            </a:extLst>
          </p:cNvPr>
          <p:cNvSpPr txBox="1"/>
          <p:nvPr/>
        </p:nvSpPr>
        <p:spPr>
          <a:xfrm>
            <a:off x="1474878" y="2132856"/>
            <a:ext cx="9229634" cy="1134734"/>
          </a:xfrm>
          <a:prstGeom prst="rect">
            <a:avLst/>
          </a:prstGeom>
          <a:noFill/>
        </p:spPr>
        <p:txBody>
          <a:bodyPr wrap="square">
            <a:spAutoFit/>
          </a:bodyPr>
          <a:lstStyle/>
          <a:p>
            <a:pPr algn="l">
              <a:lnSpc>
                <a:spcPts val="2800"/>
              </a:lnSpc>
              <a:spcBef>
                <a:spcPts val="600"/>
              </a:spcBef>
            </a:pPr>
            <a:r>
              <a:rPr kumimoji="1" lang="zh-CN" altLang="en-US" sz="1800" dirty="0">
                <a:solidFill>
                  <a:schemeClr val="tx1"/>
                </a:solidFill>
                <a:latin typeface="微软雅黑" pitchFamily="34" charset="-122"/>
                <a:ea typeface="微软雅黑" pitchFamily="34" charset="-122"/>
                <a:cs typeface="经典粗黑简" pitchFamily="49" charset="-122"/>
              </a:rPr>
              <a:t>对于一般的二叉树，特别是对于那些单分支结点较多的二叉树来说是很不合适的，因为可能只有少数存储单元被利用，特别是对退化的二叉树（即每个分支结点都是单分支的），空间浪费更是惊人。</a:t>
            </a:r>
          </a:p>
        </p:txBody>
      </p:sp>
      <p:grpSp>
        <p:nvGrpSpPr>
          <p:cNvPr id="77" name="组合 33">
            <a:extLst>
              <a:ext uri="{FF2B5EF4-FFF2-40B4-BE49-F238E27FC236}">
                <a16:creationId xmlns:a16="http://schemas.microsoft.com/office/drawing/2014/main" xmlns="" id="{009FE2C4-F873-C3E9-F1D7-004FFB80608F}"/>
              </a:ext>
            </a:extLst>
          </p:cNvPr>
          <p:cNvGrpSpPr/>
          <p:nvPr/>
        </p:nvGrpSpPr>
        <p:grpSpPr>
          <a:xfrm>
            <a:off x="7320136" y="3789040"/>
            <a:ext cx="4714908" cy="1497440"/>
            <a:chOff x="785786" y="4000504"/>
            <a:chExt cx="4714908" cy="1497440"/>
          </a:xfrm>
        </p:grpSpPr>
        <p:grpSp>
          <p:nvGrpSpPr>
            <p:cNvPr id="78" name="组合 3">
              <a:extLst>
                <a:ext uri="{FF2B5EF4-FFF2-40B4-BE49-F238E27FC236}">
                  <a16:creationId xmlns:a16="http://schemas.microsoft.com/office/drawing/2014/main" xmlns="" id="{361F9870-4158-0BE8-EA4C-881FEC803EEC}"/>
                </a:ext>
              </a:extLst>
            </p:cNvPr>
            <p:cNvGrpSpPr>
              <a:grpSpLocks noChangeAspect="1"/>
            </p:cNvGrpSpPr>
            <p:nvPr/>
          </p:nvGrpSpPr>
          <p:grpSpPr>
            <a:xfrm>
              <a:off x="785786" y="4000504"/>
              <a:ext cx="1834298" cy="1497440"/>
              <a:chOff x="2500298" y="4000504"/>
              <a:chExt cx="2653788" cy="2166435"/>
            </a:xfrm>
          </p:grpSpPr>
          <p:sp>
            <p:nvSpPr>
              <p:cNvPr id="82" name="椭圆 81">
                <a:extLst>
                  <a:ext uri="{FF2B5EF4-FFF2-40B4-BE49-F238E27FC236}">
                    <a16:creationId xmlns:a16="http://schemas.microsoft.com/office/drawing/2014/main" xmlns="" id="{50E69C89-8664-8FEB-91D3-7B9CE46A5B21}"/>
                  </a:ext>
                </a:extLst>
              </p:cNvPr>
              <p:cNvSpPr/>
              <p:nvPr/>
            </p:nvSpPr>
            <p:spPr>
              <a:xfrm>
                <a:off x="3428992" y="4000504"/>
                <a:ext cx="714380" cy="523361"/>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200" i="1" dirty="0" err="1">
                    <a:solidFill>
                      <a:srgbClr val="0000FF"/>
                    </a:solidFill>
                    <a:latin typeface="Consolas" pitchFamily="49" charset="0"/>
                    <a:cs typeface="Consolas" pitchFamily="49" charset="0"/>
                  </a:rPr>
                  <a:t>i</a:t>
                </a:r>
                <a:r>
                  <a:rPr lang="en-US" altLang="zh-CN" sz="1200" dirty="0">
                    <a:solidFill>
                      <a:srgbClr val="0000FF"/>
                    </a:solidFill>
                    <a:latin typeface="Consolas" pitchFamily="49" charset="0"/>
                    <a:cs typeface="Consolas" pitchFamily="49" charset="0"/>
                  </a:rPr>
                  <a:t>/2</a:t>
                </a:r>
                <a:endParaRPr lang="zh-CN" altLang="en-US" sz="1200" dirty="0">
                  <a:solidFill>
                    <a:srgbClr val="0000FF"/>
                  </a:solidFill>
                  <a:latin typeface="Consolas" pitchFamily="49" charset="0"/>
                  <a:cs typeface="Consolas" pitchFamily="49" charset="0"/>
                </a:endParaRPr>
              </a:p>
            </p:txBody>
          </p:sp>
          <p:sp>
            <p:nvSpPr>
              <p:cNvPr id="83" name="椭圆 82">
                <a:extLst>
                  <a:ext uri="{FF2B5EF4-FFF2-40B4-BE49-F238E27FC236}">
                    <a16:creationId xmlns:a16="http://schemas.microsoft.com/office/drawing/2014/main" xmlns="" id="{D32C1494-B3A6-189B-0144-D5B230EEFBA4}"/>
                  </a:ext>
                </a:extLst>
              </p:cNvPr>
              <p:cNvSpPr/>
              <p:nvPr/>
            </p:nvSpPr>
            <p:spPr>
              <a:xfrm>
                <a:off x="3428992" y="4857760"/>
                <a:ext cx="714380" cy="523361"/>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400" i="1" dirty="0" err="1">
                    <a:solidFill>
                      <a:srgbClr val="0000FF"/>
                    </a:solidFill>
                    <a:latin typeface="Consolas" pitchFamily="49" charset="0"/>
                    <a:cs typeface="Consolas" pitchFamily="49" charset="0"/>
                  </a:rPr>
                  <a:t>i</a:t>
                </a:r>
                <a:endParaRPr lang="zh-CN" altLang="en-US" sz="1400" dirty="0">
                  <a:solidFill>
                    <a:srgbClr val="0000FF"/>
                  </a:solidFill>
                  <a:latin typeface="Consolas" pitchFamily="49" charset="0"/>
                  <a:cs typeface="Consolas" pitchFamily="49" charset="0"/>
                </a:endParaRPr>
              </a:p>
            </p:txBody>
          </p:sp>
          <p:sp>
            <p:nvSpPr>
              <p:cNvPr id="84" name="椭圆 83">
                <a:extLst>
                  <a:ext uri="{FF2B5EF4-FFF2-40B4-BE49-F238E27FC236}">
                    <a16:creationId xmlns:a16="http://schemas.microsoft.com/office/drawing/2014/main" xmlns="" id="{D355748B-D00A-D309-5FAE-8813C6B82541}"/>
                  </a:ext>
                </a:extLst>
              </p:cNvPr>
              <p:cNvSpPr/>
              <p:nvPr/>
            </p:nvSpPr>
            <p:spPr>
              <a:xfrm>
                <a:off x="2500298" y="5643578"/>
                <a:ext cx="714380" cy="523361"/>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400" dirty="0" err="1">
                    <a:solidFill>
                      <a:srgbClr val="0000FF"/>
                    </a:solidFill>
                    <a:latin typeface="Consolas" pitchFamily="49" charset="0"/>
                    <a:cs typeface="Consolas" pitchFamily="49" charset="0"/>
                  </a:rPr>
                  <a:t>2</a:t>
                </a:r>
                <a:r>
                  <a:rPr lang="en-US" altLang="zh-CN" sz="1400" i="1" dirty="0" err="1">
                    <a:solidFill>
                      <a:srgbClr val="0000FF"/>
                    </a:solidFill>
                    <a:latin typeface="Consolas" pitchFamily="49" charset="0"/>
                    <a:cs typeface="Consolas" pitchFamily="49" charset="0"/>
                  </a:rPr>
                  <a:t>i</a:t>
                </a:r>
                <a:endParaRPr lang="zh-CN" altLang="en-US" sz="1400" dirty="0">
                  <a:solidFill>
                    <a:srgbClr val="0000FF"/>
                  </a:solidFill>
                  <a:latin typeface="Consolas" pitchFamily="49" charset="0"/>
                  <a:cs typeface="Consolas" pitchFamily="49" charset="0"/>
                </a:endParaRPr>
              </a:p>
            </p:txBody>
          </p:sp>
          <p:sp>
            <p:nvSpPr>
              <p:cNvPr id="85" name="椭圆 84">
                <a:extLst>
                  <a:ext uri="{FF2B5EF4-FFF2-40B4-BE49-F238E27FC236}">
                    <a16:creationId xmlns:a16="http://schemas.microsoft.com/office/drawing/2014/main" xmlns="" id="{B9C9BFBB-E064-C44B-5726-0E3D1F887718}"/>
                  </a:ext>
                </a:extLst>
              </p:cNvPr>
              <p:cNvSpPr/>
              <p:nvPr/>
            </p:nvSpPr>
            <p:spPr>
              <a:xfrm>
                <a:off x="4153954" y="5643578"/>
                <a:ext cx="1000132" cy="523361"/>
              </a:xfrm>
              <a:prstGeom prst="ellipse">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altLang="zh-CN" sz="1200" dirty="0" err="1">
                    <a:solidFill>
                      <a:srgbClr val="0000FF"/>
                    </a:solidFill>
                    <a:latin typeface="Consolas" pitchFamily="49" charset="0"/>
                    <a:cs typeface="Consolas" pitchFamily="49" charset="0"/>
                  </a:rPr>
                  <a:t>2</a:t>
                </a:r>
                <a:r>
                  <a:rPr lang="en-US" altLang="zh-CN" sz="1200" i="1" dirty="0" err="1">
                    <a:solidFill>
                      <a:srgbClr val="0000FF"/>
                    </a:solidFill>
                    <a:latin typeface="Consolas" pitchFamily="49" charset="0"/>
                    <a:cs typeface="Consolas" pitchFamily="49" charset="0"/>
                  </a:rPr>
                  <a:t>i</a:t>
                </a:r>
                <a:r>
                  <a:rPr lang="en-US" altLang="zh-CN" sz="1200" dirty="0" err="1">
                    <a:solidFill>
                      <a:srgbClr val="0000FF"/>
                    </a:solidFill>
                    <a:latin typeface="Consolas" pitchFamily="49" charset="0"/>
                    <a:cs typeface="Consolas" pitchFamily="49" charset="0"/>
                  </a:rPr>
                  <a:t>+1</a:t>
                </a:r>
                <a:endParaRPr lang="zh-CN" altLang="en-US" sz="1200" dirty="0">
                  <a:solidFill>
                    <a:srgbClr val="0000FF"/>
                  </a:solidFill>
                  <a:latin typeface="Consolas" pitchFamily="49" charset="0"/>
                  <a:cs typeface="Consolas" pitchFamily="49" charset="0"/>
                </a:endParaRPr>
              </a:p>
            </p:txBody>
          </p:sp>
          <p:cxnSp>
            <p:nvCxnSpPr>
              <p:cNvPr id="86" name="直接连接符 85">
                <a:extLst>
                  <a:ext uri="{FF2B5EF4-FFF2-40B4-BE49-F238E27FC236}">
                    <a16:creationId xmlns:a16="http://schemas.microsoft.com/office/drawing/2014/main" xmlns="" id="{BFEB8C51-52A9-B247-3BEC-77AB03909FCB}"/>
                  </a:ext>
                </a:extLst>
              </p:cNvPr>
              <p:cNvCxnSpPr>
                <a:stCxn id="82" idx="4"/>
                <a:endCxn id="83" idx="0"/>
              </p:cNvCxnSpPr>
              <p:nvPr/>
            </p:nvCxnSpPr>
            <p:spPr>
              <a:xfrm rot="5400000">
                <a:off x="3619235" y="4690812"/>
                <a:ext cx="333895" cy="1588"/>
              </a:xfrm>
              <a:prstGeom prst="line">
                <a:avLst/>
              </a:prstGeom>
              <a:ln w="28575">
                <a:solidFill>
                  <a:srgbClr val="FF00FF"/>
                </a:solidFill>
                <a:tailEnd type="none"/>
              </a:ln>
            </p:spPr>
            <p:style>
              <a:lnRef idx="1">
                <a:schemeClr val="dk1"/>
              </a:lnRef>
              <a:fillRef idx="0">
                <a:schemeClr val="dk1"/>
              </a:fillRef>
              <a:effectRef idx="0">
                <a:schemeClr val="dk1"/>
              </a:effectRef>
              <a:fontRef idx="minor">
                <a:schemeClr val="tx1"/>
              </a:fontRef>
            </p:style>
          </p:cxnSp>
          <p:cxnSp>
            <p:nvCxnSpPr>
              <p:cNvPr id="87" name="直接连接符 86">
                <a:extLst>
                  <a:ext uri="{FF2B5EF4-FFF2-40B4-BE49-F238E27FC236}">
                    <a16:creationId xmlns:a16="http://schemas.microsoft.com/office/drawing/2014/main" xmlns="" id="{751B1AEF-B417-BF7F-728A-419472E55ED5}"/>
                  </a:ext>
                </a:extLst>
              </p:cNvPr>
              <p:cNvCxnSpPr>
                <a:stCxn id="83" idx="3"/>
                <a:endCxn id="84" idx="7"/>
              </p:cNvCxnSpPr>
              <p:nvPr/>
            </p:nvCxnSpPr>
            <p:spPr>
              <a:xfrm rot="5400000">
                <a:off x="3113963" y="5300573"/>
                <a:ext cx="415745" cy="423552"/>
              </a:xfrm>
              <a:prstGeom prst="line">
                <a:avLst/>
              </a:prstGeom>
              <a:ln w="28575">
                <a:solidFill>
                  <a:srgbClr val="FF00FF"/>
                </a:solidFill>
                <a:tailEnd type="none"/>
              </a:ln>
            </p:spPr>
            <p:style>
              <a:lnRef idx="1">
                <a:schemeClr val="dk1"/>
              </a:lnRef>
              <a:fillRef idx="0">
                <a:schemeClr val="dk1"/>
              </a:fillRef>
              <a:effectRef idx="0">
                <a:schemeClr val="dk1"/>
              </a:effectRef>
              <a:fontRef idx="minor">
                <a:schemeClr val="tx1"/>
              </a:fontRef>
            </p:style>
          </p:cxnSp>
          <p:cxnSp>
            <p:nvCxnSpPr>
              <p:cNvPr id="88" name="直接箭头连接符 87">
                <a:extLst>
                  <a:ext uri="{FF2B5EF4-FFF2-40B4-BE49-F238E27FC236}">
                    <a16:creationId xmlns:a16="http://schemas.microsoft.com/office/drawing/2014/main" xmlns="" id="{08CE7B18-2629-2860-DC86-3C299DC9810F}"/>
                  </a:ext>
                </a:extLst>
              </p:cNvPr>
              <p:cNvCxnSpPr>
                <a:stCxn id="83" idx="5"/>
                <a:endCxn id="85" idx="1"/>
              </p:cNvCxnSpPr>
              <p:nvPr/>
            </p:nvCxnSpPr>
            <p:spPr>
              <a:xfrm rot="16200000" flipH="1">
                <a:off x="3961713" y="5381515"/>
                <a:ext cx="415748" cy="261665"/>
              </a:xfrm>
              <a:prstGeom prst="straightConnector1">
                <a:avLst/>
              </a:prstGeom>
              <a:ln w="28575">
                <a:solidFill>
                  <a:srgbClr val="FF00FF"/>
                </a:solidFill>
                <a:tailEnd type="none"/>
              </a:ln>
            </p:spPr>
            <p:style>
              <a:lnRef idx="1">
                <a:schemeClr val="dk1"/>
              </a:lnRef>
              <a:fillRef idx="0">
                <a:schemeClr val="dk1"/>
              </a:fillRef>
              <a:effectRef idx="0">
                <a:schemeClr val="dk1"/>
              </a:effectRef>
              <a:fontRef idx="minor">
                <a:schemeClr val="tx1"/>
              </a:fontRef>
            </p:style>
          </p:cxnSp>
        </p:grpSp>
        <p:grpSp>
          <p:nvGrpSpPr>
            <p:cNvPr id="79" name="组合 17">
              <a:extLst>
                <a:ext uri="{FF2B5EF4-FFF2-40B4-BE49-F238E27FC236}">
                  <a16:creationId xmlns:a16="http://schemas.microsoft.com/office/drawing/2014/main" xmlns="" id="{FF318A4D-370F-81EF-D4E4-0DECF9EF1CFC}"/>
                </a:ext>
              </a:extLst>
            </p:cNvPr>
            <p:cNvGrpSpPr/>
            <p:nvPr/>
          </p:nvGrpSpPr>
          <p:grpSpPr>
            <a:xfrm>
              <a:off x="2071670" y="4592104"/>
              <a:ext cx="3429024" cy="369332"/>
              <a:chOff x="3357554" y="4592104"/>
              <a:chExt cx="3429024" cy="369332"/>
            </a:xfrm>
          </p:grpSpPr>
          <p:cxnSp>
            <p:nvCxnSpPr>
              <p:cNvPr id="80" name="直接连接符 79">
                <a:extLst>
                  <a:ext uri="{FF2B5EF4-FFF2-40B4-BE49-F238E27FC236}">
                    <a16:creationId xmlns:a16="http://schemas.microsoft.com/office/drawing/2014/main" xmlns="" id="{BE9525A7-4ED5-5D11-2375-9D24CDF5F7AF}"/>
                  </a:ext>
                </a:extLst>
              </p:cNvPr>
              <p:cNvCxnSpPr/>
              <p:nvPr/>
            </p:nvCxnSpPr>
            <p:spPr>
              <a:xfrm>
                <a:off x="3357554" y="4786322"/>
                <a:ext cx="720000" cy="0"/>
              </a:xfrm>
              <a:prstGeom prst="line">
                <a:avLst/>
              </a:prstGeom>
              <a:ln>
                <a:tailEnd type="none"/>
              </a:ln>
            </p:spPr>
            <p:style>
              <a:lnRef idx="2">
                <a:schemeClr val="accent1"/>
              </a:lnRef>
              <a:fillRef idx="0">
                <a:schemeClr val="accent1"/>
              </a:fillRef>
              <a:effectRef idx="1">
                <a:schemeClr val="accent1"/>
              </a:effectRef>
              <a:fontRef idx="minor">
                <a:schemeClr val="tx1"/>
              </a:fontRef>
            </p:style>
          </p:cxnSp>
          <p:sp>
            <p:nvSpPr>
              <p:cNvPr id="81" name="TextBox 16">
                <a:extLst>
                  <a:ext uri="{FF2B5EF4-FFF2-40B4-BE49-F238E27FC236}">
                    <a16:creationId xmlns:a16="http://schemas.microsoft.com/office/drawing/2014/main" xmlns="" id="{C71E0A41-7EB9-3E5B-F1C9-F9C7B842BEDE}"/>
                  </a:ext>
                </a:extLst>
              </p:cNvPr>
              <p:cNvSpPr txBox="1"/>
              <p:nvPr/>
            </p:nvSpPr>
            <p:spPr>
              <a:xfrm>
                <a:off x="4000496" y="4592104"/>
                <a:ext cx="2786082" cy="369332"/>
              </a:xfrm>
              <a:prstGeom prst="rect">
                <a:avLst/>
              </a:prstGeom>
              <a:noFill/>
            </p:spPr>
            <p:txBody>
              <a:bodyPr wrap="square" rtlCol="0">
                <a:spAutoFit/>
              </a:bodyPr>
              <a:lstStyle/>
              <a:p>
                <a:pPr algn="l"/>
                <a:r>
                  <a:rPr lang="zh-CN" altLang="en-US" sz="1800">
                    <a:latin typeface="Consolas" pitchFamily="49" charset="0"/>
                    <a:ea typeface="仿宋" pitchFamily="49" charset="-122"/>
                    <a:cs typeface="Consolas" pitchFamily="49" charset="0"/>
                  </a:rPr>
                  <a:t>结点</a:t>
                </a:r>
                <a:r>
                  <a:rPr lang="en-US" altLang="zh-CN" sz="1800" i="1">
                    <a:latin typeface="Consolas" pitchFamily="49" charset="0"/>
                    <a:ea typeface="仿宋" pitchFamily="49" charset="-122"/>
                    <a:cs typeface="Consolas" pitchFamily="49" charset="0"/>
                  </a:rPr>
                  <a:t>i</a:t>
                </a:r>
                <a:r>
                  <a:rPr lang="zh-CN" altLang="en-US" sz="1800">
                    <a:latin typeface="Consolas" pitchFamily="49" charset="0"/>
                    <a:ea typeface="仿宋" pitchFamily="49" charset="-122"/>
                    <a:cs typeface="Consolas" pitchFamily="49" charset="0"/>
                  </a:rPr>
                  <a:t>层次为</a:t>
                </a:r>
                <a:r>
                  <a:rPr lang="zh-CN" altLang="en-US" sz="1800">
                    <a:latin typeface="Consolas" pitchFamily="49" charset="0"/>
                    <a:ea typeface="仿宋" pitchFamily="49" charset="-122"/>
                    <a:cs typeface="Consolas" pitchFamily="49" charset="0"/>
                    <a:sym typeface="Symbol"/>
                  </a:rPr>
                  <a:t></a:t>
                </a:r>
                <a:r>
                  <a:rPr lang="en-US" altLang="zh-CN" sz="1800">
                    <a:latin typeface="Consolas" pitchFamily="49" charset="0"/>
                    <a:ea typeface="仿宋" pitchFamily="49" charset="-122"/>
                    <a:cs typeface="Consolas" pitchFamily="49" charset="0"/>
                    <a:sym typeface="Symbol"/>
                  </a:rPr>
                  <a:t>log</a:t>
                </a:r>
                <a:r>
                  <a:rPr lang="en-US" altLang="zh-CN" sz="1800" baseline="-25000">
                    <a:latin typeface="Consolas" pitchFamily="49" charset="0"/>
                    <a:ea typeface="仿宋" pitchFamily="49" charset="-122"/>
                    <a:cs typeface="Consolas" pitchFamily="49" charset="0"/>
                    <a:sym typeface="Symbol"/>
                  </a:rPr>
                  <a:t>2</a:t>
                </a:r>
                <a:r>
                  <a:rPr lang="en-US" altLang="zh-CN" sz="1800">
                    <a:latin typeface="Consolas" pitchFamily="49" charset="0"/>
                    <a:ea typeface="仿宋" pitchFamily="49" charset="-122"/>
                    <a:cs typeface="Consolas" pitchFamily="49" charset="0"/>
                    <a:sym typeface="Symbol"/>
                  </a:rPr>
                  <a:t>(</a:t>
                </a:r>
                <a:r>
                  <a:rPr lang="en-US" altLang="zh-CN" sz="1800" i="1">
                    <a:latin typeface="Consolas" pitchFamily="49" charset="0"/>
                    <a:ea typeface="仿宋" pitchFamily="49" charset="-122"/>
                    <a:cs typeface="Consolas" pitchFamily="49" charset="0"/>
                    <a:sym typeface="Symbol"/>
                  </a:rPr>
                  <a:t>i</a:t>
                </a:r>
                <a:r>
                  <a:rPr lang="en-US" altLang="zh-CN" sz="1800">
                    <a:latin typeface="Consolas" pitchFamily="49" charset="0"/>
                    <a:ea typeface="仿宋" pitchFamily="49" charset="-122"/>
                    <a:cs typeface="Consolas" pitchFamily="49" charset="0"/>
                    <a:sym typeface="Symbol"/>
                  </a:rPr>
                  <a:t>+1)</a:t>
                </a:r>
                <a:r>
                  <a:rPr lang="zh-CN" altLang="en-US" sz="1800">
                    <a:latin typeface="Consolas" pitchFamily="49" charset="0"/>
                    <a:ea typeface="仿宋" pitchFamily="49" charset="-122"/>
                    <a:cs typeface="Consolas" pitchFamily="49" charset="0"/>
                    <a:sym typeface="Symbol"/>
                  </a:rPr>
                  <a:t></a:t>
                </a:r>
                <a:endParaRPr lang="zh-CN" altLang="en-US" sz="1800">
                  <a:latin typeface="Consolas" pitchFamily="49" charset="0"/>
                  <a:ea typeface="仿宋" pitchFamily="49" charset="-122"/>
                  <a:cs typeface="Consolas" pitchFamily="49" charset="0"/>
                </a:endParaRPr>
              </a:p>
            </p:txBody>
          </p:sp>
        </p:grpSp>
      </p:grpSp>
      <p:grpSp>
        <p:nvGrpSpPr>
          <p:cNvPr id="89" name="组合 32">
            <a:extLst>
              <a:ext uri="{FF2B5EF4-FFF2-40B4-BE49-F238E27FC236}">
                <a16:creationId xmlns:a16="http://schemas.microsoft.com/office/drawing/2014/main" xmlns="" id="{747EB483-CA10-403E-B3CA-C4B8E28A79F8}"/>
              </a:ext>
            </a:extLst>
          </p:cNvPr>
          <p:cNvGrpSpPr/>
          <p:nvPr/>
        </p:nvGrpSpPr>
        <p:grpSpPr>
          <a:xfrm>
            <a:off x="8677458" y="2931784"/>
            <a:ext cx="2714644" cy="1857388"/>
            <a:chOff x="5786446" y="3714752"/>
            <a:chExt cx="2714644" cy="1857388"/>
          </a:xfrm>
        </p:grpSpPr>
        <p:sp>
          <p:nvSpPr>
            <p:cNvPr id="90" name="Oval 1280">
              <a:extLst>
                <a:ext uri="{FF2B5EF4-FFF2-40B4-BE49-F238E27FC236}">
                  <a16:creationId xmlns:a16="http://schemas.microsoft.com/office/drawing/2014/main" xmlns="" id="{2867449A-09BA-BECE-E30E-1821DC44AFDB}"/>
                </a:ext>
              </a:extLst>
            </p:cNvPr>
            <p:cNvSpPr>
              <a:spLocks noChangeArrowheads="1"/>
            </p:cNvSpPr>
            <p:nvPr/>
          </p:nvSpPr>
          <p:spPr bwMode="auto">
            <a:xfrm>
              <a:off x="6215074" y="3786190"/>
              <a:ext cx="357190" cy="35719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endParaRPr lang="en-US" altLang="zh-CN" sz="1800" i="1">
                <a:solidFill>
                  <a:srgbClr val="3333FF"/>
                </a:solidFill>
                <a:latin typeface="Consolas" pitchFamily="49" charset="0"/>
                <a:cs typeface="Consolas" pitchFamily="49" charset="0"/>
              </a:endParaRPr>
            </a:p>
          </p:txBody>
        </p:sp>
        <p:sp>
          <p:nvSpPr>
            <p:cNvPr id="91" name="Oval 1280">
              <a:extLst>
                <a:ext uri="{FF2B5EF4-FFF2-40B4-BE49-F238E27FC236}">
                  <a16:creationId xmlns:a16="http://schemas.microsoft.com/office/drawing/2014/main" xmlns="" id="{50EB043B-E187-69F1-BCD2-E16344D5DD86}"/>
                </a:ext>
              </a:extLst>
            </p:cNvPr>
            <p:cNvSpPr>
              <a:spLocks noChangeArrowheads="1"/>
            </p:cNvSpPr>
            <p:nvPr/>
          </p:nvSpPr>
          <p:spPr bwMode="auto">
            <a:xfrm>
              <a:off x="6643702" y="4214818"/>
              <a:ext cx="357190" cy="35719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endParaRPr lang="en-US" altLang="zh-CN" sz="1800" i="1">
                <a:solidFill>
                  <a:srgbClr val="3333FF"/>
                </a:solidFill>
                <a:latin typeface="Consolas" pitchFamily="49" charset="0"/>
                <a:cs typeface="Consolas" pitchFamily="49" charset="0"/>
              </a:endParaRPr>
            </a:p>
          </p:txBody>
        </p:sp>
        <p:sp>
          <p:nvSpPr>
            <p:cNvPr id="92" name="Oval 1280">
              <a:extLst>
                <a:ext uri="{FF2B5EF4-FFF2-40B4-BE49-F238E27FC236}">
                  <a16:creationId xmlns:a16="http://schemas.microsoft.com/office/drawing/2014/main" xmlns="" id="{4DE5B8EF-5D29-9271-A008-19EF9085DFE0}"/>
                </a:ext>
              </a:extLst>
            </p:cNvPr>
            <p:cNvSpPr>
              <a:spLocks noChangeArrowheads="1"/>
            </p:cNvSpPr>
            <p:nvPr/>
          </p:nvSpPr>
          <p:spPr bwMode="auto">
            <a:xfrm>
              <a:off x="7500958" y="5143512"/>
              <a:ext cx="357190" cy="357190"/>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endParaRPr lang="en-US" altLang="zh-CN" sz="1800" i="1">
                <a:solidFill>
                  <a:srgbClr val="3333FF"/>
                </a:solidFill>
                <a:latin typeface="Consolas" pitchFamily="49" charset="0"/>
                <a:cs typeface="Consolas" pitchFamily="49" charset="0"/>
              </a:endParaRPr>
            </a:p>
          </p:txBody>
        </p:sp>
        <p:cxnSp>
          <p:nvCxnSpPr>
            <p:cNvPr id="93" name="直接连接符 92">
              <a:extLst>
                <a:ext uri="{FF2B5EF4-FFF2-40B4-BE49-F238E27FC236}">
                  <a16:creationId xmlns:a16="http://schemas.microsoft.com/office/drawing/2014/main" xmlns="" id="{5C5A3CBE-64E8-375C-C911-33682B9F72DC}"/>
                </a:ext>
              </a:extLst>
            </p:cNvPr>
            <p:cNvCxnSpPr>
              <a:stCxn id="90" idx="5"/>
              <a:endCxn id="91" idx="1"/>
            </p:cNvCxnSpPr>
            <p:nvPr/>
          </p:nvCxnSpPr>
          <p:spPr>
            <a:xfrm rot="16200000" flipH="1">
              <a:off x="6519955" y="4091071"/>
              <a:ext cx="176056" cy="17605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94" name="直接连接符 93">
              <a:extLst>
                <a:ext uri="{FF2B5EF4-FFF2-40B4-BE49-F238E27FC236}">
                  <a16:creationId xmlns:a16="http://schemas.microsoft.com/office/drawing/2014/main" xmlns="" id="{07BDB726-984C-AECF-F6BE-F31408DC38FF}"/>
                </a:ext>
              </a:extLst>
            </p:cNvPr>
            <p:cNvCxnSpPr/>
            <p:nvPr/>
          </p:nvCxnSpPr>
          <p:spPr>
            <a:xfrm rot="16200000" flipH="1">
              <a:off x="6938979" y="4548353"/>
              <a:ext cx="176056" cy="176056"/>
            </a:xfrm>
            <a:prstGeom prst="line">
              <a:avLst/>
            </a:prstGeom>
            <a:ln>
              <a:tailEnd type="none"/>
            </a:ln>
          </p:spPr>
          <p:style>
            <a:lnRef idx="2">
              <a:schemeClr val="accent5"/>
            </a:lnRef>
            <a:fillRef idx="0">
              <a:schemeClr val="accent5"/>
            </a:fillRef>
            <a:effectRef idx="1">
              <a:schemeClr val="accent5"/>
            </a:effectRef>
            <a:fontRef idx="minor">
              <a:schemeClr val="tx1"/>
            </a:fontRef>
          </p:style>
        </p:cxnSp>
        <p:cxnSp>
          <p:nvCxnSpPr>
            <p:cNvPr id="95" name="直接连接符 94">
              <a:extLst>
                <a:ext uri="{FF2B5EF4-FFF2-40B4-BE49-F238E27FC236}">
                  <a16:creationId xmlns:a16="http://schemas.microsoft.com/office/drawing/2014/main" xmlns="" id="{A764E9C5-8E55-6BF0-B7A9-4FFFED12CC6A}"/>
                </a:ext>
              </a:extLst>
            </p:cNvPr>
            <p:cNvCxnSpPr/>
            <p:nvPr/>
          </p:nvCxnSpPr>
          <p:spPr>
            <a:xfrm rot="16200000" flipH="1">
              <a:off x="7386815" y="5010319"/>
              <a:ext cx="176056" cy="176056"/>
            </a:xfrm>
            <a:prstGeom prst="line">
              <a:avLst/>
            </a:prstGeom>
            <a:ln>
              <a:tailEnd type="none"/>
            </a:ln>
          </p:spPr>
          <p:style>
            <a:lnRef idx="2">
              <a:schemeClr val="accent5"/>
            </a:lnRef>
            <a:fillRef idx="0">
              <a:schemeClr val="accent5"/>
            </a:fillRef>
            <a:effectRef idx="1">
              <a:schemeClr val="accent5"/>
            </a:effectRef>
            <a:fontRef idx="minor">
              <a:schemeClr val="tx1"/>
            </a:fontRef>
          </p:style>
        </p:cxnSp>
        <p:sp>
          <p:nvSpPr>
            <p:cNvPr id="96" name="TextBox 26">
              <a:extLst>
                <a:ext uri="{FF2B5EF4-FFF2-40B4-BE49-F238E27FC236}">
                  <a16:creationId xmlns:a16="http://schemas.microsoft.com/office/drawing/2014/main" xmlns="" id="{FABC56E5-2976-0BE4-3514-801990557C7B}"/>
                </a:ext>
              </a:extLst>
            </p:cNvPr>
            <p:cNvSpPr txBox="1"/>
            <p:nvPr/>
          </p:nvSpPr>
          <p:spPr>
            <a:xfrm rot="2843764">
              <a:off x="7101558" y="4598676"/>
              <a:ext cx="428628" cy="461665"/>
            </a:xfrm>
            <a:prstGeom prst="rect">
              <a:avLst/>
            </a:prstGeom>
            <a:noFill/>
          </p:spPr>
          <p:txBody>
            <a:bodyPr wrap="square" rtlCol="0">
              <a:spAutoFit/>
            </a:bodyPr>
            <a:lstStyle/>
            <a:p>
              <a:r>
                <a:rPr lang="en-US" altLang="zh-CN"/>
                <a:t>…</a:t>
              </a:r>
              <a:endParaRPr lang="zh-CN" altLang="en-US"/>
            </a:p>
          </p:txBody>
        </p:sp>
        <p:sp>
          <p:nvSpPr>
            <p:cNvPr id="97" name="左大括号 96">
              <a:extLst>
                <a:ext uri="{FF2B5EF4-FFF2-40B4-BE49-F238E27FC236}">
                  <a16:creationId xmlns:a16="http://schemas.microsoft.com/office/drawing/2014/main" xmlns="" id="{F2BF2195-2B5E-B1C5-A6A5-BB6ACB31787D}"/>
                </a:ext>
              </a:extLst>
            </p:cNvPr>
            <p:cNvSpPr/>
            <p:nvPr/>
          </p:nvSpPr>
          <p:spPr>
            <a:xfrm>
              <a:off x="6072198" y="4071942"/>
              <a:ext cx="142876" cy="1500198"/>
            </a:xfrm>
            <a:prstGeom prst="leftBrace">
              <a:avLst/>
            </a:prstGeom>
            <a:ln w="28575">
              <a:solidFill>
                <a:srgbClr val="FF00FF"/>
              </a:solidFill>
              <a:tailEnd type="none"/>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98" name="TextBox 28">
              <a:extLst>
                <a:ext uri="{FF2B5EF4-FFF2-40B4-BE49-F238E27FC236}">
                  <a16:creationId xmlns:a16="http://schemas.microsoft.com/office/drawing/2014/main" xmlns="" id="{45A28CFD-00F5-AA53-41FA-8275B2818A68}"/>
                </a:ext>
              </a:extLst>
            </p:cNvPr>
            <p:cNvSpPr txBox="1"/>
            <p:nvPr/>
          </p:nvSpPr>
          <p:spPr>
            <a:xfrm>
              <a:off x="5786446" y="4631304"/>
              <a:ext cx="357190" cy="338554"/>
            </a:xfrm>
            <a:prstGeom prst="rect">
              <a:avLst/>
            </a:prstGeom>
            <a:noFill/>
          </p:spPr>
          <p:txBody>
            <a:bodyPr wrap="square" rtlCol="0">
              <a:spAutoFit/>
            </a:bodyPr>
            <a:lstStyle/>
            <a:p>
              <a:r>
                <a:rPr lang="en-US" altLang="zh-CN" sz="1600" i="1">
                  <a:latin typeface="Consolas" pitchFamily="49" charset="0"/>
                  <a:cs typeface="Consolas" pitchFamily="49" charset="0"/>
                </a:rPr>
                <a:t>h</a:t>
              </a:r>
              <a:endParaRPr lang="zh-CN" altLang="en-US" sz="1600" i="1">
                <a:latin typeface="Consolas" pitchFamily="49" charset="0"/>
                <a:cs typeface="Consolas" pitchFamily="49" charset="0"/>
              </a:endParaRPr>
            </a:p>
          </p:txBody>
        </p:sp>
        <p:sp>
          <p:nvSpPr>
            <p:cNvPr id="99" name="TextBox 29">
              <a:extLst>
                <a:ext uri="{FF2B5EF4-FFF2-40B4-BE49-F238E27FC236}">
                  <a16:creationId xmlns:a16="http://schemas.microsoft.com/office/drawing/2014/main" xmlns="" id="{618595E1-F6A7-550F-0653-C43CE72390CF}"/>
                </a:ext>
              </a:extLst>
            </p:cNvPr>
            <p:cNvSpPr txBox="1"/>
            <p:nvPr/>
          </p:nvSpPr>
          <p:spPr>
            <a:xfrm>
              <a:off x="7858148" y="5224061"/>
              <a:ext cx="642942" cy="338554"/>
            </a:xfrm>
            <a:prstGeom prst="rect">
              <a:avLst/>
            </a:prstGeom>
            <a:noFill/>
          </p:spPr>
          <p:txBody>
            <a:bodyPr wrap="square" rtlCol="0">
              <a:spAutoFit/>
            </a:bodyPr>
            <a:lstStyle/>
            <a:p>
              <a:r>
                <a:rPr lang="en-US" altLang="zh-CN" sz="1600">
                  <a:latin typeface="Consolas" pitchFamily="49" charset="0"/>
                  <a:cs typeface="Consolas" pitchFamily="49" charset="0"/>
                </a:rPr>
                <a:t>2</a:t>
              </a:r>
              <a:r>
                <a:rPr lang="en-US" altLang="zh-CN" sz="1600" i="1" baseline="30000">
                  <a:latin typeface="Consolas" pitchFamily="49" charset="0"/>
                  <a:cs typeface="Consolas" pitchFamily="49" charset="0"/>
                </a:rPr>
                <a:t>h</a:t>
              </a:r>
              <a:r>
                <a:rPr lang="en-US" altLang="zh-CN" sz="160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100" name="TextBox 30">
              <a:extLst>
                <a:ext uri="{FF2B5EF4-FFF2-40B4-BE49-F238E27FC236}">
                  <a16:creationId xmlns:a16="http://schemas.microsoft.com/office/drawing/2014/main" xmlns="" id="{47853676-996C-F6F6-10AD-D8B30ED1DA38}"/>
                </a:ext>
              </a:extLst>
            </p:cNvPr>
            <p:cNvSpPr txBox="1"/>
            <p:nvPr/>
          </p:nvSpPr>
          <p:spPr>
            <a:xfrm>
              <a:off x="6572264" y="3714752"/>
              <a:ext cx="357190" cy="338554"/>
            </a:xfrm>
            <a:prstGeom prst="rect">
              <a:avLst/>
            </a:prstGeom>
            <a:noFill/>
          </p:spPr>
          <p:txBody>
            <a:bodyPr wrap="square" rtlCol="0">
              <a:spAutoFit/>
            </a:bodyPr>
            <a:lstStyle/>
            <a:p>
              <a:r>
                <a:rPr lang="en-US" altLang="zh-CN" sz="160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101" name="TextBox 31">
              <a:extLst>
                <a:ext uri="{FF2B5EF4-FFF2-40B4-BE49-F238E27FC236}">
                  <a16:creationId xmlns:a16="http://schemas.microsoft.com/office/drawing/2014/main" xmlns="" id="{EA629073-DB09-811F-4B33-1447A7815E6B}"/>
                </a:ext>
              </a:extLst>
            </p:cNvPr>
            <p:cNvSpPr txBox="1"/>
            <p:nvPr/>
          </p:nvSpPr>
          <p:spPr>
            <a:xfrm>
              <a:off x="7000892" y="4162016"/>
              <a:ext cx="357190" cy="338554"/>
            </a:xfrm>
            <a:prstGeom prst="rect">
              <a:avLst/>
            </a:prstGeom>
            <a:noFill/>
          </p:spPr>
          <p:txBody>
            <a:bodyPr wrap="square" rtlCol="0">
              <a:spAutoFit/>
            </a:bodyPr>
            <a:lstStyle/>
            <a:p>
              <a:r>
                <a:rPr lang="en-US" altLang="zh-CN" sz="1600">
                  <a:latin typeface="Consolas" pitchFamily="49" charset="0"/>
                  <a:cs typeface="Consolas" pitchFamily="49" charset="0"/>
                </a:rPr>
                <a:t>3</a:t>
              </a:r>
              <a:endParaRPr lang="zh-CN" altLang="en-US" sz="1600">
                <a:latin typeface="Consolas" pitchFamily="49" charset="0"/>
                <a:cs typeface="Consolas" pitchFamily="49" charset="0"/>
              </a:endParaRPr>
            </a:p>
          </p:txBody>
        </p:sp>
      </p:grpSp>
      <p:grpSp>
        <p:nvGrpSpPr>
          <p:cNvPr id="102" name="Group 42">
            <a:extLst>
              <a:ext uri="{FF2B5EF4-FFF2-40B4-BE49-F238E27FC236}">
                <a16:creationId xmlns:a16="http://schemas.microsoft.com/office/drawing/2014/main" xmlns="" id="{3811C8FB-93FC-CC3B-D74B-DC7851B5A145}"/>
              </a:ext>
            </a:extLst>
          </p:cNvPr>
          <p:cNvGrpSpPr>
            <a:grpSpLocks/>
          </p:cNvGrpSpPr>
          <p:nvPr/>
        </p:nvGrpSpPr>
        <p:grpSpPr bwMode="auto">
          <a:xfrm>
            <a:off x="2251189" y="3312408"/>
            <a:ext cx="2286000" cy="2057400"/>
            <a:chOff x="384" y="2304"/>
            <a:chExt cx="1440" cy="1296"/>
          </a:xfrm>
        </p:grpSpPr>
        <p:sp>
          <p:nvSpPr>
            <p:cNvPr id="103" name="Oval 43">
              <a:extLst>
                <a:ext uri="{FF2B5EF4-FFF2-40B4-BE49-F238E27FC236}">
                  <a16:creationId xmlns:a16="http://schemas.microsoft.com/office/drawing/2014/main" xmlns="" id="{C58A2CA2-D7FB-8C88-9220-525C2844B5EC}"/>
                </a:ext>
              </a:extLst>
            </p:cNvPr>
            <p:cNvSpPr>
              <a:spLocks noChangeArrowheads="1"/>
            </p:cNvSpPr>
            <p:nvPr/>
          </p:nvSpPr>
          <p:spPr bwMode="auto">
            <a:xfrm>
              <a:off x="1296" y="3024"/>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effectLst>
                    <a:outerShdw blurRad="38100" dist="38100" dir="2700000" algn="tl">
                      <a:srgbClr val="000000"/>
                    </a:outerShdw>
                  </a:effectLst>
                  <a:latin typeface="Times New Roman" pitchFamily="18" charset="0"/>
                </a:rPr>
                <a:t>E</a:t>
              </a:r>
            </a:p>
          </p:txBody>
        </p:sp>
        <p:sp>
          <p:nvSpPr>
            <p:cNvPr id="104" name="Oval 44">
              <a:extLst>
                <a:ext uri="{FF2B5EF4-FFF2-40B4-BE49-F238E27FC236}">
                  <a16:creationId xmlns:a16="http://schemas.microsoft.com/office/drawing/2014/main" xmlns="" id="{A7A2DAFD-7641-03A0-E332-F622D4B4D754}"/>
                </a:ext>
              </a:extLst>
            </p:cNvPr>
            <p:cNvSpPr>
              <a:spLocks noChangeArrowheads="1"/>
            </p:cNvSpPr>
            <p:nvPr/>
          </p:nvSpPr>
          <p:spPr bwMode="auto">
            <a:xfrm>
              <a:off x="1584" y="3360"/>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G</a:t>
              </a:r>
            </a:p>
          </p:txBody>
        </p:sp>
        <p:cxnSp>
          <p:nvCxnSpPr>
            <p:cNvPr id="105" name="AutoShape 45">
              <a:extLst>
                <a:ext uri="{FF2B5EF4-FFF2-40B4-BE49-F238E27FC236}">
                  <a16:creationId xmlns:a16="http://schemas.microsoft.com/office/drawing/2014/main" xmlns="" id="{07B0B38A-FE6E-DBCF-4980-BBBE1C4159B0}"/>
                </a:ext>
              </a:extLst>
            </p:cNvPr>
            <p:cNvCxnSpPr>
              <a:cxnSpLocks noChangeShapeType="1"/>
              <a:stCxn id="104" idx="1"/>
              <a:endCxn id="103" idx="5"/>
            </p:cNvCxnSpPr>
            <p:nvPr/>
          </p:nvCxnSpPr>
          <p:spPr bwMode="auto">
            <a:xfrm flipH="1" flipV="1">
              <a:off x="1501" y="3229"/>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06" name="Oval 46">
              <a:extLst>
                <a:ext uri="{FF2B5EF4-FFF2-40B4-BE49-F238E27FC236}">
                  <a16:creationId xmlns:a16="http://schemas.microsoft.com/office/drawing/2014/main" xmlns="" id="{140A86D2-4B17-E997-EFFA-74E5D1828787}"/>
                </a:ext>
              </a:extLst>
            </p:cNvPr>
            <p:cNvSpPr>
              <a:spLocks noChangeArrowheads="1"/>
            </p:cNvSpPr>
            <p:nvPr/>
          </p:nvSpPr>
          <p:spPr bwMode="auto">
            <a:xfrm>
              <a:off x="1008" y="3360"/>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F</a:t>
              </a:r>
            </a:p>
          </p:txBody>
        </p:sp>
        <p:cxnSp>
          <p:nvCxnSpPr>
            <p:cNvPr id="107" name="AutoShape 47">
              <a:extLst>
                <a:ext uri="{FF2B5EF4-FFF2-40B4-BE49-F238E27FC236}">
                  <a16:creationId xmlns:a16="http://schemas.microsoft.com/office/drawing/2014/main" xmlns="" id="{0C955EC6-A2CA-B55B-004C-213B4D437FEE}"/>
                </a:ext>
              </a:extLst>
            </p:cNvPr>
            <p:cNvCxnSpPr>
              <a:cxnSpLocks noChangeShapeType="1"/>
              <a:stCxn id="103" idx="3"/>
              <a:endCxn id="106" idx="7"/>
            </p:cNvCxnSpPr>
            <p:nvPr/>
          </p:nvCxnSpPr>
          <p:spPr bwMode="auto">
            <a:xfrm flipH="1">
              <a:off x="1213" y="3229"/>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08" name="Oval 48">
              <a:extLst>
                <a:ext uri="{FF2B5EF4-FFF2-40B4-BE49-F238E27FC236}">
                  <a16:creationId xmlns:a16="http://schemas.microsoft.com/office/drawing/2014/main" xmlns="" id="{6AEA206D-CFFC-9595-5D5E-0251B842E9B7}"/>
                </a:ext>
              </a:extLst>
            </p:cNvPr>
            <p:cNvSpPr>
              <a:spLocks noChangeArrowheads="1"/>
            </p:cNvSpPr>
            <p:nvPr/>
          </p:nvSpPr>
          <p:spPr bwMode="auto">
            <a:xfrm>
              <a:off x="1008" y="2688"/>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C</a:t>
              </a:r>
            </a:p>
          </p:txBody>
        </p:sp>
        <p:sp>
          <p:nvSpPr>
            <p:cNvPr id="109" name="Oval 49">
              <a:extLst>
                <a:ext uri="{FF2B5EF4-FFF2-40B4-BE49-F238E27FC236}">
                  <a16:creationId xmlns:a16="http://schemas.microsoft.com/office/drawing/2014/main" xmlns="" id="{6AF611B4-2F00-00DD-D31B-A2CE4A89D6F5}"/>
                </a:ext>
              </a:extLst>
            </p:cNvPr>
            <p:cNvSpPr>
              <a:spLocks noChangeArrowheads="1"/>
            </p:cNvSpPr>
            <p:nvPr/>
          </p:nvSpPr>
          <p:spPr bwMode="auto">
            <a:xfrm>
              <a:off x="720" y="3024"/>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D</a:t>
              </a:r>
            </a:p>
          </p:txBody>
        </p:sp>
        <p:sp>
          <p:nvSpPr>
            <p:cNvPr id="110" name="Oval 50">
              <a:extLst>
                <a:ext uri="{FF2B5EF4-FFF2-40B4-BE49-F238E27FC236}">
                  <a16:creationId xmlns:a16="http://schemas.microsoft.com/office/drawing/2014/main" xmlns="" id="{E3DEBA54-663C-457E-93A5-25F43318E7B7}"/>
                </a:ext>
              </a:extLst>
            </p:cNvPr>
            <p:cNvSpPr>
              <a:spLocks noChangeArrowheads="1"/>
            </p:cNvSpPr>
            <p:nvPr/>
          </p:nvSpPr>
          <p:spPr bwMode="auto">
            <a:xfrm>
              <a:off x="720" y="2304"/>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A</a:t>
              </a:r>
            </a:p>
          </p:txBody>
        </p:sp>
        <p:sp>
          <p:nvSpPr>
            <p:cNvPr id="111" name="Oval 51">
              <a:extLst>
                <a:ext uri="{FF2B5EF4-FFF2-40B4-BE49-F238E27FC236}">
                  <a16:creationId xmlns:a16="http://schemas.microsoft.com/office/drawing/2014/main" xmlns="" id="{F1B1D7F9-025D-AC3C-901C-2D80636E2432}"/>
                </a:ext>
              </a:extLst>
            </p:cNvPr>
            <p:cNvSpPr>
              <a:spLocks noChangeArrowheads="1"/>
            </p:cNvSpPr>
            <p:nvPr/>
          </p:nvSpPr>
          <p:spPr bwMode="auto">
            <a:xfrm>
              <a:off x="384" y="2688"/>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B</a:t>
              </a:r>
            </a:p>
          </p:txBody>
        </p:sp>
        <p:cxnSp>
          <p:nvCxnSpPr>
            <p:cNvPr id="112" name="AutoShape 52">
              <a:extLst>
                <a:ext uri="{FF2B5EF4-FFF2-40B4-BE49-F238E27FC236}">
                  <a16:creationId xmlns:a16="http://schemas.microsoft.com/office/drawing/2014/main" xmlns="" id="{0F117114-E9F6-9022-570A-A1A900505948}"/>
                </a:ext>
              </a:extLst>
            </p:cNvPr>
            <p:cNvCxnSpPr>
              <a:cxnSpLocks noChangeShapeType="1"/>
              <a:stCxn id="108" idx="5"/>
              <a:endCxn id="103" idx="1"/>
            </p:cNvCxnSpPr>
            <p:nvPr/>
          </p:nvCxnSpPr>
          <p:spPr bwMode="auto">
            <a:xfrm>
              <a:off x="1213" y="2893"/>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13" name="AutoShape 53">
              <a:extLst>
                <a:ext uri="{FF2B5EF4-FFF2-40B4-BE49-F238E27FC236}">
                  <a16:creationId xmlns:a16="http://schemas.microsoft.com/office/drawing/2014/main" xmlns="" id="{B026BEE3-FB69-8F15-3943-E39706F51DB5}"/>
                </a:ext>
              </a:extLst>
            </p:cNvPr>
            <p:cNvCxnSpPr>
              <a:cxnSpLocks noChangeShapeType="1"/>
              <a:stCxn id="108" idx="3"/>
              <a:endCxn id="109" idx="7"/>
            </p:cNvCxnSpPr>
            <p:nvPr/>
          </p:nvCxnSpPr>
          <p:spPr bwMode="auto">
            <a:xfrm flipH="1">
              <a:off x="925" y="2893"/>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14" name="AutoShape 54">
              <a:extLst>
                <a:ext uri="{FF2B5EF4-FFF2-40B4-BE49-F238E27FC236}">
                  <a16:creationId xmlns:a16="http://schemas.microsoft.com/office/drawing/2014/main" xmlns="" id="{66EB6940-8902-F5E1-C7D6-44934DA8F9BC}"/>
                </a:ext>
              </a:extLst>
            </p:cNvPr>
            <p:cNvCxnSpPr>
              <a:cxnSpLocks noChangeShapeType="1"/>
            </p:cNvCxnSpPr>
            <p:nvPr/>
          </p:nvCxnSpPr>
          <p:spPr bwMode="auto">
            <a:xfrm>
              <a:off x="912" y="2496"/>
              <a:ext cx="166" cy="21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15" name="AutoShape 55">
              <a:extLst>
                <a:ext uri="{FF2B5EF4-FFF2-40B4-BE49-F238E27FC236}">
                  <a16:creationId xmlns:a16="http://schemas.microsoft.com/office/drawing/2014/main" xmlns="" id="{B23C021B-D289-0A26-CC84-31F43DF20053}"/>
                </a:ext>
              </a:extLst>
            </p:cNvPr>
            <p:cNvCxnSpPr>
              <a:cxnSpLocks noChangeShapeType="1"/>
              <a:stCxn id="110" idx="3"/>
              <a:endCxn id="111" idx="7"/>
            </p:cNvCxnSpPr>
            <p:nvPr/>
          </p:nvCxnSpPr>
          <p:spPr bwMode="auto">
            <a:xfrm flipH="1">
              <a:off x="589" y="2509"/>
              <a:ext cx="166" cy="21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
        <p:nvSpPr>
          <p:cNvPr id="116" name="Rectangle 57">
            <a:extLst>
              <a:ext uri="{FF2B5EF4-FFF2-40B4-BE49-F238E27FC236}">
                <a16:creationId xmlns:a16="http://schemas.microsoft.com/office/drawing/2014/main" xmlns="" id="{8695E962-E4F7-A3EF-744F-C0BA3038E917}"/>
              </a:ext>
            </a:extLst>
          </p:cNvPr>
          <p:cNvSpPr>
            <a:spLocks noChangeArrowheads="1"/>
          </p:cNvSpPr>
          <p:nvPr/>
        </p:nvSpPr>
        <p:spPr bwMode="auto">
          <a:xfrm>
            <a:off x="1565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A</a:t>
            </a:r>
          </a:p>
        </p:txBody>
      </p:sp>
      <p:sp>
        <p:nvSpPr>
          <p:cNvPr id="117" name="Rectangle 58">
            <a:extLst>
              <a:ext uri="{FF2B5EF4-FFF2-40B4-BE49-F238E27FC236}">
                <a16:creationId xmlns:a16="http://schemas.microsoft.com/office/drawing/2014/main" xmlns="" id="{F942EB9D-AF9C-DE2B-C4B4-9B41CB8AC216}"/>
              </a:ext>
            </a:extLst>
          </p:cNvPr>
          <p:cNvSpPr>
            <a:spLocks noChangeArrowheads="1"/>
          </p:cNvSpPr>
          <p:nvPr/>
        </p:nvSpPr>
        <p:spPr bwMode="auto">
          <a:xfrm>
            <a:off x="1946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B</a:t>
            </a:r>
          </a:p>
        </p:txBody>
      </p:sp>
      <p:sp>
        <p:nvSpPr>
          <p:cNvPr id="118" name="Rectangle 59">
            <a:extLst>
              <a:ext uri="{FF2B5EF4-FFF2-40B4-BE49-F238E27FC236}">
                <a16:creationId xmlns:a16="http://schemas.microsoft.com/office/drawing/2014/main" xmlns="" id="{2AF9DBAC-B431-BBA4-2A98-87C706F7BB97}"/>
              </a:ext>
            </a:extLst>
          </p:cNvPr>
          <p:cNvSpPr>
            <a:spLocks noChangeArrowheads="1"/>
          </p:cNvSpPr>
          <p:nvPr/>
        </p:nvSpPr>
        <p:spPr bwMode="auto">
          <a:xfrm>
            <a:off x="2327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C</a:t>
            </a:r>
          </a:p>
        </p:txBody>
      </p:sp>
      <p:sp>
        <p:nvSpPr>
          <p:cNvPr id="119" name="Rectangle 60">
            <a:extLst>
              <a:ext uri="{FF2B5EF4-FFF2-40B4-BE49-F238E27FC236}">
                <a16:creationId xmlns:a16="http://schemas.microsoft.com/office/drawing/2014/main" xmlns="" id="{903C1169-293F-30A5-B056-B3C8ABC13EFE}"/>
              </a:ext>
            </a:extLst>
          </p:cNvPr>
          <p:cNvSpPr>
            <a:spLocks noChangeArrowheads="1"/>
          </p:cNvSpPr>
          <p:nvPr/>
        </p:nvSpPr>
        <p:spPr bwMode="auto">
          <a:xfrm>
            <a:off x="2708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120" name="Rectangle 61">
            <a:extLst>
              <a:ext uri="{FF2B5EF4-FFF2-40B4-BE49-F238E27FC236}">
                <a16:creationId xmlns:a16="http://schemas.microsoft.com/office/drawing/2014/main" xmlns="" id="{9644E8B7-4E77-DAD5-2E0C-1FD385B91C55}"/>
              </a:ext>
            </a:extLst>
          </p:cNvPr>
          <p:cNvSpPr>
            <a:spLocks noChangeArrowheads="1"/>
          </p:cNvSpPr>
          <p:nvPr/>
        </p:nvSpPr>
        <p:spPr bwMode="auto">
          <a:xfrm>
            <a:off x="3089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121" name="Rectangle 62">
            <a:extLst>
              <a:ext uri="{FF2B5EF4-FFF2-40B4-BE49-F238E27FC236}">
                <a16:creationId xmlns:a16="http://schemas.microsoft.com/office/drawing/2014/main" xmlns="" id="{027D5E51-C5ED-ED14-F87F-D04C8211619A}"/>
              </a:ext>
            </a:extLst>
          </p:cNvPr>
          <p:cNvSpPr>
            <a:spLocks noChangeArrowheads="1"/>
          </p:cNvSpPr>
          <p:nvPr/>
        </p:nvSpPr>
        <p:spPr bwMode="auto">
          <a:xfrm>
            <a:off x="3470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D</a:t>
            </a:r>
          </a:p>
        </p:txBody>
      </p:sp>
      <p:sp>
        <p:nvSpPr>
          <p:cNvPr id="122" name="Rectangle 63">
            <a:extLst>
              <a:ext uri="{FF2B5EF4-FFF2-40B4-BE49-F238E27FC236}">
                <a16:creationId xmlns:a16="http://schemas.microsoft.com/office/drawing/2014/main" xmlns="" id="{EE1801F1-AFED-2EC0-DB39-E7DD1F3B0264}"/>
              </a:ext>
            </a:extLst>
          </p:cNvPr>
          <p:cNvSpPr>
            <a:spLocks noChangeArrowheads="1"/>
          </p:cNvSpPr>
          <p:nvPr/>
        </p:nvSpPr>
        <p:spPr bwMode="auto">
          <a:xfrm>
            <a:off x="3851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E</a:t>
            </a:r>
          </a:p>
        </p:txBody>
      </p:sp>
      <p:sp>
        <p:nvSpPr>
          <p:cNvPr id="123" name="Rectangle 64">
            <a:extLst>
              <a:ext uri="{FF2B5EF4-FFF2-40B4-BE49-F238E27FC236}">
                <a16:creationId xmlns:a16="http://schemas.microsoft.com/office/drawing/2014/main" xmlns="" id="{0793A4E8-91BD-8909-4660-DB4CB5E07DB3}"/>
              </a:ext>
            </a:extLst>
          </p:cNvPr>
          <p:cNvSpPr>
            <a:spLocks noChangeArrowheads="1"/>
          </p:cNvSpPr>
          <p:nvPr/>
        </p:nvSpPr>
        <p:spPr bwMode="auto">
          <a:xfrm>
            <a:off x="4232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124" name="Rectangle 65">
            <a:extLst>
              <a:ext uri="{FF2B5EF4-FFF2-40B4-BE49-F238E27FC236}">
                <a16:creationId xmlns:a16="http://schemas.microsoft.com/office/drawing/2014/main" xmlns="" id="{5AC6FF61-0CE7-CF14-189D-8AE45CE24E5F}"/>
              </a:ext>
            </a:extLst>
          </p:cNvPr>
          <p:cNvSpPr>
            <a:spLocks noChangeArrowheads="1"/>
          </p:cNvSpPr>
          <p:nvPr/>
        </p:nvSpPr>
        <p:spPr bwMode="auto">
          <a:xfrm>
            <a:off x="4613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125" name="Rectangle 66">
            <a:extLst>
              <a:ext uri="{FF2B5EF4-FFF2-40B4-BE49-F238E27FC236}">
                <a16:creationId xmlns:a16="http://schemas.microsoft.com/office/drawing/2014/main" xmlns="" id="{080CAEF7-DB0B-0AF6-3FAD-A1598925977A}"/>
              </a:ext>
            </a:extLst>
          </p:cNvPr>
          <p:cNvSpPr>
            <a:spLocks noChangeArrowheads="1"/>
          </p:cNvSpPr>
          <p:nvPr/>
        </p:nvSpPr>
        <p:spPr bwMode="auto">
          <a:xfrm>
            <a:off x="4994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126" name="Rectangle 67">
            <a:extLst>
              <a:ext uri="{FF2B5EF4-FFF2-40B4-BE49-F238E27FC236}">
                <a16:creationId xmlns:a16="http://schemas.microsoft.com/office/drawing/2014/main" xmlns="" id="{F4ABF58F-B81A-539B-F126-77B9D2689C0C}"/>
              </a:ext>
            </a:extLst>
          </p:cNvPr>
          <p:cNvSpPr>
            <a:spLocks noChangeArrowheads="1"/>
          </p:cNvSpPr>
          <p:nvPr/>
        </p:nvSpPr>
        <p:spPr bwMode="auto">
          <a:xfrm>
            <a:off x="5375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127" name="Rectangle 68">
            <a:extLst>
              <a:ext uri="{FF2B5EF4-FFF2-40B4-BE49-F238E27FC236}">
                <a16:creationId xmlns:a16="http://schemas.microsoft.com/office/drawing/2014/main" xmlns="" id="{B59A4E66-DF21-7802-BA10-8AF95DF8F1D4}"/>
              </a:ext>
            </a:extLst>
          </p:cNvPr>
          <p:cNvSpPr>
            <a:spLocks noChangeArrowheads="1"/>
          </p:cNvSpPr>
          <p:nvPr/>
        </p:nvSpPr>
        <p:spPr bwMode="auto">
          <a:xfrm>
            <a:off x="5756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128" name="Rectangle 69">
            <a:extLst>
              <a:ext uri="{FF2B5EF4-FFF2-40B4-BE49-F238E27FC236}">
                <a16:creationId xmlns:a16="http://schemas.microsoft.com/office/drawing/2014/main" xmlns="" id="{48F7DE7A-927D-4215-A74E-C9BC17B3B1AF}"/>
              </a:ext>
            </a:extLst>
          </p:cNvPr>
          <p:cNvSpPr>
            <a:spLocks noChangeArrowheads="1"/>
          </p:cNvSpPr>
          <p:nvPr/>
        </p:nvSpPr>
        <p:spPr bwMode="auto">
          <a:xfrm>
            <a:off x="6137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129" name="Rectangle 70">
            <a:extLst>
              <a:ext uri="{FF2B5EF4-FFF2-40B4-BE49-F238E27FC236}">
                <a16:creationId xmlns:a16="http://schemas.microsoft.com/office/drawing/2014/main" xmlns="" id="{30BAA772-D577-B2B7-3808-A39880A6CD7D}"/>
              </a:ext>
            </a:extLst>
          </p:cNvPr>
          <p:cNvSpPr>
            <a:spLocks noChangeArrowheads="1"/>
          </p:cNvSpPr>
          <p:nvPr/>
        </p:nvSpPr>
        <p:spPr bwMode="auto">
          <a:xfrm>
            <a:off x="6518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F</a:t>
            </a:r>
          </a:p>
        </p:txBody>
      </p:sp>
      <p:sp>
        <p:nvSpPr>
          <p:cNvPr id="130" name="Rectangle 71">
            <a:extLst>
              <a:ext uri="{FF2B5EF4-FFF2-40B4-BE49-F238E27FC236}">
                <a16:creationId xmlns:a16="http://schemas.microsoft.com/office/drawing/2014/main" xmlns="" id="{381B8248-217F-80DF-0F11-FBD0D36EE643}"/>
              </a:ext>
            </a:extLst>
          </p:cNvPr>
          <p:cNvSpPr>
            <a:spLocks noChangeArrowheads="1"/>
          </p:cNvSpPr>
          <p:nvPr/>
        </p:nvSpPr>
        <p:spPr bwMode="auto">
          <a:xfrm>
            <a:off x="6899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G</a:t>
            </a:r>
          </a:p>
        </p:txBody>
      </p:sp>
      <p:sp>
        <p:nvSpPr>
          <p:cNvPr id="131" name="Rectangle 72">
            <a:extLst>
              <a:ext uri="{FF2B5EF4-FFF2-40B4-BE49-F238E27FC236}">
                <a16:creationId xmlns:a16="http://schemas.microsoft.com/office/drawing/2014/main" xmlns="" id="{10961A41-4AAC-5EB1-CB51-1396C64CDF91}"/>
              </a:ext>
            </a:extLst>
          </p:cNvPr>
          <p:cNvSpPr>
            <a:spLocks noChangeArrowheads="1"/>
          </p:cNvSpPr>
          <p:nvPr/>
        </p:nvSpPr>
        <p:spPr bwMode="auto">
          <a:xfrm>
            <a:off x="7280389" y="5772166"/>
            <a:ext cx="381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132" name="Rectangle 73">
            <a:extLst>
              <a:ext uri="{FF2B5EF4-FFF2-40B4-BE49-F238E27FC236}">
                <a16:creationId xmlns:a16="http://schemas.microsoft.com/office/drawing/2014/main" xmlns="" id="{302AA569-FCAB-4E52-2855-ADEFE8AF8A82}"/>
              </a:ext>
            </a:extLst>
          </p:cNvPr>
          <p:cNvSpPr>
            <a:spLocks noChangeArrowheads="1"/>
          </p:cNvSpPr>
          <p:nvPr/>
        </p:nvSpPr>
        <p:spPr bwMode="auto">
          <a:xfrm>
            <a:off x="1565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txBody>
          <a:bodyPr wrap="none" anchor="ctr"/>
          <a:lstStyle/>
          <a:p>
            <a:pPr algn="ctr">
              <a:spcBef>
                <a:spcPct val="0"/>
              </a:spcBef>
              <a:buClrTx/>
              <a:buSzTx/>
              <a:buFontTx/>
              <a:buNone/>
            </a:pPr>
            <a:r>
              <a:rPr lang="en-US" altLang="zh-CN"/>
              <a:t>1</a:t>
            </a:r>
          </a:p>
        </p:txBody>
      </p:sp>
      <p:sp>
        <p:nvSpPr>
          <p:cNvPr id="133" name="Rectangle 74">
            <a:extLst>
              <a:ext uri="{FF2B5EF4-FFF2-40B4-BE49-F238E27FC236}">
                <a16:creationId xmlns:a16="http://schemas.microsoft.com/office/drawing/2014/main" xmlns="" id="{2C722202-0359-0D8D-D6D0-FF71A96081EE}"/>
              </a:ext>
            </a:extLst>
          </p:cNvPr>
          <p:cNvSpPr>
            <a:spLocks noChangeArrowheads="1"/>
          </p:cNvSpPr>
          <p:nvPr/>
        </p:nvSpPr>
        <p:spPr bwMode="auto">
          <a:xfrm>
            <a:off x="1946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2</a:t>
            </a:r>
          </a:p>
        </p:txBody>
      </p:sp>
      <p:sp>
        <p:nvSpPr>
          <p:cNvPr id="134" name="Rectangle 75">
            <a:extLst>
              <a:ext uri="{FF2B5EF4-FFF2-40B4-BE49-F238E27FC236}">
                <a16:creationId xmlns:a16="http://schemas.microsoft.com/office/drawing/2014/main" xmlns="" id="{160AC21C-B8F3-A147-FDF0-E7288F5C08EE}"/>
              </a:ext>
            </a:extLst>
          </p:cNvPr>
          <p:cNvSpPr>
            <a:spLocks noChangeArrowheads="1"/>
          </p:cNvSpPr>
          <p:nvPr/>
        </p:nvSpPr>
        <p:spPr bwMode="auto">
          <a:xfrm>
            <a:off x="2327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3</a:t>
            </a:r>
          </a:p>
        </p:txBody>
      </p:sp>
      <p:sp>
        <p:nvSpPr>
          <p:cNvPr id="135" name="Rectangle 76">
            <a:extLst>
              <a:ext uri="{FF2B5EF4-FFF2-40B4-BE49-F238E27FC236}">
                <a16:creationId xmlns:a16="http://schemas.microsoft.com/office/drawing/2014/main" xmlns="" id="{A4695845-7004-058E-BEEC-6EF3BF3FF718}"/>
              </a:ext>
            </a:extLst>
          </p:cNvPr>
          <p:cNvSpPr>
            <a:spLocks noChangeArrowheads="1"/>
          </p:cNvSpPr>
          <p:nvPr/>
        </p:nvSpPr>
        <p:spPr bwMode="auto">
          <a:xfrm>
            <a:off x="2708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4</a:t>
            </a:r>
          </a:p>
        </p:txBody>
      </p:sp>
      <p:sp>
        <p:nvSpPr>
          <p:cNvPr id="136" name="Rectangle 77">
            <a:extLst>
              <a:ext uri="{FF2B5EF4-FFF2-40B4-BE49-F238E27FC236}">
                <a16:creationId xmlns:a16="http://schemas.microsoft.com/office/drawing/2014/main" xmlns="" id="{FCEEA62C-F52C-EF48-8312-C7CE572AC36D}"/>
              </a:ext>
            </a:extLst>
          </p:cNvPr>
          <p:cNvSpPr>
            <a:spLocks noChangeArrowheads="1"/>
          </p:cNvSpPr>
          <p:nvPr/>
        </p:nvSpPr>
        <p:spPr bwMode="auto">
          <a:xfrm>
            <a:off x="3089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5</a:t>
            </a:r>
          </a:p>
        </p:txBody>
      </p:sp>
      <p:sp>
        <p:nvSpPr>
          <p:cNvPr id="137" name="Rectangle 78">
            <a:extLst>
              <a:ext uri="{FF2B5EF4-FFF2-40B4-BE49-F238E27FC236}">
                <a16:creationId xmlns:a16="http://schemas.microsoft.com/office/drawing/2014/main" xmlns="" id="{D1BA9C26-A35C-0934-6344-9BE5768BE576}"/>
              </a:ext>
            </a:extLst>
          </p:cNvPr>
          <p:cNvSpPr>
            <a:spLocks noChangeArrowheads="1"/>
          </p:cNvSpPr>
          <p:nvPr/>
        </p:nvSpPr>
        <p:spPr bwMode="auto">
          <a:xfrm>
            <a:off x="3470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6</a:t>
            </a:r>
          </a:p>
        </p:txBody>
      </p:sp>
      <p:sp>
        <p:nvSpPr>
          <p:cNvPr id="138" name="Rectangle 79">
            <a:extLst>
              <a:ext uri="{FF2B5EF4-FFF2-40B4-BE49-F238E27FC236}">
                <a16:creationId xmlns:a16="http://schemas.microsoft.com/office/drawing/2014/main" xmlns="" id="{7637FFEA-C146-4275-BA3F-0E9912A9F42C}"/>
              </a:ext>
            </a:extLst>
          </p:cNvPr>
          <p:cNvSpPr>
            <a:spLocks noChangeArrowheads="1"/>
          </p:cNvSpPr>
          <p:nvPr/>
        </p:nvSpPr>
        <p:spPr bwMode="auto">
          <a:xfrm>
            <a:off x="3851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7</a:t>
            </a:r>
          </a:p>
        </p:txBody>
      </p:sp>
      <p:sp>
        <p:nvSpPr>
          <p:cNvPr id="139" name="Rectangle 80">
            <a:extLst>
              <a:ext uri="{FF2B5EF4-FFF2-40B4-BE49-F238E27FC236}">
                <a16:creationId xmlns:a16="http://schemas.microsoft.com/office/drawing/2014/main" xmlns="" id="{F0955172-B49E-8A90-9939-32CF14B70452}"/>
              </a:ext>
            </a:extLst>
          </p:cNvPr>
          <p:cNvSpPr>
            <a:spLocks noChangeArrowheads="1"/>
          </p:cNvSpPr>
          <p:nvPr/>
        </p:nvSpPr>
        <p:spPr bwMode="auto">
          <a:xfrm>
            <a:off x="4232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8</a:t>
            </a:r>
          </a:p>
        </p:txBody>
      </p:sp>
      <p:sp>
        <p:nvSpPr>
          <p:cNvPr id="140" name="Rectangle 81">
            <a:extLst>
              <a:ext uri="{FF2B5EF4-FFF2-40B4-BE49-F238E27FC236}">
                <a16:creationId xmlns:a16="http://schemas.microsoft.com/office/drawing/2014/main" xmlns="" id="{0A11EC30-ABAA-A95B-A89A-0CBE2B158E70}"/>
              </a:ext>
            </a:extLst>
          </p:cNvPr>
          <p:cNvSpPr>
            <a:spLocks noChangeArrowheads="1"/>
          </p:cNvSpPr>
          <p:nvPr/>
        </p:nvSpPr>
        <p:spPr bwMode="auto">
          <a:xfrm>
            <a:off x="4613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9</a:t>
            </a:r>
          </a:p>
        </p:txBody>
      </p:sp>
      <p:sp>
        <p:nvSpPr>
          <p:cNvPr id="141" name="Rectangle 82">
            <a:extLst>
              <a:ext uri="{FF2B5EF4-FFF2-40B4-BE49-F238E27FC236}">
                <a16:creationId xmlns:a16="http://schemas.microsoft.com/office/drawing/2014/main" xmlns="" id="{0E4C2DF1-08C8-38C4-2F41-92DF11016650}"/>
              </a:ext>
            </a:extLst>
          </p:cNvPr>
          <p:cNvSpPr>
            <a:spLocks noChangeArrowheads="1"/>
          </p:cNvSpPr>
          <p:nvPr/>
        </p:nvSpPr>
        <p:spPr bwMode="auto">
          <a:xfrm>
            <a:off x="4994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10</a:t>
            </a:r>
          </a:p>
        </p:txBody>
      </p:sp>
      <p:sp>
        <p:nvSpPr>
          <p:cNvPr id="142" name="Rectangle 83">
            <a:extLst>
              <a:ext uri="{FF2B5EF4-FFF2-40B4-BE49-F238E27FC236}">
                <a16:creationId xmlns:a16="http://schemas.microsoft.com/office/drawing/2014/main" xmlns="" id="{60F1226F-66B5-E420-E939-351C5909D590}"/>
              </a:ext>
            </a:extLst>
          </p:cNvPr>
          <p:cNvSpPr>
            <a:spLocks noChangeArrowheads="1"/>
          </p:cNvSpPr>
          <p:nvPr/>
        </p:nvSpPr>
        <p:spPr bwMode="auto">
          <a:xfrm>
            <a:off x="5375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11</a:t>
            </a:r>
          </a:p>
        </p:txBody>
      </p:sp>
      <p:sp>
        <p:nvSpPr>
          <p:cNvPr id="143" name="Rectangle 84">
            <a:extLst>
              <a:ext uri="{FF2B5EF4-FFF2-40B4-BE49-F238E27FC236}">
                <a16:creationId xmlns:a16="http://schemas.microsoft.com/office/drawing/2014/main" xmlns="" id="{22BB3D55-8141-6547-C980-3934A3FEAF1F}"/>
              </a:ext>
            </a:extLst>
          </p:cNvPr>
          <p:cNvSpPr>
            <a:spLocks noChangeArrowheads="1"/>
          </p:cNvSpPr>
          <p:nvPr/>
        </p:nvSpPr>
        <p:spPr bwMode="auto">
          <a:xfrm>
            <a:off x="5756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12</a:t>
            </a:r>
          </a:p>
        </p:txBody>
      </p:sp>
      <p:sp>
        <p:nvSpPr>
          <p:cNvPr id="144" name="Rectangle 85">
            <a:extLst>
              <a:ext uri="{FF2B5EF4-FFF2-40B4-BE49-F238E27FC236}">
                <a16:creationId xmlns:a16="http://schemas.microsoft.com/office/drawing/2014/main" xmlns="" id="{DDEBA74F-8498-DA4C-6114-95AD9B300925}"/>
              </a:ext>
            </a:extLst>
          </p:cNvPr>
          <p:cNvSpPr>
            <a:spLocks noChangeArrowheads="1"/>
          </p:cNvSpPr>
          <p:nvPr/>
        </p:nvSpPr>
        <p:spPr bwMode="auto">
          <a:xfrm>
            <a:off x="6137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13</a:t>
            </a:r>
          </a:p>
        </p:txBody>
      </p:sp>
      <p:sp>
        <p:nvSpPr>
          <p:cNvPr id="145" name="Rectangle 86">
            <a:extLst>
              <a:ext uri="{FF2B5EF4-FFF2-40B4-BE49-F238E27FC236}">
                <a16:creationId xmlns:a16="http://schemas.microsoft.com/office/drawing/2014/main" xmlns="" id="{17A218C4-70A9-38A2-3AF5-0F6F261D0E3E}"/>
              </a:ext>
            </a:extLst>
          </p:cNvPr>
          <p:cNvSpPr>
            <a:spLocks noChangeArrowheads="1"/>
          </p:cNvSpPr>
          <p:nvPr/>
        </p:nvSpPr>
        <p:spPr bwMode="auto">
          <a:xfrm>
            <a:off x="6518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14</a:t>
            </a:r>
          </a:p>
        </p:txBody>
      </p:sp>
      <p:sp>
        <p:nvSpPr>
          <p:cNvPr id="146" name="Rectangle 87">
            <a:extLst>
              <a:ext uri="{FF2B5EF4-FFF2-40B4-BE49-F238E27FC236}">
                <a16:creationId xmlns:a16="http://schemas.microsoft.com/office/drawing/2014/main" xmlns="" id="{37B70F50-7EC0-E33A-2DFB-90D6230F6992}"/>
              </a:ext>
            </a:extLst>
          </p:cNvPr>
          <p:cNvSpPr>
            <a:spLocks noChangeArrowheads="1"/>
          </p:cNvSpPr>
          <p:nvPr/>
        </p:nvSpPr>
        <p:spPr bwMode="auto">
          <a:xfrm>
            <a:off x="6899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15</a:t>
            </a:r>
          </a:p>
        </p:txBody>
      </p:sp>
      <p:sp>
        <p:nvSpPr>
          <p:cNvPr id="147" name="Rectangle 88">
            <a:extLst>
              <a:ext uri="{FF2B5EF4-FFF2-40B4-BE49-F238E27FC236}">
                <a16:creationId xmlns:a16="http://schemas.microsoft.com/office/drawing/2014/main" xmlns="" id="{A9F0612C-CB61-6A7E-3D53-AEC740806812}"/>
              </a:ext>
            </a:extLst>
          </p:cNvPr>
          <p:cNvSpPr>
            <a:spLocks noChangeArrowheads="1"/>
          </p:cNvSpPr>
          <p:nvPr/>
        </p:nvSpPr>
        <p:spPr bwMode="auto">
          <a:xfrm>
            <a:off x="7280389" y="6153166"/>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a:t>16</a:t>
            </a:r>
          </a:p>
        </p:txBody>
      </p:sp>
      <p:sp>
        <p:nvSpPr>
          <p:cNvPr id="148" name="Rectangle 29">
            <a:extLst>
              <a:ext uri="{FF2B5EF4-FFF2-40B4-BE49-F238E27FC236}">
                <a16:creationId xmlns:a16="http://schemas.microsoft.com/office/drawing/2014/main" xmlns="" id="{C819A254-489B-F529-B3F4-3145A2B6AB2F}"/>
              </a:ext>
            </a:extLst>
          </p:cNvPr>
          <p:cNvSpPr>
            <a:spLocks noChangeArrowheads="1"/>
          </p:cNvSpPr>
          <p:nvPr/>
        </p:nvSpPr>
        <p:spPr bwMode="auto">
          <a:xfrm>
            <a:off x="3203689" y="333826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1</a:t>
            </a:r>
          </a:p>
        </p:txBody>
      </p:sp>
      <p:sp>
        <p:nvSpPr>
          <p:cNvPr id="149" name="Rectangle 29">
            <a:extLst>
              <a:ext uri="{FF2B5EF4-FFF2-40B4-BE49-F238E27FC236}">
                <a16:creationId xmlns:a16="http://schemas.microsoft.com/office/drawing/2014/main" xmlns="" id="{EE639944-AF7C-D80F-BD4B-3A3C5486BAA8}"/>
              </a:ext>
            </a:extLst>
          </p:cNvPr>
          <p:cNvSpPr>
            <a:spLocks noChangeArrowheads="1"/>
          </p:cNvSpPr>
          <p:nvPr/>
        </p:nvSpPr>
        <p:spPr bwMode="auto">
          <a:xfrm>
            <a:off x="2649652" y="3968361"/>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2</a:t>
            </a:r>
          </a:p>
        </p:txBody>
      </p:sp>
      <p:sp>
        <p:nvSpPr>
          <p:cNvPr id="150" name="Rectangle 29">
            <a:extLst>
              <a:ext uri="{FF2B5EF4-FFF2-40B4-BE49-F238E27FC236}">
                <a16:creationId xmlns:a16="http://schemas.microsoft.com/office/drawing/2014/main" xmlns="" id="{4BDEE149-84A0-5118-A82F-2191744B5FB6}"/>
              </a:ext>
            </a:extLst>
          </p:cNvPr>
          <p:cNvSpPr>
            <a:spLocks noChangeArrowheads="1"/>
          </p:cNvSpPr>
          <p:nvPr/>
        </p:nvSpPr>
        <p:spPr bwMode="auto">
          <a:xfrm>
            <a:off x="3676913" y="3968361"/>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3</a:t>
            </a:r>
          </a:p>
        </p:txBody>
      </p:sp>
      <p:sp>
        <p:nvSpPr>
          <p:cNvPr id="151" name="Rectangle 29">
            <a:extLst>
              <a:ext uri="{FF2B5EF4-FFF2-40B4-BE49-F238E27FC236}">
                <a16:creationId xmlns:a16="http://schemas.microsoft.com/office/drawing/2014/main" xmlns="" id="{4EC0EFB0-11D4-2312-ADC0-2B1AF148D68C}"/>
              </a:ext>
            </a:extLst>
          </p:cNvPr>
          <p:cNvSpPr>
            <a:spLocks noChangeArrowheads="1"/>
          </p:cNvSpPr>
          <p:nvPr/>
        </p:nvSpPr>
        <p:spPr bwMode="auto">
          <a:xfrm>
            <a:off x="3186227" y="453160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6</a:t>
            </a:r>
          </a:p>
        </p:txBody>
      </p:sp>
      <p:sp>
        <p:nvSpPr>
          <p:cNvPr id="152" name="Rectangle 29">
            <a:extLst>
              <a:ext uri="{FF2B5EF4-FFF2-40B4-BE49-F238E27FC236}">
                <a16:creationId xmlns:a16="http://schemas.microsoft.com/office/drawing/2014/main" xmlns="" id="{46DCEB94-C4A8-FDE9-FC67-D9DEEB3031DF}"/>
              </a:ext>
            </a:extLst>
          </p:cNvPr>
          <p:cNvSpPr>
            <a:spLocks noChangeArrowheads="1"/>
          </p:cNvSpPr>
          <p:nvPr/>
        </p:nvSpPr>
        <p:spPr bwMode="auto">
          <a:xfrm>
            <a:off x="4158230" y="449350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7</a:t>
            </a:r>
          </a:p>
        </p:txBody>
      </p:sp>
      <p:sp>
        <p:nvSpPr>
          <p:cNvPr id="153" name="Rectangle 29">
            <a:extLst>
              <a:ext uri="{FF2B5EF4-FFF2-40B4-BE49-F238E27FC236}">
                <a16:creationId xmlns:a16="http://schemas.microsoft.com/office/drawing/2014/main" xmlns="" id="{C900BE2A-9170-5944-4DB0-C81370DE4AD4}"/>
              </a:ext>
            </a:extLst>
          </p:cNvPr>
          <p:cNvSpPr>
            <a:spLocks noChangeArrowheads="1"/>
          </p:cNvSpPr>
          <p:nvPr/>
        </p:nvSpPr>
        <p:spPr bwMode="auto">
          <a:xfrm>
            <a:off x="3676913" y="5044371"/>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14</a:t>
            </a:r>
          </a:p>
        </p:txBody>
      </p:sp>
      <p:sp>
        <p:nvSpPr>
          <p:cNvPr id="154" name="Rectangle 29">
            <a:extLst>
              <a:ext uri="{FF2B5EF4-FFF2-40B4-BE49-F238E27FC236}">
                <a16:creationId xmlns:a16="http://schemas.microsoft.com/office/drawing/2014/main" xmlns="" id="{379D4A49-DF45-88DE-2931-9F5026754BB9}"/>
              </a:ext>
            </a:extLst>
          </p:cNvPr>
          <p:cNvSpPr>
            <a:spLocks noChangeArrowheads="1"/>
          </p:cNvSpPr>
          <p:nvPr/>
        </p:nvSpPr>
        <p:spPr bwMode="auto">
          <a:xfrm>
            <a:off x="4179207" y="542537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dirty="0"/>
              <a:t>15</a:t>
            </a:r>
          </a:p>
        </p:txBody>
      </p:sp>
    </p:spTree>
    <p:extLst>
      <p:ext uri="{BB962C8B-B14F-4D97-AF65-F5344CB8AC3E}">
        <p14:creationId xmlns:p14="http://schemas.microsoft.com/office/powerpoint/2010/main" val="2516921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xit" presetSubtype="4" fill="hold" nodeType="clickEffect">
                                  <p:stCondLst>
                                    <p:cond delay="0"/>
                                  </p:stCondLst>
                                  <p:childTnLst>
                                    <p:animEffect transition="out" filter="wipe(down)">
                                      <p:cBhvr>
                                        <p:cTn id="10" dur="500"/>
                                        <p:tgtEl>
                                          <p:spTgt spid="89"/>
                                        </p:tgtEl>
                                      </p:cBhvr>
                                    </p:animEffect>
                                    <p:set>
                                      <p:cBhvr>
                                        <p:cTn id="11" dur="1" fill="hold">
                                          <p:stCondLst>
                                            <p:cond delay="499"/>
                                          </p:stCondLst>
                                        </p:cTn>
                                        <p:tgtEl>
                                          <p:spTgt spid="89"/>
                                        </p:tgtEl>
                                        <p:attrNameLst>
                                          <p:attrName>style.visibility</p:attrName>
                                        </p:attrNameLst>
                                      </p:cBhvr>
                                      <p:to>
                                        <p:strVal val="hidden"/>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4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4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5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5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5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5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p:bldP spid="133" grpId="0"/>
      <p:bldP spid="134" grpId="0"/>
      <p:bldP spid="135" grpId="0"/>
      <p:bldP spid="136" grpId="0"/>
      <p:bldP spid="137" grpId="0"/>
      <p:bldP spid="138" grpId="0"/>
      <p:bldP spid="139" grpId="0"/>
      <p:bldP spid="140" grpId="0"/>
      <p:bldP spid="141" grpId="0"/>
      <p:bldP spid="142" grpId="0"/>
      <p:bldP spid="143" grpId="0"/>
      <p:bldP spid="144" grpId="0"/>
      <p:bldP spid="145" grpId="0"/>
      <p:bldP spid="146" grpId="0"/>
      <p:bldP spid="147" grpId="0"/>
      <p:bldP spid="148" grpId="0"/>
      <p:bldP spid="149" grpId="0"/>
      <p:bldP spid="150" grpId="0"/>
      <p:bldP spid="151" grpId="0"/>
      <p:bldP spid="152" grpId="0"/>
      <p:bldP spid="153" grpId="0"/>
      <p:bldP spid="15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98790F-C5D7-2578-4D7A-71B9AC2D4BBF}"/>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BBBFF3CA-E1D0-67FB-B6E5-FFEE91985163}"/>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7.3 </a:t>
            </a:r>
            <a:r>
              <a:rPr lang="zh-CN" altLang="en-US" sz="3000" b="1" dirty="0">
                <a:latin typeface="黑体" pitchFamily="49" charset="-122"/>
                <a:ea typeface="黑体" pitchFamily="49" charset="-122"/>
                <a:cs typeface="经典粗黑简" pitchFamily="49" charset="-122"/>
              </a:rPr>
              <a:t>二叉树的存储结构</a:t>
            </a:r>
          </a:p>
        </p:txBody>
      </p:sp>
      <p:cxnSp>
        <p:nvCxnSpPr>
          <p:cNvPr id="20" name="直接连接符 19">
            <a:extLst>
              <a:ext uri="{FF2B5EF4-FFF2-40B4-BE49-F238E27FC236}">
                <a16:creationId xmlns:a16="http://schemas.microsoft.com/office/drawing/2014/main" xmlns="" id="{E2F4B57A-9B89-B90C-0152-5000A831EAB0}"/>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xmlns="" id="{78811156-669C-71C0-FF52-F6083ED7C45D}"/>
              </a:ext>
            </a:extLst>
          </p:cNvPr>
          <p:cNvGrpSpPr>
            <a:grpSpLocks/>
          </p:cNvGrpSpPr>
          <p:nvPr/>
        </p:nvGrpSpPr>
        <p:grpSpPr bwMode="auto">
          <a:xfrm>
            <a:off x="1991544" y="2204864"/>
            <a:ext cx="4357688" cy="582613"/>
            <a:chOff x="144" y="2352"/>
            <a:chExt cx="2745" cy="367"/>
          </a:xfrm>
        </p:grpSpPr>
        <p:graphicFrame>
          <p:nvGraphicFramePr>
            <p:cNvPr id="32" name="Object 3">
              <a:extLst>
                <a:ext uri="{FF2B5EF4-FFF2-40B4-BE49-F238E27FC236}">
                  <a16:creationId xmlns:a16="http://schemas.microsoft.com/office/drawing/2014/main" xmlns="" id="{29FF2D26-B142-D477-503F-8893F327EECD}"/>
                </a:ext>
              </a:extLst>
            </p:cNvPr>
            <p:cNvGraphicFramePr>
              <a:graphicFrameLocks noChangeAspect="1"/>
            </p:cNvGraphicFramePr>
            <p:nvPr/>
          </p:nvGraphicFramePr>
          <p:xfrm>
            <a:off x="144" y="2352"/>
            <a:ext cx="384" cy="367"/>
          </p:xfrm>
          <a:graphic>
            <a:graphicData uri="http://schemas.openxmlformats.org/presentationml/2006/ole">
              <mc:AlternateContent xmlns:mc="http://schemas.openxmlformats.org/markup-compatibility/2006">
                <mc:Choice xmlns:v="urn:schemas-microsoft-com:vml" Requires="v">
                  <p:oleObj spid="_x0000_s2050" name="Clip" r:id="rId3" imgW="861365" imgH="844906" progId="MS_ClipArt_Gallery.5">
                    <p:embed/>
                  </p:oleObj>
                </mc:Choice>
                <mc:Fallback>
                  <p:oleObj name="Clip" r:id="rId3" imgW="861365" imgH="844906" progId="MS_ClipArt_Gallery.5">
                    <p:embed/>
                    <p:pic>
                      <p:nvPicPr>
                        <p:cNvPr id="10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 y="2352"/>
                          <a:ext cx="384"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 name="Text Box 4">
              <a:extLst>
                <a:ext uri="{FF2B5EF4-FFF2-40B4-BE49-F238E27FC236}">
                  <a16:creationId xmlns:a16="http://schemas.microsoft.com/office/drawing/2014/main" xmlns="" id="{067D01DB-4E16-2411-6395-897E2A85CFB9}"/>
                </a:ext>
              </a:extLst>
            </p:cNvPr>
            <p:cNvSpPr txBox="1">
              <a:spLocks noChangeArrowheads="1"/>
            </p:cNvSpPr>
            <p:nvPr/>
          </p:nvSpPr>
          <p:spPr bwMode="auto">
            <a:xfrm>
              <a:off x="624" y="2397"/>
              <a:ext cx="226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defRPr/>
              </a:pPr>
              <a:r>
                <a:rPr kumimoji="1" lang="zh-CN" altLang="en-US" dirty="0">
                  <a:latin typeface="微软雅黑" pitchFamily="34" charset="-122"/>
                  <a:ea typeface="微软雅黑" pitchFamily="34" charset="-122"/>
                  <a:cs typeface="经典粗黑简" pitchFamily="49" charset="-122"/>
                </a:rPr>
                <a:t>一棵斜树的顺序存储会怎样呢？</a:t>
              </a:r>
            </a:p>
          </p:txBody>
        </p:sp>
      </p:grpSp>
      <p:sp>
        <p:nvSpPr>
          <p:cNvPr id="34" name="Text Box 5" descr="水滴">
            <a:extLst>
              <a:ext uri="{FF2B5EF4-FFF2-40B4-BE49-F238E27FC236}">
                <a16:creationId xmlns:a16="http://schemas.microsoft.com/office/drawing/2014/main" xmlns="" id="{9AF70008-601F-D3F3-7480-2F9B4640B4FB}"/>
              </a:ext>
            </a:extLst>
          </p:cNvPr>
          <p:cNvSpPr txBox="1">
            <a:spLocks noChangeArrowheads="1"/>
          </p:cNvSpPr>
          <p:nvPr/>
        </p:nvSpPr>
        <p:spPr bwMode="auto">
          <a:xfrm>
            <a:off x="1978124" y="2851666"/>
            <a:ext cx="3670226" cy="646331"/>
          </a:xfrm>
          <a:prstGeom prst="rect">
            <a:avLst/>
          </a:prstGeom>
          <a:noFill/>
          <a:ln>
            <a:noFill/>
          </a:ln>
          <a:effectLst/>
          <a:extLst>
            <a:ext uri="{909E8E84-426E-40DD-AFC4-6F175D3DCCD1}">
              <a14:hiddenFill xmlns:a14="http://schemas.microsoft.com/office/drawing/2010/main">
                <a:blipFill dpi="0" rotWithShape="0">
                  <a:blip r:embed="rId5"/>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defRPr/>
            </a:pPr>
            <a:r>
              <a:rPr kumimoji="1" lang="zh-CN" altLang="en-US" dirty="0">
                <a:latin typeface="微软雅黑" pitchFamily="34" charset="-122"/>
                <a:ea typeface="微软雅黑" pitchFamily="34" charset="-122"/>
                <a:cs typeface="经典粗黑简" pitchFamily="49" charset="-122"/>
              </a:rPr>
              <a:t>深度为</a:t>
            </a:r>
            <a:r>
              <a:rPr kumimoji="1" lang="en-US" altLang="zh-CN" dirty="0">
                <a:latin typeface="微软雅黑" pitchFamily="34" charset="-122"/>
                <a:ea typeface="微软雅黑" pitchFamily="34" charset="-122"/>
                <a:cs typeface="经典粗黑简" pitchFamily="49" charset="-122"/>
              </a:rPr>
              <a:t>k</a:t>
            </a:r>
            <a:r>
              <a:rPr kumimoji="1" lang="zh-CN" altLang="en-US" dirty="0">
                <a:latin typeface="微软雅黑" pitchFamily="34" charset="-122"/>
                <a:ea typeface="微软雅黑" pitchFamily="34" charset="-122"/>
                <a:cs typeface="经典粗黑简" pitchFamily="49" charset="-122"/>
              </a:rPr>
              <a:t>的右斜树，</a:t>
            </a:r>
            <a:r>
              <a:rPr kumimoji="1" lang="en-US" altLang="zh-CN" dirty="0">
                <a:latin typeface="微软雅黑" pitchFamily="34" charset="-122"/>
                <a:ea typeface="微软雅黑" pitchFamily="34" charset="-122"/>
                <a:cs typeface="经典粗黑简" pitchFamily="49" charset="-122"/>
              </a:rPr>
              <a:t>k</a:t>
            </a:r>
            <a:r>
              <a:rPr kumimoji="1" lang="zh-CN" altLang="en-US" dirty="0">
                <a:latin typeface="微软雅黑" pitchFamily="34" charset="-122"/>
                <a:ea typeface="微软雅黑" pitchFamily="34" charset="-122"/>
                <a:cs typeface="经典粗黑简" pitchFamily="49" charset="-122"/>
              </a:rPr>
              <a:t>个结点需分配2</a:t>
            </a:r>
            <a:r>
              <a:rPr kumimoji="1" lang="en-US" altLang="zh-CN" baseline="30000" dirty="0">
                <a:latin typeface="微软雅黑" pitchFamily="34" charset="-122"/>
                <a:ea typeface="微软雅黑" pitchFamily="34" charset="-122"/>
                <a:cs typeface="经典粗黑简" pitchFamily="49" charset="-122"/>
              </a:rPr>
              <a:t>k</a:t>
            </a:r>
            <a:r>
              <a:rPr kumimoji="1" lang="en-US" altLang="zh-CN" dirty="0">
                <a:latin typeface="微软雅黑" pitchFamily="34" charset="-122"/>
                <a:ea typeface="微软雅黑" pitchFamily="34" charset="-122"/>
                <a:cs typeface="经典粗黑简" pitchFamily="49" charset="-122"/>
              </a:rPr>
              <a:t>－1</a:t>
            </a:r>
            <a:r>
              <a:rPr kumimoji="1" lang="zh-CN" altLang="en-US" dirty="0">
                <a:latin typeface="微软雅黑" pitchFamily="34" charset="-122"/>
                <a:ea typeface="微软雅黑" pitchFamily="34" charset="-122"/>
                <a:cs typeface="经典粗黑简" pitchFamily="49" charset="-122"/>
              </a:rPr>
              <a:t>个存储单元。 </a:t>
            </a:r>
          </a:p>
        </p:txBody>
      </p:sp>
      <p:sp>
        <p:nvSpPr>
          <p:cNvPr id="35" name="Text Box 6" descr="水滴">
            <a:extLst>
              <a:ext uri="{FF2B5EF4-FFF2-40B4-BE49-F238E27FC236}">
                <a16:creationId xmlns:a16="http://schemas.microsoft.com/office/drawing/2014/main" xmlns="" id="{D9F2FB8C-B3F7-1946-E0C4-E2891858A582}"/>
              </a:ext>
            </a:extLst>
          </p:cNvPr>
          <p:cNvSpPr txBox="1">
            <a:spLocks noChangeArrowheads="1"/>
          </p:cNvSpPr>
          <p:nvPr/>
        </p:nvSpPr>
        <p:spPr bwMode="auto">
          <a:xfrm>
            <a:off x="1978125" y="3517360"/>
            <a:ext cx="3694331" cy="923330"/>
          </a:xfrm>
          <a:prstGeom prst="rect">
            <a:avLst/>
          </a:prstGeom>
          <a:noFill/>
          <a:ln>
            <a:noFill/>
          </a:ln>
          <a:effectLst/>
          <a:extLst>
            <a:ext uri="{909E8E84-426E-40DD-AFC4-6F175D3DCCD1}">
              <a14:hiddenFill xmlns:a14="http://schemas.microsoft.com/office/drawing/2010/main">
                <a:blipFill dpi="0" rotWithShape="0">
                  <a:blip r:embed="rId5"/>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defRPr/>
            </a:pPr>
            <a:r>
              <a:rPr kumimoji="1" lang="zh-CN" altLang="en-US" dirty="0">
                <a:latin typeface="微软雅黑" pitchFamily="34" charset="-122"/>
                <a:ea typeface="微软雅黑" pitchFamily="34" charset="-122"/>
                <a:cs typeface="经典粗黑简" pitchFamily="49" charset="-122"/>
              </a:rPr>
              <a:t>一棵二叉树改造后成完全二叉树形态，需增加很多空结点，造成存储空间的浪费。</a:t>
            </a:r>
          </a:p>
        </p:txBody>
      </p:sp>
      <p:grpSp>
        <p:nvGrpSpPr>
          <p:cNvPr id="36" name="Group 9">
            <a:extLst>
              <a:ext uri="{FF2B5EF4-FFF2-40B4-BE49-F238E27FC236}">
                <a16:creationId xmlns:a16="http://schemas.microsoft.com/office/drawing/2014/main" xmlns="" id="{E3113A9C-8E1D-4A90-BEF6-473C44565C95}"/>
              </a:ext>
            </a:extLst>
          </p:cNvPr>
          <p:cNvGrpSpPr>
            <a:grpSpLocks/>
          </p:cNvGrpSpPr>
          <p:nvPr/>
        </p:nvGrpSpPr>
        <p:grpSpPr bwMode="auto">
          <a:xfrm>
            <a:off x="5702864" y="1776563"/>
            <a:ext cx="4822825" cy="2843213"/>
            <a:chOff x="2611" y="1524"/>
            <a:chExt cx="3038" cy="1791"/>
          </a:xfrm>
        </p:grpSpPr>
        <p:sp>
          <p:nvSpPr>
            <p:cNvPr id="37" name="Text Box 10">
              <a:extLst>
                <a:ext uri="{FF2B5EF4-FFF2-40B4-BE49-F238E27FC236}">
                  <a16:creationId xmlns:a16="http://schemas.microsoft.com/office/drawing/2014/main" xmlns="" id="{76EBCE15-69ED-5C40-DBC7-8C5C0CC324C8}"/>
                </a:ext>
              </a:extLst>
            </p:cNvPr>
            <p:cNvSpPr txBox="1">
              <a:spLocks noChangeArrowheads="1"/>
            </p:cNvSpPr>
            <p:nvPr/>
          </p:nvSpPr>
          <p:spPr bwMode="auto">
            <a:xfrm>
              <a:off x="2611" y="1524"/>
              <a:ext cx="3038" cy="1791"/>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ctr" eaLnBrk="1" hangingPunct="1">
                <a:spcBef>
                  <a:spcPct val="50000"/>
                </a:spcBef>
              </a:pPr>
              <a:endParaRPr lang="zh-CN" altLang="en-US">
                <a:solidFill>
                  <a:schemeClr val="accent2"/>
                </a:solidFill>
                <a:latin typeface="Arial" charset="0"/>
                <a:ea typeface="华文行楷" pitchFamily="2" charset="-122"/>
              </a:endParaRPr>
            </a:p>
            <a:p>
              <a:pPr algn="ctr" eaLnBrk="1" hangingPunct="1">
                <a:spcBef>
                  <a:spcPct val="50000"/>
                </a:spcBef>
              </a:pPr>
              <a:endParaRPr lang="zh-CN" altLang="en-US">
                <a:solidFill>
                  <a:schemeClr val="accent2"/>
                </a:solidFill>
                <a:latin typeface="Arial" charset="0"/>
                <a:ea typeface="华文行楷" pitchFamily="2" charset="-122"/>
              </a:endParaRPr>
            </a:p>
            <a:p>
              <a:pPr algn="ctr" eaLnBrk="1" hangingPunct="1">
                <a:spcBef>
                  <a:spcPct val="50000"/>
                </a:spcBef>
              </a:pPr>
              <a:endParaRPr lang="zh-CN" altLang="en-US">
                <a:solidFill>
                  <a:schemeClr val="accent2"/>
                </a:solidFill>
                <a:latin typeface="Arial" charset="0"/>
                <a:ea typeface="华文行楷" pitchFamily="2" charset="-122"/>
              </a:endParaRPr>
            </a:p>
            <a:p>
              <a:pPr algn="ctr" eaLnBrk="1" hangingPunct="1">
                <a:spcBef>
                  <a:spcPct val="50000"/>
                </a:spcBef>
              </a:pPr>
              <a:endParaRPr lang="zh-CN" altLang="en-US">
                <a:solidFill>
                  <a:schemeClr val="accent2"/>
                </a:solidFill>
                <a:latin typeface="Arial" charset="0"/>
                <a:ea typeface="华文行楷" pitchFamily="2" charset="-122"/>
              </a:endParaRPr>
            </a:p>
            <a:p>
              <a:pPr algn="ctr" eaLnBrk="1" hangingPunct="1">
                <a:spcBef>
                  <a:spcPct val="50000"/>
                </a:spcBef>
              </a:pPr>
              <a:endParaRPr lang="zh-CN" altLang="en-US">
                <a:solidFill>
                  <a:schemeClr val="accent2"/>
                </a:solidFill>
                <a:latin typeface="Arial" charset="0"/>
                <a:ea typeface="华文行楷" pitchFamily="2" charset="-122"/>
              </a:endParaRPr>
            </a:p>
            <a:p>
              <a:pPr algn="ctr" eaLnBrk="1" hangingPunct="1">
                <a:spcBef>
                  <a:spcPct val="50000"/>
                </a:spcBef>
              </a:pPr>
              <a:endParaRPr lang="zh-CN" altLang="en-US">
                <a:solidFill>
                  <a:schemeClr val="accent2"/>
                </a:solidFill>
                <a:latin typeface="Arial" charset="0"/>
                <a:ea typeface="华文行楷" pitchFamily="2" charset="-122"/>
              </a:endParaRPr>
            </a:p>
            <a:p>
              <a:pPr algn="ctr" eaLnBrk="1" hangingPunct="1">
                <a:spcBef>
                  <a:spcPct val="50000"/>
                </a:spcBef>
              </a:pPr>
              <a:endParaRPr lang="zh-CN" altLang="en-US">
                <a:solidFill>
                  <a:schemeClr val="accent2"/>
                </a:solidFill>
                <a:latin typeface="Arial" charset="0"/>
                <a:ea typeface="华文行楷" pitchFamily="2" charset="-122"/>
              </a:endParaRPr>
            </a:p>
          </p:txBody>
        </p:sp>
        <p:grpSp>
          <p:nvGrpSpPr>
            <p:cNvPr id="38" name="Group 11">
              <a:extLst>
                <a:ext uri="{FF2B5EF4-FFF2-40B4-BE49-F238E27FC236}">
                  <a16:creationId xmlns:a16="http://schemas.microsoft.com/office/drawing/2014/main" xmlns="" id="{440451EF-2EA9-628D-FE78-F55320DBCC3F}"/>
                </a:ext>
              </a:extLst>
            </p:cNvPr>
            <p:cNvGrpSpPr>
              <a:grpSpLocks/>
            </p:cNvGrpSpPr>
            <p:nvPr/>
          </p:nvGrpSpPr>
          <p:grpSpPr bwMode="auto">
            <a:xfrm>
              <a:off x="3909" y="1546"/>
              <a:ext cx="213" cy="245"/>
              <a:chOff x="2150" y="2547"/>
              <a:chExt cx="281" cy="336"/>
            </a:xfrm>
          </p:grpSpPr>
          <p:sp>
            <p:nvSpPr>
              <p:cNvPr id="75" name="Text Box 12">
                <a:extLst>
                  <a:ext uri="{FF2B5EF4-FFF2-40B4-BE49-F238E27FC236}">
                    <a16:creationId xmlns:a16="http://schemas.microsoft.com/office/drawing/2014/main" xmlns="" id="{1FD9C1C8-8E6E-F7C7-676D-CE25278B2CC0}"/>
                  </a:ext>
                </a:extLst>
              </p:cNvPr>
              <p:cNvSpPr txBox="1">
                <a:spLocks noChangeArrowheads="1"/>
              </p:cNvSpPr>
              <p:nvPr/>
            </p:nvSpPr>
            <p:spPr bwMode="auto">
              <a:xfrm>
                <a:off x="2194" y="2547"/>
                <a:ext cx="23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ctr"/>
                <a:r>
                  <a:rPr lang="en-US" altLang="zh-CN" sz="2400" b="1" i="1">
                    <a:latin typeface="Times New Roman" pitchFamily="18" charset="0"/>
                  </a:rPr>
                  <a:t>A</a:t>
                </a:r>
                <a:endParaRPr lang="en-US" altLang="zh-CN" sz="2400" b="1">
                  <a:latin typeface="Times New Roman" pitchFamily="18" charset="0"/>
                </a:endParaRPr>
              </a:p>
            </p:txBody>
          </p:sp>
          <p:sp>
            <p:nvSpPr>
              <p:cNvPr id="76" name="Oval 13">
                <a:extLst>
                  <a:ext uri="{FF2B5EF4-FFF2-40B4-BE49-F238E27FC236}">
                    <a16:creationId xmlns:a16="http://schemas.microsoft.com/office/drawing/2014/main" xmlns="" id="{EA6B88AE-3F5A-CCFD-22C4-8B0805A3057E}"/>
                  </a:ext>
                </a:extLst>
              </p:cNvPr>
              <p:cNvSpPr>
                <a:spLocks noChangeArrowheads="1"/>
              </p:cNvSpPr>
              <p:nvPr/>
            </p:nvSpPr>
            <p:spPr bwMode="auto">
              <a:xfrm>
                <a:off x="2150" y="2603"/>
                <a:ext cx="280" cy="280"/>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grpSp>
        <p:sp>
          <p:nvSpPr>
            <p:cNvPr id="39" name="Oval 14">
              <a:extLst>
                <a:ext uri="{FF2B5EF4-FFF2-40B4-BE49-F238E27FC236}">
                  <a16:creationId xmlns:a16="http://schemas.microsoft.com/office/drawing/2014/main" xmlns="" id="{B6907165-DEA9-A357-8B2C-9BA485F76881}"/>
                </a:ext>
              </a:extLst>
            </p:cNvPr>
            <p:cNvSpPr>
              <a:spLocks noChangeArrowheads="1"/>
            </p:cNvSpPr>
            <p:nvPr/>
          </p:nvSpPr>
          <p:spPr bwMode="auto">
            <a:xfrm>
              <a:off x="3136" y="2043"/>
              <a:ext cx="213" cy="205"/>
            </a:xfrm>
            <a:prstGeom prst="ellipse">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40" name="Text Box 15">
              <a:extLst>
                <a:ext uri="{FF2B5EF4-FFF2-40B4-BE49-F238E27FC236}">
                  <a16:creationId xmlns:a16="http://schemas.microsoft.com/office/drawing/2014/main" xmlns="" id="{436ED728-254B-021E-ABF5-B3A7765BAED1}"/>
                </a:ext>
              </a:extLst>
            </p:cNvPr>
            <p:cNvSpPr txBox="1">
              <a:spLocks noChangeArrowheads="1"/>
            </p:cNvSpPr>
            <p:nvPr/>
          </p:nvSpPr>
          <p:spPr bwMode="auto">
            <a:xfrm>
              <a:off x="4703" y="2014"/>
              <a:ext cx="181" cy="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ctr"/>
              <a:r>
                <a:rPr lang="en-US" altLang="zh-CN" sz="2400" b="1" i="1">
                  <a:latin typeface="Times New Roman" pitchFamily="18" charset="0"/>
                </a:rPr>
                <a:t>B</a:t>
              </a:r>
              <a:endParaRPr lang="en-US" altLang="zh-CN" sz="2400" b="1">
                <a:latin typeface="Times New Roman" pitchFamily="18" charset="0"/>
              </a:endParaRPr>
            </a:p>
          </p:txBody>
        </p:sp>
        <p:sp>
          <p:nvSpPr>
            <p:cNvPr id="41" name="Oval 16">
              <a:extLst>
                <a:ext uri="{FF2B5EF4-FFF2-40B4-BE49-F238E27FC236}">
                  <a16:creationId xmlns:a16="http://schemas.microsoft.com/office/drawing/2014/main" xmlns="" id="{32E54E99-015B-5C0B-33FC-9C0BD39D1D58}"/>
                </a:ext>
              </a:extLst>
            </p:cNvPr>
            <p:cNvSpPr>
              <a:spLocks noChangeArrowheads="1"/>
            </p:cNvSpPr>
            <p:nvPr/>
          </p:nvSpPr>
          <p:spPr bwMode="auto">
            <a:xfrm>
              <a:off x="4682" y="2043"/>
              <a:ext cx="213" cy="205"/>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42" name="Oval 17">
              <a:extLst>
                <a:ext uri="{FF2B5EF4-FFF2-40B4-BE49-F238E27FC236}">
                  <a16:creationId xmlns:a16="http://schemas.microsoft.com/office/drawing/2014/main" xmlns="" id="{05B3F7DB-388A-ABAF-74E6-B628EB6EF302}"/>
                </a:ext>
              </a:extLst>
            </p:cNvPr>
            <p:cNvSpPr>
              <a:spLocks noChangeArrowheads="1"/>
            </p:cNvSpPr>
            <p:nvPr/>
          </p:nvSpPr>
          <p:spPr bwMode="auto">
            <a:xfrm>
              <a:off x="2825" y="2499"/>
              <a:ext cx="214" cy="206"/>
            </a:xfrm>
            <a:prstGeom prst="ellipse">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43" name="Oval 18">
              <a:extLst>
                <a:ext uri="{FF2B5EF4-FFF2-40B4-BE49-F238E27FC236}">
                  <a16:creationId xmlns:a16="http://schemas.microsoft.com/office/drawing/2014/main" xmlns="" id="{2CB17FB3-C0FE-64C0-3435-25FD08AFF7B2}"/>
                </a:ext>
              </a:extLst>
            </p:cNvPr>
            <p:cNvSpPr>
              <a:spLocks noChangeArrowheads="1"/>
            </p:cNvSpPr>
            <p:nvPr/>
          </p:nvSpPr>
          <p:spPr bwMode="auto">
            <a:xfrm>
              <a:off x="3444" y="2500"/>
              <a:ext cx="213" cy="205"/>
            </a:xfrm>
            <a:prstGeom prst="ellipse">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44" name="Text Box 19">
              <a:extLst>
                <a:ext uri="{FF2B5EF4-FFF2-40B4-BE49-F238E27FC236}">
                  <a16:creationId xmlns:a16="http://schemas.microsoft.com/office/drawing/2014/main" xmlns="" id="{DD0F8675-EFF6-B04A-F9AA-9FF96DE186B9}"/>
                </a:ext>
              </a:extLst>
            </p:cNvPr>
            <p:cNvSpPr txBox="1">
              <a:spLocks noChangeArrowheads="1"/>
            </p:cNvSpPr>
            <p:nvPr/>
          </p:nvSpPr>
          <p:spPr bwMode="auto">
            <a:xfrm>
              <a:off x="5002" y="2469"/>
              <a:ext cx="179"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ctr"/>
              <a:r>
                <a:rPr lang="en-US" altLang="zh-CN" sz="2400" b="1" i="1">
                  <a:latin typeface="Times New Roman" pitchFamily="18" charset="0"/>
                </a:rPr>
                <a:t>C</a:t>
              </a:r>
              <a:endParaRPr lang="en-US" altLang="zh-CN" sz="2400" b="1">
                <a:latin typeface="Times New Roman" pitchFamily="18" charset="0"/>
              </a:endParaRPr>
            </a:p>
          </p:txBody>
        </p:sp>
        <p:sp>
          <p:nvSpPr>
            <p:cNvPr id="45" name="Oval 20">
              <a:extLst>
                <a:ext uri="{FF2B5EF4-FFF2-40B4-BE49-F238E27FC236}">
                  <a16:creationId xmlns:a16="http://schemas.microsoft.com/office/drawing/2014/main" xmlns="" id="{3755DF88-1B94-8C10-BB14-0815B8B992D0}"/>
                </a:ext>
              </a:extLst>
            </p:cNvPr>
            <p:cNvSpPr>
              <a:spLocks noChangeArrowheads="1"/>
            </p:cNvSpPr>
            <p:nvPr/>
          </p:nvSpPr>
          <p:spPr bwMode="auto">
            <a:xfrm>
              <a:off x="4990" y="2500"/>
              <a:ext cx="214" cy="205"/>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46" name="Oval 21">
              <a:extLst>
                <a:ext uri="{FF2B5EF4-FFF2-40B4-BE49-F238E27FC236}">
                  <a16:creationId xmlns:a16="http://schemas.microsoft.com/office/drawing/2014/main" xmlns="" id="{057332BA-854B-B95A-5470-467EFB959256}"/>
                </a:ext>
              </a:extLst>
            </p:cNvPr>
            <p:cNvSpPr>
              <a:spLocks noChangeArrowheads="1"/>
            </p:cNvSpPr>
            <p:nvPr/>
          </p:nvSpPr>
          <p:spPr bwMode="auto">
            <a:xfrm>
              <a:off x="4371" y="2500"/>
              <a:ext cx="214" cy="205"/>
            </a:xfrm>
            <a:prstGeom prst="ellipse">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47" name="Text Box 22">
              <a:extLst>
                <a:ext uri="{FF2B5EF4-FFF2-40B4-BE49-F238E27FC236}">
                  <a16:creationId xmlns:a16="http://schemas.microsoft.com/office/drawing/2014/main" xmlns="" id="{66236148-A741-5BAD-1603-0DEC07594489}"/>
                </a:ext>
              </a:extLst>
            </p:cNvPr>
            <p:cNvSpPr txBox="1">
              <a:spLocks noChangeArrowheads="1"/>
            </p:cNvSpPr>
            <p:nvPr/>
          </p:nvSpPr>
          <p:spPr bwMode="auto">
            <a:xfrm>
              <a:off x="4217" y="1546"/>
              <a:ext cx="15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1</a:t>
              </a:r>
            </a:p>
          </p:txBody>
        </p:sp>
        <p:sp>
          <p:nvSpPr>
            <p:cNvPr id="48" name="Text Box 23">
              <a:extLst>
                <a:ext uri="{FF2B5EF4-FFF2-40B4-BE49-F238E27FC236}">
                  <a16:creationId xmlns:a16="http://schemas.microsoft.com/office/drawing/2014/main" xmlns="" id="{5ADA5DB7-6EC8-0427-1FF3-34C94AD54E90}"/>
                </a:ext>
              </a:extLst>
            </p:cNvPr>
            <p:cNvSpPr txBox="1">
              <a:spLocks noChangeArrowheads="1"/>
            </p:cNvSpPr>
            <p:nvPr/>
          </p:nvSpPr>
          <p:spPr bwMode="auto">
            <a:xfrm>
              <a:off x="4990" y="2003"/>
              <a:ext cx="155"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3</a:t>
              </a:r>
            </a:p>
          </p:txBody>
        </p:sp>
        <p:sp>
          <p:nvSpPr>
            <p:cNvPr id="49" name="Text Box 24">
              <a:extLst>
                <a:ext uri="{FF2B5EF4-FFF2-40B4-BE49-F238E27FC236}">
                  <a16:creationId xmlns:a16="http://schemas.microsoft.com/office/drawing/2014/main" xmlns="" id="{D1F352E5-D48A-A73B-AEC7-B0B2D46E5856}"/>
                </a:ext>
              </a:extLst>
            </p:cNvPr>
            <p:cNvSpPr txBox="1">
              <a:spLocks noChangeArrowheads="1"/>
            </p:cNvSpPr>
            <p:nvPr/>
          </p:nvSpPr>
          <p:spPr bwMode="auto">
            <a:xfrm>
              <a:off x="5299" y="2458"/>
              <a:ext cx="156"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zh-CN" altLang="en-US" sz="2400" b="1">
                  <a:latin typeface="Times New Roman" pitchFamily="18" charset="0"/>
                </a:rPr>
                <a:t>7</a:t>
              </a:r>
            </a:p>
          </p:txBody>
        </p:sp>
        <p:sp>
          <p:nvSpPr>
            <p:cNvPr id="50" name="Line 25">
              <a:extLst>
                <a:ext uri="{FF2B5EF4-FFF2-40B4-BE49-F238E27FC236}">
                  <a16:creationId xmlns:a16="http://schemas.microsoft.com/office/drawing/2014/main" xmlns="" id="{BDE54B06-476C-E1EC-2FB9-50EF500626B0}"/>
                </a:ext>
              </a:extLst>
            </p:cNvPr>
            <p:cNvSpPr>
              <a:spLocks noChangeShapeType="1"/>
            </p:cNvSpPr>
            <p:nvPr/>
          </p:nvSpPr>
          <p:spPr bwMode="auto">
            <a:xfrm flipH="1">
              <a:off x="3282" y="1710"/>
              <a:ext cx="627" cy="34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51" name="Freeform 26">
              <a:extLst>
                <a:ext uri="{FF2B5EF4-FFF2-40B4-BE49-F238E27FC236}">
                  <a16:creationId xmlns:a16="http://schemas.microsoft.com/office/drawing/2014/main" xmlns="" id="{C327F9AE-6320-2B2B-6B67-6F695F431E9E}"/>
                </a:ext>
              </a:extLst>
            </p:cNvPr>
            <p:cNvSpPr>
              <a:spLocks/>
            </p:cNvSpPr>
            <p:nvPr/>
          </p:nvSpPr>
          <p:spPr bwMode="auto">
            <a:xfrm>
              <a:off x="4120" y="1718"/>
              <a:ext cx="585" cy="358"/>
            </a:xfrm>
            <a:custGeom>
              <a:avLst/>
              <a:gdLst>
                <a:gd name="T0" fmla="*/ 0 w 767"/>
                <a:gd name="T1" fmla="*/ 0 h 488"/>
                <a:gd name="T2" fmla="*/ 8 w 767"/>
                <a:gd name="T3" fmla="*/ 3 h 488"/>
                <a:gd name="T4" fmla="*/ 0 60000 65536"/>
                <a:gd name="T5" fmla="*/ 0 60000 65536"/>
              </a:gdLst>
              <a:ahLst/>
              <a:cxnLst>
                <a:cxn ang="T4">
                  <a:pos x="T0" y="T1"/>
                </a:cxn>
                <a:cxn ang="T5">
                  <a:pos x="T2" y="T3"/>
                </a:cxn>
              </a:cxnLst>
              <a:rect l="0" t="0" r="r" b="b"/>
              <a:pathLst>
                <a:path w="767" h="488">
                  <a:moveTo>
                    <a:pt x="0" y="0"/>
                  </a:moveTo>
                  <a:lnTo>
                    <a:pt x="767" y="488"/>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52" name="Freeform 27">
              <a:extLst>
                <a:ext uri="{FF2B5EF4-FFF2-40B4-BE49-F238E27FC236}">
                  <a16:creationId xmlns:a16="http://schemas.microsoft.com/office/drawing/2014/main" xmlns="" id="{830E4707-4086-922D-3030-1382B8757D47}"/>
                </a:ext>
              </a:extLst>
            </p:cNvPr>
            <p:cNvSpPr>
              <a:spLocks/>
            </p:cNvSpPr>
            <p:nvPr/>
          </p:nvSpPr>
          <p:spPr bwMode="auto">
            <a:xfrm>
              <a:off x="2957" y="2197"/>
              <a:ext cx="196" cy="309"/>
            </a:xfrm>
            <a:custGeom>
              <a:avLst/>
              <a:gdLst>
                <a:gd name="T0" fmla="*/ 2 w 259"/>
                <a:gd name="T1" fmla="*/ 0 h 421"/>
                <a:gd name="T2" fmla="*/ 0 w 259"/>
                <a:gd name="T3" fmla="*/ 2 h 421"/>
                <a:gd name="T4" fmla="*/ 0 60000 65536"/>
                <a:gd name="T5" fmla="*/ 0 60000 65536"/>
              </a:gdLst>
              <a:ahLst/>
              <a:cxnLst>
                <a:cxn ang="T4">
                  <a:pos x="T0" y="T1"/>
                </a:cxn>
                <a:cxn ang="T5">
                  <a:pos x="T2" y="T3"/>
                </a:cxn>
              </a:cxnLst>
              <a:rect l="0" t="0" r="r" b="b"/>
              <a:pathLst>
                <a:path w="259" h="421">
                  <a:moveTo>
                    <a:pt x="259" y="0"/>
                  </a:moveTo>
                  <a:lnTo>
                    <a:pt x="0" y="421"/>
                  </a:lnTo>
                </a:path>
              </a:pathLst>
            </a:custGeom>
            <a:noFill/>
            <a:ln w="952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53" name="Freeform 28">
              <a:extLst>
                <a:ext uri="{FF2B5EF4-FFF2-40B4-BE49-F238E27FC236}">
                  <a16:creationId xmlns:a16="http://schemas.microsoft.com/office/drawing/2014/main" xmlns="" id="{B66C6C73-CF51-BEF4-90B9-A49995A9F8BD}"/>
                </a:ext>
              </a:extLst>
            </p:cNvPr>
            <p:cNvSpPr>
              <a:spLocks/>
            </p:cNvSpPr>
            <p:nvPr/>
          </p:nvSpPr>
          <p:spPr bwMode="auto">
            <a:xfrm>
              <a:off x="3336" y="2197"/>
              <a:ext cx="169" cy="309"/>
            </a:xfrm>
            <a:custGeom>
              <a:avLst/>
              <a:gdLst>
                <a:gd name="T0" fmla="*/ 0 w 222"/>
                <a:gd name="T1" fmla="*/ 0 h 421"/>
                <a:gd name="T2" fmla="*/ 2 w 222"/>
                <a:gd name="T3" fmla="*/ 2 h 421"/>
                <a:gd name="T4" fmla="*/ 0 60000 65536"/>
                <a:gd name="T5" fmla="*/ 0 60000 65536"/>
              </a:gdLst>
              <a:ahLst/>
              <a:cxnLst>
                <a:cxn ang="T4">
                  <a:pos x="T0" y="T1"/>
                </a:cxn>
                <a:cxn ang="T5">
                  <a:pos x="T2" y="T3"/>
                </a:cxn>
              </a:cxnLst>
              <a:rect l="0" t="0" r="r" b="b"/>
              <a:pathLst>
                <a:path w="222" h="421">
                  <a:moveTo>
                    <a:pt x="0" y="0"/>
                  </a:moveTo>
                  <a:lnTo>
                    <a:pt x="222" y="421"/>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54" name="Freeform 29">
              <a:extLst>
                <a:ext uri="{FF2B5EF4-FFF2-40B4-BE49-F238E27FC236}">
                  <a16:creationId xmlns:a16="http://schemas.microsoft.com/office/drawing/2014/main" xmlns="" id="{8FED8369-74F0-E34D-A6FB-5697A4433D48}"/>
                </a:ext>
              </a:extLst>
            </p:cNvPr>
            <p:cNvSpPr>
              <a:spLocks/>
            </p:cNvSpPr>
            <p:nvPr/>
          </p:nvSpPr>
          <p:spPr bwMode="auto">
            <a:xfrm>
              <a:off x="4533" y="2208"/>
              <a:ext cx="172" cy="308"/>
            </a:xfrm>
            <a:custGeom>
              <a:avLst/>
              <a:gdLst>
                <a:gd name="T0" fmla="*/ 2 w 226"/>
                <a:gd name="T1" fmla="*/ 0 h 421"/>
                <a:gd name="T2" fmla="*/ 0 w 226"/>
                <a:gd name="T3" fmla="*/ 2 h 421"/>
                <a:gd name="T4" fmla="*/ 0 60000 65536"/>
                <a:gd name="T5" fmla="*/ 0 60000 65536"/>
              </a:gdLst>
              <a:ahLst/>
              <a:cxnLst>
                <a:cxn ang="T4">
                  <a:pos x="T0" y="T1"/>
                </a:cxn>
                <a:cxn ang="T5">
                  <a:pos x="T2" y="T3"/>
                </a:cxn>
              </a:cxnLst>
              <a:rect l="0" t="0" r="r" b="b"/>
              <a:pathLst>
                <a:path w="226" h="421">
                  <a:moveTo>
                    <a:pt x="226" y="0"/>
                  </a:moveTo>
                  <a:lnTo>
                    <a:pt x="0" y="421"/>
                  </a:lnTo>
                </a:path>
              </a:pathLst>
            </a:custGeom>
            <a:noFill/>
            <a:ln w="952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55" name="Line 30">
              <a:extLst>
                <a:ext uri="{FF2B5EF4-FFF2-40B4-BE49-F238E27FC236}">
                  <a16:creationId xmlns:a16="http://schemas.microsoft.com/office/drawing/2014/main" xmlns="" id="{B8A84C82-872C-C924-7AF9-198ED7C07AA6}"/>
                </a:ext>
              </a:extLst>
            </p:cNvPr>
            <p:cNvSpPr>
              <a:spLocks noChangeShapeType="1"/>
            </p:cNvSpPr>
            <p:nvPr/>
          </p:nvSpPr>
          <p:spPr bwMode="auto">
            <a:xfrm>
              <a:off x="4870" y="2208"/>
              <a:ext cx="200" cy="2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56" name="Oval 31">
              <a:extLst>
                <a:ext uri="{FF2B5EF4-FFF2-40B4-BE49-F238E27FC236}">
                  <a16:creationId xmlns:a16="http://schemas.microsoft.com/office/drawing/2014/main" xmlns="" id="{EB66B957-595F-10B9-952C-D91EF941F208}"/>
                </a:ext>
              </a:extLst>
            </p:cNvPr>
            <p:cNvSpPr>
              <a:spLocks noChangeArrowheads="1"/>
            </p:cNvSpPr>
            <p:nvPr/>
          </p:nvSpPr>
          <p:spPr bwMode="auto">
            <a:xfrm>
              <a:off x="3290" y="2957"/>
              <a:ext cx="213" cy="205"/>
            </a:xfrm>
            <a:prstGeom prst="ellipse">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57" name="Oval 32">
              <a:extLst>
                <a:ext uri="{FF2B5EF4-FFF2-40B4-BE49-F238E27FC236}">
                  <a16:creationId xmlns:a16="http://schemas.microsoft.com/office/drawing/2014/main" xmlns="" id="{414609E4-76A5-3F4A-7813-0C25BDF610AB}"/>
                </a:ext>
              </a:extLst>
            </p:cNvPr>
            <p:cNvSpPr>
              <a:spLocks noChangeArrowheads="1"/>
            </p:cNvSpPr>
            <p:nvPr/>
          </p:nvSpPr>
          <p:spPr bwMode="auto">
            <a:xfrm>
              <a:off x="2671" y="2957"/>
              <a:ext cx="213" cy="205"/>
            </a:xfrm>
            <a:prstGeom prst="ellipse">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58" name="Oval 33">
              <a:extLst>
                <a:ext uri="{FF2B5EF4-FFF2-40B4-BE49-F238E27FC236}">
                  <a16:creationId xmlns:a16="http://schemas.microsoft.com/office/drawing/2014/main" xmlns="" id="{6DD0AC65-9351-A9C5-E07C-6C58BC1F8C96}"/>
                </a:ext>
              </a:extLst>
            </p:cNvPr>
            <p:cNvSpPr>
              <a:spLocks noChangeArrowheads="1"/>
            </p:cNvSpPr>
            <p:nvPr/>
          </p:nvSpPr>
          <p:spPr bwMode="auto">
            <a:xfrm>
              <a:off x="2974" y="2961"/>
              <a:ext cx="213" cy="204"/>
            </a:xfrm>
            <a:prstGeom prst="ellipse">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59" name="Oval 34">
              <a:extLst>
                <a:ext uri="{FF2B5EF4-FFF2-40B4-BE49-F238E27FC236}">
                  <a16:creationId xmlns:a16="http://schemas.microsoft.com/office/drawing/2014/main" xmlns="" id="{1AEB29BA-A301-DA65-3DE4-9E96DC13C4DD}"/>
                </a:ext>
              </a:extLst>
            </p:cNvPr>
            <p:cNvSpPr>
              <a:spLocks noChangeArrowheads="1"/>
            </p:cNvSpPr>
            <p:nvPr/>
          </p:nvSpPr>
          <p:spPr bwMode="auto">
            <a:xfrm>
              <a:off x="3598" y="2957"/>
              <a:ext cx="214" cy="205"/>
            </a:xfrm>
            <a:prstGeom prst="ellipse">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61" name="Oval 35">
              <a:extLst>
                <a:ext uri="{FF2B5EF4-FFF2-40B4-BE49-F238E27FC236}">
                  <a16:creationId xmlns:a16="http://schemas.microsoft.com/office/drawing/2014/main" xmlns="" id="{42789FDD-4AA1-12CE-C738-0ECE929E4BAF}"/>
                </a:ext>
              </a:extLst>
            </p:cNvPr>
            <p:cNvSpPr>
              <a:spLocks noChangeArrowheads="1"/>
            </p:cNvSpPr>
            <p:nvPr/>
          </p:nvSpPr>
          <p:spPr bwMode="auto">
            <a:xfrm>
              <a:off x="4526" y="2957"/>
              <a:ext cx="213" cy="205"/>
            </a:xfrm>
            <a:prstGeom prst="ellipse">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62" name="Oval 36">
              <a:extLst>
                <a:ext uri="{FF2B5EF4-FFF2-40B4-BE49-F238E27FC236}">
                  <a16:creationId xmlns:a16="http://schemas.microsoft.com/office/drawing/2014/main" xmlns="" id="{6E8EE07D-BF50-A392-389F-803C9AB1DA99}"/>
                </a:ext>
              </a:extLst>
            </p:cNvPr>
            <p:cNvSpPr>
              <a:spLocks noChangeArrowheads="1"/>
            </p:cNvSpPr>
            <p:nvPr/>
          </p:nvSpPr>
          <p:spPr bwMode="auto">
            <a:xfrm>
              <a:off x="4217" y="2957"/>
              <a:ext cx="214" cy="205"/>
            </a:xfrm>
            <a:prstGeom prst="ellipse">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63" name="Oval 37">
              <a:extLst>
                <a:ext uri="{FF2B5EF4-FFF2-40B4-BE49-F238E27FC236}">
                  <a16:creationId xmlns:a16="http://schemas.microsoft.com/office/drawing/2014/main" xmlns="" id="{45E7020B-544A-7A2A-78E2-A4D37BF68E84}"/>
                </a:ext>
              </a:extLst>
            </p:cNvPr>
            <p:cNvSpPr>
              <a:spLocks noChangeArrowheads="1"/>
            </p:cNvSpPr>
            <p:nvPr/>
          </p:nvSpPr>
          <p:spPr bwMode="auto">
            <a:xfrm>
              <a:off x="4836" y="2957"/>
              <a:ext cx="213" cy="205"/>
            </a:xfrm>
            <a:prstGeom prst="ellipse">
              <a:avLst/>
            </a:prstGeom>
            <a:noFill/>
            <a:ln w="9525">
              <a:solidFill>
                <a:srgbClr val="0000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64" name="Text Box 38">
              <a:extLst>
                <a:ext uri="{FF2B5EF4-FFF2-40B4-BE49-F238E27FC236}">
                  <a16:creationId xmlns:a16="http://schemas.microsoft.com/office/drawing/2014/main" xmlns="" id="{6B73D29A-8B68-997D-BD65-5F09079A4D19}"/>
                </a:ext>
              </a:extLst>
            </p:cNvPr>
            <p:cNvSpPr txBox="1">
              <a:spLocks noChangeArrowheads="1"/>
            </p:cNvSpPr>
            <p:nvPr/>
          </p:nvSpPr>
          <p:spPr bwMode="auto">
            <a:xfrm>
              <a:off x="5190" y="2926"/>
              <a:ext cx="181"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ctr"/>
              <a:r>
                <a:rPr lang="en-US" altLang="zh-CN" sz="2400" b="1" i="1">
                  <a:latin typeface="Times New Roman" pitchFamily="18" charset="0"/>
                </a:rPr>
                <a:t>D</a:t>
              </a:r>
              <a:endParaRPr lang="en-US" altLang="zh-CN" sz="2400" b="1">
                <a:latin typeface="Times New Roman" pitchFamily="18" charset="0"/>
              </a:endParaRPr>
            </a:p>
          </p:txBody>
        </p:sp>
        <p:sp>
          <p:nvSpPr>
            <p:cNvPr id="65" name="Oval 39">
              <a:extLst>
                <a:ext uri="{FF2B5EF4-FFF2-40B4-BE49-F238E27FC236}">
                  <a16:creationId xmlns:a16="http://schemas.microsoft.com/office/drawing/2014/main" xmlns="" id="{92507DB6-6F2D-8E26-DCA8-664605522723}"/>
                </a:ext>
              </a:extLst>
            </p:cNvPr>
            <p:cNvSpPr>
              <a:spLocks noChangeArrowheads="1"/>
            </p:cNvSpPr>
            <p:nvPr/>
          </p:nvSpPr>
          <p:spPr bwMode="auto">
            <a:xfrm>
              <a:off x="5167" y="2957"/>
              <a:ext cx="214" cy="205"/>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8000"/>
            <a:lstStyle/>
            <a:p>
              <a:pPr eaLnBrk="1" hangingPunct="1"/>
              <a:endParaRPr lang="zh-CN" altLang="en-US"/>
            </a:p>
          </p:txBody>
        </p:sp>
        <p:sp>
          <p:nvSpPr>
            <p:cNvPr id="66" name="Line 40">
              <a:extLst>
                <a:ext uri="{FF2B5EF4-FFF2-40B4-BE49-F238E27FC236}">
                  <a16:creationId xmlns:a16="http://schemas.microsoft.com/office/drawing/2014/main" xmlns="" id="{FF9BAC37-7F6A-6E52-442D-D33C8042B4F8}"/>
                </a:ext>
              </a:extLst>
            </p:cNvPr>
            <p:cNvSpPr>
              <a:spLocks noChangeShapeType="1"/>
            </p:cNvSpPr>
            <p:nvPr/>
          </p:nvSpPr>
          <p:spPr bwMode="auto">
            <a:xfrm>
              <a:off x="3598" y="2686"/>
              <a:ext cx="101" cy="27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67" name="Freeform 41">
              <a:extLst>
                <a:ext uri="{FF2B5EF4-FFF2-40B4-BE49-F238E27FC236}">
                  <a16:creationId xmlns:a16="http://schemas.microsoft.com/office/drawing/2014/main" xmlns="" id="{56A301C8-AAC2-BDA1-1BC4-CB49B8930714}"/>
                </a:ext>
              </a:extLst>
            </p:cNvPr>
            <p:cNvSpPr>
              <a:spLocks/>
            </p:cNvSpPr>
            <p:nvPr/>
          </p:nvSpPr>
          <p:spPr bwMode="auto">
            <a:xfrm>
              <a:off x="2774" y="2694"/>
              <a:ext cx="91" cy="259"/>
            </a:xfrm>
            <a:custGeom>
              <a:avLst/>
              <a:gdLst>
                <a:gd name="T0" fmla="*/ 2 w 119"/>
                <a:gd name="T1" fmla="*/ 0 h 356"/>
                <a:gd name="T2" fmla="*/ 0 w 119"/>
                <a:gd name="T3" fmla="*/ 1 h 356"/>
                <a:gd name="T4" fmla="*/ 0 60000 65536"/>
                <a:gd name="T5" fmla="*/ 0 60000 65536"/>
              </a:gdLst>
              <a:ahLst/>
              <a:cxnLst>
                <a:cxn ang="T4">
                  <a:pos x="T0" y="T1"/>
                </a:cxn>
                <a:cxn ang="T5">
                  <a:pos x="T2" y="T3"/>
                </a:cxn>
              </a:cxnLst>
              <a:rect l="0" t="0" r="r" b="b"/>
              <a:pathLst>
                <a:path w="119" h="356">
                  <a:moveTo>
                    <a:pt x="119" y="0"/>
                  </a:moveTo>
                  <a:lnTo>
                    <a:pt x="0" y="356"/>
                  </a:lnTo>
                </a:path>
              </a:pathLst>
            </a:custGeom>
            <a:noFill/>
            <a:ln w="952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tIns="18000"/>
            <a:lstStyle/>
            <a:p>
              <a:endParaRPr lang="zh-CN" altLang="en-US"/>
            </a:p>
          </p:txBody>
        </p:sp>
        <p:sp>
          <p:nvSpPr>
            <p:cNvPr id="68" name="Line 42">
              <a:extLst>
                <a:ext uri="{FF2B5EF4-FFF2-40B4-BE49-F238E27FC236}">
                  <a16:creationId xmlns:a16="http://schemas.microsoft.com/office/drawing/2014/main" xmlns="" id="{FDA2594C-1EDC-76F9-AE02-967406983130}"/>
                </a:ext>
              </a:extLst>
            </p:cNvPr>
            <p:cNvSpPr>
              <a:spLocks noChangeShapeType="1"/>
            </p:cNvSpPr>
            <p:nvPr/>
          </p:nvSpPr>
          <p:spPr bwMode="auto">
            <a:xfrm>
              <a:off x="2979" y="2686"/>
              <a:ext cx="98" cy="269"/>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69" name="Line 43">
              <a:extLst>
                <a:ext uri="{FF2B5EF4-FFF2-40B4-BE49-F238E27FC236}">
                  <a16:creationId xmlns:a16="http://schemas.microsoft.com/office/drawing/2014/main" xmlns="" id="{EF1D8FB5-4CF9-206E-6581-29486F93BF4D}"/>
                </a:ext>
              </a:extLst>
            </p:cNvPr>
            <p:cNvSpPr>
              <a:spLocks noChangeShapeType="1"/>
            </p:cNvSpPr>
            <p:nvPr/>
          </p:nvSpPr>
          <p:spPr bwMode="auto">
            <a:xfrm flipH="1">
              <a:off x="3368" y="2701"/>
              <a:ext cx="126" cy="26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70" name="Line 44">
              <a:extLst>
                <a:ext uri="{FF2B5EF4-FFF2-40B4-BE49-F238E27FC236}">
                  <a16:creationId xmlns:a16="http://schemas.microsoft.com/office/drawing/2014/main" xmlns="" id="{4E03D2CB-3B12-EB74-680F-90687614AEA7}"/>
                </a:ext>
              </a:extLst>
            </p:cNvPr>
            <p:cNvSpPr>
              <a:spLocks noChangeShapeType="1"/>
            </p:cNvSpPr>
            <p:nvPr/>
          </p:nvSpPr>
          <p:spPr bwMode="auto">
            <a:xfrm flipH="1">
              <a:off x="4328" y="2701"/>
              <a:ext cx="103" cy="25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71" name="Line 45">
              <a:extLst>
                <a:ext uri="{FF2B5EF4-FFF2-40B4-BE49-F238E27FC236}">
                  <a16:creationId xmlns:a16="http://schemas.microsoft.com/office/drawing/2014/main" xmlns="" id="{680F0974-880E-68A7-D926-7C18C8D80936}"/>
                </a:ext>
              </a:extLst>
            </p:cNvPr>
            <p:cNvSpPr>
              <a:spLocks noChangeShapeType="1"/>
            </p:cNvSpPr>
            <p:nvPr/>
          </p:nvSpPr>
          <p:spPr bwMode="auto">
            <a:xfrm>
              <a:off x="4526" y="2686"/>
              <a:ext cx="110" cy="26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72" name="Line 46">
              <a:extLst>
                <a:ext uri="{FF2B5EF4-FFF2-40B4-BE49-F238E27FC236}">
                  <a16:creationId xmlns:a16="http://schemas.microsoft.com/office/drawing/2014/main" xmlns="" id="{B86AB633-7342-B4CE-8519-C4003D47CB77}"/>
                </a:ext>
              </a:extLst>
            </p:cNvPr>
            <p:cNvSpPr>
              <a:spLocks noChangeShapeType="1"/>
            </p:cNvSpPr>
            <p:nvPr/>
          </p:nvSpPr>
          <p:spPr bwMode="auto">
            <a:xfrm flipH="1">
              <a:off x="4945" y="2690"/>
              <a:ext cx="91" cy="254"/>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73" name="Line 47">
              <a:extLst>
                <a:ext uri="{FF2B5EF4-FFF2-40B4-BE49-F238E27FC236}">
                  <a16:creationId xmlns:a16="http://schemas.microsoft.com/office/drawing/2014/main" xmlns="" id="{232451FD-13CE-4044-E6A1-6C4D6CEEAA3F}"/>
                </a:ext>
              </a:extLst>
            </p:cNvPr>
            <p:cNvSpPr>
              <a:spLocks noChangeShapeType="1"/>
            </p:cNvSpPr>
            <p:nvPr/>
          </p:nvSpPr>
          <p:spPr bwMode="auto">
            <a:xfrm>
              <a:off x="5167" y="2686"/>
              <a:ext cx="98" cy="2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tIns="18000"/>
            <a:lstStyle/>
            <a:p>
              <a:endParaRPr lang="zh-CN" altLang="en-US"/>
            </a:p>
          </p:txBody>
        </p:sp>
        <p:sp>
          <p:nvSpPr>
            <p:cNvPr id="74" name="Text Box 48">
              <a:extLst>
                <a:ext uri="{FF2B5EF4-FFF2-40B4-BE49-F238E27FC236}">
                  <a16:creationId xmlns:a16="http://schemas.microsoft.com/office/drawing/2014/main" xmlns="" id="{F3DD89BB-697A-2578-60C1-EF34A94FBBF4}"/>
                </a:ext>
              </a:extLst>
            </p:cNvPr>
            <p:cNvSpPr txBox="1">
              <a:spLocks noChangeArrowheads="1"/>
            </p:cNvSpPr>
            <p:nvPr/>
          </p:nvSpPr>
          <p:spPr bwMode="auto">
            <a:xfrm>
              <a:off x="5402" y="2821"/>
              <a:ext cx="221"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180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just"/>
              <a:r>
                <a:rPr lang="en-US" altLang="zh-CN" sz="2400" b="1">
                  <a:latin typeface="Times New Roman" pitchFamily="18" charset="0"/>
                </a:rPr>
                <a:t>15</a:t>
              </a:r>
            </a:p>
          </p:txBody>
        </p:sp>
      </p:grpSp>
      <p:sp>
        <p:nvSpPr>
          <p:cNvPr id="77" name="Text Box 8" descr="水滴">
            <a:extLst>
              <a:ext uri="{FF2B5EF4-FFF2-40B4-BE49-F238E27FC236}">
                <a16:creationId xmlns:a16="http://schemas.microsoft.com/office/drawing/2014/main" xmlns="" id="{C674CE5A-1D45-73E1-2C6C-25D829D4E925}"/>
              </a:ext>
            </a:extLst>
          </p:cNvPr>
          <p:cNvSpPr txBox="1">
            <a:spLocks noChangeArrowheads="1"/>
          </p:cNvSpPr>
          <p:nvPr/>
        </p:nvSpPr>
        <p:spPr bwMode="auto">
          <a:xfrm>
            <a:off x="2050132" y="4619775"/>
            <a:ext cx="4900532" cy="369332"/>
          </a:xfrm>
          <a:prstGeom prst="rect">
            <a:avLst/>
          </a:prstGeom>
          <a:noFill/>
          <a:ln w="28575">
            <a:solidFill>
              <a:schemeClr val="accent1"/>
            </a:solidFill>
            <a:miter lim="800000"/>
            <a:headEnd/>
            <a:tailEnd/>
          </a:ln>
          <a:effectLst/>
          <a:extLst>
            <a:ext uri="{909E8E84-426E-40DD-AFC4-6F175D3DCCD1}">
              <a14:hiddenFill xmlns:a14="http://schemas.microsoft.com/office/drawing/2010/main">
                <a:blipFill dpi="0" rotWithShape="0">
                  <a:blip r:embed="rId5"/>
                  <a:srcRect/>
                  <a:tile tx="0" ty="0" sx="100000" sy="100000" flip="none" algn="tl"/>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buFont typeface="Wingdings" pitchFamily="2" charset="2"/>
              <a:buNone/>
              <a:defRPr/>
            </a:pPr>
            <a:r>
              <a:rPr kumimoji="1" lang="zh-CN" altLang="en-US" dirty="0">
                <a:latin typeface="微软雅黑" pitchFamily="34" charset="-122"/>
                <a:ea typeface="微软雅黑" pitchFamily="34" charset="-122"/>
                <a:cs typeface="经典粗黑简" pitchFamily="49" charset="-122"/>
              </a:rPr>
              <a:t>二叉树的顺序存储结构一般仅存储完全二叉树。</a:t>
            </a:r>
          </a:p>
        </p:txBody>
      </p:sp>
      <p:sp>
        <p:nvSpPr>
          <p:cNvPr id="78" name="Rectangle 89">
            <a:extLst>
              <a:ext uri="{FF2B5EF4-FFF2-40B4-BE49-F238E27FC236}">
                <a16:creationId xmlns:a16="http://schemas.microsoft.com/office/drawing/2014/main" xmlns="" id="{FE211989-7855-ABF2-53BF-53E83DED7546}"/>
              </a:ext>
            </a:extLst>
          </p:cNvPr>
          <p:cNvSpPr>
            <a:spLocks noChangeArrowheads="1"/>
          </p:cNvSpPr>
          <p:nvPr/>
        </p:nvSpPr>
        <p:spPr bwMode="auto">
          <a:xfrm>
            <a:off x="2050133" y="5155921"/>
            <a:ext cx="3777455" cy="369332"/>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buFont typeface="Wingdings" pitchFamily="2" charset="2"/>
              <a:buNone/>
            </a:pPr>
            <a:r>
              <a:rPr kumimoji="1" lang="zh-CN" altLang="en-US" dirty="0">
                <a:latin typeface="微软雅黑" pitchFamily="34" charset="-122"/>
                <a:ea typeface="微软雅黑" pitchFamily="34" charset="-122"/>
                <a:cs typeface="经典粗黑简" pitchFamily="49" charset="-122"/>
              </a:rPr>
              <a:t>非完全二叉树不适合进行顺序存储。</a:t>
            </a:r>
          </a:p>
        </p:txBody>
      </p:sp>
      <p:sp>
        <p:nvSpPr>
          <p:cNvPr id="79" name="Rectangle 2">
            <a:extLst>
              <a:ext uri="{FF2B5EF4-FFF2-40B4-BE49-F238E27FC236}">
                <a16:creationId xmlns:a16="http://schemas.microsoft.com/office/drawing/2014/main" xmlns="" id="{FCACDC8C-7686-14F0-2027-CE4491946B0A}"/>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7.3.1 </a:t>
            </a:r>
            <a:r>
              <a:rPr lang="zh-CN" altLang="en-US" dirty="0"/>
              <a:t>二叉树的顺序存储结构</a:t>
            </a:r>
          </a:p>
        </p:txBody>
      </p:sp>
    </p:spTree>
    <p:extLst>
      <p:ext uri="{BB962C8B-B14F-4D97-AF65-F5344CB8AC3E}">
        <p14:creationId xmlns:p14="http://schemas.microsoft.com/office/powerpoint/2010/main" val="1250302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8"/>
                                        </p:tgtEl>
                                        <p:attrNameLst>
                                          <p:attrName>style.visibility</p:attrName>
                                        </p:attrNameLst>
                                      </p:cBhvr>
                                      <p:to>
                                        <p:strVal val="visible"/>
                                      </p:to>
                                    </p:set>
                                    <p:animEffect transition="in" filter="wipe(left)">
                                      <p:cBhvr>
                                        <p:cTn id="23"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77" grpId="0" animBg="1"/>
      <p:bldP spid="78"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3DB00EF-16F5-81A4-2B57-9427BC44960B}"/>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0CCB147B-3B50-76CC-5970-EDE5DBF9C698}"/>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7.3 </a:t>
            </a:r>
            <a:r>
              <a:rPr lang="zh-CN" altLang="en-US" sz="3000" b="1" dirty="0">
                <a:latin typeface="黑体" pitchFamily="49" charset="-122"/>
                <a:ea typeface="黑体" pitchFamily="49" charset="-122"/>
                <a:cs typeface="经典粗黑简" pitchFamily="49" charset="-122"/>
              </a:rPr>
              <a:t>二叉树的存储结构</a:t>
            </a:r>
          </a:p>
        </p:txBody>
      </p:sp>
      <p:sp>
        <p:nvSpPr>
          <p:cNvPr id="19" name="Rectangle 2">
            <a:extLst>
              <a:ext uri="{FF2B5EF4-FFF2-40B4-BE49-F238E27FC236}">
                <a16:creationId xmlns:a16="http://schemas.microsoft.com/office/drawing/2014/main" xmlns="" id="{63440C0A-D923-AABB-C292-E4BCF6598A40}"/>
              </a:ext>
            </a:extLst>
          </p:cNvPr>
          <p:cNvSpPr txBox="1">
            <a:spLocks noChangeArrowheads="1"/>
          </p:cNvSpPr>
          <p:nvPr/>
        </p:nvSpPr>
        <p:spPr>
          <a:xfrm>
            <a:off x="79920" y="836712"/>
            <a:ext cx="49359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7.3.2 </a:t>
            </a:r>
            <a:r>
              <a:rPr lang="zh-CN" altLang="en-US" dirty="0"/>
              <a:t>二叉树的链式存储结构</a:t>
            </a:r>
          </a:p>
        </p:txBody>
      </p:sp>
      <p:cxnSp>
        <p:nvCxnSpPr>
          <p:cNvPr id="20" name="直接连接符 19">
            <a:extLst>
              <a:ext uri="{FF2B5EF4-FFF2-40B4-BE49-F238E27FC236}">
                <a16:creationId xmlns:a16="http://schemas.microsoft.com/office/drawing/2014/main" xmlns="" id="{F0431FFF-4E8B-A21F-AE87-71186BBF5A33}"/>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3">
            <a:extLst>
              <a:ext uri="{FF2B5EF4-FFF2-40B4-BE49-F238E27FC236}">
                <a16:creationId xmlns:a16="http://schemas.microsoft.com/office/drawing/2014/main" xmlns="" id="{6D0AEA05-5D0C-1B5B-D010-579FA4DB2D00}"/>
              </a:ext>
            </a:extLst>
          </p:cNvPr>
          <p:cNvSpPr txBox="1">
            <a:spLocks noChangeArrowheads="1"/>
          </p:cNvSpPr>
          <p:nvPr/>
        </p:nvSpPr>
        <p:spPr>
          <a:xfrm>
            <a:off x="1011469" y="1656501"/>
            <a:ext cx="5416868" cy="369332"/>
          </a:xfrm>
          <a:prstGeom prst="rect">
            <a:avLst/>
          </a:prstGeom>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dirty="0"/>
              <a:t>一般用二叉链表存储二叉树</a:t>
            </a:r>
            <a:r>
              <a:rPr lang="en-US" altLang="zh-CN" dirty="0"/>
              <a:t>(</a:t>
            </a:r>
            <a:r>
              <a:rPr lang="zh-CN" altLang="en-US" dirty="0"/>
              <a:t>每个结点有两个指针域</a:t>
            </a:r>
            <a:r>
              <a:rPr lang="en-US" altLang="zh-CN" dirty="0"/>
              <a:t>)</a:t>
            </a:r>
          </a:p>
        </p:txBody>
      </p:sp>
      <p:grpSp>
        <p:nvGrpSpPr>
          <p:cNvPr id="4" name="Group 52">
            <a:extLst>
              <a:ext uri="{FF2B5EF4-FFF2-40B4-BE49-F238E27FC236}">
                <a16:creationId xmlns:a16="http://schemas.microsoft.com/office/drawing/2014/main" xmlns="" id="{DA8508F4-169F-BCA1-2217-3D7B713E3920}"/>
              </a:ext>
            </a:extLst>
          </p:cNvPr>
          <p:cNvGrpSpPr>
            <a:grpSpLocks/>
          </p:cNvGrpSpPr>
          <p:nvPr/>
        </p:nvGrpSpPr>
        <p:grpSpPr bwMode="auto">
          <a:xfrm>
            <a:off x="1270215" y="3026272"/>
            <a:ext cx="2612617" cy="2057400"/>
            <a:chOff x="384" y="2304"/>
            <a:chExt cx="1440" cy="1296"/>
          </a:xfrm>
        </p:grpSpPr>
        <p:sp>
          <p:nvSpPr>
            <p:cNvPr id="5" name="Oval 53">
              <a:extLst>
                <a:ext uri="{FF2B5EF4-FFF2-40B4-BE49-F238E27FC236}">
                  <a16:creationId xmlns:a16="http://schemas.microsoft.com/office/drawing/2014/main" xmlns="" id="{01C91578-2F31-9AB7-D668-3C0433FB9E7A}"/>
                </a:ext>
              </a:extLst>
            </p:cNvPr>
            <p:cNvSpPr>
              <a:spLocks noChangeArrowheads="1"/>
            </p:cNvSpPr>
            <p:nvPr/>
          </p:nvSpPr>
          <p:spPr bwMode="auto">
            <a:xfrm>
              <a:off x="1296" y="3024"/>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effectLst>
                    <a:outerShdw blurRad="38100" dist="38100" dir="2700000" algn="tl">
                      <a:srgbClr val="000000"/>
                    </a:outerShdw>
                  </a:effectLst>
                  <a:latin typeface="Times New Roman" pitchFamily="18" charset="0"/>
                </a:rPr>
                <a:t>E</a:t>
              </a:r>
            </a:p>
          </p:txBody>
        </p:sp>
        <p:sp>
          <p:nvSpPr>
            <p:cNvPr id="6" name="Oval 54">
              <a:extLst>
                <a:ext uri="{FF2B5EF4-FFF2-40B4-BE49-F238E27FC236}">
                  <a16:creationId xmlns:a16="http://schemas.microsoft.com/office/drawing/2014/main" xmlns="" id="{772127F9-60F1-FABA-AE28-4EC24463F79D}"/>
                </a:ext>
              </a:extLst>
            </p:cNvPr>
            <p:cNvSpPr>
              <a:spLocks noChangeArrowheads="1"/>
            </p:cNvSpPr>
            <p:nvPr/>
          </p:nvSpPr>
          <p:spPr bwMode="auto">
            <a:xfrm>
              <a:off x="1584" y="3360"/>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G</a:t>
              </a:r>
            </a:p>
          </p:txBody>
        </p:sp>
        <p:cxnSp>
          <p:nvCxnSpPr>
            <p:cNvPr id="7" name="AutoShape 55">
              <a:extLst>
                <a:ext uri="{FF2B5EF4-FFF2-40B4-BE49-F238E27FC236}">
                  <a16:creationId xmlns:a16="http://schemas.microsoft.com/office/drawing/2014/main" xmlns="" id="{0530231C-18F2-2C21-BC62-4D18B0842C38}"/>
                </a:ext>
              </a:extLst>
            </p:cNvPr>
            <p:cNvCxnSpPr>
              <a:cxnSpLocks noChangeShapeType="1"/>
              <a:stCxn id="6" idx="1"/>
              <a:endCxn id="5" idx="5"/>
            </p:cNvCxnSpPr>
            <p:nvPr/>
          </p:nvCxnSpPr>
          <p:spPr bwMode="auto">
            <a:xfrm flipH="1" flipV="1">
              <a:off x="1501" y="3229"/>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 name="Oval 56">
              <a:extLst>
                <a:ext uri="{FF2B5EF4-FFF2-40B4-BE49-F238E27FC236}">
                  <a16:creationId xmlns:a16="http://schemas.microsoft.com/office/drawing/2014/main" xmlns="" id="{3DE81FD1-3CCC-0408-C578-1F34BFCC7D56}"/>
                </a:ext>
              </a:extLst>
            </p:cNvPr>
            <p:cNvSpPr>
              <a:spLocks noChangeArrowheads="1"/>
            </p:cNvSpPr>
            <p:nvPr/>
          </p:nvSpPr>
          <p:spPr bwMode="auto">
            <a:xfrm>
              <a:off x="1008" y="3360"/>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F</a:t>
              </a:r>
            </a:p>
          </p:txBody>
        </p:sp>
        <p:cxnSp>
          <p:nvCxnSpPr>
            <p:cNvPr id="9" name="AutoShape 57">
              <a:extLst>
                <a:ext uri="{FF2B5EF4-FFF2-40B4-BE49-F238E27FC236}">
                  <a16:creationId xmlns:a16="http://schemas.microsoft.com/office/drawing/2014/main" xmlns="" id="{4C591EDE-1517-1BBB-0D7F-5C67F20E4536}"/>
                </a:ext>
              </a:extLst>
            </p:cNvPr>
            <p:cNvCxnSpPr>
              <a:cxnSpLocks noChangeShapeType="1"/>
              <a:stCxn id="5" idx="3"/>
              <a:endCxn id="8" idx="7"/>
            </p:cNvCxnSpPr>
            <p:nvPr/>
          </p:nvCxnSpPr>
          <p:spPr bwMode="auto">
            <a:xfrm flipH="1">
              <a:off x="1213" y="3229"/>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0" name="Oval 58">
              <a:extLst>
                <a:ext uri="{FF2B5EF4-FFF2-40B4-BE49-F238E27FC236}">
                  <a16:creationId xmlns:a16="http://schemas.microsoft.com/office/drawing/2014/main" xmlns="" id="{CCC56112-E7CE-34C1-EC8B-C2D040D4FB96}"/>
                </a:ext>
              </a:extLst>
            </p:cNvPr>
            <p:cNvSpPr>
              <a:spLocks noChangeArrowheads="1"/>
            </p:cNvSpPr>
            <p:nvPr/>
          </p:nvSpPr>
          <p:spPr bwMode="auto">
            <a:xfrm>
              <a:off x="1008" y="2688"/>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dirty="0">
                  <a:latin typeface="Times New Roman" pitchFamily="18" charset="0"/>
                </a:rPr>
                <a:t>C</a:t>
              </a:r>
            </a:p>
          </p:txBody>
        </p:sp>
        <p:sp>
          <p:nvSpPr>
            <p:cNvPr id="11" name="Oval 59">
              <a:extLst>
                <a:ext uri="{FF2B5EF4-FFF2-40B4-BE49-F238E27FC236}">
                  <a16:creationId xmlns:a16="http://schemas.microsoft.com/office/drawing/2014/main" xmlns="" id="{F8096E5A-4957-40C3-B877-63E30058682D}"/>
                </a:ext>
              </a:extLst>
            </p:cNvPr>
            <p:cNvSpPr>
              <a:spLocks noChangeArrowheads="1"/>
            </p:cNvSpPr>
            <p:nvPr/>
          </p:nvSpPr>
          <p:spPr bwMode="auto">
            <a:xfrm>
              <a:off x="720" y="3024"/>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D</a:t>
              </a:r>
            </a:p>
          </p:txBody>
        </p:sp>
        <p:sp>
          <p:nvSpPr>
            <p:cNvPr id="12" name="Oval 60">
              <a:extLst>
                <a:ext uri="{FF2B5EF4-FFF2-40B4-BE49-F238E27FC236}">
                  <a16:creationId xmlns:a16="http://schemas.microsoft.com/office/drawing/2014/main" xmlns="" id="{A1B1D2D6-0288-2A41-79D0-B8A88E759E3E}"/>
                </a:ext>
              </a:extLst>
            </p:cNvPr>
            <p:cNvSpPr>
              <a:spLocks noChangeArrowheads="1"/>
            </p:cNvSpPr>
            <p:nvPr/>
          </p:nvSpPr>
          <p:spPr bwMode="auto">
            <a:xfrm>
              <a:off x="720" y="2304"/>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dirty="0">
                  <a:latin typeface="Times New Roman" pitchFamily="18" charset="0"/>
                </a:rPr>
                <a:t>A</a:t>
              </a:r>
            </a:p>
          </p:txBody>
        </p:sp>
        <p:sp>
          <p:nvSpPr>
            <p:cNvPr id="13" name="Oval 61">
              <a:extLst>
                <a:ext uri="{FF2B5EF4-FFF2-40B4-BE49-F238E27FC236}">
                  <a16:creationId xmlns:a16="http://schemas.microsoft.com/office/drawing/2014/main" xmlns="" id="{668BF9F8-DA80-4E9D-C392-BE90211DD2C0}"/>
                </a:ext>
              </a:extLst>
            </p:cNvPr>
            <p:cNvSpPr>
              <a:spLocks noChangeArrowheads="1"/>
            </p:cNvSpPr>
            <p:nvPr/>
          </p:nvSpPr>
          <p:spPr bwMode="auto">
            <a:xfrm>
              <a:off x="384" y="2688"/>
              <a:ext cx="240" cy="240"/>
            </a:xfrm>
            <a:prstGeom prst="ellipse">
              <a:avLst/>
            </a:prstGeom>
            <a:solidFill>
              <a:srgbClr val="FFCC99"/>
            </a:solidFill>
            <a:ln w="9525">
              <a:solidFill>
                <a:schemeClr val="tx1"/>
              </a:solidFill>
              <a:round/>
              <a:headEnd/>
              <a:tailEnd/>
            </a:ln>
          </p:spPr>
          <p:txBody>
            <a:bodyPr wrap="none" anchor="ctr"/>
            <a:lstStyle/>
            <a:p>
              <a:pPr algn="ctr">
                <a:spcBef>
                  <a:spcPct val="0"/>
                </a:spcBef>
                <a:buClrTx/>
                <a:buSzTx/>
                <a:buFontTx/>
                <a:buNone/>
              </a:pPr>
              <a:r>
                <a:rPr lang="en-US" altLang="zh-CN" sz="2400" b="1">
                  <a:latin typeface="Times New Roman" pitchFamily="18" charset="0"/>
                </a:rPr>
                <a:t>B</a:t>
              </a:r>
            </a:p>
          </p:txBody>
        </p:sp>
        <p:cxnSp>
          <p:nvCxnSpPr>
            <p:cNvPr id="14" name="AutoShape 62">
              <a:extLst>
                <a:ext uri="{FF2B5EF4-FFF2-40B4-BE49-F238E27FC236}">
                  <a16:creationId xmlns:a16="http://schemas.microsoft.com/office/drawing/2014/main" xmlns="" id="{772E7144-FEDE-94E7-38A6-7BBFEF79E48C}"/>
                </a:ext>
              </a:extLst>
            </p:cNvPr>
            <p:cNvCxnSpPr>
              <a:cxnSpLocks noChangeShapeType="1"/>
              <a:stCxn id="10" idx="5"/>
              <a:endCxn id="5" idx="1"/>
            </p:cNvCxnSpPr>
            <p:nvPr/>
          </p:nvCxnSpPr>
          <p:spPr bwMode="auto">
            <a:xfrm>
              <a:off x="1213" y="2893"/>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 name="AutoShape 63">
              <a:extLst>
                <a:ext uri="{FF2B5EF4-FFF2-40B4-BE49-F238E27FC236}">
                  <a16:creationId xmlns:a16="http://schemas.microsoft.com/office/drawing/2014/main" xmlns="" id="{9998DB30-D0C2-38CD-DE90-FE35CCC8792E}"/>
                </a:ext>
              </a:extLst>
            </p:cNvPr>
            <p:cNvCxnSpPr>
              <a:cxnSpLocks noChangeShapeType="1"/>
              <a:stCxn id="10" idx="3"/>
              <a:endCxn id="11" idx="7"/>
            </p:cNvCxnSpPr>
            <p:nvPr/>
          </p:nvCxnSpPr>
          <p:spPr bwMode="auto">
            <a:xfrm flipH="1">
              <a:off x="925" y="2893"/>
              <a:ext cx="118" cy="16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 name="AutoShape 64">
              <a:extLst>
                <a:ext uri="{FF2B5EF4-FFF2-40B4-BE49-F238E27FC236}">
                  <a16:creationId xmlns:a16="http://schemas.microsoft.com/office/drawing/2014/main" xmlns="" id="{86F30702-31D4-5010-9C81-2566909E0EA7}"/>
                </a:ext>
              </a:extLst>
            </p:cNvPr>
            <p:cNvCxnSpPr>
              <a:cxnSpLocks noChangeShapeType="1"/>
            </p:cNvCxnSpPr>
            <p:nvPr/>
          </p:nvCxnSpPr>
          <p:spPr bwMode="auto">
            <a:xfrm>
              <a:off x="912" y="2496"/>
              <a:ext cx="166" cy="21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 name="AutoShape 65">
              <a:extLst>
                <a:ext uri="{FF2B5EF4-FFF2-40B4-BE49-F238E27FC236}">
                  <a16:creationId xmlns:a16="http://schemas.microsoft.com/office/drawing/2014/main" xmlns="" id="{940BC8E1-B23B-0E04-6F2B-F06474EB2153}"/>
                </a:ext>
              </a:extLst>
            </p:cNvPr>
            <p:cNvCxnSpPr>
              <a:cxnSpLocks noChangeShapeType="1"/>
              <a:stCxn id="12" idx="3"/>
              <a:endCxn id="13" idx="7"/>
            </p:cNvCxnSpPr>
            <p:nvPr/>
          </p:nvCxnSpPr>
          <p:spPr bwMode="auto">
            <a:xfrm flipH="1">
              <a:off x="589" y="2509"/>
              <a:ext cx="166" cy="21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21" name="Group 66">
            <a:extLst>
              <a:ext uri="{FF2B5EF4-FFF2-40B4-BE49-F238E27FC236}">
                <a16:creationId xmlns:a16="http://schemas.microsoft.com/office/drawing/2014/main" xmlns="" id="{EBF69C06-193B-5777-4076-62452BA7B71F}"/>
              </a:ext>
            </a:extLst>
          </p:cNvPr>
          <p:cNvGrpSpPr>
            <a:grpSpLocks/>
          </p:cNvGrpSpPr>
          <p:nvPr/>
        </p:nvGrpSpPr>
        <p:grpSpPr bwMode="auto">
          <a:xfrm>
            <a:off x="4619396" y="2840396"/>
            <a:ext cx="5105400" cy="2971800"/>
            <a:chOff x="2496" y="1872"/>
            <a:chExt cx="3216" cy="1872"/>
          </a:xfrm>
        </p:grpSpPr>
        <p:sp>
          <p:nvSpPr>
            <p:cNvPr id="22" name="Rectangle 67">
              <a:extLst>
                <a:ext uri="{FF2B5EF4-FFF2-40B4-BE49-F238E27FC236}">
                  <a16:creationId xmlns:a16="http://schemas.microsoft.com/office/drawing/2014/main" xmlns="" id="{384577B9-C9C2-A941-2BE2-08372DF6540A}"/>
                </a:ext>
              </a:extLst>
            </p:cNvPr>
            <p:cNvSpPr>
              <a:spLocks noChangeArrowheads="1"/>
            </p:cNvSpPr>
            <p:nvPr/>
          </p:nvSpPr>
          <p:spPr bwMode="auto">
            <a:xfrm>
              <a:off x="3024" y="2256"/>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en-US"/>
            </a:p>
          </p:txBody>
        </p:sp>
        <p:sp>
          <p:nvSpPr>
            <p:cNvPr id="23" name="Rectangle 68">
              <a:extLst>
                <a:ext uri="{FF2B5EF4-FFF2-40B4-BE49-F238E27FC236}">
                  <a16:creationId xmlns:a16="http://schemas.microsoft.com/office/drawing/2014/main" xmlns="" id="{F0C0818E-FDE4-4337-22C5-0FA55465DFC2}"/>
                </a:ext>
              </a:extLst>
            </p:cNvPr>
            <p:cNvSpPr>
              <a:spLocks noChangeArrowheads="1"/>
            </p:cNvSpPr>
            <p:nvPr/>
          </p:nvSpPr>
          <p:spPr bwMode="auto">
            <a:xfrm>
              <a:off x="3360" y="2256"/>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A</a:t>
              </a:r>
            </a:p>
          </p:txBody>
        </p:sp>
        <p:sp>
          <p:nvSpPr>
            <p:cNvPr id="24" name="Rectangle 69">
              <a:extLst>
                <a:ext uri="{FF2B5EF4-FFF2-40B4-BE49-F238E27FC236}">
                  <a16:creationId xmlns:a16="http://schemas.microsoft.com/office/drawing/2014/main" xmlns="" id="{FC85F036-BF65-B313-94E7-E7C6E033AE61}"/>
                </a:ext>
              </a:extLst>
            </p:cNvPr>
            <p:cNvSpPr>
              <a:spLocks noChangeArrowheads="1"/>
            </p:cNvSpPr>
            <p:nvPr/>
          </p:nvSpPr>
          <p:spPr bwMode="auto">
            <a:xfrm>
              <a:off x="3696" y="2256"/>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en-US"/>
            </a:p>
          </p:txBody>
        </p:sp>
        <p:sp>
          <p:nvSpPr>
            <p:cNvPr id="25" name="Line 70">
              <a:extLst>
                <a:ext uri="{FF2B5EF4-FFF2-40B4-BE49-F238E27FC236}">
                  <a16:creationId xmlns:a16="http://schemas.microsoft.com/office/drawing/2014/main" xmlns="" id="{C235D659-31A0-AB71-E493-EE751925D4FC}"/>
                </a:ext>
              </a:extLst>
            </p:cNvPr>
            <p:cNvSpPr>
              <a:spLocks noChangeShapeType="1"/>
            </p:cNvSpPr>
            <p:nvPr/>
          </p:nvSpPr>
          <p:spPr bwMode="auto">
            <a:xfrm flipH="1">
              <a:off x="2976" y="2400"/>
              <a:ext cx="240"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71">
              <a:extLst>
                <a:ext uri="{FF2B5EF4-FFF2-40B4-BE49-F238E27FC236}">
                  <a16:creationId xmlns:a16="http://schemas.microsoft.com/office/drawing/2014/main" xmlns="" id="{0CDA2266-6AE2-DEC6-7F19-FEC39ECAE7FC}"/>
                </a:ext>
              </a:extLst>
            </p:cNvPr>
            <p:cNvSpPr>
              <a:spLocks noChangeShapeType="1"/>
            </p:cNvSpPr>
            <p:nvPr/>
          </p:nvSpPr>
          <p:spPr bwMode="auto">
            <a:xfrm>
              <a:off x="3888" y="2400"/>
              <a:ext cx="144"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 name="Rectangle 72">
              <a:extLst>
                <a:ext uri="{FF2B5EF4-FFF2-40B4-BE49-F238E27FC236}">
                  <a16:creationId xmlns:a16="http://schemas.microsoft.com/office/drawing/2014/main" xmlns="" id="{762630BD-8D3E-D237-36CA-3A008D7C5E86}"/>
                </a:ext>
              </a:extLst>
            </p:cNvPr>
            <p:cNvSpPr>
              <a:spLocks noChangeArrowheads="1"/>
            </p:cNvSpPr>
            <p:nvPr/>
          </p:nvSpPr>
          <p:spPr bwMode="auto">
            <a:xfrm>
              <a:off x="2496" y="2688"/>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a:t>∧</a:t>
              </a:r>
            </a:p>
          </p:txBody>
        </p:sp>
        <p:sp>
          <p:nvSpPr>
            <p:cNvPr id="28" name="Rectangle 73">
              <a:extLst>
                <a:ext uri="{FF2B5EF4-FFF2-40B4-BE49-F238E27FC236}">
                  <a16:creationId xmlns:a16="http://schemas.microsoft.com/office/drawing/2014/main" xmlns="" id="{7634754C-A295-3A46-E0E2-94F450B65346}"/>
                </a:ext>
              </a:extLst>
            </p:cNvPr>
            <p:cNvSpPr>
              <a:spLocks noChangeArrowheads="1"/>
            </p:cNvSpPr>
            <p:nvPr/>
          </p:nvSpPr>
          <p:spPr bwMode="auto">
            <a:xfrm>
              <a:off x="2832" y="2688"/>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B</a:t>
              </a:r>
            </a:p>
          </p:txBody>
        </p:sp>
        <p:sp>
          <p:nvSpPr>
            <p:cNvPr id="29" name="Rectangle 74">
              <a:extLst>
                <a:ext uri="{FF2B5EF4-FFF2-40B4-BE49-F238E27FC236}">
                  <a16:creationId xmlns:a16="http://schemas.microsoft.com/office/drawing/2014/main" xmlns="" id="{23ED2FFE-5239-866A-B528-076A16D8F235}"/>
                </a:ext>
              </a:extLst>
            </p:cNvPr>
            <p:cNvSpPr>
              <a:spLocks noChangeArrowheads="1"/>
            </p:cNvSpPr>
            <p:nvPr/>
          </p:nvSpPr>
          <p:spPr bwMode="auto">
            <a:xfrm>
              <a:off x="3168" y="2688"/>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a:t>∧</a:t>
              </a:r>
            </a:p>
          </p:txBody>
        </p:sp>
        <p:sp>
          <p:nvSpPr>
            <p:cNvPr id="30" name="Rectangle 75">
              <a:extLst>
                <a:ext uri="{FF2B5EF4-FFF2-40B4-BE49-F238E27FC236}">
                  <a16:creationId xmlns:a16="http://schemas.microsoft.com/office/drawing/2014/main" xmlns="" id="{86309085-B01A-4EFC-F3BA-553C467F6AC0}"/>
                </a:ext>
              </a:extLst>
            </p:cNvPr>
            <p:cNvSpPr>
              <a:spLocks noChangeArrowheads="1"/>
            </p:cNvSpPr>
            <p:nvPr/>
          </p:nvSpPr>
          <p:spPr bwMode="auto">
            <a:xfrm>
              <a:off x="3600" y="2688"/>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en-US"/>
            </a:p>
          </p:txBody>
        </p:sp>
        <p:sp>
          <p:nvSpPr>
            <p:cNvPr id="31" name="Rectangle 76">
              <a:extLst>
                <a:ext uri="{FF2B5EF4-FFF2-40B4-BE49-F238E27FC236}">
                  <a16:creationId xmlns:a16="http://schemas.microsoft.com/office/drawing/2014/main" xmlns="" id="{5B4B6F73-B53C-FD8B-C6D8-7B7B0356F669}"/>
                </a:ext>
              </a:extLst>
            </p:cNvPr>
            <p:cNvSpPr>
              <a:spLocks noChangeArrowheads="1"/>
            </p:cNvSpPr>
            <p:nvPr/>
          </p:nvSpPr>
          <p:spPr bwMode="auto">
            <a:xfrm>
              <a:off x="3936" y="2688"/>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C</a:t>
              </a:r>
            </a:p>
          </p:txBody>
        </p:sp>
        <p:sp>
          <p:nvSpPr>
            <p:cNvPr id="60" name="Rectangle 77">
              <a:extLst>
                <a:ext uri="{FF2B5EF4-FFF2-40B4-BE49-F238E27FC236}">
                  <a16:creationId xmlns:a16="http://schemas.microsoft.com/office/drawing/2014/main" xmlns="" id="{A80E8E00-6945-7C54-95BA-BD7905E9066D}"/>
                </a:ext>
              </a:extLst>
            </p:cNvPr>
            <p:cNvSpPr>
              <a:spLocks noChangeArrowheads="1"/>
            </p:cNvSpPr>
            <p:nvPr/>
          </p:nvSpPr>
          <p:spPr bwMode="auto">
            <a:xfrm>
              <a:off x="4272" y="2688"/>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en-US"/>
            </a:p>
          </p:txBody>
        </p:sp>
        <p:sp>
          <p:nvSpPr>
            <p:cNvPr id="79" name="Line 78">
              <a:extLst>
                <a:ext uri="{FF2B5EF4-FFF2-40B4-BE49-F238E27FC236}">
                  <a16:creationId xmlns:a16="http://schemas.microsoft.com/office/drawing/2014/main" xmlns="" id="{0B1139C6-89DB-E3B9-697A-5B5ACBCE7A3F}"/>
                </a:ext>
              </a:extLst>
            </p:cNvPr>
            <p:cNvSpPr>
              <a:spLocks noChangeShapeType="1"/>
            </p:cNvSpPr>
            <p:nvPr/>
          </p:nvSpPr>
          <p:spPr bwMode="auto">
            <a:xfrm flipH="1">
              <a:off x="3552" y="2832"/>
              <a:ext cx="240"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0" name="Line 79">
              <a:extLst>
                <a:ext uri="{FF2B5EF4-FFF2-40B4-BE49-F238E27FC236}">
                  <a16:creationId xmlns:a16="http://schemas.microsoft.com/office/drawing/2014/main" xmlns="" id="{3449F49E-7B95-D383-1A27-5B90C9FE218B}"/>
                </a:ext>
              </a:extLst>
            </p:cNvPr>
            <p:cNvSpPr>
              <a:spLocks noChangeShapeType="1"/>
            </p:cNvSpPr>
            <p:nvPr/>
          </p:nvSpPr>
          <p:spPr bwMode="auto">
            <a:xfrm>
              <a:off x="4464" y="2832"/>
              <a:ext cx="144"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 name="Rectangle 80">
              <a:extLst>
                <a:ext uri="{FF2B5EF4-FFF2-40B4-BE49-F238E27FC236}">
                  <a16:creationId xmlns:a16="http://schemas.microsoft.com/office/drawing/2014/main" xmlns="" id="{1C1EF7CA-B800-AD65-BBE5-C01D93EFEC4A}"/>
                </a:ext>
              </a:extLst>
            </p:cNvPr>
            <p:cNvSpPr>
              <a:spLocks noChangeArrowheads="1"/>
            </p:cNvSpPr>
            <p:nvPr/>
          </p:nvSpPr>
          <p:spPr bwMode="auto">
            <a:xfrm>
              <a:off x="4128" y="3120"/>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en-US"/>
            </a:p>
          </p:txBody>
        </p:sp>
        <p:sp>
          <p:nvSpPr>
            <p:cNvPr id="82" name="Rectangle 81">
              <a:extLst>
                <a:ext uri="{FF2B5EF4-FFF2-40B4-BE49-F238E27FC236}">
                  <a16:creationId xmlns:a16="http://schemas.microsoft.com/office/drawing/2014/main" xmlns="" id="{413FCC11-F66E-740E-E15A-02A969CFB53A}"/>
                </a:ext>
              </a:extLst>
            </p:cNvPr>
            <p:cNvSpPr>
              <a:spLocks noChangeArrowheads="1"/>
            </p:cNvSpPr>
            <p:nvPr/>
          </p:nvSpPr>
          <p:spPr bwMode="auto">
            <a:xfrm>
              <a:off x="4464" y="3120"/>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E</a:t>
              </a:r>
            </a:p>
          </p:txBody>
        </p:sp>
        <p:sp>
          <p:nvSpPr>
            <p:cNvPr id="83" name="Rectangle 82">
              <a:extLst>
                <a:ext uri="{FF2B5EF4-FFF2-40B4-BE49-F238E27FC236}">
                  <a16:creationId xmlns:a16="http://schemas.microsoft.com/office/drawing/2014/main" xmlns="" id="{08A6FABA-E48D-066A-4EF8-D198D1FFC216}"/>
                </a:ext>
              </a:extLst>
            </p:cNvPr>
            <p:cNvSpPr>
              <a:spLocks noChangeArrowheads="1"/>
            </p:cNvSpPr>
            <p:nvPr/>
          </p:nvSpPr>
          <p:spPr bwMode="auto">
            <a:xfrm>
              <a:off x="4800" y="3120"/>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en-US"/>
            </a:p>
          </p:txBody>
        </p:sp>
        <p:sp>
          <p:nvSpPr>
            <p:cNvPr id="84" name="Line 83">
              <a:extLst>
                <a:ext uri="{FF2B5EF4-FFF2-40B4-BE49-F238E27FC236}">
                  <a16:creationId xmlns:a16="http://schemas.microsoft.com/office/drawing/2014/main" xmlns="" id="{BF6A7992-557A-E05B-4CC0-A995DCEE27CB}"/>
                </a:ext>
              </a:extLst>
            </p:cNvPr>
            <p:cNvSpPr>
              <a:spLocks noChangeShapeType="1"/>
            </p:cNvSpPr>
            <p:nvPr/>
          </p:nvSpPr>
          <p:spPr bwMode="auto">
            <a:xfrm flipH="1">
              <a:off x="4080" y="3264"/>
              <a:ext cx="240"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5" name="Line 84">
              <a:extLst>
                <a:ext uri="{FF2B5EF4-FFF2-40B4-BE49-F238E27FC236}">
                  <a16:creationId xmlns:a16="http://schemas.microsoft.com/office/drawing/2014/main" xmlns="" id="{75BD0067-0855-4D89-C135-646EE40EA976}"/>
                </a:ext>
              </a:extLst>
            </p:cNvPr>
            <p:cNvSpPr>
              <a:spLocks noChangeShapeType="1"/>
            </p:cNvSpPr>
            <p:nvPr/>
          </p:nvSpPr>
          <p:spPr bwMode="auto">
            <a:xfrm>
              <a:off x="4992" y="3264"/>
              <a:ext cx="144"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6" name="Rectangle 85">
              <a:extLst>
                <a:ext uri="{FF2B5EF4-FFF2-40B4-BE49-F238E27FC236}">
                  <a16:creationId xmlns:a16="http://schemas.microsoft.com/office/drawing/2014/main" xmlns="" id="{7FB552B2-0EB2-0B37-07BC-B60284411C1B}"/>
                </a:ext>
              </a:extLst>
            </p:cNvPr>
            <p:cNvSpPr>
              <a:spLocks noChangeArrowheads="1"/>
            </p:cNvSpPr>
            <p:nvPr/>
          </p:nvSpPr>
          <p:spPr bwMode="auto">
            <a:xfrm>
              <a:off x="3024" y="3120"/>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a:t>∧</a:t>
              </a:r>
            </a:p>
          </p:txBody>
        </p:sp>
        <p:sp>
          <p:nvSpPr>
            <p:cNvPr id="87" name="Rectangle 86">
              <a:extLst>
                <a:ext uri="{FF2B5EF4-FFF2-40B4-BE49-F238E27FC236}">
                  <a16:creationId xmlns:a16="http://schemas.microsoft.com/office/drawing/2014/main" xmlns="" id="{5B5A733D-ADF3-325F-53F7-FB2582269792}"/>
                </a:ext>
              </a:extLst>
            </p:cNvPr>
            <p:cNvSpPr>
              <a:spLocks noChangeArrowheads="1"/>
            </p:cNvSpPr>
            <p:nvPr/>
          </p:nvSpPr>
          <p:spPr bwMode="auto">
            <a:xfrm>
              <a:off x="3360" y="3120"/>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D</a:t>
              </a:r>
            </a:p>
          </p:txBody>
        </p:sp>
        <p:sp>
          <p:nvSpPr>
            <p:cNvPr id="88" name="Rectangle 87">
              <a:extLst>
                <a:ext uri="{FF2B5EF4-FFF2-40B4-BE49-F238E27FC236}">
                  <a16:creationId xmlns:a16="http://schemas.microsoft.com/office/drawing/2014/main" xmlns="" id="{62F716A5-59BE-B20D-1A9A-B4C551D4464D}"/>
                </a:ext>
              </a:extLst>
            </p:cNvPr>
            <p:cNvSpPr>
              <a:spLocks noChangeArrowheads="1"/>
            </p:cNvSpPr>
            <p:nvPr/>
          </p:nvSpPr>
          <p:spPr bwMode="auto">
            <a:xfrm>
              <a:off x="3696" y="3120"/>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a:t>∧</a:t>
              </a:r>
            </a:p>
          </p:txBody>
        </p:sp>
        <p:sp>
          <p:nvSpPr>
            <p:cNvPr id="89" name="Rectangle 88">
              <a:extLst>
                <a:ext uri="{FF2B5EF4-FFF2-40B4-BE49-F238E27FC236}">
                  <a16:creationId xmlns:a16="http://schemas.microsoft.com/office/drawing/2014/main" xmlns="" id="{2E8792AE-8457-D1F2-EB8B-E05260F9DD92}"/>
                </a:ext>
              </a:extLst>
            </p:cNvPr>
            <p:cNvSpPr>
              <a:spLocks noChangeArrowheads="1"/>
            </p:cNvSpPr>
            <p:nvPr/>
          </p:nvSpPr>
          <p:spPr bwMode="auto">
            <a:xfrm>
              <a:off x="3552" y="3552"/>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a:t>∧</a:t>
              </a:r>
            </a:p>
          </p:txBody>
        </p:sp>
        <p:sp>
          <p:nvSpPr>
            <p:cNvPr id="90" name="Rectangle 89">
              <a:extLst>
                <a:ext uri="{FF2B5EF4-FFF2-40B4-BE49-F238E27FC236}">
                  <a16:creationId xmlns:a16="http://schemas.microsoft.com/office/drawing/2014/main" xmlns="" id="{DEE47D5A-845E-BE01-8712-CC4AC54EDA9D}"/>
                </a:ext>
              </a:extLst>
            </p:cNvPr>
            <p:cNvSpPr>
              <a:spLocks noChangeArrowheads="1"/>
            </p:cNvSpPr>
            <p:nvPr/>
          </p:nvSpPr>
          <p:spPr bwMode="auto">
            <a:xfrm>
              <a:off x="3888" y="3552"/>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F</a:t>
              </a:r>
            </a:p>
          </p:txBody>
        </p:sp>
        <p:sp>
          <p:nvSpPr>
            <p:cNvPr id="91" name="Rectangle 90">
              <a:extLst>
                <a:ext uri="{FF2B5EF4-FFF2-40B4-BE49-F238E27FC236}">
                  <a16:creationId xmlns:a16="http://schemas.microsoft.com/office/drawing/2014/main" xmlns="" id="{044F155A-C4AD-CD7F-7C5B-78A36202D8FD}"/>
                </a:ext>
              </a:extLst>
            </p:cNvPr>
            <p:cNvSpPr>
              <a:spLocks noChangeArrowheads="1"/>
            </p:cNvSpPr>
            <p:nvPr/>
          </p:nvSpPr>
          <p:spPr bwMode="auto">
            <a:xfrm>
              <a:off x="4224" y="3552"/>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a:t>∧</a:t>
              </a:r>
            </a:p>
          </p:txBody>
        </p:sp>
        <p:sp>
          <p:nvSpPr>
            <p:cNvPr id="92" name="Rectangle 91">
              <a:extLst>
                <a:ext uri="{FF2B5EF4-FFF2-40B4-BE49-F238E27FC236}">
                  <a16:creationId xmlns:a16="http://schemas.microsoft.com/office/drawing/2014/main" xmlns="" id="{8445DB68-5E5E-8359-A9BA-160997450772}"/>
                </a:ext>
              </a:extLst>
            </p:cNvPr>
            <p:cNvSpPr>
              <a:spLocks noChangeArrowheads="1"/>
            </p:cNvSpPr>
            <p:nvPr/>
          </p:nvSpPr>
          <p:spPr bwMode="auto">
            <a:xfrm>
              <a:off x="4704" y="3552"/>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a:t>∧</a:t>
              </a:r>
            </a:p>
          </p:txBody>
        </p:sp>
        <p:sp>
          <p:nvSpPr>
            <p:cNvPr id="93" name="Rectangle 92">
              <a:extLst>
                <a:ext uri="{FF2B5EF4-FFF2-40B4-BE49-F238E27FC236}">
                  <a16:creationId xmlns:a16="http://schemas.microsoft.com/office/drawing/2014/main" xmlns="" id="{2F494380-5A8D-B578-80DA-D3C2205AAA44}"/>
                </a:ext>
              </a:extLst>
            </p:cNvPr>
            <p:cNvSpPr>
              <a:spLocks noChangeArrowheads="1"/>
            </p:cNvSpPr>
            <p:nvPr/>
          </p:nvSpPr>
          <p:spPr bwMode="auto">
            <a:xfrm>
              <a:off x="5040" y="3552"/>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G</a:t>
              </a:r>
            </a:p>
          </p:txBody>
        </p:sp>
        <p:sp>
          <p:nvSpPr>
            <p:cNvPr id="94" name="Rectangle 93">
              <a:extLst>
                <a:ext uri="{FF2B5EF4-FFF2-40B4-BE49-F238E27FC236}">
                  <a16:creationId xmlns:a16="http://schemas.microsoft.com/office/drawing/2014/main" xmlns="" id="{14E8E851-FECC-5A05-462F-7130D42E9722}"/>
                </a:ext>
              </a:extLst>
            </p:cNvPr>
            <p:cNvSpPr>
              <a:spLocks noChangeArrowheads="1"/>
            </p:cNvSpPr>
            <p:nvPr/>
          </p:nvSpPr>
          <p:spPr bwMode="auto">
            <a:xfrm>
              <a:off x="5376" y="3552"/>
              <a:ext cx="33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a:t>∧</a:t>
              </a:r>
            </a:p>
          </p:txBody>
        </p:sp>
        <p:sp>
          <p:nvSpPr>
            <p:cNvPr id="95" name="Line 94">
              <a:extLst>
                <a:ext uri="{FF2B5EF4-FFF2-40B4-BE49-F238E27FC236}">
                  <a16:creationId xmlns:a16="http://schemas.microsoft.com/office/drawing/2014/main" xmlns="" id="{4152864A-FFD3-5C29-F39C-565848EC7A86}"/>
                </a:ext>
              </a:extLst>
            </p:cNvPr>
            <p:cNvSpPr>
              <a:spLocks noChangeShapeType="1"/>
            </p:cNvSpPr>
            <p:nvPr/>
          </p:nvSpPr>
          <p:spPr bwMode="auto">
            <a:xfrm flipH="1">
              <a:off x="3552" y="2064"/>
              <a:ext cx="192" cy="19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 name="Text Box 95">
              <a:extLst>
                <a:ext uri="{FF2B5EF4-FFF2-40B4-BE49-F238E27FC236}">
                  <a16:creationId xmlns:a16="http://schemas.microsoft.com/office/drawing/2014/main" xmlns="" id="{158277F2-42DD-D591-10B5-8A5078959561}"/>
                </a:ext>
              </a:extLst>
            </p:cNvPr>
            <p:cNvSpPr txBox="1">
              <a:spLocks noChangeArrowheads="1"/>
            </p:cNvSpPr>
            <p:nvPr/>
          </p:nvSpPr>
          <p:spPr bwMode="auto">
            <a:xfrm>
              <a:off x="3744" y="1872"/>
              <a:ext cx="672" cy="28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root</a:t>
              </a:r>
            </a:p>
          </p:txBody>
        </p:sp>
      </p:grpSp>
      <p:grpSp>
        <p:nvGrpSpPr>
          <p:cNvPr id="97" name="Group 96">
            <a:extLst>
              <a:ext uri="{FF2B5EF4-FFF2-40B4-BE49-F238E27FC236}">
                <a16:creationId xmlns:a16="http://schemas.microsoft.com/office/drawing/2014/main" xmlns="" id="{C48A4F08-428C-0008-D216-D9D3A673FC35}"/>
              </a:ext>
            </a:extLst>
          </p:cNvPr>
          <p:cNvGrpSpPr>
            <a:grpSpLocks/>
          </p:cNvGrpSpPr>
          <p:nvPr/>
        </p:nvGrpSpPr>
        <p:grpSpPr bwMode="auto">
          <a:xfrm>
            <a:off x="1192878" y="2234212"/>
            <a:ext cx="2819400" cy="304800"/>
            <a:chOff x="1344" y="2064"/>
            <a:chExt cx="1776" cy="192"/>
          </a:xfrm>
        </p:grpSpPr>
        <p:sp>
          <p:nvSpPr>
            <p:cNvPr id="98" name="Rectangle 97">
              <a:extLst>
                <a:ext uri="{FF2B5EF4-FFF2-40B4-BE49-F238E27FC236}">
                  <a16:creationId xmlns:a16="http://schemas.microsoft.com/office/drawing/2014/main" xmlns="" id="{F8C69825-A4BA-E61C-8345-E2F84828F1E9}"/>
                </a:ext>
              </a:extLst>
            </p:cNvPr>
            <p:cNvSpPr>
              <a:spLocks noChangeArrowheads="1"/>
            </p:cNvSpPr>
            <p:nvPr/>
          </p:nvSpPr>
          <p:spPr bwMode="auto">
            <a:xfrm>
              <a:off x="1344" y="2064"/>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err="1"/>
                <a:t>lchild</a:t>
              </a:r>
              <a:endParaRPr lang="en-US" altLang="zh-CN" sz="2400" dirty="0"/>
            </a:p>
          </p:txBody>
        </p:sp>
        <p:sp>
          <p:nvSpPr>
            <p:cNvPr id="99" name="Rectangle 98">
              <a:extLst>
                <a:ext uri="{FF2B5EF4-FFF2-40B4-BE49-F238E27FC236}">
                  <a16:creationId xmlns:a16="http://schemas.microsoft.com/office/drawing/2014/main" xmlns="" id="{B7163E50-83F5-1DCA-A2AF-5F86D583732B}"/>
                </a:ext>
              </a:extLst>
            </p:cNvPr>
            <p:cNvSpPr>
              <a:spLocks noChangeArrowheads="1"/>
            </p:cNvSpPr>
            <p:nvPr/>
          </p:nvSpPr>
          <p:spPr bwMode="auto">
            <a:xfrm>
              <a:off x="1968" y="2064"/>
              <a:ext cx="528"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data</a:t>
              </a:r>
            </a:p>
          </p:txBody>
        </p:sp>
        <p:sp>
          <p:nvSpPr>
            <p:cNvPr id="100" name="Rectangle 99">
              <a:extLst>
                <a:ext uri="{FF2B5EF4-FFF2-40B4-BE49-F238E27FC236}">
                  <a16:creationId xmlns:a16="http://schemas.microsoft.com/office/drawing/2014/main" xmlns="" id="{6B4B2DE5-8278-3785-CBDE-C6EC65EA5ED4}"/>
                </a:ext>
              </a:extLst>
            </p:cNvPr>
            <p:cNvSpPr>
              <a:spLocks noChangeArrowheads="1"/>
            </p:cNvSpPr>
            <p:nvPr/>
          </p:nvSpPr>
          <p:spPr bwMode="auto">
            <a:xfrm>
              <a:off x="2496" y="2064"/>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400" dirty="0" err="1"/>
                <a:t>rchild</a:t>
              </a:r>
              <a:endParaRPr lang="en-US" altLang="zh-CN" sz="2400" dirty="0"/>
            </a:p>
          </p:txBody>
        </p:sp>
      </p:grpSp>
      <p:grpSp>
        <p:nvGrpSpPr>
          <p:cNvPr id="101" name="Group 65">
            <a:extLst>
              <a:ext uri="{FF2B5EF4-FFF2-40B4-BE49-F238E27FC236}">
                <a16:creationId xmlns:a16="http://schemas.microsoft.com/office/drawing/2014/main" xmlns="" id="{DE15B724-4487-A85F-159F-B541CC4CC448}"/>
              </a:ext>
            </a:extLst>
          </p:cNvPr>
          <p:cNvGrpSpPr>
            <a:grpSpLocks/>
          </p:cNvGrpSpPr>
          <p:nvPr/>
        </p:nvGrpSpPr>
        <p:grpSpPr bwMode="auto">
          <a:xfrm>
            <a:off x="843305" y="5186513"/>
            <a:ext cx="5524025" cy="562891"/>
            <a:chOff x="228" y="3817"/>
            <a:chExt cx="3553" cy="367"/>
          </a:xfrm>
        </p:grpSpPr>
        <p:sp>
          <p:nvSpPr>
            <p:cNvPr id="102" name="Text Box 66">
              <a:extLst>
                <a:ext uri="{FF2B5EF4-FFF2-40B4-BE49-F238E27FC236}">
                  <a16:creationId xmlns:a16="http://schemas.microsoft.com/office/drawing/2014/main" xmlns="" id="{C83B64F6-498F-1CA5-53F8-7BFE5E1951E4}"/>
                </a:ext>
              </a:extLst>
            </p:cNvPr>
            <p:cNvSpPr txBox="1">
              <a:spLocks noChangeArrowheads="1"/>
            </p:cNvSpPr>
            <p:nvPr/>
          </p:nvSpPr>
          <p:spPr bwMode="auto">
            <a:xfrm>
              <a:off x="633" y="3857"/>
              <a:ext cx="3148"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eaLnBrk="1" hangingPunct="1">
                <a:spcBef>
                  <a:spcPct val="50000"/>
                </a:spcBef>
                <a:buFont typeface="Wingdings" pitchFamily="2" charset="2"/>
                <a:buNone/>
                <a:defRPr/>
              </a:pPr>
              <a:r>
                <a:rPr kumimoji="1" lang="zh-CN" altLang="en-US" dirty="0">
                  <a:latin typeface="微软雅黑" pitchFamily="34" charset="-122"/>
                  <a:ea typeface="微软雅黑" pitchFamily="34" charset="-122"/>
                  <a:cs typeface="经典粗黑简" pitchFamily="49" charset="-122"/>
                </a:rPr>
                <a:t>具有</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个结点的二叉链表中，有多少个空指针？</a:t>
              </a:r>
            </a:p>
          </p:txBody>
        </p:sp>
        <p:graphicFrame>
          <p:nvGraphicFramePr>
            <p:cNvPr id="103" name="Object 67">
              <a:extLst>
                <a:ext uri="{FF2B5EF4-FFF2-40B4-BE49-F238E27FC236}">
                  <a16:creationId xmlns:a16="http://schemas.microsoft.com/office/drawing/2014/main" xmlns="" id="{2BBBE47E-EF9F-BF4E-7696-5B0EA0E3DD6A}"/>
                </a:ext>
              </a:extLst>
            </p:cNvPr>
            <p:cNvGraphicFramePr>
              <a:graphicFrameLocks noChangeAspect="1"/>
            </p:cNvGraphicFramePr>
            <p:nvPr/>
          </p:nvGraphicFramePr>
          <p:xfrm>
            <a:off x="228" y="3817"/>
            <a:ext cx="384" cy="367"/>
          </p:xfrm>
          <a:graphic>
            <a:graphicData uri="http://schemas.openxmlformats.org/presentationml/2006/ole">
              <mc:AlternateContent xmlns:mc="http://schemas.openxmlformats.org/markup-compatibility/2006">
                <mc:Choice xmlns:v="urn:schemas-microsoft-com:vml" Requires="v">
                  <p:oleObj spid="_x0000_s3074" name="Clip" r:id="rId3" imgW="861365" imgH="844906" progId="MS_ClipArt_Gallery.5">
                    <p:embed/>
                  </p:oleObj>
                </mc:Choice>
                <mc:Fallback>
                  <p:oleObj name="Clip" r:id="rId3" imgW="861365" imgH="844906" progId="MS_ClipArt_Gallery.5">
                    <p:embed/>
                    <p:pic>
                      <p:nvPicPr>
                        <p:cNvPr id="62" name="Object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 y="3817"/>
                          <a:ext cx="384"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4" name="Text Box 65">
            <a:extLst>
              <a:ext uri="{FF2B5EF4-FFF2-40B4-BE49-F238E27FC236}">
                <a16:creationId xmlns:a16="http://schemas.microsoft.com/office/drawing/2014/main" xmlns="" id="{3EED8A9B-AB85-A973-D617-E035DD132951}"/>
              </a:ext>
            </a:extLst>
          </p:cNvPr>
          <p:cNvSpPr txBox="1">
            <a:spLocks noChangeArrowheads="1"/>
          </p:cNvSpPr>
          <p:nvPr/>
        </p:nvSpPr>
        <p:spPr bwMode="auto">
          <a:xfrm>
            <a:off x="1471952" y="5665033"/>
            <a:ext cx="4728240" cy="369332"/>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eaLnBrk="1" hangingPunct="1">
              <a:spcBef>
                <a:spcPct val="50000"/>
              </a:spcBef>
              <a:buFont typeface="Wingdings" pitchFamily="2" charset="2"/>
              <a:buNone/>
              <a:defRPr/>
            </a:pPr>
            <a:r>
              <a:rPr kumimoji="1" lang="zh-CN" altLang="en-US" dirty="0">
                <a:latin typeface="微软雅黑" pitchFamily="34" charset="-122"/>
                <a:ea typeface="微软雅黑" pitchFamily="34" charset="-122"/>
                <a:cs typeface="经典粗黑简" pitchFamily="49" charset="-122"/>
              </a:rPr>
              <a:t>具有</a:t>
            </a:r>
            <a:r>
              <a:rPr kumimoji="1" lang="en-US" altLang="zh-CN" dirty="0">
                <a:latin typeface="微软雅黑" pitchFamily="34" charset="-122"/>
                <a:ea typeface="微软雅黑" pitchFamily="34" charset="-122"/>
                <a:cs typeface="经典粗黑简" pitchFamily="49" charset="-122"/>
              </a:rPr>
              <a:t>n</a:t>
            </a:r>
            <a:r>
              <a:rPr kumimoji="1" lang="zh-CN" altLang="en-US" dirty="0">
                <a:latin typeface="微软雅黑" pitchFamily="34" charset="-122"/>
                <a:ea typeface="微软雅黑" pitchFamily="34" charset="-122"/>
                <a:cs typeface="经典粗黑简" pitchFamily="49" charset="-122"/>
              </a:rPr>
              <a:t>个结点的二叉链表中，有</a:t>
            </a:r>
            <a:r>
              <a:rPr kumimoji="1" lang="en-US" altLang="zh-CN" dirty="0">
                <a:latin typeface="微软雅黑" pitchFamily="34" charset="-122"/>
                <a:ea typeface="微软雅黑" pitchFamily="34" charset="-122"/>
                <a:cs typeface="经典粗黑简" pitchFamily="49" charset="-122"/>
              </a:rPr>
              <a:t>n+1</a:t>
            </a:r>
            <a:r>
              <a:rPr kumimoji="1" lang="zh-CN" altLang="en-US" dirty="0">
                <a:latin typeface="微软雅黑" pitchFamily="34" charset="-122"/>
                <a:ea typeface="微软雅黑" pitchFamily="34" charset="-122"/>
                <a:cs typeface="经典粗黑简" pitchFamily="49" charset="-122"/>
              </a:rPr>
              <a:t>个空指针。</a:t>
            </a:r>
          </a:p>
        </p:txBody>
      </p:sp>
      <p:sp>
        <p:nvSpPr>
          <p:cNvPr id="106" name="Text Box 2">
            <a:extLst>
              <a:ext uri="{FF2B5EF4-FFF2-40B4-BE49-F238E27FC236}">
                <a16:creationId xmlns:a16="http://schemas.microsoft.com/office/drawing/2014/main" xmlns="" id="{CB5BCCB7-3CC4-525D-1D63-8687FFE0B1CF}"/>
              </a:ext>
            </a:extLst>
          </p:cNvPr>
          <p:cNvSpPr txBox="1">
            <a:spLocks noChangeArrowheads="1"/>
          </p:cNvSpPr>
          <p:nvPr/>
        </p:nvSpPr>
        <p:spPr bwMode="auto">
          <a:xfrm>
            <a:off x="6883439" y="1200591"/>
            <a:ext cx="4745043" cy="152000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144000" tIns="108000" rIns="144000" bIns="108000">
            <a:spAutoFit/>
          </a:bodyPr>
          <a:lstStyle/>
          <a:p>
            <a:pPr algn="just">
              <a:lnSpc>
                <a:spcPct val="80000"/>
              </a:lnSpc>
              <a:spcBef>
                <a:spcPct val="50000"/>
              </a:spcBef>
            </a:pPr>
            <a:r>
              <a:rPr kumimoji="1" lang="en-US" altLang="zh-CN" sz="1800" dirty="0" err="1">
                <a:solidFill>
                  <a:srgbClr val="3333FF"/>
                </a:solidFill>
                <a:latin typeface="Consolas" pitchFamily="49" charset="0"/>
                <a:cs typeface="Consolas" pitchFamily="49" charset="0"/>
              </a:rPr>
              <a:t>typedef</a:t>
            </a:r>
            <a:r>
              <a:rPr kumimoji="1" lang="en-US" altLang="zh-CN" sz="1800" dirty="0">
                <a:solidFill>
                  <a:srgbClr val="3333FF"/>
                </a:solidFill>
                <a:latin typeface="Consolas" pitchFamily="49" charset="0"/>
                <a:cs typeface="Consolas" pitchFamily="49" charset="0"/>
              </a:rPr>
              <a:t> </a:t>
            </a:r>
            <a:r>
              <a:rPr kumimoji="1" lang="en-US" altLang="zh-CN" sz="1800" dirty="0" err="1">
                <a:solidFill>
                  <a:srgbClr val="C00000"/>
                </a:solidFill>
                <a:latin typeface="Consolas" pitchFamily="49" charset="0"/>
                <a:cs typeface="Consolas" pitchFamily="49" charset="0"/>
              </a:rPr>
              <a:t>struct</a:t>
            </a:r>
            <a:r>
              <a:rPr kumimoji="1" lang="en-US" altLang="zh-CN" sz="1800" dirty="0">
                <a:solidFill>
                  <a:srgbClr val="C00000"/>
                </a:solidFill>
                <a:latin typeface="Consolas" pitchFamily="49" charset="0"/>
                <a:cs typeface="Consolas" pitchFamily="49" charset="0"/>
              </a:rPr>
              <a:t> node</a:t>
            </a:r>
          </a:p>
          <a:p>
            <a:pPr algn="just">
              <a:lnSpc>
                <a:spcPct val="80000"/>
              </a:lnSpc>
              <a:spcBef>
                <a:spcPct val="50000"/>
              </a:spcBef>
            </a:pPr>
            <a:r>
              <a:rPr kumimoji="1" lang="en-US" altLang="zh-CN" sz="1800">
                <a:solidFill>
                  <a:srgbClr val="3333FF"/>
                </a:solidFill>
                <a:latin typeface="Consolas" pitchFamily="49" charset="0"/>
                <a:cs typeface="Consolas" pitchFamily="49" charset="0"/>
              </a:rPr>
              <a:t>{  ElemType </a:t>
            </a:r>
            <a:r>
              <a:rPr kumimoji="1" lang="en-US" altLang="zh-CN" sz="1800" dirty="0">
                <a:solidFill>
                  <a:srgbClr val="3333FF"/>
                </a:solidFill>
                <a:latin typeface="Consolas" pitchFamily="49" charset="0"/>
                <a:cs typeface="Consolas" pitchFamily="49" charset="0"/>
              </a:rPr>
              <a:t>data;</a:t>
            </a:r>
          </a:p>
          <a:p>
            <a:pPr algn="just">
              <a:lnSpc>
                <a:spcPct val="80000"/>
              </a:lnSpc>
              <a:spcBef>
                <a:spcPct val="50000"/>
              </a:spcBef>
            </a:pPr>
            <a:r>
              <a:rPr kumimoji="1" lang="en-US" altLang="zh-CN" sz="1800">
                <a:solidFill>
                  <a:srgbClr val="3333FF"/>
                </a:solidFill>
                <a:latin typeface="Consolas" pitchFamily="49" charset="0"/>
                <a:cs typeface="Consolas" pitchFamily="49" charset="0"/>
              </a:rPr>
              <a:t>   </a:t>
            </a:r>
            <a:r>
              <a:rPr kumimoji="1" lang="en-US" altLang="zh-CN" sz="1800">
                <a:solidFill>
                  <a:srgbClr val="C00000"/>
                </a:solidFill>
                <a:latin typeface="Consolas" pitchFamily="49" charset="0"/>
                <a:cs typeface="Consolas" pitchFamily="49" charset="0"/>
              </a:rPr>
              <a:t>struct </a:t>
            </a:r>
            <a:r>
              <a:rPr kumimoji="1" lang="en-US" altLang="zh-CN" sz="1800" dirty="0">
                <a:solidFill>
                  <a:srgbClr val="C00000"/>
                </a:solidFill>
                <a:latin typeface="Consolas" pitchFamily="49" charset="0"/>
                <a:cs typeface="Consolas" pitchFamily="49" charset="0"/>
              </a:rPr>
              <a:t>node </a:t>
            </a:r>
            <a:r>
              <a:rPr kumimoji="1" lang="en-US" altLang="zh-CN" sz="1800">
                <a:solidFill>
                  <a:srgbClr val="3333FF"/>
                </a:solidFill>
                <a:latin typeface="Consolas" pitchFamily="49" charset="0"/>
                <a:cs typeface="Consolas" pitchFamily="49" charset="0"/>
              </a:rPr>
              <a:t>*lchild</a:t>
            </a:r>
            <a:r>
              <a:rPr kumimoji="1" lang="zh-CN" altLang="en-US" sz="1800">
                <a:solidFill>
                  <a:srgbClr val="3333FF"/>
                </a:solidFill>
                <a:latin typeface="Consolas" pitchFamily="49" charset="0"/>
                <a:cs typeface="Consolas" pitchFamily="49" charset="0"/>
              </a:rPr>
              <a:t>，</a:t>
            </a:r>
            <a:r>
              <a:rPr kumimoji="1" lang="en-US" altLang="zh-CN" sz="1800">
                <a:solidFill>
                  <a:srgbClr val="3333FF"/>
                </a:solidFill>
                <a:latin typeface="Consolas" pitchFamily="49" charset="0"/>
                <a:cs typeface="Consolas" pitchFamily="49" charset="0"/>
              </a:rPr>
              <a:t> </a:t>
            </a:r>
            <a:r>
              <a:rPr kumimoji="1" lang="en-US" altLang="zh-CN" sz="1800" dirty="0">
                <a:solidFill>
                  <a:srgbClr val="3333FF"/>
                </a:solidFill>
                <a:latin typeface="Consolas" pitchFamily="49" charset="0"/>
                <a:cs typeface="Consolas" pitchFamily="49" charset="0"/>
              </a:rPr>
              <a:t>*</a:t>
            </a:r>
            <a:r>
              <a:rPr kumimoji="1" lang="en-US" altLang="zh-CN" sz="1800" dirty="0" err="1">
                <a:solidFill>
                  <a:srgbClr val="3333FF"/>
                </a:solidFill>
                <a:latin typeface="Consolas" pitchFamily="49" charset="0"/>
                <a:cs typeface="Consolas" pitchFamily="49" charset="0"/>
              </a:rPr>
              <a:t>rchild</a:t>
            </a:r>
            <a:r>
              <a:rPr kumimoji="1" lang="en-US" altLang="zh-CN" sz="1800" dirty="0">
                <a:solidFill>
                  <a:srgbClr val="3333FF"/>
                </a:solidFill>
                <a:latin typeface="Consolas" pitchFamily="49" charset="0"/>
                <a:cs typeface="Consolas" pitchFamily="49" charset="0"/>
              </a:rPr>
              <a:t>;</a:t>
            </a:r>
          </a:p>
          <a:p>
            <a:pPr algn="just">
              <a:lnSpc>
                <a:spcPct val="80000"/>
              </a:lnSpc>
              <a:spcBef>
                <a:spcPct val="50000"/>
              </a:spcBef>
            </a:pPr>
            <a:r>
              <a:rPr kumimoji="1" lang="en-US" altLang="zh-CN" sz="1800">
                <a:solidFill>
                  <a:srgbClr val="3333FF"/>
                </a:solidFill>
                <a:latin typeface="Consolas" pitchFamily="49" charset="0"/>
                <a:cs typeface="Consolas" pitchFamily="49" charset="0"/>
              </a:rPr>
              <a:t>} </a:t>
            </a:r>
            <a:r>
              <a:rPr kumimoji="1" lang="en-US" altLang="zh-CN" sz="1800">
                <a:solidFill>
                  <a:srgbClr val="FF0000"/>
                </a:solidFill>
                <a:latin typeface="Consolas" pitchFamily="49" charset="0"/>
                <a:cs typeface="Consolas" pitchFamily="49" charset="0"/>
              </a:rPr>
              <a:t>BTNode</a:t>
            </a:r>
            <a:r>
              <a:rPr kumimoji="1" lang="en-US" altLang="zh-CN" sz="1800" dirty="0">
                <a:solidFill>
                  <a:srgbClr val="3333FF"/>
                </a:solidFill>
                <a:latin typeface="Consolas" pitchFamily="49" charset="0"/>
                <a:cs typeface="Consolas" pitchFamily="49" charset="0"/>
              </a:rPr>
              <a:t>;      </a:t>
            </a:r>
          </a:p>
        </p:txBody>
      </p:sp>
      <p:sp>
        <p:nvSpPr>
          <p:cNvPr id="107" name="Text Box 3">
            <a:extLst>
              <a:ext uri="{FF2B5EF4-FFF2-40B4-BE49-F238E27FC236}">
                <a16:creationId xmlns:a16="http://schemas.microsoft.com/office/drawing/2014/main" xmlns="" id="{B1501CE4-64E5-3C0E-9A4C-6C2474FAB2DC}"/>
              </a:ext>
            </a:extLst>
          </p:cNvPr>
          <p:cNvSpPr txBox="1">
            <a:spLocks noChangeArrowheads="1"/>
          </p:cNvSpPr>
          <p:nvPr/>
        </p:nvSpPr>
        <p:spPr bwMode="auto">
          <a:xfrm>
            <a:off x="6835009" y="884710"/>
            <a:ext cx="5646178" cy="313932"/>
          </a:xfrm>
          <a:prstGeom prst="rect">
            <a:avLst/>
          </a:prstGeom>
          <a:noFill/>
          <a:ln w="28575" algn="ctr">
            <a:noFill/>
            <a:miter lim="800000"/>
            <a:headEnd/>
            <a:tailEnd type="none" w="med" len="lg"/>
          </a:ln>
          <a:effectLst/>
        </p:spPr>
        <p:txBody>
          <a:bodyPr wrap="square">
            <a:spAutoFit/>
          </a:bodyPr>
          <a:lstStyle/>
          <a:p>
            <a:pPr algn="just">
              <a:lnSpc>
                <a:spcPct val="80000"/>
              </a:lnSpc>
              <a:spcBef>
                <a:spcPct val="50000"/>
              </a:spcBef>
            </a:pPr>
            <a:r>
              <a:rPr kumimoji="1" lang="zh-CN" altLang="en-US" dirty="0">
                <a:latin typeface="微软雅黑" pitchFamily="34" charset="-122"/>
                <a:ea typeface="微软雅黑" pitchFamily="34" charset="-122"/>
                <a:cs typeface="经典粗黑简" pitchFamily="49" charset="-122"/>
              </a:rPr>
              <a:t>在二叉树的链式存储中，结点的类型声明如下</a:t>
            </a:r>
            <a:r>
              <a:rPr kumimoji="1" lang="en-US" altLang="zh-CN" dirty="0">
                <a:latin typeface="微软雅黑" pitchFamily="34" charset="-122"/>
                <a:ea typeface="微软雅黑" pitchFamily="34" charset="-122"/>
                <a:cs typeface="经典粗黑简" pitchFamily="49" charset="-122"/>
              </a:rPr>
              <a:t>:</a:t>
            </a:r>
          </a:p>
        </p:txBody>
      </p:sp>
      <p:sp>
        <p:nvSpPr>
          <p:cNvPr id="109" name="TextBox 5">
            <a:extLst>
              <a:ext uri="{FF2B5EF4-FFF2-40B4-BE49-F238E27FC236}">
                <a16:creationId xmlns:a16="http://schemas.microsoft.com/office/drawing/2014/main" xmlns="" id="{3BE3EF68-B0FE-F185-F963-1447F8ACCBC8}"/>
              </a:ext>
            </a:extLst>
          </p:cNvPr>
          <p:cNvSpPr txBox="1"/>
          <p:nvPr/>
        </p:nvSpPr>
        <p:spPr>
          <a:xfrm>
            <a:off x="8416885" y="3019837"/>
            <a:ext cx="3424903" cy="400110"/>
          </a:xfrm>
          <a:prstGeom prst="rect">
            <a:avLst/>
          </a:prstGeom>
          <a:noFill/>
        </p:spPr>
        <p:txBody>
          <a:bodyPr wrap="square" rtlCol="0">
            <a:spAutoFit/>
          </a:bodyPr>
          <a:lstStyle/>
          <a:p>
            <a:pPr algn="l"/>
            <a:r>
              <a:rPr lang="zh-CN" altLang="en-US" sz="2000" dirty="0">
                <a:latin typeface="Consolas" pitchFamily="49" charset="0"/>
                <a:ea typeface="仿宋" pitchFamily="49" charset="-122"/>
                <a:cs typeface="Consolas" pitchFamily="49" charset="0"/>
              </a:rPr>
              <a:t>指向的都是</a:t>
            </a:r>
            <a:r>
              <a:rPr kumimoji="1" lang="zh-CN" altLang="en-US" sz="2000" dirty="0">
                <a:latin typeface="Consolas" pitchFamily="49" charset="0"/>
                <a:ea typeface="仿宋" pitchFamily="49" charset="-122"/>
                <a:cs typeface="Consolas" pitchFamily="49" charset="0"/>
                <a:sym typeface="Wingdings" pitchFamily="2" charset="2"/>
              </a:rPr>
              <a:t>二叉树：递归性</a:t>
            </a:r>
            <a:endParaRPr lang="zh-CN" altLang="en-US" sz="2000" dirty="0">
              <a:latin typeface="Consolas" pitchFamily="49" charset="0"/>
              <a:ea typeface="仿宋" pitchFamily="49" charset="-122"/>
              <a:cs typeface="Consolas" pitchFamily="49" charset="0"/>
            </a:endParaRPr>
          </a:p>
        </p:txBody>
      </p:sp>
      <p:cxnSp>
        <p:nvCxnSpPr>
          <p:cNvPr id="110" name="直接箭头连接符 109">
            <a:extLst>
              <a:ext uri="{FF2B5EF4-FFF2-40B4-BE49-F238E27FC236}">
                <a16:creationId xmlns:a16="http://schemas.microsoft.com/office/drawing/2014/main" xmlns="" id="{86F6B2C8-67CA-30F2-D042-C74484C307C8}"/>
              </a:ext>
            </a:extLst>
          </p:cNvPr>
          <p:cNvCxnSpPr>
            <a:cxnSpLocks/>
          </p:cNvCxnSpPr>
          <p:nvPr/>
        </p:nvCxnSpPr>
        <p:spPr>
          <a:xfrm flipV="1">
            <a:off x="9763716" y="2347258"/>
            <a:ext cx="0" cy="674793"/>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111" name="直接连接符 110">
            <a:extLst>
              <a:ext uri="{FF2B5EF4-FFF2-40B4-BE49-F238E27FC236}">
                <a16:creationId xmlns:a16="http://schemas.microsoft.com/office/drawing/2014/main" xmlns="" id="{91903746-F878-6E52-C49F-0E6323165694}"/>
              </a:ext>
            </a:extLst>
          </p:cNvPr>
          <p:cNvCxnSpPr/>
          <p:nvPr/>
        </p:nvCxnSpPr>
        <p:spPr>
          <a:xfrm>
            <a:off x="9049337" y="2339320"/>
            <a:ext cx="2160000" cy="1588"/>
          </a:xfrm>
          <a:prstGeom prst="line">
            <a:avLst/>
          </a:prstGeom>
          <a:ln>
            <a:tailEnd type="non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297716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wipe(left)">
                                      <p:cBhvr>
                                        <p:cTn id="12" dur="500"/>
                                        <p:tgtEl>
                                          <p:spTgt spid="10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14B9DA0-87B3-6944-A917-992C3F2A10D8}"/>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5994B015-302D-5E8F-3024-1AE29A6EFADB}"/>
              </a:ext>
            </a:extLst>
          </p:cNvPr>
          <p:cNvSpPr/>
          <p:nvPr/>
        </p:nvSpPr>
        <p:spPr>
          <a:xfrm>
            <a:off x="3928921" y="102903"/>
            <a:ext cx="4619267"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7.3 </a:t>
            </a:r>
            <a:r>
              <a:rPr lang="zh-CN" altLang="en-US" sz="3000" b="1" dirty="0">
                <a:latin typeface="黑体" pitchFamily="49" charset="-122"/>
                <a:ea typeface="黑体" pitchFamily="49" charset="-122"/>
                <a:cs typeface="经典粗黑简" pitchFamily="49" charset="-122"/>
              </a:rPr>
              <a:t>二叉树的存储结构</a:t>
            </a:r>
          </a:p>
        </p:txBody>
      </p:sp>
      <p:sp>
        <p:nvSpPr>
          <p:cNvPr id="19" name="Rectangle 2">
            <a:extLst>
              <a:ext uri="{FF2B5EF4-FFF2-40B4-BE49-F238E27FC236}">
                <a16:creationId xmlns:a16="http://schemas.microsoft.com/office/drawing/2014/main" xmlns="" id="{8E4E96B5-E4B1-3157-D771-32EB81166850}"/>
              </a:ext>
            </a:extLst>
          </p:cNvPr>
          <p:cNvSpPr txBox="1">
            <a:spLocks noChangeArrowheads="1"/>
          </p:cNvSpPr>
          <p:nvPr/>
        </p:nvSpPr>
        <p:spPr>
          <a:xfrm>
            <a:off x="79920" y="836712"/>
            <a:ext cx="4935960"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7.3.2 </a:t>
            </a:r>
            <a:r>
              <a:rPr lang="zh-CN" altLang="en-US" dirty="0"/>
              <a:t>二叉树的链式存储结构</a:t>
            </a:r>
          </a:p>
        </p:txBody>
      </p:sp>
      <p:cxnSp>
        <p:nvCxnSpPr>
          <p:cNvPr id="20" name="直接连接符 19">
            <a:extLst>
              <a:ext uri="{FF2B5EF4-FFF2-40B4-BE49-F238E27FC236}">
                <a16:creationId xmlns:a16="http://schemas.microsoft.com/office/drawing/2014/main" xmlns="" id="{998E3303-4295-1BD2-B3E3-A43C86C71EEF}"/>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2" name="Text Box 5">
            <a:extLst>
              <a:ext uri="{FF2B5EF4-FFF2-40B4-BE49-F238E27FC236}">
                <a16:creationId xmlns:a16="http://schemas.microsoft.com/office/drawing/2014/main" xmlns="" id="{BEC5650C-E930-493A-C5AC-C0D4C67DA8F3}"/>
              </a:ext>
            </a:extLst>
          </p:cNvPr>
          <p:cNvSpPr txBox="1">
            <a:spLocks noChangeArrowheads="1"/>
          </p:cNvSpPr>
          <p:nvPr/>
        </p:nvSpPr>
        <p:spPr bwMode="auto">
          <a:xfrm>
            <a:off x="1080078" y="2028613"/>
            <a:ext cx="8032778" cy="1526160"/>
          </a:xfrm>
          <a:prstGeom prst="rect">
            <a:avLst/>
          </a:prstGeom>
          <a:ln>
            <a:noFill/>
            <a:headEnd/>
            <a:tailEnd type="none" w="med" len="lg"/>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l">
              <a:lnSpc>
                <a:spcPts val="3000"/>
              </a:lnSpc>
              <a:spcBef>
                <a:spcPts val="1200"/>
              </a:spcBef>
              <a:buFontTx/>
              <a:buBlip>
                <a:blip r:embed="rId2"/>
              </a:buBlip>
            </a:pPr>
            <a:r>
              <a:rPr lang="zh-CN" altLang="en-US" sz="2000" dirty="0">
                <a:latin typeface="Consolas" pitchFamily="49" charset="0"/>
                <a:ea typeface="仿宋" pitchFamily="49" charset="-122"/>
                <a:cs typeface="Consolas" pitchFamily="49" charset="0"/>
              </a:rPr>
              <a:t>除了</a:t>
            </a:r>
            <a:r>
              <a:rPr lang="zh-CN" altLang="en-US" sz="2000">
                <a:latin typeface="Consolas" pitchFamily="49" charset="0"/>
                <a:ea typeface="仿宋" pitchFamily="49" charset="-122"/>
                <a:cs typeface="Consolas" pitchFamily="49" charset="0"/>
              </a:rPr>
              <a:t>指针外，二</a:t>
            </a:r>
            <a:r>
              <a:rPr lang="zh-CN" altLang="en-US" sz="2000" dirty="0">
                <a:latin typeface="Consolas" pitchFamily="49" charset="0"/>
                <a:ea typeface="仿宋" pitchFamily="49" charset="-122"/>
                <a:cs typeface="Consolas" pitchFamily="49" charset="0"/>
              </a:rPr>
              <a:t>叉链</a:t>
            </a:r>
            <a:r>
              <a:rPr lang="zh-CN" altLang="en-US" sz="2000" dirty="0">
                <a:solidFill>
                  <a:srgbClr val="CC00FF"/>
                </a:solidFill>
                <a:latin typeface="Consolas" pitchFamily="49" charset="0"/>
                <a:ea typeface="仿宋" pitchFamily="49" charset="-122"/>
                <a:cs typeface="Consolas" pitchFamily="49" charset="0"/>
              </a:rPr>
              <a:t>比较节省存储空间</a:t>
            </a:r>
            <a:r>
              <a:rPr lang="zh-CN" altLang="en-US" sz="2000" dirty="0">
                <a:latin typeface="Consolas" pitchFamily="49" charset="0"/>
                <a:ea typeface="仿宋" pitchFamily="49" charset="-122"/>
                <a:cs typeface="Consolas" pitchFamily="49" charset="0"/>
              </a:rPr>
              <a:t>。占用的存储空间与树形</a:t>
            </a:r>
            <a:r>
              <a:rPr lang="zh-CN" altLang="en-US" sz="2000">
                <a:latin typeface="Consolas" pitchFamily="49" charset="0"/>
                <a:ea typeface="仿宋" pitchFamily="49" charset="-122"/>
                <a:cs typeface="Consolas" pitchFamily="49" charset="0"/>
              </a:rPr>
              <a:t>没有关系，只</a:t>
            </a:r>
            <a:r>
              <a:rPr lang="zh-CN" altLang="en-US" sz="2000" dirty="0">
                <a:latin typeface="Consolas" pitchFamily="49" charset="0"/>
                <a:ea typeface="仿宋" pitchFamily="49" charset="-122"/>
                <a:cs typeface="Consolas" pitchFamily="49" charset="0"/>
              </a:rPr>
              <a:t>与</a:t>
            </a:r>
            <a:r>
              <a:rPr lang="zh-CN" altLang="en-US" sz="2000">
                <a:latin typeface="Consolas" pitchFamily="49" charset="0"/>
                <a:ea typeface="仿宋" pitchFamily="49" charset="-122"/>
                <a:cs typeface="Consolas" pitchFamily="49" charset="0"/>
              </a:rPr>
              <a:t>树中结点个数</a:t>
            </a:r>
            <a:r>
              <a:rPr lang="zh-CN" altLang="en-US" sz="2000" dirty="0">
                <a:latin typeface="Consolas" pitchFamily="49" charset="0"/>
                <a:ea typeface="仿宋" pitchFamily="49" charset="-122"/>
                <a:cs typeface="Consolas" pitchFamily="49" charset="0"/>
              </a:rPr>
              <a:t>有关。</a:t>
            </a:r>
          </a:p>
          <a:p>
            <a:pPr marL="457200" indent="-457200" algn="l">
              <a:lnSpc>
                <a:spcPts val="3000"/>
              </a:lnSpc>
              <a:spcBef>
                <a:spcPts val="1200"/>
              </a:spcBef>
              <a:buFontTx/>
              <a:buBlip>
                <a:blip r:embed="rId2"/>
              </a:buBlip>
            </a:pPr>
            <a:r>
              <a:rPr lang="zh-CN" altLang="en-US" sz="2000" dirty="0">
                <a:latin typeface="Consolas" pitchFamily="49" charset="0"/>
                <a:ea typeface="仿宋" pitchFamily="49" charset="-122"/>
                <a:cs typeface="Consolas" pitchFamily="49" charset="0"/>
              </a:rPr>
              <a:t>在二叉</a:t>
            </a:r>
            <a:r>
              <a:rPr lang="zh-CN" altLang="en-US" sz="2000">
                <a:latin typeface="Consolas" pitchFamily="49" charset="0"/>
                <a:ea typeface="仿宋" pitchFamily="49" charset="-122"/>
                <a:cs typeface="Consolas" pitchFamily="49" charset="0"/>
              </a:rPr>
              <a:t>链中，</a:t>
            </a:r>
            <a:r>
              <a:rPr lang="zh-CN" altLang="en-US" sz="2000">
                <a:solidFill>
                  <a:srgbClr val="CC00FF"/>
                </a:solidFill>
                <a:latin typeface="Consolas" pitchFamily="49" charset="0"/>
                <a:ea typeface="仿宋" pitchFamily="49" charset="-122"/>
                <a:cs typeface="Consolas" pitchFamily="49" charset="0"/>
              </a:rPr>
              <a:t>找一个结点的</a:t>
            </a:r>
            <a:r>
              <a:rPr lang="zh-CN" altLang="en-US" sz="2000" dirty="0">
                <a:solidFill>
                  <a:srgbClr val="CC00FF"/>
                </a:solidFill>
                <a:latin typeface="Consolas" pitchFamily="49" charset="0"/>
                <a:ea typeface="仿宋" pitchFamily="49" charset="-122"/>
                <a:cs typeface="Consolas" pitchFamily="49" charset="0"/>
              </a:rPr>
              <a:t>孩子</a:t>
            </a:r>
            <a:r>
              <a:rPr lang="zh-CN" altLang="en-US" sz="2000">
                <a:solidFill>
                  <a:srgbClr val="CC00FF"/>
                </a:solidFill>
                <a:latin typeface="Consolas" pitchFamily="49" charset="0"/>
                <a:ea typeface="仿宋" pitchFamily="49" charset="-122"/>
                <a:cs typeface="Consolas" pitchFamily="49" charset="0"/>
              </a:rPr>
              <a:t>很容易</a:t>
            </a:r>
            <a:r>
              <a:rPr lang="zh-CN" altLang="en-US" sz="2000">
                <a:latin typeface="Consolas" pitchFamily="49" charset="0"/>
                <a:ea typeface="仿宋" pitchFamily="49" charset="-122"/>
                <a:cs typeface="Consolas" pitchFamily="49" charset="0"/>
              </a:rPr>
              <a:t>，但</a:t>
            </a:r>
            <a:r>
              <a:rPr lang="zh-CN" altLang="en-US" sz="2000" dirty="0">
                <a:latin typeface="Consolas" pitchFamily="49" charset="0"/>
                <a:ea typeface="仿宋" pitchFamily="49" charset="-122"/>
                <a:cs typeface="Consolas" pitchFamily="49" charset="0"/>
              </a:rPr>
              <a:t>找其双亲不方便。</a:t>
            </a:r>
          </a:p>
        </p:txBody>
      </p:sp>
      <p:grpSp>
        <p:nvGrpSpPr>
          <p:cNvPr id="33" name="Group 56">
            <a:extLst>
              <a:ext uri="{FF2B5EF4-FFF2-40B4-BE49-F238E27FC236}">
                <a16:creationId xmlns:a16="http://schemas.microsoft.com/office/drawing/2014/main" xmlns="" id="{712CF5CC-4655-71C7-D119-49AF0241A725}"/>
              </a:ext>
            </a:extLst>
          </p:cNvPr>
          <p:cNvGrpSpPr>
            <a:grpSpLocks/>
          </p:cNvGrpSpPr>
          <p:nvPr/>
        </p:nvGrpSpPr>
        <p:grpSpPr bwMode="auto">
          <a:xfrm>
            <a:off x="2838533" y="3645024"/>
            <a:ext cx="3929090" cy="2928958"/>
            <a:chOff x="2584" y="360"/>
            <a:chExt cx="3040" cy="2057"/>
          </a:xfrm>
        </p:grpSpPr>
        <p:sp>
          <p:nvSpPr>
            <p:cNvPr id="34" name="Rectangle 23">
              <a:extLst>
                <a:ext uri="{FF2B5EF4-FFF2-40B4-BE49-F238E27FC236}">
                  <a16:creationId xmlns:a16="http://schemas.microsoft.com/office/drawing/2014/main" xmlns="" id="{85EE7BE8-5A7F-9391-6362-FD9A148EB4C2}"/>
                </a:ext>
              </a:extLst>
            </p:cNvPr>
            <p:cNvSpPr>
              <a:spLocks noChangeArrowheads="1"/>
            </p:cNvSpPr>
            <p:nvPr/>
          </p:nvSpPr>
          <p:spPr bwMode="auto">
            <a:xfrm>
              <a:off x="3718" y="739"/>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zh-CN" sz="1800" b="0">
                <a:latin typeface="Consolas" pitchFamily="49" charset="0"/>
                <a:cs typeface="Consolas" pitchFamily="49" charset="0"/>
              </a:endParaRPr>
            </a:p>
          </p:txBody>
        </p:sp>
        <p:sp>
          <p:nvSpPr>
            <p:cNvPr id="35" name="Rectangle 24">
              <a:extLst>
                <a:ext uri="{FF2B5EF4-FFF2-40B4-BE49-F238E27FC236}">
                  <a16:creationId xmlns:a16="http://schemas.microsoft.com/office/drawing/2014/main" xmlns="" id="{D8327ABB-AA54-A7DE-22C7-DCB450E56A15}"/>
                </a:ext>
              </a:extLst>
            </p:cNvPr>
            <p:cNvSpPr>
              <a:spLocks noChangeArrowheads="1"/>
            </p:cNvSpPr>
            <p:nvPr/>
          </p:nvSpPr>
          <p:spPr bwMode="auto">
            <a:xfrm>
              <a:off x="3945" y="739"/>
              <a:ext cx="227" cy="22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b="0" dirty="0">
                  <a:solidFill>
                    <a:srgbClr val="3333FF"/>
                  </a:solidFill>
                  <a:latin typeface="Consolas" pitchFamily="49" charset="0"/>
                  <a:cs typeface="Consolas" pitchFamily="49" charset="0"/>
                </a:rPr>
                <a:t>A</a:t>
              </a:r>
            </a:p>
          </p:txBody>
        </p:sp>
        <p:sp>
          <p:nvSpPr>
            <p:cNvPr id="36" name="Rectangle 25">
              <a:extLst>
                <a:ext uri="{FF2B5EF4-FFF2-40B4-BE49-F238E27FC236}">
                  <a16:creationId xmlns:a16="http://schemas.microsoft.com/office/drawing/2014/main" xmlns="" id="{B9DF4A1F-7EE1-833F-1129-C473DD12CFB7}"/>
                </a:ext>
              </a:extLst>
            </p:cNvPr>
            <p:cNvSpPr>
              <a:spLocks noChangeArrowheads="1"/>
            </p:cNvSpPr>
            <p:nvPr/>
          </p:nvSpPr>
          <p:spPr bwMode="auto">
            <a:xfrm>
              <a:off x="4172" y="739"/>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zh-CN" sz="1800" b="0">
                <a:latin typeface="Consolas" pitchFamily="49" charset="0"/>
                <a:cs typeface="Consolas" pitchFamily="49" charset="0"/>
              </a:endParaRPr>
            </a:p>
          </p:txBody>
        </p:sp>
        <p:sp>
          <p:nvSpPr>
            <p:cNvPr id="37" name="Rectangle 26">
              <a:extLst>
                <a:ext uri="{FF2B5EF4-FFF2-40B4-BE49-F238E27FC236}">
                  <a16:creationId xmlns:a16="http://schemas.microsoft.com/office/drawing/2014/main" xmlns="" id="{DA0998E9-26EC-D965-6A38-9B888082522C}"/>
                </a:ext>
              </a:extLst>
            </p:cNvPr>
            <p:cNvSpPr>
              <a:spLocks noChangeArrowheads="1"/>
            </p:cNvSpPr>
            <p:nvPr/>
          </p:nvSpPr>
          <p:spPr bwMode="auto">
            <a:xfrm>
              <a:off x="2993" y="1237"/>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zh-CN" sz="1800" b="0">
                <a:latin typeface="Consolas" pitchFamily="49" charset="0"/>
                <a:cs typeface="Consolas" pitchFamily="49" charset="0"/>
              </a:endParaRPr>
            </a:p>
          </p:txBody>
        </p:sp>
        <p:sp>
          <p:nvSpPr>
            <p:cNvPr id="38" name="Rectangle 27">
              <a:extLst>
                <a:ext uri="{FF2B5EF4-FFF2-40B4-BE49-F238E27FC236}">
                  <a16:creationId xmlns:a16="http://schemas.microsoft.com/office/drawing/2014/main" xmlns="" id="{7A53B732-ADFE-7942-4094-13655B40BD7A}"/>
                </a:ext>
              </a:extLst>
            </p:cNvPr>
            <p:cNvSpPr>
              <a:spLocks noChangeArrowheads="1"/>
            </p:cNvSpPr>
            <p:nvPr/>
          </p:nvSpPr>
          <p:spPr bwMode="auto">
            <a:xfrm>
              <a:off x="3220" y="1237"/>
              <a:ext cx="227" cy="22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B</a:t>
              </a:r>
            </a:p>
          </p:txBody>
        </p:sp>
        <p:sp>
          <p:nvSpPr>
            <p:cNvPr id="39" name="Rectangle 28">
              <a:extLst>
                <a:ext uri="{FF2B5EF4-FFF2-40B4-BE49-F238E27FC236}">
                  <a16:creationId xmlns:a16="http://schemas.microsoft.com/office/drawing/2014/main" xmlns="" id="{E7FAF459-15E0-B9C3-B5AB-CFF6C7C2CD30}"/>
                </a:ext>
              </a:extLst>
            </p:cNvPr>
            <p:cNvSpPr>
              <a:spLocks noChangeArrowheads="1"/>
            </p:cNvSpPr>
            <p:nvPr/>
          </p:nvSpPr>
          <p:spPr bwMode="auto">
            <a:xfrm>
              <a:off x="3447" y="1237"/>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latin typeface="Consolas" pitchFamily="49" charset="0"/>
                  <a:cs typeface="Consolas" pitchFamily="49" charset="0"/>
                </a:rPr>
                <a:t>∧</a:t>
              </a:r>
            </a:p>
          </p:txBody>
        </p:sp>
        <p:sp>
          <p:nvSpPr>
            <p:cNvPr id="40" name="Rectangle 29">
              <a:extLst>
                <a:ext uri="{FF2B5EF4-FFF2-40B4-BE49-F238E27FC236}">
                  <a16:creationId xmlns:a16="http://schemas.microsoft.com/office/drawing/2014/main" xmlns="" id="{C06A4364-FE9A-CCA5-C7E0-C0B5B7C48CBE}"/>
                </a:ext>
              </a:extLst>
            </p:cNvPr>
            <p:cNvSpPr>
              <a:spLocks noChangeArrowheads="1"/>
            </p:cNvSpPr>
            <p:nvPr/>
          </p:nvSpPr>
          <p:spPr bwMode="auto">
            <a:xfrm>
              <a:off x="2584" y="1736"/>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latin typeface="Consolas" pitchFamily="49" charset="0"/>
                  <a:cs typeface="Consolas" pitchFamily="49" charset="0"/>
                </a:rPr>
                <a:t>∧</a:t>
              </a:r>
            </a:p>
          </p:txBody>
        </p:sp>
        <p:sp>
          <p:nvSpPr>
            <p:cNvPr id="41" name="Rectangle 30">
              <a:extLst>
                <a:ext uri="{FF2B5EF4-FFF2-40B4-BE49-F238E27FC236}">
                  <a16:creationId xmlns:a16="http://schemas.microsoft.com/office/drawing/2014/main" xmlns="" id="{B3B64E41-5117-ADDF-AA47-2948477F9FF6}"/>
                </a:ext>
              </a:extLst>
            </p:cNvPr>
            <p:cNvSpPr>
              <a:spLocks noChangeArrowheads="1"/>
            </p:cNvSpPr>
            <p:nvPr/>
          </p:nvSpPr>
          <p:spPr bwMode="auto">
            <a:xfrm>
              <a:off x="2811" y="1736"/>
              <a:ext cx="227" cy="22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D</a:t>
              </a:r>
            </a:p>
          </p:txBody>
        </p:sp>
        <p:sp>
          <p:nvSpPr>
            <p:cNvPr id="42" name="Rectangle 31">
              <a:extLst>
                <a:ext uri="{FF2B5EF4-FFF2-40B4-BE49-F238E27FC236}">
                  <a16:creationId xmlns:a16="http://schemas.microsoft.com/office/drawing/2014/main" xmlns="" id="{1931DE79-7057-BEE8-F5C7-C7EA5BFE7D47}"/>
                </a:ext>
              </a:extLst>
            </p:cNvPr>
            <p:cNvSpPr>
              <a:spLocks noChangeArrowheads="1"/>
            </p:cNvSpPr>
            <p:nvPr/>
          </p:nvSpPr>
          <p:spPr bwMode="auto">
            <a:xfrm>
              <a:off x="3038" y="1736"/>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zh-CN" sz="1800" b="0">
                <a:latin typeface="Consolas" pitchFamily="49" charset="0"/>
                <a:cs typeface="Consolas" pitchFamily="49" charset="0"/>
              </a:endParaRPr>
            </a:p>
          </p:txBody>
        </p:sp>
        <p:sp>
          <p:nvSpPr>
            <p:cNvPr id="43" name="Rectangle 32">
              <a:extLst>
                <a:ext uri="{FF2B5EF4-FFF2-40B4-BE49-F238E27FC236}">
                  <a16:creationId xmlns:a16="http://schemas.microsoft.com/office/drawing/2014/main" xmlns="" id="{7CF8C590-752D-F5CD-5B0A-440201B64020}"/>
                </a:ext>
              </a:extLst>
            </p:cNvPr>
            <p:cNvSpPr>
              <a:spLocks noChangeArrowheads="1"/>
            </p:cNvSpPr>
            <p:nvPr/>
          </p:nvSpPr>
          <p:spPr bwMode="auto">
            <a:xfrm>
              <a:off x="3129" y="2190"/>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dirty="0">
                  <a:latin typeface="Consolas" pitchFamily="49" charset="0"/>
                  <a:cs typeface="Consolas" pitchFamily="49" charset="0"/>
                </a:rPr>
                <a:t>∧</a:t>
              </a:r>
            </a:p>
          </p:txBody>
        </p:sp>
        <p:sp>
          <p:nvSpPr>
            <p:cNvPr id="44" name="Rectangle 33">
              <a:extLst>
                <a:ext uri="{FF2B5EF4-FFF2-40B4-BE49-F238E27FC236}">
                  <a16:creationId xmlns:a16="http://schemas.microsoft.com/office/drawing/2014/main" xmlns="" id="{A140D015-754B-F4C3-EA2E-9E416773D36D}"/>
                </a:ext>
              </a:extLst>
            </p:cNvPr>
            <p:cNvSpPr>
              <a:spLocks noChangeArrowheads="1"/>
            </p:cNvSpPr>
            <p:nvPr/>
          </p:nvSpPr>
          <p:spPr bwMode="auto">
            <a:xfrm>
              <a:off x="3356" y="2190"/>
              <a:ext cx="227" cy="22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G</a:t>
              </a:r>
            </a:p>
          </p:txBody>
        </p:sp>
        <p:sp>
          <p:nvSpPr>
            <p:cNvPr id="45" name="Rectangle 34">
              <a:extLst>
                <a:ext uri="{FF2B5EF4-FFF2-40B4-BE49-F238E27FC236}">
                  <a16:creationId xmlns:a16="http://schemas.microsoft.com/office/drawing/2014/main" xmlns="" id="{AD3E5E3E-B74D-33C7-427D-E6992F187FF7}"/>
                </a:ext>
              </a:extLst>
            </p:cNvPr>
            <p:cNvSpPr>
              <a:spLocks noChangeArrowheads="1"/>
            </p:cNvSpPr>
            <p:nvPr/>
          </p:nvSpPr>
          <p:spPr bwMode="auto">
            <a:xfrm>
              <a:off x="3583" y="2190"/>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latin typeface="Consolas" pitchFamily="49" charset="0"/>
                  <a:cs typeface="Consolas" pitchFamily="49" charset="0"/>
                </a:rPr>
                <a:t>∧</a:t>
              </a:r>
            </a:p>
          </p:txBody>
        </p:sp>
        <p:sp>
          <p:nvSpPr>
            <p:cNvPr id="46" name="Rectangle 35">
              <a:extLst>
                <a:ext uri="{FF2B5EF4-FFF2-40B4-BE49-F238E27FC236}">
                  <a16:creationId xmlns:a16="http://schemas.microsoft.com/office/drawing/2014/main" xmlns="" id="{6A027D9E-0A17-0799-782C-3506C9739A61}"/>
                </a:ext>
              </a:extLst>
            </p:cNvPr>
            <p:cNvSpPr>
              <a:spLocks noChangeArrowheads="1"/>
            </p:cNvSpPr>
            <p:nvPr/>
          </p:nvSpPr>
          <p:spPr bwMode="auto">
            <a:xfrm>
              <a:off x="4399" y="1238"/>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zh-CN" sz="1800" b="0">
                <a:latin typeface="Consolas" pitchFamily="49" charset="0"/>
                <a:cs typeface="Consolas" pitchFamily="49" charset="0"/>
              </a:endParaRPr>
            </a:p>
          </p:txBody>
        </p:sp>
        <p:sp>
          <p:nvSpPr>
            <p:cNvPr id="47" name="Rectangle 36">
              <a:extLst>
                <a:ext uri="{FF2B5EF4-FFF2-40B4-BE49-F238E27FC236}">
                  <a16:creationId xmlns:a16="http://schemas.microsoft.com/office/drawing/2014/main" xmlns="" id="{FE86E3FF-562E-F53D-4109-E26AFC00994E}"/>
                </a:ext>
              </a:extLst>
            </p:cNvPr>
            <p:cNvSpPr>
              <a:spLocks noChangeArrowheads="1"/>
            </p:cNvSpPr>
            <p:nvPr/>
          </p:nvSpPr>
          <p:spPr bwMode="auto">
            <a:xfrm>
              <a:off x="4626" y="1238"/>
              <a:ext cx="227" cy="22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C</a:t>
              </a:r>
            </a:p>
          </p:txBody>
        </p:sp>
        <p:sp>
          <p:nvSpPr>
            <p:cNvPr id="48" name="Rectangle 37">
              <a:extLst>
                <a:ext uri="{FF2B5EF4-FFF2-40B4-BE49-F238E27FC236}">
                  <a16:creationId xmlns:a16="http://schemas.microsoft.com/office/drawing/2014/main" xmlns="" id="{0635AEDF-BB59-E672-624B-F01F99B8D9FE}"/>
                </a:ext>
              </a:extLst>
            </p:cNvPr>
            <p:cNvSpPr>
              <a:spLocks noChangeArrowheads="1"/>
            </p:cNvSpPr>
            <p:nvPr/>
          </p:nvSpPr>
          <p:spPr bwMode="auto">
            <a:xfrm>
              <a:off x="4853" y="1238"/>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zh-CN" altLang="zh-CN" sz="1800" b="0">
                <a:latin typeface="Consolas" pitchFamily="49" charset="0"/>
                <a:cs typeface="Consolas" pitchFamily="49" charset="0"/>
              </a:endParaRPr>
            </a:p>
          </p:txBody>
        </p:sp>
        <p:sp>
          <p:nvSpPr>
            <p:cNvPr id="49" name="Rectangle 38">
              <a:extLst>
                <a:ext uri="{FF2B5EF4-FFF2-40B4-BE49-F238E27FC236}">
                  <a16:creationId xmlns:a16="http://schemas.microsoft.com/office/drawing/2014/main" xmlns="" id="{7279299D-8E70-7DBD-806D-2B75B9E5DA87}"/>
                </a:ext>
              </a:extLst>
            </p:cNvPr>
            <p:cNvSpPr>
              <a:spLocks noChangeArrowheads="1"/>
            </p:cNvSpPr>
            <p:nvPr/>
          </p:nvSpPr>
          <p:spPr bwMode="auto">
            <a:xfrm>
              <a:off x="3810" y="1736"/>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latin typeface="Consolas" pitchFamily="49" charset="0"/>
                  <a:cs typeface="Consolas" pitchFamily="49" charset="0"/>
                </a:rPr>
                <a:t>∧</a:t>
              </a:r>
            </a:p>
          </p:txBody>
        </p:sp>
        <p:sp>
          <p:nvSpPr>
            <p:cNvPr id="50" name="Rectangle 39">
              <a:extLst>
                <a:ext uri="{FF2B5EF4-FFF2-40B4-BE49-F238E27FC236}">
                  <a16:creationId xmlns:a16="http://schemas.microsoft.com/office/drawing/2014/main" xmlns="" id="{AD2F002A-CAC1-9A35-23D9-114539C6560F}"/>
                </a:ext>
              </a:extLst>
            </p:cNvPr>
            <p:cNvSpPr>
              <a:spLocks noChangeArrowheads="1"/>
            </p:cNvSpPr>
            <p:nvPr/>
          </p:nvSpPr>
          <p:spPr bwMode="auto">
            <a:xfrm>
              <a:off x="4037" y="1736"/>
              <a:ext cx="227" cy="22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E</a:t>
              </a:r>
            </a:p>
          </p:txBody>
        </p:sp>
        <p:sp>
          <p:nvSpPr>
            <p:cNvPr id="51" name="Rectangle 40">
              <a:extLst>
                <a:ext uri="{FF2B5EF4-FFF2-40B4-BE49-F238E27FC236}">
                  <a16:creationId xmlns:a16="http://schemas.microsoft.com/office/drawing/2014/main" xmlns="" id="{BD26C5AD-2632-5A8E-EA8A-06D037971BF8}"/>
                </a:ext>
              </a:extLst>
            </p:cNvPr>
            <p:cNvSpPr>
              <a:spLocks noChangeArrowheads="1"/>
            </p:cNvSpPr>
            <p:nvPr/>
          </p:nvSpPr>
          <p:spPr bwMode="auto">
            <a:xfrm>
              <a:off x="4264" y="1736"/>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dirty="0">
                  <a:latin typeface="Consolas" pitchFamily="49" charset="0"/>
                  <a:cs typeface="Consolas" pitchFamily="49" charset="0"/>
                </a:rPr>
                <a:t>∧</a:t>
              </a:r>
            </a:p>
          </p:txBody>
        </p:sp>
        <p:sp>
          <p:nvSpPr>
            <p:cNvPr id="52" name="Rectangle 41">
              <a:extLst>
                <a:ext uri="{FF2B5EF4-FFF2-40B4-BE49-F238E27FC236}">
                  <a16:creationId xmlns:a16="http://schemas.microsoft.com/office/drawing/2014/main" xmlns="" id="{70A82034-16FF-136B-841D-9E568AE8FE9E}"/>
                </a:ext>
              </a:extLst>
            </p:cNvPr>
            <p:cNvSpPr>
              <a:spLocks noChangeArrowheads="1"/>
            </p:cNvSpPr>
            <p:nvPr/>
          </p:nvSpPr>
          <p:spPr bwMode="auto">
            <a:xfrm>
              <a:off x="4943" y="1736"/>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latin typeface="Consolas" pitchFamily="49" charset="0"/>
                  <a:cs typeface="Consolas" pitchFamily="49" charset="0"/>
                </a:rPr>
                <a:t>∧</a:t>
              </a:r>
            </a:p>
          </p:txBody>
        </p:sp>
        <p:sp>
          <p:nvSpPr>
            <p:cNvPr id="53" name="Rectangle 42">
              <a:extLst>
                <a:ext uri="{FF2B5EF4-FFF2-40B4-BE49-F238E27FC236}">
                  <a16:creationId xmlns:a16="http://schemas.microsoft.com/office/drawing/2014/main" xmlns="" id="{D02BF00A-606C-276D-236E-577A8BB97550}"/>
                </a:ext>
              </a:extLst>
            </p:cNvPr>
            <p:cNvSpPr>
              <a:spLocks noChangeArrowheads="1"/>
            </p:cNvSpPr>
            <p:nvPr/>
          </p:nvSpPr>
          <p:spPr bwMode="auto">
            <a:xfrm>
              <a:off x="5170" y="1736"/>
              <a:ext cx="227" cy="22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r>
                <a:rPr lang="en-US" altLang="zh-CN" sz="1800" b="0">
                  <a:solidFill>
                    <a:srgbClr val="3333FF"/>
                  </a:solidFill>
                  <a:latin typeface="Consolas" pitchFamily="49" charset="0"/>
                  <a:cs typeface="Consolas" pitchFamily="49" charset="0"/>
                </a:rPr>
                <a:t>F</a:t>
              </a:r>
            </a:p>
          </p:txBody>
        </p:sp>
        <p:sp>
          <p:nvSpPr>
            <p:cNvPr id="54" name="Rectangle 43">
              <a:extLst>
                <a:ext uri="{FF2B5EF4-FFF2-40B4-BE49-F238E27FC236}">
                  <a16:creationId xmlns:a16="http://schemas.microsoft.com/office/drawing/2014/main" xmlns="" id="{D997122B-A240-7418-B27C-DBDC5A8A89F4}"/>
                </a:ext>
              </a:extLst>
            </p:cNvPr>
            <p:cNvSpPr>
              <a:spLocks noChangeArrowheads="1"/>
            </p:cNvSpPr>
            <p:nvPr/>
          </p:nvSpPr>
          <p:spPr bwMode="auto">
            <a:xfrm>
              <a:off x="5397" y="1736"/>
              <a:ext cx="227" cy="22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r>
                <a:rPr lang="en-US" altLang="zh-CN" sz="1800" b="0">
                  <a:latin typeface="Consolas" pitchFamily="49" charset="0"/>
                  <a:cs typeface="Consolas" pitchFamily="49" charset="0"/>
                </a:rPr>
                <a:t>∧</a:t>
              </a:r>
            </a:p>
          </p:txBody>
        </p:sp>
        <p:sp>
          <p:nvSpPr>
            <p:cNvPr id="55" name="Line 44">
              <a:extLst>
                <a:ext uri="{FF2B5EF4-FFF2-40B4-BE49-F238E27FC236}">
                  <a16:creationId xmlns:a16="http://schemas.microsoft.com/office/drawing/2014/main" xmlns="" id="{E2E9D75C-AD9C-7C7E-FBBF-CBB4D2DF445F}"/>
                </a:ext>
              </a:extLst>
            </p:cNvPr>
            <p:cNvSpPr>
              <a:spLocks noChangeShapeType="1"/>
            </p:cNvSpPr>
            <p:nvPr/>
          </p:nvSpPr>
          <p:spPr bwMode="auto">
            <a:xfrm flipH="1">
              <a:off x="3447" y="875"/>
              <a:ext cx="408" cy="363"/>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56" name="Line 45">
              <a:extLst>
                <a:ext uri="{FF2B5EF4-FFF2-40B4-BE49-F238E27FC236}">
                  <a16:creationId xmlns:a16="http://schemas.microsoft.com/office/drawing/2014/main" xmlns="" id="{FC4E8788-2EC9-9054-55A2-5B4851677C6A}"/>
                </a:ext>
              </a:extLst>
            </p:cNvPr>
            <p:cNvSpPr>
              <a:spLocks noChangeShapeType="1"/>
            </p:cNvSpPr>
            <p:nvPr/>
          </p:nvSpPr>
          <p:spPr bwMode="auto">
            <a:xfrm flipH="1">
              <a:off x="2857" y="1328"/>
              <a:ext cx="272" cy="408"/>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57" name="Line 46">
              <a:extLst>
                <a:ext uri="{FF2B5EF4-FFF2-40B4-BE49-F238E27FC236}">
                  <a16:creationId xmlns:a16="http://schemas.microsoft.com/office/drawing/2014/main" xmlns="" id="{CF6078BA-14DC-7A35-BE3E-F6B7A4FA6593}"/>
                </a:ext>
              </a:extLst>
            </p:cNvPr>
            <p:cNvSpPr>
              <a:spLocks noChangeShapeType="1"/>
            </p:cNvSpPr>
            <p:nvPr/>
          </p:nvSpPr>
          <p:spPr bwMode="auto">
            <a:xfrm>
              <a:off x="4309" y="875"/>
              <a:ext cx="408" cy="363"/>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58" name="Freeform 47">
              <a:extLst>
                <a:ext uri="{FF2B5EF4-FFF2-40B4-BE49-F238E27FC236}">
                  <a16:creationId xmlns:a16="http://schemas.microsoft.com/office/drawing/2014/main" xmlns="" id="{67A54566-AE18-E238-B256-64DE86FA1F00}"/>
                </a:ext>
              </a:extLst>
            </p:cNvPr>
            <p:cNvSpPr>
              <a:spLocks/>
            </p:cNvSpPr>
            <p:nvPr/>
          </p:nvSpPr>
          <p:spPr bwMode="auto">
            <a:xfrm>
              <a:off x="3137" y="1857"/>
              <a:ext cx="264" cy="333"/>
            </a:xfrm>
            <a:custGeom>
              <a:avLst/>
              <a:gdLst/>
              <a:ahLst/>
              <a:cxnLst>
                <a:cxn ang="0">
                  <a:pos x="0" y="0"/>
                </a:cxn>
                <a:cxn ang="0">
                  <a:pos x="264" y="333"/>
                </a:cxn>
              </a:cxnLst>
              <a:rect l="0" t="0" r="r" b="b"/>
              <a:pathLst>
                <a:path w="264" h="333">
                  <a:moveTo>
                    <a:pt x="0" y="0"/>
                  </a:moveTo>
                  <a:lnTo>
                    <a:pt x="264" y="333"/>
                  </a:lnTo>
                </a:path>
              </a:pathLst>
            </a:custGeom>
            <a:ln>
              <a:headEnd type="none" w="med" len="me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59" name="Line 48">
              <a:extLst>
                <a:ext uri="{FF2B5EF4-FFF2-40B4-BE49-F238E27FC236}">
                  <a16:creationId xmlns:a16="http://schemas.microsoft.com/office/drawing/2014/main" xmlns="" id="{F2E1B20C-E569-4F7F-0411-6D4B5DA5B8D2}"/>
                </a:ext>
              </a:extLst>
            </p:cNvPr>
            <p:cNvSpPr>
              <a:spLocks noChangeShapeType="1"/>
            </p:cNvSpPr>
            <p:nvPr/>
          </p:nvSpPr>
          <p:spPr bwMode="auto">
            <a:xfrm flipH="1">
              <a:off x="4127" y="1374"/>
              <a:ext cx="408" cy="362"/>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61" name="Line 49">
              <a:extLst>
                <a:ext uri="{FF2B5EF4-FFF2-40B4-BE49-F238E27FC236}">
                  <a16:creationId xmlns:a16="http://schemas.microsoft.com/office/drawing/2014/main" xmlns="" id="{6CD4D4B5-68D7-A298-9DD9-597E75782259}"/>
                </a:ext>
              </a:extLst>
            </p:cNvPr>
            <p:cNvSpPr>
              <a:spLocks noChangeShapeType="1"/>
            </p:cNvSpPr>
            <p:nvPr/>
          </p:nvSpPr>
          <p:spPr bwMode="auto">
            <a:xfrm>
              <a:off x="4944" y="1374"/>
              <a:ext cx="317" cy="362"/>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62" name="Line 50">
              <a:extLst>
                <a:ext uri="{FF2B5EF4-FFF2-40B4-BE49-F238E27FC236}">
                  <a16:creationId xmlns:a16="http://schemas.microsoft.com/office/drawing/2014/main" xmlns="" id="{F31AA10C-E5ED-CC49-398E-CCE5E3D2755F}"/>
                </a:ext>
              </a:extLst>
            </p:cNvPr>
            <p:cNvSpPr>
              <a:spLocks noChangeShapeType="1"/>
            </p:cNvSpPr>
            <p:nvPr/>
          </p:nvSpPr>
          <p:spPr bwMode="auto">
            <a:xfrm>
              <a:off x="4082" y="466"/>
              <a:ext cx="0" cy="272"/>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b="0">
                <a:latin typeface="Consolas" pitchFamily="49" charset="0"/>
                <a:cs typeface="Consolas" pitchFamily="49" charset="0"/>
              </a:endParaRPr>
            </a:p>
          </p:txBody>
        </p:sp>
        <p:sp>
          <p:nvSpPr>
            <p:cNvPr id="63" name="Text Box 51">
              <a:extLst>
                <a:ext uri="{FF2B5EF4-FFF2-40B4-BE49-F238E27FC236}">
                  <a16:creationId xmlns:a16="http://schemas.microsoft.com/office/drawing/2014/main" xmlns="" id="{A3A43801-E60A-2F1F-C587-69EFC7364D59}"/>
                </a:ext>
              </a:extLst>
            </p:cNvPr>
            <p:cNvSpPr txBox="1">
              <a:spLocks noChangeArrowheads="1"/>
            </p:cNvSpPr>
            <p:nvPr/>
          </p:nvSpPr>
          <p:spPr bwMode="auto">
            <a:xfrm>
              <a:off x="3779" y="360"/>
              <a:ext cx="408" cy="259"/>
            </a:xfrm>
            <a:prstGeom prst="rect">
              <a:avLst/>
            </a:prstGeom>
            <a:noFill/>
            <a:ln w="9525" algn="ctr">
              <a:noFill/>
              <a:miter lim="800000"/>
              <a:headEnd/>
              <a:tailEnd type="none" w="med" len="lg"/>
            </a:ln>
            <a:effectLst/>
          </p:spPr>
          <p:txBody>
            <a:bodyPr>
              <a:spAutoFit/>
            </a:bodyPr>
            <a:lstStyle/>
            <a:p>
              <a:pPr>
                <a:spcBef>
                  <a:spcPct val="50000"/>
                </a:spcBef>
              </a:pPr>
              <a:r>
                <a:rPr lang="en-US" altLang="zh-CN" sz="1800" b="0" dirty="0">
                  <a:latin typeface="Consolas" pitchFamily="49" charset="0"/>
                  <a:cs typeface="Consolas" pitchFamily="49" charset="0"/>
                </a:rPr>
                <a:t>b</a:t>
              </a:r>
            </a:p>
          </p:txBody>
        </p:sp>
      </p:grpSp>
      <p:sp>
        <p:nvSpPr>
          <p:cNvPr id="128" name="文本框 127">
            <a:extLst>
              <a:ext uri="{FF2B5EF4-FFF2-40B4-BE49-F238E27FC236}">
                <a16:creationId xmlns:a16="http://schemas.microsoft.com/office/drawing/2014/main" xmlns="" id="{28330ED6-406C-AF7E-FB99-2FC8D724C4BB}"/>
              </a:ext>
            </a:extLst>
          </p:cNvPr>
          <p:cNvSpPr txBox="1"/>
          <p:nvPr/>
        </p:nvSpPr>
        <p:spPr>
          <a:xfrm>
            <a:off x="1024511" y="1529868"/>
            <a:ext cx="3456743" cy="461665"/>
          </a:xfrm>
          <a:prstGeom prst="rect">
            <a:avLst/>
          </a:prstGeom>
          <a:noFill/>
        </p:spPr>
        <p:txBody>
          <a:bodyPr wrap="square">
            <a:spAutoFit/>
          </a:bodyPr>
          <a:lstStyle/>
          <a:p>
            <a:r>
              <a:rPr kumimoji="1" lang="zh-CN" altLang="en-US" sz="2400" dirty="0">
                <a:latin typeface="微软雅黑" pitchFamily="34" charset="-122"/>
                <a:ea typeface="微软雅黑" pitchFamily="34" charset="-122"/>
                <a:cs typeface="经典粗黑简" pitchFamily="49" charset="-122"/>
              </a:rPr>
              <a:t>二叉链存储结构的特点：</a:t>
            </a:r>
          </a:p>
        </p:txBody>
      </p:sp>
    </p:spTree>
    <p:extLst>
      <p:ext uri="{BB962C8B-B14F-4D97-AF65-F5344CB8AC3E}">
        <p14:creationId xmlns:p14="http://schemas.microsoft.com/office/powerpoint/2010/main" val="17777578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59EEC7-E0D3-C1CC-A804-5BA5EAE10136}"/>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27BAEC1A-3C99-FE7F-0A4C-8B2CEC23C3F6}"/>
              </a:ext>
            </a:extLst>
          </p:cNvPr>
          <p:cNvSpPr/>
          <p:nvPr/>
        </p:nvSpPr>
        <p:spPr>
          <a:xfrm>
            <a:off x="3647728" y="118989"/>
            <a:ext cx="569547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7.4 </a:t>
            </a:r>
            <a:r>
              <a:rPr lang="zh-CN" altLang="en-US" sz="3000" b="1" dirty="0">
                <a:latin typeface="黑体" pitchFamily="49" charset="-122"/>
                <a:ea typeface="黑体" pitchFamily="49" charset="-122"/>
                <a:cs typeface="经典粗黑简" pitchFamily="49" charset="-122"/>
              </a:rPr>
              <a:t>二叉树基本运算及其实现</a:t>
            </a:r>
          </a:p>
        </p:txBody>
      </p:sp>
      <p:sp>
        <p:nvSpPr>
          <p:cNvPr id="19" name="Rectangle 2">
            <a:extLst>
              <a:ext uri="{FF2B5EF4-FFF2-40B4-BE49-F238E27FC236}">
                <a16:creationId xmlns:a16="http://schemas.microsoft.com/office/drawing/2014/main" xmlns="" id="{0D0166BA-83D3-D731-60D1-09E1F32A4DDC}"/>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7.4.1 </a:t>
            </a:r>
            <a:r>
              <a:rPr lang="zh-CN" altLang="en-US" dirty="0"/>
              <a:t>二叉树的基本运算概述</a:t>
            </a:r>
          </a:p>
        </p:txBody>
      </p:sp>
      <p:cxnSp>
        <p:nvCxnSpPr>
          <p:cNvPr id="20" name="直接连接符 19">
            <a:extLst>
              <a:ext uri="{FF2B5EF4-FFF2-40B4-BE49-F238E27FC236}">
                <a16:creationId xmlns:a16="http://schemas.microsoft.com/office/drawing/2014/main" xmlns="" id="{BBB6E5B8-C80E-D9F7-08BB-A4342B7F29B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2">
            <a:extLst>
              <a:ext uri="{FF2B5EF4-FFF2-40B4-BE49-F238E27FC236}">
                <a16:creationId xmlns:a16="http://schemas.microsoft.com/office/drawing/2014/main" xmlns="" id="{BA56C7D4-19EA-55A0-9ED3-B8E33B83593F}"/>
              </a:ext>
            </a:extLst>
          </p:cNvPr>
          <p:cNvSpPr txBox="1">
            <a:spLocks noChangeArrowheads="1"/>
          </p:cNvSpPr>
          <p:nvPr/>
        </p:nvSpPr>
        <p:spPr bwMode="auto">
          <a:xfrm>
            <a:off x="1343472" y="2262345"/>
            <a:ext cx="9143876" cy="4237919"/>
          </a:xfrm>
          <a:prstGeom prst="rect">
            <a:avLst/>
          </a:prstGeom>
          <a:solidFill>
            <a:schemeClr val="bg1">
              <a:lumMod val="95000"/>
            </a:schemeClr>
          </a:solidFill>
          <a:ln>
            <a:headEnd/>
            <a:tailEnd/>
          </a:ln>
        </p:spPr>
        <p:style>
          <a:lnRef idx="1">
            <a:schemeClr val="accent5"/>
          </a:lnRef>
          <a:fillRef idx="2">
            <a:schemeClr val="accent5"/>
          </a:fillRef>
          <a:effectRef idx="1">
            <a:schemeClr val="accent5"/>
          </a:effectRef>
          <a:fontRef idx="minor">
            <a:schemeClr val="dk1"/>
          </a:fontRef>
        </p:style>
        <p:txBody>
          <a:bodyPr wrap="square" lIns="180000" tIns="144000" rIns="180000" bIns="144000">
            <a:spAutoFit/>
          </a:bodyPr>
          <a:lstStyle/>
          <a:p>
            <a:pPr algn="just">
              <a:lnSpc>
                <a:spcPts val="2800"/>
              </a:lnSpc>
              <a:spcBef>
                <a:spcPts val="600"/>
              </a:spcBef>
            </a:pPr>
            <a:r>
              <a:rPr kumimoji="1" lang="zh-CN" altLang="en-US" sz="2000" dirty="0">
                <a:latin typeface="Consolas" pitchFamily="49" charset="0"/>
                <a:ea typeface="仿宋" pitchFamily="49" charset="-122"/>
                <a:cs typeface="Consolas" pitchFamily="49" charset="0"/>
              </a:rPr>
              <a:t>   </a:t>
            </a:r>
            <a:r>
              <a:rPr kumimoji="1" lang="zh-CN" altLang="en-US" sz="2000" dirty="0">
                <a:latin typeface="Consolas" pitchFamily="49" charset="0"/>
                <a:ea typeface="仿宋" pitchFamily="49" charset="-122"/>
                <a:cs typeface="Consolas" pitchFamily="49" charset="0"/>
                <a:sym typeface="Wingdings"/>
              </a:rPr>
              <a:t> </a:t>
            </a:r>
            <a:r>
              <a:rPr kumimoji="1" lang="zh-CN" altLang="en-US" sz="2000" dirty="0">
                <a:latin typeface="Consolas" pitchFamily="49" charset="0"/>
                <a:ea typeface="仿宋" pitchFamily="49" charset="-122"/>
                <a:cs typeface="Consolas" pitchFamily="49" charset="0"/>
              </a:rPr>
              <a:t>创建二叉树</a:t>
            </a:r>
            <a:r>
              <a:rPr kumimoji="1" lang="en-US" altLang="zh-CN" sz="2000" dirty="0" err="1">
                <a:solidFill>
                  <a:srgbClr val="FF0000"/>
                </a:solidFill>
                <a:latin typeface="Consolas" pitchFamily="49" charset="0"/>
                <a:ea typeface="仿宋" pitchFamily="49" charset="-122"/>
                <a:cs typeface="Consolas" pitchFamily="49" charset="0"/>
              </a:rPr>
              <a:t>CreateBTree</a:t>
            </a:r>
            <a:r>
              <a:rPr kumimoji="1" lang="en-US" altLang="zh-CN" sz="2000" dirty="0">
                <a:solidFill>
                  <a:srgbClr val="FF0000"/>
                </a:solidFill>
                <a:latin typeface="Consolas" pitchFamily="49" charset="0"/>
                <a:ea typeface="仿宋" pitchFamily="49" charset="-122"/>
                <a:cs typeface="Consolas" pitchFamily="49" charset="0"/>
              </a:rPr>
              <a:t>(*b</a:t>
            </a:r>
            <a:r>
              <a:rPr kumimoji="1" lang="zh-CN" altLang="en-US" sz="2000" dirty="0">
                <a:solidFill>
                  <a:srgbClr val="FF0000"/>
                </a:solidFill>
                <a:latin typeface="Consolas" pitchFamily="49" charset="0"/>
                <a:ea typeface="仿宋" pitchFamily="49" charset="-122"/>
                <a:cs typeface="Consolas" pitchFamily="49" charset="0"/>
              </a:rPr>
              <a:t>，</a:t>
            </a:r>
            <a:r>
              <a:rPr kumimoji="1" lang="en-US" altLang="zh-CN" sz="2000" dirty="0">
                <a:solidFill>
                  <a:srgbClr val="FF0000"/>
                </a:solidFill>
                <a:latin typeface="Consolas" pitchFamily="49" charset="0"/>
                <a:ea typeface="仿宋" pitchFamily="49" charset="-122"/>
                <a:cs typeface="Consolas" pitchFamily="49" charset="0"/>
              </a:rPr>
              <a:t>*str)</a:t>
            </a:r>
            <a:r>
              <a:rPr kumimoji="1" lang="zh-CN" altLang="en-US" sz="2000" dirty="0">
                <a:latin typeface="Consolas" pitchFamily="49" charset="0"/>
                <a:ea typeface="仿宋" pitchFamily="49" charset="-122"/>
                <a:cs typeface="Consolas" pitchFamily="49" charset="0"/>
              </a:rPr>
              <a:t>：根据二叉树括号表示法字符串</a:t>
            </a:r>
            <a:r>
              <a:rPr kumimoji="1" lang="en-US" altLang="zh-CN" sz="2000" dirty="0">
                <a:latin typeface="Consolas" pitchFamily="49" charset="0"/>
                <a:ea typeface="仿宋" pitchFamily="49" charset="-122"/>
                <a:cs typeface="Consolas" pitchFamily="49" charset="0"/>
              </a:rPr>
              <a:t>str</a:t>
            </a:r>
            <a:r>
              <a:rPr kumimoji="1" lang="zh-CN" altLang="en-US" sz="2000" dirty="0">
                <a:latin typeface="Consolas" pitchFamily="49" charset="0"/>
                <a:ea typeface="仿宋" pitchFamily="49" charset="-122"/>
                <a:cs typeface="Consolas" pitchFamily="49" charset="0"/>
              </a:rPr>
              <a:t>生成对应的二叉链存储结构</a:t>
            </a:r>
            <a:r>
              <a:rPr kumimoji="1" lang="en-US" altLang="zh-CN" sz="2000" dirty="0">
                <a:latin typeface="Consolas" pitchFamily="49" charset="0"/>
                <a:ea typeface="仿宋" pitchFamily="49" charset="-122"/>
                <a:cs typeface="Consolas" pitchFamily="49" charset="0"/>
              </a:rPr>
              <a:t>b</a:t>
            </a:r>
            <a:r>
              <a:rPr kumimoji="1" lang="zh-CN" altLang="en-US" sz="2000" dirty="0">
                <a:latin typeface="Consolas" pitchFamily="49" charset="0"/>
                <a:ea typeface="仿宋" pitchFamily="49" charset="-122"/>
                <a:cs typeface="Consolas" pitchFamily="49" charset="0"/>
              </a:rPr>
              <a:t>。</a:t>
            </a:r>
            <a:endParaRPr kumimoji="1" lang="en-US" altLang="zh-CN" sz="2000" dirty="0">
              <a:latin typeface="Consolas" pitchFamily="49" charset="0"/>
              <a:ea typeface="仿宋" pitchFamily="49" charset="-122"/>
              <a:cs typeface="Consolas" pitchFamily="49" charset="0"/>
            </a:endParaRPr>
          </a:p>
          <a:p>
            <a:pPr algn="just">
              <a:lnSpc>
                <a:spcPts val="2800"/>
              </a:lnSpc>
              <a:spcBef>
                <a:spcPts val="600"/>
              </a:spcBef>
            </a:pPr>
            <a:r>
              <a:rPr kumimoji="1" lang="en-US" altLang="zh-CN" sz="2000" dirty="0">
                <a:latin typeface="Consolas" pitchFamily="49" charset="0"/>
                <a:ea typeface="仿宋" pitchFamily="49" charset="-122"/>
                <a:cs typeface="Consolas" pitchFamily="49" charset="0"/>
              </a:rPr>
              <a:t>   </a:t>
            </a:r>
            <a:r>
              <a:rPr kumimoji="1" lang="en-US" altLang="zh-CN" sz="2000" dirty="0">
                <a:latin typeface="Consolas" pitchFamily="49" charset="0"/>
                <a:ea typeface="仿宋" pitchFamily="49" charset="-122"/>
                <a:cs typeface="Consolas" pitchFamily="49" charset="0"/>
                <a:sym typeface="Wingdings"/>
              </a:rPr>
              <a:t> </a:t>
            </a:r>
            <a:r>
              <a:rPr kumimoji="1" lang="zh-CN" altLang="en-US" sz="2000" dirty="0">
                <a:latin typeface="Consolas" pitchFamily="49" charset="0"/>
                <a:ea typeface="仿宋" pitchFamily="49" charset="-122"/>
                <a:cs typeface="Consolas" pitchFamily="49" charset="0"/>
              </a:rPr>
              <a:t>销毁二叉链存储结构</a:t>
            </a:r>
            <a:r>
              <a:rPr kumimoji="1" lang="en-US" altLang="zh-CN" sz="2000" dirty="0" err="1">
                <a:solidFill>
                  <a:srgbClr val="FF0000"/>
                </a:solidFill>
                <a:latin typeface="Consolas" pitchFamily="49" charset="0"/>
                <a:ea typeface="仿宋" pitchFamily="49" charset="-122"/>
                <a:cs typeface="Consolas" pitchFamily="49" charset="0"/>
              </a:rPr>
              <a:t>DestroyBTree</a:t>
            </a:r>
            <a:r>
              <a:rPr kumimoji="1" lang="en-US" altLang="zh-CN" sz="2000" dirty="0">
                <a:solidFill>
                  <a:srgbClr val="FF0000"/>
                </a:solidFill>
                <a:latin typeface="Consolas" pitchFamily="49" charset="0"/>
                <a:ea typeface="仿宋" pitchFamily="49" charset="-122"/>
                <a:cs typeface="Consolas" pitchFamily="49" charset="0"/>
              </a:rPr>
              <a:t>(*b</a:t>
            </a:r>
            <a:r>
              <a:rPr kumimoji="1" lang="en-US" altLang="zh-CN" sz="2000" dirty="0">
                <a:latin typeface="Consolas" pitchFamily="49" charset="0"/>
                <a:ea typeface="仿宋" pitchFamily="49" charset="-122"/>
                <a:cs typeface="Consolas" pitchFamily="49" charset="0"/>
              </a:rPr>
              <a:t>)</a:t>
            </a:r>
            <a:r>
              <a:rPr kumimoji="1" lang="zh-CN" altLang="en-US" sz="2000" dirty="0">
                <a:latin typeface="Consolas" pitchFamily="49" charset="0"/>
                <a:ea typeface="仿宋" pitchFamily="49" charset="-122"/>
                <a:cs typeface="Consolas" pitchFamily="49" charset="0"/>
              </a:rPr>
              <a:t>：销毁二叉链</a:t>
            </a:r>
            <a:r>
              <a:rPr kumimoji="1" lang="en-US" altLang="zh-CN" sz="2000" dirty="0">
                <a:latin typeface="Consolas" pitchFamily="49" charset="0"/>
                <a:ea typeface="仿宋" pitchFamily="49" charset="-122"/>
                <a:cs typeface="Consolas" pitchFamily="49" charset="0"/>
              </a:rPr>
              <a:t>b</a:t>
            </a:r>
            <a:r>
              <a:rPr kumimoji="1" lang="zh-CN" altLang="en-US" sz="2000" dirty="0">
                <a:latin typeface="Consolas" pitchFamily="49" charset="0"/>
                <a:ea typeface="仿宋" pitchFamily="49" charset="-122"/>
                <a:cs typeface="Consolas" pitchFamily="49" charset="0"/>
              </a:rPr>
              <a:t>并释放空间。</a:t>
            </a:r>
          </a:p>
          <a:p>
            <a:pPr algn="just">
              <a:lnSpc>
                <a:spcPts val="2800"/>
              </a:lnSpc>
              <a:spcBef>
                <a:spcPts val="600"/>
              </a:spcBef>
            </a:pPr>
            <a:r>
              <a:rPr kumimoji="1" lang="zh-CN" altLang="en-US" sz="2000" dirty="0">
                <a:latin typeface="Consolas" pitchFamily="49" charset="0"/>
                <a:ea typeface="仿宋" pitchFamily="49" charset="-122"/>
                <a:cs typeface="Consolas" pitchFamily="49" charset="0"/>
              </a:rPr>
              <a:t>   </a:t>
            </a:r>
            <a:r>
              <a:rPr kumimoji="1" lang="zh-CN" altLang="en-US" sz="2000" dirty="0">
                <a:latin typeface="Consolas" pitchFamily="49" charset="0"/>
                <a:ea typeface="仿宋" pitchFamily="49" charset="-122"/>
                <a:cs typeface="Consolas" pitchFamily="49" charset="0"/>
                <a:sym typeface="Wingdings"/>
              </a:rPr>
              <a:t> </a:t>
            </a:r>
            <a:r>
              <a:rPr kumimoji="1" lang="zh-CN" altLang="en-US" sz="2000" dirty="0">
                <a:latin typeface="Consolas" pitchFamily="49" charset="0"/>
                <a:ea typeface="仿宋" pitchFamily="49" charset="-122"/>
                <a:cs typeface="Consolas" pitchFamily="49" charset="0"/>
              </a:rPr>
              <a:t>查找结点</a:t>
            </a:r>
            <a:r>
              <a:rPr kumimoji="1" lang="en-US" altLang="zh-CN" sz="2000" dirty="0" err="1">
                <a:solidFill>
                  <a:srgbClr val="FF0000"/>
                </a:solidFill>
                <a:latin typeface="Consolas" pitchFamily="49" charset="0"/>
                <a:ea typeface="仿宋" pitchFamily="49" charset="-122"/>
                <a:cs typeface="Consolas" pitchFamily="49" charset="0"/>
              </a:rPr>
              <a:t>FindNode</a:t>
            </a:r>
            <a:r>
              <a:rPr kumimoji="1" lang="en-US" altLang="zh-CN" sz="2000" dirty="0">
                <a:solidFill>
                  <a:srgbClr val="FF0000"/>
                </a:solidFill>
                <a:latin typeface="Consolas" pitchFamily="49" charset="0"/>
                <a:ea typeface="仿宋" pitchFamily="49" charset="-122"/>
                <a:cs typeface="Consolas" pitchFamily="49" charset="0"/>
              </a:rPr>
              <a:t>(*b</a:t>
            </a:r>
            <a:r>
              <a:rPr kumimoji="1" lang="zh-CN" altLang="en-US" sz="2000" dirty="0">
                <a:solidFill>
                  <a:srgbClr val="FF0000"/>
                </a:solidFill>
                <a:latin typeface="Consolas" pitchFamily="49" charset="0"/>
                <a:ea typeface="仿宋" pitchFamily="49" charset="-122"/>
                <a:cs typeface="Consolas" pitchFamily="49" charset="0"/>
              </a:rPr>
              <a:t>，</a:t>
            </a:r>
            <a:r>
              <a:rPr kumimoji="1" lang="en-US" altLang="zh-CN" sz="2000" i="1" dirty="0">
                <a:solidFill>
                  <a:srgbClr val="FF0000"/>
                </a:solidFill>
                <a:latin typeface="Consolas" pitchFamily="49" charset="0"/>
                <a:ea typeface="仿宋" pitchFamily="49" charset="-122"/>
                <a:cs typeface="Consolas" pitchFamily="49" charset="0"/>
              </a:rPr>
              <a:t>x</a:t>
            </a:r>
            <a:r>
              <a:rPr kumimoji="1" lang="en-US" altLang="zh-CN" sz="2000" dirty="0">
                <a:solidFill>
                  <a:srgbClr val="FF0000"/>
                </a:solidFill>
                <a:latin typeface="Consolas" pitchFamily="49" charset="0"/>
                <a:ea typeface="仿宋" pitchFamily="49" charset="-122"/>
                <a:cs typeface="Consolas" pitchFamily="49" charset="0"/>
              </a:rPr>
              <a:t>)</a:t>
            </a:r>
            <a:r>
              <a:rPr kumimoji="1" lang="zh-CN" altLang="en-US" sz="2000" dirty="0">
                <a:latin typeface="Consolas" pitchFamily="49" charset="0"/>
                <a:ea typeface="仿宋" pitchFamily="49" charset="-122"/>
                <a:cs typeface="Consolas" pitchFamily="49" charset="0"/>
              </a:rPr>
              <a:t>：在二叉树</a:t>
            </a:r>
            <a:r>
              <a:rPr kumimoji="1" lang="en-US" altLang="zh-CN" sz="2000" dirty="0">
                <a:latin typeface="Consolas" pitchFamily="49" charset="0"/>
                <a:ea typeface="仿宋" pitchFamily="49" charset="-122"/>
                <a:cs typeface="Consolas" pitchFamily="49" charset="0"/>
              </a:rPr>
              <a:t>b</a:t>
            </a:r>
            <a:r>
              <a:rPr kumimoji="1" lang="zh-CN" altLang="en-US" sz="2000" dirty="0">
                <a:latin typeface="Consolas" pitchFamily="49" charset="0"/>
                <a:ea typeface="仿宋" pitchFamily="49" charset="-122"/>
                <a:cs typeface="Consolas" pitchFamily="49" charset="0"/>
              </a:rPr>
              <a:t>中寻找</a:t>
            </a:r>
            <a:r>
              <a:rPr kumimoji="1" lang="en-US" altLang="zh-CN" sz="2000" dirty="0">
                <a:latin typeface="Consolas" pitchFamily="49" charset="0"/>
                <a:ea typeface="仿宋" pitchFamily="49" charset="-122"/>
                <a:cs typeface="Consolas" pitchFamily="49" charset="0"/>
              </a:rPr>
              <a:t>data</a:t>
            </a:r>
            <a:r>
              <a:rPr kumimoji="1" lang="zh-CN" altLang="en-US" sz="2000" dirty="0">
                <a:latin typeface="Consolas" pitchFamily="49" charset="0"/>
                <a:ea typeface="仿宋" pitchFamily="49" charset="-122"/>
                <a:cs typeface="Consolas" pitchFamily="49" charset="0"/>
              </a:rPr>
              <a:t>域值为</a:t>
            </a:r>
            <a:r>
              <a:rPr kumimoji="1" lang="en-US" altLang="zh-CN" sz="2000" i="1" dirty="0">
                <a:latin typeface="Consolas" pitchFamily="49" charset="0"/>
                <a:ea typeface="仿宋" pitchFamily="49" charset="-122"/>
                <a:cs typeface="Consolas" pitchFamily="49" charset="0"/>
              </a:rPr>
              <a:t>x</a:t>
            </a:r>
            <a:r>
              <a:rPr kumimoji="1" lang="zh-CN" altLang="en-US" sz="2000" dirty="0">
                <a:latin typeface="Consolas" pitchFamily="49" charset="0"/>
                <a:ea typeface="仿宋" pitchFamily="49" charset="-122"/>
                <a:cs typeface="Consolas" pitchFamily="49" charset="0"/>
              </a:rPr>
              <a:t>的结点，并返回指向该结点的指针。</a:t>
            </a:r>
            <a:endParaRPr kumimoji="1" lang="en-US" altLang="zh-CN" sz="2000" dirty="0">
              <a:latin typeface="Consolas" pitchFamily="49" charset="0"/>
              <a:ea typeface="仿宋" pitchFamily="49" charset="-122"/>
              <a:cs typeface="Consolas" pitchFamily="49" charset="0"/>
            </a:endParaRPr>
          </a:p>
          <a:p>
            <a:pPr algn="just">
              <a:lnSpc>
                <a:spcPts val="2800"/>
              </a:lnSpc>
              <a:spcBef>
                <a:spcPts val="600"/>
              </a:spcBef>
            </a:pPr>
            <a:r>
              <a:rPr kumimoji="1" lang="en-US" altLang="zh-CN" sz="2000" dirty="0">
                <a:latin typeface="Consolas" pitchFamily="49" charset="0"/>
                <a:ea typeface="仿宋" pitchFamily="49" charset="-122"/>
                <a:cs typeface="Consolas" pitchFamily="49" charset="0"/>
                <a:sym typeface="Wingdings"/>
              </a:rPr>
              <a:t>   </a:t>
            </a:r>
            <a:r>
              <a:rPr kumimoji="1" lang="zh-CN" altLang="en-US" sz="2000" dirty="0">
                <a:latin typeface="Consolas" pitchFamily="49" charset="0"/>
                <a:ea typeface="仿宋" pitchFamily="49" charset="-122"/>
                <a:cs typeface="Consolas" pitchFamily="49" charset="0"/>
                <a:sym typeface="Wingdings"/>
              </a:rPr>
              <a:t> </a:t>
            </a:r>
            <a:r>
              <a:rPr kumimoji="1" lang="zh-CN" altLang="en-US" sz="2000" dirty="0">
                <a:latin typeface="Consolas" pitchFamily="49" charset="0"/>
                <a:ea typeface="仿宋" pitchFamily="49" charset="-122"/>
                <a:cs typeface="Consolas" pitchFamily="49" charset="0"/>
              </a:rPr>
              <a:t>找孩子结点</a:t>
            </a:r>
            <a:r>
              <a:rPr kumimoji="1" lang="en-US" altLang="zh-CN" sz="2000" dirty="0" err="1">
                <a:solidFill>
                  <a:srgbClr val="FF0000"/>
                </a:solidFill>
                <a:latin typeface="Consolas" pitchFamily="49" charset="0"/>
                <a:ea typeface="仿宋" pitchFamily="49" charset="-122"/>
                <a:cs typeface="Consolas" pitchFamily="49" charset="0"/>
              </a:rPr>
              <a:t>LchildNode</a:t>
            </a:r>
            <a:r>
              <a:rPr kumimoji="1" lang="en-US" altLang="zh-CN" sz="2000" dirty="0">
                <a:solidFill>
                  <a:srgbClr val="FF0000"/>
                </a:solidFill>
                <a:latin typeface="Consolas" pitchFamily="49" charset="0"/>
                <a:ea typeface="仿宋" pitchFamily="49" charset="-122"/>
                <a:cs typeface="Consolas" pitchFamily="49" charset="0"/>
              </a:rPr>
              <a:t>(p)</a:t>
            </a:r>
            <a:r>
              <a:rPr kumimoji="1" lang="zh-CN" altLang="en-US" sz="2000" dirty="0">
                <a:latin typeface="Consolas" pitchFamily="49" charset="0"/>
                <a:ea typeface="仿宋" pitchFamily="49" charset="-122"/>
                <a:cs typeface="Consolas" pitchFamily="49" charset="0"/>
              </a:rPr>
              <a:t>和</a:t>
            </a:r>
            <a:r>
              <a:rPr kumimoji="1" lang="en-US" altLang="zh-CN" sz="2000" dirty="0" err="1">
                <a:solidFill>
                  <a:srgbClr val="FF0000"/>
                </a:solidFill>
                <a:latin typeface="Consolas" pitchFamily="49" charset="0"/>
                <a:ea typeface="仿宋" pitchFamily="49" charset="-122"/>
                <a:cs typeface="Consolas" pitchFamily="49" charset="0"/>
              </a:rPr>
              <a:t>RchildNode</a:t>
            </a:r>
            <a:r>
              <a:rPr kumimoji="1" lang="en-US" altLang="zh-CN" sz="2000" dirty="0">
                <a:solidFill>
                  <a:srgbClr val="FF0000"/>
                </a:solidFill>
                <a:latin typeface="Consolas" pitchFamily="49" charset="0"/>
                <a:ea typeface="仿宋" pitchFamily="49" charset="-122"/>
                <a:cs typeface="Consolas" pitchFamily="49" charset="0"/>
              </a:rPr>
              <a:t>(p</a:t>
            </a:r>
            <a:r>
              <a:rPr kumimoji="1" lang="en-US" altLang="zh-CN" sz="2000" dirty="0">
                <a:latin typeface="Consolas" pitchFamily="49" charset="0"/>
                <a:ea typeface="仿宋" pitchFamily="49" charset="-122"/>
                <a:cs typeface="Consolas" pitchFamily="49" charset="0"/>
              </a:rPr>
              <a:t>)</a:t>
            </a:r>
            <a:r>
              <a:rPr kumimoji="1" lang="zh-CN" altLang="en-US" sz="2000" dirty="0">
                <a:latin typeface="Consolas" pitchFamily="49" charset="0"/>
                <a:ea typeface="仿宋" pitchFamily="49" charset="-122"/>
                <a:cs typeface="Consolas" pitchFamily="49" charset="0"/>
              </a:rPr>
              <a:t>：分别求二叉树中结点</a:t>
            </a:r>
            <a:r>
              <a:rPr kumimoji="1" lang="en-US" altLang="zh-CN" sz="2000" dirty="0">
                <a:latin typeface="Consolas" pitchFamily="49" charset="0"/>
                <a:ea typeface="仿宋" pitchFamily="49" charset="-122"/>
                <a:cs typeface="Consolas" pitchFamily="49" charset="0"/>
              </a:rPr>
              <a:t>p</a:t>
            </a:r>
            <a:r>
              <a:rPr kumimoji="1" lang="zh-CN" altLang="en-US" sz="2000" dirty="0">
                <a:latin typeface="Consolas" pitchFamily="49" charset="0"/>
                <a:ea typeface="仿宋" pitchFamily="49" charset="-122"/>
                <a:cs typeface="Consolas" pitchFamily="49" charset="0"/>
              </a:rPr>
              <a:t>的左孩子结点和右孩子结点。</a:t>
            </a:r>
            <a:endParaRPr kumimoji="1" lang="en-US" altLang="zh-CN" sz="2000" dirty="0">
              <a:latin typeface="Consolas" pitchFamily="49" charset="0"/>
              <a:ea typeface="仿宋" pitchFamily="49" charset="-122"/>
              <a:cs typeface="Consolas" pitchFamily="49" charset="0"/>
            </a:endParaRPr>
          </a:p>
          <a:p>
            <a:pPr algn="just">
              <a:lnSpc>
                <a:spcPts val="2800"/>
              </a:lnSpc>
              <a:spcBef>
                <a:spcPts val="600"/>
              </a:spcBef>
            </a:pPr>
            <a:r>
              <a:rPr kumimoji="1" lang="en-US" altLang="zh-CN" sz="2000" dirty="0">
                <a:latin typeface="Consolas" pitchFamily="49" charset="0"/>
                <a:ea typeface="仿宋" pitchFamily="49" charset="-122"/>
                <a:cs typeface="Consolas" pitchFamily="49" charset="0"/>
              </a:rPr>
              <a:t>   </a:t>
            </a:r>
            <a:r>
              <a:rPr kumimoji="1" lang="en-US" altLang="zh-CN" sz="2000" dirty="0">
                <a:latin typeface="Consolas" pitchFamily="49" charset="0"/>
                <a:ea typeface="仿宋" pitchFamily="49" charset="-122"/>
                <a:cs typeface="Consolas" pitchFamily="49" charset="0"/>
                <a:sym typeface="Wingdings"/>
              </a:rPr>
              <a:t> </a:t>
            </a:r>
            <a:r>
              <a:rPr kumimoji="1" lang="zh-CN" altLang="en-US" sz="2000" dirty="0">
                <a:latin typeface="Consolas" pitchFamily="49" charset="0"/>
                <a:ea typeface="仿宋" pitchFamily="49" charset="-122"/>
                <a:cs typeface="Consolas" pitchFamily="49" charset="0"/>
              </a:rPr>
              <a:t>求高度</a:t>
            </a:r>
            <a:r>
              <a:rPr kumimoji="1" lang="en-US" altLang="zh-CN" sz="2000" dirty="0" err="1">
                <a:solidFill>
                  <a:srgbClr val="FF0000"/>
                </a:solidFill>
                <a:latin typeface="Consolas" pitchFamily="49" charset="0"/>
                <a:ea typeface="仿宋" pitchFamily="49" charset="-122"/>
                <a:cs typeface="Consolas" pitchFamily="49" charset="0"/>
              </a:rPr>
              <a:t>BTHeight</a:t>
            </a:r>
            <a:r>
              <a:rPr kumimoji="1" lang="en-US" altLang="zh-CN" sz="2000" dirty="0">
                <a:solidFill>
                  <a:srgbClr val="FF0000"/>
                </a:solidFill>
                <a:latin typeface="Consolas" pitchFamily="49" charset="0"/>
                <a:ea typeface="仿宋" pitchFamily="49" charset="-122"/>
                <a:cs typeface="Consolas" pitchFamily="49" charset="0"/>
              </a:rPr>
              <a:t>(*b</a:t>
            </a:r>
            <a:r>
              <a:rPr kumimoji="1" lang="en-US" altLang="zh-CN" sz="2000" dirty="0">
                <a:latin typeface="Consolas" pitchFamily="49" charset="0"/>
                <a:ea typeface="仿宋" pitchFamily="49" charset="-122"/>
                <a:cs typeface="Consolas" pitchFamily="49" charset="0"/>
              </a:rPr>
              <a:t>)</a:t>
            </a:r>
            <a:r>
              <a:rPr kumimoji="1" lang="zh-CN" altLang="en-US" sz="2000" dirty="0">
                <a:latin typeface="Consolas" pitchFamily="49" charset="0"/>
                <a:ea typeface="仿宋" pitchFamily="49" charset="-122"/>
                <a:cs typeface="Consolas" pitchFamily="49" charset="0"/>
              </a:rPr>
              <a:t>：求二叉树</a:t>
            </a:r>
            <a:r>
              <a:rPr kumimoji="1" lang="en-US" altLang="zh-CN" sz="2000" dirty="0">
                <a:latin typeface="Consolas" pitchFamily="49" charset="0"/>
                <a:ea typeface="仿宋" pitchFamily="49" charset="-122"/>
                <a:cs typeface="Consolas" pitchFamily="49" charset="0"/>
              </a:rPr>
              <a:t>b</a:t>
            </a:r>
            <a:r>
              <a:rPr kumimoji="1" lang="zh-CN" altLang="en-US" sz="2000" dirty="0">
                <a:latin typeface="Consolas" pitchFamily="49" charset="0"/>
                <a:ea typeface="仿宋" pitchFamily="49" charset="-122"/>
                <a:cs typeface="Consolas" pitchFamily="49" charset="0"/>
              </a:rPr>
              <a:t>的高度。若二叉树为空，则其高度为</a:t>
            </a:r>
            <a:r>
              <a:rPr kumimoji="1" lang="en-US" altLang="zh-CN" sz="2000" dirty="0">
                <a:latin typeface="Consolas" pitchFamily="49" charset="0"/>
                <a:ea typeface="仿宋" pitchFamily="49" charset="-122"/>
                <a:cs typeface="Consolas" pitchFamily="49" charset="0"/>
              </a:rPr>
              <a:t>0</a:t>
            </a:r>
            <a:r>
              <a:rPr kumimoji="1" lang="zh-CN" altLang="en-US" sz="2000" dirty="0">
                <a:latin typeface="Consolas" pitchFamily="49" charset="0"/>
                <a:ea typeface="仿宋" pitchFamily="49" charset="-122"/>
                <a:cs typeface="Consolas" pitchFamily="49" charset="0"/>
              </a:rPr>
              <a:t>；否则，其高度等于左子树与右子树中的最大高度加</a:t>
            </a:r>
            <a:r>
              <a:rPr kumimoji="1" lang="en-US" altLang="zh-CN" sz="2000" dirty="0">
                <a:latin typeface="Consolas" pitchFamily="49" charset="0"/>
                <a:ea typeface="仿宋" pitchFamily="49" charset="-122"/>
                <a:cs typeface="Consolas" pitchFamily="49" charset="0"/>
              </a:rPr>
              <a:t>l</a:t>
            </a:r>
            <a:r>
              <a:rPr kumimoji="1" lang="zh-CN" altLang="en-US" sz="2000" dirty="0">
                <a:latin typeface="Consolas" pitchFamily="49" charset="0"/>
                <a:ea typeface="仿宋" pitchFamily="49" charset="-122"/>
                <a:cs typeface="Consolas" pitchFamily="49" charset="0"/>
              </a:rPr>
              <a:t>。</a:t>
            </a:r>
            <a:endParaRPr kumimoji="1" lang="en-US" altLang="zh-CN" sz="2000" dirty="0">
              <a:latin typeface="Consolas" pitchFamily="49" charset="0"/>
              <a:ea typeface="仿宋" pitchFamily="49" charset="-122"/>
              <a:cs typeface="Consolas" pitchFamily="49" charset="0"/>
            </a:endParaRPr>
          </a:p>
          <a:p>
            <a:pPr algn="just">
              <a:lnSpc>
                <a:spcPts val="2800"/>
              </a:lnSpc>
              <a:spcBef>
                <a:spcPts val="600"/>
              </a:spcBef>
            </a:pPr>
            <a:r>
              <a:rPr kumimoji="1" lang="zh-CN" altLang="en-US" sz="2000" dirty="0">
                <a:latin typeface="Consolas" pitchFamily="49" charset="0"/>
                <a:ea typeface="仿宋" pitchFamily="49" charset="-122"/>
                <a:cs typeface="Consolas" pitchFamily="49" charset="0"/>
              </a:rPr>
              <a:t>   </a:t>
            </a:r>
            <a:r>
              <a:rPr kumimoji="1" lang="zh-CN" altLang="en-US" sz="2000" dirty="0">
                <a:latin typeface="Consolas" pitchFamily="49" charset="0"/>
                <a:ea typeface="仿宋" pitchFamily="49" charset="-122"/>
                <a:cs typeface="Consolas" pitchFamily="49" charset="0"/>
                <a:sym typeface="Wingdings"/>
              </a:rPr>
              <a:t> </a:t>
            </a:r>
            <a:r>
              <a:rPr kumimoji="1" lang="zh-CN" altLang="en-US" sz="2000" dirty="0">
                <a:latin typeface="Consolas" pitchFamily="49" charset="0"/>
                <a:ea typeface="仿宋" pitchFamily="49" charset="-122"/>
                <a:cs typeface="Consolas" pitchFamily="49" charset="0"/>
              </a:rPr>
              <a:t>输出二叉树</a:t>
            </a:r>
            <a:r>
              <a:rPr kumimoji="1" lang="en-US" altLang="zh-CN" sz="2000" dirty="0" err="1">
                <a:solidFill>
                  <a:srgbClr val="FF0000"/>
                </a:solidFill>
                <a:latin typeface="Consolas" pitchFamily="49" charset="0"/>
                <a:ea typeface="仿宋" pitchFamily="49" charset="-122"/>
                <a:cs typeface="Consolas" pitchFamily="49" charset="0"/>
              </a:rPr>
              <a:t>DispBTree</a:t>
            </a:r>
            <a:r>
              <a:rPr kumimoji="1" lang="en-US" altLang="zh-CN" sz="2000" dirty="0">
                <a:solidFill>
                  <a:srgbClr val="FF0000"/>
                </a:solidFill>
                <a:latin typeface="Consolas" pitchFamily="49" charset="0"/>
                <a:ea typeface="仿宋" pitchFamily="49" charset="-122"/>
                <a:cs typeface="Consolas" pitchFamily="49" charset="0"/>
              </a:rPr>
              <a:t>(*b)</a:t>
            </a:r>
            <a:r>
              <a:rPr kumimoji="1" lang="zh-CN" altLang="en-US" sz="2000" dirty="0">
                <a:latin typeface="Consolas" pitchFamily="49" charset="0"/>
                <a:ea typeface="仿宋" pitchFamily="49" charset="-122"/>
                <a:cs typeface="Consolas" pitchFamily="49" charset="0"/>
              </a:rPr>
              <a:t>：以括号表示法输出一棵二叉树。    </a:t>
            </a:r>
          </a:p>
        </p:txBody>
      </p:sp>
      <p:sp>
        <p:nvSpPr>
          <p:cNvPr id="3" name="TextBox 3">
            <a:extLst>
              <a:ext uri="{FF2B5EF4-FFF2-40B4-BE49-F238E27FC236}">
                <a16:creationId xmlns:a16="http://schemas.microsoft.com/office/drawing/2014/main" xmlns="" id="{5BDE85C9-08E4-6565-A044-4601EB591C3A}"/>
              </a:ext>
            </a:extLst>
          </p:cNvPr>
          <p:cNvSpPr txBox="1"/>
          <p:nvPr/>
        </p:nvSpPr>
        <p:spPr>
          <a:xfrm>
            <a:off x="947428" y="1583056"/>
            <a:ext cx="5400600" cy="461665"/>
          </a:xfrm>
          <a:prstGeom prst="rect">
            <a:avLst/>
          </a:prstGeom>
          <a:noFill/>
          <a:scene3d>
            <a:camera prst="perspectiveRight"/>
            <a:lightRig rig="threePt" dir="t"/>
          </a:scene3d>
        </p:spPr>
        <p:txBody>
          <a:bodyPr wrap="square" rtlCol="0">
            <a:spAutoFit/>
          </a:bodyPr>
          <a:lstStyle/>
          <a:p>
            <a:pPr algn="l"/>
            <a:r>
              <a:rPr kumimoji="1" lang="en-US" altLang="zh-CN" sz="2000" dirty="0">
                <a:solidFill>
                  <a:srgbClr val="0000FF"/>
                </a:solidFill>
                <a:ea typeface="楷体" pitchFamily="49" charset="-122"/>
                <a:cs typeface="Times New Roman" pitchFamily="18" charset="0"/>
              </a:rPr>
              <a:t> </a:t>
            </a:r>
            <a:r>
              <a:rPr kumimoji="1" lang="zh-CN" altLang="en-US" sz="2400" dirty="0">
                <a:latin typeface="微软雅黑" pitchFamily="34" charset="-122"/>
                <a:ea typeface="微软雅黑" pitchFamily="34" charset="-122"/>
                <a:cs typeface="经典粗黑简" pitchFamily="49" charset="-122"/>
              </a:rPr>
              <a:t>归纳起来，二叉树有以下基本运算：</a:t>
            </a:r>
          </a:p>
        </p:txBody>
      </p:sp>
    </p:spTree>
    <p:extLst>
      <p:ext uri="{BB962C8B-B14F-4D97-AF65-F5344CB8AC3E}">
        <p14:creationId xmlns:p14="http://schemas.microsoft.com/office/powerpoint/2010/main" val="26826431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FC7A567-601A-4513-18A4-5F95D6B6B184}"/>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0EDDABC6-3D7A-3C78-12CD-9D2CE74439DC}"/>
              </a:ext>
            </a:extLst>
          </p:cNvPr>
          <p:cNvSpPr/>
          <p:nvPr/>
        </p:nvSpPr>
        <p:spPr>
          <a:xfrm>
            <a:off x="3647728" y="118989"/>
            <a:ext cx="569547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7.4 </a:t>
            </a:r>
            <a:r>
              <a:rPr lang="zh-CN" altLang="en-US" sz="3000" b="1" dirty="0">
                <a:latin typeface="黑体" pitchFamily="49" charset="-122"/>
                <a:ea typeface="黑体" pitchFamily="49" charset="-122"/>
                <a:cs typeface="经典粗黑简" pitchFamily="49" charset="-122"/>
              </a:rPr>
              <a:t>二叉树基本运算及其实现</a:t>
            </a:r>
          </a:p>
        </p:txBody>
      </p:sp>
      <p:sp>
        <p:nvSpPr>
          <p:cNvPr id="19" name="Rectangle 2">
            <a:extLst>
              <a:ext uri="{FF2B5EF4-FFF2-40B4-BE49-F238E27FC236}">
                <a16:creationId xmlns:a16="http://schemas.microsoft.com/office/drawing/2014/main" xmlns="" id="{3465807E-ED6E-C97E-86E1-8493E46A5C0C}"/>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7.4.1 </a:t>
            </a:r>
            <a:r>
              <a:rPr lang="zh-CN" altLang="en-US" dirty="0"/>
              <a:t>二叉树的基本运算概述</a:t>
            </a:r>
          </a:p>
        </p:txBody>
      </p:sp>
      <p:cxnSp>
        <p:nvCxnSpPr>
          <p:cNvPr id="20" name="直接连接符 19">
            <a:extLst>
              <a:ext uri="{FF2B5EF4-FFF2-40B4-BE49-F238E27FC236}">
                <a16:creationId xmlns:a16="http://schemas.microsoft.com/office/drawing/2014/main" xmlns="" id="{68D40884-6E02-D8E6-7A09-97FD92417591}"/>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Text Box 2">
            <a:extLst>
              <a:ext uri="{FF2B5EF4-FFF2-40B4-BE49-F238E27FC236}">
                <a16:creationId xmlns:a16="http://schemas.microsoft.com/office/drawing/2014/main" xmlns="" id="{BC06EB98-7136-23D3-80C2-4C57BF0BC1FE}"/>
              </a:ext>
            </a:extLst>
          </p:cNvPr>
          <p:cNvSpPr txBox="1">
            <a:spLocks noChangeArrowheads="1"/>
          </p:cNvSpPr>
          <p:nvPr/>
        </p:nvSpPr>
        <p:spPr bwMode="auto">
          <a:xfrm>
            <a:off x="1004571" y="1929357"/>
            <a:ext cx="10755079" cy="827021"/>
          </a:xfrm>
          <a:prstGeom prst="rect">
            <a:avLst/>
          </a:prstGeom>
          <a:noFill/>
          <a:ln w="9525">
            <a:noFill/>
            <a:miter lim="800000"/>
            <a:headEnd/>
            <a:tailEnd/>
          </a:ln>
          <a:effectLst/>
        </p:spPr>
        <p:txBody>
          <a:bodyPr wrap="square">
            <a:spAutoFit/>
          </a:bodyPr>
          <a:lstStyle/>
          <a:p>
            <a:pPr algn="just">
              <a:lnSpc>
                <a:spcPts val="3000"/>
              </a:lnSpc>
              <a:spcBef>
                <a:spcPts val="0"/>
              </a:spcBef>
            </a:pPr>
            <a:r>
              <a:rPr kumimoji="1" lang="zh-CN" altLang="en-US" sz="2000" dirty="0">
                <a:latin typeface="Consolas" pitchFamily="49" charset="0"/>
                <a:ea typeface="楷体" pitchFamily="49" charset="-122"/>
                <a:cs typeface="Consolas" pitchFamily="49" charset="0"/>
              </a:rPr>
              <a:t>   设</a:t>
            </a:r>
            <a:r>
              <a:rPr kumimoji="1" lang="en-US" altLang="zh-CN" sz="2000" i="1" dirty="0">
                <a:latin typeface="Consolas" pitchFamily="49" charset="0"/>
                <a:ea typeface="楷体" pitchFamily="49" charset="-122"/>
                <a:cs typeface="Consolas" pitchFamily="49" charset="0"/>
              </a:rPr>
              <a:t>f</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en-US" altLang="zh-CN" sz="2000" dirty="0">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创建二叉链</a:t>
            </a:r>
            <a:r>
              <a:rPr kumimoji="1" lang="en-US" altLang="zh-CN" sz="2000" i="1" dirty="0">
                <a:latin typeface="Consolas" pitchFamily="49" charset="0"/>
                <a:ea typeface="楷体" pitchFamily="49" charset="-122"/>
                <a:cs typeface="Consolas" pitchFamily="49" charset="0"/>
              </a:rPr>
              <a:t>b</a:t>
            </a:r>
            <a:r>
              <a:rPr kumimoji="1" lang="zh-CN" altLang="en-US" sz="2000" dirty="0">
                <a:latin typeface="Consolas" pitchFamily="49" charset="0"/>
                <a:ea typeface="楷体" pitchFamily="49" charset="-122"/>
                <a:cs typeface="Consolas" pitchFamily="49" charset="0"/>
              </a:rPr>
              <a:t>：</a:t>
            </a:r>
            <a:r>
              <a:rPr kumimoji="1" lang="zh-CN" altLang="en-US" sz="2000" dirty="0">
                <a:solidFill>
                  <a:srgbClr val="FF00FF"/>
                </a:solidFill>
                <a:latin typeface="Consolas" pitchFamily="49" charset="0"/>
                <a:ea typeface="楷体" pitchFamily="49" charset="-122"/>
                <a:cs typeface="Consolas" pitchFamily="49" charset="0"/>
              </a:rPr>
              <a:t>大问题</a:t>
            </a:r>
            <a:r>
              <a:rPr kumimoji="1" lang="zh-CN" altLang="en-US" sz="2000" dirty="0">
                <a:latin typeface="Consolas" pitchFamily="49" charset="0"/>
                <a:ea typeface="楷体" pitchFamily="49" charset="-122"/>
                <a:cs typeface="Consolas" pitchFamily="49" charset="0"/>
              </a:rPr>
              <a:t>。则</a:t>
            </a:r>
            <a:r>
              <a:rPr kumimoji="1" lang="en-US" altLang="zh-CN" sz="2000" i="1" dirty="0">
                <a:latin typeface="Consolas" pitchFamily="49" charset="0"/>
                <a:ea typeface="楷体" pitchFamily="49" charset="-122"/>
                <a:cs typeface="Consolas" pitchFamily="49" charset="0"/>
              </a:rPr>
              <a:t>f</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en-US" altLang="zh-CN" sz="2000" dirty="0">
                <a:latin typeface="Consolas" pitchFamily="49" charset="0"/>
                <a:ea typeface="+mn-ea"/>
                <a:cs typeface="Consolas" pitchFamily="49" charset="0"/>
              </a:rPr>
              <a:t>-</a:t>
            </a:r>
            <a:r>
              <a:rPr kumimoji="1" lang="en-US" altLang="zh-CN" sz="2000" dirty="0">
                <a:latin typeface="Consolas" pitchFamily="49" charset="0"/>
                <a:ea typeface="楷体" pitchFamily="49" charset="-122"/>
                <a:cs typeface="Consolas" pitchFamily="49" charset="0"/>
              </a:rPr>
              <a:t>&gt;</a:t>
            </a:r>
            <a:r>
              <a:rPr kumimoji="1" lang="en-US" altLang="zh-CN" sz="2000" dirty="0" err="1">
                <a:latin typeface="Consolas" pitchFamily="49" charset="0"/>
                <a:ea typeface="楷体" pitchFamily="49" charset="-122"/>
                <a:cs typeface="Consolas" pitchFamily="49" charset="0"/>
              </a:rPr>
              <a:t>lchild</a:t>
            </a:r>
            <a:r>
              <a:rPr kumimoji="1" lang="en-US" altLang="zh-CN" sz="2000" dirty="0">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创建左子树，</a:t>
            </a:r>
            <a:r>
              <a:rPr kumimoji="1" lang="en-US" altLang="zh-CN" sz="2000" i="1" dirty="0">
                <a:latin typeface="Consolas" pitchFamily="49" charset="0"/>
                <a:ea typeface="楷体" pitchFamily="49" charset="-122"/>
                <a:cs typeface="Consolas" pitchFamily="49" charset="0"/>
              </a:rPr>
              <a:t> f</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en-US" altLang="zh-CN" sz="2000" dirty="0">
                <a:latin typeface="Consolas" pitchFamily="49" charset="0"/>
                <a:cs typeface="Consolas" pitchFamily="49" charset="0"/>
              </a:rPr>
              <a:t>-</a:t>
            </a:r>
            <a:r>
              <a:rPr kumimoji="1" lang="en-US" altLang="zh-CN" sz="2000" dirty="0">
                <a:latin typeface="Consolas" pitchFamily="49" charset="0"/>
                <a:ea typeface="楷体" pitchFamily="49" charset="-122"/>
                <a:cs typeface="Consolas" pitchFamily="49" charset="0"/>
              </a:rPr>
              <a:t>&gt;</a:t>
            </a:r>
            <a:r>
              <a:rPr kumimoji="1" lang="en-US" altLang="zh-CN" sz="2000" dirty="0" err="1">
                <a:latin typeface="Consolas" pitchFamily="49" charset="0"/>
                <a:ea typeface="楷体" pitchFamily="49" charset="-122"/>
                <a:cs typeface="Consolas" pitchFamily="49" charset="0"/>
              </a:rPr>
              <a:t>rchild</a:t>
            </a:r>
            <a:r>
              <a:rPr kumimoji="1" lang="en-US" altLang="zh-CN" sz="2000" dirty="0">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创建右子树：</a:t>
            </a:r>
            <a:r>
              <a:rPr kumimoji="1" lang="zh-CN" altLang="en-US" sz="2000" dirty="0">
                <a:solidFill>
                  <a:srgbClr val="FF00FF"/>
                </a:solidFill>
                <a:latin typeface="Consolas" pitchFamily="49" charset="0"/>
                <a:ea typeface="楷体" pitchFamily="49" charset="-122"/>
                <a:cs typeface="Consolas" pitchFamily="49" charset="0"/>
              </a:rPr>
              <a:t>两个小问题</a:t>
            </a:r>
            <a:r>
              <a:rPr kumimoji="1" lang="zh-CN" altLang="en-US" sz="2000" dirty="0">
                <a:latin typeface="Consolas" pitchFamily="49" charset="0"/>
                <a:ea typeface="楷体" pitchFamily="49" charset="-122"/>
                <a:cs typeface="Consolas" pitchFamily="49" charset="0"/>
              </a:rPr>
              <a:t>。</a:t>
            </a:r>
          </a:p>
        </p:txBody>
      </p:sp>
      <p:grpSp>
        <p:nvGrpSpPr>
          <p:cNvPr id="4" name="组合 16">
            <a:extLst>
              <a:ext uri="{FF2B5EF4-FFF2-40B4-BE49-F238E27FC236}">
                <a16:creationId xmlns:a16="http://schemas.microsoft.com/office/drawing/2014/main" xmlns="" id="{A73129E1-945E-3C4B-9581-B9B02C74B395}"/>
              </a:ext>
            </a:extLst>
          </p:cNvPr>
          <p:cNvGrpSpPr/>
          <p:nvPr/>
        </p:nvGrpSpPr>
        <p:grpSpPr>
          <a:xfrm>
            <a:off x="3863752" y="2506871"/>
            <a:ext cx="3814762" cy="2674382"/>
            <a:chOff x="1857356" y="2143116"/>
            <a:chExt cx="3814762" cy="2674382"/>
          </a:xfrm>
        </p:grpSpPr>
        <p:sp>
          <p:nvSpPr>
            <p:cNvPr id="5" name="Oval 5">
              <a:extLst>
                <a:ext uri="{FF2B5EF4-FFF2-40B4-BE49-F238E27FC236}">
                  <a16:creationId xmlns:a16="http://schemas.microsoft.com/office/drawing/2014/main" xmlns="" id="{E77E8DDF-4520-2C59-E167-358A50C54544}"/>
                </a:ext>
              </a:extLst>
            </p:cNvPr>
            <p:cNvSpPr>
              <a:spLocks noChangeArrowheads="1"/>
            </p:cNvSpPr>
            <p:nvPr/>
          </p:nvSpPr>
          <p:spPr bwMode="auto">
            <a:xfrm>
              <a:off x="3390881" y="2600316"/>
              <a:ext cx="863600" cy="504825"/>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i="1" dirty="0">
                  <a:solidFill>
                    <a:srgbClr val="3333FF"/>
                  </a:solidFill>
                  <a:latin typeface="Consolas" pitchFamily="49" charset="0"/>
                  <a:cs typeface="Consolas" pitchFamily="49" charset="0"/>
                </a:rPr>
                <a:t>N</a:t>
              </a:r>
              <a:endParaRPr lang="zh-CN" altLang="en-US" sz="2000" i="1" dirty="0">
                <a:solidFill>
                  <a:srgbClr val="3333FF"/>
                </a:solidFill>
                <a:latin typeface="Consolas" pitchFamily="49" charset="0"/>
                <a:cs typeface="Consolas" pitchFamily="49" charset="0"/>
              </a:endParaRPr>
            </a:p>
          </p:txBody>
        </p:sp>
        <p:sp>
          <p:nvSpPr>
            <p:cNvPr id="6" name="Arc 6">
              <a:extLst>
                <a:ext uri="{FF2B5EF4-FFF2-40B4-BE49-F238E27FC236}">
                  <a16:creationId xmlns:a16="http://schemas.microsoft.com/office/drawing/2014/main" xmlns="" id="{C29C0B71-0D10-ACCA-41F1-1DBFD272808E}"/>
                </a:ext>
              </a:extLst>
            </p:cNvPr>
            <p:cNvSpPr>
              <a:spLocks/>
            </p:cNvSpPr>
            <p:nvPr/>
          </p:nvSpPr>
          <p:spPr bwMode="auto">
            <a:xfrm>
              <a:off x="3178156" y="2351079"/>
              <a:ext cx="433387" cy="28733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C00FF"/>
              </a:solidFill>
              <a:round/>
              <a:headEnd/>
              <a:tailEnd type="stealth" w="med" len="med"/>
            </a:ln>
            <a:effectLst/>
          </p:spPr>
          <p:txBody>
            <a:bodyPr wrap="none" anchor="ctr"/>
            <a:lstStyle/>
            <a:p>
              <a:endParaRPr lang="zh-CN" altLang="en-US">
                <a:latin typeface="Consolas" pitchFamily="49" charset="0"/>
                <a:cs typeface="Consolas" pitchFamily="49" charset="0"/>
              </a:endParaRPr>
            </a:p>
          </p:txBody>
        </p:sp>
        <p:sp>
          <p:nvSpPr>
            <p:cNvPr id="7" name="AutoShape 7">
              <a:extLst>
                <a:ext uri="{FF2B5EF4-FFF2-40B4-BE49-F238E27FC236}">
                  <a16:creationId xmlns:a16="http://schemas.microsoft.com/office/drawing/2014/main" xmlns="" id="{02532851-19EA-8A83-6C43-8B8F3D82B22E}"/>
                </a:ext>
              </a:extLst>
            </p:cNvPr>
            <p:cNvSpPr>
              <a:spLocks noChangeArrowheads="1"/>
            </p:cNvSpPr>
            <p:nvPr/>
          </p:nvSpPr>
          <p:spPr bwMode="auto">
            <a:xfrm>
              <a:off x="2289156" y="3536941"/>
              <a:ext cx="1150937" cy="792163"/>
            </a:xfrm>
            <a:prstGeom prst="triangle">
              <a:avLst>
                <a:gd name="adj" fmla="val 50000"/>
              </a:avLst>
            </a:prstGeom>
            <a:solidFill>
              <a:schemeClr val="accent2"/>
            </a:solidFill>
            <a:ln w="9525" algn="ctr">
              <a:solidFill>
                <a:schemeClr val="tx1"/>
              </a:solidFill>
              <a:miter lim="800000"/>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8" name="AutoShape 8">
              <a:extLst>
                <a:ext uri="{FF2B5EF4-FFF2-40B4-BE49-F238E27FC236}">
                  <a16:creationId xmlns:a16="http://schemas.microsoft.com/office/drawing/2014/main" xmlns="" id="{B7A10AF9-7EB1-38F8-AF5C-7ED11A66643D}"/>
                </a:ext>
              </a:extLst>
            </p:cNvPr>
            <p:cNvSpPr>
              <a:spLocks noChangeArrowheads="1"/>
            </p:cNvSpPr>
            <p:nvPr/>
          </p:nvSpPr>
          <p:spPr bwMode="auto">
            <a:xfrm>
              <a:off x="4138593" y="3536941"/>
              <a:ext cx="1150937" cy="792163"/>
            </a:xfrm>
            <a:prstGeom prst="triangle">
              <a:avLst>
                <a:gd name="adj" fmla="val 50000"/>
              </a:avLst>
            </a:prstGeom>
            <a:solidFill>
              <a:schemeClr val="accent2"/>
            </a:solidFill>
            <a:ln w="9525" algn="ctr">
              <a:solidFill>
                <a:schemeClr val="tx1"/>
              </a:solidFill>
              <a:miter lim="800000"/>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9" name="Line 10">
              <a:extLst>
                <a:ext uri="{FF2B5EF4-FFF2-40B4-BE49-F238E27FC236}">
                  <a16:creationId xmlns:a16="http://schemas.microsoft.com/office/drawing/2014/main" xmlns="" id="{9A41E20A-3971-B7AE-2F69-22ECCCA51CBE}"/>
                </a:ext>
              </a:extLst>
            </p:cNvPr>
            <p:cNvSpPr>
              <a:spLocks noChangeShapeType="1"/>
            </p:cNvSpPr>
            <p:nvPr/>
          </p:nvSpPr>
          <p:spPr bwMode="auto">
            <a:xfrm flipH="1">
              <a:off x="2936856" y="3044816"/>
              <a:ext cx="647700" cy="649288"/>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0" name="Line 11">
              <a:extLst>
                <a:ext uri="{FF2B5EF4-FFF2-40B4-BE49-F238E27FC236}">
                  <a16:creationId xmlns:a16="http://schemas.microsoft.com/office/drawing/2014/main" xmlns="" id="{7BD20A76-42D2-5E07-5C07-CAB3B8D74C82}"/>
                </a:ext>
              </a:extLst>
            </p:cNvPr>
            <p:cNvSpPr>
              <a:spLocks noChangeShapeType="1"/>
            </p:cNvSpPr>
            <p:nvPr/>
          </p:nvSpPr>
          <p:spPr bwMode="auto">
            <a:xfrm>
              <a:off x="4100493" y="3032116"/>
              <a:ext cx="555645" cy="611198"/>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1" name="Text Box 12">
              <a:extLst>
                <a:ext uri="{FF2B5EF4-FFF2-40B4-BE49-F238E27FC236}">
                  <a16:creationId xmlns:a16="http://schemas.microsoft.com/office/drawing/2014/main" xmlns="" id="{D83D615D-6B8F-6E50-77DB-8A60DD485867}"/>
                </a:ext>
              </a:extLst>
            </p:cNvPr>
            <p:cNvSpPr txBox="1">
              <a:spLocks noChangeArrowheads="1"/>
            </p:cNvSpPr>
            <p:nvPr/>
          </p:nvSpPr>
          <p:spPr bwMode="auto">
            <a:xfrm>
              <a:off x="2649518" y="2143116"/>
              <a:ext cx="719137" cy="400110"/>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i="1" dirty="0">
                  <a:latin typeface="Consolas" pitchFamily="49" charset="0"/>
                  <a:cs typeface="Consolas" pitchFamily="49" charset="0"/>
                </a:rPr>
                <a:t>b</a:t>
              </a:r>
            </a:p>
          </p:txBody>
        </p:sp>
        <p:sp>
          <p:nvSpPr>
            <p:cNvPr id="12" name="Text Box 13">
              <a:extLst>
                <a:ext uri="{FF2B5EF4-FFF2-40B4-BE49-F238E27FC236}">
                  <a16:creationId xmlns:a16="http://schemas.microsoft.com/office/drawing/2014/main" xmlns="" id="{02F9972A-779A-E3BC-244C-F90979968569}"/>
                </a:ext>
              </a:extLst>
            </p:cNvPr>
            <p:cNvSpPr txBox="1">
              <a:spLocks noChangeArrowheads="1"/>
            </p:cNvSpPr>
            <p:nvPr/>
          </p:nvSpPr>
          <p:spPr bwMode="auto">
            <a:xfrm>
              <a:off x="1857356" y="4448166"/>
              <a:ext cx="1727200" cy="369332"/>
            </a:xfrm>
            <a:prstGeom prst="rect">
              <a:avLst/>
            </a:prstGeom>
            <a:noFill/>
            <a:ln w="28575" algn="ctr">
              <a:noFill/>
              <a:miter lim="800000"/>
              <a:headEnd/>
              <a:tailEnd type="none" w="med" len="lg"/>
            </a:ln>
            <a:effectLst/>
          </p:spPr>
          <p:txBody>
            <a:bodyPr>
              <a:spAutoFit/>
            </a:bodyPr>
            <a:lstStyle/>
            <a:p>
              <a:pPr>
                <a:spcBef>
                  <a:spcPct val="50000"/>
                </a:spcBef>
              </a:pPr>
              <a:r>
                <a:rPr lang="en-US" altLang="zh-CN" sz="1800" i="1">
                  <a:latin typeface="Consolas" pitchFamily="49" charset="0"/>
                  <a:cs typeface="Consolas" pitchFamily="49" charset="0"/>
                </a:rPr>
                <a:t>b</a:t>
              </a:r>
              <a:r>
                <a:rPr lang="en-US" altLang="zh-CN" sz="1800">
                  <a:latin typeface="Consolas" pitchFamily="49" charset="0"/>
                  <a:ea typeface="宋体" charset="-122"/>
                  <a:cs typeface="Consolas" pitchFamily="49" charset="0"/>
                </a:rPr>
                <a:t>-</a:t>
              </a:r>
              <a:r>
                <a:rPr lang="en-US" altLang="zh-CN" sz="1800">
                  <a:latin typeface="Consolas" pitchFamily="49" charset="0"/>
                  <a:cs typeface="Consolas" pitchFamily="49" charset="0"/>
                </a:rPr>
                <a:t>&gt;lchild</a:t>
              </a:r>
            </a:p>
          </p:txBody>
        </p:sp>
        <p:sp>
          <p:nvSpPr>
            <p:cNvPr id="13" name="Text Box 14">
              <a:extLst>
                <a:ext uri="{FF2B5EF4-FFF2-40B4-BE49-F238E27FC236}">
                  <a16:creationId xmlns:a16="http://schemas.microsoft.com/office/drawing/2014/main" xmlns="" id="{367A40CC-1C62-B060-E882-FC94ADCD2B03}"/>
                </a:ext>
              </a:extLst>
            </p:cNvPr>
            <p:cNvSpPr txBox="1">
              <a:spLocks noChangeArrowheads="1"/>
            </p:cNvSpPr>
            <p:nvPr/>
          </p:nvSpPr>
          <p:spPr bwMode="auto">
            <a:xfrm>
              <a:off x="3944918" y="4448166"/>
              <a:ext cx="1727200" cy="369332"/>
            </a:xfrm>
            <a:prstGeom prst="rect">
              <a:avLst/>
            </a:prstGeom>
            <a:noFill/>
            <a:ln w="28575" algn="ctr">
              <a:noFill/>
              <a:miter lim="800000"/>
              <a:headEnd/>
              <a:tailEnd type="none" w="med" len="lg"/>
            </a:ln>
            <a:effectLst/>
          </p:spPr>
          <p:txBody>
            <a:bodyPr>
              <a:spAutoFit/>
            </a:bodyPr>
            <a:lstStyle/>
            <a:p>
              <a:pPr>
                <a:spcBef>
                  <a:spcPct val="50000"/>
                </a:spcBef>
              </a:pPr>
              <a:r>
                <a:rPr lang="en-US" altLang="zh-CN" sz="1800" i="1" dirty="0">
                  <a:latin typeface="Consolas" pitchFamily="49" charset="0"/>
                  <a:cs typeface="Consolas" pitchFamily="49" charset="0"/>
                </a:rPr>
                <a:t>b</a:t>
              </a:r>
              <a:r>
                <a:rPr lang="en-US" altLang="zh-CN" sz="1800" dirty="0">
                  <a:latin typeface="Consolas" pitchFamily="49" charset="0"/>
                  <a:ea typeface="宋体" charset="-122"/>
                  <a:cs typeface="Consolas" pitchFamily="49" charset="0"/>
                </a:rPr>
                <a:t>-</a:t>
              </a:r>
              <a:r>
                <a:rPr lang="en-US" altLang="zh-CN" sz="1800" dirty="0">
                  <a:latin typeface="Consolas" pitchFamily="49" charset="0"/>
                  <a:cs typeface="Consolas" pitchFamily="49" charset="0"/>
                </a:rPr>
                <a:t>&gt;</a:t>
              </a:r>
              <a:r>
                <a:rPr lang="en-US" altLang="zh-CN" sz="1800" dirty="0" err="1">
                  <a:latin typeface="Consolas" pitchFamily="49" charset="0"/>
                  <a:cs typeface="Consolas" pitchFamily="49" charset="0"/>
                </a:rPr>
                <a:t>rchild</a:t>
              </a:r>
              <a:endParaRPr lang="en-US" altLang="zh-CN" sz="1800" dirty="0">
                <a:latin typeface="Consolas" pitchFamily="49" charset="0"/>
                <a:cs typeface="Consolas" pitchFamily="49" charset="0"/>
              </a:endParaRPr>
            </a:p>
          </p:txBody>
        </p:sp>
      </p:grpSp>
      <p:sp>
        <p:nvSpPr>
          <p:cNvPr id="14" name="TextBox 17">
            <a:extLst>
              <a:ext uri="{FF2B5EF4-FFF2-40B4-BE49-F238E27FC236}">
                <a16:creationId xmlns:a16="http://schemas.microsoft.com/office/drawing/2014/main" xmlns="" id="{59DE65E1-598E-A64C-775B-43D4FEC3854B}"/>
              </a:ext>
            </a:extLst>
          </p:cNvPr>
          <p:cNvSpPr txBox="1"/>
          <p:nvPr/>
        </p:nvSpPr>
        <p:spPr>
          <a:xfrm>
            <a:off x="6149768" y="2578309"/>
            <a:ext cx="1714512" cy="369332"/>
          </a:xfrm>
          <a:prstGeom prst="rect">
            <a:avLst/>
          </a:prstGeom>
          <a:noFill/>
        </p:spPr>
        <p:txBody>
          <a:bodyPr wrap="square" rtlCol="0">
            <a:spAutoFit/>
          </a:bodyPr>
          <a:lstStyle/>
          <a:p>
            <a:pPr algn="l"/>
            <a:r>
              <a:rPr kumimoji="1" lang="en-US" altLang="zh-CN" sz="1800" i="1">
                <a:latin typeface="Consolas" pitchFamily="49" charset="0"/>
                <a:ea typeface="仿宋" pitchFamily="49" charset="-122"/>
                <a:cs typeface="Consolas" pitchFamily="49" charset="0"/>
              </a:rPr>
              <a:t>f</a:t>
            </a:r>
            <a:r>
              <a:rPr kumimoji="1" lang="en-US" altLang="zh-CN"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b</a:t>
            </a:r>
            <a:r>
              <a:rPr kumimoji="1" lang="en-US" altLang="zh-CN" sz="1800">
                <a:latin typeface="Consolas" pitchFamily="49" charset="0"/>
                <a:ea typeface="仿宋" pitchFamily="49" charset="-122"/>
                <a:cs typeface="Consolas" pitchFamily="49" charset="0"/>
              </a:rPr>
              <a:t>)</a:t>
            </a:r>
            <a:r>
              <a:rPr lang="zh-CN" altLang="en-US" sz="180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大问题</a:t>
            </a:r>
          </a:p>
        </p:txBody>
      </p:sp>
      <p:sp>
        <p:nvSpPr>
          <p:cNvPr id="15" name="TextBox 18">
            <a:extLst>
              <a:ext uri="{FF2B5EF4-FFF2-40B4-BE49-F238E27FC236}">
                <a16:creationId xmlns:a16="http://schemas.microsoft.com/office/drawing/2014/main" xmlns="" id="{6CEE4A67-3D66-1124-7E62-B165ED919D4F}"/>
              </a:ext>
            </a:extLst>
          </p:cNvPr>
          <p:cNvSpPr txBox="1"/>
          <p:nvPr/>
        </p:nvSpPr>
        <p:spPr>
          <a:xfrm>
            <a:off x="1792050" y="4035587"/>
            <a:ext cx="2857520" cy="369332"/>
          </a:xfrm>
          <a:prstGeom prst="rect">
            <a:avLst/>
          </a:prstGeom>
          <a:noFill/>
        </p:spPr>
        <p:txBody>
          <a:bodyPr wrap="square" rtlCol="0">
            <a:spAutoFit/>
          </a:bodyPr>
          <a:lstStyle/>
          <a:p>
            <a:pPr algn="l"/>
            <a:r>
              <a:rPr kumimoji="1" lang="en-US" altLang="zh-CN" sz="1800" i="1" dirty="0">
                <a:latin typeface="Consolas" pitchFamily="49" charset="0"/>
                <a:ea typeface="仿宋" pitchFamily="49" charset="-122"/>
                <a:cs typeface="Consolas" pitchFamily="49" charset="0"/>
              </a:rPr>
              <a:t>f</a:t>
            </a:r>
            <a:r>
              <a:rPr kumimoji="1" lang="en-US" altLang="zh-CN" sz="1800" dirty="0">
                <a:latin typeface="Consolas" pitchFamily="49" charset="0"/>
                <a:ea typeface="仿宋" pitchFamily="49" charset="-122"/>
                <a:cs typeface="Consolas" pitchFamily="49" charset="0"/>
              </a:rPr>
              <a:t>(</a:t>
            </a:r>
            <a:r>
              <a:rPr kumimoji="1" lang="en-US" altLang="zh-CN" sz="1800" i="1" dirty="0">
                <a:latin typeface="Consolas" pitchFamily="49" charset="0"/>
                <a:ea typeface="仿宋" pitchFamily="49" charset="-122"/>
                <a:cs typeface="Consolas" pitchFamily="49" charset="0"/>
              </a:rPr>
              <a:t>b</a:t>
            </a:r>
            <a:r>
              <a:rPr kumimoji="1" lang="en-US" altLang="zh-CN" sz="1800" dirty="0">
                <a:latin typeface="Consolas" pitchFamily="49" charset="0"/>
                <a:ea typeface="仿宋" pitchFamily="49" charset="-122"/>
                <a:cs typeface="Consolas" pitchFamily="49" charset="0"/>
              </a:rPr>
              <a:t>-</a:t>
            </a:r>
            <a:r>
              <a:rPr kumimoji="1" lang="en-US" altLang="zh-CN" sz="1800">
                <a:latin typeface="Consolas" pitchFamily="49" charset="0"/>
                <a:ea typeface="仿宋" pitchFamily="49" charset="-122"/>
                <a:cs typeface="Consolas" pitchFamily="49" charset="0"/>
              </a:rPr>
              <a:t>&gt;lchild)</a:t>
            </a:r>
            <a:r>
              <a:rPr lang="zh-CN" altLang="en-US" sz="180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小问题</a:t>
            </a:r>
          </a:p>
        </p:txBody>
      </p:sp>
      <p:sp>
        <p:nvSpPr>
          <p:cNvPr id="16" name="TextBox 19">
            <a:extLst>
              <a:ext uri="{FF2B5EF4-FFF2-40B4-BE49-F238E27FC236}">
                <a16:creationId xmlns:a16="http://schemas.microsoft.com/office/drawing/2014/main" xmlns="" id="{BF122A8F-58CE-2D7A-4513-8B4385E00723}"/>
              </a:ext>
            </a:extLst>
          </p:cNvPr>
          <p:cNvSpPr txBox="1"/>
          <p:nvPr/>
        </p:nvSpPr>
        <p:spPr>
          <a:xfrm>
            <a:off x="7221338" y="4007069"/>
            <a:ext cx="2786082" cy="369332"/>
          </a:xfrm>
          <a:prstGeom prst="rect">
            <a:avLst/>
          </a:prstGeom>
          <a:noFill/>
        </p:spPr>
        <p:txBody>
          <a:bodyPr wrap="square" rtlCol="0">
            <a:spAutoFit/>
          </a:bodyPr>
          <a:lstStyle/>
          <a:p>
            <a:pPr algn="l"/>
            <a:r>
              <a:rPr kumimoji="1" lang="en-US" altLang="zh-CN" sz="1800" i="1" dirty="0">
                <a:latin typeface="Consolas" pitchFamily="49" charset="0"/>
                <a:ea typeface="仿宋" pitchFamily="49" charset="-122"/>
                <a:cs typeface="Consolas" pitchFamily="49" charset="0"/>
              </a:rPr>
              <a:t>f</a:t>
            </a:r>
            <a:r>
              <a:rPr kumimoji="1" lang="en-US" altLang="zh-CN" sz="1800" dirty="0">
                <a:latin typeface="Consolas" pitchFamily="49" charset="0"/>
                <a:ea typeface="仿宋" pitchFamily="49" charset="-122"/>
                <a:cs typeface="Consolas" pitchFamily="49" charset="0"/>
              </a:rPr>
              <a:t>(</a:t>
            </a:r>
            <a:r>
              <a:rPr kumimoji="1" lang="en-US" altLang="zh-CN" sz="1800" i="1" dirty="0">
                <a:latin typeface="Consolas" pitchFamily="49" charset="0"/>
                <a:ea typeface="仿宋" pitchFamily="49" charset="-122"/>
                <a:cs typeface="Consolas" pitchFamily="49" charset="0"/>
              </a:rPr>
              <a:t>b</a:t>
            </a:r>
            <a:r>
              <a:rPr kumimoji="1" lang="en-US" altLang="zh-CN" sz="1800" dirty="0">
                <a:latin typeface="Consolas" pitchFamily="49" charset="0"/>
                <a:ea typeface="仿宋" pitchFamily="49" charset="-122"/>
                <a:cs typeface="Consolas" pitchFamily="49" charset="0"/>
              </a:rPr>
              <a:t>-</a:t>
            </a:r>
            <a:r>
              <a:rPr kumimoji="1" lang="en-US" altLang="zh-CN" sz="1800">
                <a:latin typeface="Consolas" pitchFamily="49" charset="0"/>
                <a:ea typeface="仿宋" pitchFamily="49" charset="-122"/>
                <a:cs typeface="Consolas" pitchFamily="49" charset="0"/>
              </a:rPr>
              <a:t>&gt;rchild)</a:t>
            </a:r>
            <a:r>
              <a:rPr lang="zh-CN" altLang="en-US" sz="180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小问题</a:t>
            </a:r>
          </a:p>
        </p:txBody>
      </p:sp>
      <p:sp>
        <p:nvSpPr>
          <p:cNvPr id="18" name="TextBox 20">
            <a:extLst>
              <a:ext uri="{FF2B5EF4-FFF2-40B4-BE49-F238E27FC236}">
                <a16:creationId xmlns:a16="http://schemas.microsoft.com/office/drawing/2014/main" xmlns="" id="{68BCFBCD-222C-3F4A-4CFB-57CB0DFFA3B6}"/>
              </a:ext>
            </a:extLst>
          </p:cNvPr>
          <p:cNvSpPr txBox="1"/>
          <p:nvPr/>
        </p:nvSpPr>
        <p:spPr>
          <a:xfrm>
            <a:off x="1522598" y="5480823"/>
            <a:ext cx="1975636" cy="400110"/>
          </a:xfrm>
          <a:prstGeom prst="rect">
            <a:avLst/>
          </a:prstGeom>
          <a:noFill/>
        </p:spPr>
        <p:txBody>
          <a:bodyPr wrap="square" rtlCol="0">
            <a:spAutoFit/>
          </a:bodyPr>
          <a:lstStyle/>
          <a:p>
            <a:pPr algn="l"/>
            <a:r>
              <a:rPr kumimoji="1" lang="zh-CN" altLang="en-US" sz="2000" dirty="0">
                <a:ea typeface="楷体" pitchFamily="49" charset="-122"/>
                <a:cs typeface="Times New Roman" pitchFamily="18" charset="0"/>
              </a:rPr>
              <a:t>递归模型如下：</a:t>
            </a:r>
            <a:endParaRPr lang="zh-CN" altLang="en-US" sz="2000" dirty="0"/>
          </a:p>
        </p:txBody>
      </p:sp>
      <p:sp>
        <p:nvSpPr>
          <p:cNvPr id="21" name="TextBox 21">
            <a:extLst>
              <a:ext uri="{FF2B5EF4-FFF2-40B4-BE49-F238E27FC236}">
                <a16:creationId xmlns:a16="http://schemas.microsoft.com/office/drawing/2014/main" xmlns="" id="{AE9D49D4-F4F9-16F6-0172-431948C57B80}"/>
              </a:ext>
            </a:extLst>
          </p:cNvPr>
          <p:cNvSpPr txBox="1"/>
          <p:nvPr/>
        </p:nvSpPr>
        <p:spPr>
          <a:xfrm>
            <a:off x="3498234" y="5209771"/>
            <a:ext cx="7358114" cy="1202994"/>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44000" tIns="108000" rIns="144000" bIns="108000" rtlCol="0">
            <a:spAutoFit/>
          </a:bodyPr>
          <a:lstStyle/>
          <a:p>
            <a:pPr>
              <a:spcBef>
                <a:spcPts val="600"/>
              </a:spcBef>
            </a:pPr>
            <a:r>
              <a:rPr lang="en-US" altLang="zh-CN" i="1" dirty="0">
                <a:solidFill>
                  <a:srgbClr val="FF0000"/>
                </a:solidFill>
                <a:latin typeface="Consolas" pitchFamily="49" charset="0"/>
                <a:ea typeface="仿宋" pitchFamily="49" charset="-122"/>
                <a:cs typeface="Consolas" pitchFamily="49" charset="0"/>
              </a:rPr>
              <a:t>f</a:t>
            </a:r>
            <a:r>
              <a:rPr lang="en-US" altLang="zh-CN" dirty="0">
                <a:solidFill>
                  <a:srgbClr val="3333FF"/>
                </a:solidFill>
                <a:latin typeface="Consolas" pitchFamily="49" charset="0"/>
                <a:ea typeface="仿宋" pitchFamily="49" charset="-122"/>
                <a:cs typeface="Consolas" pitchFamily="49" charset="0"/>
              </a:rPr>
              <a:t>(</a:t>
            </a:r>
            <a:r>
              <a:rPr lang="en-US" altLang="zh-CN" i="1" dirty="0">
                <a:solidFill>
                  <a:srgbClr val="3333FF"/>
                </a:solidFill>
                <a:latin typeface="Consolas" pitchFamily="49" charset="0"/>
                <a:ea typeface="仿宋" pitchFamily="49" charset="-122"/>
                <a:cs typeface="Consolas" pitchFamily="49" charset="0"/>
              </a:rPr>
              <a:t>b</a:t>
            </a:r>
            <a:r>
              <a:rPr lang="en-US" altLang="zh-CN" dirty="0">
                <a:solidFill>
                  <a:srgbClr val="3333FF"/>
                </a:solidFill>
                <a:latin typeface="Consolas" pitchFamily="49" charset="0"/>
                <a:ea typeface="仿宋" pitchFamily="49" charset="-122"/>
                <a:cs typeface="Consolas" pitchFamily="49" charset="0"/>
              </a:rPr>
              <a:t>)  ≡  NULL                                  </a:t>
            </a:r>
            <a:r>
              <a:rPr lang="zh-CN" altLang="en-US" dirty="0">
                <a:solidFill>
                  <a:srgbClr val="00B0F0"/>
                </a:solidFill>
                <a:latin typeface="Consolas" pitchFamily="49" charset="0"/>
                <a:ea typeface="仿宋" pitchFamily="49" charset="-122"/>
                <a:cs typeface="Consolas" pitchFamily="49" charset="0"/>
              </a:rPr>
              <a:t>若</a:t>
            </a:r>
            <a:r>
              <a:rPr lang="en-US" altLang="zh-CN" i="1" dirty="0">
                <a:solidFill>
                  <a:srgbClr val="00B0F0"/>
                </a:solidFill>
                <a:latin typeface="Consolas" pitchFamily="49" charset="0"/>
                <a:ea typeface="仿宋" pitchFamily="49" charset="-122"/>
                <a:cs typeface="Consolas" pitchFamily="49" charset="0"/>
              </a:rPr>
              <a:t>b</a:t>
            </a:r>
            <a:r>
              <a:rPr lang="en-US" altLang="zh-CN" dirty="0">
                <a:solidFill>
                  <a:srgbClr val="00B0F0"/>
                </a:solidFill>
                <a:latin typeface="Consolas" pitchFamily="49" charset="0"/>
                <a:ea typeface="仿宋" pitchFamily="49" charset="-122"/>
                <a:cs typeface="Consolas" pitchFamily="49" charset="0"/>
              </a:rPr>
              <a:t>=NULL</a:t>
            </a:r>
            <a:endParaRPr lang="en-US" sz="1800" i="1" dirty="0">
              <a:solidFill>
                <a:srgbClr val="FF0000"/>
              </a:solidFill>
              <a:latin typeface="Consolas" pitchFamily="49" charset="0"/>
              <a:ea typeface="仿宋" pitchFamily="49" charset="-122"/>
              <a:cs typeface="Consolas" pitchFamily="49" charset="0"/>
            </a:endParaRPr>
          </a:p>
          <a:p>
            <a:pPr>
              <a:spcBef>
                <a:spcPts val="600"/>
              </a:spcBef>
            </a:pPr>
            <a:r>
              <a:rPr lang="en-US" sz="1800" i="1" dirty="0">
                <a:solidFill>
                  <a:srgbClr val="FF0000"/>
                </a:solidFill>
                <a:latin typeface="Consolas" pitchFamily="49" charset="0"/>
                <a:ea typeface="仿宋" pitchFamily="49" charset="-122"/>
                <a:cs typeface="Consolas" pitchFamily="49" charset="0"/>
              </a:rPr>
              <a:t>f</a:t>
            </a:r>
            <a:r>
              <a:rPr lang="en-US" sz="1800" dirty="0">
                <a:solidFill>
                  <a:srgbClr val="3333FF"/>
                </a:solidFill>
                <a:latin typeface="Consolas" pitchFamily="49" charset="0"/>
                <a:ea typeface="仿宋" pitchFamily="49" charset="-122"/>
                <a:cs typeface="Consolas" pitchFamily="49" charset="0"/>
              </a:rPr>
              <a:t>(</a:t>
            </a:r>
            <a:r>
              <a:rPr lang="en-US" sz="1800" i="1" dirty="0">
                <a:solidFill>
                  <a:srgbClr val="3333FF"/>
                </a:solidFill>
                <a:latin typeface="Consolas" pitchFamily="49" charset="0"/>
                <a:ea typeface="仿宋" pitchFamily="49" charset="-122"/>
                <a:cs typeface="Consolas" pitchFamily="49" charset="0"/>
              </a:rPr>
              <a:t>b</a:t>
            </a:r>
            <a:r>
              <a:rPr lang="en-US" sz="1800" dirty="0">
                <a:solidFill>
                  <a:srgbClr val="3333FF"/>
                </a:solidFill>
                <a:latin typeface="Consolas" pitchFamily="49" charset="0"/>
                <a:ea typeface="仿宋" pitchFamily="49" charset="-122"/>
                <a:cs typeface="Consolas" pitchFamily="49" charset="0"/>
              </a:rPr>
              <a:t>)  ≡  </a:t>
            </a:r>
            <a:r>
              <a:rPr lang="zh-CN" altLang="en-US" sz="1800" dirty="0">
                <a:solidFill>
                  <a:srgbClr val="3333FF"/>
                </a:solidFill>
                <a:latin typeface="Consolas" pitchFamily="49" charset="0"/>
                <a:ea typeface="仿宋" pitchFamily="49" charset="-122"/>
                <a:cs typeface="Consolas" pitchFamily="49" charset="0"/>
              </a:rPr>
              <a:t>创建根节点</a:t>
            </a:r>
            <a:r>
              <a:rPr lang="en-US" sz="1800" dirty="0">
                <a:solidFill>
                  <a:srgbClr val="3333FF"/>
                </a:solidFill>
                <a:latin typeface="Consolas" pitchFamily="49" charset="0"/>
                <a:ea typeface="仿宋" pitchFamily="49" charset="-122"/>
                <a:cs typeface="Consolas" pitchFamily="49" charset="0"/>
              </a:rPr>
              <a:t>				   </a:t>
            </a:r>
            <a:r>
              <a:rPr lang="zh-CN" altLang="en-US" dirty="0">
                <a:solidFill>
                  <a:srgbClr val="00B0F0"/>
                </a:solidFill>
                <a:latin typeface="Consolas" pitchFamily="49" charset="0"/>
                <a:ea typeface="仿宋" pitchFamily="49" charset="-122"/>
                <a:cs typeface="Consolas" pitchFamily="49" charset="0"/>
              </a:rPr>
              <a:t>其他情况</a:t>
            </a:r>
            <a:endParaRPr lang="zh-CN" altLang="en-US" sz="1800" dirty="0">
              <a:solidFill>
                <a:srgbClr val="00B0F0"/>
              </a:solidFill>
              <a:latin typeface="Consolas" pitchFamily="49" charset="0"/>
              <a:ea typeface="仿宋" pitchFamily="49" charset="-122"/>
              <a:cs typeface="Consolas" pitchFamily="49" charset="0"/>
            </a:endParaRPr>
          </a:p>
          <a:p>
            <a:pPr>
              <a:spcBef>
                <a:spcPts val="600"/>
              </a:spcBef>
            </a:pPr>
            <a:r>
              <a:rPr lang="en-US" sz="1800" i="1" dirty="0">
                <a:solidFill>
                  <a:srgbClr val="FF0000"/>
                </a:solidFill>
                <a:latin typeface="Consolas" pitchFamily="49" charset="0"/>
                <a:ea typeface="仿宋" pitchFamily="49" charset="-122"/>
                <a:cs typeface="Consolas" pitchFamily="49" charset="0"/>
              </a:rPr>
              <a:t>         f</a:t>
            </a:r>
            <a:r>
              <a:rPr lang="en-US" sz="1800" dirty="0">
                <a:solidFill>
                  <a:srgbClr val="3333FF"/>
                </a:solidFill>
                <a:latin typeface="Consolas" pitchFamily="49" charset="0"/>
                <a:ea typeface="仿宋" pitchFamily="49" charset="-122"/>
                <a:cs typeface="Consolas" pitchFamily="49" charset="0"/>
              </a:rPr>
              <a:t>(</a:t>
            </a:r>
            <a:r>
              <a:rPr lang="en-US" sz="1800" i="1" dirty="0">
                <a:solidFill>
                  <a:srgbClr val="3333FF"/>
                </a:solidFill>
                <a:latin typeface="Consolas" pitchFamily="49" charset="0"/>
                <a:ea typeface="仿宋" pitchFamily="49" charset="-122"/>
                <a:cs typeface="Consolas" pitchFamily="49" charset="0"/>
              </a:rPr>
              <a:t>b</a:t>
            </a:r>
            <a:r>
              <a:rPr lang="en-US" sz="1800" dirty="0">
                <a:solidFill>
                  <a:srgbClr val="3333FF"/>
                </a:solidFill>
                <a:latin typeface="Consolas" pitchFamily="49" charset="0"/>
                <a:ea typeface="仿宋" pitchFamily="49" charset="-122"/>
                <a:cs typeface="Consolas" pitchFamily="49" charset="0"/>
              </a:rPr>
              <a:t>-&gt;</a:t>
            </a:r>
            <a:r>
              <a:rPr lang="en-US" altLang="zh-CN" sz="1800" dirty="0" err="1">
                <a:solidFill>
                  <a:srgbClr val="3333FF"/>
                </a:solidFill>
                <a:latin typeface="Consolas" pitchFamily="49" charset="0"/>
                <a:ea typeface="仿宋" pitchFamily="49" charset="-122"/>
                <a:cs typeface="Consolas" pitchFamily="49" charset="0"/>
              </a:rPr>
              <a:t>l</a:t>
            </a:r>
            <a:r>
              <a:rPr lang="en-US" sz="1800" dirty="0" err="1">
                <a:solidFill>
                  <a:srgbClr val="3333FF"/>
                </a:solidFill>
                <a:latin typeface="Consolas" pitchFamily="49" charset="0"/>
                <a:ea typeface="仿宋" pitchFamily="49" charset="-122"/>
                <a:cs typeface="Consolas" pitchFamily="49" charset="0"/>
              </a:rPr>
              <a:t>child</a:t>
            </a:r>
            <a:r>
              <a:rPr lang="en-US" sz="1800" dirty="0">
                <a:solidFill>
                  <a:srgbClr val="3333FF"/>
                </a:solidFill>
                <a:latin typeface="Consolas" pitchFamily="49" charset="0"/>
                <a:ea typeface="仿宋" pitchFamily="49" charset="-122"/>
                <a:cs typeface="Consolas" pitchFamily="49" charset="0"/>
              </a:rPr>
              <a:t>)</a:t>
            </a:r>
            <a:r>
              <a:rPr lang="zh-CN" altLang="en-US" sz="1800" dirty="0">
                <a:solidFill>
                  <a:srgbClr val="3333FF"/>
                </a:solidFill>
                <a:latin typeface="Consolas" pitchFamily="49" charset="0"/>
                <a:ea typeface="仿宋" pitchFamily="49" charset="-122"/>
                <a:cs typeface="Consolas" pitchFamily="49" charset="0"/>
              </a:rPr>
              <a:t>；</a:t>
            </a:r>
            <a:r>
              <a:rPr lang="en-US" altLang="zh-CN" i="1" dirty="0">
                <a:solidFill>
                  <a:srgbClr val="FF0000"/>
                </a:solidFill>
                <a:latin typeface="Consolas" pitchFamily="49" charset="0"/>
                <a:ea typeface="仿宋" pitchFamily="49" charset="-122"/>
                <a:cs typeface="Consolas" pitchFamily="49" charset="0"/>
              </a:rPr>
              <a:t>f</a:t>
            </a:r>
            <a:r>
              <a:rPr lang="en-US" altLang="zh-CN" dirty="0">
                <a:solidFill>
                  <a:srgbClr val="3333FF"/>
                </a:solidFill>
                <a:latin typeface="Consolas" pitchFamily="49" charset="0"/>
                <a:ea typeface="仿宋" pitchFamily="49" charset="-122"/>
                <a:cs typeface="Consolas" pitchFamily="49" charset="0"/>
              </a:rPr>
              <a:t>(</a:t>
            </a:r>
            <a:r>
              <a:rPr lang="en-US" altLang="zh-CN" i="1" dirty="0">
                <a:solidFill>
                  <a:srgbClr val="3333FF"/>
                </a:solidFill>
                <a:latin typeface="Consolas" pitchFamily="49" charset="0"/>
                <a:ea typeface="仿宋" pitchFamily="49" charset="-122"/>
                <a:cs typeface="Consolas" pitchFamily="49" charset="0"/>
              </a:rPr>
              <a:t>b</a:t>
            </a:r>
            <a:r>
              <a:rPr lang="en-US" altLang="zh-CN" dirty="0">
                <a:solidFill>
                  <a:srgbClr val="3333FF"/>
                </a:solidFill>
                <a:latin typeface="Consolas" pitchFamily="49" charset="0"/>
                <a:ea typeface="仿宋" pitchFamily="49" charset="-122"/>
                <a:cs typeface="Consolas" pitchFamily="49" charset="0"/>
              </a:rPr>
              <a:t>-&gt;</a:t>
            </a:r>
            <a:r>
              <a:rPr lang="en-US" altLang="zh-CN" dirty="0" err="1">
                <a:solidFill>
                  <a:srgbClr val="3333FF"/>
                </a:solidFill>
                <a:latin typeface="Consolas" pitchFamily="49" charset="0"/>
                <a:ea typeface="仿宋" pitchFamily="49" charset="-122"/>
                <a:cs typeface="Consolas" pitchFamily="49" charset="0"/>
              </a:rPr>
              <a:t>rchild</a:t>
            </a:r>
            <a:r>
              <a:rPr lang="en-US" altLang="zh-CN" dirty="0">
                <a:solidFill>
                  <a:srgbClr val="3333FF"/>
                </a:solidFill>
                <a:latin typeface="Consolas" pitchFamily="49" charset="0"/>
                <a:ea typeface="仿宋" pitchFamily="49" charset="-122"/>
                <a:cs typeface="Consolas" pitchFamily="49" charset="0"/>
              </a:rPr>
              <a:t>)</a:t>
            </a:r>
            <a:r>
              <a:rPr lang="zh-CN" altLang="en-US" dirty="0">
                <a:solidFill>
                  <a:srgbClr val="3333FF"/>
                </a:solidFill>
                <a:latin typeface="Consolas" pitchFamily="49" charset="0"/>
                <a:ea typeface="仿宋" pitchFamily="49" charset="-122"/>
                <a:cs typeface="Consolas" pitchFamily="49" charset="0"/>
              </a:rPr>
              <a:t>；</a:t>
            </a:r>
            <a:endParaRPr lang="en-US" altLang="zh-CN" sz="1800" dirty="0">
              <a:solidFill>
                <a:srgbClr val="00B0F0"/>
              </a:solidFill>
              <a:latin typeface="Consolas" pitchFamily="49" charset="0"/>
              <a:ea typeface="仿宋" pitchFamily="49" charset="-122"/>
              <a:cs typeface="Consolas" pitchFamily="49" charset="0"/>
            </a:endParaRPr>
          </a:p>
        </p:txBody>
      </p:sp>
      <p:sp>
        <p:nvSpPr>
          <p:cNvPr id="22" name="Text Box 4">
            <a:extLst>
              <a:ext uri="{FF2B5EF4-FFF2-40B4-BE49-F238E27FC236}">
                <a16:creationId xmlns:a16="http://schemas.microsoft.com/office/drawing/2014/main" xmlns="" id="{C1C80207-47E7-9C14-2445-0C00DF40A9A3}"/>
              </a:ext>
            </a:extLst>
          </p:cNvPr>
          <p:cNvSpPr txBox="1">
            <a:spLocks noChangeArrowheads="1"/>
          </p:cNvSpPr>
          <p:nvPr/>
        </p:nvSpPr>
        <p:spPr bwMode="auto">
          <a:xfrm>
            <a:off x="1055440" y="1537336"/>
            <a:ext cx="5079976" cy="400110"/>
          </a:xfrm>
          <a:prstGeom prst="rect">
            <a:avLst/>
          </a:prstGeom>
          <a:ln>
            <a:headEnd/>
            <a:tailEnd type="none" w="med" len="lg"/>
          </a:ln>
        </p:spPr>
        <p:style>
          <a:lnRef idx="1">
            <a:schemeClr val="accent5"/>
          </a:lnRef>
          <a:fillRef idx="3">
            <a:schemeClr val="accent5"/>
          </a:fillRef>
          <a:effectRef idx="2">
            <a:schemeClr val="accent5"/>
          </a:effectRef>
          <a:fontRef idx="minor">
            <a:schemeClr val="lt1"/>
          </a:fontRef>
        </p:style>
        <p:txBody>
          <a:bodyPr wrap="square">
            <a:spAutoFit/>
          </a:bodyPr>
          <a:lstStyle/>
          <a:p>
            <a:pPr>
              <a:spcBef>
                <a:spcPct val="50000"/>
              </a:spcBef>
            </a:pPr>
            <a:r>
              <a:rPr kumimoji="1" lang="en-US" altLang="zh-CN" sz="2000" dirty="0">
                <a:solidFill>
                  <a:schemeClr val="bg1"/>
                </a:solidFill>
                <a:latin typeface="Consolas" pitchFamily="49" charset="0"/>
                <a:ea typeface="华文中宋" pitchFamily="2" charset="-122"/>
                <a:cs typeface="Consolas" pitchFamily="49" charset="0"/>
              </a:rPr>
              <a:t>1</a:t>
            </a:r>
            <a:r>
              <a:rPr kumimoji="1" lang="zh-CN" altLang="en-US" sz="2000" dirty="0">
                <a:solidFill>
                  <a:schemeClr val="bg1"/>
                </a:solidFill>
                <a:latin typeface="Consolas" pitchFamily="49" charset="0"/>
                <a:ea typeface="华文中宋" pitchFamily="2" charset="-122"/>
                <a:cs typeface="Consolas" pitchFamily="49" charset="0"/>
              </a:rPr>
              <a:t>、</a:t>
            </a:r>
            <a:r>
              <a:rPr kumimoji="1" lang="zh-CN" altLang="en-US" sz="2000" dirty="0">
                <a:latin typeface="Consolas" pitchFamily="49" charset="0"/>
                <a:ea typeface="仿宋" pitchFamily="49" charset="-122"/>
                <a:cs typeface="Consolas" pitchFamily="49" charset="0"/>
              </a:rPr>
              <a:t>创建二叉树</a:t>
            </a:r>
            <a:r>
              <a:rPr kumimoji="1" lang="en-US" altLang="zh-CN" sz="2000" dirty="0" err="1">
                <a:solidFill>
                  <a:srgbClr val="FF0000"/>
                </a:solidFill>
                <a:latin typeface="Consolas" pitchFamily="49" charset="0"/>
                <a:ea typeface="仿宋" pitchFamily="49" charset="-122"/>
                <a:cs typeface="Consolas" pitchFamily="49" charset="0"/>
              </a:rPr>
              <a:t>CreateBTree</a:t>
            </a:r>
            <a:r>
              <a:rPr kumimoji="1" lang="en-US" altLang="zh-CN" sz="2000" dirty="0">
                <a:solidFill>
                  <a:srgbClr val="FF0000"/>
                </a:solidFill>
                <a:latin typeface="Consolas" pitchFamily="49" charset="0"/>
                <a:ea typeface="仿宋" pitchFamily="49" charset="-122"/>
                <a:cs typeface="Consolas" pitchFamily="49" charset="0"/>
              </a:rPr>
              <a:t>(*b)</a:t>
            </a:r>
            <a:endParaRPr lang="en-US" altLang="zh-CN" sz="2000" dirty="0">
              <a:solidFill>
                <a:schemeClr val="bg1"/>
              </a:solidFill>
              <a:latin typeface="Consolas" pitchFamily="49" charset="0"/>
              <a:ea typeface="华文中宋" pitchFamily="2" charset="-122"/>
              <a:cs typeface="Consolas" pitchFamily="49" charset="0"/>
            </a:endParaRPr>
          </a:p>
        </p:txBody>
      </p:sp>
    </p:spTree>
    <p:extLst>
      <p:ext uri="{BB962C8B-B14F-4D97-AF65-F5344CB8AC3E}">
        <p14:creationId xmlns:p14="http://schemas.microsoft.com/office/powerpoint/2010/main" val="1355921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8" grpId="0"/>
      <p:bldP spid="2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5DD5B8-A64B-585E-3738-1105D8ADE380}"/>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B77B47A7-C8F0-032A-A554-CFD1F8ABC744}"/>
              </a:ext>
            </a:extLst>
          </p:cNvPr>
          <p:cNvSpPr/>
          <p:nvPr/>
        </p:nvSpPr>
        <p:spPr>
          <a:xfrm>
            <a:off x="3647728" y="118989"/>
            <a:ext cx="569547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7.4 </a:t>
            </a:r>
            <a:r>
              <a:rPr lang="zh-CN" altLang="en-US" sz="3000" b="1" dirty="0">
                <a:latin typeface="黑体" pitchFamily="49" charset="-122"/>
                <a:ea typeface="黑体" pitchFamily="49" charset="-122"/>
                <a:cs typeface="经典粗黑简" pitchFamily="49" charset="-122"/>
              </a:rPr>
              <a:t>二叉树基本运算及其实现</a:t>
            </a:r>
          </a:p>
        </p:txBody>
      </p:sp>
      <p:sp>
        <p:nvSpPr>
          <p:cNvPr id="19" name="Rectangle 2">
            <a:extLst>
              <a:ext uri="{FF2B5EF4-FFF2-40B4-BE49-F238E27FC236}">
                <a16:creationId xmlns:a16="http://schemas.microsoft.com/office/drawing/2014/main" xmlns="" id="{1D5F04AD-DE55-CE52-0B4C-955B04971BA5}"/>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7.4.1 </a:t>
            </a:r>
            <a:r>
              <a:rPr lang="zh-CN" altLang="en-US" dirty="0"/>
              <a:t>二叉树的基本运算概述</a:t>
            </a:r>
          </a:p>
        </p:txBody>
      </p:sp>
      <p:cxnSp>
        <p:nvCxnSpPr>
          <p:cNvPr id="20" name="直接连接符 19">
            <a:extLst>
              <a:ext uri="{FF2B5EF4-FFF2-40B4-BE49-F238E27FC236}">
                <a16:creationId xmlns:a16="http://schemas.microsoft.com/office/drawing/2014/main" xmlns="" id="{FC9B69E6-D4DE-8C0F-649D-D0A299F0F02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Text Box 4">
            <a:extLst>
              <a:ext uri="{FF2B5EF4-FFF2-40B4-BE49-F238E27FC236}">
                <a16:creationId xmlns:a16="http://schemas.microsoft.com/office/drawing/2014/main" xmlns="" id="{C18AE604-AC87-EEA2-7FC3-E60E5CC9DABF}"/>
              </a:ext>
            </a:extLst>
          </p:cNvPr>
          <p:cNvSpPr txBox="1">
            <a:spLocks noChangeArrowheads="1"/>
          </p:cNvSpPr>
          <p:nvPr/>
        </p:nvSpPr>
        <p:spPr bwMode="auto">
          <a:xfrm>
            <a:off x="1055440" y="1537336"/>
            <a:ext cx="5079976" cy="400110"/>
          </a:xfrm>
          <a:prstGeom prst="rect">
            <a:avLst/>
          </a:prstGeom>
          <a:ln>
            <a:headEnd/>
            <a:tailEnd type="none" w="med" len="lg"/>
          </a:ln>
        </p:spPr>
        <p:style>
          <a:lnRef idx="1">
            <a:schemeClr val="accent5"/>
          </a:lnRef>
          <a:fillRef idx="3">
            <a:schemeClr val="accent5"/>
          </a:fillRef>
          <a:effectRef idx="2">
            <a:schemeClr val="accent5"/>
          </a:effectRef>
          <a:fontRef idx="minor">
            <a:schemeClr val="lt1"/>
          </a:fontRef>
        </p:style>
        <p:txBody>
          <a:bodyPr wrap="square">
            <a:spAutoFit/>
          </a:bodyPr>
          <a:lstStyle/>
          <a:p>
            <a:pPr>
              <a:spcBef>
                <a:spcPct val="50000"/>
              </a:spcBef>
            </a:pPr>
            <a:r>
              <a:rPr kumimoji="1" lang="en-US" altLang="zh-CN" sz="2000" dirty="0">
                <a:solidFill>
                  <a:schemeClr val="bg1"/>
                </a:solidFill>
                <a:latin typeface="Consolas" pitchFamily="49" charset="0"/>
                <a:ea typeface="华文中宋" pitchFamily="2" charset="-122"/>
                <a:cs typeface="Consolas" pitchFamily="49" charset="0"/>
              </a:rPr>
              <a:t>1</a:t>
            </a:r>
            <a:r>
              <a:rPr kumimoji="1" lang="zh-CN" altLang="en-US" sz="2000" dirty="0">
                <a:solidFill>
                  <a:schemeClr val="bg1"/>
                </a:solidFill>
                <a:latin typeface="Consolas" pitchFamily="49" charset="0"/>
                <a:ea typeface="华文中宋" pitchFamily="2" charset="-122"/>
                <a:cs typeface="Consolas" pitchFamily="49" charset="0"/>
              </a:rPr>
              <a:t>、</a:t>
            </a:r>
            <a:r>
              <a:rPr kumimoji="1" lang="zh-CN" altLang="en-US" sz="2000" dirty="0">
                <a:latin typeface="Consolas" pitchFamily="49" charset="0"/>
                <a:ea typeface="仿宋" pitchFamily="49" charset="-122"/>
                <a:cs typeface="Consolas" pitchFamily="49" charset="0"/>
              </a:rPr>
              <a:t>创建二叉树</a:t>
            </a:r>
            <a:r>
              <a:rPr kumimoji="1" lang="en-US" altLang="zh-CN" sz="2000" dirty="0" err="1">
                <a:solidFill>
                  <a:srgbClr val="FF0000"/>
                </a:solidFill>
                <a:latin typeface="Consolas" pitchFamily="49" charset="0"/>
                <a:ea typeface="仿宋" pitchFamily="49" charset="-122"/>
                <a:cs typeface="Consolas" pitchFamily="49" charset="0"/>
              </a:rPr>
              <a:t>CreateBTree</a:t>
            </a:r>
            <a:r>
              <a:rPr kumimoji="1" lang="en-US" altLang="zh-CN" sz="2000" dirty="0">
                <a:solidFill>
                  <a:srgbClr val="FF0000"/>
                </a:solidFill>
                <a:latin typeface="Consolas" pitchFamily="49" charset="0"/>
                <a:ea typeface="仿宋" pitchFamily="49" charset="-122"/>
                <a:cs typeface="Consolas" pitchFamily="49" charset="0"/>
              </a:rPr>
              <a:t>(*b)</a:t>
            </a:r>
            <a:endParaRPr lang="en-US" altLang="zh-CN" sz="2000" dirty="0">
              <a:solidFill>
                <a:schemeClr val="bg1"/>
              </a:solidFill>
              <a:latin typeface="Consolas" pitchFamily="49" charset="0"/>
              <a:ea typeface="华文中宋" pitchFamily="2" charset="-122"/>
              <a:cs typeface="Consolas" pitchFamily="49" charset="0"/>
            </a:endParaRPr>
          </a:p>
        </p:txBody>
      </p:sp>
      <p:grpSp>
        <p:nvGrpSpPr>
          <p:cNvPr id="2" name="Group 5">
            <a:extLst>
              <a:ext uri="{FF2B5EF4-FFF2-40B4-BE49-F238E27FC236}">
                <a16:creationId xmlns:a16="http://schemas.microsoft.com/office/drawing/2014/main" xmlns="" id="{B721C86B-B906-77EA-8868-DB048464C0D9}"/>
              </a:ext>
            </a:extLst>
          </p:cNvPr>
          <p:cNvGrpSpPr>
            <a:grpSpLocks/>
          </p:cNvGrpSpPr>
          <p:nvPr/>
        </p:nvGrpSpPr>
        <p:grpSpPr bwMode="auto">
          <a:xfrm>
            <a:off x="7968208" y="1450255"/>
            <a:ext cx="2135187" cy="2373313"/>
            <a:chOff x="971" y="1099"/>
            <a:chExt cx="1345" cy="1495"/>
          </a:xfrm>
        </p:grpSpPr>
        <p:sp>
          <p:nvSpPr>
            <p:cNvPr id="3" name="Oval 6">
              <a:extLst>
                <a:ext uri="{FF2B5EF4-FFF2-40B4-BE49-F238E27FC236}">
                  <a16:creationId xmlns:a16="http://schemas.microsoft.com/office/drawing/2014/main" xmlns="" id="{F2A37940-C231-F264-E622-58A35BE5810F}"/>
                </a:ext>
              </a:extLst>
            </p:cNvPr>
            <p:cNvSpPr>
              <a:spLocks noChangeArrowheads="1"/>
            </p:cNvSpPr>
            <p:nvPr/>
          </p:nvSpPr>
          <p:spPr bwMode="auto">
            <a:xfrm>
              <a:off x="1371" y="2288"/>
              <a:ext cx="295" cy="295"/>
            </a:xfrm>
            <a:prstGeom prst="ellipse">
              <a:avLst/>
            </a:prstGeom>
            <a:gradFill rotWithShape="1">
              <a:gsLst>
                <a:gs pos="0">
                  <a:schemeClr val="bg1"/>
                </a:gs>
                <a:gs pos="100000">
                  <a:srgbClr val="00CC00"/>
                </a:gs>
              </a:gsLst>
              <a:path path="shape">
                <a:fillToRect l="50000" t="50000" r="50000" b="50000"/>
              </a:path>
            </a:gradFill>
            <a:ln>
              <a:noFill/>
            </a:ln>
            <a:effectLst/>
            <a:extLst>
              <a:ext uri="{91240B29-F687-4F45-9708-019B960494DF}">
                <a14:hiddenLine xmlns:a14="http://schemas.microsoft.com/office/drawing/2010/main" w="38100">
                  <a:solidFill>
                    <a:srgbClr val="FF33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0800"/>
            <a:lstStyle/>
            <a:p>
              <a:pPr eaLnBrk="1" hangingPunct="1"/>
              <a:endParaRPr lang="zh-CN" altLang="en-US"/>
            </a:p>
          </p:txBody>
        </p:sp>
        <p:sp>
          <p:nvSpPr>
            <p:cNvPr id="23" name="Freeform 7">
              <a:extLst>
                <a:ext uri="{FF2B5EF4-FFF2-40B4-BE49-F238E27FC236}">
                  <a16:creationId xmlns:a16="http://schemas.microsoft.com/office/drawing/2014/main" xmlns="" id="{9B75A42B-DFCA-8681-8E5A-B7AA72A71ED3}"/>
                </a:ext>
              </a:extLst>
            </p:cNvPr>
            <p:cNvSpPr>
              <a:spLocks/>
            </p:cNvSpPr>
            <p:nvPr/>
          </p:nvSpPr>
          <p:spPr bwMode="auto">
            <a:xfrm>
              <a:off x="1176" y="1303"/>
              <a:ext cx="410" cy="394"/>
            </a:xfrm>
            <a:custGeom>
              <a:avLst/>
              <a:gdLst>
                <a:gd name="T0" fmla="*/ 910 w 390"/>
                <a:gd name="T1" fmla="*/ 0 h 435"/>
                <a:gd name="T2" fmla="*/ 0 w 390"/>
                <a:gd name="T3" fmla="*/ 82 h 435"/>
                <a:gd name="T4" fmla="*/ 0 60000 65536"/>
                <a:gd name="T5" fmla="*/ 0 60000 65536"/>
              </a:gdLst>
              <a:ahLst/>
              <a:cxnLst>
                <a:cxn ang="T4">
                  <a:pos x="T0" y="T1"/>
                </a:cxn>
                <a:cxn ang="T5">
                  <a:pos x="T2" y="T3"/>
                </a:cxn>
              </a:cxnLst>
              <a:rect l="0" t="0" r="r" b="b"/>
              <a:pathLst>
                <a:path w="390" h="435">
                  <a:moveTo>
                    <a:pt x="390" y="0"/>
                  </a:moveTo>
                  <a:lnTo>
                    <a:pt x="0" y="435"/>
                  </a:lnTo>
                </a:path>
              </a:pathLst>
            </a:custGeom>
            <a:gradFill rotWithShape="0">
              <a:gsLst>
                <a:gs pos="0">
                  <a:srgbClr val="FF7755"/>
                </a:gs>
                <a:gs pos="100000">
                  <a:srgbClr val="FF3300"/>
                </a:gs>
              </a:gsLst>
              <a:path path="rect">
                <a:fillToRect l="50000" t="50000" r="50000" b="50000"/>
              </a:path>
            </a:gradFill>
            <a:ln w="38100" cmpd="sng">
              <a:solidFill>
                <a:schemeClr val="tx1"/>
              </a:solidFill>
              <a:round/>
              <a:headEnd/>
              <a:tailEnd/>
            </a:ln>
          </p:spPr>
          <p:txBody>
            <a:bodyPr tIns="10800"/>
            <a:lstStyle/>
            <a:p>
              <a:endParaRPr lang="zh-CN" altLang="en-US"/>
            </a:p>
          </p:txBody>
        </p:sp>
        <p:sp>
          <p:nvSpPr>
            <p:cNvPr id="24" name="Freeform 8">
              <a:extLst>
                <a:ext uri="{FF2B5EF4-FFF2-40B4-BE49-F238E27FC236}">
                  <a16:creationId xmlns:a16="http://schemas.microsoft.com/office/drawing/2014/main" xmlns="" id="{CADEA184-F31E-8ADD-04C7-701F5A8ADA0A}"/>
                </a:ext>
              </a:extLst>
            </p:cNvPr>
            <p:cNvSpPr>
              <a:spLocks/>
            </p:cNvSpPr>
            <p:nvPr/>
          </p:nvSpPr>
          <p:spPr bwMode="auto">
            <a:xfrm>
              <a:off x="1198" y="1931"/>
              <a:ext cx="230" cy="391"/>
            </a:xfrm>
            <a:custGeom>
              <a:avLst/>
              <a:gdLst>
                <a:gd name="T0" fmla="*/ 0 w 219"/>
                <a:gd name="T1" fmla="*/ 0 h 432"/>
                <a:gd name="T2" fmla="*/ 505 w 219"/>
                <a:gd name="T3" fmla="*/ 80 h 432"/>
                <a:gd name="T4" fmla="*/ 0 60000 65536"/>
                <a:gd name="T5" fmla="*/ 0 60000 65536"/>
              </a:gdLst>
              <a:ahLst/>
              <a:cxnLst>
                <a:cxn ang="T4">
                  <a:pos x="T0" y="T1"/>
                </a:cxn>
                <a:cxn ang="T5">
                  <a:pos x="T2" y="T3"/>
                </a:cxn>
              </a:cxnLst>
              <a:rect l="0" t="0" r="r" b="b"/>
              <a:pathLst>
                <a:path w="219" h="432">
                  <a:moveTo>
                    <a:pt x="0" y="0"/>
                  </a:moveTo>
                  <a:lnTo>
                    <a:pt x="219" y="432"/>
                  </a:lnTo>
                </a:path>
              </a:pathLst>
            </a:custGeom>
            <a:gradFill rotWithShape="0">
              <a:gsLst>
                <a:gs pos="0">
                  <a:srgbClr val="FF7755"/>
                </a:gs>
                <a:gs pos="100000">
                  <a:srgbClr val="FF3300"/>
                </a:gs>
              </a:gsLst>
              <a:path path="rect">
                <a:fillToRect l="50000" t="50000" r="50000" b="50000"/>
              </a:path>
            </a:gradFill>
            <a:ln w="38100" cmpd="sng">
              <a:solidFill>
                <a:schemeClr val="tx1"/>
              </a:solidFill>
              <a:round/>
              <a:headEnd/>
              <a:tailEnd/>
            </a:ln>
          </p:spPr>
          <p:txBody>
            <a:bodyPr tIns="10800"/>
            <a:lstStyle/>
            <a:p>
              <a:endParaRPr lang="zh-CN" altLang="en-US"/>
            </a:p>
          </p:txBody>
        </p:sp>
        <p:sp>
          <p:nvSpPr>
            <p:cNvPr id="25" name="Freeform 9">
              <a:extLst>
                <a:ext uri="{FF2B5EF4-FFF2-40B4-BE49-F238E27FC236}">
                  <a16:creationId xmlns:a16="http://schemas.microsoft.com/office/drawing/2014/main" xmlns="" id="{021B24C0-EE3C-E428-41FC-811E6C0843A5}"/>
                </a:ext>
              </a:extLst>
            </p:cNvPr>
            <p:cNvSpPr>
              <a:spLocks/>
            </p:cNvSpPr>
            <p:nvPr/>
          </p:nvSpPr>
          <p:spPr bwMode="auto">
            <a:xfrm>
              <a:off x="1851" y="1298"/>
              <a:ext cx="303" cy="399"/>
            </a:xfrm>
            <a:custGeom>
              <a:avLst/>
              <a:gdLst>
                <a:gd name="T0" fmla="*/ 0 w 288"/>
                <a:gd name="T1" fmla="*/ 0 h 440"/>
                <a:gd name="T2" fmla="*/ 684 w 288"/>
                <a:gd name="T3" fmla="*/ 83 h 440"/>
                <a:gd name="T4" fmla="*/ 0 60000 65536"/>
                <a:gd name="T5" fmla="*/ 0 60000 65536"/>
              </a:gdLst>
              <a:ahLst/>
              <a:cxnLst>
                <a:cxn ang="T4">
                  <a:pos x="T0" y="T1"/>
                </a:cxn>
                <a:cxn ang="T5">
                  <a:pos x="T2" y="T3"/>
                </a:cxn>
              </a:cxnLst>
              <a:rect l="0" t="0" r="r" b="b"/>
              <a:pathLst>
                <a:path w="288" h="440">
                  <a:moveTo>
                    <a:pt x="0" y="0"/>
                  </a:moveTo>
                  <a:lnTo>
                    <a:pt x="288" y="440"/>
                  </a:lnTo>
                </a:path>
              </a:pathLst>
            </a:custGeom>
            <a:gradFill rotWithShape="0">
              <a:gsLst>
                <a:gs pos="0">
                  <a:srgbClr val="FF7755"/>
                </a:gs>
                <a:gs pos="100000">
                  <a:srgbClr val="FF3300"/>
                </a:gs>
              </a:gsLst>
              <a:path path="rect">
                <a:fillToRect l="50000" t="50000" r="50000" b="50000"/>
              </a:path>
            </a:gradFill>
            <a:ln w="38100" cmpd="sng">
              <a:solidFill>
                <a:schemeClr val="tx1"/>
              </a:solidFill>
              <a:round/>
              <a:headEnd/>
              <a:tailEnd/>
            </a:ln>
          </p:spPr>
          <p:txBody>
            <a:bodyPr tIns="10800"/>
            <a:lstStyle/>
            <a:p>
              <a:endParaRPr lang="zh-CN" altLang="en-US"/>
            </a:p>
          </p:txBody>
        </p:sp>
        <p:sp>
          <p:nvSpPr>
            <p:cNvPr id="26" name="Text Box 10">
              <a:extLst>
                <a:ext uri="{FF2B5EF4-FFF2-40B4-BE49-F238E27FC236}">
                  <a16:creationId xmlns:a16="http://schemas.microsoft.com/office/drawing/2014/main" xmlns="" id="{CB221913-F332-ADA3-E2F5-D948910E22F5}"/>
                </a:ext>
              </a:extLst>
            </p:cNvPr>
            <p:cNvSpPr txBox="1">
              <a:spLocks noChangeArrowheads="1"/>
            </p:cNvSpPr>
            <p:nvPr/>
          </p:nvSpPr>
          <p:spPr bwMode="auto">
            <a:xfrm>
              <a:off x="1400" y="2290"/>
              <a:ext cx="250"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08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ctr"/>
              <a:r>
                <a:rPr lang="en-US" altLang="zh-CN" sz="2800" b="1" i="1">
                  <a:latin typeface="Times New Roman" pitchFamily="18" charset="0"/>
                </a:rPr>
                <a:t>D</a:t>
              </a:r>
              <a:endParaRPr lang="en-US" altLang="zh-CN" sz="2800" b="1">
                <a:latin typeface="Times New Roman" pitchFamily="18" charset="0"/>
              </a:endParaRPr>
            </a:p>
          </p:txBody>
        </p:sp>
        <p:sp>
          <p:nvSpPr>
            <p:cNvPr id="27" name="Oval 11">
              <a:extLst>
                <a:ext uri="{FF2B5EF4-FFF2-40B4-BE49-F238E27FC236}">
                  <a16:creationId xmlns:a16="http://schemas.microsoft.com/office/drawing/2014/main" xmlns="" id="{812F0B40-69A2-DEB1-DE67-8BBAF53B8450}"/>
                </a:ext>
              </a:extLst>
            </p:cNvPr>
            <p:cNvSpPr>
              <a:spLocks noChangeArrowheads="1"/>
            </p:cNvSpPr>
            <p:nvPr/>
          </p:nvSpPr>
          <p:spPr bwMode="auto">
            <a:xfrm>
              <a:off x="971" y="1675"/>
              <a:ext cx="295" cy="295"/>
            </a:xfrm>
            <a:prstGeom prst="ellipse">
              <a:avLst/>
            </a:prstGeom>
            <a:gradFill rotWithShape="1">
              <a:gsLst>
                <a:gs pos="0">
                  <a:schemeClr val="bg1"/>
                </a:gs>
                <a:gs pos="100000">
                  <a:srgbClr val="00CC00"/>
                </a:gs>
              </a:gsLst>
              <a:path path="shape">
                <a:fillToRect l="50000" t="50000" r="50000" b="50000"/>
              </a:path>
            </a:gradFill>
            <a:ln>
              <a:noFill/>
            </a:ln>
            <a:effectLst/>
            <a:extLst>
              <a:ext uri="{91240B29-F687-4F45-9708-019B960494DF}">
                <a14:hiddenLine xmlns:a14="http://schemas.microsoft.com/office/drawing/2010/main" w="38100">
                  <a:solidFill>
                    <a:srgbClr val="FF33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0800"/>
            <a:lstStyle/>
            <a:p>
              <a:pPr eaLnBrk="1" hangingPunct="1"/>
              <a:endParaRPr lang="zh-CN" altLang="en-US"/>
            </a:p>
          </p:txBody>
        </p:sp>
        <p:sp>
          <p:nvSpPr>
            <p:cNvPr id="28" name="Text Box 12">
              <a:extLst>
                <a:ext uri="{FF2B5EF4-FFF2-40B4-BE49-F238E27FC236}">
                  <a16:creationId xmlns:a16="http://schemas.microsoft.com/office/drawing/2014/main" xmlns="" id="{E5F92FEF-6FCA-15BC-E8FD-816D9CAF3D9F}"/>
                </a:ext>
              </a:extLst>
            </p:cNvPr>
            <p:cNvSpPr txBox="1">
              <a:spLocks noChangeArrowheads="1"/>
            </p:cNvSpPr>
            <p:nvPr/>
          </p:nvSpPr>
          <p:spPr bwMode="auto">
            <a:xfrm>
              <a:off x="1000" y="1677"/>
              <a:ext cx="250"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08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ctr"/>
              <a:r>
                <a:rPr lang="en-US" altLang="zh-CN" sz="2800" b="1" i="1">
                  <a:latin typeface="Times New Roman" pitchFamily="18" charset="0"/>
                </a:rPr>
                <a:t>B</a:t>
              </a:r>
              <a:endParaRPr lang="en-US" altLang="zh-CN" sz="2800" b="1">
                <a:latin typeface="Times New Roman" pitchFamily="18" charset="0"/>
              </a:endParaRPr>
            </a:p>
          </p:txBody>
        </p:sp>
        <p:sp>
          <p:nvSpPr>
            <p:cNvPr id="29" name="Oval 13">
              <a:extLst>
                <a:ext uri="{FF2B5EF4-FFF2-40B4-BE49-F238E27FC236}">
                  <a16:creationId xmlns:a16="http://schemas.microsoft.com/office/drawing/2014/main" xmlns="" id="{A99F8BE1-C07E-AC2A-0F2C-334BEB5647EF}"/>
                </a:ext>
              </a:extLst>
            </p:cNvPr>
            <p:cNvSpPr>
              <a:spLocks noChangeArrowheads="1"/>
            </p:cNvSpPr>
            <p:nvPr/>
          </p:nvSpPr>
          <p:spPr bwMode="auto">
            <a:xfrm>
              <a:off x="1575" y="1099"/>
              <a:ext cx="295" cy="295"/>
            </a:xfrm>
            <a:prstGeom prst="ellipse">
              <a:avLst/>
            </a:prstGeom>
            <a:gradFill rotWithShape="1">
              <a:gsLst>
                <a:gs pos="0">
                  <a:schemeClr val="bg1"/>
                </a:gs>
                <a:gs pos="100000">
                  <a:srgbClr val="00CC00"/>
                </a:gs>
              </a:gsLst>
              <a:path path="shape">
                <a:fillToRect l="50000" t="50000" r="50000" b="50000"/>
              </a:path>
            </a:gradFill>
            <a:ln>
              <a:noFill/>
            </a:ln>
            <a:effectLst/>
            <a:extLst>
              <a:ext uri="{91240B29-F687-4F45-9708-019B960494DF}">
                <a14:hiddenLine xmlns:a14="http://schemas.microsoft.com/office/drawing/2010/main" w="38100">
                  <a:solidFill>
                    <a:srgbClr val="FF33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0800"/>
            <a:lstStyle/>
            <a:p>
              <a:pPr eaLnBrk="1" hangingPunct="1"/>
              <a:endParaRPr lang="zh-CN" altLang="en-US"/>
            </a:p>
          </p:txBody>
        </p:sp>
        <p:sp>
          <p:nvSpPr>
            <p:cNvPr id="30" name="Text Box 14">
              <a:extLst>
                <a:ext uri="{FF2B5EF4-FFF2-40B4-BE49-F238E27FC236}">
                  <a16:creationId xmlns:a16="http://schemas.microsoft.com/office/drawing/2014/main" xmlns="" id="{EB271325-ECDB-C720-88AE-BD9BE3861829}"/>
                </a:ext>
              </a:extLst>
            </p:cNvPr>
            <p:cNvSpPr txBox="1">
              <a:spLocks noChangeArrowheads="1"/>
            </p:cNvSpPr>
            <p:nvPr/>
          </p:nvSpPr>
          <p:spPr bwMode="auto">
            <a:xfrm>
              <a:off x="1604" y="1101"/>
              <a:ext cx="250"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08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ctr"/>
              <a:r>
                <a:rPr lang="en-US" altLang="zh-CN" sz="2800" b="1" i="1">
                  <a:latin typeface="Times New Roman" pitchFamily="18" charset="0"/>
                </a:rPr>
                <a:t>A</a:t>
              </a:r>
              <a:endParaRPr lang="en-US" altLang="zh-CN" sz="2800" b="1">
                <a:latin typeface="Times New Roman" pitchFamily="18" charset="0"/>
              </a:endParaRPr>
            </a:p>
          </p:txBody>
        </p:sp>
        <p:sp>
          <p:nvSpPr>
            <p:cNvPr id="31" name="Oval 15">
              <a:extLst>
                <a:ext uri="{FF2B5EF4-FFF2-40B4-BE49-F238E27FC236}">
                  <a16:creationId xmlns:a16="http://schemas.microsoft.com/office/drawing/2014/main" xmlns="" id="{FD3EA8F1-BD90-D84F-BC0C-0C8ED33CACDD}"/>
                </a:ext>
              </a:extLst>
            </p:cNvPr>
            <p:cNvSpPr>
              <a:spLocks noChangeArrowheads="1"/>
            </p:cNvSpPr>
            <p:nvPr/>
          </p:nvSpPr>
          <p:spPr bwMode="auto">
            <a:xfrm>
              <a:off x="2021" y="1675"/>
              <a:ext cx="295" cy="295"/>
            </a:xfrm>
            <a:prstGeom prst="ellipse">
              <a:avLst/>
            </a:prstGeom>
            <a:gradFill rotWithShape="1">
              <a:gsLst>
                <a:gs pos="0">
                  <a:schemeClr val="bg1"/>
                </a:gs>
                <a:gs pos="100000">
                  <a:srgbClr val="00CC00"/>
                </a:gs>
              </a:gsLst>
              <a:path path="shape">
                <a:fillToRect l="50000" t="50000" r="50000" b="50000"/>
              </a:path>
            </a:gradFill>
            <a:ln>
              <a:noFill/>
            </a:ln>
            <a:effectLst/>
            <a:extLst>
              <a:ext uri="{91240B29-F687-4F45-9708-019B960494DF}">
                <a14:hiddenLine xmlns:a14="http://schemas.microsoft.com/office/drawing/2010/main" w="38100">
                  <a:solidFill>
                    <a:srgbClr val="FF33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tIns="10800"/>
            <a:lstStyle/>
            <a:p>
              <a:pPr eaLnBrk="1" hangingPunct="1"/>
              <a:endParaRPr lang="zh-CN" altLang="en-US"/>
            </a:p>
          </p:txBody>
        </p:sp>
        <p:sp>
          <p:nvSpPr>
            <p:cNvPr id="32" name="Text Box 16">
              <a:extLst>
                <a:ext uri="{FF2B5EF4-FFF2-40B4-BE49-F238E27FC236}">
                  <a16:creationId xmlns:a16="http://schemas.microsoft.com/office/drawing/2014/main" xmlns="" id="{99E35938-D24F-4946-116B-8DDB95D4D32D}"/>
                </a:ext>
              </a:extLst>
            </p:cNvPr>
            <p:cNvSpPr txBox="1">
              <a:spLocks noChangeArrowheads="1"/>
            </p:cNvSpPr>
            <p:nvPr/>
          </p:nvSpPr>
          <p:spPr bwMode="auto">
            <a:xfrm>
              <a:off x="2050" y="1677"/>
              <a:ext cx="250"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0800" rIns="0" bIns="0"/>
            <a:lstStyle>
              <a:lvl1pPr>
                <a:defRPr>
                  <a:solidFill>
                    <a:schemeClr val="tx1"/>
                  </a:solidFill>
                  <a:latin typeface="Tahoma" pitchFamily="34" charset="0"/>
                  <a:ea typeface="宋体" charset="-122"/>
                </a:defRPr>
              </a:lvl1pPr>
              <a:lvl2pPr marL="742950" indent="-285750">
                <a:defRPr>
                  <a:solidFill>
                    <a:schemeClr val="tx1"/>
                  </a:solidFill>
                  <a:latin typeface="Tahoma" pitchFamily="34" charset="0"/>
                  <a:ea typeface="宋体" charset="-122"/>
                </a:defRPr>
              </a:lvl2pPr>
              <a:lvl3pPr marL="1143000" indent="-228600">
                <a:defRPr>
                  <a:solidFill>
                    <a:schemeClr val="tx1"/>
                  </a:solidFill>
                  <a:latin typeface="Tahoma" pitchFamily="34" charset="0"/>
                  <a:ea typeface="宋体" charset="-122"/>
                </a:defRPr>
              </a:lvl3pPr>
              <a:lvl4pPr marL="1600200" indent="-228600">
                <a:defRPr>
                  <a:solidFill>
                    <a:schemeClr val="tx1"/>
                  </a:solidFill>
                  <a:latin typeface="Tahoma" pitchFamily="34" charset="0"/>
                  <a:ea typeface="宋体" charset="-122"/>
                </a:defRPr>
              </a:lvl4pPr>
              <a:lvl5pPr marL="2057400" indent="-228600">
                <a:defRPr>
                  <a:solidFill>
                    <a:schemeClr val="tx1"/>
                  </a:solidFill>
                  <a:latin typeface="Tahoma" pitchFamily="34" charset="0"/>
                  <a:ea typeface="宋体" charset="-122"/>
                </a:defRPr>
              </a:lvl5pPr>
              <a:lvl6pPr marL="2514600" indent="-228600" eaLnBrk="0" fontAlgn="base" hangingPunct="0">
                <a:spcBef>
                  <a:spcPct val="0"/>
                </a:spcBef>
                <a:spcAft>
                  <a:spcPct val="0"/>
                </a:spcAft>
                <a:defRPr>
                  <a:solidFill>
                    <a:schemeClr val="tx1"/>
                  </a:solidFill>
                  <a:latin typeface="Tahoma" pitchFamily="34" charset="0"/>
                  <a:ea typeface="宋体" charset="-122"/>
                </a:defRPr>
              </a:lvl6pPr>
              <a:lvl7pPr marL="2971800" indent="-228600" eaLnBrk="0" fontAlgn="base" hangingPunct="0">
                <a:spcBef>
                  <a:spcPct val="0"/>
                </a:spcBef>
                <a:spcAft>
                  <a:spcPct val="0"/>
                </a:spcAft>
                <a:defRPr>
                  <a:solidFill>
                    <a:schemeClr val="tx1"/>
                  </a:solidFill>
                  <a:latin typeface="Tahoma" pitchFamily="34" charset="0"/>
                  <a:ea typeface="宋体" charset="-122"/>
                </a:defRPr>
              </a:lvl7pPr>
              <a:lvl8pPr marL="3429000" indent="-228600" eaLnBrk="0" fontAlgn="base" hangingPunct="0">
                <a:spcBef>
                  <a:spcPct val="0"/>
                </a:spcBef>
                <a:spcAft>
                  <a:spcPct val="0"/>
                </a:spcAft>
                <a:defRPr>
                  <a:solidFill>
                    <a:schemeClr val="tx1"/>
                  </a:solidFill>
                  <a:latin typeface="Tahoma" pitchFamily="34" charset="0"/>
                  <a:ea typeface="宋体" charset="-122"/>
                </a:defRPr>
              </a:lvl8pPr>
              <a:lvl9pPr marL="3886200" indent="-228600" eaLnBrk="0" fontAlgn="base" hangingPunct="0">
                <a:spcBef>
                  <a:spcPct val="0"/>
                </a:spcBef>
                <a:spcAft>
                  <a:spcPct val="0"/>
                </a:spcAft>
                <a:defRPr>
                  <a:solidFill>
                    <a:schemeClr val="tx1"/>
                  </a:solidFill>
                  <a:latin typeface="Tahoma" pitchFamily="34" charset="0"/>
                  <a:ea typeface="宋体" charset="-122"/>
                </a:defRPr>
              </a:lvl9pPr>
            </a:lstStyle>
            <a:p>
              <a:pPr algn="ctr"/>
              <a:r>
                <a:rPr lang="en-US" altLang="zh-CN" sz="2800" b="1" i="1">
                  <a:latin typeface="Times New Roman" pitchFamily="18" charset="0"/>
                </a:rPr>
                <a:t>C</a:t>
              </a:r>
              <a:endParaRPr lang="en-US" altLang="zh-CN" sz="2800" b="1">
                <a:latin typeface="Times New Roman" pitchFamily="18" charset="0"/>
              </a:endParaRPr>
            </a:p>
          </p:txBody>
        </p:sp>
      </p:grpSp>
      <p:sp>
        <p:nvSpPr>
          <p:cNvPr id="33" name="矩形 32">
            <a:extLst>
              <a:ext uri="{FF2B5EF4-FFF2-40B4-BE49-F238E27FC236}">
                <a16:creationId xmlns:a16="http://schemas.microsoft.com/office/drawing/2014/main" xmlns="" id="{D658C99F-85AC-313B-B94D-6BCD353DF5D6}"/>
              </a:ext>
            </a:extLst>
          </p:cNvPr>
          <p:cNvSpPr/>
          <p:nvPr/>
        </p:nvSpPr>
        <p:spPr>
          <a:xfrm>
            <a:off x="2814330" y="2636912"/>
            <a:ext cx="4806280" cy="369332"/>
          </a:xfrm>
          <a:prstGeom prst="rect">
            <a:avLst/>
          </a:prstGeom>
        </p:spPr>
        <p:txBody>
          <a:bodyPr wrap="square">
            <a:spAutoFit/>
          </a:bodyPr>
          <a:lstStyle/>
          <a:p>
            <a:pPr>
              <a:spcBef>
                <a:spcPct val="50000"/>
              </a:spcBef>
              <a:defRPr/>
            </a:pPr>
            <a:r>
              <a:rPr kumimoji="1" lang="zh-CN" altLang="en-US" dirty="0">
                <a:latin typeface="微软雅黑" pitchFamily="34" charset="-122"/>
                <a:ea typeface="微软雅黑" pitchFamily="34" charset="-122"/>
                <a:cs typeface="经典粗黑简" pitchFamily="49" charset="-122"/>
              </a:rPr>
              <a:t>由带空指针标记的先序序列构造二叉树的算法 </a:t>
            </a:r>
          </a:p>
        </p:txBody>
      </p:sp>
      <p:sp>
        <p:nvSpPr>
          <p:cNvPr id="34" name="Text Box 3">
            <a:extLst>
              <a:ext uri="{FF2B5EF4-FFF2-40B4-BE49-F238E27FC236}">
                <a16:creationId xmlns:a16="http://schemas.microsoft.com/office/drawing/2014/main" xmlns="" id="{7DEAAE8E-2570-A422-F6AA-14F50F0EAAA9}"/>
              </a:ext>
            </a:extLst>
          </p:cNvPr>
          <p:cNvSpPr txBox="1">
            <a:spLocks noChangeArrowheads="1"/>
          </p:cNvSpPr>
          <p:nvPr/>
        </p:nvSpPr>
        <p:spPr bwMode="auto">
          <a:xfrm>
            <a:off x="2890716" y="2989104"/>
            <a:ext cx="554580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spcBef>
                <a:spcPct val="0"/>
              </a:spcBef>
            </a:pPr>
            <a:r>
              <a:rPr lang="en-US" altLang="zh-CN" dirty="0">
                <a:latin typeface="Times New Roman" pitchFamily="18" charset="0"/>
                <a:ea typeface="隶书" pitchFamily="49" charset="-122"/>
                <a:cs typeface="Times New Roman" pitchFamily="18" charset="0"/>
              </a:rPr>
              <a:t>void </a:t>
            </a:r>
            <a:r>
              <a:rPr lang="en-US" altLang="zh-CN" dirty="0" err="1">
                <a:latin typeface="Times New Roman" pitchFamily="18" charset="0"/>
                <a:ea typeface="隶书" pitchFamily="49" charset="-122"/>
                <a:cs typeface="Times New Roman" pitchFamily="18" charset="0"/>
              </a:rPr>
              <a:t>CreateBiTree</a:t>
            </a:r>
            <a:r>
              <a:rPr lang="en-US" altLang="zh-CN" dirty="0">
                <a:latin typeface="Times New Roman" pitchFamily="18" charset="0"/>
                <a:ea typeface="隶书" pitchFamily="49" charset="-122"/>
                <a:cs typeface="Times New Roman" pitchFamily="18" charset="0"/>
              </a:rPr>
              <a:t>(</a:t>
            </a:r>
            <a:r>
              <a:rPr lang="zh-CN" altLang="en-US" dirty="0">
                <a:latin typeface="Times New Roman" pitchFamily="18" charset="0"/>
                <a:ea typeface="隶书" pitchFamily="49" charset="-122"/>
                <a:cs typeface="Times New Roman" pitchFamily="18" charset="0"/>
              </a:rPr>
              <a:t>BTNode * &amp;</a:t>
            </a:r>
            <a:r>
              <a:rPr lang="en-US" altLang="zh-CN" dirty="0">
                <a:latin typeface="Times New Roman" pitchFamily="18" charset="0"/>
                <a:ea typeface="隶书" pitchFamily="49" charset="-122"/>
                <a:cs typeface="Times New Roman" pitchFamily="18" charset="0"/>
              </a:rPr>
              <a:t>b)</a:t>
            </a:r>
            <a:endParaRPr lang="zh-CN" altLang="zh-CN" dirty="0">
              <a:latin typeface="Times New Roman" pitchFamily="18" charset="0"/>
              <a:ea typeface="隶书" pitchFamily="49" charset="-122"/>
              <a:cs typeface="Times New Roman" pitchFamily="18" charset="0"/>
            </a:endParaRPr>
          </a:p>
          <a:p>
            <a:pPr>
              <a:spcBef>
                <a:spcPct val="0"/>
              </a:spcBef>
            </a:pPr>
            <a:r>
              <a:rPr lang="en-US" altLang="zh-CN" dirty="0">
                <a:latin typeface="Times New Roman" pitchFamily="18" charset="0"/>
                <a:ea typeface="隶书" pitchFamily="49" charset="-122"/>
                <a:cs typeface="Times New Roman" pitchFamily="18" charset="0"/>
              </a:rPr>
              <a:t>{</a:t>
            </a:r>
            <a:endParaRPr lang="zh-CN" altLang="zh-CN" dirty="0">
              <a:latin typeface="Times New Roman" pitchFamily="18" charset="0"/>
              <a:ea typeface="隶书" pitchFamily="49" charset="-122"/>
              <a:cs typeface="Times New Roman" pitchFamily="18" charset="0"/>
            </a:endParaRPr>
          </a:p>
          <a:p>
            <a:pPr>
              <a:spcBef>
                <a:spcPct val="0"/>
              </a:spcBef>
            </a:pPr>
            <a:r>
              <a:rPr lang="en-US" altLang="zh-CN" dirty="0">
                <a:latin typeface="Times New Roman" pitchFamily="18" charset="0"/>
                <a:ea typeface="隶书" pitchFamily="49" charset="-122"/>
                <a:cs typeface="Times New Roman" pitchFamily="18" charset="0"/>
              </a:rPr>
              <a:t>        char </a:t>
            </a:r>
            <a:r>
              <a:rPr lang="en-US" altLang="zh-CN" dirty="0" err="1">
                <a:latin typeface="Times New Roman" pitchFamily="18" charset="0"/>
                <a:ea typeface="隶书" pitchFamily="49" charset="-122"/>
                <a:cs typeface="Times New Roman" pitchFamily="18" charset="0"/>
              </a:rPr>
              <a:t>ch</a:t>
            </a:r>
            <a:r>
              <a:rPr lang="en-US" altLang="zh-CN" dirty="0">
                <a:latin typeface="Times New Roman" pitchFamily="18" charset="0"/>
                <a:ea typeface="隶书" pitchFamily="49" charset="-122"/>
                <a:cs typeface="Times New Roman" pitchFamily="18" charset="0"/>
              </a:rPr>
              <a:t>;</a:t>
            </a:r>
            <a:endParaRPr lang="zh-CN" altLang="zh-CN" dirty="0">
              <a:latin typeface="Times New Roman" pitchFamily="18" charset="0"/>
              <a:ea typeface="隶书" pitchFamily="49" charset="-122"/>
              <a:cs typeface="Times New Roman" pitchFamily="18" charset="0"/>
            </a:endParaRPr>
          </a:p>
          <a:p>
            <a:pPr>
              <a:spcBef>
                <a:spcPct val="0"/>
              </a:spcBef>
            </a:pPr>
            <a:r>
              <a:rPr lang="en-US" altLang="zh-CN" dirty="0">
                <a:latin typeface="Times New Roman" pitchFamily="18" charset="0"/>
                <a:ea typeface="隶书" pitchFamily="49" charset="-122"/>
                <a:cs typeface="Times New Roman" pitchFamily="18" charset="0"/>
              </a:rPr>
              <a:t>        </a:t>
            </a:r>
            <a:r>
              <a:rPr lang="en-US" altLang="zh-CN" dirty="0" err="1">
                <a:latin typeface="Times New Roman" pitchFamily="18" charset="0"/>
                <a:ea typeface="隶书" pitchFamily="49" charset="-122"/>
                <a:cs typeface="Times New Roman" pitchFamily="18" charset="0"/>
              </a:rPr>
              <a:t>cin</a:t>
            </a:r>
            <a:r>
              <a:rPr lang="en-US" altLang="zh-CN" dirty="0">
                <a:latin typeface="Times New Roman" pitchFamily="18" charset="0"/>
                <a:ea typeface="隶书" pitchFamily="49" charset="-122"/>
                <a:cs typeface="Times New Roman" pitchFamily="18" charset="0"/>
              </a:rPr>
              <a:t> &gt;&gt; </a:t>
            </a:r>
            <a:r>
              <a:rPr lang="en-US" altLang="zh-CN" dirty="0" err="1">
                <a:latin typeface="Times New Roman" pitchFamily="18" charset="0"/>
                <a:ea typeface="隶书" pitchFamily="49" charset="-122"/>
                <a:cs typeface="Times New Roman" pitchFamily="18" charset="0"/>
              </a:rPr>
              <a:t>ch</a:t>
            </a:r>
            <a:r>
              <a:rPr lang="en-US" altLang="zh-CN" dirty="0">
                <a:latin typeface="Times New Roman" pitchFamily="18" charset="0"/>
                <a:ea typeface="隶书" pitchFamily="49" charset="-122"/>
                <a:cs typeface="Times New Roman" pitchFamily="18" charset="0"/>
              </a:rPr>
              <a:t>;</a:t>
            </a:r>
            <a:endParaRPr lang="zh-CN" altLang="zh-CN" dirty="0">
              <a:latin typeface="Times New Roman" pitchFamily="18" charset="0"/>
              <a:ea typeface="隶书" pitchFamily="49" charset="-122"/>
              <a:cs typeface="Times New Roman" pitchFamily="18" charset="0"/>
            </a:endParaRPr>
          </a:p>
          <a:p>
            <a:pPr>
              <a:spcBef>
                <a:spcPct val="0"/>
              </a:spcBef>
            </a:pPr>
            <a:r>
              <a:rPr lang="en-US" altLang="zh-CN" dirty="0">
                <a:latin typeface="Times New Roman" pitchFamily="18" charset="0"/>
                <a:ea typeface="隶书" pitchFamily="49" charset="-122"/>
                <a:cs typeface="Times New Roman" pitchFamily="18" charset="0"/>
              </a:rPr>
              <a:t>        if (</a:t>
            </a:r>
            <a:r>
              <a:rPr lang="en-US" altLang="zh-CN" dirty="0" err="1">
                <a:latin typeface="Times New Roman" pitchFamily="18" charset="0"/>
                <a:ea typeface="隶书" pitchFamily="49" charset="-122"/>
                <a:cs typeface="Times New Roman" pitchFamily="18" charset="0"/>
              </a:rPr>
              <a:t>ch</a:t>
            </a:r>
            <a:r>
              <a:rPr lang="en-US" altLang="zh-CN" dirty="0">
                <a:latin typeface="Times New Roman" pitchFamily="18" charset="0"/>
                <a:ea typeface="隶书" pitchFamily="49" charset="-122"/>
                <a:cs typeface="Times New Roman" pitchFamily="18" charset="0"/>
              </a:rPr>
              <a:t>=='#’)  b = NULL;          </a:t>
            </a:r>
            <a:endParaRPr lang="zh-CN" altLang="zh-CN" dirty="0">
              <a:latin typeface="Times New Roman" pitchFamily="18" charset="0"/>
              <a:ea typeface="隶书" pitchFamily="49" charset="-122"/>
              <a:cs typeface="Times New Roman" pitchFamily="18" charset="0"/>
            </a:endParaRPr>
          </a:p>
          <a:p>
            <a:pPr>
              <a:spcBef>
                <a:spcPct val="0"/>
              </a:spcBef>
            </a:pPr>
            <a:r>
              <a:rPr lang="en-US" altLang="zh-CN" dirty="0">
                <a:latin typeface="Times New Roman" pitchFamily="18" charset="0"/>
                <a:ea typeface="隶书" pitchFamily="49" charset="-122"/>
                <a:cs typeface="Times New Roman" pitchFamily="18" charset="0"/>
              </a:rPr>
              <a:t>       else </a:t>
            </a:r>
            <a:endParaRPr lang="zh-CN" altLang="zh-CN" dirty="0">
              <a:latin typeface="Times New Roman" pitchFamily="18" charset="0"/>
              <a:ea typeface="隶书" pitchFamily="49" charset="-122"/>
              <a:cs typeface="Times New Roman" pitchFamily="18" charset="0"/>
            </a:endParaRPr>
          </a:p>
          <a:p>
            <a:pPr>
              <a:spcBef>
                <a:spcPct val="0"/>
              </a:spcBef>
            </a:pPr>
            <a:r>
              <a:rPr lang="en-US" altLang="zh-CN" dirty="0">
                <a:latin typeface="Times New Roman" pitchFamily="18" charset="0"/>
                <a:ea typeface="隶书" pitchFamily="49" charset="-122"/>
                <a:cs typeface="Times New Roman" pitchFamily="18" charset="0"/>
              </a:rPr>
              <a:t>      {</a:t>
            </a:r>
            <a:endParaRPr lang="zh-CN" altLang="zh-CN" dirty="0">
              <a:latin typeface="Times New Roman" pitchFamily="18" charset="0"/>
              <a:ea typeface="隶书" pitchFamily="49" charset="-122"/>
              <a:cs typeface="Times New Roman" pitchFamily="18" charset="0"/>
            </a:endParaRPr>
          </a:p>
          <a:p>
            <a:pPr>
              <a:spcBef>
                <a:spcPct val="0"/>
              </a:spcBef>
            </a:pPr>
            <a:r>
              <a:rPr lang="en-US" altLang="zh-CN" dirty="0">
                <a:latin typeface="Times New Roman" pitchFamily="18" charset="0"/>
                <a:ea typeface="隶书" pitchFamily="49" charset="-122"/>
                <a:cs typeface="Times New Roman" pitchFamily="18" charset="0"/>
              </a:rPr>
              <a:t>                b = (B</a:t>
            </a:r>
            <a:r>
              <a:rPr lang="zh-CN" altLang="en-US" dirty="0">
                <a:latin typeface="Times New Roman" pitchFamily="18" charset="0"/>
                <a:ea typeface="隶书" pitchFamily="49" charset="-122"/>
                <a:cs typeface="Times New Roman" pitchFamily="18" charset="0"/>
              </a:rPr>
              <a:t>TNode </a:t>
            </a:r>
            <a:r>
              <a:rPr lang="en-US" altLang="zh-CN" dirty="0">
                <a:latin typeface="Times New Roman" pitchFamily="18" charset="0"/>
                <a:ea typeface="隶书" pitchFamily="49" charset="-122"/>
                <a:cs typeface="Times New Roman" pitchFamily="18" charset="0"/>
              </a:rPr>
              <a:t>*)</a:t>
            </a:r>
            <a:r>
              <a:rPr lang="zh-CN" altLang="en-US" dirty="0">
                <a:latin typeface="Times New Roman" pitchFamily="18" charset="0"/>
                <a:ea typeface="隶书" pitchFamily="49" charset="-122"/>
                <a:cs typeface="Times New Roman" pitchFamily="18" charset="0"/>
              </a:rPr>
              <a:t> </a:t>
            </a:r>
            <a:r>
              <a:rPr lang="en-US" altLang="zh-CN" dirty="0">
                <a:latin typeface="Times New Roman" pitchFamily="18" charset="0"/>
                <a:ea typeface="隶书" pitchFamily="49" charset="-122"/>
                <a:cs typeface="Times New Roman" pitchFamily="18" charset="0"/>
              </a:rPr>
              <a:t>malloc(</a:t>
            </a:r>
            <a:r>
              <a:rPr lang="en-US" altLang="zh-CN" dirty="0" err="1">
                <a:latin typeface="Times New Roman" pitchFamily="18" charset="0"/>
                <a:ea typeface="隶书" pitchFamily="49" charset="-122"/>
                <a:cs typeface="Times New Roman" pitchFamily="18" charset="0"/>
              </a:rPr>
              <a:t>sizeof</a:t>
            </a:r>
            <a:r>
              <a:rPr lang="en-US" altLang="zh-CN" dirty="0">
                <a:latin typeface="Times New Roman" pitchFamily="18" charset="0"/>
                <a:ea typeface="隶书" pitchFamily="49" charset="-122"/>
                <a:cs typeface="Times New Roman" pitchFamily="18" charset="0"/>
              </a:rPr>
              <a:t>(B</a:t>
            </a:r>
            <a:r>
              <a:rPr lang="zh-CN" altLang="en-US" dirty="0">
                <a:latin typeface="Times New Roman" pitchFamily="18" charset="0"/>
                <a:ea typeface="隶书" pitchFamily="49" charset="-122"/>
                <a:cs typeface="Times New Roman" pitchFamily="18" charset="0"/>
              </a:rPr>
              <a:t>TNode </a:t>
            </a:r>
            <a:r>
              <a:rPr lang="en-US" altLang="zh-CN" dirty="0">
                <a:latin typeface="Times New Roman" pitchFamily="18" charset="0"/>
                <a:ea typeface="隶书" pitchFamily="49" charset="-122"/>
                <a:cs typeface="Times New Roman" pitchFamily="18" charset="0"/>
              </a:rPr>
              <a:t>));  </a:t>
            </a:r>
          </a:p>
          <a:p>
            <a:pPr>
              <a:spcBef>
                <a:spcPct val="0"/>
              </a:spcBef>
            </a:pPr>
            <a:r>
              <a:rPr lang="en-US" altLang="zh-CN" dirty="0">
                <a:latin typeface="Times New Roman" pitchFamily="18" charset="0"/>
                <a:ea typeface="隶书" pitchFamily="49" charset="-122"/>
                <a:cs typeface="Times New Roman" pitchFamily="18" charset="0"/>
              </a:rPr>
              <a:t>                b-&gt;data = </a:t>
            </a:r>
            <a:r>
              <a:rPr lang="en-US" altLang="zh-CN" dirty="0" err="1">
                <a:latin typeface="Times New Roman" pitchFamily="18" charset="0"/>
                <a:ea typeface="隶书" pitchFamily="49" charset="-122"/>
                <a:cs typeface="Times New Roman" pitchFamily="18" charset="0"/>
              </a:rPr>
              <a:t>ch</a:t>
            </a:r>
            <a:r>
              <a:rPr lang="en-US" altLang="zh-CN" dirty="0">
                <a:latin typeface="Times New Roman" pitchFamily="18" charset="0"/>
                <a:ea typeface="隶书" pitchFamily="49" charset="-122"/>
                <a:cs typeface="Times New Roman" pitchFamily="18" charset="0"/>
              </a:rPr>
              <a:t>;</a:t>
            </a:r>
            <a:endParaRPr lang="zh-CN" altLang="zh-CN" dirty="0">
              <a:latin typeface="Times New Roman" pitchFamily="18" charset="0"/>
              <a:ea typeface="隶书" pitchFamily="49" charset="-122"/>
              <a:cs typeface="Times New Roman" pitchFamily="18" charset="0"/>
            </a:endParaRPr>
          </a:p>
          <a:p>
            <a:pPr>
              <a:spcBef>
                <a:spcPct val="0"/>
              </a:spcBef>
            </a:pPr>
            <a:r>
              <a:rPr lang="en-US" altLang="zh-CN" dirty="0">
                <a:latin typeface="Times New Roman" pitchFamily="18" charset="0"/>
                <a:ea typeface="隶书" pitchFamily="49" charset="-122"/>
                <a:cs typeface="Times New Roman" pitchFamily="18" charset="0"/>
              </a:rPr>
              <a:t>                </a:t>
            </a:r>
            <a:r>
              <a:rPr lang="en-US" altLang="zh-CN" dirty="0" err="1">
                <a:latin typeface="Times New Roman" pitchFamily="18" charset="0"/>
                <a:ea typeface="隶书" pitchFamily="49" charset="-122"/>
                <a:cs typeface="Times New Roman" pitchFamily="18" charset="0"/>
              </a:rPr>
              <a:t>CreateBiTree</a:t>
            </a:r>
            <a:r>
              <a:rPr lang="en-US" altLang="zh-CN" dirty="0">
                <a:latin typeface="Times New Roman" pitchFamily="18" charset="0"/>
                <a:ea typeface="隶书" pitchFamily="49" charset="-122"/>
                <a:cs typeface="Times New Roman" pitchFamily="18" charset="0"/>
              </a:rPr>
              <a:t>(b-&gt;</a:t>
            </a:r>
            <a:r>
              <a:rPr lang="en-US" altLang="zh-CN" dirty="0" err="1">
                <a:latin typeface="Times New Roman" pitchFamily="18" charset="0"/>
                <a:ea typeface="隶书" pitchFamily="49" charset="-122"/>
                <a:cs typeface="Times New Roman" pitchFamily="18" charset="0"/>
              </a:rPr>
              <a:t>lchild</a:t>
            </a:r>
            <a:r>
              <a:rPr lang="en-US" altLang="zh-CN" dirty="0">
                <a:latin typeface="Times New Roman" pitchFamily="18" charset="0"/>
                <a:ea typeface="隶书" pitchFamily="49" charset="-122"/>
                <a:cs typeface="Times New Roman" pitchFamily="18" charset="0"/>
              </a:rPr>
              <a:t>);    </a:t>
            </a:r>
            <a:endParaRPr lang="zh-CN" altLang="zh-CN" dirty="0">
              <a:latin typeface="Times New Roman" pitchFamily="18" charset="0"/>
              <a:ea typeface="隶书" pitchFamily="49" charset="-122"/>
              <a:cs typeface="Times New Roman" pitchFamily="18" charset="0"/>
            </a:endParaRPr>
          </a:p>
          <a:p>
            <a:pPr>
              <a:spcBef>
                <a:spcPct val="0"/>
              </a:spcBef>
            </a:pPr>
            <a:r>
              <a:rPr lang="en-US" altLang="zh-CN" dirty="0">
                <a:latin typeface="Times New Roman" pitchFamily="18" charset="0"/>
                <a:ea typeface="隶书" pitchFamily="49" charset="-122"/>
                <a:cs typeface="Times New Roman" pitchFamily="18" charset="0"/>
              </a:rPr>
              <a:t>                </a:t>
            </a:r>
            <a:r>
              <a:rPr lang="en-US" altLang="zh-CN" dirty="0" err="1">
                <a:latin typeface="Times New Roman" pitchFamily="18" charset="0"/>
                <a:ea typeface="隶书" pitchFamily="49" charset="-122"/>
                <a:cs typeface="Times New Roman" pitchFamily="18" charset="0"/>
              </a:rPr>
              <a:t>CreateBiTree</a:t>
            </a:r>
            <a:r>
              <a:rPr lang="en-US" altLang="zh-CN" dirty="0">
                <a:latin typeface="Times New Roman" pitchFamily="18" charset="0"/>
                <a:ea typeface="隶书" pitchFamily="49" charset="-122"/>
                <a:cs typeface="Times New Roman" pitchFamily="18" charset="0"/>
              </a:rPr>
              <a:t>(b-&gt;</a:t>
            </a:r>
            <a:r>
              <a:rPr lang="en-US" altLang="zh-CN" dirty="0" err="1">
                <a:latin typeface="Times New Roman" pitchFamily="18" charset="0"/>
                <a:ea typeface="隶书" pitchFamily="49" charset="-122"/>
                <a:cs typeface="Times New Roman" pitchFamily="18" charset="0"/>
              </a:rPr>
              <a:t>rchild</a:t>
            </a:r>
            <a:r>
              <a:rPr lang="en-US" altLang="zh-CN" dirty="0">
                <a:latin typeface="Times New Roman" pitchFamily="18" charset="0"/>
                <a:ea typeface="隶书" pitchFamily="49" charset="-122"/>
                <a:cs typeface="Times New Roman" pitchFamily="18" charset="0"/>
              </a:rPr>
              <a:t>);    </a:t>
            </a:r>
            <a:endParaRPr lang="zh-CN" altLang="zh-CN" dirty="0">
              <a:latin typeface="Times New Roman" pitchFamily="18" charset="0"/>
              <a:ea typeface="隶书" pitchFamily="49" charset="-122"/>
              <a:cs typeface="Times New Roman" pitchFamily="18" charset="0"/>
            </a:endParaRPr>
          </a:p>
          <a:p>
            <a:pPr>
              <a:spcBef>
                <a:spcPct val="0"/>
              </a:spcBef>
            </a:pPr>
            <a:r>
              <a:rPr lang="en-US" altLang="zh-CN" dirty="0">
                <a:latin typeface="Times New Roman" pitchFamily="18" charset="0"/>
                <a:ea typeface="隶书" pitchFamily="49" charset="-122"/>
                <a:cs typeface="Times New Roman" pitchFamily="18" charset="0"/>
              </a:rPr>
              <a:t>     }</a:t>
            </a:r>
            <a:endParaRPr lang="zh-CN" altLang="zh-CN" dirty="0">
              <a:latin typeface="Times New Roman" pitchFamily="18" charset="0"/>
              <a:ea typeface="隶书" pitchFamily="49" charset="-122"/>
              <a:cs typeface="Times New Roman" pitchFamily="18" charset="0"/>
            </a:endParaRPr>
          </a:p>
          <a:p>
            <a:pPr>
              <a:spcBef>
                <a:spcPct val="0"/>
              </a:spcBef>
            </a:pPr>
            <a:r>
              <a:rPr lang="en-US" altLang="zh-CN" dirty="0">
                <a:latin typeface="Times New Roman" pitchFamily="18" charset="0"/>
                <a:ea typeface="隶书" pitchFamily="49" charset="-122"/>
                <a:cs typeface="Times New Roman" pitchFamily="18" charset="0"/>
              </a:rPr>
              <a:t>}</a:t>
            </a:r>
            <a:endParaRPr lang="zh-CN" altLang="en-US" dirty="0">
              <a:latin typeface="Times New Roman" pitchFamily="18" charset="0"/>
              <a:ea typeface="隶书" pitchFamily="49" charset="-122"/>
              <a:cs typeface="Times New Roman" pitchFamily="18" charset="0"/>
            </a:endParaRPr>
          </a:p>
        </p:txBody>
      </p:sp>
    </p:spTree>
    <p:extLst>
      <p:ext uri="{BB962C8B-B14F-4D97-AF65-F5344CB8AC3E}">
        <p14:creationId xmlns:p14="http://schemas.microsoft.com/office/powerpoint/2010/main" val="42850439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64CACA9-453D-56A3-AE99-983605F0A9DB}"/>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FE549A8C-A9B3-2826-84FE-5AD6A8F12871}"/>
              </a:ext>
            </a:extLst>
          </p:cNvPr>
          <p:cNvSpPr/>
          <p:nvPr/>
        </p:nvSpPr>
        <p:spPr>
          <a:xfrm>
            <a:off x="3647728" y="118989"/>
            <a:ext cx="569547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7.4 </a:t>
            </a:r>
            <a:r>
              <a:rPr lang="zh-CN" altLang="en-US" sz="3000" b="1" dirty="0">
                <a:latin typeface="黑体" pitchFamily="49" charset="-122"/>
                <a:ea typeface="黑体" pitchFamily="49" charset="-122"/>
                <a:cs typeface="经典粗黑简" pitchFamily="49" charset="-122"/>
              </a:rPr>
              <a:t>二叉树基本运算及其实现</a:t>
            </a:r>
          </a:p>
        </p:txBody>
      </p:sp>
      <p:sp>
        <p:nvSpPr>
          <p:cNvPr id="19" name="Rectangle 2">
            <a:extLst>
              <a:ext uri="{FF2B5EF4-FFF2-40B4-BE49-F238E27FC236}">
                <a16:creationId xmlns:a16="http://schemas.microsoft.com/office/drawing/2014/main" xmlns="" id="{2E42B1B4-D0B4-E682-F1FF-2E1B6E216BE3}"/>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7.4.1 </a:t>
            </a:r>
            <a:r>
              <a:rPr lang="zh-CN" altLang="en-US" dirty="0"/>
              <a:t>二叉树的基本运算概述</a:t>
            </a:r>
          </a:p>
        </p:txBody>
      </p:sp>
      <p:cxnSp>
        <p:nvCxnSpPr>
          <p:cNvPr id="20" name="直接连接符 19">
            <a:extLst>
              <a:ext uri="{FF2B5EF4-FFF2-40B4-BE49-F238E27FC236}">
                <a16:creationId xmlns:a16="http://schemas.microsoft.com/office/drawing/2014/main" xmlns="" id="{2196FAB7-7C95-048E-B4BB-44A05B385B4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4">
            <a:extLst>
              <a:ext uri="{FF2B5EF4-FFF2-40B4-BE49-F238E27FC236}">
                <a16:creationId xmlns:a16="http://schemas.microsoft.com/office/drawing/2014/main" xmlns="" id="{2C658EEC-C241-F74C-818F-F5447D91D778}"/>
              </a:ext>
            </a:extLst>
          </p:cNvPr>
          <p:cNvSpPr txBox="1">
            <a:spLocks noChangeArrowheads="1"/>
          </p:cNvSpPr>
          <p:nvPr/>
        </p:nvSpPr>
        <p:spPr bwMode="auto">
          <a:xfrm>
            <a:off x="1055440" y="1537336"/>
            <a:ext cx="5079976" cy="400110"/>
          </a:xfrm>
          <a:prstGeom prst="rect">
            <a:avLst/>
          </a:prstGeom>
          <a:ln>
            <a:headEnd/>
            <a:tailEnd type="none" w="med" len="lg"/>
          </a:ln>
        </p:spPr>
        <p:style>
          <a:lnRef idx="1">
            <a:schemeClr val="accent5"/>
          </a:lnRef>
          <a:fillRef idx="3">
            <a:schemeClr val="accent5"/>
          </a:fillRef>
          <a:effectRef idx="2">
            <a:schemeClr val="accent5"/>
          </a:effectRef>
          <a:fontRef idx="minor">
            <a:schemeClr val="lt1"/>
          </a:fontRef>
        </p:style>
        <p:txBody>
          <a:bodyPr wrap="square">
            <a:spAutoFit/>
          </a:bodyPr>
          <a:lstStyle/>
          <a:p>
            <a:pPr>
              <a:spcBef>
                <a:spcPct val="50000"/>
              </a:spcBef>
            </a:pPr>
            <a:r>
              <a:rPr kumimoji="1" lang="en-US" altLang="zh-CN" sz="2000" dirty="0">
                <a:solidFill>
                  <a:schemeClr val="bg1"/>
                </a:solidFill>
                <a:latin typeface="Consolas" pitchFamily="49" charset="0"/>
                <a:ea typeface="华文中宋" pitchFamily="2" charset="-122"/>
                <a:cs typeface="Consolas" pitchFamily="49" charset="0"/>
              </a:rPr>
              <a:t>2</a:t>
            </a:r>
            <a:r>
              <a:rPr kumimoji="1" lang="zh-CN" altLang="en-US" sz="2000" dirty="0">
                <a:solidFill>
                  <a:schemeClr val="bg1"/>
                </a:solidFill>
                <a:latin typeface="Consolas" pitchFamily="49" charset="0"/>
                <a:ea typeface="华文中宋" pitchFamily="2" charset="-122"/>
                <a:cs typeface="Consolas" pitchFamily="49" charset="0"/>
              </a:rPr>
              <a:t>、</a:t>
            </a:r>
            <a:r>
              <a:rPr kumimoji="1" lang="zh-CN" altLang="en-US" sz="2000" dirty="0">
                <a:latin typeface="Consolas" pitchFamily="49" charset="0"/>
                <a:ea typeface="仿宋" pitchFamily="49" charset="-122"/>
                <a:cs typeface="Consolas" pitchFamily="49" charset="0"/>
              </a:rPr>
              <a:t>销毁二叉树</a:t>
            </a:r>
            <a:r>
              <a:rPr kumimoji="1" lang="en-US" altLang="zh-CN" sz="2000" dirty="0" err="1">
                <a:solidFill>
                  <a:srgbClr val="FF0000"/>
                </a:solidFill>
                <a:latin typeface="Consolas" pitchFamily="49" charset="0"/>
                <a:ea typeface="仿宋" pitchFamily="49" charset="-122"/>
              </a:rPr>
              <a:t>DestroyBTree</a:t>
            </a:r>
            <a:r>
              <a:rPr kumimoji="1" lang="en-US" altLang="zh-CN" sz="2000" dirty="0">
                <a:solidFill>
                  <a:srgbClr val="FF0000"/>
                </a:solidFill>
                <a:latin typeface="Consolas" pitchFamily="49" charset="0"/>
                <a:ea typeface="仿宋" pitchFamily="49" charset="-122"/>
              </a:rPr>
              <a:t>(*b)</a:t>
            </a:r>
            <a:endParaRPr lang="en-US" altLang="zh-CN" sz="2000" dirty="0">
              <a:solidFill>
                <a:schemeClr val="bg1"/>
              </a:solidFill>
              <a:latin typeface="Consolas" pitchFamily="49" charset="0"/>
              <a:ea typeface="华文中宋" pitchFamily="2" charset="-122"/>
              <a:cs typeface="Consolas" pitchFamily="49" charset="0"/>
            </a:endParaRPr>
          </a:p>
        </p:txBody>
      </p:sp>
      <p:sp>
        <p:nvSpPr>
          <p:cNvPr id="3" name="Text Box 2">
            <a:extLst>
              <a:ext uri="{FF2B5EF4-FFF2-40B4-BE49-F238E27FC236}">
                <a16:creationId xmlns:a16="http://schemas.microsoft.com/office/drawing/2014/main" xmlns="" id="{AD8DB087-D0AC-DDC4-9568-9885C78718D2}"/>
              </a:ext>
            </a:extLst>
          </p:cNvPr>
          <p:cNvSpPr txBox="1">
            <a:spLocks noChangeArrowheads="1"/>
          </p:cNvSpPr>
          <p:nvPr/>
        </p:nvSpPr>
        <p:spPr bwMode="auto">
          <a:xfrm>
            <a:off x="1004571" y="1929357"/>
            <a:ext cx="10755079" cy="827021"/>
          </a:xfrm>
          <a:prstGeom prst="rect">
            <a:avLst/>
          </a:prstGeom>
          <a:noFill/>
          <a:ln w="9525">
            <a:noFill/>
            <a:miter lim="800000"/>
            <a:headEnd/>
            <a:tailEnd/>
          </a:ln>
          <a:effectLst/>
        </p:spPr>
        <p:txBody>
          <a:bodyPr wrap="square">
            <a:spAutoFit/>
          </a:bodyPr>
          <a:lstStyle/>
          <a:p>
            <a:pPr algn="just">
              <a:lnSpc>
                <a:spcPts val="3000"/>
              </a:lnSpc>
              <a:spcBef>
                <a:spcPts val="0"/>
              </a:spcBef>
            </a:pPr>
            <a:r>
              <a:rPr kumimoji="1" lang="zh-CN" altLang="en-US" sz="2000" dirty="0">
                <a:latin typeface="Consolas" pitchFamily="49" charset="0"/>
                <a:ea typeface="楷体" pitchFamily="49" charset="-122"/>
                <a:cs typeface="Consolas" pitchFamily="49" charset="0"/>
              </a:rPr>
              <a:t>   设</a:t>
            </a:r>
            <a:r>
              <a:rPr kumimoji="1" lang="en-US" altLang="zh-CN" sz="2000" i="1" dirty="0">
                <a:latin typeface="Consolas" pitchFamily="49" charset="0"/>
                <a:ea typeface="楷体" pitchFamily="49" charset="-122"/>
                <a:cs typeface="Consolas" pitchFamily="49" charset="0"/>
              </a:rPr>
              <a:t>f</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en-US" altLang="zh-CN" sz="2000" dirty="0">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销毁二叉链</a:t>
            </a:r>
            <a:r>
              <a:rPr kumimoji="1" lang="en-US" altLang="zh-CN" sz="2000" i="1" dirty="0">
                <a:latin typeface="Consolas" pitchFamily="49" charset="0"/>
                <a:ea typeface="楷体" pitchFamily="49" charset="-122"/>
                <a:cs typeface="Consolas" pitchFamily="49" charset="0"/>
              </a:rPr>
              <a:t>b</a:t>
            </a:r>
            <a:r>
              <a:rPr kumimoji="1" lang="zh-CN" altLang="en-US" sz="2000" dirty="0">
                <a:latin typeface="Consolas" pitchFamily="49" charset="0"/>
                <a:ea typeface="楷体" pitchFamily="49" charset="-122"/>
                <a:cs typeface="Consolas" pitchFamily="49" charset="0"/>
              </a:rPr>
              <a:t>：</a:t>
            </a:r>
            <a:r>
              <a:rPr kumimoji="1" lang="zh-CN" altLang="en-US" sz="2000" dirty="0">
                <a:solidFill>
                  <a:srgbClr val="FF00FF"/>
                </a:solidFill>
                <a:latin typeface="Consolas" pitchFamily="49" charset="0"/>
                <a:ea typeface="楷体" pitchFamily="49" charset="-122"/>
                <a:cs typeface="Consolas" pitchFamily="49" charset="0"/>
              </a:rPr>
              <a:t>大问题</a:t>
            </a:r>
            <a:r>
              <a:rPr kumimoji="1" lang="zh-CN" altLang="en-US" sz="2000" dirty="0">
                <a:latin typeface="Consolas" pitchFamily="49" charset="0"/>
                <a:ea typeface="楷体" pitchFamily="49" charset="-122"/>
                <a:cs typeface="Consolas" pitchFamily="49" charset="0"/>
              </a:rPr>
              <a:t>。则</a:t>
            </a:r>
            <a:r>
              <a:rPr kumimoji="1" lang="en-US" altLang="zh-CN" sz="2000" i="1" dirty="0">
                <a:latin typeface="Consolas" pitchFamily="49" charset="0"/>
                <a:ea typeface="楷体" pitchFamily="49" charset="-122"/>
                <a:cs typeface="Consolas" pitchFamily="49" charset="0"/>
              </a:rPr>
              <a:t>f</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en-US" altLang="zh-CN" sz="2000" dirty="0">
                <a:latin typeface="Consolas" pitchFamily="49" charset="0"/>
                <a:ea typeface="+mn-ea"/>
                <a:cs typeface="Consolas" pitchFamily="49" charset="0"/>
              </a:rPr>
              <a:t>-</a:t>
            </a:r>
            <a:r>
              <a:rPr kumimoji="1" lang="en-US" altLang="zh-CN" sz="2000" dirty="0">
                <a:latin typeface="Consolas" pitchFamily="49" charset="0"/>
                <a:ea typeface="楷体" pitchFamily="49" charset="-122"/>
                <a:cs typeface="Consolas" pitchFamily="49" charset="0"/>
              </a:rPr>
              <a:t>&gt;</a:t>
            </a:r>
            <a:r>
              <a:rPr kumimoji="1" lang="en-US" altLang="zh-CN" sz="2000" dirty="0" err="1">
                <a:latin typeface="Consolas" pitchFamily="49" charset="0"/>
                <a:ea typeface="楷体" pitchFamily="49" charset="-122"/>
                <a:cs typeface="Consolas" pitchFamily="49" charset="0"/>
              </a:rPr>
              <a:t>lchild</a:t>
            </a:r>
            <a:r>
              <a:rPr kumimoji="1" lang="en-US" altLang="zh-CN" sz="2000" dirty="0">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销毁左子树，</a:t>
            </a:r>
            <a:r>
              <a:rPr kumimoji="1" lang="en-US" altLang="zh-CN" sz="2000" i="1" dirty="0">
                <a:latin typeface="Consolas" pitchFamily="49" charset="0"/>
                <a:ea typeface="楷体" pitchFamily="49" charset="-122"/>
                <a:cs typeface="Consolas" pitchFamily="49" charset="0"/>
              </a:rPr>
              <a:t> f</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en-US" altLang="zh-CN" sz="2000" dirty="0">
                <a:latin typeface="Consolas" pitchFamily="49" charset="0"/>
                <a:cs typeface="Consolas" pitchFamily="49" charset="0"/>
              </a:rPr>
              <a:t>-</a:t>
            </a:r>
            <a:r>
              <a:rPr kumimoji="1" lang="en-US" altLang="zh-CN" sz="2000" dirty="0">
                <a:latin typeface="Consolas" pitchFamily="49" charset="0"/>
                <a:ea typeface="楷体" pitchFamily="49" charset="-122"/>
                <a:cs typeface="Consolas" pitchFamily="49" charset="0"/>
              </a:rPr>
              <a:t>&gt;</a:t>
            </a:r>
            <a:r>
              <a:rPr kumimoji="1" lang="en-US" altLang="zh-CN" sz="2000" dirty="0" err="1">
                <a:latin typeface="Consolas" pitchFamily="49" charset="0"/>
                <a:ea typeface="楷体" pitchFamily="49" charset="-122"/>
                <a:cs typeface="Consolas" pitchFamily="49" charset="0"/>
              </a:rPr>
              <a:t>rchild</a:t>
            </a:r>
            <a:r>
              <a:rPr kumimoji="1" lang="en-US" altLang="zh-CN" sz="2000" dirty="0">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销毁右子树：</a:t>
            </a:r>
            <a:r>
              <a:rPr kumimoji="1" lang="zh-CN" altLang="en-US" sz="2000" dirty="0">
                <a:solidFill>
                  <a:srgbClr val="FF00FF"/>
                </a:solidFill>
                <a:latin typeface="Consolas" pitchFamily="49" charset="0"/>
                <a:ea typeface="楷体" pitchFamily="49" charset="-122"/>
                <a:cs typeface="Consolas" pitchFamily="49" charset="0"/>
              </a:rPr>
              <a:t>两个小问题</a:t>
            </a:r>
            <a:r>
              <a:rPr kumimoji="1" lang="zh-CN" altLang="en-US" sz="2000" dirty="0">
                <a:latin typeface="Consolas" pitchFamily="49" charset="0"/>
                <a:ea typeface="楷体" pitchFamily="49" charset="-122"/>
                <a:cs typeface="Consolas" pitchFamily="49" charset="0"/>
              </a:rPr>
              <a:t>。</a:t>
            </a:r>
          </a:p>
        </p:txBody>
      </p:sp>
      <p:grpSp>
        <p:nvGrpSpPr>
          <p:cNvPr id="4" name="组合 16">
            <a:extLst>
              <a:ext uri="{FF2B5EF4-FFF2-40B4-BE49-F238E27FC236}">
                <a16:creationId xmlns:a16="http://schemas.microsoft.com/office/drawing/2014/main" xmlns="" id="{C1365AAA-852F-A3F1-6908-A6AED4E5C1F6}"/>
              </a:ext>
            </a:extLst>
          </p:cNvPr>
          <p:cNvGrpSpPr/>
          <p:nvPr/>
        </p:nvGrpSpPr>
        <p:grpSpPr>
          <a:xfrm>
            <a:off x="3863752" y="2506871"/>
            <a:ext cx="3814762" cy="2674382"/>
            <a:chOff x="1857356" y="2143116"/>
            <a:chExt cx="3814762" cy="2674382"/>
          </a:xfrm>
        </p:grpSpPr>
        <p:sp>
          <p:nvSpPr>
            <p:cNvPr id="5" name="Oval 5">
              <a:extLst>
                <a:ext uri="{FF2B5EF4-FFF2-40B4-BE49-F238E27FC236}">
                  <a16:creationId xmlns:a16="http://schemas.microsoft.com/office/drawing/2014/main" xmlns="" id="{3ADDB1F1-9F0A-1A70-A462-3E67BE29A7D5}"/>
                </a:ext>
              </a:extLst>
            </p:cNvPr>
            <p:cNvSpPr>
              <a:spLocks noChangeArrowheads="1"/>
            </p:cNvSpPr>
            <p:nvPr/>
          </p:nvSpPr>
          <p:spPr bwMode="auto">
            <a:xfrm>
              <a:off x="3390881" y="2600316"/>
              <a:ext cx="863600" cy="504825"/>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i="1" dirty="0">
                  <a:solidFill>
                    <a:srgbClr val="3333FF"/>
                  </a:solidFill>
                  <a:latin typeface="Consolas" pitchFamily="49" charset="0"/>
                  <a:cs typeface="Consolas" pitchFamily="49" charset="0"/>
                </a:rPr>
                <a:t>N</a:t>
              </a:r>
              <a:endParaRPr lang="zh-CN" altLang="en-US" sz="2000" i="1" dirty="0">
                <a:solidFill>
                  <a:srgbClr val="3333FF"/>
                </a:solidFill>
                <a:latin typeface="Consolas" pitchFamily="49" charset="0"/>
                <a:cs typeface="Consolas" pitchFamily="49" charset="0"/>
              </a:endParaRPr>
            </a:p>
          </p:txBody>
        </p:sp>
        <p:sp>
          <p:nvSpPr>
            <p:cNvPr id="6" name="Arc 6">
              <a:extLst>
                <a:ext uri="{FF2B5EF4-FFF2-40B4-BE49-F238E27FC236}">
                  <a16:creationId xmlns:a16="http://schemas.microsoft.com/office/drawing/2014/main" xmlns="" id="{450F54EA-4A16-1D12-76A5-AD78E4078174}"/>
                </a:ext>
              </a:extLst>
            </p:cNvPr>
            <p:cNvSpPr>
              <a:spLocks/>
            </p:cNvSpPr>
            <p:nvPr/>
          </p:nvSpPr>
          <p:spPr bwMode="auto">
            <a:xfrm>
              <a:off x="3178156" y="2351079"/>
              <a:ext cx="433387" cy="28733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C00FF"/>
              </a:solidFill>
              <a:round/>
              <a:headEnd/>
              <a:tailEnd type="stealth" w="med" len="med"/>
            </a:ln>
            <a:effectLst/>
          </p:spPr>
          <p:txBody>
            <a:bodyPr wrap="none" anchor="ctr"/>
            <a:lstStyle/>
            <a:p>
              <a:endParaRPr lang="zh-CN" altLang="en-US">
                <a:latin typeface="Consolas" pitchFamily="49" charset="0"/>
                <a:cs typeface="Consolas" pitchFamily="49" charset="0"/>
              </a:endParaRPr>
            </a:p>
          </p:txBody>
        </p:sp>
        <p:sp>
          <p:nvSpPr>
            <p:cNvPr id="7" name="AutoShape 7">
              <a:extLst>
                <a:ext uri="{FF2B5EF4-FFF2-40B4-BE49-F238E27FC236}">
                  <a16:creationId xmlns:a16="http://schemas.microsoft.com/office/drawing/2014/main" xmlns="" id="{7B80BA74-1020-961F-49AC-A3F27C4041AB}"/>
                </a:ext>
              </a:extLst>
            </p:cNvPr>
            <p:cNvSpPr>
              <a:spLocks noChangeArrowheads="1"/>
            </p:cNvSpPr>
            <p:nvPr/>
          </p:nvSpPr>
          <p:spPr bwMode="auto">
            <a:xfrm>
              <a:off x="2289156" y="3536941"/>
              <a:ext cx="1150937" cy="792163"/>
            </a:xfrm>
            <a:prstGeom prst="triangle">
              <a:avLst>
                <a:gd name="adj" fmla="val 50000"/>
              </a:avLst>
            </a:prstGeom>
            <a:solidFill>
              <a:schemeClr val="accent2"/>
            </a:solidFill>
            <a:ln w="9525" algn="ctr">
              <a:solidFill>
                <a:schemeClr val="tx1"/>
              </a:solidFill>
              <a:miter lim="800000"/>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8" name="AutoShape 8">
              <a:extLst>
                <a:ext uri="{FF2B5EF4-FFF2-40B4-BE49-F238E27FC236}">
                  <a16:creationId xmlns:a16="http://schemas.microsoft.com/office/drawing/2014/main" xmlns="" id="{267614FB-CE9C-5D36-71A7-7E82D9651D9E}"/>
                </a:ext>
              </a:extLst>
            </p:cNvPr>
            <p:cNvSpPr>
              <a:spLocks noChangeArrowheads="1"/>
            </p:cNvSpPr>
            <p:nvPr/>
          </p:nvSpPr>
          <p:spPr bwMode="auto">
            <a:xfrm>
              <a:off x="4138593" y="3536941"/>
              <a:ext cx="1150937" cy="792163"/>
            </a:xfrm>
            <a:prstGeom prst="triangle">
              <a:avLst>
                <a:gd name="adj" fmla="val 50000"/>
              </a:avLst>
            </a:prstGeom>
            <a:solidFill>
              <a:schemeClr val="accent2"/>
            </a:solidFill>
            <a:ln w="9525" algn="ctr">
              <a:solidFill>
                <a:schemeClr val="tx1"/>
              </a:solidFill>
              <a:miter lim="800000"/>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9" name="Line 10">
              <a:extLst>
                <a:ext uri="{FF2B5EF4-FFF2-40B4-BE49-F238E27FC236}">
                  <a16:creationId xmlns:a16="http://schemas.microsoft.com/office/drawing/2014/main" xmlns="" id="{813D94EA-14BA-BC13-6ECA-8E71CAA0B96F}"/>
                </a:ext>
              </a:extLst>
            </p:cNvPr>
            <p:cNvSpPr>
              <a:spLocks noChangeShapeType="1"/>
            </p:cNvSpPr>
            <p:nvPr/>
          </p:nvSpPr>
          <p:spPr bwMode="auto">
            <a:xfrm flipH="1">
              <a:off x="2936856" y="3044816"/>
              <a:ext cx="647700" cy="649288"/>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0" name="Line 11">
              <a:extLst>
                <a:ext uri="{FF2B5EF4-FFF2-40B4-BE49-F238E27FC236}">
                  <a16:creationId xmlns:a16="http://schemas.microsoft.com/office/drawing/2014/main" xmlns="" id="{50B57F28-6E30-0EE2-5620-1335F628B653}"/>
                </a:ext>
              </a:extLst>
            </p:cNvPr>
            <p:cNvSpPr>
              <a:spLocks noChangeShapeType="1"/>
            </p:cNvSpPr>
            <p:nvPr/>
          </p:nvSpPr>
          <p:spPr bwMode="auto">
            <a:xfrm>
              <a:off x="4100493" y="3032116"/>
              <a:ext cx="555645" cy="611198"/>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1" name="Text Box 12">
              <a:extLst>
                <a:ext uri="{FF2B5EF4-FFF2-40B4-BE49-F238E27FC236}">
                  <a16:creationId xmlns:a16="http://schemas.microsoft.com/office/drawing/2014/main" xmlns="" id="{8B437099-B2A3-94CE-3B50-B5A0ACE68EAA}"/>
                </a:ext>
              </a:extLst>
            </p:cNvPr>
            <p:cNvSpPr txBox="1">
              <a:spLocks noChangeArrowheads="1"/>
            </p:cNvSpPr>
            <p:nvPr/>
          </p:nvSpPr>
          <p:spPr bwMode="auto">
            <a:xfrm>
              <a:off x="2649518" y="2143116"/>
              <a:ext cx="719137" cy="400110"/>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i="1" dirty="0">
                  <a:latin typeface="Consolas" pitchFamily="49" charset="0"/>
                  <a:cs typeface="Consolas" pitchFamily="49" charset="0"/>
                </a:rPr>
                <a:t>b</a:t>
              </a:r>
            </a:p>
          </p:txBody>
        </p:sp>
        <p:sp>
          <p:nvSpPr>
            <p:cNvPr id="12" name="Text Box 13">
              <a:extLst>
                <a:ext uri="{FF2B5EF4-FFF2-40B4-BE49-F238E27FC236}">
                  <a16:creationId xmlns:a16="http://schemas.microsoft.com/office/drawing/2014/main" xmlns="" id="{C4A072AF-EA0C-8DE6-52EC-62590056A1D6}"/>
                </a:ext>
              </a:extLst>
            </p:cNvPr>
            <p:cNvSpPr txBox="1">
              <a:spLocks noChangeArrowheads="1"/>
            </p:cNvSpPr>
            <p:nvPr/>
          </p:nvSpPr>
          <p:spPr bwMode="auto">
            <a:xfrm>
              <a:off x="1857356" y="4448166"/>
              <a:ext cx="1727200" cy="369332"/>
            </a:xfrm>
            <a:prstGeom prst="rect">
              <a:avLst/>
            </a:prstGeom>
            <a:noFill/>
            <a:ln w="28575" algn="ctr">
              <a:noFill/>
              <a:miter lim="800000"/>
              <a:headEnd/>
              <a:tailEnd type="none" w="med" len="lg"/>
            </a:ln>
            <a:effectLst/>
          </p:spPr>
          <p:txBody>
            <a:bodyPr>
              <a:spAutoFit/>
            </a:bodyPr>
            <a:lstStyle/>
            <a:p>
              <a:pPr>
                <a:spcBef>
                  <a:spcPct val="50000"/>
                </a:spcBef>
              </a:pPr>
              <a:r>
                <a:rPr lang="en-US" altLang="zh-CN" sz="1800" i="1">
                  <a:latin typeface="Consolas" pitchFamily="49" charset="0"/>
                  <a:cs typeface="Consolas" pitchFamily="49" charset="0"/>
                </a:rPr>
                <a:t>b</a:t>
              </a:r>
              <a:r>
                <a:rPr lang="en-US" altLang="zh-CN" sz="1800">
                  <a:latin typeface="Consolas" pitchFamily="49" charset="0"/>
                  <a:ea typeface="宋体" charset="-122"/>
                  <a:cs typeface="Consolas" pitchFamily="49" charset="0"/>
                </a:rPr>
                <a:t>-</a:t>
              </a:r>
              <a:r>
                <a:rPr lang="en-US" altLang="zh-CN" sz="1800">
                  <a:latin typeface="Consolas" pitchFamily="49" charset="0"/>
                  <a:cs typeface="Consolas" pitchFamily="49" charset="0"/>
                </a:rPr>
                <a:t>&gt;lchild</a:t>
              </a:r>
            </a:p>
          </p:txBody>
        </p:sp>
        <p:sp>
          <p:nvSpPr>
            <p:cNvPr id="13" name="Text Box 14">
              <a:extLst>
                <a:ext uri="{FF2B5EF4-FFF2-40B4-BE49-F238E27FC236}">
                  <a16:creationId xmlns:a16="http://schemas.microsoft.com/office/drawing/2014/main" xmlns="" id="{906151FE-4E2E-FADF-A723-E27E55D5FEE1}"/>
                </a:ext>
              </a:extLst>
            </p:cNvPr>
            <p:cNvSpPr txBox="1">
              <a:spLocks noChangeArrowheads="1"/>
            </p:cNvSpPr>
            <p:nvPr/>
          </p:nvSpPr>
          <p:spPr bwMode="auto">
            <a:xfrm>
              <a:off x="3944918" y="4448166"/>
              <a:ext cx="1727200" cy="369332"/>
            </a:xfrm>
            <a:prstGeom prst="rect">
              <a:avLst/>
            </a:prstGeom>
            <a:noFill/>
            <a:ln w="28575" algn="ctr">
              <a:noFill/>
              <a:miter lim="800000"/>
              <a:headEnd/>
              <a:tailEnd type="none" w="med" len="lg"/>
            </a:ln>
            <a:effectLst/>
          </p:spPr>
          <p:txBody>
            <a:bodyPr>
              <a:spAutoFit/>
            </a:bodyPr>
            <a:lstStyle/>
            <a:p>
              <a:pPr>
                <a:spcBef>
                  <a:spcPct val="50000"/>
                </a:spcBef>
              </a:pPr>
              <a:r>
                <a:rPr lang="en-US" altLang="zh-CN" sz="1800" i="1" dirty="0">
                  <a:latin typeface="Consolas" pitchFamily="49" charset="0"/>
                  <a:cs typeface="Consolas" pitchFamily="49" charset="0"/>
                </a:rPr>
                <a:t>b</a:t>
              </a:r>
              <a:r>
                <a:rPr lang="en-US" altLang="zh-CN" sz="1800" dirty="0">
                  <a:latin typeface="Consolas" pitchFamily="49" charset="0"/>
                  <a:ea typeface="宋体" charset="-122"/>
                  <a:cs typeface="Consolas" pitchFamily="49" charset="0"/>
                </a:rPr>
                <a:t>-</a:t>
              </a:r>
              <a:r>
                <a:rPr lang="en-US" altLang="zh-CN" sz="1800" dirty="0">
                  <a:latin typeface="Consolas" pitchFamily="49" charset="0"/>
                  <a:cs typeface="Consolas" pitchFamily="49" charset="0"/>
                </a:rPr>
                <a:t>&gt;</a:t>
              </a:r>
              <a:r>
                <a:rPr lang="en-US" altLang="zh-CN" sz="1800" dirty="0" err="1">
                  <a:latin typeface="Consolas" pitchFamily="49" charset="0"/>
                  <a:cs typeface="Consolas" pitchFamily="49" charset="0"/>
                </a:rPr>
                <a:t>rchild</a:t>
              </a:r>
              <a:endParaRPr lang="en-US" altLang="zh-CN" sz="1800" dirty="0">
                <a:latin typeface="Consolas" pitchFamily="49" charset="0"/>
                <a:cs typeface="Consolas" pitchFamily="49" charset="0"/>
              </a:endParaRPr>
            </a:p>
          </p:txBody>
        </p:sp>
      </p:grpSp>
      <p:sp>
        <p:nvSpPr>
          <p:cNvPr id="14" name="TextBox 17">
            <a:extLst>
              <a:ext uri="{FF2B5EF4-FFF2-40B4-BE49-F238E27FC236}">
                <a16:creationId xmlns:a16="http://schemas.microsoft.com/office/drawing/2014/main" xmlns="" id="{0CF56C6D-6612-5070-3EA9-A0DA097B5F12}"/>
              </a:ext>
            </a:extLst>
          </p:cNvPr>
          <p:cNvSpPr txBox="1"/>
          <p:nvPr/>
        </p:nvSpPr>
        <p:spPr>
          <a:xfrm>
            <a:off x="6149768" y="2578309"/>
            <a:ext cx="1714512" cy="369332"/>
          </a:xfrm>
          <a:prstGeom prst="rect">
            <a:avLst/>
          </a:prstGeom>
          <a:noFill/>
        </p:spPr>
        <p:txBody>
          <a:bodyPr wrap="square" rtlCol="0">
            <a:spAutoFit/>
          </a:bodyPr>
          <a:lstStyle/>
          <a:p>
            <a:pPr algn="l"/>
            <a:r>
              <a:rPr kumimoji="1" lang="en-US" altLang="zh-CN" sz="1800" i="1">
                <a:latin typeface="Consolas" pitchFamily="49" charset="0"/>
                <a:ea typeface="仿宋" pitchFamily="49" charset="-122"/>
                <a:cs typeface="Consolas" pitchFamily="49" charset="0"/>
              </a:rPr>
              <a:t>f</a:t>
            </a:r>
            <a:r>
              <a:rPr kumimoji="1" lang="en-US" altLang="zh-CN"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b</a:t>
            </a:r>
            <a:r>
              <a:rPr kumimoji="1" lang="en-US" altLang="zh-CN" sz="1800">
                <a:latin typeface="Consolas" pitchFamily="49" charset="0"/>
                <a:ea typeface="仿宋" pitchFamily="49" charset="-122"/>
                <a:cs typeface="Consolas" pitchFamily="49" charset="0"/>
              </a:rPr>
              <a:t>)</a:t>
            </a:r>
            <a:r>
              <a:rPr lang="zh-CN" altLang="en-US" sz="180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大问题</a:t>
            </a:r>
          </a:p>
        </p:txBody>
      </p:sp>
      <p:sp>
        <p:nvSpPr>
          <p:cNvPr id="15" name="TextBox 18">
            <a:extLst>
              <a:ext uri="{FF2B5EF4-FFF2-40B4-BE49-F238E27FC236}">
                <a16:creationId xmlns:a16="http://schemas.microsoft.com/office/drawing/2014/main" xmlns="" id="{B40D2D01-6F29-399F-A792-F8FBCAA87F62}"/>
              </a:ext>
            </a:extLst>
          </p:cNvPr>
          <p:cNvSpPr txBox="1"/>
          <p:nvPr/>
        </p:nvSpPr>
        <p:spPr>
          <a:xfrm>
            <a:off x="1792050" y="4035587"/>
            <a:ext cx="2857520" cy="369332"/>
          </a:xfrm>
          <a:prstGeom prst="rect">
            <a:avLst/>
          </a:prstGeom>
          <a:noFill/>
        </p:spPr>
        <p:txBody>
          <a:bodyPr wrap="square" rtlCol="0">
            <a:spAutoFit/>
          </a:bodyPr>
          <a:lstStyle/>
          <a:p>
            <a:pPr algn="l"/>
            <a:r>
              <a:rPr kumimoji="1" lang="en-US" altLang="zh-CN" sz="1800" i="1" dirty="0">
                <a:latin typeface="Consolas" pitchFamily="49" charset="0"/>
                <a:ea typeface="仿宋" pitchFamily="49" charset="-122"/>
                <a:cs typeface="Consolas" pitchFamily="49" charset="0"/>
              </a:rPr>
              <a:t>f</a:t>
            </a:r>
            <a:r>
              <a:rPr kumimoji="1" lang="en-US" altLang="zh-CN" sz="1800" dirty="0">
                <a:latin typeface="Consolas" pitchFamily="49" charset="0"/>
                <a:ea typeface="仿宋" pitchFamily="49" charset="-122"/>
                <a:cs typeface="Consolas" pitchFamily="49" charset="0"/>
              </a:rPr>
              <a:t>(</a:t>
            </a:r>
            <a:r>
              <a:rPr kumimoji="1" lang="en-US" altLang="zh-CN" sz="1800" i="1" dirty="0">
                <a:latin typeface="Consolas" pitchFamily="49" charset="0"/>
                <a:ea typeface="仿宋" pitchFamily="49" charset="-122"/>
                <a:cs typeface="Consolas" pitchFamily="49" charset="0"/>
              </a:rPr>
              <a:t>b</a:t>
            </a:r>
            <a:r>
              <a:rPr kumimoji="1" lang="en-US" altLang="zh-CN" sz="1800" dirty="0">
                <a:latin typeface="Consolas" pitchFamily="49" charset="0"/>
                <a:ea typeface="仿宋" pitchFamily="49" charset="-122"/>
                <a:cs typeface="Consolas" pitchFamily="49" charset="0"/>
              </a:rPr>
              <a:t>-</a:t>
            </a:r>
            <a:r>
              <a:rPr kumimoji="1" lang="en-US" altLang="zh-CN" sz="1800">
                <a:latin typeface="Consolas" pitchFamily="49" charset="0"/>
                <a:ea typeface="仿宋" pitchFamily="49" charset="-122"/>
                <a:cs typeface="Consolas" pitchFamily="49" charset="0"/>
              </a:rPr>
              <a:t>&gt;lchild)</a:t>
            </a:r>
            <a:r>
              <a:rPr lang="zh-CN" altLang="en-US" sz="180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小问题</a:t>
            </a:r>
          </a:p>
        </p:txBody>
      </p:sp>
      <p:sp>
        <p:nvSpPr>
          <p:cNvPr id="16" name="TextBox 19">
            <a:extLst>
              <a:ext uri="{FF2B5EF4-FFF2-40B4-BE49-F238E27FC236}">
                <a16:creationId xmlns:a16="http://schemas.microsoft.com/office/drawing/2014/main" xmlns="" id="{65008EE0-1DF8-25D9-50FB-814BD05C18FE}"/>
              </a:ext>
            </a:extLst>
          </p:cNvPr>
          <p:cNvSpPr txBox="1"/>
          <p:nvPr/>
        </p:nvSpPr>
        <p:spPr>
          <a:xfrm>
            <a:off x="7221338" y="4007069"/>
            <a:ext cx="2786082" cy="369332"/>
          </a:xfrm>
          <a:prstGeom prst="rect">
            <a:avLst/>
          </a:prstGeom>
          <a:noFill/>
        </p:spPr>
        <p:txBody>
          <a:bodyPr wrap="square" rtlCol="0">
            <a:spAutoFit/>
          </a:bodyPr>
          <a:lstStyle/>
          <a:p>
            <a:pPr algn="l"/>
            <a:r>
              <a:rPr kumimoji="1" lang="en-US" altLang="zh-CN" sz="1800" i="1" dirty="0">
                <a:latin typeface="Consolas" pitchFamily="49" charset="0"/>
                <a:ea typeface="仿宋" pitchFamily="49" charset="-122"/>
                <a:cs typeface="Consolas" pitchFamily="49" charset="0"/>
              </a:rPr>
              <a:t>f</a:t>
            </a:r>
            <a:r>
              <a:rPr kumimoji="1" lang="en-US" altLang="zh-CN" sz="1800" dirty="0">
                <a:latin typeface="Consolas" pitchFamily="49" charset="0"/>
                <a:ea typeface="仿宋" pitchFamily="49" charset="-122"/>
                <a:cs typeface="Consolas" pitchFamily="49" charset="0"/>
              </a:rPr>
              <a:t>(</a:t>
            </a:r>
            <a:r>
              <a:rPr kumimoji="1" lang="en-US" altLang="zh-CN" sz="1800" i="1" dirty="0">
                <a:latin typeface="Consolas" pitchFamily="49" charset="0"/>
                <a:ea typeface="仿宋" pitchFamily="49" charset="-122"/>
                <a:cs typeface="Consolas" pitchFamily="49" charset="0"/>
              </a:rPr>
              <a:t>b</a:t>
            </a:r>
            <a:r>
              <a:rPr kumimoji="1" lang="en-US" altLang="zh-CN" sz="1800" dirty="0">
                <a:latin typeface="Consolas" pitchFamily="49" charset="0"/>
                <a:ea typeface="仿宋" pitchFamily="49" charset="-122"/>
                <a:cs typeface="Consolas" pitchFamily="49" charset="0"/>
              </a:rPr>
              <a:t>-</a:t>
            </a:r>
            <a:r>
              <a:rPr kumimoji="1" lang="en-US" altLang="zh-CN" sz="1800">
                <a:latin typeface="Consolas" pitchFamily="49" charset="0"/>
                <a:ea typeface="仿宋" pitchFamily="49" charset="-122"/>
                <a:cs typeface="Consolas" pitchFamily="49" charset="0"/>
              </a:rPr>
              <a:t>&gt;rchild)</a:t>
            </a:r>
            <a:r>
              <a:rPr lang="zh-CN" altLang="en-US" sz="180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小问题</a:t>
            </a:r>
          </a:p>
        </p:txBody>
      </p:sp>
      <p:sp>
        <p:nvSpPr>
          <p:cNvPr id="18" name="TextBox 20">
            <a:extLst>
              <a:ext uri="{FF2B5EF4-FFF2-40B4-BE49-F238E27FC236}">
                <a16:creationId xmlns:a16="http://schemas.microsoft.com/office/drawing/2014/main" xmlns="" id="{D84AB1C2-D6FB-58B5-C735-847839B87B3A}"/>
              </a:ext>
            </a:extLst>
          </p:cNvPr>
          <p:cNvSpPr txBox="1"/>
          <p:nvPr/>
        </p:nvSpPr>
        <p:spPr>
          <a:xfrm>
            <a:off x="1522598" y="5480823"/>
            <a:ext cx="1975636" cy="400110"/>
          </a:xfrm>
          <a:prstGeom prst="rect">
            <a:avLst/>
          </a:prstGeom>
          <a:noFill/>
        </p:spPr>
        <p:txBody>
          <a:bodyPr wrap="square" rtlCol="0">
            <a:spAutoFit/>
          </a:bodyPr>
          <a:lstStyle/>
          <a:p>
            <a:pPr algn="l"/>
            <a:r>
              <a:rPr kumimoji="1" lang="zh-CN" altLang="en-US" sz="2000" dirty="0">
                <a:ea typeface="楷体" pitchFamily="49" charset="-122"/>
                <a:cs typeface="Times New Roman" pitchFamily="18" charset="0"/>
              </a:rPr>
              <a:t>递归模型如下：</a:t>
            </a:r>
            <a:endParaRPr lang="zh-CN" altLang="en-US" sz="2000" dirty="0"/>
          </a:p>
        </p:txBody>
      </p:sp>
      <p:sp>
        <p:nvSpPr>
          <p:cNvPr id="21" name="TextBox 21">
            <a:extLst>
              <a:ext uri="{FF2B5EF4-FFF2-40B4-BE49-F238E27FC236}">
                <a16:creationId xmlns:a16="http://schemas.microsoft.com/office/drawing/2014/main" xmlns="" id="{28B5EE70-BD8F-9A4A-D7B3-DC870F057D0A}"/>
              </a:ext>
            </a:extLst>
          </p:cNvPr>
          <p:cNvSpPr txBox="1"/>
          <p:nvPr/>
        </p:nvSpPr>
        <p:spPr>
          <a:xfrm>
            <a:off x="3498234" y="5333818"/>
            <a:ext cx="7358114" cy="1202994"/>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44000" tIns="108000" rIns="144000" bIns="108000" rtlCol="0">
            <a:spAutoFit/>
          </a:bodyPr>
          <a:lstStyle/>
          <a:p>
            <a:pPr algn="l">
              <a:spcBef>
                <a:spcPts val="600"/>
              </a:spcBef>
            </a:pPr>
            <a:r>
              <a:rPr lang="en-US" sz="1800" i="1">
                <a:solidFill>
                  <a:srgbClr val="FF0000"/>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  ≡  </a:t>
            </a:r>
            <a:r>
              <a:rPr lang="zh-CN" altLang="en-US" sz="1800">
                <a:solidFill>
                  <a:srgbClr val="3333FF"/>
                </a:solidFill>
                <a:latin typeface="Consolas" pitchFamily="49" charset="0"/>
                <a:ea typeface="仿宋" pitchFamily="49" charset="-122"/>
                <a:cs typeface="Consolas" pitchFamily="49" charset="0"/>
              </a:rPr>
              <a:t>不做任何事件</a:t>
            </a:r>
            <a:r>
              <a:rPr lang="en-US" sz="1800" dirty="0">
                <a:solidFill>
                  <a:srgbClr val="3333FF"/>
                </a:solidFill>
                <a:latin typeface="Consolas" pitchFamily="49" charset="0"/>
                <a:ea typeface="仿宋" pitchFamily="49" charset="-122"/>
                <a:cs typeface="Consolas" pitchFamily="49" charset="0"/>
              </a:rPr>
              <a:t>	</a:t>
            </a:r>
            <a:r>
              <a:rPr lang="en-US" sz="1800">
                <a:solidFill>
                  <a:srgbClr val="3333FF"/>
                </a:solidFill>
                <a:latin typeface="Consolas" pitchFamily="49" charset="0"/>
                <a:ea typeface="仿宋" pitchFamily="49" charset="-122"/>
                <a:cs typeface="Consolas" pitchFamily="49" charset="0"/>
              </a:rPr>
              <a:t>			</a:t>
            </a:r>
            <a:r>
              <a:rPr lang="zh-CN" altLang="en-US" sz="1800">
                <a:solidFill>
                  <a:srgbClr val="00B0F0"/>
                </a:solidFill>
                <a:latin typeface="Consolas" pitchFamily="49" charset="0"/>
                <a:ea typeface="仿宋" pitchFamily="49" charset="-122"/>
                <a:cs typeface="Consolas" pitchFamily="49" charset="0"/>
              </a:rPr>
              <a:t>若</a:t>
            </a:r>
            <a:r>
              <a:rPr lang="en-US" sz="1800" i="1">
                <a:solidFill>
                  <a:srgbClr val="00B0F0"/>
                </a:solidFill>
                <a:latin typeface="Consolas" pitchFamily="49" charset="0"/>
                <a:ea typeface="仿宋" pitchFamily="49" charset="-122"/>
                <a:cs typeface="Consolas" pitchFamily="49" charset="0"/>
              </a:rPr>
              <a:t>b</a:t>
            </a:r>
            <a:r>
              <a:rPr lang="en-US" sz="1800">
                <a:solidFill>
                  <a:srgbClr val="00B0F0"/>
                </a:solidFill>
                <a:latin typeface="Consolas" pitchFamily="49" charset="0"/>
                <a:ea typeface="仿宋" pitchFamily="49" charset="-122"/>
                <a:cs typeface="Consolas" pitchFamily="49" charset="0"/>
              </a:rPr>
              <a:t>=NULL</a:t>
            </a:r>
            <a:endParaRPr lang="zh-CN" altLang="en-US" sz="1800" dirty="0">
              <a:solidFill>
                <a:srgbClr val="00B0F0"/>
              </a:solidFill>
              <a:latin typeface="Consolas" pitchFamily="49" charset="0"/>
              <a:ea typeface="仿宋" pitchFamily="49" charset="-122"/>
              <a:cs typeface="Consolas" pitchFamily="49" charset="0"/>
            </a:endParaRPr>
          </a:p>
          <a:p>
            <a:pPr algn="l">
              <a:spcBef>
                <a:spcPts val="600"/>
              </a:spcBef>
            </a:pPr>
            <a:r>
              <a:rPr lang="en-US" sz="1800" i="1">
                <a:solidFill>
                  <a:srgbClr val="FF0000"/>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  ≡   </a:t>
            </a:r>
            <a:r>
              <a:rPr lang="en-US" sz="1800" i="1">
                <a:solidFill>
                  <a:srgbClr val="FF0000"/>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-&gt;</a:t>
            </a:r>
            <a:r>
              <a:rPr lang="en-US" altLang="zh-CN" sz="1800">
                <a:solidFill>
                  <a:srgbClr val="3333FF"/>
                </a:solidFill>
                <a:latin typeface="Consolas" pitchFamily="49" charset="0"/>
                <a:ea typeface="仿宋" pitchFamily="49" charset="-122"/>
                <a:cs typeface="Consolas" pitchFamily="49" charset="0"/>
              </a:rPr>
              <a:t>l</a:t>
            </a:r>
            <a:r>
              <a:rPr lang="en-US" sz="1800">
                <a:solidFill>
                  <a:srgbClr val="3333FF"/>
                </a:solidFill>
                <a:latin typeface="Consolas" pitchFamily="49" charset="0"/>
                <a:ea typeface="仿宋" pitchFamily="49" charset="-122"/>
                <a:cs typeface="Consolas" pitchFamily="49" charset="0"/>
              </a:rPr>
              <a:t>child)</a:t>
            </a:r>
            <a:r>
              <a:rPr lang="zh-CN" altLang="en-US" sz="1800">
                <a:solidFill>
                  <a:srgbClr val="3333FF"/>
                </a:solidFill>
                <a:latin typeface="Consolas" pitchFamily="49" charset="0"/>
                <a:ea typeface="仿宋" pitchFamily="49" charset="-122"/>
                <a:cs typeface="Consolas" pitchFamily="49" charset="0"/>
              </a:rPr>
              <a:t>；</a:t>
            </a:r>
            <a:r>
              <a:rPr lang="en-US" sz="1800" i="1">
                <a:solidFill>
                  <a:srgbClr val="FF0000"/>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-&gt;rchild)</a:t>
            </a:r>
            <a:r>
              <a:rPr lang="zh-CN" altLang="en-US" sz="1800">
                <a:solidFill>
                  <a:srgbClr val="3333FF"/>
                </a:solidFill>
                <a:latin typeface="Consolas" pitchFamily="49" charset="0"/>
                <a:ea typeface="仿宋" pitchFamily="49" charset="-122"/>
                <a:cs typeface="Consolas" pitchFamily="49" charset="0"/>
              </a:rPr>
              <a:t>；</a:t>
            </a:r>
            <a:r>
              <a:rPr lang="en-US" sz="1800">
                <a:solidFill>
                  <a:srgbClr val="3333FF"/>
                </a:solidFill>
                <a:latin typeface="Consolas" pitchFamily="49" charset="0"/>
                <a:ea typeface="仿宋" pitchFamily="49" charset="-122"/>
                <a:cs typeface="Consolas" pitchFamily="49" charset="0"/>
              </a:rPr>
              <a:t>	</a:t>
            </a:r>
            <a:r>
              <a:rPr lang="zh-CN" altLang="en-US" sz="1800">
                <a:solidFill>
                  <a:srgbClr val="00B0F0"/>
                </a:solidFill>
                <a:latin typeface="Consolas" pitchFamily="49" charset="0"/>
                <a:ea typeface="仿宋" pitchFamily="49" charset="-122"/>
                <a:cs typeface="Consolas" pitchFamily="49" charset="0"/>
              </a:rPr>
              <a:t>其他情况</a:t>
            </a:r>
            <a:endParaRPr lang="en-US" altLang="zh-CN" sz="1800">
              <a:solidFill>
                <a:srgbClr val="00B0F0"/>
              </a:solidFill>
              <a:latin typeface="Consolas" pitchFamily="49" charset="0"/>
              <a:ea typeface="仿宋" pitchFamily="49" charset="-122"/>
              <a:cs typeface="Consolas" pitchFamily="49" charset="0"/>
            </a:endParaRPr>
          </a:p>
          <a:p>
            <a:pPr algn="l">
              <a:spcBef>
                <a:spcPts val="600"/>
              </a:spcBef>
            </a:pPr>
            <a:r>
              <a:rPr lang="en-US" altLang="zh-CN" sz="1800">
                <a:solidFill>
                  <a:srgbClr val="3333FF"/>
                </a:solidFill>
                <a:latin typeface="Consolas" pitchFamily="49" charset="0"/>
                <a:ea typeface="仿宋" pitchFamily="49" charset="-122"/>
                <a:cs typeface="Consolas" pitchFamily="49" charset="0"/>
              </a:rPr>
              <a:t>          </a:t>
            </a:r>
            <a:r>
              <a:rPr lang="zh-CN" altLang="en-US" sz="1800">
                <a:solidFill>
                  <a:srgbClr val="3333FF"/>
                </a:solidFill>
                <a:latin typeface="Consolas" pitchFamily="49" charset="0"/>
                <a:ea typeface="仿宋" pitchFamily="49" charset="-122"/>
                <a:cs typeface="Consolas" pitchFamily="49" charset="0"/>
              </a:rPr>
              <a:t>释放</a:t>
            </a:r>
            <a:r>
              <a:rPr lang="en-US" altLang="zh-CN" sz="1800">
                <a:solidFill>
                  <a:srgbClr val="3333FF"/>
                </a:solidFill>
                <a:latin typeface="Consolas" pitchFamily="49" charset="0"/>
                <a:ea typeface="仿宋" pitchFamily="49" charset="-122"/>
                <a:cs typeface="Consolas" pitchFamily="49" charset="0"/>
              </a:rPr>
              <a:t>*</a:t>
            </a:r>
            <a:r>
              <a:rPr lang="en-US" altLang="zh-CN" sz="1800" i="1">
                <a:solidFill>
                  <a:srgbClr val="3333FF"/>
                </a:solidFill>
                <a:latin typeface="Consolas" pitchFamily="49" charset="0"/>
                <a:ea typeface="仿宋" pitchFamily="49" charset="-122"/>
                <a:cs typeface="Consolas" pitchFamily="49" charset="0"/>
              </a:rPr>
              <a:t>b</a:t>
            </a:r>
            <a:r>
              <a:rPr lang="zh-CN" altLang="en-US" sz="1800">
                <a:solidFill>
                  <a:srgbClr val="3333FF"/>
                </a:solidFill>
                <a:latin typeface="Consolas" pitchFamily="49" charset="0"/>
                <a:ea typeface="仿宋" pitchFamily="49" charset="-122"/>
                <a:cs typeface="Consolas" pitchFamily="49" charset="0"/>
              </a:rPr>
              <a:t>结点</a:t>
            </a:r>
            <a:endParaRPr lang="zh-CN" altLang="en-US" sz="1800" dirty="0">
              <a:solidFill>
                <a:srgbClr val="3333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1964297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8" grpId="0"/>
      <p:bldP spid="2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306A711-FB85-236D-42A3-B11983FA5F09}"/>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BCAA5EAB-2800-DCC3-F700-4D0E1AC56D25}"/>
              </a:ext>
            </a:extLst>
          </p:cNvPr>
          <p:cNvSpPr/>
          <p:nvPr/>
        </p:nvSpPr>
        <p:spPr>
          <a:xfrm>
            <a:off x="3647728" y="118989"/>
            <a:ext cx="569547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7.4 </a:t>
            </a:r>
            <a:r>
              <a:rPr lang="zh-CN" altLang="en-US" sz="3000" b="1" dirty="0">
                <a:latin typeface="黑体" pitchFamily="49" charset="-122"/>
                <a:ea typeface="黑体" pitchFamily="49" charset="-122"/>
                <a:cs typeface="经典粗黑简" pitchFamily="49" charset="-122"/>
              </a:rPr>
              <a:t>二叉树基本运算及其实现</a:t>
            </a:r>
          </a:p>
        </p:txBody>
      </p:sp>
      <p:sp>
        <p:nvSpPr>
          <p:cNvPr id="19" name="Rectangle 2">
            <a:extLst>
              <a:ext uri="{FF2B5EF4-FFF2-40B4-BE49-F238E27FC236}">
                <a16:creationId xmlns:a16="http://schemas.microsoft.com/office/drawing/2014/main" xmlns="" id="{D6D61415-E245-D802-4BA6-0D258F613141}"/>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7.4.1 </a:t>
            </a:r>
            <a:r>
              <a:rPr lang="zh-CN" altLang="en-US" dirty="0"/>
              <a:t>二叉树的基本运算概述</a:t>
            </a:r>
          </a:p>
        </p:txBody>
      </p:sp>
      <p:cxnSp>
        <p:nvCxnSpPr>
          <p:cNvPr id="20" name="直接连接符 19">
            <a:extLst>
              <a:ext uri="{FF2B5EF4-FFF2-40B4-BE49-F238E27FC236}">
                <a16:creationId xmlns:a16="http://schemas.microsoft.com/office/drawing/2014/main" xmlns="" id="{B2FF30B0-3899-5951-98B8-EA7D1813B50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4">
            <a:extLst>
              <a:ext uri="{FF2B5EF4-FFF2-40B4-BE49-F238E27FC236}">
                <a16:creationId xmlns:a16="http://schemas.microsoft.com/office/drawing/2014/main" xmlns="" id="{D3A8C5EE-C49A-4456-4684-41EC5AD83A80}"/>
              </a:ext>
            </a:extLst>
          </p:cNvPr>
          <p:cNvSpPr txBox="1">
            <a:spLocks noChangeArrowheads="1"/>
          </p:cNvSpPr>
          <p:nvPr/>
        </p:nvSpPr>
        <p:spPr bwMode="auto">
          <a:xfrm>
            <a:off x="1055440" y="1537336"/>
            <a:ext cx="5079976" cy="400110"/>
          </a:xfrm>
          <a:prstGeom prst="rect">
            <a:avLst/>
          </a:prstGeom>
          <a:ln>
            <a:headEnd/>
            <a:tailEnd type="none" w="med" len="lg"/>
          </a:ln>
        </p:spPr>
        <p:style>
          <a:lnRef idx="1">
            <a:schemeClr val="accent5"/>
          </a:lnRef>
          <a:fillRef idx="3">
            <a:schemeClr val="accent5"/>
          </a:fillRef>
          <a:effectRef idx="2">
            <a:schemeClr val="accent5"/>
          </a:effectRef>
          <a:fontRef idx="minor">
            <a:schemeClr val="lt1"/>
          </a:fontRef>
        </p:style>
        <p:txBody>
          <a:bodyPr wrap="square">
            <a:spAutoFit/>
          </a:bodyPr>
          <a:lstStyle/>
          <a:p>
            <a:pPr>
              <a:spcBef>
                <a:spcPct val="50000"/>
              </a:spcBef>
            </a:pPr>
            <a:r>
              <a:rPr kumimoji="1" lang="en-US" altLang="zh-CN" sz="2000" dirty="0">
                <a:solidFill>
                  <a:schemeClr val="bg1"/>
                </a:solidFill>
                <a:latin typeface="Consolas" pitchFamily="49" charset="0"/>
                <a:ea typeface="华文中宋" pitchFamily="2" charset="-122"/>
                <a:cs typeface="Consolas" pitchFamily="49" charset="0"/>
              </a:rPr>
              <a:t>2</a:t>
            </a:r>
            <a:r>
              <a:rPr kumimoji="1" lang="zh-CN" altLang="en-US" sz="2000" dirty="0">
                <a:solidFill>
                  <a:schemeClr val="bg1"/>
                </a:solidFill>
                <a:latin typeface="Consolas" pitchFamily="49" charset="0"/>
                <a:ea typeface="华文中宋" pitchFamily="2" charset="-122"/>
                <a:cs typeface="Consolas" pitchFamily="49" charset="0"/>
              </a:rPr>
              <a:t>、</a:t>
            </a:r>
            <a:r>
              <a:rPr kumimoji="1" lang="zh-CN" altLang="en-US" sz="2000" dirty="0">
                <a:latin typeface="Consolas" pitchFamily="49" charset="0"/>
                <a:ea typeface="仿宋" pitchFamily="49" charset="-122"/>
                <a:cs typeface="Consolas" pitchFamily="49" charset="0"/>
              </a:rPr>
              <a:t>销毁二叉树</a:t>
            </a:r>
            <a:r>
              <a:rPr kumimoji="1" lang="en-US" altLang="zh-CN" sz="2000" dirty="0" err="1">
                <a:solidFill>
                  <a:srgbClr val="FF0000"/>
                </a:solidFill>
                <a:latin typeface="Consolas" pitchFamily="49" charset="0"/>
                <a:ea typeface="仿宋" pitchFamily="49" charset="-122"/>
              </a:rPr>
              <a:t>DestroyBTree</a:t>
            </a:r>
            <a:r>
              <a:rPr kumimoji="1" lang="en-US" altLang="zh-CN" sz="2000" dirty="0">
                <a:solidFill>
                  <a:srgbClr val="FF0000"/>
                </a:solidFill>
                <a:latin typeface="Consolas" pitchFamily="49" charset="0"/>
                <a:ea typeface="仿宋" pitchFamily="49" charset="-122"/>
              </a:rPr>
              <a:t>(*b)</a:t>
            </a:r>
            <a:endParaRPr lang="en-US" altLang="zh-CN" sz="2000" dirty="0">
              <a:solidFill>
                <a:schemeClr val="bg1"/>
              </a:solidFill>
              <a:latin typeface="Consolas" pitchFamily="49" charset="0"/>
              <a:ea typeface="华文中宋" pitchFamily="2" charset="-122"/>
              <a:cs typeface="Consolas" pitchFamily="49" charset="0"/>
            </a:endParaRPr>
          </a:p>
        </p:txBody>
      </p:sp>
      <p:sp>
        <p:nvSpPr>
          <p:cNvPr id="22" name="Text Box 3">
            <a:extLst>
              <a:ext uri="{FF2B5EF4-FFF2-40B4-BE49-F238E27FC236}">
                <a16:creationId xmlns:a16="http://schemas.microsoft.com/office/drawing/2014/main" xmlns="" id="{35988FA4-17D2-2E9B-2BB6-053A1BCBE339}"/>
              </a:ext>
            </a:extLst>
          </p:cNvPr>
          <p:cNvSpPr txBox="1">
            <a:spLocks noChangeArrowheads="1"/>
          </p:cNvSpPr>
          <p:nvPr/>
        </p:nvSpPr>
        <p:spPr bwMode="auto">
          <a:xfrm>
            <a:off x="2927648" y="2758328"/>
            <a:ext cx="6000792" cy="3416320"/>
          </a:xfrm>
          <a:prstGeom prst="rect">
            <a:avLst/>
          </a:prstGeom>
          <a:solidFill>
            <a:schemeClr val="bg1">
              <a:lumMod val="95000"/>
            </a:schemeClr>
          </a:solidFill>
          <a:ln>
            <a:noFill/>
            <a:headEnd/>
            <a:tailEnd type="none" w="med" len="lg"/>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150000"/>
              </a:lnSpc>
            </a:pPr>
            <a:r>
              <a:rPr kumimoji="1" lang="en-US" altLang="zh-CN" sz="1800">
                <a:solidFill>
                  <a:srgbClr val="3333FF"/>
                </a:solidFill>
                <a:latin typeface="Consolas" pitchFamily="49" charset="0"/>
                <a:ea typeface="仿宋" pitchFamily="49" charset="-122"/>
                <a:cs typeface="Consolas" pitchFamily="49" charset="0"/>
              </a:rPr>
              <a:t>void </a:t>
            </a:r>
            <a:r>
              <a:rPr kumimoji="1" lang="en-US" altLang="zh-CN" sz="1800">
                <a:solidFill>
                  <a:srgbClr val="FF0000"/>
                </a:solidFill>
                <a:latin typeface="Consolas" pitchFamily="49" charset="0"/>
                <a:ea typeface="仿宋" pitchFamily="49" charset="-122"/>
                <a:cs typeface="Consolas" pitchFamily="49" charset="0"/>
              </a:rPr>
              <a:t>DestroyBTree</a:t>
            </a:r>
            <a:r>
              <a:rPr kumimoji="1" lang="en-US" altLang="zh-CN" sz="1800">
                <a:solidFill>
                  <a:srgbClr val="3333FF"/>
                </a:solidFill>
                <a:latin typeface="Consolas" pitchFamily="49" charset="0"/>
                <a:ea typeface="仿宋" pitchFamily="49" charset="-122"/>
                <a:cs typeface="Consolas" pitchFamily="49" charset="0"/>
              </a:rPr>
              <a:t>(BTNode *&amp;b)</a:t>
            </a:r>
          </a:p>
          <a:p>
            <a:pPr algn="l">
              <a:lnSpc>
                <a:spcPct val="150000"/>
              </a:lnSpc>
            </a:pPr>
            <a:r>
              <a:rPr kumimoji="1" lang="en-US" altLang="zh-CN" sz="1800">
                <a:solidFill>
                  <a:srgbClr val="3333FF"/>
                </a:solidFill>
                <a:latin typeface="Consolas" pitchFamily="49" charset="0"/>
                <a:ea typeface="仿宋" pitchFamily="49" charset="-122"/>
                <a:cs typeface="Consolas" pitchFamily="49" charset="0"/>
              </a:rPr>
              <a:t>{  if </a:t>
            </a:r>
            <a:r>
              <a:rPr kumimoji="1" lang="en-US" altLang="zh-CN" sz="1800" dirty="0">
                <a:solidFill>
                  <a:srgbClr val="3333FF"/>
                </a:solidFill>
                <a:latin typeface="Consolas" pitchFamily="49" charset="0"/>
                <a:ea typeface="仿宋" pitchFamily="49" charset="-122"/>
                <a:cs typeface="Consolas" pitchFamily="49" charset="0"/>
              </a:rPr>
              <a:t>(b==NULL) </a:t>
            </a:r>
            <a:r>
              <a:rPr kumimoji="1" lang="en-US" altLang="zh-CN" sz="1800">
                <a:solidFill>
                  <a:srgbClr val="3333FF"/>
                </a:solidFill>
                <a:latin typeface="Consolas" pitchFamily="49" charset="0"/>
                <a:ea typeface="仿宋" pitchFamily="49" charset="-122"/>
                <a:cs typeface="Consolas" pitchFamily="49" charset="0"/>
              </a:rPr>
              <a:t>return ;</a:t>
            </a:r>
            <a:endParaRPr kumimoji="1" lang="en-US" altLang="zh-CN" sz="1800" dirty="0">
              <a:solidFill>
                <a:srgbClr val="3333FF"/>
              </a:solidFill>
              <a:latin typeface="Consolas" pitchFamily="49" charset="0"/>
              <a:ea typeface="仿宋" pitchFamily="49" charset="-122"/>
              <a:cs typeface="Consolas" pitchFamily="49" charset="0"/>
            </a:endParaRPr>
          </a:p>
          <a:p>
            <a:pPr algn="l">
              <a:lnSpc>
                <a:spcPct val="150000"/>
              </a:lnSpc>
            </a:pPr>
            <a:r>
              <a:rPr kumimoji="1" lang="en-US" altLang="zh-CN" sz="1800">
                <a:solidFill>
                  <a:srgbClr val="3333FF"/>
                </a:solidFill>
                <a:latin typeface="Consolas" pitchFamily="49" charset="0"/>
                <a:ea typeface="仿宋" pitchFamily="49" charset="-122"/>
                <a:cs typeface="Consolas" pitchFamily="49" charset="0"/>
              </a:rPr>
              <a:t>   else</a:t>
            </a:r>
            <a:endParaRPr kumimoji="1" lang="en-US" altLang="zh-CN" sz="1800" dirty="0">
              <a:solidFill>
                <a:srgbClr val="3333FF"/>
              </a:solidFill>
              <a:latin typeface="Consolas" pitchFamily="49" charset="0"/>
              <a:ea typeface="仿宋" pitchFamily="49" charset="-122"/>
              <a:cs typeface="Consolas" pitchFamily="49" charset="0"/>
            </a:endParaRPr>
          </a:p>
          <a:p>
            <a:pPr algn="l">
              <a:lnSpc>
                <a:spcPct val="150000"/>
              </a:lnSpc>
            </a:pPr>
            <a:r>
              <a:rPr kumimoji="1" lang="en-US" altLang="zh-CN" sz="1800">
                <a:solidFill>
                  <a:srgbClr val="3333FF"/>
                </a:solidFill>
                <a:latin typeface="Consolas" pitchFamily="49" charset="0"/>
                <a:ea typeface="仿宋" pitchFamily="49" charset="-122"/>
                <a:cs typeface="Consolas" pitchFamily="49" charset="0"/>
              </a:rPr>
              <a:t>   {  </a:t>
            </a:r>
            <a:r>
              <a:rPr kumimoji="1" lang="en-US" altLang="zh-CN" sz="1800">
                <a:solidFill>
                  <a:srgbClr val="FF0000"/>
                </a:solidFill>
                <a:latin typeface="Consolas" pitchFamily="49" charset="0"/>
                <a:ea typeface="仿宋" pitchFamily="49" charset="-122"/>
                <a:cs typeface="Consolas" pitchFamily="49" charset="0"/>
              </a:rPr>
              <a:t>DestroyBTree</a:t>
            </a:r>
            <a:r>
              <a:rPr kumimoji="1" lang="en-US" altLang="zh-CN" sz="1800">
                <a:solidFill>
                  <a:srgbClr val="3333FF"/>
                </a:solidFill>
                <a:latin typeface="Consolas" pitchFamily="49" charset="0"/>
                <a:ea typeface="仿宋" pitchFamily="49" charset="-122"/>
                <a:cs typeface="Consolas" pitchFamily="49" charset="0"/>
              </a:rPr>
              <a:t>(b-&gt;lchild);</a:t>
            </a:r>
            <a:endParaRPr kumimoji="1" lang="en-US" altLang="zh-CN" sz="1800" dirty="0">
              <a:solidFill>
                <a:srgbClr val="3333FF"/>
              </a:solidFill>
              <a:latin typeface="Consolas" pitchFamily="49" charset="0"/>
              <a:ea typeface="仿宋" pitchFamily="49" charset="-122"/>
              <a:cs typeface="Consolas" pitchFamily="49" charset="0"/>
            </a:endParaRPr>
          </a:p>
          <a:p>
            <a:pPr algn="l">
              <a:lnSpc>
                <a:spcPct val="150000"/>
              </a:lnSpc>
            </a:pPr>
            <a:r>
              <a:rPr kumimoji="1" lang="en-US" altLang="zh-CN" sz="1800">
                <a:solidFill>
                  <a:srgbClr val="3333FF"/>
                </a:solidFill>
                <a:latin typeface="Consolas" pitchFamily="49" charset="0"/>
                <a:ea typeface="仿宋" pitchFamily="49" charset="-122"/>
                <a:cs typeface="Consolas" pitchFamily="49" charset="0"/>
              </a:rPr>
              <a:t>      </a:t>
            </a:r>
            <a:r>
              <a:rPr kumimoji="1" lang="en-US" altLang="zh-CN" sz="1800">
                <a:solidFill>
                  <a:srgbClr val="FF0000"/>
                </a:solidFill>
                <a:latin typeface="Consolas" pitchFamily="49" charset="0"/>
                <a:ea typeface="仿宋" pitchFamily="49" charset="-122"/>
                <a:cs typeface="Consolas" pitchFamily="49" charset="0"/>
              </a:rPr>
              <a:t>DestroyBTree</a:t>
            </a:r>
            <a:r>
              <a:rPr kumimoji="1" lang="en-US" altLang="zh-CN" sz="1800">
                <a:solidFill>
                  <a:srgbClr val="3333FF"/>
                </a:solidFill>
                <a:latin typeface="Consolas" pitchFamily="49" charset="0"/>
                <a:ea typeface="仿宋" pitchFamily="49" charset="-122"/>
                <a:cs typeface="Consolas" pitchFamily="49" charset="0"/>
              </a:rPr>
              <a:t>(b-&gt;rchild);</a:t>
            </a:r>
            <a:endParaRPr kumimoji="1" lang="en-US" altLang="zh-CN" sz="1800" dirty="0">
              <a:solidFill>
                <a:srgbClr val="3333FF"/>
              </a:solidFill>
              <a:latin typeface="Consolas" pitchFamily="49" charset="0"/>
              <a:ea typeface="仿宋" pitchFamily="49" charset="-122"/>
              <a:cs typeface="Consolas" pitchFamily="49" charset="0"/>
            </a:endParaRPr>
          </a:p>
          <a:p>
            <a:pPr algn="l">
              <a:lnSpc>
                <a:spcPct val="150000"/>
              </a:lnSpc>
            </a:pPr>
            <a:r>
              <a:rPr kumimoji="1" lang="en-US" altLang="zh-CN" sz="1800">
                <a:solidFill>
                  <a:srgbClr val="3333FF"/>
                </a:solidFill>
                <a:latin typeface="Consolas" pitchFamily="49" charset="0"/>
                <a:ea typeface="仿宋" pitchFamily="49" charset="-122"/>
                <a:cs typeface="Consolas" pitchFamily="49" charset="0"/>
              </a:rPr>
              <a:t>      free(b);     </a:t>
            </a:r>
            <a:r>
              <a:rPr kumimoji="1" lang="en-US" altLang="zh-CN" sz="1800">
                <a:solidFill>
                  <a:srgbClr val="00B0F0"/>
                </a:solidFill>
                <a:latin typeface="Consolas" pitchFamily="49" charset="0"/>
                <a:ea typeface="仿宋" pitchFamily="49" charset="-122"/>
                <a:cs typeface="Consolas" pitchFamily="49" charset="0"/>
              </a:rPr>
              <a:t> //</a:t>
            </a:r>
            <a:r>
              <a:rPr kumimoji="1" lang="zh-CN" altLang="en-US" sz="1800">
                <a:solidFill>
                  <a:srgbClr val="00B0F0"/>
                </a:solidFill>
                <a:latin typeface="Consolas" pitchFamily="49" charset="0"/>
                <a:ea typeface="仿宋" pitchFamily="49" charset="-122"/>
                <a:cs typeface="Consolas" pitchFamily="49" charset="0"/>
              </a:rPr>
              <a:t>剩下一个结点</a:t>
            </a:r>
            <a:r>
              <a:rPr kumimoji="1" lang="en-US" altLang="zh-CN" sz="1800">
                <a:solidFill>
                  <a:srgbClr val="00B0F0"/>
                </a:solidFill>
                <a:latin typeface="Consolas" pitchFamily="49" charset="0"/>
                <a:ea typeface="仿宋" pitchFamily="49" charset="-122"/>
                <a:cs typeface="Consolas" pitchFamily="49" charset="0"/>
              </a:rPr>
              <a:t>b</a:t>
            </a:r>
            <a:r>
              <a:rPr kumimoji="1" lang="zh-CN" altLang="en-US" sz="1800">
                <a:solidFill>
                  <a:srgbClr val="00B0F0"/>
                </a:solidFill>
                <a:latin typeface="Consolas" pitchFamily="49" charset="0"/>
                <a:ea typeface="仿宋" pitchFamily="49" charset="-122"/>
                <a:cs typeface="Consolas" pitchFamily="49" charset="0"/>
              </a:rPr>
              <a:t>，直接释放</a:t>
            </a:r>
            <a:endParaRPr kumimoji="1" lang="en-US" altLang="zh-CN" sz="1800">
              <a:solidFill>
                <a:srgbClr val="00B0F0"/>
              </a:solidFill>
              <a:latin typeface="Consolas" pitchFamily="49" charset="0"/>
              <a:ea typeface="仿宋" pitchFamily="49" charset="-122"/>
              <a:cs typeface="Consolas" pitchFamily="49" charset="0"/>
            </a:endParaRPr>
          </a:p>
          <a:p>
            <a:pPr algn="l">
              <a:lnSpc>
                <a:spcPct val="150000"/>
              </a:lnSpc>
            </a:pPr>
            <a:r>
              <a:rPr kumimoji="1" lang="en-US" altLang="zh-CN" sz="1800">
                <a:solidFill>
                  <a:srgbClr val="3333FF"/>
                </a:solidFill>
                <a:latin typeface="Consolas" pitchFamily="49" charset="0"/>
                <a:ea typeface="仿宋" pitchFamily="49" charset="-122"/>
                <a:cs typeface="Consolas" pitchFamily="49" charset="0"/>
              </a:rPr>
              <a:t>   }</a:t>
            </a:r>
            <a:endParaRPr kumimoji="1" lang="en-US" altLang="zh-CN" sz="1800" dirty="0">
              <a:solidFill>
                <a:srgbClr val="3333FF"/>
              </a:solidFill>
              <a:latin typeface="Consolas" pitchFamily="49" charset="0"/>
              <a:ea typeface="仿宋" pitchFamily="49" charset="-122"/>
              <a:cs typeface="Consolas" pitchFamily="49" charset="0"/>
            </a:endParaRPr>
          </a:p>
          <a:p>
            <a:pPr algn="l">
              <a:lnSpc>
                <a:spcPct val="150000"/>
              </a:lnSpc>
            </a:pPr>
            <a:r>
              <a:rPr kumimoji="1" lang="en-US" altLang="zh-CN" sz="1800" dirty="0">
                <a:solidFill>
                  <a:srgbClr val="3333FF"/>
                </a:solidFill>
                <a:latin typeface="Consolas" pitchFamily="49" charset="0"/>
                <a:ea typeface="仿宋" pitchFamily="49" charset="-122"/>
                <a:cs typeface="Consolas" pitchFamily="49" charset="0"/>
              </a:rPr>
              <a:t>}</a:t>
            </a:r>
            <a:endParaRPr lang="en-US" altLang="zh-CN" sz="1800" dirty="0">
              <a:solidFill>
                <a:srgbClr val="3333FF"/>
              </a:solidFill>
              <a:latin typeface="Consolas" pitchFamily="49" charset="0"/>
              <a:ea typeface="仿宋" pitchFamily="49" charset="-122"/>
              <a:cs typeface="Consolas" pitchFamily="49" charset="0"/>
            </a:endParaRPr>
          </a:p>
        </p:txBody>
      </p:sp>
      <p:sp>
        <p:nvSpPr>
          <p:cNvPr id="23" name="TextBox 3">
            <a:extLst>
              <a:ext uri="{FF2B5EF4-FFF2-40B4-BE49-F238E27FC236}">
                <a16:creationId xmlns:a16="http://schemas.microsoft.com/office/drawing/2014/main" xmlns="" id="{39E14641-8DE6-31F8-AAB3-3F28392521FC}"/>
              </a:ext>
            </a:extLst>
          </p:cNvPr>
          <p:cNvSpPr txBox="1"/>
          <p:nvPr/>
        </p:nvSpPr>
        <p:spPr>
          <a:xfrm>
            <a:off x="2927648" y="2186824"/>
            <a:ext cx="3786214" cy="400110"/>
          </a:xfrm>
          <a:prstGeom prst="rect">
            <a:avLst/>
          </a:prstGeom>
          <a:noFill/>
        </p:spPr>
        <p:txBody>
          <a:bodyPr wrap="square" rtlCol="0">
            <a:spAutoFit/>
          </a:bodyPr>
          <a:lstStyle/>
          <a:p>
            <a:pPr algn="l"/>
            <a:r>
              <a:rPr lang="zh-CN" altLang="en-US" sz="2000">
                <a:latin typeface="楷体" pitchFamily="49" charset="-122"/>
                <a:ea typeface="楷体" pitchFamily="49" charset="-122"/>
              </a:rPr>
              <a:t>对应的递归算法如下：</a:t>
            </a:r>
          </a:p>
        </p:txBody>
      </p:sp>
    </p:spTree>
    <p:extLst>
      <p:ext uri="{BB962C8B-B14F-4D97-AF65-F5344CB8AC3E}">
        <p14:creationId xmlns:p14="http://schemas.microsoft.com/office/powerpoint/2010/main" val="3815805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5B4418-BB99-2F65-B52D-2F4F38E84BE3}"/>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8D1CE745-77CD-7E0D-38AE-33A04B67F9E8}"/>
              </a:ext>
            </a:extLst>
          </p:cNvPr>
          <p:cNvSpPr/>
          <p:nvPr/>
        </p:nvSpPr>
        <p:spPr>
          <a:xfrm>
            <a:off x="3647728" y="118989"/>
            <a:ext cx="569547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7.4 </a:t>
            </a:r>
            <a:r>
              <a:rPr lang="zh-CN" altLang="en-US" sz="3000" b="1" dirty="0">
                <a:latin typeface="黑体" pitchFamily="49" charset="-122"/>
                <a:ea typeface="黑体" pitchFamily="49" charset="-122"/>
                <a:cs typeface="经典粗黑简" pitchFamily="49" charset="-122"/>
              </a:rPr>
              <a:t>二叉树基本运算及其实现</a:t>
            </a:r>
          </a:p>
        </p:txBody>
      </p:sp>
      <p:sp>
        <p:nvSpPr>
          <p:cNvPr id="19" name="Rectangle 2">
            <a:extLst>
              <a:ext uri="{FF2B5EF4-FFF2-40B4-BE49-F238E27FC236}">
                <a16:creationId xmlns:a16="http://schemas.microsoft.com/office/drawing/2014/main" xmlns="" id="{E199EF51-D177-E8CE-3ACD-C652E8DC3BF1}"/>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7.4.1 </a:t>
            </a:r>
            <a:r>
              <a:rPr lang="zh-CN" altLang="en-US" dirty="0"/>
              <a:t>二叉树的基本运算概述</a:t>
            </a:r>
          </a:p>
        </p:txBody>
      </p:sp>
      <p:cxnSp>
        <p:nvCxnSpPr>
          <p:cNvPr id="20" name="直接连接符 19">
            <a:extLst>
              <a:ext uri="{FF2B5EF4-FFF2-40B4-BE49-F238E27FC236}">
                <a16:creationId xmlns:a16="http://schemas.microsoft.com/office/drawing/2014/main" xmlns="" id="{C1BD43B9-2703-681E-EC0F-D76DAC2761EB}"/>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4">
            <a:extLst>
              <a:ext uri="{FF2B5EF4-FFF2-40B4-BE49-F238E27FC236}">
                <a16:creationId xmlns:a16="http://schemas.microsoft.com/office/drawing/2014/main" xmlns="" id="{985975A7-184E-67F1-A907-35682F8D45AC}"/>
              </a:ext>
            </a:extLst>
          </p:cNvPr>
          <p:cNvSpPr txBox="1">
            <a:spLocks noChangeArrowheads="1"/>
          </p:cNvSpPr>
          <p:nvPr/>
        </p:nvSpPr>
        <p:spPr bwMode="auto">
          <a:xfrm>
            <a:off x="1055440" y="1537336"/>
            <a:ext cx="3960440" cy="400110"/>
          </a:xfrm>
          <a:prstGeom prst="rect">
            <a:avLst/>
          </a:prstGeom>
          <a:ln>
            <a:headEnd/>
            <a:tailEnd type="none" w="med" len="lg"/>
          </a:ln>
        </p:spPr>
        <p:style>
          <a:lnRef idx="1">
            <a:schemeClr val="accent5"/>
          </a:lnRef>
          <a:fillRef idx="3">
            <a:schemeClr val="accent5"/>
          </a:fillRef>
          <a:effectRef idx="2">
            <a:schemeClr val="accent5"/>
          </a:effectRef>
          <a:fontRef idx="minor">
            <a:schemeClr val="lt1"/>
          </a:fontRef>
        </p:style>
        <p:txBody>
          <a:bodyPr wrap="square">
            <a:spAutoFit/>
          </a:bodyPr>
          <a:lstStyle/>
          <a:p>
            <a:pPr>
              <a:spcBef>
                <a:spcPct val="50000"/>
              </a:spcBef>
            </a:pPr>
            <a:r>
              <a:rPr kumimoji="1" lang="en-US" altLang="zh-CN" sz="2000" dirty="0">
                <a:solidFill>
                  <a:schemeClr val="bg1"/>
                </a:solidFill>
                <a:latin typeface="Consolas" pitchFamily="49" charset="0"/>
                <a:ea typeface="华文中宋" pitchFamily="2" charset="-122"/>
                <a:cs typeface="Consolas" pitchFamily="49" charset="0"/>
              </a:rPr>
              <a:t>3</a:t>
            </a:r>
            <a:r>
              <a:rPr kumimoji="1" lang="zh-CN" altLang="en-US" sz="2000" dirty="0">
                <a:solidFill>
                  <a:schemeClr val="bg1"/>
                </a:solidFill>
                <a:latin typeface="Consolas" pitchFamily="49" charset="0"/>
                <a:ea typeface="华文中宋" pitchFamily="2" charset="-122"/>
                <a:cs typeface="Consolas" pitchFamily="49" charset="0"/>
              </a:rPr>
              <a:t>、</a:t>
            </a:r>
            <a:r>
              <a:rPr kumimoji="1" lang="zh-CN" altLang="en-US" sz="2000" dirty="0">
                <a:latin typeface="Consolas" pitchFamily="49" charset="0"/>
                <a:ea typeface="仿宋" pitchFamily="49" charset="-122"/>
              </a:rPr>
              <a:t>查找结点</a:t>
            </a:r>
            <a:r>
              <a:rPr kumimoji="1" lang="en-US" altLang="zh-CN" sz="2000" dirty="0" err="1">
                <a:solidFill>
                  <a:srgbClr val="FF0000"/>
                </a:solidFill>
                <a:latin typeface="Consolas" pitchFamily="49" charset="0"/>
                <a:ea typeface="仿宋" pitchFamily="49" charset="-122"/>
              </a:rPr>
              <a:t>FindNode</a:t>
            </a:r>
            <a:r>
              <a:rPr kumimoji="1" lang="en-US" altLang="zh-CN" sz="2000" dirty="0">
                <a:solidFill>
                  <a:srgbClr val="FF0000"/>
                </a:solidFill>
                <a:latin typeface="Consolas" pitchFamily="49" charset="0"/>
                <a:ea typeface="仿宋" pitchFamily="49" charset="-122"/>
              </a:rPr>
              <a:t>(*b</a:t>
            </a:r>
            <a:r>
              <a:rPr kumimoji="1" lang="zh-CN" altLang="en-US" sz="2000" dirty="0">
                <a:solidFill>
                  <a:srgbClr val="FF0000"/>
                </a:solidFill>
                <a:latin typeface="Consolas" pitchFamily="49" charset="0"/>
                <a:ea typeface="仿宋" pitchFamily="49" charset="-122"/>
              </a:rPr>
              <a:t>，</a:t>
            </a:r>
            <a:r>
              <a:rPr kumimoji="1" lang="en-US" altLang="zh-CN" sz="2000" dirty="0">
                <a:solidFill>
                  <a:srgbClr val="FF0000"/>
                </a:solidFill>
                <a:latin typeface="Consolas" pitchFamily="49" charset="0"/>
                <a:ea typeface="仿宋" pitchFamily="49" charset="-122"/>
              </a:rPr>
              <a:t>x)</a:t>
            </a:r>
          </a:p>
        </p:txBody>
      </p:sp>
      <p:sp>
        <p:nvSpPr>
          <p:cNvPr id="5" name="Text Box 2">
            <a:extLst>
              <a:ext uri="{FF2B5EF4-FFF2-40B4-BE49-F238E27FC236}">
                <a16:creationId xmlns:a16="http://schemas.microsoft.com/office/drawing/2014/main" xmlns="" id="{F050E5D8-292D-5091-829B-DF76E162323C}"/>
              </a:ext>
            </a:extLst>
          </p:cNvPr>
          <p:cNvSpPr txBox="1">
            <a:spLocks noChangeArrowheads="1"/>
          </p:cNvSpPr>
          <p:nvPr/>
        </p:nvSpPr>
        <p:spPr bwMode="auto">
          <a:xfrm>
            <a:off x="1041748" y="1999187"/>
            <a:ext cx="10550859" cy="442301"/>
          </a:xfrm>
          <a:prstGeom prst="rect">
            <a:avLst/>
          </a:prstGeom>
          <a:noFill/>
          <a:ln w="9525">
            <a:noFill/>
            <a:miter lim="800000"/>
            <a:headEnd/>
            <a:tailEnd/>
          </a:ln>
          <a:effectLst/>
        </p:spPr>
        <p:txBody>
          <a:bodyPr wrap="square">
            <a:spAutoFit/>
          </a:bodyPr>
          <a:lstStyle/>
          <a:p>
            <a:pPr algn="just">
              <a:lnSpc>
                <a:spcPts val="3000"/>
              </a:lnSpc>
              <a:spcBef>
                <a:spcPts val="0"/>
              </a:spcBef>
            </a:pPr>
            <a:r>
              <a:rPr kumimoji="1" lang="zh-CN" altLang="en-US" sz="2000" dirty="0">
                <a:latin typeface="Consolas" pitchFamily="49" charset="0"/>
                <a:ea typeface="楷体" pitchFamily="49" charset="-122"/>
                <a:cs typeface="Consolas" pitchFamily="49" charset="0"/>
              </a:rPr>
              <a:t>设</a:t>
            </a:r>
            <a:r>
              <a:rPr kumimoji="1" lang="en-US" altLang="zh-CN" sz="2000" i="1" dirty="0">
                <a:latin typeface="Consolas" pitchFamily="49" charset="0"/>
                <a:ea typeface="楷体" pitchFamily="49" charset="-122"/>
                <a:cs typeface="Consolas" pitchFamily="49" charset="0"/>
              </a:rPr>
              <a:t>f</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zh-CN" altLang="en-US"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x</a:t>
            </a:r>
            <a:r>
              <a:rPr kumimoji="1" lang="en-US" altLang="zh-CN" sz="2000" dirty="0">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在二叉树</a:t>
            </a:r>
            <a:r>
              <a:rPr kumimoji="1" lang="en-US" altLang="zh-CN" sz="2000" i="1" dirty="0">
                <a:latin typeface="Consolas" pitchFamily="49" charset="0"/>
                <a:ea typeface="楷体" pitchFamily="49" charset="-122"/>
                <a:cs typeface="Consolas" pitchFamily="49" charset="0"/>
              </a:rPr>
              <a:t>b</a:t>
            </a:r>
            <a:r>
              <a:rPr kumimoji="1" lang="zh-CN" altLang="en-US" sz="2000" dirty="0">
                <a:latin typeface="Consolas" pitchFamily="49" charset="0"/>
                <a:ea typeface="楷体" pitchFamily="49" charset="-122"/>
                <a:cs typeface="Consolas" pitchFamily="49" charset="0"/>
              </a:rPr>
              <a:t>中查找值为</a:t>
            </a:r>
            <a:r>
              <a:rPr kumimoji="1" lang="en-US" altLang="zh-CN" sz="2000" i="1" dirty="0">
                <a:latin typeface="Consolas" pitchFamily="49" charset="0"/>
                <a:ea typeface="楷体" pitchFamily="49" charset="-122"/>
                <a:cs typeface="Consolas" pitchFamily="49" charset="0"/>
              </a:rPr>
              <a:t>x</a:t>
            </a:r>
            <a:r>
              <a:rPr kumimoji="1" lang="zh-CN" altLang="en-US" sz="2000" dirty="0">
                <a:latin typeface="Consolas" pitchFamily="49" charset="0"/>
                <a:ea typeface="楷体" pitchFamily="49" charset="-122"/>
                <a:cs typeface="Consolas" pitchFamily="49" charset="0"/>
              </a:rPr>
              <a:t>的结点（唯一）。找到后返回其指针，否则返回</a:t>
            </a:r>
            <a:r>
              <a:rPr kumimoji="1" lang="en-US" altLang="zh-CN" sz="2000" dirty="0">
                <a:latin typeface="Consolas" pitchFamily="49" charset="0"/>
                <a:ea typeface="楷体" pitchFamily="49" charset="-122"/>
                <a:cs typeface="Consolas" pitchFamily="49" charset="0"/>
              </a:rPr>
              <a:t>NULL</a:t>
            </a:r>
            <a:r>
              <a:rPr kumimoji="1" lang="zh-CN" altLang="en-US" sz="2000" dirty="0">
                <a:latin typeface="Consolas" pitchFamily="49" charset="0"/>
                <a:ea typeface="楷体" pitchFamily="49" charset="-122"/>
                <a:cs typeface="Consolas" pitchFamily="49" charset="0"/>
              </a:rPr>
              <a:t>。</a:t>
            </a:r>
            <a:endParaRPr kumimoji="1" lang="zh-CN" altLang="en-US" sz="2000" dirty="0">
              <a:solidFill>
                <a:srgbClr val="663300"/>
              </a:solidFill>
              <a:latin typeface="Consolas" pitchFamily="49" charset="0"/>
              <a:ea typeface="楷体" pitchFamily="49" charset="-122"/>
              <a:cs typeface="Consolas" pitchFamily="49" charset="0"/>
            </a:endParaRPr>
          </a:p>
        </p:txBody>
      </p:sp>
      <p:grpSp>
        <p:nvGrpSpPr>
          <p:cNvPr id="6" name="组合 16">
            <a:extLst>
              <a:ext uri="{FF2B5EF4-FFF2-40B4-BE49-F238E27FC236}">
                <a16:creationId xmlns:a16="http://schemas.microsoft.com/office/drawing/2014/main" xmlns="" id="{BC87EF91-BB47-A7F9-2910-3702C7E565B7}"/>
              </a:ext>
            </a:extLst>
          </p:cNvPr>
          <p:cNvGrpSpPr/>
          <p:nvPr/>
        </p:nvGrpSpPr>
        <p:grpSpPr>
          <a:xfrm>
            <a:off x="3667417" y="2542421"/>
            <a:ext cx="3814762" cy="2674382"/>
            <a:chOff x="1857356" y="2143116"/>
            <a:chExt cx="3814762" cy="2674382"/>
          </a:xfrm>
        </p:grpSpPr>
        <p:sp>
          <p:nvSpPr>
            <p:cNvPr id="7" name="Oval 5">
              <a:extLst>
                <a:ext uri="{FF2B5EF4-FFF2-40B4-BE49-F238E27FC236}">
                  <a16:creationId xmlns:a16="http://schemas.microsoft.com/office/drawing/2014/main" xmlns="" id="{7C24151A-4F7E-AC9A-68A9-86455C3E41D6}"/>
                </a:ext>
              </a:extLst>
            </p:cNvPr>
            <p:cNvSpPr>
              <a:spLocks noChangeArrowheads="1"/>
            </p:cNvSpPr>
            <p:nvPr/>
          </p:nvSpPr>
          <p:spPr bwMode="auto">
            <a:xfrm>
              <a:off x="3390881" y="2600316"/>
              <a:ext cx="863600" cy="504825"/>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i="1" dirty="0">
                  <a:solidFill>
                    <a:srgbClr val="3333FF"/>
                  </a:solidFill>
                  <a:latin typeface="Consolas" pitchFamily="49" charset="0"/>
                  <a:cs typeface="Consolas" pitchFamily="49" charset="0"/>
                </a:rPr>
                <a:t>N</a:t>
              </a:r>
              <a:endParaRPr lang="zh-CN" altLang="en-US" sz="2000" i="1" dirty="0">
                <a:solidFill>
                  <a:srgbClr val="3333FF"/>
                </a:solidFill>
                <a:latin typeface="Consolas" pitchFamily="49" charset="0"/>
                <a:cs typeface="Consolas" pitchFamily="49" charset="0"/>
              </a:endParaRPr>
            </a:p>
          </p:txBody>
        </p:sp>
        <p:sp>
          <p:nvSpPr>
            <p:cNvPr id="8" name="Arc 6">
              <a:extLst>
                <a:ext uri="{FF2B5EF4-FFF2-40B4-BE49-F238E27FC236}">
                  <a16:creationId xmlns:a16="http://schemas.microsoft.com/office/drawing/2014/main" xmlns="" id="{8B9AF188-DF35-E9FD-A196-DBC17E35E8BC}"/>
                </a:ext>
              </a:extLst>
            </p:cNvPr>
            <p:cNvSpPr>
              <a:spLocks/>
            </p:cNvSpPr>
            <p:nvPr/>
          </p:nvSpPr>
          <p:spPr bwMode="auto">
            <a:xfrm>
              <a:off x="3178156" y="2351079"/>
              <a:ext cx="433387" cy="28733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C00FF"/>
              </a:solidFill>
              <a:round/>
              <a:headEnd/>
              <a:tailEnd type="stealth" w="med" len="med"/>
            </a:ln>
            <a:effectLst/>
          </p:spPr>
          <p:txBody>
            <a:bodyPr wrap="none" anchor="ctr"/>
            <a:lstStyle/>
            <a:p>
              <a:endParaRPr lang="zh-CN" altLang="en-US">
                <a:latin typeface="Consolas" pitchFamily="49" charset="0"/>
                <a:cs typeface="Consolas" pitchFamily="49" charset="0"/>
              </a:endParaRPr>
            </a:p>
          </p:txBody>
        </p:sp>
        <p:sp>
          <p:nvSpPr>
            <p:cNvPr id="9" name="AutoShape 7">
              <a:extLst>
                <a:ext uri="{FF2B5EF4-FFF2-40B4-BE49-F238E27FC236}">
                  <a16:creationId xmlns:a16="http://schemas.microsoft.com/office/drawing/2014/main" xmlns="" id="{33F1B7AE-1388-6E11-3B91-C499115D2E31}"/>
                </a:ext>
              </a:extLst>
            </p:cNvPr>
            <p:cNvSpPr>
              <a:spLocks noChangeArrowheads="1"/>
            </p:cNvSpPr>
            <p:nvPr/>
          </p:nvSpPr>
          <p:spPr bwMode="auto">
            <a:xfrm>
              <a:off x="2289156" y="3536941"/>
              <a:ext cx="1150937" cy="792163"/>
            </a:xfrm>
            <a:prstGeom prst="triangle">
              <a:avLst>
                <a:gd name="adj" fmla="val 50000"/>
              </a:avLst>
            </a:prstGeom>
            <a:solidFill>
              <a:schemeClr val="accent2"/>
            </a:solidFill>
            <a:ln w="9525" algn="ctr">
              <a:solidFill>
                <a:schemeClr val="tx1"/>
              </a:solidFill>
              <a:miter lim="800000"/>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10" name="AutoShape 8">
              <a:extLst>
                <a:ext uri="{FF2B5EF4-FFF2-40B4-BE49-F238E27FC236}">
                  <a16:creationId xmlns:a16="http://schemas.microsoft.com/office/drawing/2014/main" xmlns="" id="{57508543-796F-655D-2A3F-85CAABB7B947}"/>
                </a:ext>
              </a:extLst>
            </p:cNvPr>
            <p:cNvSpPr>
              <a:spLocks noChangeArrowheads="1"/>
            </p:cNvSpPr>
            <p:nvPr/>
          </p:nvSpPr>
          <p:spPr bwMode="auto">
            <a:xfrm>
              <a:off x="4138593" y="3536941"/>
              <a:ext cx="1150937" cy="792163"/>
            </a:xfrm>
            <a:prstGeom prst="triangle">
              <a:avLst>
                <a:gd name="adj" fmla="val 50000"/>
              </a:avLst>
            </a:prstGeom>
            <a:solidFill>
              <a:schemeClr val="accent2"/>
            </a:solidFill>
            <a:ln w="9525" algn="ctr">
              <a:solidFill>
                <a:schemeClr val="tx1"/>
              </a:solidFill>
              <a:miter lim="800000"/>
              <a:headEnd/>
              <a:tailEnd type="none" w="med" len="lg"/>
            </a:ln>
            <a:effectLst/>
          </p:spPr>
          <p:txBody>
            <a:bodyPr wrap="none" anchor="ctr"/>
            <a:lstStyle/>
            <a:p>
              <a:endParaRPr lang="zh-CN" altLang="en-US">
                <a:latin typeface="Consolas" pitchFamily="49" charset="0"/>
                <a:cs typeface="Consolas" pitchFamily="49" charset="0"/>
              </a:endParaRPr>
            </a:p>
          </p:txBody>
        </p:sp>
        <p:sp>
          <p:nvSpPr>
            <p:cNvPr id="11" name="Line 10">
              <a:extLst>
                <a:ext uri="{FF2B5EF4-FFF2-40B4-BE49-F238E27FC236}">
                  <a16:creationId xmlns:a16="http://schemas.microsoft.com/office/drawing/2014/main" xmlns="" id="{EB3DB263-27C7-C1CD-791D-ADAA08BD42D6}"/>
                </a:ext>
              </a:extLst>
            </p:cNvPr>
            <p:cNvSpPr>
              <a:spLocks noChangeShapeType="1"/>
            </p:cNvSpPr>
            <p:nvPr/>
          </p:nvSpPr>
          <p:spPr bwMode="auto">
            <a:xfrm flipH="1">
              <a:off x="2936856" y="3044816"/>
              <a:ext cx="647700" cy="649288"/>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2" name="Line 11">
              <a:extLst>
                <a:ext uri="{FF2B5EF4-FFF2-40B4-BE49-F238E27FC236}">
                  <a16:creationId xmlns:a16="http://schemas.microsoft.com/office/drawing/2014/main" xmlns="" id="{3C9F15E6-7527-C73C-4B48-2CB092540C03}"/>
                </a:ext>
              </a:extLst>
            </p:cNvPr>
            <p:cNvSpPr>
              <a:spLocks noChangeShapeType="1"/>
            </p:cNvSpPr>
            <p:nvPr/>
          </p:nvSpPr>
          <p:spPr bwMode="auto">
            <a:xfrm>
              <a:off x="4100493" y="3032116"/>
              <a:ext cx="555645" cy="611198"/>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latin typeface="Consolas" pitchFamily="49" charset="0"/>
                <a:cs typeface="Consolas" pitchFamily="49" charset="0"/>
              </a:endParaRPr>
            </a:p>
          </p:txBody>
        </p:sp>
        <p:sp>
          <p:nvSpPr>
            <p:cNvPr id="13" name="Text Box 12">
              <a:extLst>
                <a:ext uri="{FF2B5EF4-FFF2-40B4-BE49-F238E27FC236}">
                  <a16:creationId xmlns:a16="http://schemas.microsoft.com/office/drawing/2014/main" xmlns="" id="{1DA8A62F-6EAF-16B9-3E3C-47B6673332D6}"/>
                </a:ext>
              </a:extLst>
            </p:cNvPr>
            <p:cNvSpPr txBox="1">
              <a:spLocks noChangeArrowheads="1"/>
            </p:cNvSpPr>
            <p:nvPr/>
          </p:nvSpPr>
          <p:spPr bwMode="auto">
            <a:xfrm>
              <a:off x="2649518" y="2143116"/>
              <a:ext cx="719137" cy="400110"/>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i="1" dirty="0">
                  <a:latin typeface="Consolas" pitchFamily="49" charset="0"/>
                  <a:cs typeface="Consolas" pitchFamily="49" charset="0"/>
                </a:rPr>
                <a:t>b</a:t>
              </a:r>
            </a:p>
          </p:txBody>
        </p:sp>
        <p:sp>
          <p:nvSpPr>
            <p:cNvPr id="14" name="Text Box 13">
              <a:extLst>
                <a:ext uri="{FF2B5EF4-FFF2-40B4-BE49-F238E27FC236}">
                  <a16:creationId xmlns:a16="http://schemas.microsoft.com/office/drawing/2014/main" xmlns="" id="{9FC0E8C0-05A3-F5D6-41ED-2F8DC9B636FC}"/>
                </a:ext>
              </a:extLst>
            </p:cNvPr>
            <p:cNvSpPr txBox="1">
              <a:spLocks noChangeArrowheads="1"/>
            </p:cNvSpPr>
            <p:nvPr/>
          </p:nvSpPr>
          <p:spPr bwMode="auto">
            <a:xfrm>
              <a:off x="1857356" y="4448166"/>
              <a:ext cx="1727200" cy="369332"/>
            </a:xfrm>
            <a:prstGeom prst="rect">
              <a:avLst/>
            </a:prstGeom>
            <a:noFill/>
            <a:ln w="28575" algn="ctr">
              <a:noFill/>
              <a:miter lim="800000"/>
              <a:headEnd/>
              <a:tailEnd type="none" w="med" len="lg"/>
            </a:ln>
            <a:effectLst/>
          </p:spPr>
          <p:txBody>
            <a:bodyPr>
              <a:spAutoFit/>
            </a:bodyPr>
            <a:lstStyle/>
            <a:p>
              <a:pPr>
                <a:spcBef>
                  <a:spcPct val="50000"/>
                </a:spcBef>
              </a:pPr>
              <a:r>
                <a:rPr lang="en-US" altLang="zh-CN" sz="1800" i="1">
                  <a:latin typeface="Consolas" pitchFamily="49" charset="0"/>
                  <a:cs typeface="Consolas" pitchFamily="49" charset="0"/>
                </a:rPr>
                <a:t>b</a:t>
              </a:r>
              <a:r>
                <a:rPr lang="en-US" altLang="zh-CN" sz="1800">
                  <a:latin typeface="Consolas" pitchFamily="49" charset="0"/>
                  <a:ea typeface="宋体" charset="-122"/>
                  <a:cs typeface="Consolas" pitchFamily="49" charset="0"/>
                </a:rPr>
                <a:t>-</a:t>
              </a:r>
              <a:r>
                <a:rPr lang="en-US" altLang="zh-CN" sz="1800">
                  <a:latin typeface="Consolas" pitchFamily="49" charset="0"/>
                  <a:cs typeface="Consolas" pitchFamily="49" charset="0"/>
                </a:rPr>
                <a:t>&gt;lchild</a:t>
              </a:r>
            </a:p>
          </p:txBody>
        </p:sp>
        <p:sp>
          <p:nvSpPr>
            <p:cNvPr id="15" name="Text Box 14">
              <a:extLst>
                <a:ext uri="{FF2B5EF4-FFF2-40B4-BE49-F238E27FC236}">
                  <a16:creationId xmlns:a16="http://schemas.microsoft.com/office/drawing/2014/main" xmlns="" id="{32E9114A-810E-BA9A-CA28-4FF9020A4790}"/>
                </a:ext>
              </a:extLst>
            </p:cNvPr>
            <p:cNvSpPr txBox="1">
              <a:spLocks noChangeArrowheads="1"/>
            </p:cNvSpPr>
            <p:nvPr/>
          </p:nvSpPr>
          <p:spPr bwMode="auto">
            <a:xfrm>
              <a:off x="3944918" y="4448166"/>
              <a:ext cx="1727200" cy="369332"/>
            </a:xfrm>
            <a:prstGeom prst="rect">
              <a:avLst/>
            </a:prstGeom>
            <a:noFill/>
            <a:ln w="28575" algn="ctr">
              <a:noFill/>
              <a:miter lim="800000"/>
              <a:headEnd/>
              <a:tailEnd type="none" w="med" len="lg"/>
            </a:ln>
            <a:effectLst/>
          </p:spPr>
          <p:txBody>
            <a:bodyPr>
              <a:spAutoFit/>
            </a:bodyPr>
            <a:lstStyle/>
            <a:p>
              <a:pPr>
                <a:spcBef>
                  <a:spcPct val="50000"/>
                </a:spcBef>
              </a:pPr>
              <a:r>
                <a:rPr lang="en-US" altLang="zh-CN" sz="1800" i="1" dirty="0">
                  <a:latin typeface="Consolas" pitchFamily="49" charset="0"/>
                  <a:cs typeface="Consolas" pitchFamily="49" charset="0"/>
                </a:rPr>
                <a:t>b</a:t>
              </a:r>
              <a:r>
                <a:rPr lang="en-US" altLang="zh-CN" sz="1800" dirty="0">
                  <a:latin typeface="Consolas" pitchFamily="49" charset="0"/>
                  <a:ea typeface="宋体" charset="-122"/>
                  <a:cs typeface="Consolas" pitchFamily="49" charset="0"/>
                </a:rPr>
                <a:t>-</a:t>
              </a:r>
              <a:r>
                <a:rPr lang="en-US" altLang="zh-CN" sz="1800" dirty="0">
                  <a:latin typeface="Consolas" pitchFamily="49" charset="0"/>
                  <a:cs typeface="Consolas" pitchFamily="49" charset="0"/>
                </a:rPr>
                <a:t>&gt;</a:t>
              </a:r>
              <a:r>
                <a:rPr lang="en-US" altLang="zh-CN" sz="1800" dirty="0" err="1">
                  <a:latin typeface="Consolas" pitchFamily="49" charset="0"/>
                  <a:cs typeface="Consolas" pitchFamily="49" charset="0"/>
                </a:rPr>
                <a:t>rchild</a:t>
              </a:r>
              <a:endParaRPr lang="en-US" altLang="zh-CN" sz="1800" dirty="0">
                <a:latin typeface="Consolas" pitchFamily="49" charset="0"/>
                <a:cs typeface="Consolas" pitchFamily="49" charset="0"/>
              </a:endParaRPr>
            </a:p>
          </p:txBody>
        </p:sp>
      </p:grpSp>
      <p:sp>
        <p:nvSpPr>
          <p:cNvPr id="16" name="TextBox 17">
            <a:extLst>
              <a:ext uri="{FF2B5EF4-FFF2-40B4-BE49-F238E27FC236}">
                <a16:creationId xmlns:a16="http://schemas.microsoft.com/office/drawing/2014/main" xmlns="" id="{08EF1F9B-CEBE-31CC-A958-781773EFE121}"/>
              </a:ext>
            </a:extLst>
          </p:cNvPr>
          <p:cNvSpPr txBox="1"/>
          <p:nvPr/>
        </p:nvSpPr>
        <p:spPr>
          <a:xfrm>
            <a:off x="5481915" y="2613859"/>
            <a:ext cx="2500330" cy="369332"/>
          </a:xfrm>
          <a:prstGeom prst="rect">
            <a:avLst/>
          </a:prstGeom>
          <a:noFill/>
        </p:spPr>
        <p:txBody>
          <a:bodyPr wrap="square" rtlCol="0">
            <a:spAutoFit/>
          </a:bodyPr>
          <a:lstStyle/>
          <a:p>
            <a:r>
              <a:rPr kumimoji="1" lang="en-US" altLang="zh-CN" sz="1800" i="1">
                <a:latin typeface="Consolas" pitchFamily="49" charset="0"/>
                <a:ea typeface="仿宋" pitchFamily="49" charset="-122"/>
                <a:cs typeface="Consolas" pitchFamily="49" charset="0"/>
              </a:rPr>
              <a:t>f</a:t>
            </a:r>
            <a:r>
              <a:rPr kumimoji="1" lang="en-US" altLang="zh-CN"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b</a:t>
            </a:r>
            <a:r>
              <a:rPr kumimoji="1" lang="zh-CN" altLang="en-US"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x</a:t>
            </a:r>
            <a:r>
              <a:rPr kumimoji="1" lang="en-US" altLang="zh-CN" sz="1800">
                <a:latin typeface="Consolas" pitchFamily="49" charset="0"/>
                <a:ea typeface="仿宋" pitchFamily="49" charset="-122"/>
                <a:cs typeface="Consolas" pitchFamily="49" charset="0"/>
              </a:rPr>
              <a:t>)</a:t>
            </a:r>
            <a:r>
              <a:rPr lang="zh-CN" altLang="en-US" sz="180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大问题</a:t>
            </a:r>
          </a:p>
        </p:txBody>
      </p:sp>
      <p:sp>
        <p:nvSpPr>
          <p:cNvPr id="18" name="TextBox 18">
            <a:extLst>
              <a:ext uri="{FF2B5EF4-FFF2-40B4-BE49-F238E27FC236}">
                <a16:creationId xmlns:a16="http://schemas.microsoft.com/office/drawing/2014/main" xmlns="" id="{ED55CD92-2E0B-C6E9-48CD-89848FE4BBCB}"/>
              </a:ext>
            </a:extLst>
          </p:cNvPr>
          <p:cNvSpPr txBox="1"/>
          <p:nvPr/>
        </p:nvSpPr>
        <p:spPr>
          <a:xfrm>
            <a:off x="1267073" y="4071137"/>
            <a:ext cx="3214710" cy="369332"/>
          </a:xfrm>
          <a:prstGeom prst="rect">
            <a:avLst/>
          </a:prstGeom>
          <a:noFill/>
        </p:spPr>
        <p:txBody>
          <a:bodyPr wrap="square" rtlCol="0">
            <a:spAutoFit/>
          </a:bodyPr>
          <a:lstStyle/>
          <a:p>
            <a:pPr algn="l"/>
            <a:r>
              <a:rPr kumimoji="1" lang="en-US" altLang="zh-CN" sz="1800" i="1" dirty="0">
                <a:latin typeface="Consolas" pitchFamily="49" charset="0"/>
                <a:ea typeface="仿宋" pitchFamily="49" charset="-122"/>
                <a:cs typeface="Consolas" pitchFamily="49" charset="0"/>
              </a:rPr>
              <a:t>f</a:t>
            </a:r>
            <a:r>
              <a:rPr kumimoji="1" lang="en-US" altLang="zh-CN" sz="1800" dirty="0">
                <a:latin typeface="Consolas" pitchFamily="49" charset="0"/>
                <a:ea typeface="仿宋" pitchFamily="49" charset="-122"/>
                <a:cs typeface="Consolas" pitchFamily="49" charset="0"/>
              </a:rPr>
              <a:t>(</a:t>
            </a:r>
            <a:r>
              <a:rPr kumimoji="1" lang="en-US" altLang="zh-CN" sz="1800" i="1" dirty="0">
                <a:latin typeface="Consolas" pitchFamily="49" charset="0"/>
                <a:ea typeface="仿宋" pitchFamily="49" charset="-122"/>
                <a:cs typeface="Consolas" pitchFamily="49" charset="0"/>
              </a:rPr>
              <a:t>b</a:t>
            </a:r>
            <a:r>
              <a:rPr kumimoji="1" lang="en-US" altLang="zh-CN" sz="1800" dirty="0">
                <a:latin typeface="Consolas" pitchFamily="49" charset="0"/>
                <a:ea typeface="仿宋" pitchFamily="49" charset="-122"/>
                <a:cs typeface="Consolas" pitchFamily="49" charset="0"/>
              </a:rPr>
              <a:t>-</a:t>
            </a:r>
            <a:r>
              <a:rPr kumimoji="1" lang="en-US" altLang="zh-CN" sz="1800">
                <a:latin typeface="Consolas" pitchFamily="49" charset="0"/>
                <a:ea typeface="仿宋" pitchFamily="49" charset="-122"/>
                <a:cs typeface="Consolas" pitchFamily="49" charset="0"/>
              </a:rPr>
              <a:t>&gt;lchild</a:t>
            </a:r>
            <a:r>
              <a:rPr kumimoji="1" lang="zh-CN" altLang="en-US"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x</a:t>
            </a:r>
            <a:r>
              <a:rPr kumimoji="1" lang="en-US" altLang="zh-CN" sz="1800">
                <a:latin typeface="Consolas" pitchFamily="49" charset="0"/>
                <a:ea typeface="仿宋" pitchFamily="49" charset="-122"/>
                <a:cs typeface="Consolas" pitchFamily="49" charset="0"/>
              </a:rPr>
              <a:t>)</a:t>
            </a:r>
            <a:r>
              <a:rPr lang="zh-CN" altLang="en-US" sz="180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小问题</a:t>
            </a:r>
          </a:p>
        </p:txBody>
      </p:sp>
      <p:sp>
        <p:nvSpPr>
          <p:cNvPr id="21" name="TextBox 19">
            <a:extLst>
              <a:ext uri="{FF2B5EF4-FFF2-40B4-BE49-F238E27FC236}">
                <a16:creationId xmlns:a16="http://schemas.microsoft.com/office/drawing/2014/main" xmlns="" id="{D4A19B05-47BE-B14F-AB32-1740EAD9767D}"/>
              </a:ext>
            </a:extLst>
          </p:cNvPr>
          <p:cNvSpPr txBox="1"/>
          <p:nvPr/>
        </p:nvSpPr>
        <p:spPr>
          <a:xfrm>
            <a:off x="6839237" y="4042619"/>
            <a:ext cx="3286148" cy="369332"/>
          </a:xfrm>
          <a:prstGeom prst="rect">
            <a:avLst/>
          </a:prstGeom>
          <a:noFill/>
        </p:spPr>
        <p:txBody>
          <a:bodyPr wrap="square" rtlCol="0">
            <a:spAutoFit/>
          </a:bodyPr>
          <a:lstStyle/>
          <a:p>
            <a:pPr algn="l"/>
            <a:r>
              <a:rPr kumimoji="1" lang="en-US" altLang="zh-CN" sz="1800" i="1" dirty="0">
                <a:latin typeface="Consolas" pitchFamily="49" charset="0"/>
                <a:ea typeface="仿宋" pitchFamily="49" charset="-122"/>
                <a:cs typeface="Consolas" pitchFamily="49" charset="0"/>
              </a:rPr>
              <a:t>f</a:t>
            </a:r>
            <a:r>
              <a:rPr kumimoji="1" lang="en-US" altLang="zh-CN" sz="1800" dirty="0">
                <a:latin typeface="Consolas" pitchFamily="49" charset="0"/>
                <a:ea typeface="仿宋" pitchFamily="49" charset="-122"/>
                <a:cs typeface="Consolas" pitchFamily="49" charset="0"/>
              </a:rPr>
              <a:t>(</a:t>
            </a:r>
            <a:r>
              <a:rPr kumimoji="1" lang="en-US" altLang="zh-CN" sz="1800" i="1" dirty="0">
                <a:latin typeface="Consolas" pitchFamily="49" charset="0"/>
                <a:ea typeface="仿宋" pitchFamily="49" charset="-122"/>
                <a:cs typeface="Consolas" pitchFamily="49" charset="0"/>
              </a:rPr>
              <a:t>b</a:t>
            </a:r>
            <a:r>
              <a:rPr kumimoji="1" lang="en-US" altLang="zh-CN" sz="1800" dirty="0">
                <a:latin typeface="Consolas" pitchFamily="49" charset="0"/>
                <a:ea typeface="仿宋" pitchFamily="49" charset="-122"/>
                <a:cs typeface="Consolas" pitchFamily="49" charset="0"/>
              </a:rPr>
              <a:t>-</a:t>
            </a:r>
            <a:r>
              <a:rPr kumimoji="1" lang="en-US" altLang="zh-CN" sz="1800">
                <a:latin typeface="Consolas" pitchFamily="49" charset="0"/>
                <a:ea typeface="仿宋" pitchFamily="49" charset="-122"/>
                <a:cs typeface="Consolas" pitchFamily="49" charset="0"/>
              </a:rPr>
              <a:t>&gt;rchild</a:t>
            </a:r>
            <a:r>
              <a:rPr kumimoji="1" lang="zh-CN" altLang="en-US"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x</a:t>
            </a:r>
            <a:r>
              <a:rPr kumimoji="1" lang="en-US" altLang="zh-CN" sz="1800">
                <a:latin typeface="Consolas" pitchFamily="49" charset="0"/>
                <a:ea typeface="仿宋" pitchFamily="49" charset="-122"/>
                <a:cs typeface="Consolas" pitchFamily="49" charset="0"/>
              </a:rPr>
              <a:t>)</a:t>
            </a:r>
            <a:r>
              <a:rPr lang="zh-CN" altLang="en-US" sz="180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小问题</a:t>
            </a:r>
          </a:p>
        </p:txBody>
      </p:sp>
      <p:sp>
        <p:nvSpPr>
          <p:cNvPr id="24" name="TextBox 20">
            <a:extLst>
              <a:ext uri="{FF2B5EF4-FFF2-40B4-BE49-F238E27FC236}">
                <a16:creationId xmlns:a16="http://schemas.microsoft.com/office/drawing/2014/main" xmlns="" id="{5212DB0D-DD86-873C-CBC2-14A312112185}"/>
              </a:ext>
            </a:extLst>
          </p:cNvPr>
          <p:cNvSpPr txBox="1"/>
          <p:nvPr/>
        </p:nvSpPr>
        <p:spPr>
          <a:xfrm>
            <a:off x="1066485" y="5445056"/>
            <a:ext cx="1933171" cy="400110"/>
          </a:xfrm>
          <a:prstGeom prst="rect">
            <a:avLst/>
          </a:prstGeom>
          <a:noFill/>
        </p:spPr>
        <p:txBody>
          <a:bodyPr wrap="square" rtlCol="0">
            <a:spAutoFit/>
          </a:bodyPr>
          <a:lstStyle/>
          <a:p>
            <a:pPr algn="l"/>
            <a:r>
              <a:rPr kumimoji="1" lang="zh-CN" altLang="en-US" sz="2000" dirty="0">
                <a:ea typeface="楷体" pitchFamily="49" charset="-122"/>
                <a:cs typeface="Times New Roman" pitchFamily="18" charset="0"/>
              </a:rPr>
              <a:t>递归模型如下：</a:t>
            </a:r>
            <a:endParaRPr lang="zh-CN" altLang="en-US" sz="2000" dirty="0"/>
          </a:p>
        </p:txBody>
      </p:sp>
      <p:sp>
        <p:nvSpPr>
          <p:cNvPr id="25" name="TextBox 21">
            <a:extLst>
              <a:ext uri="{FF2B5EF4-FFF2-40B4-BE49-F238E27FC236}">
                <a16:creationId xmlns:a16="http://schemas.microsoft.com/office/drawing/2014/main" xmlns="" id="{6F3C85C8-E880-50BA-2C59-C005A6EA997C}"/>
              </a:ext>
            </a:extLst>
          </p:cNvPr>
          <p:cNvSpPr txBox="1"/>
          <p:nvPr/>
        </p:nvSpPr>
        <p:spPr>
          <a:xfrm>
            <a:off x="3054563" y="5307812"/>
            <a:ext cx="8572560" cy="1326105"/>
          </a:xfrm>
          <a:prstGeom prst="rect">
            <a:avLst/>
          </a:prstGeom>
          <a:solidFill>
            <a:schemeClr val="bg1">
              <a:lumMod val="95000"/>
            </a:schemeClr>
          </a:solidFill>
        </p:spPr>
        <p:style>
          <a:lnRef idx="1">
            <a:schemeClr val="accent5"/>
          </a:lnRef>
          <a:fillRef idx="2">
            <a:schemeClr val="accent5"/>
          </a:fillRef>
          <a:effectRef idx="1">
            <a:schemeClr val="accent5"/>
          </a:effectRef>
          <a:fontRef idx="minor">
            <a:schemeClr val="dk1"/>
          </a:fontRef>
        </p:style>
        <p:txBody>
          <a:bodyPr wrap="square" lIns="144000" tIns="108000" rIns="108000" bIns="108000" rtlCol="0">
            <a:spAutoFit/>
          </a:bodyPr>
          <a:lstStyle/>
          <a:p>
            <a:pPr algn="l"/>
            <a:r>
              <a:rPr lang="en-US" sz="1800" i="1">
                <a:solidFill>
                  <a:srgbClr val="FF0000"/>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x</a:t>
            </a:r>
            <a:r>
              <a:rPr lang="en-US" sz="1800" dirty="0">
                <a:solidFill>
                  <a:srgbClr val="3333FF"/>
                </a:solidFill>
                <a:latin typeface="Consolas" pitchFamily="49" charset="0"/>
                <a:ea typeface="仿宋" pitchFamily="49" charset="-122"/>
                <a:cs typeface="Consolas" pitchFamily="49" charset="0"/>
              </a:rPr>
              <a:t>) = NULL			</a:t>
            </a:r>
            <a:r>
              <a:rPr lang="zh-CN" altLang="en-US" sz="1800">
                <a:solidFill>
                  <a:srgbClr val="00B0F0"/>
                </a:solidFill>
                <a:latin typeface="Consolas" pitchFamily="49" charset="0"/>
                <a:ea typeface="仿宋" pitchFamily="49" charset="-122"/>
                <a:cs typeface="Consolas" pitchFamily="49" charset="0"/>
              </a:rPr>
              <a:t>若</a:t>
            </a:r>
            <a:r>
              <a:rPr lang="en-US" sz="1800" i="1">
                <a:solidFill>
                  <a:srgbClr val="00B0F0"/>
                </a:solidFill>
                <a:latin typeface="Consolas" pitchFamily="49" charset="0"/>
                <a:ea typeface="仿宋" pitchFamily="49" charset="-122"/>
                <a:cs typeface="Consolas" pitchFamily="49" charset="0"/>
              </a:rPr>
              <a:t>b</a:t>
            </a:r>
            <a:r>
              <a:rPr lang="en-US" sz="1800">
                <a:solidFill>
                  <a:srgbClr val="00B0F0"/>
                </a:solidFill>
                <a:latin typeface="Consolas" pitchFamily="49" charset="0"/>
                <a:ea typeface="仿宋" pitchFamily="49" charset="-122"/>
                <a:cs typeface="Consolas" pitchFamily="49" charset="0"/>
              </a:rPr>
              <a:t>=NULL</a:t>
            </a:r>
            <a:endParaRPr lang="zh-CN" altLang="en-US" sz="1800" dirty="0">
              <a:solidFill>
                <a:srgbClr val="00B0F0"/>
              </a:solidFill>
              <a:latin typeface="Consolas" pitchFamily="49" charset="0"/>
              <a:ea typeface="仿宋" pitchFamily="49" charset="-122"/>
              <a:cs typeface="Consolas" pitchFamily="49" charset="0"/>
            </a:endParaRPr>
          </a:p>
          <a:p>
            <a:pPr algn="l"/>
            <a:r>
              <a:rPr lang="en-US" sz="1800" i="1">
                <a:solidFill>
                  <a:srgbClr val="FF0000"/>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x</a:t>
            </a:r>
            <a:r>
              <a:rPr lang="en-US" sz="1800" dirty="0">
                <a:solidFill>
                  <a:srgbClr val="3333FF"/>
                </a:solidFill>
                <a:latin typeface="Consolas" pitchFamily="49" charset="0"/>
                <a:ea typeface="仿宋" pitchFamily="49" charset="-122"/>
                <a:cs typeface="Consolas" pitchFamily="49" charset="0"/>
              </a:rPr>
              <a:t>) = </a:t>
            </a:r>
            <a:r>
              <a:rPr lang="en-US" sz="1800" i="1" dirty="0">
                <a:solidFill>
                  <a:srgbClr val="3333FF"/>
                </a:solidFill>
                <a:latin typeface="Consolas" pitchFamily="49" charset="0"/>
                <a:ea typeface="仿宋" pitchFamily="49" charset="-122"/>
                <a:cs typeface="Consolas" pitchFamily="49" charset="0"/>
              </a:rPr>
              <a:t>b</a:t>
            </a:r>
            <a:r>
              <a:rPr lang="en-US" sz="1800" dirty="0">
                <a:solidFill>
                  <a:srgbClr val="3333FF"/>
                </a:solidFill>
                <a:latin typeface="Consolas" pitchFamily="49" charset="0"/>
                <a:ea typeface="仿宋" pitchFamily="49" charset="-122"/>
                <a:cs typeface="Consolas" pitchFamily="49" charset="0"/>
              </a:rPr>
              <a:t>			</a:t>
            </a:r>
            <a:r>
              <a:rPr lang="zh-CN" altLang="en-US" sz="1800" dirty="0">
                <a:solidFill>
                  <a:srgbClr val="00B0F0"/>
                </a:solidFill>
                <a:latin typeface="Consolas" pitchFamily="49" charset="0"/>
                <a:ea typeface="仿宋" pitchFamily="49" charset="-122"/>
                <a:cs typeface="Consolas" pitchFamily="49" charset="0"/>
              </a:rPr>
              <a:t>若</a:t>
            </a:r>
            <a:r>
              <a:rPr lang="en-US" sz="1800" i="1" dirty="0">
                <a:solidFill>
                  <a:srgbClr val="00B0F0"/>
                </a:solidFill>
                <a:latin typeface="Consolas" pitchFamily="49" charset="0"/>
                <a:ea typeface="仿宋" pitchFamily="49" charset="-122"/>
                <a:cs typeface="Consolas" pitchFamily="49" charset="0"/>
              </a:rPr>
              <a:t>b</a:t>
            </a:r>
            <a:r>
              <a:rPr lang="en-US" sz="1800" dirty="0">
                <a:solidFill>
                  <a:srgbClr val="00B0F0"/>
                </a:solidFill>
                <a:latin typeface="Consolas" pitchFamily="49" charset="0"/>
                <a:ea typeface="仿宋" pitchFamily="49" charset="-122"/>
                <a:cs typeface="Consolas" pitchFamily="49" charset="0"/>
              </a:rPr>
              <a:t>-&gt;data==</a:t>
            </a:r>
            <a:r>
              <a:rPr lang="en-US" sz="1800" i="1" dirty="0">
                <a:solidFill>
                  <a:srgbClr val="00B0F0"/>
                </a:solidFill>
                <a:latin typeface="Consolas" pitchFamily="49" charset="0"/>
                <a:ea typeface="仿宋" pitchFamily="49" charset="-122"/>
                <a:cs typeface="Consolas" pitchFamily="49" charset="0"/>
              </a:rPr>
              <a:t>x</a:t>
            </a:r>
            <a:endParaRPr lang="zh-CN" altLang="en-US" sz="1800" i="1" dirty="0">
              <a:solidFill>
                <a:srgbClr val="00B0F0"/>
              </a:solidFill>
              <a:latin typeface="Consolas" pitchFamily="49" charset="0"/>
              <a:ea typeface="仿宋" pitchFamily="49" charset="-122"/>
              <a:cs typeface="Consolas" pitchFamily="49" charset="0"/>
            </a:endParaRPr>
          </a:p>
          <a:p>
            <a:pPr algn="l"/>
            <a:r>
              <a:rPr lang="en-US" sz="1800" i="1">
                <a:solidFill>
                  <a:srgbClr val="FF0000"/>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x</a:t>
            </a:r>
            <a:r>
              <a:rPr lang="en-US" sz="1800" dirty="0">
                <a:solidFill>
                  <a:srgbClr val="3333FF"/>
                </a:solidFill>
                <a:latin typeface="Consolas" pitchFamily="49" charset="0"/>
                <a:ea typeface="仿宋" pitchFamily="49" charset="-122"/>
                <a:cs typeface="Consolas" pitchFamily="49" charset="0"/>
              </a:rPr>
              <a:t>) =</a:t>
            </a:r>
            <a:r>
              <a:rPr lang="en-US" sz="1800" i="1" dirty="0">
                <a:solidFill>
                  <a:srgbClr val="3333FF"/>
                </a:solidFill>
                <a:latin typeface="Consolas" pitchFamily="49" charset="0"/>
                <a:ea typeface="仿宋" pitchFamily="49" charset="-122"/>
                <a:cs typeface="Consolas" pitchFamily="49" charset="0"/>
              </a:rPr>
              <a:t> p</a:t>
            </a:r>
            <a:r>
              <a:rPr lang="en-US" sz="1800" dirty="0">
                <a:solidFill>
                  <a:srgbClr val="3333FF"/>
                </a:solidFill>
                <a:latin typeface="Consolas" pitchFamily="49" charset="0"/>
                <a:ea typeface="仿宋" pitchFamily="49" charset="-122"/>
                <a:cs typeface="Consolas" pitchFamily="49" charset="0"/>
              </a:rPr>
              <a:t>	    </a:t>
            </a:r>
            <a:r>
              <a:rPr lang="zh-CN" altLang="en-US" sz="1800" dirty="0">
                <a:solidFill>
                  <a:srgbClr val="00B0F0"/>
                </a:solidFill>
                <a:latin typeface="Consolas" pitchFamily="49" charset="0"/>
                <a:ea typeface="仿宋" pitchFamily="49" charset="-122"/>
                <a:cs typeface="Consolas" pitchFamily="49" charset="0"/>
              </a:rPr>
              <a:t>若在左子树中</a:t>
            </a:r>
            <a:r>
              <a:rPr lang="zh-CN" altLang="en-US" sz="1800">
                <a:solidFill>
                  <a:srgbClr val="00B0F0"/>
                </a:solidFill>
                <a:latin typeface="Consolas" pitchFamily="49" charset="0"/>
                <a:ea typeface="仿宋" pitchFamily="49" charset="-122"/>
                <a:cs typeface="Consolas" pitchFamily="49" charset="0"/>
              </a:rPr>
              <a:t>找到了，即</a:t>
            </a:r>
            <a:r>
              <a:rPr lang="en-US" sz="1800" i="1" dirty="0">
                <a:solidFill>
                  <a:srgbClr val="00B0F0"/>
                </a:solidFill>
                <a:latin typeface="Consolas" pitchFamily="49" charset="0"/>
                <a:ea typeface="仿宋" pitchFamily="49" charset="-122"/>
                <a:cs typeface="Consolas" pitchFamily="49" charset="0"/>
              </a:rPr>
              <a:t>p</a:t>
            </a:r>
            <a:r>
              <a:rPr lang="en-US" sz="1800" dirty="0">
                <a:solidFill>
                  <a:srgbClr val="00B0F0"/>
                </a:solidFill>
                <a:latin typeface="Consolas" pitchFamily="49" charset="0"/>
                <a:ea typeface="仿宋" pitchFamily="49" charset="-122"/>
                <a:cs typeface="Consolas" pitchFamily="49" charset="0"/>
              </a:rPr>
              <a:t>=</a:t>
            </a:r>
            <a:r>
              <a:rPr lang="en-US" sz="1800" i="1" dirty="0">
                <a:solidFill>
                  <a:srgbClr val="FF0000"/>
                </a:solidFill>
                <a:latin typeface="Consolas" pitchFamily="49" charset="0"/>
                <a:ea typeface="仿宋" pitchFamily="49" charset="-122"/>
                <a:cs typeface="Consolas" pitchFamily="49" charset="0"/>
              </a:rPr>
              <a:t>f</a:t>
            </a:r>
            <a:r>
              <a:rPr lang="en-US" sz="1800" dirty="0">
                <a:solidFill>
                  <a:srgbClr val="00B0F0"/>
                </a:solidFill>
                <a:latin typeface="Consolas" pitchFamily="49" charset="0"/>
                <a:ea typeface="仿宋" pitchFamily="49" charset="-122"/>
                <a:cs typeface="Consolas" pitchFamily="49" charset="0"/>
              </a:rPr>
              <a:t>(</a:t>
            </a:r>
            <a:r>
              <a:rPr lang="en-US" sz="1800" i="1" dirty="0">
                <a:solidFill>
                  <a:srgbClr val="00B0F0"/>
                </a:solidFill>
                <a:latin typeface="Consolas" pitchFamily="49" charset="0"/>
                <a:ea typeface="仿宋" pitchFamily="49" charset="-122"/>
                <a:cs typeface="Consolas" pitchFamily="49" charset="0"/>
              </a:rPr>
              <a:t>b</a:t>
            </a:r>
            <a:r>
              <a:rPr lang="en-US" sz="1800" dirty="0">
                <a:solidFill>
                  <a:srgbClr val="00B0F0"/>
                </a:solidFill>
                <a:latin typeface="Consolas" pitchFamily="49" charset="0"/>
                <a:ea typeface="仿宋" pitchFamily="49" charset="-122"/>
                <a:cs typeface="Consolas" pitchFamily="49" charset="0"/>
              </a:rPr>
              <a:t>-</a:t>
            </a:r>
            <a:r>
              <a:rPr lang="en-US" sz="1800">
                <a:solidFill>
                  <a:srgbClr val="00B0F0"/>
                </a:solidFill>
                <a:latin typeface="Consolas" pitchFamily="49" charset="0"/>
                <a:ea typeface="仿宋" pitchFamily="49" charset="-122"/>
                <a:cs typeface="Consolas" pitchFamily="49" charset="0"/>
              </a:rPr>
              <a:t>&gt;lchild，</a:t>
            </a:r>
            <a:r>
              <a:rPr lang="en-US" sz="1800" i="1">
                <a:solidFill>
                  <a:srgbClr val="00B0F0"/>
                </a:solidFill>
                <a:latin typeface="Consolas" pitchFamily="49" charset="0"/>
                <a:ea typeface="仿宋" pitchFamily="49" charset="-122"/>
                <a:cs typeface="Consolas" pitchFamily="49" charset="0"/>
              </a:rPr>
              <a:t>x</a:t>
            </a:r>
            <a:r>
              <a:rPr lang="en-US" sz="1800" dirty="0">
                <a:solidFill>
                  <a:srgbClr val="00B0F0"/>
                </a:solidFill>
                <a:latin typeface="Consolas" pitchFamily="49" charset="0"/>
                <a:ea typeface="仿宋" pitchFamily="49" charset="-122"/>
                <a:cs typeface="Consolas" pitchFamily="49" charset="0"/>
              </a:rPr>
              <a:t>)</a:t>
            </a:r>
            <a:r>
              <a:rPr lang="zh-CN" altLang="en-US" sz="1800" dirty="0">
                <a:solidFill>
                  <a:srgbClr val="00B0F0"/>
                </a:solidFill>
                <a:latin typeface="Consolas" pitchFamily="49" charset="0"/>
                <a:ea typeface="仿宋" pitchFamily="49" charset="-122"/>
                <a:cs typeface="Consolas" pitchFamily="49" charset="0"/>
              </a:rPr>
              <a:t>且</a:t>
            </a:r>
            <a:r>
              <a:rPr lang="en-US" sz="1800" i="1" dirty="0">
                <a:solidFill>
                  <a:srgbClr val="00B0F0"/>
                </a:solidFill>
                <a:latin typeface="Consolas" pitchFamily="49" charset="0"/>
                <a:ea typeface="仿宋" pitchFamily="49" charset="-122"/>
                <a:cs typeface="Consolas" pitchFamily="49" charset="0"/>
              </a:rPr>
              <a:t>p</a:t>
            </a:r>
            <a:r>
              <a:rPr lang="en-US" sz="1800" dirty="0">
                <a:solidFill>
                  <a:srgbClr val="00B0F0"/>
                </a:solidFill>
                <a:latin typeface="Consolas" pitchFamily="49" charset="0"/>
                <a:ea typeface="仿宋" pitchFamily="49" charset="-122"/>
                <a:cs typeface="Consolas" pitchFamily="49" charset="0"/>
              </a:rPr>
              <a:t>!=NULL</a:t>
            </a:r>
            <a:endParaRPr lang="zh-CN" altLang="en-US" sz="1800" dirty="0">
              <a:solidFill>
                <a:srgbClr val="00B0F0"/>
              </a:solidFill>
              <a:latin typeface="Consolas" pitchFamily="49" charset="0"/>
              <a:ea typeface="仿宋" pitchFamily="49" charset="-122"/>
              <a:cs typeface="Consolas" pitchFamily="49" charset="0"/>
            </a:endParaRPr>
          </a:p>
          <a:p>
            <a:pPr algn="l"/>
            <a:r>
              <a:rPr lang="en-US" sz="1800" i="1">
                <a:solidFill>
                  <a:srgbClr val="FF0000"/>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x</a:t>
            </a:r>
            <a:r>
              <a:rPr lang="en-US" sz="1800" dirty="0">
                <a:solidFill>
                  <a:srgbClr val="3333FF"/>
                </a:solidFill>
                <a:latin typeface="Consolas" pitchFamily="49" charset="0"/>
                <a:ea typeface="仿宋" pitchFamily="49" charset="-122"/>
                <a:cs typeface="Consolas" pitchFamily="49" charset="0"/>
              </a:rPr>
              <a:t>) = </a:t>
            </a:r>
            <a:r>
              <a:rPr lang="en-US" sz="1800" i="1" dirty="0">
                <a:solidFill>
                  <a:srgbClr val="FF0000"/>
                </a:solidFill>
                <a:latin typeface="Consolas" pitchFamily="49" charset="0"/>
                <a:ea typeface="仿宋" pitchFamily="49" charset="-122"/>
                <a:cs typeface="Consolas" pitchFamily="49" charset="0"/>
              </a:rPr>
              <a:t>f</a:t>
            </a:r>
            <a:r>
              <a:rPr lang="en-US" sz="1800" dirty="0">
                <a:solidFill>
                  <a:srgbClr val="3333FF"/>
                </a:solidFill>
                <a:latin typeface="Consolas" pitchFamily="49" charset="0"/>
                <a:ea typeface="仿宋" pitchFamily="49" charset="-122"/>
                <a:cs typeface="Consolas" pitchFamily="49" charset="0"/>
              </a:rPr>
              <a:t>(</a:t>
            </a:r>
            <a:r>
              <a:rPr lang="en-US" sz="1800" i="1" dirty="0">
                <a:solidFill>
                  <a:srgbClr val="3333FF"/>
                </a:solidFill>
                <a:latin typeface="Consolas" pitchFamily="49" charset="0"/>
                <a:ea typeface="仿宋" pitchFamily="49" charset="-122"/>
                <a:cs typeface="Consolas" pitchFamily="49" charset="0"/>
              </a:rPr>
              <a:t>b</a:t>
            </a:r>
            <a:r>
              <a:rPr lang="en-US" sz="1800" dirty="0">
                <a:solidFill>
                  <a:srgbClr val="3333FF"/>
                </a:solidFill>
                <a:latin typeface="Consolas" pitchFamily="49" charset="0"/>
                <a:ea typeface="仿宋" pitchFamily="49" charset="-122"/>
                <a:cs typeface="Consolas" pitchFamily="49" charset="0"/>
              </a:rPr>
              <a:t>-</a:t>
            </a:r>
            <a:r>
              <a:rPr lang="en-US" sz="1800">
                <a:solidFill>
                  <a:srgbClr val="3333FF"/>
                </a:solidFill>
                <a:latin typeface="Consolas" pitchFamily="49" charset="0"/>
                <a:ea typeface="仿宋" pitchFamily="49" charset="-122"/>
                <a:cs typeface="Consolas" pitchFamily="49" charset="0"/>
              </a:rPr>
              <a:t>&gt;rchild，</a:t>
            </a:r>
            <a:r>
              <a:rPr lang="en-US" sz="1800" i="1">
                <a:solidFill>
                  <a:srgbClr val="3333FF"/>
                </a:solidFill>
                <a:latin typeface="Consolas" pitchFamily="49" charset="0"/>
                <a:ea typeface="仿宋" pitchFamily="49" charset="-122"/>
                <a:cs typeface="Consolas" pitchFamily="49" charset="0"/>
              </a:rPr>
              <a:t>x</a:t>
            </a:r>
            <a:r>
              <a:rPr lang="en-US" sz="1800" dirty="0">
                <a:solidFill>
                  <a:srgbClr val="3333FF"/>
                </a:solidFill>
                <a:latin typeface="Consolas" pitchFamily="49" charset="0"/>
                <a:ea typeface="仿宋" pitchFamily="49" charset="-122"/>
                <a:cs typeface="Consolas" pitchFamily="49" charset="0"/>
              </a:rPr>
              <a:t>)</a:t>
            </a:r>
            <a:r>
              <a:rPr lang="en-US" sz="1800">
                <a:solidFill>
                  <a:srgbClr val="3333FF"/>
                </a:solidFill>
                <a:latin typeface="Consolas" pitchFamily="49" charset="0"/>
                <a:ea typeface="仿宋" pitchFamily="49" charset="-122"/>
                <a:cs typeface="Consolas" pitchFamily="49" charset="0"/>
              </a:rPr>
              <a:t>	</a:t>
            </a:r>
            <a:r>
              <a:rPr lang="zh-CN" altLang="en-US" sz="1800">
                <a:solidFill>
                  <a:srgbClr val="00B0F0"/>
                </a:solidFill>
                <a:latin typeface="Consolas" pitchFamily="49" charset="0"/>
                <a:ea typeface="仿宋" pitchFamily="49" charset="-122"/>
                <a:cs typeface="Consolas" pitchFamily="49" charset="0"/>
              </a:rPr>
              <a:t>其他</a:t>
            </a:r>
            <a:r>
              <a:rPr lang="zh-CN" altLang="en-US" sz="1800" dirty="0">
                <a:solidFill>
                  <a:srgbClr val="00B0F0"/>
                </a:solidFill>
                <a:latin typeface="Consolas" pitchFamily="49" charset="0"/>
                <a:ea typeface="仿宋" pitchFamily="49" charset="-122"/>
                <a:cs typeface="Consolas" pitchFamily="49" charset="0"/>
              </a:rPr>
              <a:t>情况</a:t>
            </a:r>
          </a:p>
        </p:txBody>
      </p:sp>
    </p:spTree>
    <p:extLst>
      <p:ext uri="{BB962C8B-B14F-4D97-AF65-F5344CB8AC3E}">
        <p14:creationId xmlns:p14="http://schemas.microsoft.com/office/powerpoint/2010/main" val="2630358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25">
                                            <p:bg/>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xEl>
                                              <p:pRg st="0" end="0"/>
                                            </p:tx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5">
                                            <p:txEl>
                                              <p:pRg st="1" end="1"/>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5">
                                            <p:txEl>
                                              <p:pRg st="2" end="2"/>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nodeType="clickEffect">
                                  <p:stCondLst>
                                    <p:cond delay="0"/>
                                  </p:stCondLst>
                                  <p:childTnLst>
                                    <p:animEffect transition="out" filter="fade">
                                      <p:cBhvr>
                                        <p:cTn id="31" dur="500" tmFilter="0, 0; .2, .5; .8, .5; 1, 0"/>
                                        <p:tgtEl>
                                          <p:spTgt spid="25">
                                            <p:txEl>
                                              <p:pRg st="0" end="0"/>
                                            </p:txEl>
                                          </p:spTgt>
                                        </p:tgtEl>
                                      </p:cBhvr>
                                    </p:animEffect>
                                    <p:animScale>
                                      <p:cBhvr>
                                        <p:cTn id="32" dur="250" autoRev="1" fill="hold"/>
                                        <p:tgtEl>
                                          <p:spTgt spid="25">
                                            <p:txEl>
                                              <p:pRg st="0" end="0"/>
                                            </p:txEl>
                                          </p:spTgt>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26" presetClass="emph" presetSubtype="0" fill="hold" nodeType="clickEffect">
                                  <p:stCondLst>
                                    <p:cond delay="0"/>
                                  </p:stCondLst>
                                  <p:childTnLst>
                                    <p:animEffect transition="out" filter="fade">
                                      <p:cBhvr>
                                        <p:cTn id="36" dur="500" tmFilter="0, 0; .2, .5; .8, .5; 1, 0"/>
                                        <p:tgtEl>
                                          <p:spTgt spid="25">
                                            <p:txEl>
                                              <p:pRg st="1" end="1"/>
                                            </p:txEl>
                                          </p:spTgt>
                                        </p:tgtEl>
                                      </p:cBhvr>
                                    </p:animEffect>
                                    <p:animScale>
                                      <p:cBhvr>
                                        <p:cTn id="37" dur="250" autoRev="1" fill="hold"/>
                                        <p:tgtEl>
                                          <p:spTgt spid="25">
                                            <p:txEl>
                                              <p:pRg st="1" end="1"/>
                                            </p:txEl>
                                          </p:spTgt>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26" presetClass="emph" presetSubtype="0" fill="hold" nodeType="clickEffect">
                                  <p:stCondLst>
                                    <p:cond delay="0"/>
                                  </p:stCondLst>
                                  <p:childTnLst>
                                    <p:animEffect transition="out" filter="fade">
                                      <p:cBhvr>
                                        <p:cTn id="41" dur="500" tmFilter="0, 0; .2, .5; .8, .5; 1, 0"/>
                                        <p:tgtEl>
                                          <p:spTgt spid="25">
                                            <p:txEl>
                                              <p:pRg st="2" end="2"/>
                                            </p:txEl>
                                          </p:spTgt>
                                        </p:tgtEl>
                                      </p:cBhvr>
                                    </p:animEffect>
                                    <p:animScale>
                                      <p:cBhvr>
                                        <p:cTn id="42" dur="250" autoRev="1" fill="hold"/>
                                        <p:tgtEl>
                                          <p:spTgt spid="25">
                                            <p:txEl>
                                              <p:pRg st="2" end="2"/>
                                            </p:txEl>
                                          </p:spTgt>
                                        </p:tgtEl>
                                      </p:cBhvr>
                                      <p:by x="105000" y="105000"/>
                                    </p:animScale>
                                  </p:childTnLst>
                                </p:cTn>
                              </p:par>
                            </p:childTnLst>
                          </p:cTn>
                        </p:par>
                      </p:childTnLst>
                    </p:cTn>
                  </p:par>
                  <p:par>
                    <p:cTn id="43" fill="hold">
                      <p:stCondLst>
                        <p:cond delay="indefinite"/>
                      </p:stCondLst>
                      <p:childTnLst>
                        <p:par>
                          <p:cTn id="44" fill="hold">
                            <p:stCondLst>
                              <p:cond delay="0"/>
                            </p:stCondLst>
                            <p:childTnLst>
                              <p:par>
                                <p:cTn id="45" presetID="26" presetClass="emph" presetSubtype="0" fill="hold" nodeType="clickEffect">
                                  <p:stCondLst>
                                    <p:cond delay="0"/>
                                  </p:stCondLst>
                                  <p:childTnLst>
                                    <p:animEffect transition="out" filter="fade">
                                      <p:cBhvr>
                                        <p:cTn id="46" dur="500" tmFilter="0, 0; .2, .5; .8, .5; 1, 0"/>
                                        <p:tgtEl>
                                          <p:spTgt spid="25">
                                            <p:txEl>
                                              <p:pRg st="3" end="3"/>
                                            </p:txEl>
                                          </p:spTgt>
                                        </p:tgtEl>
                                      </p:cBhvr>
                                    </p:animEffect>
                                    <p:animScale>
                                      <p:cBhvr>
                                        <p:cTn id="47" dur="250" autoRev="1" fill="hold"/>
                                        <p:tgtEl>
                                          <p:spTgt spid="25">
                                            <p:txEl>
                                              <p:pRg st="3" end="3"/>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1" grpId="0"/>
      <p:bldP spid="24" grpId="0"/>
      <p:bldP spid="25" grpId="0" build="allAtOnce"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2F525-06EF-5AD7-958C-FFD7AA07843E}"/>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B064E3CF-3171-8EFB-7BD2-60D5FCBF99DC}"/>
              </a:ext>
            </a:extLst>
          </p:cNvPr>
          <p:cNvSpPr/>
          <p:nvPr/>
        </p:nvSpPr>
        <p:spPr>
          <a:xfrm>
            <a:off x="3647728" y="118989"/>
            <a:ext cx="569547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7.4 </a:t>
            </a:r>
            <a:r>
              <a:rPr lang="zh-CN" altLang="en-US" sz="3000" b="1" dirty="0">
                <a:latin typeface="黑体" pitchFamily="49" charset="-122"/>
                <a:ea typeface="黑体" pitchFamily="49" charset="-122"/>
                <a:cs typeface="经典粗黑简" pitchFamily="49" charset="-122"/>
              </a:rPr>
              <a:t>二叉树基本运算及其实现</a:t>
            </a:r>
          </a:p>
        </p:txBody>
      </p:sp>
      <p:sp>
        <p:nvSpPr>
          <p:cNvPr id="19" name="Rectangle 2">
            <a:extLst>
              <a:ext uri="{FF2B5EF4-FFF2-40B4-BE49-F238E27FC236}">
                <a16:creationId xmlns:a16="http://schemas.microsoft.com/office/drawing/2014/main" xmlns="" id="{4DDDCF06-5ECA-277D-8BB0-7CA2818A7D54}"/>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7.4.1 </a:t>
            </a:r>
            <a:r>
              <a:rPr lang="zh-CN" altLang="en-US" dirty="0"/>
              <a:t>二叉树的基本运算概述</a:t>
            </a:r>
          </a:p>
        </p:txBody>
      </p:sp>
      <p:cxnSp>
        <p:nvCxnSpPr>
          <p:cNvPr id="20" name="直接连接符 19">
            <a:extLst>
              <a:ext uri="{FF2B5EF4-FFF2-40B4-BE49-F238E27FC236}">
                <a16:creationId xmlns:a16="http://schemas.microsoft.com/office/drawing/2014/main" xmlns="" id="{9CA2508B-BF83-E3FA-7D5B-D7FD5D163A93}"/>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4">
            <a:extLst>
              <a:ext uri="{FF2B5EF4-FFF2-40B4-BE49-F238E27FC236}">
                <a16:creationId xmlns:a16="http://schemas.microsoft.com/office/drawing/2014/main" xmlns="" id="{7073909C-4355-C943-3A92-F6082DAC11B1}"/>
              </a:ext>
            </a:extLst>
          </p:cNvPr>
          <p:cNvSpPr txBox="1">
            <a:spLocks noChangeArrowheads="1"/>
          </p:cNvSpPr>
          <p:nvPr/>
        </p:nvSpPr>
        <p:spPr bwMode="auto">
          <a:xfrm>
            <a:off x="1055440" y="1537336"/>
            <a:ext cx="3960440" cy="400110"/>
          </a:xfrm>
          <a:prstGeom prst="rect">
            <a:avLst/>
          </a:prstGeom>
          <a:ln>
            <a:headEnd/>
            <a:tailEnd type="none" w="med" len="lg"/>
          </a:ln>
        </p:spPr>
        <p:style>
          <a:lnRef idx="1">
            <a:schemeClr val="accent5"/>
          </a:lnRef>
          <a:fillRef idx="3">
            <a:schemeClr val="accent5"/>
          </a:fillRef>
          <a:effectRef idx="2">
            <a:schemeClr val="accent5"/>
          </a:effectRef>
          <a:fontRef idx="minor">
            <a:schemeClr val="lt1"/>
          </a:fontRef>
        </p:style>
        <p:txBody>
          <a:bodyPr wrap="square">
            <a:spAutoFit/>
          </a:bodyPr>
          <a:lstStyle/>
          <a:p>
            <a:pPr>
              <a:spcBef>
                <a:spcPct val="50000"/>
              </a:spcBef>
            </a:pPr>
            <a:r>
              <a:rPr kumimoji="1" lang="en-US" altLang="zh-CN" sz="2000" dirty="0">
                <a:solidFill>
                  <a:schemeClr val="bg1"/>
                </a:solidFill>
                <a:latin typeface="Consolas" pitchFamily="49" charset="0"/>
                <a:ea typeface="华文中宋" pitchFamily="2" charset="-122"/>
                <a:cs typeface="Consolas" pitchFamily="49" charset="0"/>
              </a:rPr>
              <a:t>3</a:t>
            </a:r>
            <a:r>
              <a:rPr kumimoji="1" lang="zh-CN" altLang="en-US" sz="2000" dirty="0">
                <a:solidFill>
                  <a:schemeClr val="bg1"/>
                </a:solidFill>
                <a:latin typeface="Consolas" pitchFamily="49" charset="0"/>
                <a:ea typeface="华文中宋" pitchFamily="2" charset="-122"/>
                <a:cs typeface="Consolas" pitchFamily="49" charset="0"/>
              </a:rPr>
              <a:t>、</a:t>
            </a:r>
            <a:r>
              <a:rPr kumimoji="1" lang="zh-CN" altLang="en-US" sz="2000" dirty="0">
                <a:latin typeface="Consolas" pitchFamily="49" charset="0"/>
                <a:ea typeface="仿宋" pitchFamily="49" charset="-122"/>
              </a:rPr>
              <a:t>查找结点</a:t>
            </a:r>
            <a:r>
              <a:rPr kumimoji="1" lang="en-US" altLang="zh-CN" sz="2000" dirty="0" err="1">
                <a:solidFill>
                  <a:srgbClr val="FF0000"/>
                </a:solidFill>
                <a:latin typeface="Consolas" pitchFamily="49" charset="0"/>
                <a:ea typeface="仿宋" pitchFamily="49" charset="-122"/>
              </a:rPr>
              <a:t>FindNode</a:t>
            </a:r>
            <a:r>
              <a:rPr kumimoji="1" lang="en-US" altLang="zh-CN" sz="2000" dirty="0">
                <a:solidFill>
                  <a:srgbClr val="FF0000"/>
                </a:solidFill>
                <a:latin typeface="Consolas" pitchFamily="49" charset="0"/>
                <a:ea typeface="仿宋" pitchFamily="49" charset="-122"/>
              </a:rPr>
              <a:t>(*b</a:t>
            </a:r>
            <a:r>
              <a:rPr kumimoji="1" lang="zh-CN" altLang="en-US" sz="2000" dirty="0">
                <a:solidFill>
                  <a:srgbClr val="FF0000"/>
                </a:solidFill>
                <a:latin typeface="Consolas" pitchFamily="49" charset="0"/>
                <a:ea typeface="仿宋" pitchFamily="49" charset="-122"/>
              </a:rPr>
              <a:t>，</a:t>
            </a:r>
            <a:r>
              <a:rPr kumimoji="1" lang="en-US" altLang="zh-CN" sz="2000" dirty="0">
                <a:solidFill>
                  <a:srgbClr val="FF0000"/>
                </a:solidFill>
                <a:latin typeface="Consolas" pitchFamily="49" charset="0"/>
                <a:ea typeface="仿宋" pitchFamily="49" charset="-122"/>
              </a:rPr>
              <a:t>x)</a:t>
            </a:r>
          </a:p>
        </p:txBody>
      </p:sp>
      <p:sp>
        <p:nvSpPr>
          <p:cNvPr id="3" name="Text Box 3">
            <a:extLst>
              <a:ext uri="{FF2B5EF4-FFF2-40B4-BE49-F238E27FC236}">
                <a16:creationId xmlns:a16="http://schemas.microsoft.com/office/drawing/2014/main" xmlns="" id="{DF30232B-3A74-7F29-3EF2-155F31D5DFDA}"/>
              </a:ext>
            </a:extLst>
          </p:cNvPr>
          <p:cNvSpPr txBox="1">
            <a:spLocks noChangeArrowheads="1"/>
          </p:cNvSpPr>
          <p:nvPr/>
        </p:nvSpPr>
        <p:spPr bwMode="auto">
          <a:xfrm>
            <a:off x="3765107" y="2114850"/>
            <a:ext cx="6572296" cy="4373093"/>
          </a:xfrm>
          <a:prstGeom prst="rect">
            <a:avLst/>
          </a:prstGeom>
          <a:solidFill>
            <a:schemeClr val="bg1">
              <a:lumMod val="95000"/>
            </a:schemeClr>
          </a:solidFill>
          <a:ln>
            <a:noFill/>
            <a:headEnd/>
            <a:tailEnd type="none" w="med" len="lg"/>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80000" tIns="108000" bIns="108000">
            <a:spAutoFit/>
          </a:bodyPr>
          <a:lstStyle/>
          <a:p>
            <a:pPr algn="l">
              <a:lnSpc>
                <a:spcPct val="150000"/>
              </a:lnSpc>
            </a:pPr>
            <a:r>
              <a:rPr kumimoji="1" lang="en-US" altLang="zh-CN" sz="1800" dirty="0" err="1">
                <a:solidFill>
                  <a:srgbClr val="3333FF"/>
                </a:solidFill>
                <a:latin typeface="Consolas" pitchFamily="49" charset="0"/>
                <a:ea typeface="仿宋" pitchFamily="49" charset="-122"/>
                <a:cs typeface="Consolas" pitchFamily="49" charset="0"/>
              </a:rPr>
              <a:t>BTNode</a:t>
            </a: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err="1">
                <a:solidFill>
                  <a:srgbClr val="FF0000"/>
                </a:solidFill>
                <a:latin typeface="Consolas" pitchFamily="49" charset="0"/>
                <a:ea typeface="仿宋" pitchFamily="49" charset="-122"/>
                <a:cs typeface="Consolas" pitchFamily="49" charset="0"/>
              </a:rPr>
              <a:t>FindNode</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dirty="0" err="1">
                <a:solidFill>
                  <a:srgbClr val="3333FF"/>
                </a:solidFill>
                <a:latin typeface="Consolas" pitchFamily="49" charset="0"/>
                <a:ea typeface="仿宋" pitchFamily="49" charset="-122"/>
                <a:cs typeface="Consolas" pitchFamily="49" charset="0"/>
              </a:rPr>
              <a:t>BTNode</a:t>
            </a:r>
            <a:r>
              <a:rPr kumimoji="1" lang="en-US" altLang="zh-CN" sz="1800" dirty="0">
                <a:solidFill>
                  <a:srgbClr val="3333FF"/>
                </a:solidFill>
                <a:latin typeface="Consolas" pitchFamily="49" charset="0"/>
                <a:ea typeface="仿宋" pitchFamily="49" charset="-122"/>
                <a:cs typeface="Consolas" pitchFamily="49" charset="0"/>
              </a:rPr>
              <a:t> *b</a:t>
            </a:r>
            <a:r>
              <a:rPr kumimoji="1" lang="zh-CN" altLang="en-US" sz="1800" dirty="0">
                <a:solidFill>
                  <a:srgbClr val="3333FF"/>
                </a:solidFill>
                <a:latin typeface="Consolas" pitchFamily="49" charset="0"/>
                <a:ea typeface="仿宋" pitchFamily="49" charset="-122"/>
                <a:cs typeface="Consolas" pitchFamily="49" charset="0"/>
              </a:rPr>
              <a:t>，</a:t>
            </a:r>
            <a:r>
              <a:rPr kumimoji="1" lang="en-US" altLang="zh-CN" sz="1800" dirty="0" err="1">
                <a:solidFill>
                  <a:srgbClr val="3333FF"/>
                </a:solidFill>
                <a:latin typeface="Consolas" pitchFamily="49" charset="0"/>
                <a:ea typeface="仿宋" pitchFamily="49" charset="-122"/>
                <a:cs typeface="Consolas" pitchFamily="49" charset="0"/>
              </a:rPr>
              <a:t>ElemType</a:t>
            </a:r>
            <a:r>
              <a:rPr kumimoji="1" lang="en-US" altLang="zh-CN" sz="1800" dirty="0">
                <a:solidFill>
                  <a:srgbClr val="3333FF"/>
                </a:solidFill>
                <a:latin typeface="Consolas" pitchFamily="49" charset="0"/>
                <a:ea typeface="仿宋" pitchFamily="49" charset="-122"/>
                <a:cs typeface="Consolas" pitchFamily="49" charset="0"/>
              </a:rPr>
              <a:t> x) </a:t>
            </a:r>
          </a:p>
          <a:p>
            <a:pPr algn="l">
              <a:lnSpc>
                <a:spcPct val="150000"/>
              </a:lnSpc>
            </a:pP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err="1">
                <a:solidFill>
                  <a:srgbClr val="3333FF"/>
                </a:solidFill>
                <a:latin typeface="Consolas" pitchFamily="49" charset="0"/>
                <a:ea typeface="仿宋" pitchFamily="49" charset="-122"/>
                <a:cs typeface="Consolas" pitchFamily="49" charset="0"/>
              </a:rPr>
              <a:t>BTNode</a:t>
            </a:r>
            <a:r>
              <a:rPr kumimoji="1" lang="en-US" altLang="zh-CN" sz="1800" dirty="0">
                <a:solidFill>
                  <a:srgbClr val="3333FF"/>
                </a:solidFill>
                <a:latin typeface="Consolas" pitchFamily="49" charset="0"/>
                <a:ea typeface="仿宋" pitchFamily="49" charset="-122"/>
                <a:cs typeface="Consolas" pitchFamily="49" charset="0"/>
              </a:rPr>
              <a:t> *p;</a:t>
            </a:r>
          </a:p>
          <a:p>
            <a:pPr algn="l">
              <a:lnSpc>
                <a:spcPct val="150000"/>
              </a:lnSpc>
            </a:pPr>
            <a:r>
              <a:rPr kumimoji="1" lang="en-US" altLang="zh-CN" sz="1800" dirty="0">
                <a:solidFill>
                  <a:srgbClr val="3333FF"/>
                </a:solidFill>
                <a:latin typeface="Consolas" pitchFamily="49" charset="0"/>
                <a:ea typeface="仿宋" pitchFamily="49" charset="-122"/>
                <a:cs typeface="Consolas" pitchFamily="49" charset="0"/>
              </a:rPr>
              <a:t>   if (b==NULL) return NULL;</a:t>
            </a:r>
          </a:p>
          <a:p>
            <a:pPr algn="l">
              <a:lnSpc>
                <a:spcPct val="150000"/>
              </a:lnSpc>
            </a:pPr>
            <a:r>
              <a:rPr kumimoji="1" lang="en-US" altLang="zh-CN" sz="1800" dirty="0">
                <a:solidFill>
                  <a:srgbClr val="3333FF"/>
                </a:solidFill>
                <a:latin typeface="Consolas" pitchFamily="49" charset="0"/>
                <a:ea typeface="仿宋" pitchFamily="49" charset="-122"/>
                <a:cs typeface="Consolas" pitchFamily="49" charset="0"/>
              </a:rPr>
              <a:t>   else if (b-&gt;data==x) return b;</a:t>
            </a:r>
          </a:p>
          <a:p>
            <a:pPr algn="l">
              <a:lnSpc>
                <a:spcPct val="150000"/>
              </a:lnSpc>
            </a:pPr>
            <a:r>
              <a:rPr kumimoji="1" lang="en-US" altLang="zh-CN" sz="1800" dirty="0">
                <a:solidFill>
                  <a:srgbClr val="3333FF"/>
                </a:solidFill>
                <a:latin typeface="Consolas" pitchFamily="49" charset="0"/>
                <a:ea typeface="仿宋" pitchFamily="49" charset="-122"/>
                <a:cs typeface="Consolas" pitchFamily="49" charset="0"/>
              </a:rPr>
              <a:t>   else</a:t>
            </a:r>
          </a:p>
          <a:p>
            <a:pPr algn="l">
              <a:lnSpc>
                <a:spcPct val="150000"/>
              </a:lnSpc>
            </a:pPr>
            <a:r>
              <a:rPr kumimoji="1" lang="en-US" altLang="zh-CN" sz="1800" dirty="0">
                <a:solidFill>
                  <a:srgbClr val="3333FF"/>
                </a:solidFill>
                <a:latin typeface="Consolas" pitchFamily="49" charset="0"/>
                <a:ea typeface="仿宋" pitchFamily="49" charset="-122"/>
                <a:cs typeface="Consolas" pitchFamily="49" charset="0"/>
              </a:rPr>
              <a:t>   {   p=</a:t>
            </a:r>
            <a:r>
              <a:rPr kumimoji="1" lang="en-US" altLang="zh-CN" sz="1800" dirty="0" err="1">
                <a:solidFill>
                  <a:srgbClr val="FF0000"/>
                </a:solidFill>
                <a:latin typeface="Consolas" pitchFamily="49" charset="0"/>
                <a:ea typeface="仿宋" pitchFamily="49" charset="-122"/>
                <a:cs typeface="Consolas" pitchFamily="49" charset="0"/>
              </a:rPr>
              <a:t>FindNode</a:t>
            </a:r>
            <a:r>
              <a:rPr kumimoji="1" lang="en-US" altLang="zh-CN" sz="1800" dirty="0">
                <a:solidFill>
                  <a:srgbClr val="3333FF"/>
                </a:solidFill>
                <a:latin typeface="Consolas" pitchFamily="49" charset="0"/>
                <a:ea typeface="仿宋" pitchFamily="49" charset="-122"/>
                <a:cs typeface="Consolas" pitchFamily="49" charset="0"/>
              </a:rPr>
              <a:t>(b-&gt;</a:t>
            </a:r>
            <a:r>
              <a:rPr kumimoji="1" lang="en-US" altLang="zh-CN" sz="1800" dirty="0" err="1">
                <a:solidFill>
                  <a:srgbClr val="3333FF"/>
                </a:solidFill>
                <a:latin typeface="Consolas" pitchFamily="49" charset="0"/>
                <a:ea typeface="仿宋" pitchFamily="49" charset="-122"/>
                <a:cs typeface="Consolas" pitchFamily="49" charset="0"/>
              </a:rPr>
              <a:t>lchild</a:t>
            </a:r>
            <a:r>
              <a:rPr kumimoji="1" lang="zh-CN" altLang="en-US" sz="1800" dirty="0">
                <a:solidFill>
                  <a:srgbClr val="3333FF"/>
                </a:solidFill>
                <a:latin typeface="Consolas" pitchFamily="49" charset="0"/>
                <a:ea typeface="仿宋" pitchFamily="49" charset="-122"/>
                <a:cs typeface="Consolas" pitchFamily="49" charset="0"/>
              </a:rPr>
              <a:t>，</a:t>
            </a:r>
            <a:r>
              <a:rPr kumimoji="1" lang="en-US" altLang="zh-CN" sz="1800" dirty="0">
                <a:solidFill>
                  <a:srgbClr val="3333FF"/>
                </a:solidFill>
                <a:latin typeface="Consolas" pitchFamily="49" charset="0"/>
                <a:ea typeface="仿宋" pitchFamily="49" charset="-122"/>
                <a:cs typeface="Consolas" pitchFamily="49" charset="0"/>
              </a:rPr>
              <a:t>x);</a:t>
            </a:r>
          </a:p>
          <a:p>
            <a:pPr algn="l">
              <a:lnSpc>
                <a:spcPct val="150000"/>
              </a:lnSpc>
            </a:pPr>
            <a:r>
              <a:rPr kumimoji="1" lang="en-US" altLang="zh-CN" sz="1800" dirty="0">
                <a:solidFill>
                  <a:srgbClr val="3333FF"/>
                </a:solidFill>
                <a:latin typeface="Consolas" pitchFamily="49" charset="0"/>
                <a:ea typeface="仿宋" pitchFamily="49" charset="-122"/>
                <a:cs typeface="Consolas" pitchFamily="49" charset="0"/>
              </a:rPr>
              <a:t>       if (p!=NULL) return p;</a:t>
            </a:r>
          </a:p>
          <a:p>
            <a:pPr algn="l">
              <a:lnSpc>
                <a:spcPct val="150000"/>
              </a:lnSpc>
            </a:pPr>
            <a:r>
              <a:rPr kumimoji="1" lang="en-US" altLang="zh-CN" sz="1800" dirty="0">
                <a:solidFill>
                  <a:srgbClr val="3333FF"/>
                </a:solidFill>
                <a:latin typeface="Consolas" pitchFamily="49" charset="0"/>
                <a:ea typeface="仿宋" pitchFamily="49" charset="-122"/>
                <a:cs typeface="Consolas" pitchFamily="49" charset="0"/>
              </a:rPr>
              <a:t>       else return </a:t>
            </a:r>
            <a:r>
              <a:rPr kumimoji="1" lang="en-US" altLang="zh-CN" sz="1800" dirty="0" err="1">
                <a:solidFill>
                  <a:srgbClr val="FF0000"/>
                </a:solidFill>
                <a:latin typeface="Consolas" pitchFamily="49" charset="0"/>
                <a:ea typeface="仿宋" pitchFamily="49" charset="-122"/>
                <a:cs typeface="Consolas" pitchFamily="49" charset="0"/>
              </a:rPr>
              <a:t>FindNode</a:t>
            </a:r>
            <a:r>
              <a:rPr kumimoji="1" lang="en-US" altLang="zh-CN" sz="1800" dirty="0">
                <a:solidFill>
                  <a:srgbClr val="3333FF"/>
                </a:solidFill>
                <a:latin typeface="Consolas" pitchFamily="49" charset="0"/>
                <a:ea typeface="仿宋" pitchFamily="49" charset="-122"/>
                <a:cs typeface="Consolas" pitchFamily="49" charset="0"/>
              </a:rPr>
              <a:t>(b-&gt;</a:t>
            </a:r>
            <a:r>
              <a:rPr kumimoji="1" lang="en-US" altLang="zh-CN" sz="1800" dirty="0" err="1">
                <a:solidFill>
                  <a:srgbClr val="3333FF"/>
                </a:solidFill>
                <a:latin typeface="Consolas" pitchFamily="49" charset="0"/>
                <a:ea typeface="仿宋" pitchFamily="49" charset="-122"/>
                <a:cs typeface="Consolas" pitchFamily="49" charset="0"/>
              </a:rPr>
              <a:t>rchild</a:t>
            </a:r>
            <a:r>
              <a:rPr kumimoji="1" lang="zh-CN" altLang="en-US" sz="1800" dirty="0">
                <a:solidFill>
                  <a:srgbClr val="3333FF"/>
                </a:solidFill>
                <a:latin typeface="Consolas" pitchFamily="49" charset="0"/>
                <a:ea typeface="仿宋" pitchFamily="49" charset="-122"/>
                <a:cs typeface="Consolas" pitchFamily="49" charset="0"/>
              </a:rPr>
              <a:t>，</a:t>
            </a:r>
            <a:r>
              <a:rPr kumimoji="1" lang="en-US" altLang="zh-CN" sz="1800" dirty="0">
                <a:solidFill>
                  <a:srgbClr val="3333FF"/>
                </a:solidFill>
                <a:latin typeface="Consolas" pitchFamily="49" charset="0"/>
                <a:ea typeface="仿宋" pitchFamily="49" charset="-122"/>
                <a:cs typeface="Consolas" pitchFamily="49" charset="0"/>
              </a:rPr>
              <a:t>x);</a:t>
            </a:r>
          </a:p>
          <a:p>
            <a:pPr algn="l">
              <a:lnSpc>
                <a:spcPct val="150000"/>
              </a:lnSpc>
            </a:pPr>
            <a:r>
              <a:rPr kumimoji="1" lang="en-US" altLang="zh-CN" sz="1800" dirty="0">
                <a:solidFill>
                  <a:srgbClr val="3333FF"/>
                </a:solidFill>
                <a:latin typeface="Consolas" pitchFamily="49" charset="0"/>
                <a:ea typeface="仿宋" pitchFamily="49" charset="-122"/>
                <a:cs typeface="Consolas" pitchFamily="49" charset="0"/>
              </a:rPr>
              <a:t>   }</a:t>
            </a:r>
          </a:p>
          <a:p>
            <a:pPr algn="l">
              <a:lnSpc>
                <a:spcPct val="150000"/>
              </a:lnSpc>
            </a:pPr>
            <a:r>
              <a:rPr kumimoji="1" lang="en-US" altLang="zh-CN" sz="1800" dirty="0">
                <a:solidFill>
                  <a:srgbClr val="3333FF"/>
                </a:solidFill>
                <a:latin typeface="Consolas" pitchFamily="49" charset="0"/>
                <a:ea typeface="仿宋" pitchFamily="49" charset="-122"/>
                <a:cs typeface="Consolas" pitchFamily="49" charset="0"/>
              </a:rPr>
              <a:t>}</a:t>
            </a:r>
            <a:endParaRPr lang="en-US" altLang="zh-CN" sz="1800" dirty="0">
              <a:solidFill>
                <a:srgbClr val="3333FF"/>
              </a:solidFill>
              <a:latin typeface="Consolas" pitchFamily="49" charset="0"/>
              <a:ea typeface="仿宋" pitchFamily="49" charset="-122"/>
              <a:cs typeface="Consolas" pitchFamily="49" charset="0"/>
            </a:endParaRPr>
          </a:p>
        </p:txBody>
      </p:sp>
      <p:sp>
        <p:nvSpPr>
          <p:cNvPr id="4" name="TextBox 3">
            <a:extLst>
              <a:ext uri="{FF2B5EF4-FFF2-40B4-BE49-F238E27FC236}">
                <a16:creationId xmlns:a16="http://schemas.microsoft.com/office/drawing/2014/main" xmlns="" id="{E560D9FF-2F84-8C87-8E3A-FF027361BED9}"/>
              </a:ext>
            </a:extLst>
          </p:cNvPr>
          <p:cNvSpPr txBox="1"/>
          <p:nvPr/>
        </p:nvSpPr>
        <p:spPr>
          <a:xfrm>
            <a:off x="989455" y="2060848"/>
            <a:ext cx="2802289" cy="400110"/>
          </a:xfrm>
          <a:prstGeom prst="rect">
            <a:avLst/>
          </a:prstGeom>
          <a:noFill/>
        </p:spPr>
        <p:txBody>
          <a:bodyPr wrap="square" rtlCol="0">
            <a:spAutoFit/>
          </a:bodyPr>
          <a:lstStyle/>
          <a:p>
            <a:pPr algn="l"/>
            <a:r>
              <a:rPr lang="zh-CN" altLang="en-US" sz="2000" dirty="0">
                <a:latin typeface="楷体" pitchFamily="49" charset="-122"/>
                <a:ea typeface="楷体" pitchFamily="49" charset="-122"/>
              </a:rPr>
              <a:t>对应的递归算法如下：</a:t>
            </a:r>
          </a:p>
        </p:txBody>
      </p:sp>
    </p:spTree>
    <p:extLst>
      <p:ext uri="{BB962C8B-B14F-4D97-AF65-F5344CB8AC3E}">
        <p14:creationId xmlns:p14="http://schemas.microsoft.com/office/powerpoint/2010/main" val="131407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13E2F50-FABC-958A-8F99-39556181F0CD}"/>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4EDE176A-5CA3-22F3-F4DA-AEA0F9A535FA}"/>
              </a:ext>
            </a:extLst>
          </p:cNvPr>
          <p:cNvSpPr/>
          <p:nvPr/>
        </p:nvSpPr>
        <p:spPr>
          <a:xfrm>
            <a:off x="3647728" y="118989"/>
            <a:ext cx="569547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7.4 </a:t>
            </a:r>
            <a:r>
              <a:rPr lang="zh-CN" altLang="en-US" sz="3000" b="1" dirty="0">
                <a:latin typeface="黑体" pitchFamily="49" charset="-122"/>
                <a:ea typeface="黑体" pitchFamily="49" charset="-122"/>
                <a:cs typeface="经典粗黑简" pitchFamily="49" charset="-122"/>
              </a:rPr>
              <a:t>二叉树基本运算及其实现</a:t>
            </a:r>
          </a:p>
        </p:txBody>
      </p:sp>
      <p:sp>
        <p:nvSpPr>
          <p:cNvPr id="19" name="Rectangle 2">
            <a:extLst>
              <a:ext uri="{FF2B5EF4-FFF2-40B4-BE49-F238E27FC236}">
                <a16:creationId xmlns:a16="http://schemas.microsoft.com/office/drawing/2014/main" xmlns="" id="{324A25DA-A0E7-2095-1B62-89B088AC4E92}"/>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7.4.1 </a:t>
            </a:r>
            <a:r>
              <a:rPr lang="zh-CN" altLang="en-US" dirty="0"/>
              <a:t>二叉树的基本运算概述</a:t>
            </a:r>
          </a:p>
        </p:txBody>
      </p:sp>
      <p:cxnSp>
        <p:nvCxnSpPr>
          <p:cNvPr id="20" name="直接连接符 19">
            <a:extLst>
              <a:ext uri="{FF2B5EF4-FFF2-40B4-BE49-F238E27FC236}">
                <a16:creationId xmlns:a16="http://schemas.microsoft.com/office/drawing/2014/main" xmlns="" id="{100A75A4-0CEE-0E7B-56F8-2C4758863C8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4">
            <a:extLst>
              <a:ext uri="{FF2B5EF4-FFF2-40B4-BE49-F238E27FC236}">
                <a16:creationId xmlns:a16="http://schemas.microsoft.com/office/drawing/2014/main" xmlns="" id="{493BB148-4807-6951-D3E3-994520D9C7F5}"/>
              </a:ext>
            </a:extLst>
          </p:cNvPr>
          <p:cNvSpPr txBox="1">
            <a:spLocks noChangeArrowheads="1"/>
          </p:cNvSpPr>
          <p:nvPr/>
        </p:nvSpPr>
        <p:spPr bwMode="auto">
          <a:xfrm>
            <a:off x="1055440" y="1537336"/>
            <a:ext cx="5832648" cy="400110"/>
          </a:xfrm>
          <a:prstGeom prst="rect">
            <a:avLst/>
          </a:prstGeom>
          <a:ln>
            <a:headEnd/>
            <a:tailEnd type="none" w="med" len="lg"/>
          </a:ln>
        </p:spPr>
        <p:style>
          <a:lnRef idx="1">
            <a:schemeClr val="accent5"/>
          </a:lnRef>
          <a:fillRef idx="3">
            <a:schemeClr val="accent5"/>
          </a:fillRef>
          <a:effectRef idx="2">
            <a:schemeClr val="accent5"/>
          </a:effectRef>
          <a:fontRef idx="minor">
            <a:schemeClr val="lt1"/>
          </a:fontRef>
        </p:style>
        <p:txBody>
          <a:bodyPr wrap="square">
            <a:spAutoFit/>
          </a:bodyPr>
          <a:lstStyle/>
          <a:p>
            <a:pPr>
              <a:spcBef>
                <a:spcPct val="50000"/>
              </a:spcBef>
            </a:pPr>
            <a:r>
              <a:rPr kumimoji="1" lang="en-US" altLang="zh-CN" sz="2000" dirty="0">
                <a:solidFill>
                  <a:schemeClr val="bg1"/>
                </a:solidFill>
                <a:latin typeface="Consolas" pitchFamily="49" charset="0"/>
                <a:ea typeface="华文中宋" pitchFamily="2" charset="-122"/>
                <a:cs typeface="Consolas" pitchFamily="49" charset="0"/>
              </a:rPr>
              <a:t>4</a:t>
            </a:r>
            <a:r>
              <a:rPr kumimoji="1" lang="zh-CN" altLang="en-US" sz="2000" dirty="0">
                <a:solidFill>
                  <a:schemeClr val="bg1"/>
                </a:solidFill>
                <a:latin typeface="Consolas" pitchFamily="49" charset="0"/>
                <a:ea typeface="华文中宋" pitchFamily="2" charset="-122"/>
                <a:cs typeface="Consolas" pitchFamily="49" charset="0"/>
              </a:rPr>
              <a:t>、</a:t>
            </a:r>
            <a:r>
              <a:rPr kumimoji="1" lang="zh-CN" altLang="en-US" sz="2000" dirty="0">
                <a:latin typeface="Consolas" pitchFamily="49" charset="0"/>
                <a:ea typeface="仿宋" pitchFamily="49" charset="-122"/>
              </a:rPr>
              <a:t>找孩子结点</a:t>
            </a:r>
            <a:r>
              <a:rPr kumimoji="1" lang="en-US" altLang="zh-CN" sz="2000" dirty="0" err="1">
                <a:solidFill>
                  <a:srgbClr val="FF0000"/>
                </a:solidFill>
                <a:latin typeface="Consolas" pitchFamily="49" charset="0"/>
                <a:ea typeface="仿宋" pitchFamily="49" charset="-122"/>
              </a:rPr>
              <a:t>LchildNode</a:t>
            </a:r>
            <a:r>
              <a:rPr kumimoji="1" lang="en-US" altLang="zh-CN" sz="2000" dirty="0">
                <a:solidFill>
                  <a:srgbClr val="FF0000"/>
                </a:solidFill>
                <a:latin typeface="Consolas" pitchFamily="49" charset="0"/>
                <a:ea typeface="仿宋" pitchFamily="49" charset="-122"/>
              </a:rPr>
              <a:t>(p)</a:t>
            </a:r>
            <a:r>
              <a:rPr kumimoji="1" lang="zh-CN" altLang="en-US" sz="2000" dirty="0">
                <a:latin typeface="Consolas" pitchFamily="49" charset="0"/>
                <a:ea typeface="仿宋" pitchFamily="49" charset="-122"/>
              </a:rPr>
              <a:t>和</a:t>
            </a:r>
            <a:r>
              <a:rPr kumimoji="1" lang="en-US" altLang="zh-CN" sz="2000" dirty="0" err="1">
                <a:solidFill>
                  <a:srgbClr val="FF0000"/>
                </a:solidFill>
                <a:latin typeface="Consolas" pitchFamily="49" charset="0"/>
                <a:ea typeface="仿宋" pitchFamily="49" charset="-122"/>
              </a:rPr>
              <a:t>RchildNode</a:t>
            </a:r>
            <a:r>
              <a:rPr kumimoji="1" lang="en-US" altLang="zh-CN" sz="2000" dirty="0">
                <a:solidFill>
                  <a:srgbClr val="FF0000"/>
                </a:solidFill>
                <a:latin typeface="Consolas" pitchFamily="49" charset="0"/>
                <a:ea typeface="仿宋" pitchFamily="49" charset="-122"/>
              </a:rPr>
              <a:t>(p)</a:t>
            </a:r>
          </a:p>
        </p:txBody>
      </p:sp>
      <p:sp>
        <p:nvSpPr>
          <p:cNvPr id="5" name="Text Box 2">
            <a:extLst>
              <a:ext uri="{FF2B5EF4-FFF2-40B4-BE49-F238E27FC236}">
                <a16:creationId xmlns:a16="http://schemas.microsoft.com/office/drawing/2014/main" xmlns="" id="{E76508A7-4438-0C60-7A82-77671B6D7584}"/>
              </a:ext>
            </a:extLst>
          </p:cNvPr>
          <p:cNvSpPr txBox="1">
            <a:spLocks noChangeArrowheads="1"/>
          </p:cNvSpPr>
          <p:nvPr/>
        </p:nvSpPr>
        <p:spPr bwMode="auto">
          <a:xfrm>
            <a:off x="2855640" y="2950357"/>
            <a:ext cx="6335712" cy="3227001"/>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lIns="252000" tIns="144000" rIns="252000" bIns="144000">
            <a:spAutoFit/>
          </a:bodyPr>
          <a:lstStyle/>
          <a:p>
            <a:pPr algn="l">
              <a:spcBef>
                <a:spcPct val="50000"/>
              </a:spcBef>
            </a:pPr>
            <a:r>
              <a:rPr kumimoji="1" lang="en-US" altLang="zh-CN" sz="1800" dirty="0" err="1">
                <a:solidFill>
                  <a:srgbClr val="3333FF"/>
                </a:solidFill>
                <a:latin typeface="Consolas" pitchFamily="49" charset="0"/>
                <a:ea typeface="楷体" pitchFamily="49" charset="-122"/>
                <a:cs typeface="Consolas" pitchFamily="49" charset="0"/>
              </a:rPr>
              <a:t>BTNode</a:t>
            </a:r>
            <a:r>
              <a:rPr kumimoji="1" lang="en-US" altLang="zh-CN" sz="1800" dirty="0">
                <a:solidFill>
                  <a:srgbClr val="3333FF"/>
                </a:solidFill>
                <a:latin typeface="Consolas" pitchFamily="49" charset="0"/>
                <a:ea typeface="楷体" pitchFamily="49" charset="-122"/>
                <a:cs typeface="Consolas" pitchFamily="49" charset="0"/>
              </a:rPr>
              <a:t> *</a:t>
            </a:r>
            <a:r>
              <a:rPr kumimoji="1" lang="en-US" altLang="zh-CN" sz="1800" dirty="0" err="1">
                <a:solidFill>
                  <a:srgbClr val="FF0000"/>
                </a:solidFill>
                <a:latin typeface="Consolas" pitchFamily="49" charset="0"/>
                <a:ea typeface="楷体" pitchFamily="49" charset="-122"/>
                <a:cs typeface="Consolas" pitchFamily="49" charset="0"/>
              </a:rPr>
              <a:t>LchildNod</a:t>
            </a:r>
            <a:r>
              <a:rPr kumimoji="1" lang="en-US" altLang="zh-CN" sz="1800" dirty="0" err="1">
                <a:solidFill>
                  <a:srgbClr val="3333FF"/>
                </a:solidFill>
                <a:latin typeface="Consolas" pitchFamily="49" charset="0"/>
                <a:ea typeface="楷体" pitchFamily="49" charset="-122"/>
                <a:cs typeface="Consolas" pitchFamily="49" charset="0"/>
              </a:rPr>
              <a:t>e</a:t>
            </a:r>
            <a:r>
              <a:rPr kumimoji="1" lang="en-US" altLang="zh-CN" sz="1800" dirty="0">
                <a:solidFill>
                  <a:srgbClr val="3333FF"/>
                </a:solidFill>
                <a:latin typeface="Consolas" pitchFamily="49" charset="0"/>
                <a:ea typeface="楷体" pitchFamily="49" charset="-122"/>
                <a:cs typeface="Consolas" pitchFamily="49" charset="0"/>
              </a:rPr>
              <a:t>(</a:t>
            </a:r>
            <a:r>
              <a:rPr kumimoji="1" lang="en-US" altLang="zh-CN" sz="1800" dirty="0" err="1">
                <a:solidFill>
                  <a:srgbClr val="3333FF"/>
                </a:solidFill>
                <a:latin typeface="Consolas" pitchFamily="49" charset="0"/>
                <a:ea typeface="楷体" pitchFamily="49" charset="-122"/>
                <a:cs typeface="Consolas" pitchFamily="49" charset="0"/>
              </a:rPr>
              <a:t>BTNode</a:t>
            </a:r>
            <a:r>
              <a:rPr kumimoji="1" lang="en-US" altLang="zh-CN" sz="1800" dirty="0">
                <a:solidFill>
                  <a:srgbClr val="3333FF"/>
                </a:solidFill>
                <a:latin typeface="Consolas" pitchFamily="49" charset="0"/>
                <a:ea typeface="楷体" pitchFamily="49" charset="-122"/>
                <a:cs typeface="Consolas" pitchFamily="49" charset="0"/>
              </a:rPr>
              <a:t> *p)</a:t>
            </a:r>
          </a:p>
          <a:p>
            <a:pPr algn="l">
              <a:lnSpc>
                <a:spcPct val="70000"/>
              </a:lnSpc>
              <a:spcBef>
                <a:spcPct val="50000"/>
              </a:spcBef>
            </a:pPr>
            <a:r>
              <a:rPr kumimoji="1" lang="en-US" altLang="zh-CN" sz="1800" dirty="0">
                <a:solidFill>
                  <a:srgbClr val="3333FF"/>
                </a:solidFill>
                <a:latin typeface="Consolas" pitchFamily="49" charset="0"/>
                <a:ea typeface="楷体" pitchFamily="49" charset="-122"/>
                <a:cs typeface="Consolas" pitchFamily="49" charset="0"/>
              </a:rPr>
              <a:t>{</a:t>
            </a:r>
          </a:p>
          <a:p>
            <a:pPr algn="l">
              <a:lnSpc>
                <a:spcPct val="70000"/>
              </a:lnSpc>
              <a:spcBef>
                <a:spcPct val="50000"/>
              </a:spcBef>
            </a:pPr>
            <a:r>
              <a:rPr kumimoji="1" lang="en-US" altLang="zh-CN" sz="1800" dirty="0">
                <a:solidFill>
                  <a:srgbClr val="3333FF"/>
                </a:solidFill>
                <a:latin typeface="Consolas" pitchFamily="49" charset="0"/>
                <a:ea typeface="楷体" pitchFamily="49" charset="-122"/>
                <a:cs typeface="Consolas" pitchFamily="49" charset="0"/>
              </a:rPr>
              <a:t>    return p-&gt;</a:t>
            </a:r>
            <a:r>
              <a:rPr kumimoji="1" lang="en-US" altLang="zh-CN" sz="1800" dirty="0" err="1">
                <a:solidFill>
                  <a:srgbClr val="3333FF"/>
                </a:solidFill>
                <a:latin typeface="Consolas" pitchFamily="49" charset="0"/>
                <a:ea typeface="楷体" pitchFamily="49" charset="-122"/>
                <a:cs typeface="Consolas" pitchFamily="49" charset="0"/>
              </a:rPr>
              <a:t>lchild</a:t>
            </a:r>
            <a:r>
              <a:rPr kumimoji="1" lang="en-US" altLang="zh-CN" sz="1800" dirty="0">
                <a:solidFill>
                  <a:srgbClr val="3333FF"/>
                </a:solidFill>
                <a:latin typeface="Consolas" pitchFamily="49" charset="0"/>
                <a:ea typeface="楷体" pitchFamily="49" charset="-122"/>
                <a:cs typeface="Consolas" pitchFamily="49" charset="0"/>
              </a:rPr>
              <a:t>;</a:t>
            </a:r>
          </a:p>
          <a:p>
            <a:pPr algn="l">
              <a:lnSpc>
                <a:spcPct val="70000"/>
              </a:lnSpc>
              <a:spcBef>
                <a:spcPct val="50000"/>
              </a:spcBef>
            </a:pPr>
            <a:r>
              <a:rPr kumimoji="1" lang="en-US" altLang="zh-CN" sz="1800" dirty="0">
                <a:solidFill>
                  <a:srgbClr val="3333FF"/>
                </a:solidFill>
                <a:latin typeface="Consolas" pitchFamily="49" charset="0"/>
                <a:ea typeface="楷体" pitchFamily="49" charset="-122"/>
                <a:cs typeface="Consolas" pitchFamily="49" charset="0"/>
              </a:rPr>
              <a:t>}</a:t>
            </a:r>
          </a:p>
          <a:p>
            <a:pPr algn="l">
              <a:lnSpc>
                <a:spcPct val="70000"/>
              </a:lnSpc>
              <a:spcBef>
                <a:spcPct val="50000"/>
              </a:spcBef>
            </a:pPr>
            <a:endParaRPr kumimoji="1" lang="en-US" altLang="zh-CN" sz="1800" dirty="0">
              <a:solidFill>
                <a:srgbClr val="3333FF"/>
              </a:solidFill>
              <a:latin typeface="Consolas" pitchFamily="49" charset="0"/>
              <a:ea typeface="楷体" pitchFamily="49" charset="-122"/>
              <a:cs typeface="Consolas" pitchFamily="49" charset="0"/>
            </a:endParaRPr>
          </a:p>
          <a:p>
            <a:pPr algn="l">
              <a:lnSpc>
                <a:spcPct val="70000"/>
              </a:lnSpc>
              <a:spcBef>
                <a:spcPct val="50000"/>
              </a:spcBef>
            </a:pPr>
            <a:r>
              <a:rPr kumimoji="1" lang="en-US" altLang="zh-CN" sz="1800" dirty="0" err="1">
                <a:solidFill>
                  <a:srgbClr val="3333FF"/>
                </a:solidFill>
                <a:latin typeface="Consolas" pitchFamily="49" charset="0"/>
                <a:ea typeface="楷体" pitchFamily="49" charset="-122"/>
                <a:cs typeface="Consolas" pitchFamily="49" charset="0"/>
              </a:rPr>
              <a:t>BTNode</a:t>
            </a:r>
            <a:r>
              <a:rPr kumimoji="1" lang="en-US" altLang="zh-CN" sz="1800" dirty="0">
                <a:solidFill>
                  <a:srgbClr val="3333FF"/>
                </a:solidFill>
                <a:latin typeface="Consolas" pitchFamily="49" charset="0"/>
                <a:ea typeface="楷体" pitchFamily="49" charset="-122"/>
                <a:cs typeface="Consolas" pitchFamily="49" charset="0"/>
              </a:rPr>
              <a:t> *</a:t>
            </a:r>
            <a:r>
              <a:rPr kumimoji="1" lang="en-US" altLang="zh-CN" sz="1800" dirty="0" err="1">
                <a:solidFill>
                  <a:srgbClr val="FF0000"/>
                </a:solidFill>
                <a:latin typeface="Consolas" pitchFamily="49" charset="0"/>
                <a:ea typeface="楷体" pitchFamily="49" charset="-122"/>
                <a:cs typeface="Consolas" pitchFamily="49" charset="0"/>
              </a:rPr>
              <a:t>RchildNode</a:t>
            </a:r>
            <a:r>
              <a:rPr kumimoji="1" lang="en-US" altLang="zh-CN" sz="1800" dirty="0">
                <a:solidFill>
                  <a:srgbClr val="3333FF"/>
                </a:solidFill>
                <a:latin typeface="Consolas" pitchFamily="49" charset="0"/>
                <a:ea typeface="楷体" pitchFamily="49" charset="-122"/>
                <a:cs typeface="Consolas" pitchFamily="49" charset="0"/>
              </a:rPr>
              <a:t>(</a:t>
            </a:r>
            <a:r>
              <a:rPr kumimoji="1" lang="en-US" altLang="zh-CN" sz="1800" dirty="0" err="1">
                <a:solidFill>
                  <a:srgbClr val="3333FF"/>
                </a:solidFill>
                <a:latin typeface="Consolas" pitchFamily="49" charset="0"/>
                <a:ea typeface="楷体" pitchFamily="49" charset="-122"/>
                <a:cs typeface="Consolas" pitchFamily="49" charset="0"/>
              </a:rPr>
              <a:t>BTNode</a:t>
            </a:r>
            <a:r>
              <a:rPr kumimoji="1" lang="en-US" altLang="zh-CN" sz="1800" dirty="0">
                <a:solidFill>
                  <a:srgbClr val="3333FF"/>
                </a:solidFill>
                <a:latin typeface="Consolas" pitchFamily="49" charset="0"/>
                <a:ea typeface="楷体" pitchFamily="49" charset="-122"/>
                <a:cs typeface="Consolas" pitchFamily="49" charset="0"/>
              </a:rPr>
              <a:t> *p)</a:t>
            </a:r>
          </a:p>
          <a:p>
            <a:pPr algn="l">
              <a:lnSpc>
                <a:spcPct val="70000"/>
              </a:lnSpc>
              <a:spcBef>
                <a:spcPct val="50000"/>
              </a:spcBef>
            </a:pPr>
            <a:r>
              <a:rPr kumimoji="1" lang="en-US" altLang="zh-CN" sz="1800" dirty="0">
                <a:solidFill>
                  <a:srgbClr val="3333FF"/>
                </a:solidFill>
                <a:latin typeface="Consolas" pitchFamily="49" charset="0"/>
                <a:ea typeface="楷体" pitchFamily="49" charset="-122"/>
                <a:cs typeface="Consolas" pitchFamily="49" charset="0"/>
              </a:rPr>
              <a:t>{</a:t>
            </a:r>
          </a:p>
          <a:p>
            <a:pPr algn="l">
              <a:lnSpc>
                <a:spcPct val="70000"/>
              </a:lnSpc>
              <a:spcBef>
                <a:spcPct val="50000"/>
              </a:spcBef>
            </a:pPr>
            <a:r>
              <a:rPr kumimoji="1" lang="en-US" altLang="zh-CN" sz="1800" dirty="0">
                <a:solidFill>
                  <a:srgbClr val="3333FF"/>
                </a:solidFill>
                <a:latin typeface="Consolas" pitchFamily="49" charset="0"/>
                <a:ea typeface="楷体" pitchFamily="49" charset="-122"/>
                <a:cs typeface="Consolas" pitchFamily="49" charset="0"/>
              </a:rPr>
              <a:t>    return p-&gt;</a:t>
            </a:r>
            <a:r>
              <a:rPr kumimoji="1" lang="en-US" altLang="zh-CN" sz="1800" dirty="0" err="1">
                <a:solidFill>
                  <a:srgbClr val="3333FF"/>
                </a:solidFill>
                <a:latin typeface="Consolas" pitchFamily="49" charset="0"/>
                <a:ea typeface="楷体" pitchFamily="49" charset="-122"/>
                <a:cs typeface="Consolas" pitchFamily="49" charset="0"/>
              </a:rPr>
              <a:t>rchild</a:t>
            </a:r>
            <a:r>
              <a:rPr kumimoji="1" lang="en-US" altLang="zh-CN" sz="1800" dirty="0">
                <a:solidFill>
                  <a:srgbClr val="3333FF"/>
                </a:solidFill>
                <a:latin typeface="Consolas" pitchFamily="49" charset="0"/>
                <a:ea typeface="楷体" pitchFamily="49" charset="-122"/>
                <a:cs typeface="Consolas" pitchFamily="49" charset="0"/>
              </a:rPr>
              <a:t>;</a:t>
            </a:r>
          </a:p>
          <a:p>
            <a:pPr algn="l">
              <a:lnSpc>
                <a:spcPct val="70000"/>
              </a:lnSpc>
              <a:spcBef>
                <a:spcPct val="50000"/>
              </a:spcBef>
            </a:pPr>
            <a:r>
              <a:rPr kumimoji="1" lang="en-US" altLang="zh-CN" sz="1800" dirty="0">
                <a:solidFill>
                  <a:srgbClr val="3333FF"/>
                </a:solidFill>
                <a:latin typeface="Consolas" pitchFamily="49" charset="0"/>
                <a:ea typeface="楷体" pitchFamily="49" charset="-122"/>
                <a:cs typeface="Consolas" pitchFamily="49" charset="0"/>
              </a:rPr>
              <a:t>} </a:t>
            </a:r>
          </a:p>
        </p:txBody>
      </p:sp>
      <p:sp>
        <p:nvSpPr>
          <p:cNvPr id="6" name="Text Box 4">
            <a:extLst>
              <a:ext uri="{FF2B5EF4-FFF2-40B4-BE49-F238E27FC236}">
                <a16:creationId xmlns:a16="http://schemas.microsoft.com/office/drawing/2014/main" xmlns="" id="{726C51AD-34E5-528C-DB62-F5598D2CAE51}"/>
              </a:ext>
            </a:extLst>
          </p:cNvPr>
          <p:cNvSpPr txBox="1">
            <a:spLocks noChangeArrowheads="1"/>
          </p:cNvSpPr>
          <p:nvPr/>
        </p:nvSpPr>
        <p:spPr bwMode="auto">
          <a:xfrm>
            <a:off x="1382742" y="2115061"/>
            <a:ext cx="6677042" cy="400110"/>
          </a:xfrm>
          <a:prstGeom prst="rect">
            <a:avLst/>
          </a:prstGeom>
          <a:noFill/>
          <a:ln w="9525" algn="ctr">
            <a:noFill/>
            <a:miter lim="800000"/>
            <a:headEnd/>
            <a:tailEnd type="none" w="med" len="lg"/>
          </a:ln>
          <a:effectLst/>
        </p:spPr>
        <p:txBody>
          <a:bodyPr wrap="square">
            <a:spAutoFit/>
          </a:bodyPr>
          <a:lstStyle/>
          <a:p>
            <a:pPr algn="l">
              <a:spcBef>
                <a:spcPct val="50000"/>
              </a:spcBef>
            </a:pPr>
            <a:r>
              <a:rPr kumimoji="1" lang="zh-CN" altLang="en-US" sz="2000">
                <a:latin typeface="Consolas" pitchFamily="49" charset="0"/>
                <a:ea typeface="楷体" pitchFamily="49" charset="-122"/>
                <a:cs typeface="Consolas" pitchFamily="49" charset="0"/>
              </a:rPr>
              <a:t>直接返回</a:t>
            </a:r>
            <a:r>
              <a:rPr kumimoji="1" lang="en-US" altLang="zh-CN" sz="2000" i="1">
                <a:latin typeface="Consolas" pitchFamily="49" charset="0"/>
                <a:ea typeface="楷体" pitchFamily="49" charset="-122"/>
                <a:cs typeface="Consolas" pitchFamily="49" charset="0"/>
              </a:rPr>
              <a:t>p</a:t>
            </a:r>
            <a:r>
              <a:rPr kumimoji="1" lang="zh-CN" altLang="en-US" sz="2000">
                <a:latin typeface="Consolas" pitchFamily="49" charset="0"/>
                <a:ea typeface="楷体" pitchFamily="49" charset="-122"/>
                <a:cs typeface="Consolas" pitchFamily="49" charset="0"/>
              </a:rPr>
              <a:t>结点的左孩子结点或右孩子结点的</a:t>
            </a:r>
            <a:r>
              <a:rPr kumimoji="1" lang="zh-CN" altLang="en-US" sz="2000" dirty="0">
                <a:latin typeface="Consolas" pitchFamily="49" charset="0"/>
                <a:ea typeface="楷体" pitchFamily="49" charset="-122"/>
                <a:cs typeface="Consolas" pitchFamily="49" charset="0"/>
              </a:rPr>
              <a:t>指针。</a:t>
            </a:r>
            <a:endParaRPr lang="zh-CN" altLang="en-US" sz="2000" dirty="0">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31911114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8D14953-FD1B-1A1F-AECA-6745461B078F}"/>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9B5A5E9E-1BC3-2E82-DC12-C2361DCA8130}"/>
              </a:ext>
            </a:extLst>
          </p:cNvPr>
          <p:cNvSpPr/>
          <p:nvPr/>
        </p:nvSpPr>
        <p:spPr>
          <a:xfrm>
            <a:off x="3647728" y="118989"/>
            <a:ext cx="569547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7.4 </a:t>
            </a:r>
            <a:r>
              <a:rPr lang="zh-CN" altLang="en-US" sz="3000" b="1" dirty="0">
                <a:latin typeface="黑体" pitchFamily="49" charset="-122"/>
                <a:ea typeface="黑体" pitchFamily="49" charset="-122"/>
                <a:cs typeface="经典粗黑简" pitchFamily="49" charset="-122"/>
              </a:rPr>
              <a:t>二叉树基本运算及其实现</a:t>
            </a:r>
          </a:p>
        </p:txBody>
      </p:sp>
      <p:sp>
        <p:nvSpPr>
          <p:cNvPr id="19" name="Rectangle 2">
            <a:extLst>
              <a:ext uri="{FF2B5EF4-FFF2-40B4-BE49-F238E27FC236}">
                <a16:creationId xmlns:a16="http://schemas.microsoft.com/office/drawing/2014/main" xmlns="" id="{4A29ABC3-A531-2D36-1D55-9F31A00FA5F9}"/>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7.4.1 </a:t>
            </a:r>
            <a:r>
              <a:rPr lang="zh-CN" altLang="en-US" dirty="0"/>
              <a:t>二叉树的基本运算概述</a:t>
            </a:r>
          </a:p>
        </p:txBody>
      </p:sp>
      <p:cxnSp>
        <p:nvCxnSpPr>
          <p:cNvPr id="20" name="直接连接符 19">
            <a:extLst>
              <a:ext uri="{FF2B5EF4-FFF2-40B4-BE49-F238E27FC236}">
                <a16:creationId xmlns:a16="http://schemas.microsoft.com/office/drawing/2014/main" xmlns="" id="{C9A57DAC-D384-5A8A-89FA-F7AA0B04369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4">
            <a:extLst>
              <a:ext uri="{FF2B5EF4-FFF2-40B4-BE49-F238E27FC236}">
                <a16:creationId xmlns:a16="http://schemas.microsoft.com/office/drawing/2014/main" xmlns="" id="{0C9B746F-BD9F-CBD8-4430-C5BECD817057}"/>
              </a:ext>
            </a:extLst>
          </p:cNvPr>
          <p:cNvSpPr txBox="1">
            <a:spLocks noChangeArrowheads="1"/>
          </p:cNvSpPr>
          <p:nvPr/>
        </p:nvSpPr>
        <p:spPr bwMode="auto">
          <a:xfrm>
            <a:off x="1055440" y="1537336"/>
            <a:ext cx="3312368" cy="400110"/>
          </a:xfrm>
          <a:prstGeom prst="rect">
            <a:avLst/>
          </a:prstGeom>
          <a:ln>
            <a:headEnd/>
            <a:tailEnd type="none" w="med" len="lg"/>
          </a:ln>
        </p:spPr>
        <p:style>
          <a:lnRef idx="1">
            <a:schemeClr val="accent5"/>
          </a:lnRef>
          <a:fillRef idx="3">
            <a:schemeClr val="accent5"/>
          </a:fillRef>
          <a:effectRef idx="2">
            <a:schemeClr val="accent5"/>
          </a:effectRef>
          <a:fontRef idx="minor">
            <a:schemeClr val="lt1"/>
          </a:fontRef>
        </p:style>
        <p:txBody>
          <a:bodyPr wrap="square">
            <a:spAutoFit/>
          </a:bodyPr>
          <a:lstStyle/>
          <a:p>
            <a:pPr>
              <a:spcBef>
                <a:spcPct val="50000"/>
              </a:spcBef>
            </a:pPr>
            <a:r>
              <a:rPr kumimoji="1" lang="en-US" altLang="zh-CN" sz="2000" dirty="0">
                <a:solidFill>
                  <a:schemeClr val="bg1"/>
                </a:solidFill>
                <a:latin typeface="Consolas" pitchFamily="49" charset="0"/>
                <a:ea typeface="华文中宋" pitchFamily="2" charset="-122"/>
                <a:cs typeface="Consolas" pitchFamily="49" charset="0"/>
              </a:rPr>
              <a:t>5</a:t>
            </a:r>
            <a:r>
              <a:rPr kumimoji="1" lang="zh-CN" altLang="en-US" sz="2000" dirty="0">
                <a:solidFill>
                  <a:schemeClr val="bg1"/>
                </a:solidFill>
                <a:latin typeface="Consolas" pitchFamily="49" charset="0"/>
                <a:ea typeface="华文中宋" pitchFamily="2" charset="-122"/>
                <a:cs typeface="Consolas" pitchFamily="49" charset="0"/>
              </a:rPr>
              <a:t>、</a:t>
            </a:r>
            <a:r>
              <a:rPr kumimoji="1" lang="zh-CN" altLang="en-US" sz="2000" dirty="0">
                <a:latin typeface="Consolas" pitchFamily="49" charset="0"/>
                <a:ea typeface="仿宋" pitchFamily="49" charset="-122"/>
              </a:rPr>
              <a:t>求高度</a:t>
            </a:r>
            <a:r>
              <a:rPr kumimoji="1" lang="en-US" altLang="zh-CN" sz="2000" dirty="0" err="1">
                <a:solidFill>
                  <a:srgbClr val="FF0000"/>
                </a:solidFill>
                <a:latin typeface="Consolas" pitchFamily="49" charset="0"/>
                <a:ea typeface="仿宋" pitchFamily="49" charset="-122"/>
              </a:rPr>
              <a:t>BTHeight</a:t>
            </a:r>
            <a:r>
              <a:rPr kumimoji="1" lang="en-US" altLang="zh-CN" sz="2000" dirty="0">
                <a:solidFill>
                  <a:srgbClr val="FF0000"/>
                </a:solidFill>
                <a:latin typeface="Consolas" pitchFamily="49" charset="0"/>
                <a:ea typeface="仿宋" pitchFamily="49" charset="-122"/>
              </a:rPr>
              <a:t>(*b)</a:t>
            </a:r>
          </a:p>
        </p:txBody>
      </p:sp>
      <p:grpSp>
        <p:nvGrpSpPr>
          <p:cNvPr id="3" name="组合 17">
            <a:extLst>
              <a:ext uri="{FF2B5EF4-FFF2-40B4-BE49-F238E27FC236}">
                <a16:creationId xmlns:a16="http://schemas.microsoft.com/office/drawing/2014/main" xmlns="" id="{664A234E-53D6-B5B0-07A1-06BCD1FA293A}"/>
              </a:ext>
            </a:extLst>
          </p:cNvPr>
          <p:cNvGrpSpPr/>
          <p:nvPr/>
        </p:nvGrpSpPr>
        <p:grpSpPr>
          <a:xfrm>
            <a:off x="2791946" y="4750697"/>
            <a:ext cx="6989760" cy="1574965"/>
            <a:chOff x="582636" y="4286256"/>
            <a:chExt cx="6989760" cy="1574965"/>
          </a:xfrm>
        </p:grpSpPr>
        <p:sp>
          <p:nvSpPr>
            <p:cNvPr id="4" name="Text Box 2">
              <a:extLst>
                <a:ext uri="{FF2B5EF4-FFF2-40B4-BE49-F238E27FC236}">
                  <a16:creationId xmlns:a16="http://schemas.microsoft.com/office/drawing/2014/main" xmlns="" id="{4EB33A29-1F34-CE58-D11F-5C8055BE665F}"/>
                </a:ext>
              </a:extLst>
            </p:cNvPr>
            <p:cNvSpPr txBox="1">
              <a:spLocks noChangeArrowheads="1"/>
            </p:cNvSpPr>
            <p:nvPr/>
          </p:nvSpPr>
          <p:spPr bwMode="auto">
            <a:xfrm>
              <a:off x="727099" y="4929198"/>
              <a:ext cx="6845297" cy="932023"/>
            </a:xfrm>
            <a:prstGeom prst="rect">
              <a:avLst/>
            </a:prstGeom>
            <a:solidFill>
              <a:schemeClr val="bg1">
                <a:lumMod val="95000"/>
              </a:schemeClr>
            </a:solidFill>
            <a:ln>
              <a:headEnd/>
              <a:tailEnd/>
            </a:ln>
          </p:spPr>
          <p:style>
            <a:lnRef idx="1">
              <a:schemeClr val="accent4"/>
            </a:lnRef>
            <a:fillRef idx="2">
              <a:schemeClr val="accent4"/>
            </a:fillRef>
            <a:effectRef idx="1">
              <a:schemeClr val="accent4"/>
            </a:effectRef>
            <a:fontRef idx="minor">
              <a:schemeClr val="dk1"/>
            </a:fontRef>
          </p:style>
          <p:txBody>
            <a:bodyPr wrap="square" lIns="144000" tIns="108000" rIns="144000" bIns="108000">
              <a:spAutoFit/>
            </a:bodyPr>
            <a:lstStyle/>
            <a:p>
              <a:pPr algn="just">
                <a:lnSpc>
                  <a:spcPct val="120000"/>
                </a:lnSpc>
                <a:spcBef>
                  <a:spcPts val="600"/>
                </a:spcBef>
              </a:pPr>
              <a:r>
                <a:rPr kumimoji="1" lang="en-US" altLang="zh-CN" sz="1800" i="1" dirty="0">
                  <a:solidFill>
                    <a:srgbClr val="FF0000"/>
                  </a:solidFill>
                  <a:latin typeface="Consolas" pitchFamily="49" charset="0"/>
                  <a:ea typeface="仿宋" pitchFamily="49" charset="-122"/>
                  <a:cs typeface="Consolas" pitchFamily="49" charset="0"/>
                </a:rPr>
                <a:t>f</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i="1" dirty="0">
                  <a:solidFill>
                    <a:srgbClr val="3333FF"/>
                  </a:solidFill>
                  <a:latin typeface="Consolas" pitchFamily="49" charset="0"/>
                  <a:ea typeface="仿宋" pitchFamily="49" charset="-122"/>
                  <a:cs typeface="Consolas" pitchFamily="49" charset="0"/>
                </a:rPr>
                <a:t>b</a:t>
              </a:r>
              <a:r>
                <a:rPr kumimoji="1" lang="en-US" altLang="zh-CN" sz="1800" dirty="0">
                  <a:solidFill>
                    <a:srgbClr val="3333FF"/>
                  </a:solidFill>
                  <a:latin typeface="Consolas" pitchFamily="49" charset="0"/>
                  <a:ea typeface="仿宋" pitchFamily="49" charset="-122"/>
                  <a:cs typeface="Consolas" pitchFamily="49" charset="0"/>
                </a:rPr>
                <a:t>) = 0	</a:t>
              </a:r>
              <a:r>
                <a:rPr kumimoji="1" lang="en-US" altLang="zh-CN" sz="1800">
                  <a:solidFill>
                    <a:srgbClr val="3333FF"/>
                  </a:solidFill>
                  <a:latin typeface="Consolas" pitchFamily="49" charset="0"/>
                  <a:ea typeface="仿宋" pitchFamily="49" charset="-122"/>
                  <a:cs typeface="Consolas" pitchFamily="49" charset="0"/>
                </a:rPr>
                <a:t>	</a:t>
              </a:r>
              <a:r>
                <a:rPr kumimoji="1" lang="en-US" altLang="zh-CN" sz="1800" dirty="0">
                  <a:solidFill>
                    <a:srgbClr val="3333FF"/>
                  </a:solidFill>
                  <a:latin typeface="Consolas" pitchFamily="49" charset="0"/>
                  <a:ea typeface="仿宋" pitchFamily="49" charset="-122"/>
                  <a:cs typeface="Consolas" pitchFamily="49" charset="0"/>
                </a:rPr>
                <a:t>	     </a:t>
              </a:r>
              <a:r>
                <a:rPr kumimoji="1" lang="zh-CN" altLang="en-US" sz="1800" dirty="0">
                  <a:solidFill>
                    <a:srgbClr val="3333FF"/>
                  </a:solidFill>
                  <a:latin typeface="Consolas" pitchFamily="49" charset="0"/>
                  <a:ea typeface="仿宋" pitchFamily="49" charset="-122"/>
                  <a:cs typeface="Consolas" pitchFamily="49" charset="0"/>
                </a:rPr>
                <a:t>　　</a:t>
              </a:r>
              <a:r>
                <a:rPr kumimoji="1" lang="zh-CN" altLang="en-US" sz="1800">
                  <a:solidFill>
                    <a:srgbClr val="3333FF"/>
                  </a:solidFill>
                  <a:latin typeface="Consolas" pitchFamily="49" charset="0"/>
                  <a:ea typeface="仿宋" pitchFamily="49" charset="-122"/>
                  <a:cs typeface="Consolas" pitchFamily="49" charset="0"/>
                </a:rPr>
                <a:t> </a:t>
              </a:r>
              <a:r>
                <a:rPr kumimoji="1" lang="zh-CN" altLang="en-US" sz="1800" i="1">
                  <a:solidFill>
                    <a:srgbClr val="3333FF"/>
                  </a:solidFill>
                  <a:latin typeface="Consolas" pitchFamily="49" charset="0"/>
                  <a:ea typeface="仿宋" pitchFamily="49" charset="-122"/>
                  <a:cs typeface="Consolas" pitchFamily="49" charset="0"/>
                </a:rPr>
                <a:t> </a:t>
              </a:r>
              <a:r>
                <a:rPr kumimoji="1" lang="en-US" altLang="zh-CN" sz="1800" i="1">
                  <a:solidFill>
                    <a:srgbClr val="3333FF"/>
                  </a:solidFill>
                  <a:latin typeface="Consolas" pitchFamily="49" charset="0"/>
                  <a:ea typeface="仿宋" pitchFamily="49" charset="-122"/>
                  <a:cs typeface="Consolas" pitchFamily="49" charset="0"/>
                </a:rPr>
                <a:t>	</a:t>
              </a:r>
              <a:r>
                <a:rPr kumimoji="1" lang="en-US" altLang="zh-CN" sz="1800" i="1">
                  <a:solidFill>
                    <a:srgbClr val="00B0F0"/>
                  </a:solidFill>
                  <a:latin typeface="Consolas" pitchFamily="49" charset="0"/>
                  <a:ea typeface="仿宋" pitchFamily="49" charset="-122"/>
                  <a:cs typeface="Consolas" pitchFamily="49" charset="0"/>
                </a:rPr>
                <a:t>b</a:t>
              </a:r>
              <a:r>
                <a:rPr kumimoji="1" lang="en-US" altLang="zh-CN" sz="1800">
                  <a:solidFill>
                    <a:srgbClr val="00B0F0"/>
                  </a:solidFill>
                  <a:latin typeface="Consolas" pitchFamily="49" charset="0"/>
                  <a:ea typeface="仿宋" pitchFamily="49" charset="-122"/>
                  <a:cs typeface="Consolas" pitchFamily="49" charset="0"/>
                </a:rPr>
                <a:t>=NULL</a:t>
              </a:r>
              <a:endParaRPr kumimoji="1" lang="en-US" altLang="zh-CN" sz="1800" dirty="0">
                <a:solidFill>
                  <a:srgbClr val="00B0F0"/>
                </a:solidFill>
                <a:latin typeface="Consolas" pitchFamily="49" charset="0"/>
                <a:ea typeface="仿宋" pitchFamily="49" charset="-122"/>
                <a:cs typeface="Consolas" pitchFamily="49" charset="0"/>
              </a:endParaRPr>
            </a:p>
            <a:p>
              <a:pPr algn="l">
                <a:lnSpc>
                  <a:spcPct val="120000"/>
                </a:lnSpc>
                <a:spcBef>
                  <a:spcPts val="600"/>
                </a:spcBef>
              </a:pPr>
              <a:r>
                <a:rPr kumimoji="1" lang="en-US" altLang="zh-CN" sz="1800" i="1" dirty="0">
                  <a:solidFill>
                    <a:srgbClr val="FF0000"/>
                  </a:solidFill>
                  <a:latin typeface="Consolas" pitchFamily="49" charset="0"/>
                  <a:ea typeface="仿宋" pitchFamily="49" charset="-122"/>
                  <a:cs typeface="Consolas" pitchFamily="49" charset="0"/>
                </a:rPr>
                <a:t>f</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i="1" dirty="0">
                  <a:solidFill>
                    <a:srgbClr val="3333FF"/>
                  </a:solidFill>
                  <a:latin typeface="Consolas" pitchFamily="49" charset="0"/>
                  <a:ea typeface="仿宋" pitchFamily="49" charset="-122"/>
                  <a:cs typeface="Consolas" pitchFamily="49" charset="0"/>
                </a:rPr>
                <a:t>b</a:t>
              </a:r>
              <a:r>
                <a:rPr kumimoji="1" lang="en-US" altLang="zh-CN" sz="1800" dirty="0">
                  <a:solidFill>
                    <a:srgbClr val="3333FF"/>
                  </a:solidFill>
                  <a:latin typeface="Consolas" pitchFamily="49" charset="0"/>
                  <a:ea typeface="仿宋" pitchFamily="49" charset="-122"/>
                  <a:cs typeface="Consolas" pitchFamily="49" charset="0"/>
                </a:rPr>
                <a:t>) = MAX{</a:t>
              </a:r>
              <a:r>
                <a:rPr kumimoji="1" lang="en-US" altLang="zh-CN" sz="1800" i="1" dirty="0">
                  <a:solidFill>
                    <a:srgbClr val="FF0000"/>
                  </a:solidFill>
                  <a:latin typeface="Consolas" pitchFamily="49" charset="0"/>
                  <a:ea typeface="仿宋" pitchFamily="49" charset="-122"/>
                  <a:cs typeface="Consolas" pitchFamily="49" charset="0"/>
                </a:rPr>
                <a:t>f</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i="1" dirty="0">
                  <a:solidFill>
                    <a:srgbClr val="3333FF"/>
                  </a:solidFill>
                  <a:latin typeface="Consolas" pitchFamily="49" charset="0"/>
                  <a:ea typeface="仿宋" pitchFamily="49" charset="-122"/>
                  <a:cs typeface="Consolas" pitchFamily="49" charset="0"/>
                </a:rPr>
                <a:t>b</a:t>
              </a:r>
              <a:r>
                <a:rPr kumimoji="1" lang="en-US" altLang="zh-CN" sz="1800" dirty="0">
                  <a:solidFill>
                    <a:srgbClr val="3333FF"/>
                  </a:solidFill>
                  <a:latin typeface="Consolas" pitchFamily="49" charset="0"/>
                  <a:ea typeface="仿宋" pitchFamily="49" charset="-122"/>
                  <a:cs typeface="Consolas" pitchFamily="49" charset="0"/>
                </a:rPr>
                <a:t>-&gt;</a:t>
              </a:r>
              <a:r>
                <a:rPr kumimoji="1" lang="en-US" altLang="zh-CN" sz="1800" err="1">
                  <a:solidFill>
                    <a:srgbClr val="3333FF"/>
                  </a:solidFill>
                  <a:latin typeface="Consolas" pitchFamily="49" charset="0"/>
                  <a:ea typeface="仿宋" pitchFamily="49" charset="-122"/>
                  <a:cs typeface="Consolas" pitchFamily="49" charset="0"/>
                </a:rPr>
                <a:t>lchild</a:t>
              </a:r>
              <a:r>
                <a:rPr kumimoji="1" lang="en-US" altLang="zh-CN" sz="1800">
                  <a:solidFill>
                    <a:srgbClr val="3333FF"/>
                  </a:solidFill>
                  <a:latin typeface="Consolas" pitchFamily="49" charset="0"/>
                  <a:ea typeface="仿宋" pitchFamily="49" charset="-122"/>
                  <a:cs typeface="Consolas" pitchFamily="49" charset="0"/>
                </a:rPr>
                <a:t>)</a:t>
              </a:r>
              <a:r>
                <a:rPr kumimoji="1" lang="zh-CN" altLang="en-US" sz="1800">
                  <a:solidFill>
                    <a:srgbClr val="3333FF"/>
                  </a:solidFill>
                  <a:latin typeface="Consolas" pitchFamily="49" charset="0"/>
                  <a:ea typeface="仿宋" pitchFamily="49" charset="-122"/>
                  <a:cs typeface="Consolas" pitchFamily="49" charset="0"/>
                </a:rPr>
                <a:t>，</a:t>
              </a:r>
              <a:r>
                <a:rPr kumimoji="1" lang="en-US" altLang="zh-CN" sz="1800" i="1">
                  <a:solidFill>
                    <a:srgbClr val="FF0000"/>
                  </a:solidFill>
                  <a:latin typeface="Consolas" pitchFamily="49" charset="0"/>
                  <a:ea typeface="仿宋" pitchFamily="49" charset="-122"/>
                  <a:cs typeface="Consolas" pitchFamily="49" charset="0"/>
                </a:rPr>
                <a:t>f</a:t>
              </a:r>
              <a:r>
                <a:rPr kumimoji="1" lang="en-US" altLang="zh-CN" sz="1800">
                  <a:solidFill>
                    <a:srgbClr val="3333FF"/>
                  </a:solidFill>
                  <a:latin typeface="Consolas" pitchFamily="49" charset="0"/>
                  <a:ea typeface="仿宋" pitchFamily="49" charset="-122"/>
                  <a:cs typeface="Consolas" pitchFamily="49" charset="0"/>
                </a:rPr>
                <a:t>(</a:t>
              </a:r>
              <a:r>
                <a:rPr kumimoji="1" lang="en-US" altLang="zh-CN" sz="1800" i="1">
                  <a:solidFill>
                    <a:srgbClr val="3333FF"/>
                  </a:solidFill>
                  <a:latin typeface="Consolas" pitchFamily="49" charset="0"/>
                  <a:ea typeface="仿宋" pitchFamily="49" charset="-122"/>
                  <a:cs typeface="Consolas" pitchFamily="49" charset="0"/>
                </a:rPr>
                <a:t>b</a:t>
              </a:r>
              <a:r>
                <a:rPr kumimoji="1" lang="en-US" altLang="zh-CN" sz="1800">
                  <a:solidFill>
                    <a:srgbClr val="3333FF"/>
                  </a:solidFill>
                  <a:latin typeface="Consolas" pitchFamily="49" charset="0"/>
                  <a:ea typeface="仿宋" pitchFamily="49" charset="-122"/>
                  <a:cs typeface="Consolas" pitchFamily="49" charset="0"/>
                </a:rPr>
                <a:t>-</a:t>
              </a:r>
              <a:r>
                <a:rPr kumimoji="1" lang="en-US" altLang="zh-CN" sz="1800" dirty="0">
                  <a:solidFill>
                    <a:srgbClr val="3333FF"/>
                  </a:solidFill>
                  <a:latin typeface="Consolas" pitchFamily="49" charset="0"/>
                  <a:ea typeface="仿宋" pitchFamily="49" charset="-122"/>
                  <a:cs typeface="Consolas" pitchFamily="49" charset="0"/>
                </a:rPr>
                <a:t>&gt;</a:t>
              </a:r>
              <a:r>
                <a:rPr kumimoji="1" lang="en-US" altLang="zh-CN" sz="1800" dirty="0" err="1">
                  <a:solidFill>
                    <a:srgbClr val="3333FF"/>
                  </a:solidFill>
                  <a:latin typeface="Consolas" pitchFamily="49" charset="0"/>
                  <a:ea typeface="仿宋" pitchFamily="49" charset="-122"/>
                  <a:cs typeface="Consolas" pitchFamily="49" charset="0"/>
                </a:rPr>
                <a:t>rchild</a:t>
              </a:r>
              <a:r>
                <a:rPr kumimoji="1" lang="en-US" altLang="zh-CN" sz="1800" dirty="0">
                  <a:solidFill>
                    <a:srgbClr val="3333FF"/>
                  </a:solidFill>
                  <a:latin typeface="Consolas" pitchFamily="49" charset="0"/>
                  <a:ea typeface="仿宋" pitchFamily="49" charset="-122"/>
                  <a:cs typeface="Consolas" pitchFamily="49" charset="0"/>
                </a:rPr>
                <a:t>)}+1    </a:t>
              </a:r>
              <a:r>
                <a:rPr kumimoji="1" lang="zh-CN" altLang="en-US" sz="1800" dirty="0">
                  <a:solidFill>
                    <a:srgbClr val="00B0F0"/>
                  </a:solidFill>
                  <a:latin typeface="Consolas" pitchFamily="49" charset="0"/>
                  <a:ea typeface="仿宋" pitchFamily="49" charset="-122"/>
                  <a:cs typeface="Consolas" pitchFamily="49" charset="0"/>
                </a:rPr>
                <a:t>其他情况</a:t>
              </a:r>
            </a:p>
          </p:txBody>
        </p:sp>
        <p:sp>
          <p:nvSpPr>
            <p:cNvPr id="7" name="Text Box 4">
              <a:extLst>
                <a:ext uri="{FF2B5EF4-FFF2-40B4-BE49-F238E27FC236}">
                  <a16:creationId xmlns:a16="http://schemas.microsoft.com/office/drawing/2014/main" xmlns="" id="{7F249801-3C15-8944-9883-33ECA8D07B99}"/>
                </a:ext>
              </a:extLst>
            </p:cNvPr>
            <p:cNvSpPr txBox="1">
              <a:spLocks noChangeArrowheads="1"/>
            </p:cNvSpPr>
            <p:nvPr/>
          </p:nvSpPr>
          <p:spPr bwMode="auto">
            <a:xfrm>
              <a:off x="582636" y="4286256"/>
              <a:ext cx="6769100" cy="556535"/>
            </a:xfrm>
            <a:prstGeom prst="rect">
              <a:avLst/>
            </a:prstGeom>
            <a:noFill/>
            <a:ln w="9525" algn="ctr">
              <a:noFill/>
              <a:miter lim="800000"/>
              <a:headEnd/>
              <a:tailEnd type="none" w="med" len="lg"/>
            </a:ln>
            <a:effectLst/>
          </p:spPr>
          <p:txBody>
            <a:bodyPr lIns="144000" tIns="108000" rIns="144000" bIns="108000">
              <a:spAutoFit/>
            </a:bodyPr>
            <a:lstStyle/>
            <a:p>
              <a:pPr algn="l">
                <a:lnSpc>
                  <a:spcPct val="120000"/>
                </a:lnSpc>
                <a:spcBef>
                  <a:spcPct val="50000"/>
                </a:spcBef>
              </a:pPr>
              <a:r>
                <a:rPr kumimoji="1" lang="zh-CN" altLang="en-US" sz="2000" dirty="0">
                  <a:latin typeface="Consolas" pitchFamily="49" charset="0"/>
                  <a:ea typeface="楷体" pitchFamily="49" charset="-122"/>
                  <a:cs typeface="Consolas" pitchFamily="49" charset="0"/>
                </a:rPr>
                <a:t>求二叉树的高度的递归模型</a:t>
              </a:r>
              <a:r>
                <a:rPr kumimoji="1" lang="en-US" altLang="zh-CN" sz="2000" i="1" dirty="0">
                  <a:latin typeface="Consolas" pitchFamily="49" charset="0"/>
                  <a:ea typeface="楷体" pitchFamily="49" charset="-122"/>
                  <a:cs typeface="Consolas" pitchFamily="49" charset="0"/>
                </a:rPr>
                <a:t>f</a:t>
              </a:r>
              <a:r>
                <a:rPr kumimoji="1" lang="en-US" altLang="zh-CN" sz="2000" dirty="0">
                  <a:latin typeface="Consolas" pitchFamily="49" charset="0"/>
                  <a:ea typeface="楷体" pitchFamily="49" charset="-122"/>
                  <a:cs typeface="Consolas" pitchFamily="49" charset="0"/>
                </a:rPr>
                <a:t>(</a:t>
              </a:r>
              <a:r>
                <a:rPr kumimoji="1" lang="en-US" altLang="zh-CN" sz="2000" i="1" dirty="0">
                  <a:latin typeface="Consolas" pitchFamily="49" charset="0"/>
                  <a:ea typeface="楷体" pitchFamily="49" charset="-122"/>
                  <a:cs typeface="Consolas" pitchFamily="49" charset="0"/>
                </a:rPr>
                <a:t>b</a:t>
              </a:r>
              <a:r>
                <a:rPr kumimoji="1" lang="en-US" altLang="zh-CN" sz="2000" dirty="0">
                  <a:latin typeface="Consolas" pitchFamily="49" charset="0"/>
                  <a:ea typeface="楷体" pitchFamily="49" charset="-122"/>
                  <a:cs typeface="Consolas" pitchFamily="49" charset="0"/>
                </a:rPr>
                <a:t>)</a:t>
              </a:r>
              <a:r>
                <a:rPr kumimoji="1" lang="zh-CN" altLang="en-US" sz="2000" dirty="0">
                  <a:latin typeface="Consolas" pitchFamily="49" charset="0"/>
                  <a:ea typeface="楷体" pitchFamily="49" charset="-122"/>
                  <a:cs typeface="Consolas" pitchFamily="49" charset="0"/>
                </a:rPr>
                <a:t>如下：</a:t>
              </a:r>
              <a:endParaRPr lang="zh-CN" altLang="en-US" sz="2000" dirty="0">
                <a:latin typeface="Consolas" pitchFamily="49" charset="0"/>
                <a:ea typeface="楷体" pitchFamily="49" charset="-122"/>
                <a:cs typeface="Consolas" pitchFamily="49" charset="0"/>
              </a:endParaRPr>
            </a:p>
          </p:txBody>
        </p:sp>
      </p:grpSp>
      <p:sp>
        <p:nvSpPr>
          <p:cNvPr id="8" name="Oval 5">
            <a:extLst>
              <a:ext uri="{FF2B5EF4-FFF2-40B4-BE49-F238E27FC236}">
                <a16:creationId xmlns:a16="http://schemas.microsoft.com/office/drawing/2014/main" xmlns="" id="{A68B92C6-7D4C-C89C-FD20-B0783A5268B6}"/>
              </a:ext>
            </a:extLst>
          </p:cNvPr>
          <p:cNvSpPr>
            <a:spLocks noChangeArrowheads="1"/>
          </p:cNvSpPr>
          <p:nvPr/>
        </p:nvSpPr>
        <p:spPr bwMode="auto">
          <a:xfrm>
            <a:off x="6147907" y="2002671"/>
            <a:ext cx="863600" cy="504825"/>
          </a:xfrm>
          <a:prstGeom prst="ellipse">
            <a:avLst/>
          </a:prstGeom>
          <a:ln>
            <a:headEnd/>
            <a:tailEnd type="none" w="med" len="lg"/>
          </a:ln>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2000" i="1" dirty="0">
                <a:solidFill>
                  <a:srgbClr val="3333FF"/>
                </a:solidFill>
                <a:latin typeface="Consolas" pitchFamily="49" charset="0"/>
                <a:cs typeface="Consolas" pitchFamily="49" charset="0"/>
              </a:rPr>
              <a:t>N</a:t>
            </a:r>
            <a:endParaRPr lang="zh-CN" altLang="en-US" sz="2000" i="1" dirty="0">
              <a:solidFill>
                <a:srgbClr val="3333FF"/>
              </a:solidFill>
              <a:latin typeface="Consolas" pitchFamily="49" charset="0"/>
              <a:cs typeface="Consolas" pitchFamily="49" charset="0"/>
            </a:endParaRPr>
          </a:p>
        </p:txBody>
      </p:sp>
      <p:sp>
        <p:nvSpPr>
          <p:cNvPr id="9" name="Arc 6">
            <a:extLst>
              <a:ext uri="{FF2B5EF4-FFF2-40B4-BE49-F238E27FC236}">
                <a16:creationId xmlns:a16="http://schemas.microsoft.com/office/drawing/2014/main" xmlns="" id="{76B24CBD-C99B-160B-05E1-CAC2FC4085E0}"/>
              </a:ext>
            </a:extLst>
          </p:cNvPr>
          <p:cNvSpPr>
            <a:spLocks/>
          </p:cNvSpPr>
          <p:nvPr/>
        </p:nvSpPr>
        <p:spPr bwMode="auto">
          <a:xfrm>
            <a:off x="5884382" y="1753434"/>
            <a:ext cx="433387" cy="28733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CC00FF"/>
            </a:solidFill>
            <a:round/>
            <a:headEnd/>
            <a:tailEnd type="stealth" w="med" len="med"/>
          </a:ln>
          <a:effectLst/>
        </p:spPr>
        <p:txBody>
          <a:bodyPr wrap="none" anchor="ctr"/>
          <a:lstStyle/>
          <a:p>
            <a:endParaRPr lang="zh-CN" altLang="en-US"/>
          </a:p>
        </p:txBody>
      </p:sp>
      <p:sp>
        <p:nvSpPr>
          <p:cNvPr id="10" name="AutoShape 7">
            <a:extLst>
              <a:ext uri="{FF2B5EF4-FFF2-40B4-BE49-F238E27FC236}">
                <a16:creationId xmlns:a16="http://schemas.microsoft.com/office/drawing/2014/main" xmlns="" id="{3898CD82-BC10-8703-8957-2D36224063E1}"/>
              </a:ext>
            </a:extLst>
          </p:cNvPr>
          <p:cNvSpPr>
            <a:spLocks noChangeArrowheads="1"/>
          </p:cNvSpPr>
          <p:nvPr/>
        </p:nvSpPr>
        <p:spPr bwMode="auto">
          <a:xfrm>
            <a:off x="4995382" y="2939296"/>
            <a:ext cx="1150937" cy="792163"/>
          </a:xfrm>
          <a:prstGeom prst="triangle">
            <a:avLst>
              <a:gd name="adj" fmla="val 50000"/>
            </a:avLst>
          </a:prstGeom>
          <a:solidFill>
            <a:schemeClr val="accent2"/>
          </a:solidFill>
          <a:ln w="9525" algn="ctr">
            <a:solidFill>
              <a:schemeClr val="tx1"/>
            </a:solidFill>
            <a:miter lim="800000"/>
            <a:headEnd/>
            <a:tailEnd type="none" w="med" len="lg"/>
          </a:ln>
          <a:effectLst/>
        </p:spPr>
        <p:txBody>
          <a:bodyPr wrap="none" anchor="ctr"/>
          <a:lstStyle/>
          <a:p>
            <a:endParaRPr lang="zh-CN" altLang="en-US"/>
          </a:p>
        </p:txBody>
      </p:sp>
      <p:sp>
        <p:nvSpPr>
          <p:cNvPr id="11" name="AutoShape 8">
            <a:extLst>
              <a:ext uri="{FF2B5EF4-FFF2-40B4-BE49-F238E27FC236}">
                <a16:creationId xmlns:a16="http://schemas.microsoft.com/office/drawing/2014/main" xmlns="" id="{E504C9B5-1A9B-FDF6-1DF4-6BE4B7490FD1}"/>
              </a:ext>
            </a:extLst>
          </p:cNvPr>
          <p:cNvSpPr>
            <a:spLocks noChangeArrowheads="1"/>
          </p:cNvSpPr>
          <p:nvPr/>
        </p:nvSpPr>
        <p:spPr bwMode="auto">
          <a:xfrm>
            <a:off x="6844819" y="2926596"/>
            <a:ext cx="1150937" cy="792163"/>
          </a:xfrm>
          <a:prstGeom prst="triangle">
            <a:avLst>
              <a:gd name="adj" fmla="val 50000"/>
            </a:avLst>
          </a:prstGeom>
          <a:solidFill>
            <a:schemeClr val="accent2"/>
          </a:solidFill>
          <a:ln w="9525" algn="ctr">
            <a:solidFill>
              <a:schemeClr val="tx1"/>
            </a:solidFill>
            <a:miter lim="800000"/>
            <a:headEnd/>
            <a:tailEnd type="none" w="med" len="lg"/>
          </a:ln>
          <a:effectLst/>
        </p:spPr>
        <p:txBody>
          <a:bodyPr wrap="none" anchor="ctr"/>
          <a:lstStyle/>
          <a:p>
            <a:endParaRPr lang="zh-CN" altLang="en-US"/>
          </a:p>
        </p:txBody>
      </p:sp>
      <p:sp>
        <p:nvSpPr>
          <p:cNvPr id="12" name="Line 10">
            <a:extLst>
              <a:ext uri="{FF2B5EF4-FFF2-40B4-BE49-F238E27FC236}">
                <a16:creationId xmlns:a16="http://schemas.microsoft.com/office/drawing/2014/main" xmlns="" id="{E42E9C4E-22A6-BA7B-32D7-93509654C21B}"/>
              </a:ext>
            </a:extLst>
          </p:cNvPr>
          <p:cNvSpPr>
            <a:spLocks noChangeShapeType="1"/>
          </p:cNvSpPr>
          <p:nvPr/>
        </p:nvSpPr>
        <p:spPr bwMode="auto">
          <a:xfrm flipH="1">
            <a:off x="5630382" y="2434471"/>
            <a:ext cx="647700" cy="649288"/>
          </a:xfrm>
          <a:prstGeom prst="line">
            <a:avLst/>
          </a:prstGeom>
          <a:noFill/>
          <a:ln w="28575">
            <a:solidFill>
              <a:schemeClr val="tx1"/>
            </a:solidFill>
            <a:round/>
            <a:headEnd/>
            <a:tailEnd type="stealth" w="med" len="lg"/>
          </a:ln>
          <a:effectLst/>
        </p:spPr>
        <p:txBody>
          <a:bodyPr wrap="none"/>
          <a:lstStyle/>
          <a:p>
            <a:endParaRPr lang="zh-CN" altLang="en-US"/>
          </a:p>
        </p:txBody>
      </p:sp>
      <p:sp>
        <p:nvSpPr>
          <p:cNvPr id="13" name="Line 11">
            <a:extLst>
              <a:ext uri="{FF2B5EF4-FFF2-40B4-BE49-F238E27FC236}">
                <a16:creationId xmlns:a16="http://schemas.microsoft.com/office/drawing/2014/main" xmlns="" id="{3963934C-D114-6532-E385-135FB3425889}"/>
              </a:ext>
            </a:extLst>
          </p:cNvPr>
          <p:cNvSpPr>
            <a:spLocks noChangeShapeType="1"/>
          </p:cNvSpPr>
          <p:nvPr/>
        </p:nvSpPr>
        <p:spPr bwMode="auto">
          <a:xfrm>
            <a:off x="6844819" y="2459871"/>
            <a:ext cx="504825" cy="576263"/>
          </a:xfrm>
          <a:prstGeom prst="line">
            <a:avLst/>
          </a:prstGeom>
          <a:noFill/>
          <a:ln w="28575">
            <a:solidFill>
              <a:schemeClr val="tx1"/>
            </a:solidFill>
            <a:round/>
            <a:headEnd/>
            <a:tailEnd type="stealth" w="med" len="lg"/>
          </a:ln>
          <a:effectLst/>
        </p:spPr>
        <p:txBody>
          <a:bodyPr wrap="none"/>
          <a:lstStyle/>
          <a:p>
            <a:endParaRPr lang="zh-CN" altLang="en-US"/>
          </a:p>
        </p:txBody>
      </p:sp>
      <p:sp>
        <p:nvSpPr>
          <p:cNvPr id="14" name="Text Box 12">
            <a:extLst>
              <a:ext uri="{FF2B5EF4-FFF2-40B4-BE49-F238E27FC236}">
                <a16:creationId xmlns:a16="http://schemas.microsoft.com/office/drawing/2014/main" xmlns="" id="{F24E0813-B679-C38F-7BB2-C18502CA3C8B}"/>
              </a:ext>
            </a:extLst>
          </p:cNvPr>
          <p:cNvSpPr txBox="1">
            <a:spLocks noChangeArrowheads="1"/>
          </p:cNvSpPr>
          <p:nvPr/>
        </p:nvSpPr>
        <p:spPr bwMode="auto">
          <a:xfrm>
            <a:off x="5355744" y="1545471"/>
            <a:ext cx="719137" cy="400110"/>
          </a:xfrm>
          <a:prstGeom prst="rect">
            <a:avLst/>
          </a:prstGeom>
          <a:noFill/>
          <a:ln w="28575" algn="ctr">
            <a:noFill/>
            <a:miter lim="800000"/>
            <a:headEnd/>
            <a:tailEnd type="none" w="med" len="lg"/>
          </a:ln>
          <a:effectLst/>
        </p:spPr>
        <p:txBody>
          <a:bodyPr>
            <a:spAutoFit/>
          </a:bodyPr>
          <a:lstStyle/>
          <a:p>
            <a:pPr>
              <a:spcBef>
                <a:spcPct val="50000"/>
              </a:spcBef>
            </a:pPr>
            <a:r>
              <a:rPr lang="en-US" altLang="zh-CN" sz="2000" i="1" dirty="0">
                <a:latin typeface="Consolas" pitchFamily="49" charset="0"/>
                <a:cs typeface="Consolas" pitchFamily="49" charset="0"/>
              </a:rPr>
              <a:t>b</a:t>
            </a:r>
          </a:p>
        </p:txBody>
      </p:sp>
      <p:sp>
        <p:nvSpPr>
          <p:cNvPr id="15" name="Text Box 13">
            <a:extLst>
              <a:ext uri="{FF2B5EF4-FFF2-40B4-BE49-F238E27FC236}">
                <a16:creationId xmlns:a16="http://schemas.microsoft.com/office/drawing/2014/main" xmlns="" id="{1CC25EE2-0C55-DE9A-797F-9196E11CE9BC}"/>
              </a:ext>
            </a:extLst>
          </p:cNvPr>
          <p:cNvSpPr txBox="1">
            <a:spLocks noChangeArrowheads="1"/>
          </p:cNvSpPr>
          <p:nvPr/>
        </p:nvSpPr>
        <p:spPr bwMode="auto">
          <a:xfrm>
            <a:off x="4785826" y="3850521"/>
            <a:ext cx="1727200" cy="369332"/>
          </a:xfrm>
          <a:prstGeom prst="rect">
            <a:avLst/>
          </a:prstGeom>
          <a:noFill/>
          <a:ln w="28575" algn="ctr">
            <a:noFill/>
            <a:miter lim="800000"/>
            <a:headEnd/>
            <a:tailEnd type="none" w="med" len="lg"/>
          </a:ln>
          <a:effectLst/>
        </p:spPr>
        <p:txBody>
          <a:bodyPr>
            <a:spAutoFit/>
          </a:bodyPr>
          <a:lstStyle/>
          <a:p>
            <a:pPr>
              <a:spcBef>
                <a:spcPct val="50000"/>
              </a:spcBef>
            </a:pPr>
            <a:r>
              <a:rPr lang="en-US" altLang="zh-CN" sz="1800" i="1">
                <a:latin typeface="Consolas" pitchFamily="49" charset="0"/>
                <a:cs typeface="Consolas" pitchFamily="49" charset="0"/>
              </a:rPr>
              <a:t>b</a:t>
            </a:r>
            <a:r>
              <a:rPr lang="en-US" altLang="zh-CN" sz="1800">
                <a:latin typeface="Consolas" pitchFamily="49" charset="0"/>
                <a:ea typeface="宋体" charset="-122"/>
                <a:cs typeface="Consolas" pitchFamily="49" charset="0"/>
              </a:rPr>
              <a:t>-</a:t>
            </a:r>
            <a:r>
              <a:rPr lang="en-US" altLang="zh-CN" sz="1800">
                <a:latin typeface="Consolas" pitchFamily="49" charset="0"/>
                <a:cs typeface="Consolas" pitchFamily="49" charset="0"/>
              </a:rPr>
              <a:t>&gt;lchild</a:t>
            </a:r>
          </a:p>
        </p:txBody>
      </p:sp>
      <p:sp>
        <p:nvSpPr>
          <p:cNvPr id="16" name="Text Box 14">
            <a:extLst>
              <a:ext uri="{FF2B5EF4-FFF2-40B4-BE49-F238E27FC236}">
                <a16:creationId xmlns:a16="http://schemas.microsoft.com/office/drawing/2014/main" xmlns="" id="{53C22A85-6870-9F3C-237F-EB27F0F3AF0A}"/>
              </a:ext>
            </a:extLst>
          </p:cNvPr>
          <p:cNvSpPr txBox="1">
            <a:spLocks noChangeArrowheads="1"/>
          </p:cNvSpPr>
          <p:nvPr/>
        </p:nvSpPr>
        <p:spPr bwMode="auto">
          <a:xfrm>
            <a:off x="6419362" y="3850521"/>
            <a:ext cx="1727200" cy="369332"/>
          </a:xfrm>
          <a:prstGeom prst="rect">
            <a:avLst/>
          </a:prstGeom>
          <a:noFill/>
          <a:ln w="28575" algn="ctr">
            <a:noFill/>
            <a:miter lim="800000"/>
            <a:headEnd/>
            <a:tailEnd type="none" w="med" len="lg"/>
          </a:ln>
          <a:effectLst/>
        </p:spPr>
        <p:txBody>
          <a:bodyPr>
            <a:spAutoFit/>
          </a:bodyPr>
          <a:lstStyle/>
          <a:p>
            <a:pPr>
              <a:spcBef>
                <a:spcPct val="50000"/>
              </a:spcBef>
            </a:pPr>
            <a:r>
              <a:rPr lang="en-US" altLang="zh-CN" sz="1800" i="1">
                <a:latin typeface="Consolas" pitchFamily="49" charset="0"/>
                <a:cs typeface="Consolas" pitchFamily="49" charset="0"/>
              </a:rPr>
              <a:t>b</a:t>
            </a:r>
            <a:r>
              <a:rPr lang="en-US" altLang="zh-CN" sz="1800">
                <a:latin typeface="Consolas" pitchFamily="49" charset="0"/>
                <a:ea typeface="宋体" charset="-122"/>
                <a:cs typeface="Consolas" pitchFamily="49" charset="0"/>
              </a:rPr>
              <a:t>-</a:t>
            </a:r>
            <a:r>
              <a:rPr lang="en-US" altLang="zh-CN" sz="1800">
                <a:latin typeface="Consolas" pitchFamily="49" charset="0"/>
                <a:cs typeface="Consolas" pitchFamily="49" charset="0"/>
              </a:rPr>
              <a:t>&gt;rchild</a:t>
            </a:r>
          </a:p>
        </p:txBody>
      </p:sp>
      <p:sp>
        <p:nvSpPr>
          <p:cNvPr id="18" name="TextBox 18">
            <a:extLst>
              <a:ext uri="{FF2B5EF4-FFF2-40B4-BE49-F238E27FC236}">
                <a16:creationId xmlns:a16="http://schemas.microsoft.com/office/drawing/2014/main" xmlns="" id="{652C7EF4-7BE7-A277-E686-D7315762BBCE}"/>
              </a:ext>
            </a:extLst>
          </p:cNvPr>
          <p:cNvSpPr txBox="1"/>
          <p:nvPr/>
        </p:nvSpPr>
        <p:spPr>
          <a:xfrm>
            <a:off x="6638434" y="1607425"/>
            <a:ext cx="1857388" cy="369332"/>
          </a:xfrm>
          <a:prstGeom prst="rect">
            <a:avLst/>
          </a:prstGeom>
          <a:noFill/>
        </p:spPr>
        <p:txBody>
          <a:bodyPr wrap="square" rtlCol="0">
            <a:spAutoFit/>
          </a:bodyPr>
          <a:lstStyle/>
          <a:p>
            <a:r>
              <a:rPr kumimoji="1" lang="en-US" altLang="zh-CN" sz="1800" i="1">
                <a:latin typeface="Consolas" pitchFamily="49" charset="0"/>
                <a:ea typeface="仿宋" pitchFamily="49" charset="-122"/>
                <a:cs typeface="Consolas" pitchFamily="49" charset="0"/>
              </a:rPr>
              <a:t>f</a:t>
            </a:r>
            <a:r>
              <a:rPr kumimoji="1" lang="en-US" altLang="zh-CN"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b</a:t>
            </a:r>
            <a:r>
              <a:rPr kumimoji="1" lang="en-US" altLang="zh-CN" sz="1800">
                <a:latin typeface="Consolas" pitchFamily="49" charset="0"/>
                <a:ea typeface="仿宋" pitchFamily="49" charset="-122"/>
                <a:cs typeface="Consolas" pitchFamily="49" charset="0"/>
              </a:rPr>
              <a:t>)</a:t>
            </a:r>
            <a:r>
              <a:rPr lang="zh-CN" altLang="en-US" sz="1800">
                <a:latin typeface="Consolas" pitchFamily="49" charset="0"/>
                <a:ea typeface="仿宋" pitchFamily="49" charset="-122"/>
                <a:cs typeface="Consolas" pitchFamily="49" charset="0"/>
              </a:rPr>
              <a:t>：</a:t>
            </a:r>
            <a:r>
              <a:rPr lang="zh-CN" altLang="en-US" sz="1800" dirty="0">
                <a:latin typeface="Consolas" pitchFamily="49" charset="0"/>
                <a:ea typeface="仿宋" pitchFamily="49" charset="-122"/>
                <a:cs typeface="Consolas" pitchFamily="49" charset="0"/>
              </a:rPr>
              <a:t>大问题</a:t>
            </a:r>
          </a:p>
        </p:txBody>
      </p:sp>
      <p:sp>
        <p:nvSpPr>
          <p:cNvPr id="21" name="TextBox 19">
            <a:extLst>
              <a:ext uri="{FF2B5EF4-FFF2-40B4-BE49-F238E27FC236}">
                <a16:creationId xmlns:a16="http://schemas.microsoft.com/office/drawing/2014/main" xmlns="" id="{C934A7E2-D423-FED3-CF33-F71CF8672B78}"/>
              </a:ext>
            </a:extLst>
          </p:cNvPr>
          <p:cNvSpPr txBox="1"/>
          <p:nvPr/>
        </p:nvSpPr>
        <p:spPr>
          <a:xfrm>
            <a:off x="7567128" y="2821871"/>
            <a:ext cx="3000396" cy="369332"/>
          </a:xfrm>
          <a:prstGeom prst="rect">
            <a:avLst/>
          </a:prstGeom>
          <a:noFill/>
        </p:spPr>
        <p:txBody>
          <a:bodyPr wrap="square" rtlCol="0">
            <a:spAutoFit/>
          </a:bodyPr>
          <a:lstStyle/>
          <a:p>
            <a:r>
              <a:rPr kumimoji="1" lang="en-US" altLang="zh-CN" sz="1800" i="1">
                <a:latin typeface="Consolas" pitchFamily="49" charset="0"/>
                <a:ea typeface="仿宋" pitchFamily="49" charset="-122"/>
                <a:cs typeface="Consolas" pitchFamily="49" charset="0"/>
              </a:rPr>
              <a:t>f</a:t>
            </a:r>
            <a:r>
              <a:rPr kumimoji="1" lang="en-US" altLang="zh-CN"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b</a:t>
            </a:r>
            <a:r>
              <a:rPr kumimoji="1" lang="en-US" altLang="zh-CN" sz="1800">
                <a:latin typeface="Consolas" pitchFamily="49" charset="0"/>
                <a:ea typeface="仿宋" pitchFamily="49" charset="-122"/>
                <a:cs typeface="Consolas" pitchFamily="49" charset="0"/>
              </a:rPr>
              <a:t>-&gt;rchild)</a:t>
            </a:r>
            <a:r>
              <a:rPr lang="zh-CN" altLang="en-US" sz="1800">
                <a:latin typeface="Consolas" pitchFamily="49" charset="0"/>
                <a:ea typeface="仿宋" pitchFamily="49" charset="-122"/>
                <a:cs typeface="Consolas" pitchFamily="49" charset="0"/>
              </a:rPr>
              <a:t>：小问题</a:t>
            </a:r>
            <a:endParaRPr lang="zh-CN" altLang="en-US" sz="1800" dirty="0">
              <a:latin typeface="Consolas" pitchFamily="49" charset="0"/>
              <a:ea typeface="仿宋" pitchFamily="49" charset="-122"/>
              <a:cs typeface="Consolas" pitchFamily="49" charset="0"/>
            </a:endParaRPr>
          </a:p>
        </p:txBody>
      </p:sp>
      <p:sp>
        <p:nvSpPr>
          <p:cNvPr id="22" name="TextBox 20">
            <a:extLst>
              <a:ext uri="{FF2B5EF4-FFF2-40B4-BE49-F238E27FC236}">
                <a16:creationId xmlns:a16="http://schemas.microsoft.com/office/drawing/2014/main" xmlns="" id="{475617E3-0E13-CDF7-7F57-D009070A7EE0}"/>
              </a:ext>
            </a:extLst>
          </p:cNvPr>
          <p:cNvSpPr txBox="1"/>
          <p:nvPr/>
        </p:nvSpPr>
        <p:spPr>
          <a:xfrm>
            <a:off x="2423592" y="3036185"/>
            <a:ext cx="2928958" cy="369332"/>
          </a:xfrm>
          <a:prstGeom prst="rect">
            <a:avLst/>
          </a:prstGeom>
          <a:noFill/>
        </p:spPr>
        <p:txBody>
          <a:bodyPr wrap="square" rtlCol="0">
            <a:spAutoFit/>
          </a:bodyPr>
          <a:lstStyle/>
          <a:p>
            <a:r>
              <a:rPr kumimoji="1" lang="en-US" altLang="zh-CN" sz="1800" i="1">
                <a:latin typeface="Consolas" pitchFamily="49" charset="0"/>
                <a:ea typeface="仿宋" pitchFamily="49" charset="-122"/>
                <a:cs typeface="Consolas" pitchFamily="49" charset="0"/>
              </a:rPr>
              <a:t>f</a:t>
            </a:r>
            <a:r>
              <a:rPr kumimoji="1" lang="en-US" altLang="zh-CN" sz="1800">
                <a:latin typeface="Consolas" pitchFamily="49" charset="0"/>
                <a:ea typeface="仿宋" pitchFamily="49" charset="-122"/>
                <a:cs typeface="Consolas" pitchFamily="49" charset="0"/>
              </a:rPr>
              <a:t>(</a:t>
            </a:r>
            <a:r>
              <a:rPr kumimoji="1" lang="en-US" altLang="zh-CN" sz="1800" i="1">
                <a:latin typeface="Consolas" pitchFamily="49" charset="0"/>
                <a:ea typeface="仿宋" pitchFamily="49" charset="-122"/>
                <a:cs typeface="Consolas" pitchFamily="49" charset="0"/>
              </a:rPr>
              <a:t>b</a:t>
            </a:r>
            <a:r>
              <a:rPr kumimoji="1" lang="en-US" altLang="zh-CN" sz="1800">
                <a:latin typeface="Consolas" pitchFamily="49" charset="0"/>
                <a:ea typeface="仿宋" pitchFamily="49" charset="-122"/>
                <a:cs typeface="Consolas" pitchFamily="49" charset="0"/>
              </a:rPr>
              <a:t>-&gt;lchild)</a:t>
            </a:r>
            <a:r>
              <a:rPr lang="zh-CN" altLang="en-US" sz="1800">
                <a:latin typeface="Consolas" pitchFamily="49" charset="0"/>
                <a:ea typeface="仿宋" pitchFamily="49" charset="-122"/>
                <a:cs typeface="Consolas" pitchFamily="49" charset="0"/>
              </a:rPr>
              <a:t>：小问题</a:t>
            </a:r>
            <a:endParaRPr lang="zh-CN" altLang="en-US" sz="1800" dirty="0">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347793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p:bldP spid="2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D93F71-AA98-6EC5-0835-7DF63CA5391C}"/>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381B3AAB-8150-2C7F-B0BA-4EA12ACB37A3}"/>
              </a:ext>
            </a:extLst>
          </p:cNvPr>
          <p:cNvSpPr/>
          <p:nvPr/>
        </p:nvSpPr>
        <p:spPr>
          <a:xfrm>
            <a:off x="3647728" y="118989"/>
            <a:ext cx="569547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7.4 </a:t>
            </a:r>
            <a:r>
              <a:rPr lang="zh-CN" altLang="en-US" sz="3000" b="1" dirty="0">
                <a:latin typeface="黑体" pitchFamily="49" charset="-122"/>
                <a:ea typeface="黑体" pitchFamily="49" charset="-122"/>
                <a:cs typeface="经典粗黑简" pitchFamily="49" charset="-122"/>
              </a:rPr>
              <a:t>二叉树基本运算及其实现</a:t>
            </a:r>
          </a:p>
        </p:txBody>
      </p:sp>
      <p:sp>
        <p:nvSpPr>
          <p:cNvPr id="19" name="Rectangle 2">
            <a:extLst>
              <a:ext uri="{FF2B5EF4-FFF2-40B4-BE49-F238E27FC236}">
                <a16:creationId xmlns:a16="http://schemas.microsoft.com/office/drawing/2014/main" xmlns="" id="{E4740F66-668E-0E35-4C2F-FF7996AADC35}"/>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7.4.1 </a:t>
            </a:r>
            <a:r>
              <a:rPr lang="zh-CN" altLang="en-US" dirty="0"/>
              <a:t>二叉树的基本运算概述</a:t>
            </a:r>
          </a:p>
        </p:txBody>
      </p:sp>
      <p:cxnSp>
        <p:nvCxnSpPr>
          <p:cNvPr id="20" name="直接连接符 19">
            <a:extLst>
              <a:ext uri="{FF2B5EF4-FFF2-40B4-BE49-F238E27FC236}">
                <a16:creationId xmlns:a16="http://schemas.microsoft.com/office/drawing/2014/main" xmlns="" id="{6F281F6D-73D3-30EB-27E5-4EC5DD525C0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4">
            <a:extLst>
              <a:ext uri="{FF2B5EF4-FFF2-40B4-BE49-F238E27FC236}">
                <a16:creationId xmlns:a16="http://schemas.microsoft.com/office/drawing/2014/main" xmlns="" id="{7CA18071-1421-91A5-F789-1375814AFE89}"/>
              </a:ext>
            </a:extLst>
          </p:cNvPr>
          <p:cNvSpPr txBox="1">
            <a:spLocks noChangeArrowheads="1"/>
          </p:cNvSpPr>
          <p:nvPr/>
        </p:nvSpPr>
        <p:spPr bwMode="auto">
          <a:xfrm>
            <a:off x="1055440" y="1537336"/>
            <a:ext cx="3312368" cy="400110"/>
          </a:xfrm>
          <a:prstGeom prst="rect">
            <a:avLst/>
          </a:prstGeom>
          <a:ln>
            <a:headEnd/>
            <a:tailEnd type="none" w="med" len="lg"/>
          </a:ln>
        </p:spPr>
        <p:style>
          <a:lnRef idx="1">
            <a:schemeClr val="accent5"/>
          </a:lnRef>
          <a:fillRef idx="3">
            <a:schemeClr val="accent5"/>
          </a:fillRef>
          <a:effectRef idx="2">
            <a:schemeClr val="accent5"/>
          </a:effectRef>
          <a:fontRef idx="minor">
            <a:schemeClr val="lt1"/>
          </a:fontRef>
        </p:style>
        <p:txBody>
          <a:bodyPr wrap="square">
            <a:spAutoFit/>
          </a:bodyPr>
          <a:lstStyle/>
          <a:p>
            <a:pPr>
              <a:spcBef>
                <a:spcPct val="50000"/>
              </a:spcBef>
            </a:pPr>
            <a:r>
              <a:rPr kumimoji="1" lang="en-US" altLang="zh-CN" sz="2000" dirty="0">
                <a:solidFill>
                  <a:schemeClr val="bg1"/>
                </a:solidFill>
                <a:latin typeface="Consolas" pitchFamily="49" charset="0"/>
                <a:ea typeface="华文中宋" pitchFamily="2" charset="-122"/>
                <a:cs typeface="Consolas" pitchFamily="49" charset="0"/>
              </a:rPr>
              <a:t>5</a:t>
            </a:r>
            <a:r>
              <a:rPr kumimoji="1" lang="zh-CN" altLang="en-US" sz="2000" dirty="0">
                <a:solidFill>
                  <a:schemeClr val="bg1"/>
                </a:solidFill>
                <a:latin typeface="Consolas" pitchFamily="49" charset="0"/>
                <a:ea typeface="华文中宋" pitchFamily="2" charset="-122"/>
                <a:cs typeface="Consolas" pitchFamily="49" charset="0"/>
              </a:rPr>
              <a:t>、</a:t>
            </a:r>
            <a:r>
              <a:rPr kumimoji="1" lang="zh-CN" altLang="en-US" sz="2000" dirty="0">
                <a:latin typeface="Consolas" pitchFamily="49" charset="0"/>
                <a:ea typeface="仿宋" pitchFamily="49" charset="-122"/>
              </a:rPr>
              <a:t>求高度</a:t>
            </a:r>
            <a:r>
              <a:rPr kumimoji="1" lang="en-US" altLang="zh-CN" sz="2000" dirty="0" err="1">
                <a:solidFill>
                  <a:srgbClr val="FF0000"/>
                </a:solidFill>
                <a:latin typeface="Consolas" pitchFamily="49" charset="0"/>
                <a:ea typeface="仿宋" pitchFamily="49" charset="-122"/>
              </a:rPr>
              <a:t>BTHeight</a:t>
            </a:r>
            <a:r>
              <a:rPr kumimoji="1" lang="en-US" altLang="zh-CN" sz="2000" dirty="0">
                <a:solidFill>
                  <a:srgbClr val="FF0000"/>
                </a:solidFill>
                <a:latin typeface="Consolas" pitchFamily="49" charset="0"/>
                <a:ea typeface="仿宋" pitchFamily="49" charset="-122"/>
              </a:rPr>
              <a:t>(*b)</a:t>
            </a:r>
          </a:p>
        </p:txBody>
      </p:sp>
      <p:sp>
        <p:nvSpPr>
          <p:cNvPr id="5" name="Text Box 2">
            <a:extLst>
              <a:ext uri="{FF2B5EF4-FFF2-40B4-BE49-F238E27FC236}">
                <a16:creationId xmlns:a16="http://schemas.microsoft.com/office/drawing/2014/main" xmlns="" id="{D7B06008-FE17-0C9E-D3ED-312EF9B2190B}"/>
              </a:ext>
            </a:extLst>
          </p:cNvPr>
          <p:cNvSpPr txBox="1">
            <a:spLocks noChangeArrowheads="1"/>
          </p:cNvSpPr>
          <p:nvPr/>
        </p:nvSpPr>
        <p:spPr bwMode="auto">
          <a:xfrm>
            <a:off x="2619908" y="2516558"/>
            <a:ext cx="8572560" cy="3506230"/>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wrap="square" lIns="180000" tIns="180000" bIns="216000">
            <a:spAutoFit/>
          </a:bodyPr>
          <a:lstStyle/>
          <a:p>
            <a:pPr algn="just">
              <a:lnSpc>
                <a:spcPct val="8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int </a:t>
            </a:r>
            <a:r>
              <a:rPr kumimoji="1" lang="en-US" altLang="zh-CN" sz="1800" dirty="0" err="1">
                <a:solidFill>
                  <a:srgbClr val="FF0000"/>
                </a:solidFill>
                <a:latin typeface="Consolas" pitchFamily="49" charset="0"/>
                <a:ea typeface="仿宋" pitchFamily="49" charset="-122"/>
                <a:cs typeface="Consolas" pitchFamily="49" charset="0"/>
              </a:rPr>
              <a:t>BTHeight</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dirty="0" err="1">
                <a:solidFill>
                  <a:srgbClr val="3333FF"/>
                </a:solidFill>
                <a:latin typeface="Consolas" pitchFamily="49" charset="0"/>
                <a:ea typeface="仿宋" pitchFamily="49" charset="-122"/>
                <a:cs typeface="Consolas" pitchFamily="49" charset="0"/>
              </a:rPr>
              <a:t>BTNode</a:t>
            </a:r>
            <a:r>
              <a:rPr kumimoji="1" lang="en-US" altLang="zh-CN" sz="1800" dirty="0">
                <a:solidFill>
                  <a:srgbClr val="3333FF"/>
                </a:solidFill>
                <a:latin typeface="Consolas" pitchFamily="49" charset="0"/>
                <a:ea typeface="仿宋" pitchFamily="49" charset="-122"/>
                <a:cs typeface="Consolas" pitchFamily="49" charset="0"/>
              </a:rPr>
              <a:t> *b) </a:t>
            </a:r>
          </a:p>
          <a:p>
            <a:pPr algn="just">
              <a:lnSpc>
                <a:spcPct val="8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  int </a:t>
            </a:r>
            <a:r>
              <a:rPr kumimoji="1" lang="en-US" altLang="zh-CN" sz="1800" dirty="0" err="1">
                <a:solidFill>
                  <a:srgbClr val="3333FF"/>
                </a:solidFill>
                <a:latin typeface="Consolas" pitchFamily="49" charset="0"/>
                <a:ea typeface="仿宋" pitchFamily="49" charset="-122"/>
                <a:cs typeface="Consolas" pitchFamily="49" charset="0"/>
              </a:rPr>
              <a:t>lchilddep</a:t>
            </a:r>
            <a:r>
              <a:rPr kumimoji="1" lang="zh-CN" altLang="en-US" sz="1800" dirty="0">
                <a:solidFill>
                  <a:srgbClr val="3333FF"/>
                </a:solidFill>
                <a:latin typeface="Consolas" pitchFamily="49" charset="0"/>
                <a:ea typeface="仿宋" pitchFamily="49" charset="-122"/>
                <a:cs typeface="Consolas" pitchFamily="49" charset="0"/>
              </a:rPr>
              <a:t>，</a:t>
            </a:r>
            <a:r>
              <a:rPr kumimoji="1" lang="en-US" altLang="zh-CN" sz="1800" dirty="0" err="1">
                <a:solidFill>
                  <a:srgbClr val="3333FF"/>
                </a:solidFill>
                <a:latin typeface="Consolas" pitchFamily="49" charset="0"/>
                <a:ea typeface="仿宋" pitchFamily="49" charset="-122"/>
                <a:cs typeface="Consolas" pitchFamily="49" charset="0"/>
              </a:rPr>
              <a:t>rchilddep</a:t>
            </a:r>
            <a:r>
              <a:rPr kumimoji="1" lang="en-US" altLang="zh-CN" sz="1800" dirty="0">
                <a:solidFill>
                  <a:srgbClr val="3333FF"/>
                </a:solidFill>
                <a:latin typeface="Consolas" pitchFamily="49" charset="0"/>
                <a:ea typeface="仿宋" pitchFamily="49" charset="-122"/>
                <a:cs typeface="Consolas" pitchFamily="49" charset="0"/>
              </a:rPr>
              <a:t>;</a:t>
            </a:r>
          </a:p>
          <a:p>
            <a:pPr algn="just">
              <a:lnSpc>
                <a:spcPct val="8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   if (b==NULL) return(0);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空树的高度为</a:t>
            </a:r>
            <a:r>
              <a:rPr kumimoji="1" lang="en-US" altLang="zh-CN" sz="1800" dirty="0">
                <a:solidFill>
                  <a:srgbClr val="00B0F0"/>
                </a:solidFill>
                <a:latin typeface="Consolas" pitchFamily="49" charset="0"/>
                <a:ea typeface="仿宋" pitchFamily="49" charset="-122"/>
                <a:cs typeface="Consolas" pitchFamily="49" charset="0"/>
              </a:rPr>
              <a:t>0</a:t>
            </a:r>
          </a:p>
          <a:p>
            <a:pPr algn="just">
              <a:lnSpc>
                <a:spcPct val="8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   else  </a:t>
            </a:r>
          </a:p>
          <a:p>
            <a:pPr algn="just">
              <a:lnSpc>
                <a:spcPct val="8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   {  </a:t>
            </a:r>
            <a:r>
              <a:rPr kumimoji="1" lang="en-US" altLang="zh-CN" sz="1800" dirty="0" err="1">
                <a:solidFill>
                  <a:srgbClr val="3333FF"/>
                </a:solidFill>
                <a:latin typeface="Consolas" pitchFamily="49" charset="0"/>
                <a:ea typeface="仿宋" pitchFamily="49" charset="-122"/>
                <a:cs typeface="Consolas" pitchFamily="49" charset="0"/>
              </a:rPr>
              <a:t>lchilddep</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dirty="0" err="1">
                <a:solidFill>
                  <a:srgbClr val="FF0000"/>
                </a:solidFill>
                <a:latin typeface="Consolas" pitchFamily="49" charset="0"/>
                <a:ea typeface="仿宋" pitchFamily="49" charset="-122"/>
                <a:cs typeface="Consolas" pitchFamily="49" charset="0"/>
              </a:rPr>
              <a:t>BTHeight</a:t>
            </a:r>
            <a:r>
              <a:rPr kumimoji="1" lang="en-US" altLang="zh-CN" sz="1800" dirty="0">
                <a:solidFill>
                  <a:srgbClr val="3333FF"/>
                </a:solidFill>
                <a:latin typeface="Consolas" pitchFamily="49" charset="0"/>
                <a:ea typeface="仿宋" pitchFamily="49" charset="-122"/>
                <a:cs typeface="Consolas" pitchFamily="49" charset="0"/>
              </a:rPr>
              <a:t>(b-&gt;</a:t>
            </a:r>
            <a:r>
              <a:rPr kumimoji="1" lang="en-US" altLang="zh-CN" sz="1800" dirty="0" err="1">
                <a:solidFill>
                  <a:srgbClr val="3333FF"/>
                </a:solidFill>
                <a:latin typeface="Consolas" pitchFamily="49" charset="0"/>
                <a:ea typeface="仿宋" pitchFamily="49" charset="-122"/>
                <a:cs typeface="Consolas" pitchFamily="49" charset="0"/>
              </a:rPr>
              <a:t>lchild</a:t>
            </a: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求左子树的高度为</a:t>
            </a:r>
            <a:r>
              <a:rPr kumimoji="1" lang="en-US" altLang="zh-CN" sz="1800" dirty="0" err="1">
                <a:solidFill>
                  <a:srgbClr val="00B0F0"/>
                </a:solidFill>
                <a:latin typeface="Consolas" pitchFamily="49" charset="0"/>
                <a:ea typeface="仿宋" pitchFamily="49" charset="-122"/>
                <a:cs typeface="Consolas" pitchFamily="49" charset="0"/>
              </a:rPr>
              <a:t>lchilddep</a:t>
            </a:r>
            <a:endParaRPr kumimoji="1" lang="en-US" altLang="zh-CN" sz="1800" dirty="0">
              <a:solidFill>
                <a:srgbClr val="00B0F0"/>
              </a:solidFill>
              <a:latin typeface="Consolas" pitchFamily="49" charset="0"/>
              <a:ea typeface="仿宋" pitchFamily="49" charset="-122"/>
              <a:cs typeface="Consolas" pitchFamily="49" charset="0"/>
            </a:endParaRPr>
          </a:p>
          <a:p>
            <a:pPr algn="just">
              <a:lnSpc>
                <a:spcPct val="8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err="1">
                <a:solidFill>
                  <a:srgbClr val="3333FF"/>
                </a:solidFill>
                <a:latin typeface="Consolas" pitchFamily="49" charset="0"/>
                <a:ea typeface="仿宋" pitchFamily="49" charset="-122"/>
                <a:cs typeface="Consolas" pitchFamily="49" charset="0"/>
              </a:rPr>
              <a:t>rchilddep</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dirty="0" err="1">
                <a:solidFill>
                  <a:srgbClr val="FF0000"/>
                </a:solidFill>
                <a:latin typeface="Consolas" pitchFamily="49" charset="0"/>
                <a:ea typeface="仿宋" pitchFamily="49" charset="-122"/>
                <a:cs typeface="Consolas" pitchFamily="49" charset="0"/>
              </a:rPr>
              <a:t>BTHeight</a:t>
            </a:r>
            <a:r>
              <a:rPr kumimoji="1" lang="en-US" altLang="zh-CN" sz="1800" dirty="0">
                <a:solidFill>
                  <a:srgbClr val="3333FF"/>
                </a:solidFill>
                <a:latin typeface="Consolas" pitchFamily="49" charset="0"/>
                <a:ea typeface="仿宋" pitchFamily="49" charset="-122"/>
                <a:cs typeface="Consolas" pitchFamily="49" charset="0"/>
              </a:rPr>
              <a:t>(b-&gt;</a:t>
            </a:r>
            <a:r>
              <a:rPr kumimoji="1" lang="en-US" altLang="zh-CN" sz="1800" dirty="0" err="1">
                <a:solidFill>
                  <a:srgbClr val="3333FF"/>
                </a:solidFill>
                <a:latin typeface="Consolas" pitchFamily="49" charset="0"/>
                <a:ea typeface="仿宋" pitchFamily="49" charset="-122"/>
                <a:cs typeface="Consolas" pitchFamily="49" charset="0"/>
              </a:rPr>
              <a:t>rchild</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求右子树的高度为</a:t>
            </a:r>
            <a:r>
              <a:rPr kumimoji="1" lang="en-US" altLang="zh-CN" sz="1800" dirty="0" err="1">
                <a:solidFill>
                  <a:srgbClr val="00B0F0"/>
                </a:solidFill>
                <a:latin typeface="Consolas" pitchFamily="49" charset="0"/>
                <a:ea typeface="仿宋" pitchFamily="49" charset="-122"/>
                <a:cs typeface="Consolas" pitchFamily="49" charset="0"/>
              </a:rPr>
              <a:t>rchilddep</a:t>
            </a:r>
            <a:endParaRPr kumimoji="1" lang="en-US" altLang="zh-CN" sz="1800" dirty="0">
              <a:solidFill>
                <a:srgbClr val="00B0F0"/>
              </a:solidFill>
              <a:latin typeface="Consolas" pitchFamily="49" charset="0"/>
              <a:ea typeface="仿宋" pitchFamily="49" charset="-122"/>
              <a:cs typeface="Consolas" pitchFamily="49" charset="0"/>
            </a:endParaRPr>
          </a:p>
          <a:p>
            <a:pPr algn="just">
              <a:lnSpc>
                <a:spcPct val="8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      return(</a:t>
            </a:r>
            <a:r>
              <a:rPr kumimoji="1" lang="en-US" altLang="zh-CN" sz="1800" dirty="0" err="1">
                <a:solidFill>
                  <a:srgbClr val="3333FF"/>
                </a:solidFill>
                <a:latin typeface="Consolas" pitchFamily="49" charset="0"/>
                <a:ea typeface="仿宋" pitchFamily="49" charset="-122"/>
                <a:cs typeface="Consolas" pitchFamily="49" charset="0"/>
              </a:rPr>
              <a:t>lchilddep</a:t>
            </a:r>
            <a:r>
              <a:rPr kumimoji="1" lang="en-US" altLang="zh-CN" sz="1800" dirty="0">
                <a:solidFill>
                  <a:srgbClr val="3333FF"/>
                </a:solidFill>
                <a:latin typeface="Consolas" pitchFamily="49" charset="0"/>
                <a:ea typeface="仿宋" pitchFamily="49" charset="-122"/>
                <a:cs typeface="Consolas" pitchFamily="49" charset="0"/>
              </a:rPr>
              <a:t>&gt;</a:t>
            </a:r>
            <a:r>
              <a:rPr kumimoji="1" lang="en-US" altLang="zh-CN" sz="1800" dirty="0" err="1">
                <a:solidFill>
                  <a:srgbClr val="3333FF"/>
                </a:solidFill>
                <a:latin typeface="Consolas" pitchFamily="49" charset="0"/>
                <a:ea typeface="仿宋" pitchFamily="49" charset="-122"/>
                <a:cs typeface="Consolas" pitchFamily="49" charset="0"/>
              </a:rPr>
              <a:t>rchilddep</a:t>
            </a: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dirty="0" err="1">
                <a:solidFill>
                  <a:srgbClr val="3333FF"/>
                </a:solidFill>
                <a:latin typeface="Consolas" pitchFamily="49" charset="0"/>
                <a:ea typeface="仿宋" pitchFamily="49" charset="-122"/>
                <a:cs typeface="Consolas" pitchFamily="49" charset="0"/>
              </a:rPr>
              <a:t>lchilddep+1</a:t>
            </a:r>
            <a:r>
              <a:rPr kumimoji="1" lang="en-US" altLang="zh-CN" sz="1800" dirty="0">
                <a:solidFill>
                  <a:srgbClr val="3333FF"/>
                </a:solidFill>
                <a:latin typeface="Consolas" pitchFamily="49" charset="0"/>
                <a:ea typeface="仿宋" pitchFamily="49" charset="-122"/>
                <a:cs typeface="Consolas" pitchFamily="49" charset="0"/>
              </a:rPr>
              <a:t>):(</a:t>
            </a:r>
            <a:r>
              <a:rPr kumimoji="1" lang="en-US" altLang="zh-CN" sz="1800" dirty="0" err="1">
                <a:solidFill>
                  <a:srgbClr val="3333FF"/>
                </a:solidFill>
                <a:latin typeface="Consolas" pitchFamily="49" charset="0"/>
                <a:ea typeface="仿宋" pitchFamily="49" charset="-122"/>
                <a:cs typeface="Consolas" pitchFamily="49" charset="0"/>
              </a:rPr>
              <a:t>rchilddep+1</a:t>
            </a:r>
            <a:r>
              <a:rPr kumimoji="1" lang="en-US" altLang="zh-CN" sz="1800" dirty="0">
                <a:solidFill>
                  <a:srgbClr val="3333FF"/>
                </a:solidFill>
                <a:latin typeface="Consolas" pitchFamily="49" charset="0"/>
                <a:ea typeface="仿宋" pitchFamily="49" charset="-122"/>
                <a:cs typeface="Consolas" pitchFamily="49" charset="0"/>
              </a:rPr>
              <a:t>));</a:t>
            </a:r>
          </a:p>
          <a:p>
            <a:pPr algn="just">
              <a:lnSpc>
                <a:spcPct val="8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   }</a:t>
            </a:r>
          </a:p>
          <a:p>
            <a:pPr algn="just">
              <a:lnSpc>
                <a:spcPct val="8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a:t>
            </a:r>
            <a:endParaRPr kumimoji="1" lang="en-US" altLang="zh-CN" sz="1800" b="0" dirty="0">
              <a:solidFill>
                <a:srgbClr val="3333FF"/>
              </a:solidFill>
              <a:latin typeface="Consolas" pitchFamily="49" charset="0"/>
              <a:ea typeface="仿宋" pitchFamily="49" charset="-122"/>
              <a:cs typeface="Consolas" pitchFamily="49" charset="0"/>
            </a:endParaRPr>
          </a:p>
        </p:txBody>
      </p:sp>
      <p:sp>
        <p:nvSpPr>
          <p:cNvPr id="6" name="TextBox 3">
            <a:extLst>
              <a:ext uri="{FF2B5EF4-FFF2-40B4-BE49-F238E27FC236}">
                <a16:creationId xmlns:a16="http://schemas.microsoft.com/office/drawing/2014/main" xmlns="" id="{D1D19CFC-DD03-4698-3EEE-561EC174E438}"/>
              </a:ext>
            </a:extLst>
          </p:cNvPr>
          <p:cNvSpPr txBox="1"/>
          <p:nvPr/>
        </p:nvSpPr>
        <p:spPr>
          <a:xfrm>
            <a:off x="931217" y="2026947"/>
            <a:ext cx="3786214" cy="400110"/>
          </a:xfrm>
          <a:prstGeom prst="rect">
            <a:avLst/>
          </a:prstGeom>
          <a:noFill/>
        </p:spPr>
        <p:txBody>
          <a:bodyPr wrap="square" rtlCol="0">
            <a:spAutoFit/>
          </a:bodyPr>
          <a:lstStyle/>
          <a:p>
            <a:pPr algn="l"/>
            <a:r>
              <a:rPr lang="zh-CN" altLang="en-US" sz="2000" dirty="0">
                <a:latin typeface="楷体" pitchFamily="49" charset="-122"/>
                <a:ea typeface="楷体" pitchFamily="49" charset="-122"/>
              </a:rPr>
              <a:t>对应的递归算法如下：</a:t>
            </a:r>
          </a:p>
        </p:txBody>
      </p:sp>
    </p:spTree>
    <p:extLst>
      <p:ext uri="{BB962C8B-B14F-4D97-AF65-F5344CB8AC3E}">
        <p14:creationId xmlns:p14="http://schemas.microsoft.com/office/powerpoint/2010/main" val="20360776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F9D3FEA-876B-4B70-AB76-3645EF2FBCDD}"/>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530A86BF-CA44-152B-F82F-0411397889B4}"/>
              </a:ext>
            </a:extLst>
          </p:cNvPr>
          <p:cNvSpPr/>
          <p:nvPr/>
        </p:nvSpPr>
        <p:spPr>
          <a:xfrm>
            <a:off x="3647728" y="118989"/>
            <a:ext cx="5695471"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7.4 </a:t>
            </a:r>
            <a:r>
              <a:rPr lang="zh-CN" altLang="en-US" sz="3000" b="1" dirty="0">
                <a:latin typeface="黑体" pitchFamily="49" charset="-122"/>
                <a:ea typeface="黑体" pitchFamily="49" charset="-122"/>
                <a:cs typeface="经典粗黑简" pitchFamily="49" charset="-122"/>
              </a:rPr>
              <a:t>二叉树基本运算及其实现</a:t>
            </a:r>
          </a:p>
        </p:txBody>
      </p:sp>
      <p:sp>
        <p:nvSpPr>
          <p:cNvPr id="19" name="Rectangle 2">
            <a:extLst>
              <a:ext uri="{FF2B5EF4-FFF2-40B4-BE49-F238E27FC236}">
                <a16:creationId xmlns:a16="http://schemas.microsoft.com/office/drawing/2014/main" xmlns="" id="{8432D426-AC19-ADB3-AD3A-B0614BD1730F}"/>
              </a:ext>
            </a:extLst>
          </p:cNvPr>
          <p:cNvSpPr txBox="1">
            <a:spLocks noChangeArrowheads="1"/>
          </p:cNvSpPr>
          <p:nvPr/>
        </p:nvSpPr>
        <p:spPr>
          <a:xfrm>
            <a:off x="79920" y="836712"/>
            <a:ext cx="50799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7.4.1 </a:t>
            </a:r>
            <a:r>
              <a:rPr lang="zh-CN" altLang="en-US" dirty="0"/>
              <a:t>二叉树的基本运算概述</a:t>
            </a:r>
          </a:p>
        </p:txBody>
      </p:sp>
      <p:cxnSp>
        <p:nvCxnSpPr>
          <p:cNvPr id="20" name="直接连接符 19">
            <a:extLst>
              <a:ext uri="{FF2B5EF4-FFF2-40B4-BE49-F238E27FC236}">
                <a16:creationId xmlns:a16="http://schemas.microsoft.com/office/drawing/2014/main" xmlns="" id="{32081773-7028-B1D2-8504-697D1A94EBA4}"/>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Text Box 4">
            <a:extLst>
              <a:ext uri="{FF2B5EF4-FFF2-40B4-BE49-F238E27FC236}">
                <a16:creationId xmlns:a16="http://schemas.microsoft.com/office/drawing/2014/main" xmlns="" id="{19911FFC-D08E-B2DD-6407-9752A5B48C9F}"/>
              </a:ext>
            </a:extLst>
          </p:cNvPr>
          <p:cNvSpPr txBox="1">
            <a:spLocks noChangeArrowheads="1"/>
          </p:cNvSpPr>
          <p:nvPr/>
        </p:nvSpPr>
        <p:spPr bwMode="auto">
          <a:xfrm>
            <a:off x="1055440" y="1537336"/>
            <a:ext cx="3888432" cy="400110"/>
          </a:xfrm>
          <a:prstGeom prst="rect">
            <a:avLst/>
          </a:prstGeom>
          <a:ln>
            <a:headEnd/>
            <a:tailEnd type="none" w="med" len="lg"/>
          </a:ln>
        </p:spPr>
        <p:style>
          <a:lnRef idx="1">
            <a:schemeClr val="accent5"/>
          </a:lnRef>
          <a:fillRef idx="3">
            <a:schemeClr val="accent5"/>
          </a:fillRef>
          <a:effectRef idx="2">
            <a:schemeClr val="accent5"/>
          </a:effectRef>
          <a:fontRef idx="minor">
            <a:schemeClr val="lt1"/>
          </a:fontRef>
        </p:style>
        <p:txBody>
          <a:bodyPr wrap="square">
            <a:spAutoFit/>
          </a:bodyPr>
          <a:lstStyle/>
          <a:p>
            <a:pPr>
              <a:spcBef>
                <a:spcPct val="50000"/>
              </a:spcBef>
            </a:pPr>
            <a:r>
              <a:rPr kumimoji="1" lang="en-US" altLang="zh-CN" sz="2000" dirty="0">
                <a:solidFill>
                  <a:schemeClr val="bg1"/>
                </a:solidFill>
                <a:latin typeface="Consolas" pitchFamily="49" charset="0"/>
                <a:ea typeface="华文中宋" pitchFamily="2" charset="-122"/>
                <a:cs typeface="Consolas" pitchFamily="49" charset="0"/>
              </a:rPr>
              <a:t>6</a:t>
            </a:r>
            <a:r>
              <a:rPr kumimoji="1" lang="zh-CN" altLang="en-US" sz="2000" dirty="0">
                <a:solidFill>
                  <a:schemeClr val="bg1"/>
                </a:solidFill>
                <a:latin typeface="Consolas" pitchFamily="49" charset="0"/>
                <a:ea typeface="华文中宋" pitchFamily="2" charset="-122"/>
                <a:cs typeface="Consolas" pitchFamily="49" charset="0"/>
              </a:rPr>
              <a:t>、</a:t>
            </a:r>
            <a:r>
              <a:rPr kumimoji="1" lang="zh-CN" altLang="en-US" sz="2000" dirty="0">
                <a:latin typeface="Consolas" pitchFamily="49" charset="0"/>
                <a:ea typeface="仿宋" pitchFamily="49" charset="-122"/>
              </a:rPr>
              <a:t>输出二叉树</a:t>
            </a:r>
            <a:r>
              <a:rPr kumimoji="1" lang="en-US" altLang="zh-CN" sz="2000" dirty="0" err="1">
                <a:solidFill>
                  <a:srgbClr val="FF0000"/>
                </a:solidFill>
                <a:latin typeface="Consolas" pitchFamily="49" charset="0"/>
                <a:ea typeface="仿宋" pitchFamily="49" charset="-122"/>
              </a:rPr>
              <a:t>DispBTree</a:t>
            </a:r>
            <a:r>
              <a:rPr kumimoji="1" lang="en-US" altLang="zh-CN" sz="2000" dirty="0">
                <a:solidFill>
                  <a:srgbClr val="FF0000"/>
                </a:solidFill>
                <a:latin typeface="Consolas" pitchFamily="49" charset="0"/>
                <a:ea typeface="仿宋" pitchFamily="49" charset="-122"/>
              </a:rPr>
              <a:t>(*b)</a:t>
            </a:r>
          </a:p>
        </p:txBody>
      </p:sp>
      <p:sp>
        <p:nvSpPr>
          <p:cNvPr id="3" name="Text Box 2">
            <a:extLst>
              <a:ext uri="{FF2B5EF4-FFF2-40B4-BE49-F238E27FC236}">
                <a16:creationId xmlns:a16="http://schemas.microsoft.com/office/drawing/2014/main" xmlns="" id="{99433882-C6BA-8CC1-2D89-0FBA99301CF5}"/>
              </a:ext>
            </a:extLst>
          </p:cNvPr>
          <p:cNvSpPr txBox="1">
            <a:spLocks noChangeArrowheads="1"/>
          </p:cNvSpPr>
          <p:nvPr/>
        </p:nvSpPr>
        <p:spPr bwMode="auto">
          <a:xfrm>
            <a:off x="1880082" y="2441489"/>
            <a:ext cx="7345363" cy="4213800"/>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3"/>
          </a:lnRef>
          <a:fillRef idx="2">
            <a:schemeClr val="accent3"/>
          </a:fillRef>
          <a:effectRef idx="1">
            <a:schemeClr val="accent3"/>
          </a:effectRef>
          <a:fontRef idx="minor">
            <a:schemeClr val="dk1"/>
          </a:fontRef>
        </p:style>
        <p:txBody>
          <a:bodyPr lIns="252000" tIns="288000" rIns="144000" bIns="108000">
            <a:spAutoFit/>
          </a:bodyPr>
          <a:lstStyle/>
          <a:p>
            <a:pPr algn="just">
              <a:lnSpc>
                <a:spcPct val="70000"/>
              </a:lnSpc>
              <a:spcBef>
                <a:spcPct val="50000"/>
              </a:spcBef>
            </a:pPr>
            <a:r>
              <a:rPr kumimoji="1" lang="en-US" altLang="zh-CN" sz="1800">
                <a:solidFill>
                  <a:srgbClr val="3333FF"/>
                </a:solidFill>
                <a:latin typeface="Consolas" pitchFamily="49" charset="0"/>
                <a:ea typeface="仿宋" pitchFamily="49" charset="-122"/>
                <a:cs typeface="Consolas" pitchFamily="49" charset="0"/>
              </a:rPr>
              <a:t>void </a:t>
            </a:r>
            <a:r>
              <a:rPr kumimoji="1" lang="en-US" altLang="zh-CN" sz="1800">
                <a:solidFill>
                  <a:srgbClr val="FF0000"/>
                </a:solidFill>
                <a:latin typeface="Consolas" pitchFamily="49" charset="0"/>
                <a:ea typeface="仿宋" pitchFamily="49" charset="-122"/>
                <a:cs typeface="Consolas" pitchFamily="49" charset="0"/>
              </a:rPr>
              <a:t>DispBTree</a:t>
            </a:r>
            <a:r>
              <a:rPr kumimoji="1" lang="en-US" altLang="zh-CN" sz="1800">
                <a:solidFill>
                  <a:srgbClr val="3333FF"/>
                </a:solidFill>
                <a:latin typeface="Consolas" pitchFamily="49" charset="0"/>
                <a:ea typeface="仿宋" pitchFamily="49" charset="-122"/>
                <a:cs typeface="Consolas" pitchFamily="49" charset="0"/>
              </a:rPr>
              <a:t>(BTNode </a:t>
            </a:r>
            <a:r>
              <a:rPr kumimoji="1" lang="en-US" altLang="zh-CN" sz="1800" dirty="0">
                <a:solidFill>
                  <a:srgbClr val="3333FF"/>
                </a:solidFill>
                <a:latin typeface="Consolas" pitchFamily="49" charset="0"/>
                <a:ea typeface="仿宋" pitchFamily="49" charset="-122"/>
                <a:cs typeface="Consolas" pitchFamily="49" charset="0"/>
              </a:rPr>
              <a:t>*b) </a:t>
            </a:r>
          </a:p>
          <a:p>
            <a:pPr algn="just">
              <a:lnSpc>
                <a:spcPct val="70000"/>
              </a:lnSpc>
              <a:spcBef>
                <a:spcPct val="50000"/>
              </a:spcBef>
            </a:pPr>
            <a:r>
              <a:rPr kumimoji="1" lang="en-US" altLang="zh-CN" sz="1800">
                <a:solidFill>
                  <a:srgbClr val="3333FF"/>
                </a:solidFill>
                <a:latin typeface="Consolas" pitchFamily="49" charset="0"/>
                <a:ea typeface="仿宋" pitchFamily="49" charset="-122"/>
                <a:cs typeface="Consolas" pitchFamily="49" charset="0"/>
              </a:rPr>
              <a:t>{  if </a:t>
            </a:r>
            <a:r>
              <a:rPr kumimoji="1" lang="en-US" altLang="zh-CN" sz="1800" dirty="0">
                <a:solidFill>
                  <a:srgbClr val="3333FF"/>
                </a:solidFill>
                <a:latin typeface="Consolas" pitchFamily="49" charset="0"/>
                <a:ea typeface="仿宋" pitchFamily="49" charset="-122"/>
                <a:cs typeface="Consolas" pitchFamily="49" charset="0"/>
              </a:rPr>
              <a:t>(b!=NULL)</a:t>
            </a:r>
          </a:p>
          <a:p>
            <a:pPr algn="just">
              <a:lnSpc>
                <a:spcPct val="70000"/>
              </a:lnSpc>
              <a:spcBef>
                <a:spcPct val="50000"/>
              </a:spcBef>
            </a:pPr>
            <a:r>
              <a:rPr kumimoji="1" lang="en-US" altLang="zh-CN" sz="1800">
                <a:solidFill>
                  <a:srgbClr val="3333FF"/>
                </a:solidFill>
                <a:latin typeface="Consolas" pitchFamily="49" charset="0"/>
                <a:ea typeface="仿宋" pitchFamily="49" charset="-122"/>
                <a:cs typeface="Consolas" pitchFamily="49" charset="0"/>
              </a:rPr>
              <a:t>   {  </a:t>
            </a:r>
            <a:r>
              <a:rPr kumimoji="1" lang="en-US" altLang="zh-CN" sz="1800" dirty="0" err="1">
                <a:solidFill>
                  <a:srgbClr val="C00000"/>
                </a:solidFill>
                <a:latin typeface="Consolas" pitchFamily="49" charset="0"/>
                <a:ea typeface="仿宋" pitchFamily="49" charset="-122"/>
                <a:cs typeface="Consolas" pitchFamily="49" charset="0"/>
              </a:rPr>
              <a:t>printf</a:t>
            </a:r>
            <a:r>
              <a:rPr kumimoji="1" lang="en-US" altLang="zh-CN" sz="1800" dirty="0">
                <a:solidFill>
                  <a:srgbClr val="C00000"/>
                </a:solidFill>
                <a:latin typeface="Consolas" pitchFamily="49" charset="0"/>
                <a:ea typeface="仿宋" pitchFamily="49" charset="-122"/>
                <a:cs typeface="Consolas" pitchFamily="49" charset="0"/>
              </a:rPr>
              <a:t>("%</a:t>
            </a:r>
            <a:r>
              <a:rPr kumimoji="1" lang="en-US" altLang="zh-CN" sz="1800" err="1">
                <a:solidFill>
                  <a:srgbClr val="C00000"/>
                </a:solidFill>
                <a:latin typeface="Consolas" pitchFamily="49" charset="0"/>
                <a:ea typeface="仿宋" pitchFamily="49" charset="-122"/>
                <a:cs typeface="Consolas" pitchFamily="49" charset="0"/>
              </a:rPr>
              <a:t>c</a:t>
            </a:r>
            <a:r>
              <a:rPr kumimoji="1" lang="en-US" altLang="zh-CN" sz="1800">
                <a:solidFill>
                  <a:srgbClr val="C00000"/>
                </a:solidFill>
                <a:latin typeface="Consolas" pitchFamily="49" charset="0"/>
                <a:ea typeface="仿宋" pitchFamily="49" charset="-122"/>
                <a:cs typeface="Consolas" pitchFamily="49" charset="0"/>
              </a:rPr>
              <a:t>"</a:t>
            </a:r>
            <a:r>
              <a:rPr kumimoji="1" lang="zh-CN" altLang="en-US" sz="1800">
                <a:solidFill>
                  <a:srgbClr val="C00000"/>
                </a:solidFill>
                <a:latin typeface="Consolas" pitchFamily="49" charset="0"/>
                <a:ea typeface="仿宋" pitchFamily="49" charset="-122"/>
                <a:cs typeface="Consolas" pitchFamily="49" charset="0"/>
              </a:rPr>
              <a:t>，</a:t>
            </a:r>
            <a:r>
              <a:rPr kumimoji="1" lang="en-US" altLang="zh-CN" sz="1800">
                <a:solidFill>
                  <a:srgbClr val="C00000"/>
                </a:solidFill>
                <a:latin typeface="Consolas" pitchFamily="49" charset="0"/>
                <a:ea typeface="仿宋" pitchFamily="49" charset="-122"/>
                <a:cs typeface="Consolas" pitchFamily="49" charset="0"/>
              </a:rPr>
              <a:t>b-</a:t>
            </a:r>
            <a:r>
              <a:rPr kumimoji="1" lang="en-US" altLang="zh-CN" sz="1800" dirty="0">
                <a:solidFill>
                  <a:srgbClr val="C00000"/>
                </a:solidFill>
                <a:latin typeface="Consolas" pitchFamily="49" charset="0"/>
                <a:ea typeface="仿宋" pitchFamily="49" charset="-122"/>
                <a:cs typeface="Consolas" pitchFamily="49" charset="0"/>
              </a:rPr>
              <a:t>&gt;data);</a:t>
            </a:r>
          </a:p>
          <a:p>
            <a:pPr algn="just">
              <a:lnSpc>
                <a:spcPct val="70000"/>
              </a:lnSpc>
              <a:spcBef>
                <a:spcPct val="50000"/>
              </a:spcBef>
            </a:pPr>
            <a:r>
              <a:rPr kumimoji="1" lang="en-US" altLang="zh-CN" sz="1800">
                <a:solidFill>
                  <a:srgbClr val="3333FF"/>
                </a:solidFill>
                <a:latin typeface="Consolas" pitchFamily="49" charset="0"/>
                <a:ea typeface="仿宋" pitchFamily="49" charset="-122"/>
                <a:cs typeface="Consolas" pitchFamily="49" charset="0"/>
              </a:rPr>
              <a:t>      </a:t>
            </a:r>
            <a:r>
              <a:rPr kumimoji="1" lang="en-US" altLang="zh-CN" sz="1800" dirty="0">
                <a:solidFill>
                  <a:srgbClr val="3333FF"/>
                </a:solidFill>
                <a:latin typeface="Consolas" pitchFamily="49" charset="0"/>
                <a:ea typeface="仿宋" pitchFamily="49" charset="-122"/>
                <a:cs typeface="Consolas" pitchFamily="49" charset="0"/>
              </a:rPr>
              <a:t>if (b-&gt;</a:t>
            </a:r>
            <a:r>
              <a:rPr kumimoji="1" lang="en-US" altLang="zh-CN" sz="1800" dirty="0" err="1">
                <a:solidFill>
                  <a:srgbClr val="3333FF"/>
                </a:solidFill>
                <a:latin typeface="Consolas" pitchFamily="49" charset="0"/>
                <a:ea typeface="仿宋" pitchFamily="49" charset="-122"/>
                <a:cs typeface="Consolas" pitchFamily="49" charset="0"/>
              </a:rPr>
              <a:t>lchild</a:t>
            </a:r>
            <a:r>
              <a:rPr kumimoji="1" lang="en-US" altLang="zh-CN" sz="1800" dirty="0">
                <a:solidFill>
                  <a:srgbClr val="3333FF"/>
                </a:solidFill>
                <a:latin typeface="Consolas" pitchFamily="49" charset="0"/>
                <a:ea typeface="仿宋" pitchFamily="49" charset="-122"/>
                <a:cs typeface="Consolas" pitchFamily="49" charset="0"/>
              </a:rPr>
              <a:t>!=NULL || b-&gt;</a:t>
            </a:r>
            <a:r>
              <a:rPr kumimoji="1" lang="en-US" altLang="zh-CN" sz="1800" dirty="0" err="1">
                <a:solidFill>
                  <a:srgbClr val="3333FF"/>
                </a:solidFill>
                <a:latin typeface="Consolas" pitchFamily="49" charset="0"/>
                <a:ea typeface="仿宋" pitchFamily="49" charset="-122"/>
                <a:cs typeface="Consolas" pitchFamily="49" charset="0"/>
              </a:rPr>
              <a:t>rchild</a:t>
            </a:r>
            <a:r>
              <a:rPr kumimoji="1" lang="en-US" altLang="zh-CN" sz="1800" dirty="0">
                <a:solidFill>
                  <a:srgbClr val="3333FF"/>
                </a:solidFill>
                <a:latin typeface="Consolas" pitchFamily="49" charset="0"/>
                <a:ea typeface="仿宋" pitchFamily="49" charset="-122"/>
                <a:cs typeface="Consolas" pitchFamily="49" charset="0"/>
              </a:rPr>
              <a:t>!=NULL)</a:t>
            </a:r>
          </a:p>
          <a:p>
            <a:pPr algn="just">
              <a:lnSpc>
                <a:spcPct val="70000"/>
              </a:lnSpc>
              <a:spcBef>
                <a:spcPct val="50000"/>
              </a:spcBef>
            </a:pPr>
            <a:r>
              <a:rPr kumimoji="1" lang="en-US" altLang="zh-CN" sz="1800">
                <a:solidFill>
                  <a:srgbClr val="3333FF"/>
                </a:solidFill>
                <a:latin typeface="Consolas" pitchFamily="49" charset="0"/>
                <a:ea typeface="仿宋" pitchFamily="49" charset="-122"/>
                <a:cs typeface="Consolas" pitchFamily="49" charset="0"/>
              </a:rPr>
              <a:t>      {  </a:t>
            </a:r>
            <a:r>
              <a:rPr kumimoji="1" lang="en-US" altLang="zh-CN" sz="1800" dirty="0" err="1">
                <a:solidFill>
                  <a:srgbClr val="FF00FF"/>
                </a:solidFill>
                <a:latin typeface="Consolas" pitchFamily="49" charset="0"/>
                <a:ea typeface="仿宋" pitchFamily="49" charset="-122"/>
                <a:cs typeface="Consolas" pitchFamily="49" charset="0"/>
              </a:rPr>
              <a:t>printf</a:t>
            </a:r>
            <a:r>
              <a:rPr kumimoji="1" lang="en-US" altLang="zh-CN" sz="1800" dirty="0">
                <a:solidFill>
                  <a:srgbClr val="FF00FF"/>
                </a:solidFill>
                <a:latin typeface="Consolas" pitchFamily="49" charset="0"/>
                <a:ea typeface="仿宋" pitchFamily="49" charset="-122"/>
                <a:cs typeface="Consolas" pitchFamily="49" charset="0"/>
              </a:rPr>
              <a:t>("(");</a:t>
            </a:r>
          </a:p>
          <a:p>
            <a:pPr algn="just">
              <a:lnSpc>
                <a:spcPct val="7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a:solidFill>
                  <a:srgbClr val="3333FF"/>
                </a:solidFill>
                <a:latin typeface="Consolas" pitchFamily="49" charset="0"/>
                <a:ea typeface="仿宋" pitchFamily="49" charset="-122"/>
                <a:cs typeface="Consolas" pitchFamily="49" charset="0"/>
              </a:rPr>
              <a:t>  </a:t>
            </a:r>
            <a:r>
              <a:rPr kumimoji="1" lang="en-US" altLang="zh-CN" sz="1800">
                <a:solidFill>
                  <a:srgbClr val="FF0000"/>
                </a:solidFill>
                <a:latin typeface="Consolas" pitchFamily="49" charset="0"/>
                <a:ea typeface="仿宋" pitchFamily="49" charset="-122"/>
                <a:cs typeface="Consolas" pitchFamily="49" charset="0"/>
              </a:rPr>
              <a:t>DispBTree</a:t>
            </a:r>
            <a:r>
              <a:rPr kumimoji="1" lang="en-US" altLang="zh-CN" sz="1800">
                <a:solidFill>
                  <a:srgbClr val="3333FF"/>
                </a:solidFill>
                <a:latin typeface="Consolas" pitchFamily="49" charset="0"/>
                <a:ea typeface="仿宋" pitchFamily="49" charset="-122"/>
                <a:cs typeface="Consolas" pitchFamily="49" charset="0"/>
              </a:rPr>
              <a:t>(b-</a:t>
            </a:r>
            <a:r>
              <a:rPr kumimoji="1" lang="en-US" altLang="zh-CN" sz="1800" dirty="0">
                <a:solidFill>
                  <a:srgbClr val="3333FF"/>
                </a:solidFill>
                <a:latin typeface="Consolas" pitchFamily="49" charset="0"/>
                <a:ea typeface="仿宋" pitchFamily="49" charset="-122"/>
                <a:cs typeface="Consolas" pitchFamily="49" charset="0"/>
              </a:rPr>
              <a:t>&gt;</a:t>
            </a:r>
            <a:r>
              <a:rPr kumimoji="1" lang="en-US" altLang="zh-CN" sz="1800" dirty="0" err="1">
                <a:solidFill>
                  <a:srgbClr val="3333FF"/>
                </a:solidFill>
                <a:latin typeface="Consolas" pitchFamily="49" charset="0"/>
                <a:ea typeface="仿宋" pitchFamily="49" charset="-122"/>
                <a:cs typeface="Consolas" pitchFamily="49" charset="0"/>
              </a:rPr>
              <a:t>lchild</a:t>
            </a:r>
            <a:r>
              <a:rPr kumimoji="1" lang="en-US" altLang="zh-CN" sz="1800" dirty="0">
                <a:solidFill>
                  <a:srgbClr val="3333FF"/>
                </a:solidFill>
                <a:latin typeface="Consolas" pitchFamily="49" charset="0"/>
                <a:ea typeface="仿宋" pitchFamily="49" charset="-122"/>
                <a:cs typeface="Consolas" pitchFamily="49" charset="0"/>
              </a:rPr>
              <a:t>);</a:t>
            </a:r>
            <a:r>
              <a:rPr kumimoji="1" lang="zh-CN" altLang="en-US" sz="1800" dirty="0">
                <a:solidFill>
                  <a:srgbClr val="3333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递归处理左子树</a:t>
            </a:r>
          </a:p>
          <a:p>
            <a:pPr algn="just">
              <a:lnSpc>
                <a:spcPct val="70000"/>
              </a:lnSpc>
              <a:spcBef>
                <a:spcPct val="50000"/>
              </a:spcBef>
            </a:pPr>
            <a:r>
              <a:rPr kumimoji="1" lang="zh-CN" altLang="en-US" sz="1800" dirty="0">
                <a:solidFill>
                  <a:srgbClr val="3333FF"/>
                </a:solidFill>
                <a:latin typeface="Consolas" pitchFamily="49" charset="0"/>
                <a:ea typeface="仿宋" pitchFamily="49" charset="-122"/>
                <a:cs typeface="Consolas" pitchFamily="49" charset="0"/>
              </a:rPr>
              <a:t>	</a:t>
            </a:r>
            <a:r>
              <a:rPr kumimoji="1" lang="zh-CN" altLang="en-US" sz="1800">
                <a:solidFill>
                  <a:srgbClr val="3333FF"/>
                </a:solidFill>
                <a:latin typeface="Consolas" pitchFamily="49" charset="0"/>
                <a:ea typeface="仿宋" pitchFamily="49" charset="-122"/>
                <a:cs typeface="Consolas" pitchFamily="49" charset="0"/>
              </a:rPr>
              <a:t>  </a:t>
            </a:r>
            <a:r>
              <a:rPr kumimoji="1" lang="en-US" altLang="zh-CN" sz="1800" dirty="0">
                <a:solidFill>
                  <a:srgbClr val="3333FF"/>
                </a:solidFill>
                <a:latin typeface="Consolas" pitchFamily="49" charset="0"/>
                <a:ea typeface="仿宋" pitchFamily="49" charset="-122"/>
                <a:cs typeface="Consolas" pitchFamily="49" charset="0"/>
              </a:rPr>
              <a:t>if (b-&gt;</a:t>
            </a:r>
            <a:r>
              <a:rPr kumimoji="1" lang="en-US" altLang="zh-CN" sz="1800" dirty="0" err="1">
                <a:solidFill>
                  <a:srgbClr val="3333FF"/>
                </a:solidFill>
                <a:latin typeface="Consolas" pitchFamily="49" charset="0"/>
                <a:ea typeface="仿宋" pitchFamily="49" charset="-122"/>
                <a:cs typeface="Consolas" pitchFamily="49" charset="0"/>
              </a:rPr>
              <a:t>rchild</a:t>
            </a:r>
            <a:r>
              <a:rPr kumimoji="1" lang="en-US" altLang="zh-CN" sz="1800" dirty="0">
                <a:solidFill>
                  <a:srgbClr val="3333FF"/>
                </a:solidFill>
                <a:latin typeface="Consolas" pitchFamily="49" charset="0"/>
                <a:ea typeface="仿宋" pitchFamily="49" charset="-122"/>
                <a:cs typeface="Consolas" pitchFamily="49" charset="0"/>
              </a:rPr>
              <a:t>!=NULL) </a:t>
            </a:r>
            <a:r>
              <a:rPr kumimoji="1" lang="en-US" altLang="zh-CN" sz="1800" err="1">
                <a:solidFill>
                  <a:srgbClr val="003300"/>
                </a:solidFill>
                <a:latin typeface="Consolas" pitchFamily="49" charset="0"/>
                <a:ea typeface="仿宋" pitchFamily="49" charset="-122"/>
                <a:cs typeface="Consolas" pitchFamily="49" charset="0"/>
              </a:rPr>
              <a:t>printf</a:t>
            </a:r>
            <a:r>
              <a:rPr kumimoji="1" lang="en-US" altLang="zh-CN" sz="1800">
                <a:solidFill>
                  <a:srgbClr val="003300"/>
                </a:solidFill>
                <a:latin typeface="Consolas" pitchFamily="49" charset="0"/>
                <a:ea typeface="仿宋" pitchFamily="49" charset="-122"/>
                <a:cs typeface="Consolas" pitchFamily="49" charset="0"/>
              </a:rPr>
              <a:t>("</a:t>
            </a:r>
            <a:r>
              <a:rPr kumimoji="1" lang="zh-CN" altLang="en-US" sz="1800">
                <a:solidFill>
                  <a:srgbClr val="003300"/>
                </a:solidFill>
                <a:latin typeface="Consolas" pitchFamily="49" charset="0"/>
                <a:ea typeface="仿宋" pitchFamily="49" charset="-122"/>
                <a:cs typeface="Consolas" pitchFamily="49" charset="0"/>
              </a:rPr>
              <a:t>，</a:t>
            </a:r>
            <a:r>
              <a:rPr kumimoji="1" lang="en-US" altLang="zh-CN" sz="1800">
                <a:solidFill>
                  <a:srgbClr val="003300"/>
                </a:solidFill>
                <a:latin typeface="Consolas" pitchFamily="49" charset="0"/>
                <a:ea typeface="仿宋" pitchFamily="49" charset="-122"/>
                <a:cs typeface="Consolas" pitchFamily="49" charset="0"/>
              </a:rPr>
              <a:t>")</a:t>
            </a:r>
            <a:r>
              <a:rPr kumimoji="1" lang="en-US" altLang="zh-CN" sz="1800">
                <a:solidFill>
                  <a:srgbClr val="3333FF"/>
                </a:solidFill>
                <a:latin typeface="Consolas" pitchFamily="49" charset="0"/>
                <a:ea typeface="仿宋" pitchFamily="49" charset="-122"/>
                <a:cs typeface="Consolas" pitchFamily="49" charset="0"/>
              </a:rPr>
              <a:t>;</a:t>
            </a:r>
            <a:endParaRPr kumimoji="1" lang="en-US" altLang="zh-CN" sz="1800" dirty="0">
              <a:solidFill>
                <a:srgbClr val="3333FF"/>
              </a:solidFill>
              <a:latin typeface="Consolas" pitchFamily="49" charset="0"/>
              <a:ea typeface="仿宋" pitchFamily="49" charset="-122"/>
              <a:cs typeface="Consolas" pitchFamily="49" charset="0"/>
            </a:endParaRPr>
          </a:p>
          <a:p>
            <a:pPr algn="just">
              <a:lnSpc>
                <a:spcPct val="7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	</a:t>
            </a:r>
            <a:r>
              <a:rPr kumimoji="1" lang="en-US" altLang="zh-CN" sz="1800">
                <a:solidFill>
                  <a:srgbClr val="3333FF"/>
                </a:solidFill>
                <a:latin typeface="Consolas" pitchFamily="49" charset="0"/>
                <a:ea typeface="仿宋" pitchFamily="49" charset="-122"/>
                <a:cs typeface="Consolas" pitchFamily="49" charset="0"/>
              </a:rPr>
              <a:t>  </a:t>
            </a:r>
            <a:r>
              <a:rPr kumimoji="1" lang="en-US" altLang="zh-CN" sz="1800">
                <a:solidFill>
                  <a:srgbClr val="FF0000"/>
                </a:solidFill>
                <a:latin typeface="Consolas" pitchFamily="49" charset="0"/>
                <a:ea typeface="仿宋" pitchFamily="49" charset="-122"/>
                <a:cs typeface="Consolas" pitchFamily="49" charset="0"/>
              </a:rPr>
              <a:t>DispBTree</a:t>
            </a:r>
            <a:r>
              <a:rPr kumimoji="1" lang="en-US" altLang="zh-CN" sz="1800">
                <a:solidFill>
                  <a:srgbClr val="3333FF"/>
                </a:solidFill>
                <a:latin typeface="Consolas" pitchFamily="49" charset="0"/>
                <a:ea typeface="仿宋" pitchFamily="49" charset="-122"/>
                <a:cs typeface="Consolas" pitchFamily="49" charset="0"/>
              </a:rPr>
              <a:t>(b-</a:t>
            </a:r>
            <a:r>
              <a:rPr kumimoji="1" lang="en-US" altLang="zh-CN" sz="1800" dirty="0">
                <a:solidFill>
                  <a:srgbClr val="3333FF"/>
                </a:solidFill>
                <a:latin typeface="Consolas" pitchFamily="49" charset="0"/>
                <a:ea typeface="仿宋" pitchFamily="49" charset="-122"/>
                <a:cs typeface="Consolas" pitchFamily="49" charset="0"/>
              </a:rPr>
              <a:t>&gt;</a:t>
            </a:r>
            <a:r>
              <a:rPr kumimoji="1" lang="en-US" altLang="zh-CN" sz="1800" dirty="0" err="1">
                <a:solidFill>
                  <a:srgbClr val="3333FF"/>
                </a:solidFill>
                <a:latin typeface="Consolas" pitchFamily="49" charset="0"/>
                <a:ea typeface="仿宋" pitchFamily="49" charset="-122"/>
                <a:cs typeface="Consolas" pitchFamily="49" charset="0"/>
              </a:rPr>
              <a:t>rchild</a:t>
            </a:r>
            <a:r>
              <a:rPr kumimoji="1" lang="en-US" altLang="zh-CN" sz="1800" dirty="0">
                <a:solidFill>
                  <a:srgbClr val="3333FF"/>
                </a:solidFill>
                <a:latin typeface="Consolas" pitchFamily="49" charset="0"/>
                <a:ea typeface="仿宋" pitchFamily="49" charset="-122"/>
                <a:cs typeface="Consolas" pitchFamily="49" charset="0"/>
              </a:rPr>
              <a:t>);</a:t>
            </a:r>
            <a:r>
              <a:rPr kumimoji="1" lang="zh-CN" altLang="en-US" sz="1800" dirty="0">
                <a:solidFill>
                  <a:srgbClr val="3333FF"/>
                </a:solidFill>
                <a:latin typeface="Consolas" pitchFamily="49" charset="0"/>
                <a:ea typeface="仿宋" pitchFamily="49" charset="-122"/>
                <a:cs typeface="Consolas" pitchFamily="49" charset="0"/>
              </a:rPr>
              <a:t>　</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递归处理右子树</a:t>
            </a:r>
          </a:p>
          <a:p>
            <a:pPr algn="just">
              <a:lnSpc>
                <a:spcPct val="70000"/>
              </a:lnSpc>
              <a:spcBef>
                <a:spcPct val="50000"/>
              </a:spcBef>
            </a:pPr>
            <a:r>
              <a:rPr kumimoji="1" lang="zh-CN" altLang="en-US" sz="1800" dirty="0">
                <a:solidFill>
                  <a:srgbClr val="3333FF"/>
                </a:solidFill>
                <a:latin typeface="Consolas" pitchFamily="49" charset="0"/>
                <a:ea typeface="仿宋" pitchFamily="49" charset="-122"/>
                <a:cs typeface="Consolas" pitchFamily="49" charset="0"/>
              </a:rPr>
              <a:t>	</a:t>
            </a:r>
            <a:r>
              <a:rPr kumimoji="1" lang="zh-CN" altLang="en-US" sz="1800">
                <a:solidFill>
                  <a:srgbClr val="3333FF"/>
                </a:solidFill>
                <a:latin typeface="Consolas" pitchFamily="49" charset="0"/>
                <a:ea typeface="仿宋" pitchFamily="49" charset="-122"/>
                <a:cs typeface="Consolas" pitchFamily="49" charset="0"/>
              </a:rPr>
              <a:t>  </a:t>
            </a:r>
            <a:r>
              <a:rPr kumimoji="1" lang="en-US" altLang="zh-CN" sz="1800" dirty="0" err="1">
                <a:solidFill>
                  <a:srgbClr val="FF00FF"/>
                </a:solidFill>
                <a:latin typeface="Consolas" pitchFamily="49" charset="0"/>
                <a:ea typeface="仿宋" pitchFamily="49" charset="-122"/>
                <a:cs typeface="Consolas" pitchFamily="49" charset="0"/>
              </a:rPr>
              <a:t>printf</a:t>
            </a:r>
            <a:r>
              <a:rPr kumimoji="1" lang="en-US" altLang="zh-CN" sz="1800" dirty="0">
                <a:solidFill>
                  <a:srgbClr val="FF00FF"/>
                </a:solidFill>
                <a:latin typeface="Consolas" pitchFamily="49" charset="0"/>
                <a:ea typeface="仿宋" pitchFamily="49" charset="-122"/>
                <a:cs typeface="Consolas" pitchFamily="49" charset="0"/>
              </a:rPr>
              <a:t>(")");</a:t>
            </a:r>
          </a:p>
          <a:p>
            <a:pPr algn="just">
              <a:lnSpc>
                <a:spcPct val="70000"/>
              </a:lnSpc>
              <a:spcBef>
                <a:spcPct val="50000"/>
              </a:spcBef>
            </a:pPr>
            <a:r>
              <a:rPr kumimoji="1" lang="en-US" altLang="zh-CN" sz="1800">
                <a:solidFill>
                  <a:srgbClr val="3333FF"/>
                </a:solidFill>
                <a:latin typeface="Consolas" pitchFamily="49" charset="0"/>
                <a:ea typeface="仿宋" pitchFamily="49" charset="-122"/>
                <a:cs typeface="Consolas" pitchFamily="49" charset="0"/>
              </a:rPr>
              <a:t>      }</a:t>
            </a:r>
            <a:endParaRPr kumimoji="1" lang="en-US" altLang="zh-CN" sz="1800" dirty="0">
              <a:solidFill>
                <a:srgbClr val="3333FF"/>
              </a:solidFill>
              <a:latin typeface="Consolas" pitchFamily="49" charset="0"/>
              <a:ea typeface="仿宋" pitchFamily="49" charset="-122"/>
              <a:cs typeface="Consolas" pitchFamily="49" charset="0"/>
            </a:endParaRPr>
          </a:p>
          <a:p>
            <a:pPr algn="just">
              <a:lnSpc>
                <a:spcPct val="70000"/>
              </a:lnSpc>
              <a:spcBef>
                <a:spcPct val="50000"/>
              </a:spcBef>
            </a:pPr>
            <a:r>
              <a:rPr kumimoji="1" lang="en-US" altLang="zh-CN" sz="1800">
                <a:solidFill>
                  <a:srgbClr val="3333FF"/>
                </a:solidFill>
                <a:latin typeface="Consolas" pitchFamily="49" charset="0"/>
                <a:ea typeface="仿宋" pitchFamily="49" charset="-122"/>
                <a:cs typeface="Consolas" pitchFamily="49" charset="0"/>
              </a:rPr>
              <a:t>   }</a:t>
            </a:r>
            <a:endParaRPr kumimoji="1" lang="en-US" altLang="zh-CN" sz="1800" dirty="0">
              <a:solidFill>
                <a:srgbClr val="3333FF"/>
              </a:solidFill>
              <a:latin typeface="Consolas" pitchFamily="49" charset="0"/>
              <a:ea typeface="仿宋" pitchFamily="49" charset="-122"/>
              <a:cs typeface="Consolas" pitchFamily="49" charset="0"/>
            </a:endParaRPr>
          </a:p>
          <a:p>
            <a:pPr algn="just">
              <a:lnSpc>
                <a:spcPct val="70000"/>
              </a:lnSpc>
              <a:spcBef>
                <a:spcPct val="50000"/>
              </a:spcBef>
            </a:pPr>
            <a:r>
              <a:rPr kumimoji="1" lang="en-US" altLang="zh-CN" sz="1800" dirty="0">
                <a:solidFill>
                  <a:srgbClr val="3333FF"/>
                </a:solidFill>
                <a:latin typeface="Consolas" pitchFamily="49" charset="0"/>
                <a:ea typeface="仿宋" pitchFamily="49" charset="-122"/>
                <a:cs typeface="Consolas" pitchFamily="49" charset="0"/>
              </a:rPr>
              <a:t>}</a:t>
            </a:r>
            <a:endParaRPr kumimoji="1" lang="en-US" altLang="zh-CN" sz="1800" b="0" dirty="0">
              <a:solidFill>
                <a:srgbClr val="3333FF"/>
              </a:solidFill>
              <a:latin typeface="Consolas" pitchFamily="49" charset="0"/>
              <a:ea typeface="仿宋" pitchFamily="49" charset="-122"/>
              <a:cs typeface="Consolas" pitchFamily="49" charset="0"/>
            </a:endParaRPr>
          </a:p>
        </p:txBody>
      </p:sp>
      <p:sp>
        <p:nvSpPr>
          <p:cNvPr id="4" name="TextBox 2">
            <a:extLst>
              <a:ext uri="{FF2B5EF4-FFF2-40B4-BE49-F238E27FC236}">
                <a16:creationId xmlns:a16="http://schemas.microsoft.com/office/drawing/2014/main" xmlns="" id="{0AB007A6-F4C8-501B-5BDB-C9119904123A}"/>
              </a:ext>
            </a:extLst>
          </p:cNvPr>
          <p:cNvSpPr txBox="1"/>
          <p:nvPr/>
        </p:nvSpPr>
        <p:spPr>
          <a:xfrm>
            <a:off x="1880082" y="2074416"/>
            <a:ext cx="1143008" cy="307777"/>
          </a:xfrm>
          <a:prstGeom prst="rect">
            <a:avLst/>
          </a:prstGeom>
          <a:noFill/>
        </p:spPr>
        <p:txBody>
          <a:bodyPr wrap="square" lIns="0" tIns="0" rIns="0" bIns="0" rtlCol="0">
            <a:spAutoFit/>
          </a:bodyPr>
          <a:lstStyle/>
          <a:p>
            <a:r>
              <a:rPr lang="zh-CN" altLang="en-US" sz="2000">
                <a:solidFill>
                  <a:srgbClr val="C00000"/>
                </a:solidFill>
                <a:latin typeface="楷体" pitchFamily="49" charset="-122"/>
                <a:ea typeface="楷体" pitchFamily="49" charset="-122"/>
              </a:rPr>
              <a:t>根结点</a:t>
            </a:r>
          </a:p>
        </p:txBody>
      </p:sp>
      <p:sp>
        <p:nvSpPr>
          <p:cNvPr id="7" name="TextBox 3">
            <a:extLst>
              <a:ext uri="{FF2B5EF4-FFF2-40B4-BE49-F238E27FC236}">
                <a16:creationId xmlns:a16="http://schemas.microsoft.com/office/drawing/2014/main" xmlns="" id="{1B311AAA-A5CC-F448-70C5-A1981FA0C6C1}"/>
              </a:ext>
            </a:extLst>
          </p:cNvPr>
          <p:cNvSpPr txBox="1"/>
          <p:nvPr/>
        </p:nvSpPr>
        <p:spPr>
          <a:xfrm>
            <a:off x="2951652" y="2074416"/>
            <a:ext cx="285752" cy="307777"/>
          </a:xfrm>
          <a:prstGeom prst="rect">
            <a:avLst/>
          </a:prstGeom>
          <a:noFill/>
        </p:spPr>
        <p:txBody>
          <a:bodyPr wrap="square" lIns="0" tIns="0" rIns="0" bIns="0" rtlCol="0">
            <a:spAutoFit/>
          </a:bodyPr>
          <a:lstStyle/>
          <a:p>
            <a:r>
              <a:rPr lang="zh-CN" altLang="en-US" sz="2000">
                <a:solidFill>
                  <a:srgbClr val="FF00FF"/>
                </a:solidFill>
                <a:latin typeface="楷体" pitchFamily="49" charset="-122"/>
                <a:ea typeface="楷体" pitchFamily="49" charset="-122"/>
              </a:rPr>
              <a:t>（</a:t>
            </a:r>
          </a:p>
        </p:txBody>
      </p:sp>
      <p:sp>
        <p:nvSpPr>
          <p:cNvPr id="8" name="TextBox 4">
            <a:extLst>
              <a:ext uri="{FF2B5EF4-FFF2-40B4-BE49-F238E27FC236}">
                <a16:creationId xmlns:a16="http://schemas.microsoft.com/office/drawing/2014/main" xmlns="" id="{48BDE12E-E50B-6A6D-0DB5-D74B1B1AEDF2}"/>
              </a:ext>
            </a:extLst>
          </p:cNvPr>
          <p:cNvSpPr txBox="1"/>
          <p:nvPr/>
        </p:nvSpPr>
        <p:spPr>
          <a:xfrm>
            <a:off x="3237404" y="2074416"/>
            <a:ext cx="1143008" cy="307777"/>
          </a:xfrm>
          <a:prstGeom prst="rect">
            <a:avLst/>
          </a:prstGeom>
          <a:noFill/>
        </p:spPr>
        <p:txBody>
          <a:bodyPr wrap="square" lIns="0" tIns="0" rIns="0" bIns="0" rtlCol="0">
            <a:spAutoFit/>
          </a:bodyPr>
          <a:lstStyle/>
          <a:p>
            <a:r>
              <a:rPr kumimoji="1" lang="zh-CN" altLang="en-US" sz="2000">
                <a:ea typeface="楷体" pitchFamily="49" charset="-122"/>
                <a:cs typeface="Times New Roman" pitchFamily="18" charset="0"/>
              </a:rPr>
              <a:t>左子树</a:t>
            </a:r>
            <a:endParaRPr lang="zh-CN" altLang="en-US" sz="2000">
              <a:latin typeface="楷体" pitchFamily="49" charset="-122"/>
              <a:ea typeface="楷体" pitchFamily="49" charset="-122"/>
            </a:endParaRPr>
          </a:p>
        </p:txBody>
      </p:sp>
      <p:sp>
        <p:nvSpPr>
          <p:cNvPr id="9" name="TextBox 5">
            <a:extLst>
              <a:ext uri="{FF2B5EF4-FFF2-40B4-BE49-F238E27FC236}">
                <a16:creationId xmlns:a16="http://schemas.microsoft.com/office/drawing/2014/main" xmlns="" id="{C4ECCD4D-692A-DDDC-11AA-774931E47DF7}"/>
              </a:ext>
            </a:extLst>
          </p:cNvPr>
          <p:cNvSpPr txBox="1"/>
          <p:nvPr/>
        </p:nvSpPr>
        <p:spPr>
          <a:xfrm>
            <a:off x="4380412" y="2074416"/>
            <a:ext cx="285752" cy="307777"/>
          </a:xfrm>
          <a:prstGeom prst="rect">
            <a:avLst/>
          </a:prstGeom>
          <a:noFill/>
        </p:spPr>
        <p:txBody>
          <a:bodyPr wrap="square" lIns="0" tIns="0" rIns="0" bIns="0" rtlCol="0">
            <a:spAutoFit/>
          </a:bodyPr>
          <a:lstStyle/>
          <a:p>
            <a:r>
              <a:rPr lang="zh-CN" altLang="en-US" sz="2000">
                <a:solidFill>
                  <a:srgbClr val="003300"/>
                </a:solidFill>
                <a:latin typeface="楷体" pitchFamily="49" charset="-122"/>
                <a:ea typeface="楷体" pitchFamily="49" charset="-122"/>
              </a:rPr>
              <a:t>，</a:t>
            </a:r>
          </a:p>
        </p:txBody>
      </p:sp>
      <p:sp>
        <p:nvSpPr>
          <p:cNvPr id="10" name="TextBox 6">
            <a:extLst>
              <a:ext uri="{FF2B5EF4-FFF2-40B4-BE49-F238E27FC236}">
                <a16:creationId xmlns:a16="http://schemas.microsoft.com/office/drawing/2014/main" xmlns="" id="{AE7B23DF-31EE-08BA-C20F-48E257EDF577}"/>
              </a:ext>
            </a:extLst>
          </p:cNvPr>
          <p:cNvSpPr txBox="1"/>
          <p:nvPr/>
        </p:nvSpPr>
        <p:spPr>
          <a:xfrm>
            <a:off x="4523288" y="2074416"/>
            <a:ext cx="1143008" cy="307777"/>
          </a:xfrm>
          <a:prstGeom prst="rect">
            <a:avLst/>
          </a:prstGeom>
          <a:noFill/>
        </p:spPr>
        <p:txBody>
          <a:bodyPr wrap="square" lIns="0" tIns="0" rIns="0" bIns="0" rtlCol="0">
            <a:spAutoFit/>
          </a:bodyPr>
          <a:lstStyle/>
          <a:p>
            <a:r>
              <a:rPr kumimoji="1" lang="zh-CN" altLang="en-US" sz="2000">
                <a:ea typeface="楷体" pitchFamily="49" charset="-122"/>
                <a:cs typeface="Times New Roman" pitchFamily="18" charset="0"/>
              </a:rPr>
              <a:t>右子树</a:t>
            </a:r>
            <a:endParaRPr lang="zh-CN" altLang="en-US" sz="2000">
              <a:latin typeface="楷体" pitchFamily="49" charset="-122"/>
              <a:ea typeface="楷体" pitchFamily="49" charset="-122"/>
            </a:endParaRPr>
          </a:p>
        </p:txBody>
      </p:sp>
      <p:sp>
        <p:nvSpPr>
          <p:cNvPr id="11" name="TextBox 7">
            <a:extLst>
              <a:ext uri="{FF2B5EF4-FFF2-40B4-BE49-F238E27FC236}">
                <a16:creationId xmlns:a16="http://schemas.microsoft.com/office/drawing/2014/main" xmlns="" id="{835F1B48-1B4B-5748-BE34-F657BA6BB920}"/>
              </a:ext>
            </a:extLst>
          </p:cNvPr>
          <p:cNvSpPr txBox="1"/>
          <p:nvPr/>
        </p:nvSpPr>
        <p:spPr>
          <a:xfrm>
            <a:off x="5666296" y="2074416"/>
            <a:ext cx="285752" cy="307777"/>
          </a:xfrm>
          <a:prstGeom prst="rect">
            <a:avLst/>
          </a:prstGeom>
          <a:noFill/>
        </p:spPr>
        <p:txBody>
          <a:bodyPr wrap="square" lIns="0" tIns="0" rIns="0" bIns="0" rtlCol="0">
            <a:spAutoFit/>
          </a:bodyPr>
          <a:lstStyle/>
          <a:p>
            <a:r>
              <a:rPr lang="zh-CN" altLang="en-US" sz="2000">
                <a:solidFill>
                  <a:srgbClr val="FF00FF"/>
                </a:solidFill>
                <a:latin typeface="楷体" pitchFamily="49" charset="-122"/>
                <a:ea typeface="楷体" pitchFamily="49" charset="-122"/>
              </a:rPr>
              <a:t>）</a:t>
            </a:r>
          </a:p>
        </p:txBody>
      </p:sp>
      <p:grpSp>
        <p:nvGrpSpPr>
          <p:cNvPr id="12" name="组合 10">
            <a:extLst>
              <a:ext uri="{FF2B5EF4-FFF2-40B4-BE49-F238E27FC236}">
                <a16:creationId xmlns:a16="http://schemas.microsoft.com/office/drawing/2014/main" xmlns="" id="{B9D6992D-F10B-6290-0A48-A53A8DBFA3B4}"/>
              </a:ext>
            </a:extLst>
          </p:cNvPr>
          <p:cNvGrpSpPr/>
          <p:nvPr/>
        </p:nvGrpSpPr>
        <p:grpSpPr>
          <a:xfrm>
            <a:off x="6166362" y="2041379"/>
            <a:ext cx="2143140" cy="400110"/>
            <a:chOff x="5143504" y="324129"/>
            <a:chExt cx="2143140" cy="400110"/>
          </a:xfrm>
        </p:grpSpPr>
        <p:sp>
          <p:nvSpPr>
            <p:cNvPr id="13" name="左箭头 8">
              <a:extLst>
                <a:ext uri="{FF2B5EF4-FFF2-40B4-BE49-F238E27FC236}">
                  <a16:creationId xmlns:a16="http://schemas.microsoft.com/office/drawing/2014/main" xmlns="" id="{BB3AC56C-CCD9-6FF2-267B-585499202A5E}"/>
                </a:ext>
              </a:extLst>
            </p:cNvPr>
            <p:cNvSpPr/>
            <p:nvPr/>
          </p:nvSpPr>
          <p:spPr>
            <a:xfrm>
              <a:off x="5143504" y="428604"/>
              <a:ext cx="571504" cy="214314"/>
            </a:xfrm>
            <a:prstGeom prst="lef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sz="2000"/>
            </a:p>
          </p:txBody>
        </p:sp>
        <p:sp>
          <p:nvSpPr>
            <p:cNvPr id="14" name="TextBox 9">
              <a:extLst>
                <a:ext uri="{FF2B5EF4-FFF2-40B4-BE49-F238E27FC236}">
                  <a16:creationId xmlns:a16="http://schemas.microsoft.com/office/drawing/2014/main" xmlns="" id="{1D8EFFBA-3D0E-9110-D4DE-191DE3078F58}"/>
                </a:ext>
              </a:extLst>
            </p:cNvPr>
            <p:cNvSpPr txBox="1"/>
            <p:nvPr/>
          </p:nvSpPr>
          <p:spPr>
            <a:xfrm>
              <a:off x="5857884" y="324129"/>
              <a:ext cx="1428760" cy="400110"/>
            </a:xfrm>
            <a:prstGeom prst="rect">
              <a:avLst/>
            </a:prstGeom>
            <a:noFill/>
          </p:spPr>
          <p:txBody>
            <a:bodyPr wrap="square" rtlCol="0">
              <a:spAutoFit/>
            </a:bodyPr>
            <a:lstStyle/>
            <a:p>
              <a:pPr algn="l"/>
              <a:r>
                <a:rPr lang="zh-CN" altLang="en-US" sz="2000">
                  <a:ea typeface="楷体" pitchFamily="49" charset="-122"/>
                  <a:cs typeface="Times New Roman" pitchFamily="18" charset="0"/>
                  <a:sym typeface="Wingdings" pitchFamily="2" charset="2"/>
                </a:rPr>
                <a:t>括号表示</a:t>
              </a:r>
              <a:endParaRPr lang="zh-CN" altLang="en-US" sz="2000"/>
            </a:p>
          </p:txBody>
        </p:sp>
      </p:grpSp>
    </p:spTree>
    <p:extLst>
      <p:ext uri="{BB962C8B-B14F-4D97-AF65-F5344CB8AC3E}">
        <p14:creationId xmlns:p14="http://schemas.microsoft.com/office/powerpoint/2010/main" val="381658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0" grpId="0"/>
      <p:bldP spid="1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71466BF-6B07-6F22-8451-D612C6A43491}"/>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xmlns="" id="{DB09F09F-F1F8-0C28-07E5-BDB77A67AF77}"/>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19" name="Rectangle 2">
            <a:extLst>
              <a:ext uri="{FF2B5EF4-FFF2-40B4-BE49-F238E27FC236}">
                <a16:creationId xmlns:a16="http://schemas.microsoft.com/office/drawing/2014/main" xmlns="" id="{01AFAD9F-F35A-EC1F-734D-C362BB6EC1CB}"/>
              </a:ext>
            </a:extLst>
          </p:cNvPr>
          <p:cNvSpPr txBox="1">
            <a:spLocks noChangeArrowheads="1"/>
          </p:cNvSpPr>
          <p:nvPr/>
        </p:nvSpPr>
        <p:spPr>
          <a:xfrm>
            <a:off x="79920" y="836712"/>
            <a:ext cx="46479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7.5.1 </a:t>
            </a:r>
            <a:r>
              <a:rPr lang="zh-CN" altLang="en-US" dirty="0"/>
              <a:t>二叉树遍历的概念</a:t>
            </a:r>
          </a:p>
        </p:txBody>
      </p:sp>
      <p:cxnSp>
        <p:nvCxnSpPr>
          <p:cNvPr id="20" name="直接连接符 19">
            <a:extLst>
              <a:ext uri="{FF2B5EF4-FFF2-40B4-BE49-F238E27FC236}">
                <a16:creationId xmlns:a16="http://schemas.microsoft.com/office/drawing/2014/main" xmlns="" id="{2BB8BCC3-54BE-5A63-E7ED-705D93914DF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01" name="Rectangle 3"/>
          <p:cNvSpPr txBox="1">
            <a:spLocks noChangeArrowheads="1"/>
          </p:cNvSpPr>
          <p:nvPr/>
        </p:nvSpPr>
        <p:spPr>
          <a:xfrm>
            <a:off x="2783632" y="2204864"/>
            <a:ext cx="4108817" cy="369332"/>
          </a:xfrm>
          <a:prstGeom prst="rect">
            <a:avLst/>
          </a:prstGeom>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dirty="0"/>
              <a:t>任何一个非空的二叉树都由三部分构成</a:t>
            </a:r>
          </a:p>
        </p:txBody>
      </p:sp>
      <p:sp>
        <p:nvSpPr>
          <p:cNvPr id="102" name="Oval 4"/>
          <p:cNvSpPr>
            <a:spLocks noChangeArrowheads="1"/>
          </p:cNvSpPr>
          <p:nvPr/>
        </p:nvSpPr>
        <p:spPr bwMode="auto">
          <a:xfrm>
            <a:off x="5441861" y="2673058"/>
            <a:ext cx="838200" cy="685800"/>
          </a:xfrm>
          <a:prstGeom prst="ellipse">
            <a:avLst/>
          </a:prstGeom>
          <a:solidFill>
            <a:srgbClr val="FFCC99"/>
          </a:solidFill>
          <a:ln w="9525">
            <a:solidFill>
              <a:schemeClr val="tx1"/>
            </a:solidFill>
            <a:round/>
            <a:headEnd/>
            <a:tailEnd/>
          </a:ln>
        </p:spPr>
        <p:txBody>
          <a:bodyPr wrap="none" anchor="ctr"/>
          <a:lstStyle/>
          <a:p>
            <a:pPr algn="ctr">
              <a:lnSpc>
                <a:spcPct val="90000"/>
              </a:lnSpc>
              <a:buClrTx/>
              <a:buSzTx/>
              <a:buFont typeface="Wingdings" pitchFamily="2" charset="2"/>
              <a:buNone/>
            </a:pPr>
            <a:r>
              <a:rPr lang="en-US" altLang="zh-CN" sz="2400" dirty="0">
                <a:latin typeface="Times New Roman" pitchFamily="18" charset="0"/>
              </a:rPr>
              <a:t>D</a:t>
            </a:r>
          </a:p>
        </p:txBody>
      </p:sp>
      <p:sp>
        <p:nvSpPr>
          <p:cNvPr id="103" name="AutoShape 5"/>
          <p:cNvSpPr>
            <a:spLocks noChangeArrowheads="1"/>
          </p:cNvSpPr>
          <p:nvPr/>
        </p:nvSpPr>
        <p:spPr bwMode="auto">
          <a:xfrm>
            <a:off x="4291178" y="3597022"/>
            <a:ext cx="1258193" cy="1013432"/>
          </a:xfrm>
          <a:prstGeom prst="triangle">
            <a:avLst>
              <a:gd name="adj" fmla="val 50000"/>
            </a:avLst>
          </a:prstGeom>
          <a:solidFill>
            <a:srgbClr val="FF000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L</a:t>
            </a:r>
          </a:p>
        </p:txBody>
      </p:sp>
      <p:sp>
        <p:nvSpPr>
          <p:cNvPr id="104" name="AutoShape 6"/>
          <p:cNvSpPr>
            <a:spLocks noChangeArrowheads="1"/>
          </p:cNvSpPr>
          <p:nvPr/>
        </p:nvSpPr>
        <p:spPr bwMode="auto">
          <a:xfrm>
            <a:off x="6235994" y="3551676"/>
            <a:ext cx="1254447" cy="1058778"/>
          </a:xfrm>
          <a:prstGeom prst="triangle">
            <a:avLst>
              <a:gd name="adj" fmla="val 50000"/>
            </a:avLst>
          </a:prstGeom>
          <a:solidFill>
            <a:srgbClr val="00B05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R</a:t>
            </a:r>
          </a:p>
        </p:txBody>
      </p:sp>
      <p:sp>
        <p:nvSpPr>
          <p:cNvPr id="105" name="Line 7"/>
          <p:cNvSpPr>
            <a:spLocks noChangeShapeType="1"/>
          </p:cNvSpPr>
          <p:nvPr/>
        </p:nvSpPr>
        <p:spPr bwMode="auto">
          <a:xfrm flipH="1">
            <a:off x="4920273" y="3173152"/>
            <a:ext cx="521587" cy="4238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Line 8"/>
          <p:cNvSpPr>
            <a:spLocks noChangeShapeType="1"/>
          </p:cNvSpPr>
          <p:nvPr/>
        </p:nvSpPr>
        <p:spPr bwMode="auto">
          <a:xfrm>
            <a:off x="6210950" y="3183894"/>
            <a:ext cx="652266" cy="3677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Text Box 9"/>
          <p:cNvSpPr txBox="1">
            <a:spLocks noChangeArrowheads="1"/>
          </p:cNvSpPr>
          <p:nvPr/>
        </p:nvSpPr>
        <p:spPr bwMode="auto">
          <a:xfrm>
            <a:off x="6346802" y="2803820"/>
            <a:ext cx="877163"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dirty="0"/>
              <a:t>根结点</a:t>
            </a:r>
          </a:p>
        </p:txBody>
      </p:sp>
      <p:sp>
        <p:nvSpPr>
          <p:cNvPr id="108" name="AutoShape 10"/>
          <p:cNvSpPr>
            <a:spLocks noChangeArrowheads="1"/>
          </p:cNvSpPr>
          <p:nvPr/>
        </p:nvSpPr>
        <p:spPr bwMode="auto">
          <a:xfrm>
            <a:off x="2579206" y="3329133"/>
            <a:ext cx="1233458" cy="908864"/>
          </a:xfrm>
          <a:prstGeom prst="wedgeEllipseCallout">
            <a:avLst>
              <a:gd name="adj1" fmla="val 110634"/>
              <a:gd name="adj2" fmla="val 45343"/>
            </a:avLst>
          </a:prstGeom>
          <a:ln>
            <a:solidFill>
              <a:schemeClr val="tx1"/>
            </a:solidFill>
          </a:ln>
        </p:spPr>
        <p:txBody>
          <a:bodyPr wrap="none">
            <a:spAutoFit/>
          </a:bodyPr>
          <a:lstStyle/>
          <a:p>
            <a:r>
              <a:rPr kumimoji="1" lang="zh-CN" altLang="en-US" dirty="0">
                <a:latin typeface="微软雅黑" pitchFamily="34" charset="-122"/>
                <a:ea typeface="微软雅黑" pitchFamily="34" charset="-122"/>
                <a:cs typeface="经典粗黑简" pitchFamily="49" charset="-122"/>
              </a:rPr>
              <a:t>根的</a:t>
            </a:r>
          </a:p>
          <a:p>
            <a:r>
              <a:rPr kumimoji="1" lang="zh-CN" altLang="en-US" dirty="0">
                <a:latin typeface="微软雅黑" pitchFamily="34" charset="-122"/>
                <a:ea typeface="微软雅黑" pitchFamily="34" charset="-122"/>
                <a:cs typeface="经典粗黑简" pitchFamily="49" charset="-122"/>
              </a:rPr>
              <a:t>左子树</a:t>
            </a:r>
          </a:p>
        </p:txBody>
      </p:sp>
      <p:sp>
        <p:nvSpPr>
          <p:cNvPr id="109" name="AutoShape 11"/>
          <p:cNvSpPr>
            <a:spLocks noChangeArrowheads="1"/>
          </p:cNvSpPr>
          <p:nvPr/>
        </p:nvSpPr>
        <p:spPr bwMode="auto">
          <a:xfrm>
            <a:off x="7795125" y="3142590"/>
            <a:ext cx="1233458" cy="908864"/>
          </a:xfrm>
          <a:prstGeom prst="wedgeEllipseCallout">
            <a:avLst>
              <a:gd name="adj1" fmla="val -100986"/>
              <a:gd name="adj2" fmla="val 60417"/>
            </a:avLst>
          </a:prstGeom>
          <a:ln>
            <a:solidFill>
              <a:schemeClr val="tx1"/>
            </a:solidFill>
          </a:ln>
        </p:spPr>
        <p:txBody>
          <a:bodyPr wrap="none">
            <a:spAutoFit/>
          </a:bodyPr>
          <a:lstStyle/>
          <a:p>
            <a:r>
              <a:rPr kumimoji="1" lang="zh-CN" altLang="en-US" dirty="0">
                <a:latin typeface="微软雅黑" pitchFamily="34" charset="-122"/>
                <a:ea typeface="微软雅黑" pitchFamily="34" charset="-122"/>
                <a:cs typeface="经典粗黑简" pitchFamily="49" charset="-122"/>
              </a:rPr>
              <a:t>根的</a:t>
            </a:r>
          </a:p>
          <a:p>
            <a:r>
              <a:rPr kumimoji="1" lang="zh-CN" altLang="en-US" dirty="0">
                <a:latin typeface="微软雅黑" pitchFamily="34" charset="-122"/>
                <a:ea typeface="微软雅黑" pitchFamily="34" charset="-122"/>
                <a:cs typeface="经典粗黑简" pitchFamily="49" charset="-122"/>
              </a:rPr>
              <a:t>右子树</a:t>
            </a:r>
          </a:p>
        </p:txBody>
      </p:sp>
      <p:sp>
        <p:nvSpPr>
          <p:cNvPr id="110" name="Rectangle 13"/>
          <p:cNvSpPr>
            <a:spLocks noChangeArrowheads="1"/>
          </p:cNvSpPr>
          <p:nvPr/>
        </p:nvSpPr>
        <p:spPr bwMode="auto">
          <a:xfrm>
            <a:off x="2352939" y="4761774"/>
            <a:ext cx="7314395" cy="6463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CN" altLang="en-US" dirty="0">
                <a:latin typeface="微软雅黑" pitchFamily="34" charset="-122"/>
                <a:ea typeface="微软雅黑" pitchFamily="34" charset="-122"/>
                <a:cs typeface="经典粗黑简" pitchFamily="49" charset="-122"/>
              </a:rPr>
              <a:t>树的遍历是访问树中每个结点仅一次的过程。遍历可以被认为是把所有的结点放在一条线上，或者将一棵树进行</a:t>
            </a:r>
            <a:r>
              <a:rPr kumimoji="1" lang="zh-CN" altLang="en-US" dirty="0">
                <a:solidFill>
                  <a:srgbClr val="FF0000"/>
                </a:solidFill>
                <a:latin typeface="微软雅黑" pitchFamily="34" charset="-122"/>
                <a:ea typeface="微软雅黑" pitchFamily="34" charset="-122"/>
                <a:cs typeface="经典粗黑简" pitchFamily="49" charset="-122"/>
              </a:rPr>
              <a:t>线性化</a:t>
            </a:r>
            <a:r>
              <a:rPr kumimoji="1" lang="zh-CN" altLang="en-US" dirty="0">
                <a:latin typeface="微软雅黑" pitchFamily="34" charset="-122"/>
                <a:ea typeface="微软雅黑" pitchFamily="34" charset="-122"/>
                <a:cs typeface="经典粗黑简" pitchFamily="49" charset="-122"/>
              </a:rPr>
              <a:t>的处理。</a:t>
            </a:r>
          </a:p>
        </p:txBody>
      </p:sp>
    </p:spTree>
    <p:extLst>
      <p:ext uri="{BB962C8B-B14F-4D97-AF65-F5344CB8AC3E}">
        <p14:creationId xmlns:p14="http://schemas.microsoft.com/office/powerpoint/2010/main" val="303617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wipe(left)">
                                      <p:cBhvr>
                                        <p:cTn id="7" dur="500"/>
                                        <p:tgtEl>
                                          <p:spTgt spid="1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wipe(right)">
                                      <p:cBhvr>
                                        <p:cTn id="12" dur="500"/>
                                        <p:tgtEl>
                                          <p:spTgt spid="10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autoUpdateAnimBg="0"/>
      <p:bldP spid="109" grpId="0" animBg="1" autoUpdateAnimBg="0"/>
      <p:bldP spid="11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7"/>
          <p:cNvSpPr>
            <a:spLocks noChangeArrowheads="1"/>
          </p:cNvSpPr>
          <p:nvPr/>
        </p:nvSpPr>
        <p:spPr bwMode="auto">
          <a:xfrm>
            <a:off x="7793614" y="1784608"/>
            <a:ext cx="2031325"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1"/>
                </a:solidFill>
                <a:miter lim="800000"/>
                <a:headEnd/>
                <a:tailEnd/>
              </a14:hiddenLine>
            </a:ext>
          </a:extLst>
        </p:spPr>
        <p:txBody>
          <a:bodyPr wrap="none">
            <a:spAutoFit/>
          </a:bodyPr>
          <a:lstStyle/>
          <a:p>
            <a:r>
              <a:rPr kumimoji="1" lang="zh-CN" altLang="en-US" dirty="0">
                <a:latin typeface="微软雅黑" pitchFamily="34" charset="-122"/>
                <a:ea typeface="微软雅黑" pitchFamily="34" charset="-122"/>
                <a:cs typeface="经典粗黑简" pitchFamily="49" charset="-122"/>
              </a:rPr>
              <a:t>有六种遍历方法：</a:t>
            </a:r>
          </a:p>
        </p:txBody>
      </p:sp>
      <p:sp>
        <p:nvSpPr>
          <p:cNvPr id="21" name="Rectangle 3"/>
          <p:cNvSpPr txBox="1">
            <a:spLocks noChangeArrowheads="1"/>
          </p:cNvSpPr>
          <p:nvPr/>
        </p:nvSpPr>
        <p:spPr>
          <a:xfrm>
            <a:off x="8256240" y="2134776"/>
            <a:ext cx="3137397" cy="369332"/>
          </a:xfrm>
          <a:prstGeom prst="rect">
            <a:avLst/>
          </a:prstGeom>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dirty="0"/>
              <a:t>先左后右：</a:t>
            </a:r>
            <a:r>
              <a:rPr lang="en-US" altLang="zh-CN" dirty="0"/>
              <a:t>DLR</a:t>
            </a:r>
            <a:r>
              <a:rPr lang="zh-CN" altLang="en-US" dirty="0"/>
              <a:t>，</a:t>
            </a:r>
            <a:r>
              <a:rPr lang="en-US" altLang="zh-CN" dirty="0"/>
              <a:t>LDR</a:t>
            </a:r>
            <a:r>
              <a:rPr lang="zh-CN" altLang="en-US" dirty="0"/>
              <a:t>，</a:t>
            </a:r>
            <a:r>
              <a:rPr lang="en-US" altLang="zh-CN" dirty="0"/>
              <a:t>LRD</a:t>
            </a:r>
          </a:p>
        </p:txBody>
      </p:sp>
      <p:sp>
        <p:nvSpPr>
          <p:cNvPr id="22" name="Rectangle 12"/>
          <p:cNvSpPr>
            <a:spLocks noChangeArrowheads="1"/>
          </p:cNvSpPr>
          <p:nvPr/>
        </p:nvSpPr>
        <p:spPr bwMode="auto">
          <a:xfrm>
            <a:off x="8256240" y="2543632"/>
            <a:ext cx="3137397"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dirty="0">
                <a:latin typeface="微软雅黑" pitchFamily="34" charset="-122"/>
                <a:ea typeface="微软雅黑" pitchFamily="34" charset="-122"/>
                <a:cs typeface="经典粗黑简" pitchFamily="49" charset="-122"/>
              </a:rPr>
              <a:t>先右后左：</a:t>
            </a:r>
            <a:r>
              <a:rPr kumimoji="1" lang="en-US" altLang="zh-CN" dirty="0">
                <a:latin typeface="微软雅黑" pitchFamily="34" charset="-122"/>
                <a:ea typeface="微软雅黑" pitchFamily="34" charset="-122"/>
                <a:cs typeface="经典粗黑简" pitchFamily="49" charset="-122"/>
              </a:rPr>
              <a:t>DRL</a:t>
            </a:r>
            <a:r>
              <a:rPr kumimoji="1" lang="zh-CN" altLang="en-US" dirty="0">
                <a:latin typeface="微软雅黑" pitchFamily="34" charset="-122"/>
                <a:ea typeface="微软雅黑" pitchFamily="34" charset="-122"/>
                <a:cs typeface="经典粗黑简" pitchFamily="49" charset="-122"/>
              </a:rPr>
              <a:t>，</a:t>
            </a:r>
            <a:r>
              <a:rPr kumimoji="1" lang="en-US" altLang="zh-CN" dirty="0">
                <a:latin typeface="微软雅黑" pitchFamily="34" charset="-122"/>
                <a:ea typeface="微软雅黑" pitchFamily="34" charset="-122"/>
                <a:cs typeface="经典粗黑简" pitchFamily="49" charset="-122"/>
              </a:rPr>
              <a:t>RDL</a:t>
            </a:r>
            <a:r>
              <a:rPr kumimoji="1" lang="zh-CN" altLang="en-US" dirty="0">
                <a:latin typeface="微软雅黑" pitchFamily="34" charset="-122"/>
                <a:ea typeface="微软雅黑" pitchFamily="34" charset="-122"/>
                <a:cs typeface="经典粗黑简" pitchFamily="49" charset="-122"/>
              </a:rPr>
              <a:t>，</a:t>
            </a:r>
            <a:r>
              <a:rPr kumimoji="1" lang="en-US" altLang="zh-CN" dirty="0">
                <a:latin typeface="微软雅黑" pitchFamily="34" charset="-122"/>
                <a:ea typeface="微软雅黑" pitchFamily="34" charset="-122"/>
                <a:cs typeface="经典粗黑简" pitchFamily="49" charset="-122"/>
              </a:rPr>
              <a:t>RLD</a:t>
            </a:r>
          </a:p>
        </p:txBody>
      </p:sp>
      <p:sp>
        <p:nvSpPr>
          <p:cNvPr id="23" name="矩形 22"/>
          <p:cNvSpPr/>
          <p:nvPr/>
        </p:nvSpPr>
        <p:spPr>
          <a:xfrm>
            <a:off x="2783632" y="5166934"/>
            <a:ext cx="4908576" cy="707886"/>
          </a:xfrm>
          <a:prstGeom prst="rect">
            <a:avLst/>
          </a:prstGeom>
        </p:spPr>
        <p:txBody>
          <a:bodyPr wrap="square">
            <a:spAutoFit/>
          </a:bodyPr>
          <a:lstStyle/>
          <a:p>
            <a:pPr marL="0" lvl="1"/>
            <a:r>
              <a:rPr kumimoji="1" lang="zh-CN" altLang="en-US" sz="2000" dirty="0">
                <a:latin typeface="微软雅黑" pitchFamily="34" charset="-122"/>
                <a:ea typeface="微软雅黑" pitchFamily="34" charset="-122"/>
                <a:cs typeface="经典粗黑简" pitchFamily="49" charset="-122"/>
              </a:rPr>
              <a:t>约定先左后右</a:t>
            </a:r>
            <a:r>
              <a:rPr kumimoji="1" lang="en-US" altLang="zh-CN" sz="2000" dirty="0">
                <a:latin typeface="微软雅黑" pitchFamily="34" charset="-122"/>
                <a:ea typeface="微软雅黑" pitchFamily="34" charset="-122"/>
                <a:cs typeface="经典粗黑简" pitchFamily="49" charset="-122"/>
              </a:rPr>
              <a:t>,</a:t>
            </a:r>
            <a:r>
              <a:rPr kumimoji="1" lang="zh-CN" altLang="en-US" sz="2000" dirty="0">
                <a:latin typeface="微软雅黑" pitchFamily="34" charset="-122"/>
                <a:ea typeface="微软雅黑" pitchFamily="34" charset="-122"/>
                <a:cs typeface="经典粗黑简" pitchFamily="49" charset="-122"/>
              </a:rPr>
              <a:t>有三种遍历方法，分别称为先序遍历、中序遍历、后序遍历</a:t>
            </a:r>
            <a:endParaRPr lang="zh-CN" altLang="en-US" dirty="0"/>
          </a:p>
        </p:txBody>
      </p:sp>
      <p:sp>
        <p:nvSpPr>
          <p:cNvPr id="2" name="矩形 1">
            <a:extLst>
              <a:ext uri="{FF2B5EF4-FFF2-40B4-BE49-F238E27FC236}">
                <a16:creationId xmlns:a16="http://schemas.microsoft.com/office/drawing/2014/main" xmlns="" id="{848BB166-0C6A-1F14-D346-47CD52B476B1}"/>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3" name="Rectangle 2">
            <a:extLst>
              <a:ext uri="{FF2B5EF4-FFF2-40B4-BE49-F238E27FC236}">
                <a16:creationId xmlns:a16="http://schemas.microsoft.com/office/drawing/2014/main" xmlns="" id="{D6D61F0A-6261-3584-1F18-0A4168D96A9F}"/>
              </a:ext>
            </a:extLst>
          </p:cNvPr>
          <p:cNvSpPr txBox="1">
            <a:spLocks noChangeArrowheads="1"/>
          </p:cNvSpPr>
          <p:nvPr/>
        </p:nvSpPr>
        <p:spPr>
          <a:xfrm>
            <a:off x="79920" y="836712"/>
            <a:ext cx="46479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7.5.1 </a:t>
            </a:r>
            <a:r>
              <a:rPr lang="zh-CN" altLang="en-US" dirty="0"/>
              <a:t>二叉树遍历的概念</a:t>
            </a:r>
          </a:p>
        </p:txBody>
      </p:sp>
      <p:cxnSp>
        <p:nvCxnSpPr>
          <p:cNvPr id="4" name="直接连接符 3">
            <a:extLst>
              <a:ext uri="{FF2B5EF4-FFF2-40B4-BE49-F238E27FC236}">
                <a16:creationId xmlns:a16="http://schemas.microsoft.com/office/drawing/2014/main" xmlns="" id="{8BCF5452-A16F-601E-3319-6B0248544027}"/>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xmlns="" id="{28C84A75-51F8-32E8-DC1F-10F385200C4B}"/>
              </a:ext>
            </a:extLst>
          </p:cNvPr>
          <p:cNvSpPr txBox="1">
            <a:spLocks noChangeArrowheads="1"/>
          </p:cNvSpPr>
          <p:nvPr/>
        </p:nvSpPr>
        <p:spPr>
          <a:xfrm>
            <a:off x="2783632" y="2204864"/>
            <a:ext cx="4108817" cy="369332"/>
          </a:xfrm>
          <a:prstGeom prst="rect">
            <a:avLst/>
          </a:prstGeom>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dirty="0"/>
              <a:t>任何一个非空的二叉树都由三部分构成</a:t>
            </a:r>
          </a:p>
        </p:txBody>
      </p:sp>
      <p:sp>
        <p:nvSpPr>
          <p:cNvPr id="6" name="Oval 4">
            <a:extLst>
              <a:ext uri="{FF2B5EF4-FFF2-40B4-BE49-F238E27FC236}">
                <a16:creationId xmlns:a16="http://schemas.microsoft.com/office/drawing/2014/main" xmlns="" id="{41A53A4B-DACF-6B4D-D72C-D44D2C00852C}"/>
              </a:ext>
            </a:extLst>
          </p:cNvPr>
          <p:cNvSpPr>
            <a:spLocks noChangeArrowheads="1"/>
          </p:cNvSpPr>
          <p:nvPr/>
        </p:nvSpPr>
        <p:spPr bwMode="auto">
          <a:xfrm>
            <a:off x="5441861" y="2673058"/>
            <a:ext cx="838200" cy="685800"/>
          </a:xfrm>
          <a:prstGeom prst="ellipse">
            <a:avLst/>
          </a:prstGeom>
          <a:solidFill>
            <a:srgbClr val="FFCC99"/>
          </a:solidFill>
          <a:ln w="9525">
            <a:solidFill>
              <a:schemeClr val="tx1"/>
            </a:solidFill>
            <a:round/>
            <a:headEnd/>
            <a:tailEnd/>
          </a:ln>
        </p:spPr>
        <p:txBody>
          <a:bodyPr wrap="none" anchor="ctr"/>
          <a:lstStyle/>
          <a:p>
            <a:pPr algn="ctr">
              <a:lnSpc>
                <a:spcPct val="90000"/>
              </a:lnSpc>
              <a:buClrTx/>
              <a:buSzTx/>
              <a:buFont typeface="Wingdings" pitchFamily="2" charset="2"/>
              <a:buNone/>
            </a:pPr>
            <a:r>
              <a:rPr lang="en-US" altLang="zh-CN" sz="2400" dirty="0">
                <a:latin typeface="Times New Roman" pitchFamily="18" charset="0"/>
              </a:rPr>
              <a:t>D</a:t>
            </a:r>
          </a:p>
        </p:txBody>
      </p:sp>
      <p:sp>
        <p:nvSpPr>
          <p:cNvPr id="7" name="AutoShape 5">
            <a:extLst>
              <a:ext uri="{FF2B5EF4-FFF2-40B4-BE49-F238E27FC236}">
                <a16:creationId xmlns:a16="http://schemas.microsoft.com/office/drawing/2014/main" xmlns="" id="{5E87DAE0-E4A7-72B3-CF70-5C1F6EBD85C6}"/>
              </a:ext>
            </a:extLst>
          </p:cNvPr>
          <p:cNvSpPr>
            <a:spLocks noChangeArrowheads="1"/>
          </p:cNvSpPr>
          <p:nvPr/>
        </p:nvSpPr>
        <p:spPr bwMode="auto">
          <a:xfrm>
            <a:off x="4291178" y="3597022"/>
            <a:ext cx="1258193" cy="1013432"/>
          </a:xfrm>
          <a:prstGeom prst="triangle">
            <a:avLst>
              <a:gd name="adj" fmla="val 50000"/>
            </a:avLst>
          </a:prstGeom>
          <a:solidFill>
            <a:srgbClr val="FF000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L</a:t>
            </a:r>
          </a:p>
        </p:txBody>
      </p:sp>
      <p:sp>
        <p:nvSpPr>
          <p:cNvPr id="8" name="AutoShape 6">
            <a:extLst>
              <a:ext uri="{FF2B5EF4-FFF2-40B4-BE49-F238E27FC236}">
                <a16:creationId xmlns:a16="http://schemas.microsoft.com/office/drawing/2014/main" xmlns="" id="{C5658195-649B-74C5-73F4-FD711B8B330F}"/>
              </a:ext>
            </a:extLst>
          </p:cNvPr>
          <p:cNvSpPr>
            <a:spLocks noChangeArrowheads="1"/>
          </p:cNvSpPr>
          <p:nvPr/>
        </p:nvSpPr>
        <p:spPr bwMode="auto">
          <a:xfrm>
            <a:off x="6235994" y="3551676"/>
            <a:ext cx="1254447" cy="1058778"/>
          </a:xfrm>
          <a:prstGeom prst="triangle">
            <a:avLst>
              <a:gd name="adj" fmla="val 50000"/>
            </a:avLst>
          </a:prstGeom>
          <a:solidFill>
            <a:srgbClr val="00B05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R</a:t>
            </a:r>
          </a:p>
        </p:txBody>
      </p:sp>
      <p:sp>
        <p:nvSpPr>
          <p:cNvPr id="9" name="Line 7">
            <a:extLst>
              <a:ext uri="{FF2B5EF4-FFF2-40B4-BE49-F238E27FC236}">
                <a16:creationId xmlns:a16="http://schemas.microsoft.com/office/drawing/2014/main" xmlns="" id="{8EA46ED0-5A9F-A912-8974-E2A0325C8E96}"/>
              </a:ext>
            </a:extLst>
          </p:cNvPr>
          <p:cNvSpPr>
            <a:spLocks noChangeShapeType="1"/>
          </p:cNvSpPr>
          <p:nvPr/>
        </p:nvSpPr>
        <p:spPr bwMode="auto">
          <a:xfrm flipH="1">
            <a:off x="4920273" y="3173152"/>
            <a:ext cx="521587" cy="4238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8">
            <a:extLst>
              <a:ext uri="{FF2B5EF4-FFF2-40B4-BE49-F238E27FC236}">
                <a16:creationId xmlns:a16="http://schemas.microsoft.com/office/drawing/2014/main" xmlns="" id="{DBCDF2D9-7152-25BA-F235-E07DD6043A39}"/>
              </a:ext>
            </a:extLst>
          </p:cNvPr>
          <p:cNvSpPr>
            <a:spLocks noChangeShapeType="1"/>
          </p:cNvSpPr>
          <p:nvPr/>
        </p:nvSpPr>
        <p:spPr bwMode="auto">
          <a:xfrm>
            <a:off x="6210950" y="3183894"/>
            <a:ext cx="652266" cy="3677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9">
            <a:extLst>
              <a:ext uri="{FF2B5EF4-FFF2-40B4-BE49-F238E27FC236}">
                <a16:creationId xmlns:a16="http://schemas.microsoft.com/office/drawing/2014/main" xmlns="" id="{E8DE92A2-BF9A-F432-5BAE-CA834A64ABC5}"/>
              </a:ext>
            </a:extLst>
          </p:cNvPr>
          <p:cNvSpPr txBox="1">
            <a:spLocks noChangeArrowheads="1"/>
          </p:cNvSpPr>
          <p:nvPr/>
        </p:nvSpPr>
        <p:spPr bwMode="auto">
          <a:xfrm>
            <a:off x="6346802" y="2803820"/>
            <a:ext cx="877163"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dirty="0"/>
              <a:t>根结点</a:t>
            </a:r>
          </a:p>
        </p:txBody>
      </p:sp>
      <p:sp>
        <p:nvSpPr>
          <p:cNvPr id="12" name="AutoShape 10">
            <a:extLst>
              <a:ext uri="{FF2B5EF4-FFF2-40B4-BE49-F238E27FC236}">
                <a16:creationId xmlns:a16="http://schemas.microsoft.com/office/drawing/2014/main" xmlns="" id="{E8561446-10F0-818C-BDAC-D8D51BFB6E55}"/>
              </a:ext>
            </a:extLst>
          </p:cNvPr>
          <p:cNvSpPr>
            <a:spLocks noChangeArrowheads="1"/>
          </p:cNvSpPr>
          <p:nvPr/>
        </p:nvSpPr>
        <p:spPr bwMode="auto">
          <a:xfrm>
            <a:off x="2579206" y="3329133"/>
            <a:ext cx="1233458" cy="908864"/>
          </a:xfrm>
          <a:prstGeom prst="wedgeEllipseCallout">
            <a:avLst>
              <a:gd name="adj1" fmla="val 110634"/>
              <a:gd name="adj2" fmla="val 45343"/>
            </a:avLst>
          </a:prstGeom>
          <a:ln>
            <a:solidFill>
              <a:schemeClr val="tx1"/>
            </a:solidFill>
          </a:ln>
        </p:spPr>
        <p:txBody>
          <a:bodyPr wrap="none">
            <a:spAutoFit/>
          </a:bodyPr>
          <a:lstStyle/>
          <a:p>
            <a:r>
              <a:rPr kumimoji="1" lang="zh-CN" altLang="en-US" dirty="0">
                <a:latin typeface="微软雅黑" pitchFamily="34" charset="-122"/>
                <a:ea typeface="微软雅黑" pitchFamily="34" charset="-122"/>
                <a:cs typeface="经典粗黑简" pitchFamily="49" charset="-122"/>
              </a:rPr>
              <a:t>根的</a:t>
            </a:r>
          </a:p>
          <a:p>
            <a:r>
              <a:rPr kumimoji="1" lang="zh-CN" altLang="en-US" dirty="0">
                <a:latin typeface="微软雅黑" pitchFamily="34" charset="-122"/>
                <a:ea typeface="微软雅黑" pitchFamily="34" charset="-122"/>
                <a:cs typeface="经典粗黑简" pitchFamily="49" charset="-122"/>
              </a:rPr>
              <a:t>左子树</a:t>
            </a:r>
          </a:p>
        </p:txBody>
      </p:sp>
      <p:sp>
        <p:nvSpPr>
          <p:cNvPr id="13" name="AutoShape 11">
            <a:extLst>
              <a:ext uri="{FF2B5EF4-FFF2-40B4-BE49-F238E27FC236}">
                <a16:creationId xmlns:a16="http://schemas.microsoft.com/office/drawing/2014/main" xmlns="" id="{47894846-F410-BBE5-41AF-6F3E4EDDE494}"/>
              </a:ext>
            </a:extLst>
          </p:cNvPr>
          <p:cNvSpPr>
            <a:spLocks noChangeArrowheads="1"/>
          </p:cNvSpPr>
          <p:nvPr/>
        </p:nvSpPr>
        <p:spPr bwMode="auto">
          <a:xfrm>
            <a:off x="7795125" y="3142590"/>
            <a:ext cx="1233458" cy="908864"/>
          </a:xfrm>
          <a:prstGeom prst="wedgeEllipseCallout">
            <a:avLst>
              <a:gd name="adj1" fmla="val -100986"/>
              <a:gd name="adj2" fmla="val 60417"/>
            </a:avLst>
          </a:prstGeom>
          <a:ln>
            <a:solidFill>
              <a:schemeClr val="tx1"/>
            </a:solidFill>
          </a:ln>
        </p:spPr>
        <p:txBody>
          <a:bodyPr wrap="none">
            <a:spAutoFit/>
          </a:bodyPr>
          <a:lstStyle/>
          <a:p>
            <a:r>
              <a:rPr kumimoji="1" lang="zh-CN" altLang="en-US" dirty="0">
                <a:latin typeface="微软雅黑" pitchFamily="34" charset="-122"/>
                <a:ea typeface="微软雅黑" pitchFamily="34" charset="-122"/>
                <a:cs typeface="经典粗黑简" pitchFamily="49" charset="-122"/>
              </a:rPr>
              <a:t>根的</a:t>
            </a:r>
          </a:p>
          <a:p>
            <a:r>
              <a:rPr kumimoji="1" lang="zh-CN" altLang="en-US" dirty="0">
                <a:latin typeface="微软雅黑" pitchFamily="34" charset="-122"/>
                <a:ea typeface="微软雅黑" pitchFamily="34" charset="-122"/>
                <a:cs typeface="经典粗黑简" pitchFamily="49" charset="-122"/>
              </a:rPr>
              <a:t>右子树</a:t>
            </a:r>
          </a:p>
        </p:txBody>
      </p:sp>
    </p:spTree>
    <p:extLst>
      <p:ext uri="{BB962C8B-B14F-4D97-AF65-F5344CB8AC3E}">
        <p14:creationId xmlns:p14="http://schemas.microsoft.com/office/powerpoint/2010/main" val="93446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right)">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P spid="13"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Oval 4"/>
          <p:cNvSpPr>
            <a:spLocks noChangeArrowheads="1"/>
          </p:cNvSpPr>
          <p:nvPr/>
        </p:nvSpPr>
        <p:spPr bwMode="auto">
          <a:xfrm>
            <a:off x="5542936" y="3147788"/>
            <a:ext cx="838200" cy="685800"/>
          </a:xfrm>
          <a:prstGeom prst="ellipse">
            <a:avLst/>
          </a:prstGeom>
          <a:solidFill>
            <a:srgbClr val="FFCC99"/>
          </a:solidFill>
          <a:ln w="9525">
            <a:solidFill>
              <a:schemeClr val="tx1"/>
            </a:solidFill>
            <a:round/>
            <a:headEnd/>
            <a:tailEnd/>
          </a:ln>
        </p:spPr>
        <p:txBody>
          <a:bodyPr wrap="none" anchor="ctr"/>
          <a:lstStyle/>
          <a:p>
            <a:pPr algn="ctr">
              <a:lnSpc>
                <a:spcPct val="90000"/>
              </a:lnSpc>
              <a:buClrTx/>
              <a:buSzTx/>
              <a:buFont typeface="Wingdings" pitchFamily="2" charset="2"/>
              <a:buNone/>
            </a:pPr>
            <a:r>
              <a:rPr lang="en-US" altLang="zh-CN" sz="2400" dirty="0">
                <a:latin typeface="Times New Roman" pitchFamily="18" charset="0"/>
              </a:rPr>
              <a:t>D</a:t>
            </a:r>
          </a:p>
        </p:txBody>
      </p:sp>
      <p:sp>
        <p:nvSpPr>
          <p:cNvPr id="103" name="AutoShape 5"/>
          <p:cNvSpPr>
            <a:spLocks noChangeArrowheads="1"/>
          </p:cNvSpPr>
          <p:nvPr/>
        </p:nvSpPr>
        <p:spPr bwMode="auto">
          <a:xfrm>
            <a:off x="4392253" y="4071752"/>
            <a:ext cx="1258193" cy="1013432"/>
          </a:xfrm>
          <a:prstGeom prst="triangle">
            <a:avLst>
              <a:gd name="adj" fmla="val 50000"/>
            </a:avLst>
          </a:prstGeom>
          <a:solidFill>
            <a:srgbClr val="FF000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L</a:t>
            </a:r>
          </a:p>
        </p:txBody>
      </p:sp>
      <p:sp>
        <p:nvSpPr>
          <p:cNvPr id="104" name="AutoShape 6"/>
          <p:cNvSpPr>
            <a:spLocks noChangeArrowheads="1"/>
          </p:cNvSpPr>
          <p:nvPr/>
        </p:nvSpPr>
        <p:spPr bwMode="auto">
          <a:xfrm>
            <a:off x="6337069" y="4026406"/>
            <a:ext cx="1254447" cy="1058778"/>
          </a:xfrm>
          <a:prstGeom prst="triangle">
            <a:avLst>
              <a:gd name="adj" fmla="val 50000"/>
            </a:avLst>
          </a:prstGeom>
          <a:solidFill>
            <a:srgbClr val="00B05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R</a:t>
            </a:r>
          </a:p>
        </p:txBody>
      </p:sp>
      <p:sp>
        <p:nvSpPr>
          <p:cNvPr id="105" name="Line 7"/>
          <p:cNvSpPr>
            <a:spLocks noChangeShapeType="1"/>
          </p:cNvSpPr>
          <p:nvPr/>
        </p:nvSpPr>
        <p:spPr bwMode="auto">
          <a:xfrm flipH="1">
            <a:off x="5021348" y="3647882"/>
            <a:ext cx="521587" cy="4238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Line 8"/>
          <p:cNvSpPr>
            <a:spLocks noChangeShapeType="1"/>
          </p:cNvSpPr>
          <p:nvPr/>
        </p:nvSpPr>
        <p:spPr bwMode="auto">
          <a:xfrm>
            <a:off x="6312025" y="3658624"/>
            <a:ext cx="652266" cy="3677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Text Box 9"/>
          <p:cNvSpPr txBox="1">
            <a:spLocks noChangeArrowheads="1"/>
          </p:cNvSpPr>
          <p:nvPr/>
        </p:nvSpPr>
        <p:spPr bwMode="auto">
          <a:xfrm>
            <a:off x="6447876" y="3278550"/>
            <a:ext cx="319318"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en-US" altLang="zh-CN" dirty="0"/>
              <a:t>1</a:t>
            </a:r>
            <a:endParaRPr lang="zh-CN" altLang="en-US" dirty="0"/>
          </a:p>
        </p:txBody>
      </p:sp>
      <p:sp>
        <p:nvSpPr>
          <p:cNvPr id="24"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先序遍历</a:t>
            </a:r>
          </a:p>
        </p:txBody>
      </p:sp>
      <p:sp>
        <p:nvSpPr>
          <p:cNvPr id="25" name="Text Box 9"/>
          <p:cNvSpPr txBox="1">
            <a:spLocks noChangeArrowheads="1"/>
          </p:cNvSpPr>
          <p:nvPr/>
        </p:nvSpPr>
        <p:spPr bwMode="auto">
          <a:xfrm>
            <a:off x="5490786" y="4509120"/>
            <a:ext cx="319318"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en-US" altLang="zh-CN" dirty="0"/>
              <a:t>2</a:t>
            </a:r>
            <a:endParaRPr lang="zh-CN" altLang="en-US" dirty="0"/>
          </a:p>
        </p:txBody>
      </p:sp>
      <p:sp>
        <p:nvSpPr>
          <p:cNvPr id="27" name="Text Box 9"/>
          <p:cNvSpPr txBox="1">
            <a:spLocks noChangeArrowheads="1"/>
          </p:cNvSpPr>
          <p:nvPr/>
        </p:nvSpPr>
        <p:spPr bwMode="auto">
          <a:xfrm>
            <a:off x="7532822" y="4490202"/>
            <a:ext cx="319318"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en-US" altLang="zh-CN" dirty="0"/>
              <a:t>3</a:t>
            </a:r>
            <a:endParaRPr lang="zh-CN" altLang="en-US" dirty="0"/>
          </a:p>
        </p:txBody>
      </p:sp>
      <p:sp>
        <p:nvSpPr>
          <p:cNvPr id="28" name="Rectangle 3"/>
          <p:cNvSpPr txBox="1">
            <a:spLocks noChangeArrowheads="1"/>
          </p:cNvSpPr>
          <p:nvPr/>
        </p:nvSpPr>
        <p:spPr>
          <a:xfrm>
            <a:off x="2351584" y="5373216"/>
            <a:ext cx="7632848" cy="533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en-US" altLang="zh-CN" sz="2400" dirty="0">
                <a:latin typeface="微软雅黑" pitchFamily="34" charset="-122"/>
                <a:ea typeface="微软雅黑" pitchFamily="34" charset="-122"/>
                <a:cs typeface="经典粗黑简" pitchFamily="49" charset="-122"/>
              </a:rPr>
              <a:t>DLR</a:t>
            </a:r>
            <a:r>
              <a:rPr kumimoji="1" lang="zh-CN" altLang="en-US" sz="2400" dirty="0">
                <a:latin typeface="微软雅黑" pitchFamily="34" charset="-122"/>
                <a:ea typeface="微软雅黑" pitchFamily="34" charset="-122"/>
                <a:cs typeface="经典粗黑简" pitchFamily="49" charset="-122"/>
              </a:rPr>
              <a:t>：访问根结点、先序遍历左子树、先序遍历右子树</a:t>
            </a:r>
          </a:p>
        </p:txBody>
      </p:sp>
      <p:sp>
        <p:nvSpPr>
          <p:cNvPr id="2" name="矩形 1">
            <a:extLst>
              <a:ext uri="{FF2B5EF4-FFF2-40B4-BE49-F238E27FC236}">
                <a16:creationId xmlns:a16="http://schemas.microsoft.com/office/drawing/2014/main" xmlns="" id="{09FC0FC8-DD65-BF08-E9A5-BCDE5933E25D}"/>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3" name="Rectangle 2">
            <a:extLst>
              <a:ext uri="{FF2B5EF4-FFF2-40B4-BE49-F238E27FC236}">
                <a16:creationId xmlns:a16="http://schemas.microsoft.com/office/drawing/2014/main" xmlns="" id="{E62CCE27-0B65-7BA5-9BD0-877477880B29}"/>
              </a:ext>
            </a:extLst>
          </p:cNvPr>
          <p:cNvSpPr txBox="1">
            <a:spLocks noChangeArrowheads="1"/>
          </p:cNvSpPr>
          <p:nvPr/>
        </p:nvSpPr>
        <p:spPr>
          <a:xfrm>
            <a:off x="79920" y="836712"/>
            <a:ext cx="46479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7.5.1 </a:t>
            </a:r>
            <a:r>
              <a:rPr lang="zh-CN" altLang="en-US" dirty="0"/>
              <a:t>二叉树遍历的概念</a:t>
            </a:r>
          </a:p>
        </p:txBody>
      </p:sp>
      <p:cxnSp>
        <p:nvCxnSpPr>
          <p:cNvPr id="4" name="直接连接符 3">
            <a:extLst>
              <a:ext uri="{FF2B5EF4-FFF2-40B4-BE49-F238E27FC236}">
                <a16:creationId xmlns:a16="http://schemas.microsoft.com/office/drawing/2014/main" xmlns="" id="{F9437448-4435-3411-A5C7-48752FCF5FCA}"/>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49043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Line 11"/>
          <p:cNvSpPr>
            <a:spLocks noChangeShapeType="1"/>
          </p:cNvSpPr>
          <p:nvPr/>
        </p:nvSpPr>
        <p:spPr bwMode="auto">
          <a:xfrm flipH="1">
            <a:off x="6645425" y="2972073"/>
            <a:ext cx="523875" cy="388938"/>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3" name="Line 12"/>
          <p:cNvSpPr>
            <a:spLocks noChangeShapeType="1"/>
          </p:cNvSpPr>
          <p:nvPr/>
        </p:nvSpPr>
        <p:spPr bwMode="auto">
          <a:xfrm>
            <a:off x="7561412" y="2972074"/>
            <a:ext cx="523875" cy="385763"/>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4" name="Line 13"/>
          <p:cNvSpPr>
            <a:spLocks noChangeShapeType="1"/>
          </p:cNvSpPr>
          <p:nvPr/>
        </p:nvSpPr>
        <p:spPr bwMode="auto">
          <a:xfrm>
            <a:off x="6710512" y="3749948"/>
            <a:ext cx="327025" cy="325438"/>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5" name="Line 14"/>
          <p:cNvSpPr>
            <a:spLocks noChangeShapeType="1"/>
          </p:cNvSpPr>
          <p:nvPr/>
        </p:nvSpPr>
        <p:spPr bwMode="auto">
          <a:xfrm flipH="1">
            <a:off x="6578750" y="4464323"/>
            <a:ext cx="331787" cy="323850"/>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6" name="Line 15"/>
          <p:cNvSpPr>
            <a:spLocks noChangeShapeType="1"/>
          </p:cNvSpPr>
          <p:nvPr/>
        </p:nvSpPr>
        <p:spPr bwMode="auto">
          <a:xfrm flipH="1">
            <a:off x="6017546" y="3716610"/>
            <a:ext cx="331788" cy="325438"/>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7" name="Line 16"/>
          <p:cNvSpPr>
            <a:spLocks noChangeShapeType="1"/>
          </p:cNvSpPr>
          <p:nvPr/>
        </p:nvSpPr>
        <p:spPr bwMode="auto">
          <a:xfrm>
            <a:off x="8478987" y="3621361"/>
            <a:ext cx="327025" cy="323850"/>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8" name="Oval 20"/>
          <p:cNvSpPr>
            <a:spLocks noChangeArrowheads="1"/>
          </p:cNvSpPr>
          <p:nvPr/>
        </p:nvSpPr>
        <p:spPr bwMode="auto">
          <a:xfrm>
            <a:off x="6321575" y="3322969"/>
            <a:ext cx="430019" cy="460317"/>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B</a:t>
            </a:r>
          </a:p>
        </p:txBody>
      </p:sp>
      <p:sp>
        <p:nvSpPr>
          <p:cNvPr id="39" name="Oval 21"/>
          <p:cNvSpPr>
            <a:spLocks noChangeArrowheads="1"/>
          </p:cNvSpPr>
          <p:nvPr/>
        </p:nvSpPr>
        <p:spPr bwMode="auto">
          <a:xfrm>
            <a:off x="7139137" y="2670448"/>
            <a:ext cx="423863" cy="3810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dirty="0">
                <a:solidFill>
                  <a:srgbClr val="FFFF00"/>
                </a:solidFill>
                <a:latin typeface="Times New Roman" pitchFamily="18" charset="0"/>
              </a:rPr>
              <a:t>A</a:t>
            </a:r>
          </a:p>
        </p:txBody>
      </p:sp>
      <p:sp>
        <p:nvSpPr>
          <p:cNvPr id="40" name="Oval 22"/>
          <p:cNvSpPr>
            <a:spLocks noChangeArrowheads="1"/>
          </p:cNvSpPr>
          <p:nvPr/>
        </p:nvSpPr>
        <p:spPr bwMode="auto">
          <a:xfrm>
            <a:off x="8038454" y="3280048"/>
            <a:ext cx="472282" cy="4699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dirty="0">
                <a:solidFill>
                  <a:srgbClr val="FFFF00"/>
                </a:solidFill>
                <a:latin typeface="Times New Roman" pitchFamily="18" charset="0"/>
              </a:rPr>
              <a:t>C</a:t>
            </a:r>
          </a:p>
        </p:txBody>
      </p:sp>
      <p:sp>
        <p:nvSpPr>
          <p:cNvPr id="41" name="Oval 23"/>
          <p:cNvSpPr>
            <a:spLocks noChangeArrowheads="1"/>
          </p:cNvSpPr>
          <p:nvPr/>
        </p:nvSpPr>
        <p:spPr bwMode="auto">
          <a:xfrm>
            <a:off x="6834336" y="4070623"/>
            <a:ext cx="457199" cy="3937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E</a:t>
            </a:r>
          </a:p>
        </p:txBody>
      </p:sp>
      <p:sp>
        <p:nvSpPr>
          <p:cNvPr id="42" name="Oval 24"/>
          <p:cNvSpPr>
            <a:spLocks noChangeArrowheads="1"/>
          </p:cNvSpPr>
          <p:nvPr/>
        </p:nvSpPr>
        <p:spPr bwMode="auto">
          <a:xfrm>
            <a:off x="5629254" y="4042048"/>
            <a:ext cx="443082" cy="422275"/>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D</a:t>
            </a:r>
          </a:p>
        </p:txBody>
      </p:sp>
      <p:sp>
        <p:nvSpPr>
          <p:cNvPr id="43" name="Oval 25"/>
          <p:cNvSpPr>
            <a:spLocks noChangeArrowheads="1"/>
          </p:cNvSpPr>
          <p:nvPr/>
        </p:nvSpPr>
        <p:spPr bwMode="auto">
          <a:xfrm>
            <a:off x="6349334" y="4804048"/>
            <a:ext cx="408802" cy="3810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G</a:t>
            </a:r>
          </a:p>
        </p:txBody>
      </p:sp>
      <p:sp>
        <p:nvSpPr>
          <p:cNvPr id="44" name="Oval 26"/>
          <p:cNvSpPr>
            <a:spLocks noChangeArrowheads="1"/>
          </p:cNvSpPr>
          <p:nvPr/>
        </p:nvSpPr>
        <p:spPr bwMode="auto">
          <a:xfrm>
            <a:off x="8642498" y="3965848"/>
            <a:ext cx="477838" cy="3810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dirty="0">
                <a:solidFill>
                  <a:srgbClr val="FFFF00"/>
                </a:solidFill>
                <a:latin typeface="Times New Roman" pitchFamily="18" charset="0"/>
              </a:rPr>
              <a:t>F</a:t>
            </a:r>
          </a:p>
        </p:txBody>
      </p:sp>
      <p:sp>
        <p:nvSpPr>
          <p:cNvPr id="45" name="Line 27"/>
          <p:cNvSpPr>
            <a:spLocks noChangeShapeType="1"/>
          </p:cNvSpPr>
          <p:nvPr/>
        </p:nvSpPr>
        <p:spPr bwMode="auto">
          <a:xfrm>
            <a:off x="6910536" y="2441848"/>
            <a:ext cx="381000" cy="228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rgbClr val="FFFF00"/>
              </a:solidFill>
            </a:endParaRPr>
          </a:p>
        </p:txBody>
      </p:sp>
      <p:sp>
        <p:nvSpPr>
          <p:cNvPr id="46" name="Text Box 28"/>
          <p:cNvSpPr txBox="1">
            <a:spLocks noChangeArrowheads="1"/>
          </p:cNvSpPr>
          <p:nvPr/>
        </p:nvSpPr>
        <p:spPr bwMode="auto">
          <a:xfrm>
            <a:off x="6224736" y="2060848"/>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root</a:t>
            </a:r>
          </a:p>
        </p:txBody>
      </p:sp>
      <p:sp>
        <p:nvSpPr>
          <p:cNvPr id="47" name="Text Box 33"/>
          <p:cNvSpPr txBox="1">
            <a:spLocks noChangeArrowheads="1"/>
          </p:cNvSpPr>
          <p:nvPr/>
        </p:nvSpPr>
        <p:spPr bwMode="auto">
          <a:xfrm>
            <a:off x="4883225" y="5301208"/>
            <a:ext cx="216354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zh-CN" altLang="en-US" sz="2400" dirty="0">
                <a:latin typeface="微软雅黑" pitchFamily="34" charset="-122"/>
                <a:ea typeface="微软雅黑" pitchFamily="34" charset="-122"/>
                <a:cs typeface="经典粗黑简" pitchFamily="49" charset="-122"/>
              </a:rPr>
              <a:t>先序遍历序列：</a:t>
            </a:r>
          </a:p>
        </p:txBody>
      </p:sp>
      <p:sp>
        <p:nvSpPr>
          <p:cNvPr id="48" name="Text Box 19"/>
          <p:cNvSpPr txBox="1">
            <a:spLocks noChangeArrowheads="1"/>
          </p:cNvSpPr>
          <p:nvPr/>
        </p:nvSpPr>
        <p:spPr bwMode="auto">
          <a:xfrm>
            <a:off x="6940624"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A</a:t>
            </a:r>
          </a:p>
        </p:txBody>
      </p:sp>
      <p:sp>
        <p:nvSpPr>
          <p:cNvPr id="49" name="Text Box 20"/>
          <p:cNvSpPr txBox="1">
            <a:spLocks noChangeArrowheads="1"/>
          </p:cNvSpPr>
          <p:nvPr/>
        </p:nvSpPr>
        <p:spPr bwMode="auto">
          <a:xfrm>
            <a:off x="7321624"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B</a:t>
            </a:r>
          </a:p>
        </p:txBody>
      </p:sp>
      <p:sp>
        <p:nvSpPr>
          <p:cNvPr id="50" name="Text Box 21"/>
          <p:cNvSpPr txBox="1">
            <a:spLocks noChangeArrowheads="1"/>
          </p:cNvSpPr>
          <p:nvPr/>
        </p:nvSpPr>
        <p:spPr bwMode="auto">
          <a:xfrm>
            <a:off x="7702624"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D</a:t>
            </a:r>
          </a:p>
        </p:txBody>
      </p:sp>
      <p:sp>
        <p:nvSpPr>
          <p:cNvPr id="51" name="Text Box 22"/>
          <p:cNvSpPr txBox="1">
            <a:spLocks noChangeArrowheads="1"/>
          </p:cNvSpPr>
          <p:nvPr/>
        </p:nvSpPr>
        <p:spPr bwMode="auto">
          <a:xfrm>
            <a:off x="8159824"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E</a:t>
            </a:r>
          </a:p>
        </p:txBody>
      </p:sp>
      <p:sp>
        <p:nvSpPr>
          <p:cNvPr id="52" name="Text Box 23"/>
          <p:cNvSpPr txBox="1">
            <a:spLocks noChangeArrowheads="1"/>
          </p:cNvSpPr>
          <p:nvPr/>
        </p:nvSpPr>
        <p:spPr bwMode="auto">
          <a:xfrm>
            <a:off x="8617024"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G</a:t>
            </a:r>
          </a:p>
        </p:txBody>
      </p:sp>
      <p:sp>
        <p:nvSpPr>
          <p:cNvPr id="53" name="Text Box 25"/>
          <p:cNvSpPr txBox="1">
            <a:spLocks noChangeArrowheads="1"/>
          </p:cNvSpPr>
          <p:nvPr/>
        </p:nvSpPr>
        <p:spPr bwMode="auto">
          <a:xfrm>
            <a:off x="9074224"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C</a:t>
            </a:r>
          </a:p>
        </p:txBody>
      </p:sp>
      <p:sp>
        <p:nvSpPr>
          <p:cNvPr id="54" name="Text Box 29"/>
          <p:cNvSpPr txBox="1">
            <a:spLocks noChangeArrowheads="1"/>
          </p:cNvSpPr>
          <p:nvPr/>
        </p:nvSpPr>
        <p:spPr bwMode="auto">
          <a:xfrm>
            <a:off x="9531424"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F</a:t>
            </a:r>
          </a:p>
        </p:txBody>
      </p:sp>
      <p:sp>
        <p:nvSpPr>
          <p:cNvPr id="56"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先序遍历</a:t>
            </a:r>
          </a:p>
        </p:txBody>
      </p:sp>
      <p:sp>
        <p:nvSpPr>
          <p:cNvPr id="2" name="矩形 1">
            <a:extLst>
              <a:ext uri="{FF2B5EF4-FFF2-40B4-BE49-F238E27FC236}">
                <a16:creationId xmlns:a16="http://schemas.microsoft.com/office/drawing/2014/main" xmlns="" id="{05866FB8-53F8-3808-214D-04656E5B996F}"/>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3" name="Rectangle 2">
            <a:extLst>
              <a:ext uri="{FF2B5EF4-FFF2-40B4-BE49-F238E27FC236}">
                <a16:creationId xmlns:a16="http://schemas.microsoft.com/office/drawing/2014/main" xmlns="" id="{170939D5-C205-A218-10F8-4E4595EBC22E}"/>
              </a:ext>
            </a:extLst>
          </p:cNvPr>
          <p:cNvSpPr txBox="1">
            <a:spLocks noChangeArrowheads="1"/>
          </p:cNvSpPr>
          <p:nvPr/>
        </p:nvSpPr>
        <p:spPr>
          <a:xfrm>
            <a:off x="79920" y="836712"/>
            <a:ext cx="46479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7.5.1 </a:t>
            </a:r>
            <a:r>
              <a:rPr lang="zh-CN" altLang="en-US" dirty="0"/>
              <a:t>二叉树遍历的概念</a:t>
            </a:r>
          </a:p>
        </p:txBody>
      </p:sp>
      <p:cxnSp>
        <p:nvCxnSpPr>
          <p:cNvPr id="4" name="直接连接符 3">
            <a:extLst>
              <a:ext uri="{FF2B5EF4-FFF2-40B4-BE49-F238E27FC236}">
                <a16:creationId xmlns:a16="http://schemas.microsoft.com/office/drawing/2014/main" xmlns="" id="{FB65055A-D5AC-DB57-D8B0-1367A0F496B7}"/>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408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P spid="50" grpId="0"/>
      <p:bldP spid="51" grpId="0"/>
      <p:bldP spid="52" grpId="0"/>
      <p:bldP spid="53" grpId="0"/>
      <p:bldP spid="5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Oval 4"/>
          <p:cNvSpPr>
            <a:spLocks noChangeArrowheads="1"/>
          </p:cNvSpPr>
          <p:nvPr/>
        </p:nvSpPr>
        <p:spPr bwMode="auto">
          <a:xfrm>
            <a:off x="5542936" y="3147788"/>
            <a:ext cx="838200" cy="685800"/>
          </a:xfrm>
          <a:prstGeom prst="ellipse">
            <a:avLst/>
          </a:prstGeom>
          <a:solidFill>
            <a:srgbClr val="FFCC99"/>
          </a:solidFill>
          <a:ln w="9525">
            <a:solidFill>
              <a:schemeClr val="tx1"/>
            </a:solidFill>
            <a:round/>
            <a:headEnd/>
            <a:tailEnd/>
          </a:ln>
        </p:spPr>
        <p:txBody>
          <a:bodyPr wrap="none" anchor="ctr"/>
          <a:lstStyle/>
          <a:p>
            <a:pPr algn="ctr">
              <a:lnSpc>
                <a:spcPct val="90000"/>
              </a:lnSpc>
              <a:buClrTx/>
              <a:buSzTx/>
              <a:buFont typeface="Wingdings" pitchFamily="2" charset="2"/>
              <a:buNone/>
            </a:pPr>
            <a:r>
              <a:rPr lang="en-US" altLang="zh-CN" sz="2400" dirty="0">
                <a:latin typeface="Times New Roman" pitchFamily="18" charset="0"/>
              </a:rPr>
              <a:t>D</a:t>
            </a:r>
          </a:p>
        </p:txBody>
      </p:sp>
      <p:sp>
        <p:nvSpPr>
          <p:cNvPr id="103" name="AutoShape 5"/>
          <p:cNvSpPr>
            <a:spLocks noChangeArrowheads="1"/>
          </p:cNvSpPr>
          <p:nvPr/>
        </p:nvSpPr>
        <p:spPr bwMode="auto">
          <a:xfrm>
            <a:off x="4392253" y="4071752"/>
            <a:ext cx="1258193" cy="1013432"/>
          </a:xfrm>
          <a:prstGeom prst="triangle">
            <a:avLst>
              <a:gd name="adj" fmla="val 50000"/>
            </a:avLst>
          </a:prstGeom>
          <a:solidFill>
            <a:srgbClr val="FF000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L</a:t>
            </a:r>
          </a:p>
        </p:txBody>
      </p:sp>
      <p:sp>
        <p:nvSpPr>
          <p:cNvPr id="104" name="AutoShape 6"/>
          <p:cNvSpPr>
            <a:spLocks noChangeArrowheads="1"/>
          </p:cNvSpPr>
          <p:nvPr/>
        </p:nvSpPr>
        <p:spPr bwMode="auto">
          <a:xfrm>
            <a:off x="6337069" y="4026406"/>
            <a:ext cx="1254447" cy="1058778"/>
          </a:xfrm>
          <a:prstGeom prst="triangle">
            <a:avLst>
              <a:gd name="adj" fmla="val 50000"/>
            </a:avLst>
          </a:prstGeom>
          <a:solidFill>
            <a:srgbClr val="00B05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R</a:t>
            </a:r>
          </a:p>
        </p:txBody>
      </p:sp>
      <p:sp>
        <p:nvSpPr>
          <p:cNvPr id="105" name="Line 7"/>
          <p:cNvSpPr>
            <a:spLocks noChangeShapeType="1"/>
          </p:cNvSpPr>
          <p:nvPr/>
        </p:nvSpPr>
        <p:spPr bwMode="auto">
          <a:xfrm flipH="1">
            <a:off x="5021348" y="3647882"/>
            <a:ext cx="521587" cy="4238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Line 8"/>
          <p:cNvSpPr>
            <a:spLocks noChangeShapeType="1"/>
          </p:cNvSpPr>
          <p:nvPr/>
        </p:nvSpPr>
        <p:spPr bwMode="auto">
          <a:xfrm>
            <a:off x="6312025" y="3658624"/>
            <a:ext cx="652266" cy="3677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Text Box 9"/>
          <p:cNvSpPr txBox="1">
            <a:spLocks noChangeArrowheads="1"/>
          </p:cNvSpPr>
          <p:nvPr/>
        </p:nvSpPr>
        <p:spPr bwMode="auto">
          <a:xfrm>
            <a:off x="6447876" y="3278550"/>
            <a:ext cx="319318"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en-US" altLang="zh-CN" dirty="0"/>
              <a:t>2</a:t>
            </a:r>
            <a:endParaRPr lang="zh-CN" altLang="en-US" dirty="0"/>
          </a:p>
        </p:txBody>
      </p:sp>
      <p:sp>
        <p:nvSpPr>
          <p:cNvPr id="24"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中序遍历</a:t>
            </a:r>
          </a:p>
        </p:txBody>
      </p:sp>
      <p:sp>
        <p:nvSpPr>
          <p:cNvPr id="25" name="Text Box 9"/>
          <p:cNvSpPr txBox="1">
            <a:spLocks noChangeArrowheads="1"/>
          </p:cNvSpPr>
          <p:nvPr/>
        </p:nvSpPr>
        <p:spPr bwMode="auto">
          <a:xfrm>
            <a:off x="5490786" y="4509120"/>
            <a:ext cx="319318"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en-US" altLang="zh-CN" dirty="0"/>
              <a:t>1</a:t>
            </a:r>
            <a:endParaRPr lang="zh-CN" altLang="en-US" dirty="0"/>
          </a:p>
        </p:txBody>
      </p:sp>
      <p:sp>
        <p:nvSpPr>
          <p:cNvPr id="27" name="Text Box 9"/>
          <p:cNvSpPr txBox="1">
            <a:spLocks noChangeArrowheads="1"/>
          </p:cNvSpPr>
          <p:nvPr/>
        </p:nvSpPr>
        <p:spPr bwMode="auto">
          <a:xfrm>
            <a:off x="7532822" y="4490202"/>
            <a:ext cx="319318"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en-US" altLang="zh-CN" dirty="0"/>
              <a:t>3</a:t>
            </a:r>
            <a:endParaRPr lang="zh-CN" altLang="en-US" dirty="0"/>
          </a:p>
        </p:txBody>
      </p:sp>
      <p:sp>
        <p:nvSpPr>
          <p:cNvPr id="28" name="Rectangle 3"/>
          <p:cNvSpPr txBox="1">
            <a:spLocks noChangeArrowheads="1"/>
          </p:cNvSpPr>
          <p:nvPr/>
        </p:nvSpPr>
        <p:spPr>
          <a:xfrm>
            <a:off x="2351584" y="5373216"/>
            <a:ext cx="7632848" cy="533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en-US" altLang="zh-CN" sz="2400" dirty="0">
                <a:latin typeface="微软雅黑" pitchFamily="34" charset="-122"/>
                <a:ea typeface="微软雅黑" pitchFamily="34" charset="-122"/>
                <a:cs typeface="经典粗黑简" pitchFamily="49" charset="-122"/>
              </a:rPr>
              <a:t>LDR</a:t>
            </a:r>
            <a:r>
              <a:rPr kumimoji="1" lang="zh-CN" altLang="en-US" sz="2400" dirty="0">
                <a:latin typeface="微软雅黑" pitchFamily="34" charset="-122"/>
                <a:ea typeface="微软雅黑" pitchFamily="34" charset="-122"/>
                <a:cs typeface="经典粗黑简" pitchFamily="49" charset="-122"/>
              </a:rPr>
              <a:t>：中序遍历左子树、访问根结点、中序遍历右子树</a:t>
            </a:r>
          </a:p>
        </p:txBody>
      </p:sp>
      <p:sp>
        <p:nvSpPr>
          <p:cNvPr id="2" name="矩形 1">
            <a:extLst>
              <a:ext uri="{FF2B5EF4-FFF2-40B4-BE49-F238E27FC236}">
                <a16:creationId xmlns:a16="http://schemas.microsoft.com/office/drawing/2014/main" xmlns="" id="{C4DF634E-66B1-853B-7A8E-DACDC816783F}"/>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3" name="Rectangle 2">
            <a:extLst>
              <a:ext uri="{FF2B5EF4-FFF2-40B4-BE49-F238E27FC236}">
                <a16:creationId xmlns:a16="http://schemas.microsoft.com/office/drawing/2014/main" xmlns="" id="{749D9380-E23C-B35E-FEF3-8E1BACC1F1B4}"/>
              </a:ext>
            </a:extLst>
          </p:cNvPr>
          <p:cNvSpPr txBox="1">
            <a:spLocks noChangeArrowheads="1"/>
          </p:cNvSpPr>
          <p:nvPr/>
        </p:nvSpPr>
        <p:spPr>
          <a:xfrm>
            <a:off x="79920" y="836712"/>
            <a:ext cx="46479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7.5.1 </a:t>
            </a:r>
            <a:r>
              <a:rPr lang="zh-CN" altLang="en-US" dirty="0"/>
              <a:t>二叉树遍历的概念</a:t>
            </a:r>
          </a:p>
        </p:txBody>
      </p:sp>
      <p:cxnSp>
        <p:nvCxnSpPr>
          <p:cNvPr id="4" name="直接连接符 3">
            <a:extLst>
              <a:ext uri="{FF2B5EF4-FFF2-40B4-BE49-F238E27FC236}">
                <a16:creationId xmlns:a16="http://schemas.microsoft.com/office/drawing/2014/main" xmlns="" id="{843BB405-6660-0581-293B-B8DEB42160D7}"/>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84562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Line 11"/>
          <p:cNvSpPr>
            <a:spLocks noChangeShapeType="1"/>
          </p:cNvSpPr>
          <p:nvPr/>
        </p:nvSpPr>
        <p:spPr bwMode="auto">
          <a:xfrm flipH="1">
            <a:off x="6645425" y="2972073"/>
            <a:ext cx="523875" cy="388938"/>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3" name="Line 12"/>
          <p:cNvSpPr>
            <a:spLocks noChangeShapeType="1"/>
          </p:cNvSpPr>
          <p:nvPr/>
        </p:nvSpPr>
        <p:spPr bwMode="auto">
          <a:xfrm>
            <a:off x="7561412" y="2972074"/>
            <a:ext cx="523875" cy="385763"/>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4" name="Line 13"/>
          <p:cNvSpPr>
            <a:spLocks noChangeShapeType="1"/>
          </p:cNvSpPr>
          <p:nvPr/>
        </p:nvSpPr>
        <p:spPr bwMode="auto">
          <a:xfrm>
            <a:off x="6710512" y="3749948"/>
            <a:ext cx="327025" cy="325438"/>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5" name="Line 14"/>
          <p:cNvSpPr>
            <a:spLocks noChangeShapeType="1"/>
          </p:cNvSpPr>
          <p:nvPr/>
        </p:nvSpPr>
        <p:spPr bwMode="auto">
          <a:xfrm flipH="1">
            <a:off x="6578750" y="4464323"/>
            <a:ext cx="331787" cy="323850"/>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6" name="Line 15"/>
          <p:cNvSpPr>
            <a:spLocks noChangeShapeType="1"/>
          </p:cNvSpPr>
          <p:nvPr/>
        </p:nvSpPr>
        <p:spPr bwMode="auto">
          <a:xfrm flipH="1">
            <a:off x="6017546" y="3716610"/>
            <a:ext cx="331788" cy="325438"/>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7" name="Line 16"/>
          <p:cNvSpPr>
            <a:spLocks noChangeShapeType="1"/>
          </p:cNvSpPr>
          <p:nvPr/>
        </p:nvSpPr>
        <p:spPr bwMode="auto">
          <a:xfrm>
            <a:off x="8478987" y="3621361"/>
            <a:ext cx="327025" cy="323850"/>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8" name="Oval 20"/>
          <p:cNvSpPr>
            <a:spLocks noChangeArrowheads="1"/>
          </p:cNvSpPr>
          <p:nvPr/>
        </p:nvSpPr>
        <p:spPr bwMode="auto">
          <a:xfrm>
            <a:off x="6321575" y="3322969"/>
            <a:ext cx="430019" cy="460317"/>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B</a:t>
            </a:r>
          </a:p>
        </p:txBody>
      </p:sp>
      <p:sp>
        <p:nvSpPr>
          <p:cNvPr id="39" name="Oval 21"/>
          <p:cNvSpPr>
            <a:spLocks noChangeArrowheads="1"/>
          </p:cNvSpPr>
          <p:nvPr/>
        </p:nvSpPr>
        <p:spPr bwMode="auto">
          <a:xfrm>
            <a:off x="7139137" y="2670448"/>
            <a:ext cx="423863" cy="3810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dirty="0">
                <a:solidFill>
                  <a:srgbClr val="FFFF00"/>
                </a:solidFill>
                <a:latin typeface="Times New Roman" pitchFamily="18" charset="0"/>
              </a:rPr>
              <a:t>A</a:t>
            </a:r>
          </a:p>
        </p:txBody>
      </p:sp>
      <p:sp>
        <p:nvSpPr>
          <p:cNvPr id="40" name="Oval 22"/>
          <p:cNvSpPr>
            <a:spLocks noChangeArrowheads="1"/>
          </p:cNvSpPr>
          <p:nvPr/>
        </p:nvSpPr>
        <p:spPr bwMode="auto">
          <a:xfrm>
            <a:off x="8038454" y="3280048"/>
            <a:ext cx="472282" cy="4699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dirty="0">
                <a:solidFill>
                  <a:srgbClr val="FFFF00"/>
                </a:solidFill>
                <a:latin typeface="Times New Roman" pitchFamily="18" charset="0"/>
              </a:rPr>
              <a:t>C</a:t>
            </a:r>
          </a:p>
        </p:txBody>
      </p:sp>
      <p:sp>
        <p:nvSpPr>
          <p:cNvPr id="41" name="Oval 23"/>
          <p:cNvSpPr>
            <a:spLocks noChangeArrowheads="1"/>
          </p:cNvSpPr>
          <p:nvPr/>
        </p:nvSpPr>
        <p:spPr bwMode="auto">
          <a:xfrm>
            <a:off x="6834336" y="4070623"/>
            <a:ext cx="457199" cy="3937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E</a:t>
            </a:r>
          </a:p>
        </p:txBody>
      </p:sp>
      <p:sp>
        <p:nvSpPr>
          <p:cNvPr id="42" name="Oval 24"/>
          <p:cNvSpPr>
            <a:spLocks noChangeArrowheads="1"/>
          </p:cNvSpPr>
          <p:nvPr/>
        </p:nvSpPr>
        <p:spPr bwMode="auto">
          <a:xfrm>
            <a:off x="5629254" y="4042048"/>
            <a:ext cx="443082" cy="422275"/>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D</a:t>
            </a:r>
          </a:p>
        </p:txBody>
      </p:sp>
      <p:sp>
        <p:nvSpPr>
          <p:cNvPr id="43" name="Oval 25"/>
          <p:cNvSpPr>
            <a:spLocks noChangeArrowheads="1"/>
          </p:cNvSpPr>
          <p:nvPr/>
        </p:nvSpPr>
        <p:spPr bwMode="auto">
          <a:xfrm>
            <a:off x="6349334" y="4804048"/>
            <a:ext cx="408802" cy="3810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G</a:t>
            </a:r>
          </a:p>
        </p:txBody>
      </p:sp>
      <p:sp>
        <p:nvSpPr>
          <p:cNvPr id="44" name="Oval 26"/>
          <p:cNvSpPr>
            <a:spLocks noChangeArrowheads="1"/>
          </p:cNvSpPr>
          <p:nvPr/>
        </p:nvSpPr>
        <p:spPr bwMode="auto">
          <a:xfrm>
            <a:off x="8642498" y="3965848"/>
            <a:ext cx="477838" cy="3810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dirty="0">
                <a:solidFill>
                  <a:srgbClr val="FFFF00"/>
                </a:solidFill>
                <a:latin typeface="Times New Roman" pitchFamily="18" charset="0"/>
              </a:rPr>
              <a:t>F</a:t>
            </a:r>
          </a:p>
        </p:txBody>
      </p:sp>
      <p:sp>
        <p:nvSpPr>
          <p:cNvPr id="46" name="Text Box 28"/>
          <p:cNvSpPr txBox="1">
            <a:spLocks noChangeArrowheads="1"/>
          </p:cNvSpPr>
          <p:nvPr/>
        </p:nvSpPr>
        <p:spPr bwMode="auto">
          <a:xfrm>
            <a:off x="6224736" y="2060848"/>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root</a:t>
            </a:r>
          </a:p>
        </p:txBody>
      </p:sp>
      <p:sp>
        <p:nvSpPr>
          <p:cNvPr id="47" name="Text Box 33"/>
          <p:cNvSpPr txBox="1">
            <a:spLocks noChangeArrowheads="1"/>
          </p:cNvSpPr>
          <p:nvPr/>
        </p:nvSpPr>
        <p:spPr bwMode="auto">
          <a:xfrm>
            <a:off x="4883225" y="5301208"/>
            <a:ext cx="216354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zh-CN" altLang="en-US" sz="2400" dirty="0">
                <a:latin typeface="微软雅黑" pitchFamily="34" charset="-122"/>
                <a:ea typeface="微软雅黑" pitchFamily="34" charset="-122"/>
                <a:cs typeface="经典粗黑简" pitchFamily="49" charset="-122"/>
              </a:rPr>
              <a:t>中序遍历序列：</a:t>
            </a:r>
          </a:p>
        </p:txBody>
      </p:sp>
      <p:sp>
        <p:nvSpPr>
          <p:cNvPr id="56"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中序遍历</a:t>
            </a:r>
          </a:p>
        </p:txBody>
      </p:sp>
      <p:sp>
        <p:nvSpPr>
          <p:cNvPr id="57" name="Text Box 19"/>
          <p:cNvSpPr txBox="1">
            <a:spLocks noChangeArrowheads="1"/>
          </p:cNvSpPr>
          <p:nvPr/>
        </p:nvSpPr>
        <p:spPr bwMode="auto">
          <a:xfrm>
            <a:off x="7020589"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D</a:t>
            </a:r>
          </a:p>
        </p:txBody>
      </p:sp>
      <p:sp>
        <p:nvSpPr>
          <p:cNvPr id="58" name="Text Box 20"/>
          <p:cNvSpPr txBox="1">
            <a:spLocks noChangeArrowheads="1"/>
          </p:cNvSpPr>
          <p:nvPr/>
        </p:nvSpPr>
        <p:spPr bwMode="auto">
          <a:xfrm>
            <a:off x="7401589"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G</a:t>
            </a:r>
          </a:p>
        </p:txBody>
      </p:sp>
      <p:sp>
        <p:nvSpPr>
          <p:cNvPr id="59" name="Text Box 21"/>
          <p:cNvSpPr txBox="1">
            <a:spLocks noChangeArrowheads="1"/>
          </p:cNvSpPr>
          <p:nvPr/>
        </p:nvSpPr>
        <p:spPr bwMode="auto">
          <a:xfrm>
            <a:off x="7782589"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E</a:t>
            </a:r>
          </a:p>
        </p:txBody>
      </p:sp>
      <p:sp>
        <p:nvSpPr>
          <p:cNvPr id="60" name="Text Box 22"/>
          <p:cNvSpPr txBox="1">
            <a:spLocks noChangeArrowheads="1"/>
          </p:cNvSpPr>
          <p:nvPr/>
        </p:nvSpPr>
        <p:spPr bwMode="auto">
          <a:xfrm>
            <a:off x="8239789"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B</a:t>
            </a:r>
          </a:p>
        </p:txBody>
      </p:sp>
      <p:sp>
        <p:nvSpPr>
          <p:cNvPr id="61" name="Text Box 23"/>
          <p:cNvSpPr txBox="1">
            <a:spLocks noChangeArrowheads="1"/>
          </p:cNvSpPr>
          <p:nvPr/>
        </p:nvSpPr>
        <p:spPr bwMode="auto">
          <a:xfrm>
            <a:off x="8696989"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A</a:t>
            </a:r>
          </a:p>
        </p:txBody>
      </p:sp>
      <p:sp>
        <p:nvSpPr>
          <p:cNvPr id="62" name="Text Box 25"/>
          <p:cNvSpPr txBox="1">
            <a:spLocks noChangeArrowheads="1"/>
          </p:cNvSpPr>
          <p:nvPr/>
        </p:nvSpPr>
        <p:spPr bwMode="auto">
          <a:xfrm>
            <a:off x="9154189"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C</a:t>
            </a:r>
          </a:p>
        </p:txBody>
      </p:sp>
      <p:sp>
        <p:nvSpPr>
          <p:cNvPr id="63" name="Text Box 29"/>
          <p:cNvSpPr txBox="1">
            <a:spLocks noChangeArrowheads="1"/>
          </p:cNvSpPr>
          <p:nvPr/>
        </p:nvSpPr>
        <p:spPr bwMode="auto">
          <a:xfrm>
            <a:off x="9611389"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F</a:t>
            </a:r>
          </a:p>
        </p:txBody>
      </p:sp>
      <p:sp>
        <p:nvSpPr>
          <p:cNvPr id="2" name="矩形 1">
            <a:extLst>
              <a:ext uri="{FF2B5EF4-FFF2-40B4-BE49-F238E27FC236}">
                <a16:creationId xmlns:a16="http://schemas.microsoft.com/office/drawing/2014/main" xmlns="" id="{843E12EB-267F-B071-3FA6-6EE6767A1145}"/>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3" name="Rectangle 2">
            <a:extLst>
              <a:ext uri="{FF2B5EF4-FFF2-40B4-BE49-F238E27FC236}">
                <a16:creationId xmlns:a16="http://schemas.microsoft.com/office/drawing/2014/main" xmlns="" id="{786A15ED-6049-2CAC-A095-AC6E84F39781}"/>
              </a:ext>
            </a:extLst>
          </p:cNvPr>
          <p:cNvSpPr txBox="1">
            <a:spLocks noChangeArrowheads="1"/>
          </p:cNvSpPr>
          <p:nvPr/>
        </p:nvSpPr>
        <p:spPr>
          <a:xfrm>
            <a:off x="79920" y="836712"/>
            <a:ext cx="46479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7.5.1 </a:t>
            </a:r>
            <a:r>
              <a:rPr lang="zh-CN" altLang="en-US" dirty="0"/>
              <a:t>二叉树遍历的概念</a:t>
            </a:r>
          </a:p>
        </p:txBody>
      </p:sp>
      <p:cxnSp>
        <p:nvCxnSpPr>
          <p:cNvPr id="4" name="直接连接符 3">
            <a:extLst>
              <a:ext uri="{FF2B5EF4-FFF2-40B4-BE49-F238E27FC236}">
                <a16:creationId xmlns:a16="http://schemas.microsoft.com/office/drawing/2014/main" xmlns="" id="{19E28986-CA96-8B70-B74D-BFBDAD495520}"/>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558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7" grpId="0"/>
      <p:bldP spid="58" grpId="0"/>
      <p:bldP spid="59" grpId="0"/>
      <p:bldP spid="60" grpId="0"/>
      <p:bldP spid="61" grpId="0"/>
      <p:bldP spid="62" grpId="0"/>
      <p:bldP spid="6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Oval 4"/>
          <p:cNvSpPr>
            <a:spLocks noChangeArrowheads="1"/>
          </p:cNvSpPr>
          <p:nvPr/>
        </p:nvSpPr>
        <p:spPr bwMode="auto">
          <a:xfrm>
            <a:off x="5542936" y="3147788"/>
            <a:ext cx="838200" cy="685800"/>
          </a:xfrm>
          <a:prstGeom prst="ellipse">
            <a:avLst/>
          </a:prstGeom>
          <a:solidFill>
            <a:srgbClr val="FFCC99"/>
          </a:solidFill>
          <a:ln w="9525">
            <a:solidFill>
              <a:schemeClr val="tx1"/>
            </a:solidFill>
            <a:round/>
            <a:headEnd/>
            <a:tailEnd/>
          </a:ln>
        </p:spPr>
        <p:txBody>
          <a:bodyPr wrap="none" anchor="ctr"/>
          <a:lstStyle/>
          <a:p>
            <a:pPr algn="ctr">
              <a:lnSpc>
                <a:spcPct val="90000"/>
              </a:lnSpc>
              <a:buClrTx/>
              <a:buSzTx/>
              <a:buFont typeface="Wingdings" pitchFamily="2" charset="2"/>
              <a:buNone/>
            </a:pPr>
            <a:r>
              <a:rPr lang="en-US" altLang="zh-CN" sz="2400" dirty="0">
                <a:latin typeface="Times New Roman" pitchFamily="18" charset="0"/>
              </a:rPr>
              <a:t>D</a:t>
            </a:r>
          </a:p>
        </p:txBody>
      </p:sp>
      <p:sp>
        <p:nvSpPr>
          <p:cNvPr id="103" name="AutoShape 5"/>
          <p:cNvSpPr>
            <a:spLocks noChangeArrowheads="1"/>
          </p:cNvSpPr>
          <p:nvPr/>
        </p:nvSpPr>
        <p:spPr bwMode="auto">
          <a:xfrm>
            <a:off x="4392253" y="4071752"/>
            <a:ext cx="1258193" cy="1013432"/>
          </a:xfrm>
          <a:prstGeom prst="triangle">
            <a:avLst>
              <a:gd name="adj" fmla="val 50000"/>
            </a:avLst>
          </a:prstGeom>
          <a:solidFill>
            <a:srgbClr val="FF000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L</a:t>
            </a:r>
          </a:p>
        </p:txBody>
      </p:sp>
      <p:sp>
        <p:nvSpPr>
          <p:cNvPr id="104" name="AutoShape 6"/>
          <p:cNvSpPr>
            <a:spLocks noChangeArrowheads="1"/>
          </p:cNvSpPr>
          <p:nvPr/>
        </p:nvSpPr>
        <p:spPr bwMode="auto">
          <a:xfrm>
            <a:off x="6337069" y="4026406"/>
            <a:ext cx="1254447" cy="1058778"/>
          </a:xfrm>
          <a:prstGeom prst="triangle">
            <a:avLst>
              <a:gd name="adj" fmla="val 50000"/>
            </a:avLst>
          </a:prstGeom>
          <a:solidFill>
            <a:srgbClr val="00B05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R</a:t>
            </a:r>
          </a:p>
        </p:txBody>
      </p:sp>
      <p:sp>
        <p:nvSpPr>
          <p:cNvPr id="105" name="Line 7"/>
          <p:cNvSpPr>
            <a:spLocks noChangeShapeType="1"/>
          </p:cNvSpPr>
          <p:nvPr/>
        </p:nvSpPr>
        <p:spPr bwMode="auto">
          <a:xfrm flipH="1">
            <a:off x="5021348" y="3647882"/>
            <a:ext cx="521587" cy="42387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Line 8"/>
          <p:cNvSpPr>
            <a:spLocks noChangeShapeType="1"/>
          </p:cNvSpPr>
          <p:nvPr/>
        </p:nvSpPr>
        <p:spPr bwMode="auto">
          <a:xfrm>
            <a:off x="6312025" y="3658624"/>
            <a:ext cx="652266" cy="3677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Text Box 9"/>
          <p:cNvSpPr txBox="1">
            <a:spLocks noChangeArrowheads="1"/>
          </p:cNvSpPr>
          <p:nvPr/>
        </p:nvSpPr>
        <p:spPr bwMode="auto">
          <a:xfrm>
            <a:off x="6447876" y="3278550"/>
            <a:ext cx="319318"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en-US" altLang="zh-CN" dirty="0"/>
              <a:t>3</a:t>
            </a:r>
            <a:endParaRPr lang="zh-CN" altLang="en-US" dirty="0"/>
          </a:p>
        </p:txBody>
      </p:sp>
      <p:sp>
        <p:nvSpPr>
          <p:cNvPr id="24"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后序遍历</a:t>
            </a:r>
          </a:p>
        </p:txBody>
      </p:sp>
      <p:sp>
        <p:nvSpPr>
          <p:cNvPr id="25" name="Text Box 9"/>
          <p:cNvSpPr txBox="1">
            <a:spLocks noChangeArrowheads="1"/>
          </p:cNvSpPr>
          <p:nvPr/>
        </p:nvSpPr>
        <p:spPr bwMode="auto">
          <a:xfrm>
            <a:off x="5490786" y="4509120"/>
            <a:ext cx="319318"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en-US" altLang="zh-CN" dirty="0"/>
              <a:t>1</a:t>
            </a:r>
            <a:endParaRPr lang="zh-CN" altLang="en-US" dirty="0"/>
          </a:p>
        </p:txBody>
      </p:sp>
      <p:sp>
        <p:nvSpPr>
          <p:cNvPr id="27" name="Text Box 9"/>
          <p:cNvSpPr txBox="1">
            <a:spLocks noChangeArrowheads="1"/>
          </p:cNvSpPr>
          <p:nvPr/>
        </p:nvSpPr>
        <p:spPr bwMode="auto">
          <a:xfrm>
            <a:off x="7532822" y="4490202"/>
            <a:ext cx="319318"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en-US" altLang="zh-CN" dirty="0"/>
              <a:t>2</a:t>
            </a:r>
            <a:endParaRPr lang="zh-CN" altLang="en-US" dirty="0"/>
          </a:p>
        </p:txBody>
      </p:sp>
      <p:sp>
        <p:nvSpPr>
          <p:cNvPr id="28" name="Rectangle 3"/>
          <p:cNvSpPr txBox="1">
            <a:spLocks noChangeArrowheads="1"/>
          </p:cNvSpPr>
          <p:nvPr/>
        </p:nvSpPr>
        <p:spPr>
          <a:xfrm>
            <a:off x="2351584" y="5373216"/>
            <a:ext cx="7632848" cy="533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en-US" altLang="zh-CN" sz="2400" dirty="0">
                <a:latin typeface="微软雅黑" pitchFamily="34" charset="-122"/>
                <a:ea typeface="微软雅黑" pitchFamily="34" charset="-122"/>
                <a:cs typeface="经典粗黑简" pitchFamily="49" charset="-122"/>
              </a:rPr>
              <a:t>LRD</a:t>
            </a:r>
            <a:r>
              <a:rPr kumimoji="1" lang="zh-CN" altLang="en-US" sz="2400" dirty="0">
                <a:latin typeface="微软雅黑" pitchFamily="34" charset="-122"/>
                <a:ea typeface="微软雅黑" pitchFamily="34" charset="-122"/>
                <a:cs typeface="经典粗黑简" pitchFamily="49" charset="-122"/>
              </a:rPr>
              <a:t>：后序遍历左子树、后序遍历右子树、访问根结点</a:t>
            </a:r>
          </a:p>
        </p:txBody>
      </p:sp>
      <p:sp>
        <p:nvSpPr>
          <p:cNvPr id="2" name="矩形 1">
            <a:extLst>
              <a:ext uri="{FF2B5EF4-FFF2-40B4-BE49-F238E27FC236}">
                <a16:creationId xmlns:a16="http://schemas.microsoft.com/office/drawing/2014/main" xmlns="" id="{1C7F494B-67A0-9FF5-EF78-03589E36548A}"/>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3" name="Rectangle 2">
            <a:extLst>
              <a:ext uri="{FF2B5EF4-FFF2-40B4-BE49-F238E27FC236}">
                <a16:creationId xmlns:a16="http://schemas.microsoft.com/office/drawing/2014/main" xmlns="" id="{C58E478B-3398-A2CE-95A4-EC5E415D8B57}"/>
              </a:ext>
            </a:extLst>
          </p:cNvPr>
          <p:cNvSpPr txBox="1">
            <a:spLocks noChangeArrowheads="1"/>
          </p:cNvSpPr>
          <p:nvPr/>
        </p:nvSpPr>
        <p:spPr>
          <a:xfrm>
            <a:off x="79920" y="836712"/>
            <a:ext cx="46479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7.5.1 </a:t>
            </a:r>
            <a:r>
              <a:rPr lang="zh-CN" altLang="en-US" dirty="0"/>
              <a:t>二叉树遍历的概念</a:t>
            </a:r>
          </a:p>
        </p:txBody>
      </p:sp>
      <p:cxnSp>
        <p:nvCxnSpPr>
          <p:cNvPr id="4" name="直接连接符 3">
            <a:extLst>
              <a:ext uri="{FF2B5EF4-FFF2-40B4-BE49-F238E27FC236}">
                <a16:creationId xmlns:a16="http://schemas.microsoft.com/office/drawing/2014/main" xmlns="" id="{9923A9E1-6533-18B5-B16B-63D0DEA3ECCF}"/>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0777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Line 11"/>
          <p:cNvSpPr>
            <a:spLocks noChangeShapeType="1"/>
          </p:cNvSpPr>
          <p:nvPr/>
        </p:nvSpPr>
        <p:spPr bwMode="auto">
          <a:xfrm flipH="1">
            <a:off x="6645425" y="2972073"/>
            <a:ext cx="523875" cy="388938"/>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3" name="Line 12"/>
          <p:cNvSpPr>
            <a:spLocks noChangeShapeType="1"/>
          </p:cNvSpPr>
          <p:nvPr/>
        </p:nvSpPr>
        <p:spPr bwMode="auto">
          <a:xfrm>
            <a:off x="7561412" y="2972074"/>
            <a:ext cx="523875" cy="385763"/>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4" name="Line 13"/>
          <p:cNvSpPr>
            <a:spLocks noChangeShapeType="1"/>
          </p:cNvSpPr>
          <p:nvPr/>
        </p:nvSpPr>
        <p:spPr bwMode="auto">
          <a:xfrm>
            <a:off x="6710512" y="3749948"/>
            <a:ext cx="327025" cy="325438"/>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5" name="Line 14"/>
          <p:cNvSpPr>
            <a:spLocks noChangeShapeType="1"/>
          </p:cNvSpPr>
          <p:nvPr/>
        </p:nvSpPr>
        <p:spPr bwMode="auto">
          <a:xfrm flipH="1">
            <a:off x="6578750" y="4464323"/>
            <a:ext cx="331787" cy="323850"/>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6" name="Line 15"/>
          <p:cNvSpPr>
            <a:spLocks noChangeShapeType="1"/>
          </p:cNvSpPr>
          <p:nvPr/>
        </p:nvSpPr>
        <p:spPr bwMode="auto">
          <a:xfrm flipH="1">
            <a:off x="6017546" y="3716610"/>
            <a:ext cx="331788" cy="325438"/>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7" name="Line 16"/>
          <p:cNvSpPr>
            <a:spLocks noChangeShapeType="1"/>
          </p:cNvSpPr>
          <p:nvPr/>
        </p:nvSpPr>
        <p:spPr bwMode="auto">
          <a:xfrm>
            <a:off x="8478987" y="3621361"/>
            <a:ext cx="327025" cy="323850"/>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rgbClr val="FFFF00"/>
              </a:solidFill>
            </a:endParaRPr>
          </a:p>
        </p:txBody>
      </p:sp>
      <p:sp>
        <p:nvSpPr>
          <p:cNvPr id="38" name="Oval 20"/>
          <p:cNvSpPr>
            <a:spLocks noChangeArrowheads="1"/>
          </p:cNvSpPr>
          <p:nvPr/>
        </p:nvSpPr>
        <p:spPr bwMode="auto">
          <a:xfrm>
            <a:off x="6321575" y="3322969"/>
            <a:ext cx="430019" cy="460317"/>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B</a:t>
            </a:r>
          </a:p>
        </p:txBody>
      </p:sp>
      <p:sp>
        <p:nvSpPr>
          <p:cNvPr id="39" name="Oval 21"/>
          <p:cNvSpPr>
            <a:spLocks noChangeArrowheads="1"/>
          </p:cNvSpPr>
          <p:nvPr/>
        </p:nvSpPr>
        <p:spPr bwMode="auto">
          <a:xfrm>
            <a:off x="7139137" y="2670448"/>
            <a:ext cx="423863" cy="3810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dirty="0">
                <a:solidFill>
                  <a:srgbClr val="FFFF00"/>
                </a:solidFill>
                <a:latin typeface="Times New Roman" pitchFamily="18" charset="0"/>
              </a:rPr>
              <a:t>A</a:t>
            </a:r>
          </a:p>
        </p:txBody>
      </p:sp>
      <p:sp>
        <p:nvSpPr>
          <p:cNvPr id="40" name="Oval 22"/>
          <p:cNvSpPr>
            <a:spLocks noChangeArrowheads="1"/>
          </p:cNvSpPr>
          <p:nvPr/>
        </p:nvSpPr>
        <p:spPr bwMode="auto">
          <a:xfrm>
            <a:off x="8038454" y="3280048"/>
            <a:ext cx="472282" cy="4699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dirty="0">
                <a:solidFill>
                  <a:srgbClr val="FFFF00"/>
                </a:solidFill>
                <a:latin typeface="Times New Roman" pitchFamily="18" charset="0"/>
              </a:rPr>
              <a:t>C</a:t>
            </a:r>
          </a:p>
        </p:txBody>
      </p:sp>
      <p:sp>
        <p:nvSpPr>
          <p:cNvPr id="41" name="Oval 23"/>
          <p:cNvSpPr>
            <a:spLocks noChangeArrowheads="1"/>
          </p:cNvSpPr>
          <p:nvPr/>
        </p:nvSpPr>
        <p:spPr bwMode="auto">
          <a:xfrm>
            <a:off x="6834336" y="4070623"/>
            <a:ext cx="457199" cy="3937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E</a:t>
            </a:r>
          </a:p>
        </p:txBody>
      </p:sp>
      <p:sp>
        <p:nvSpPr>
          <p:cNvPr id="42" name="Oval 24"/>
          <p:cNvSpPr>
            <a:spLocks noChangeArrowheads="1"/>
          </p:cNvSpPr>
          <p:nvPr/>
        </p:nvSpPr>
        <p:spPr bwMode="auto">
          <a:xfrm>
            <a:off x="5629254" y="4042048"/>
            <a:ext cx="443082" cy="422275"/>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D</a:t>
            </a:r>
          </a:p>
        </p:txBody>
      </p:sp>
      <p:sp>
        <p:nvSpPr>
          <p:cNvPr id="43" name="Oval 25"/>
          <p:cNvSpPr>
            <a:spLocks noChangeArrowheads="1"/>
          </p:cNvSpPr>
          <p:nvPr/>
        </p:nvSpPr>
        <p:spPr bwMode="auto">
          <a:xfrm>
            <a:off x="6349334" y="4804048"/>
            <a:ext cx="408802" cy="3810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a:solidFill>
                  <a:srgbClr val="FFFF00"/>
                </a:solidFill>
                <a:latin typeface="Times New Roman" pitchFamily="18" charset="0"/>
              </a:rPr>
              <a:t>G</a:t>
            </a:r>
          </a:p>
        </p:txBody>
      </p:sp>
      <p:sp>
        <p:nvSpPr>
          <p:cNvPr id="44" name="Oval 26"/>
          <p:cNvSpPr>
            <a:spLocks noChangeArrowheads="1"/>
          </p:cNvSpPr>
          <p:nvPr/>
        </p:nvSpPr>
        <p:spPr bwMode="auto">
          <a:xfrm>
            <a:off x="8642498" y="3965848"/>
            <a:ext cx="477838" cy="381000"/>
          </a:xfrm>
          <a:prstGeom prst="ellipse">
            <a:avLst/>
          </a:prstGeom>
          <a:solidFill>
            <a:srgbClr val="FF0000"/>
          </a:solidFill>
          <a:ln w="9525">
            <a:solidFill>
              <a:schemeClr val="tx1"/>
            </a:solidFill>
            <a:round/>
            <a:headEnd/>
            <a:tailEnd/>
          </a:ln>
        </p:spPr>
        <p:txBody>
          <a:bodyPr wrap="none" anchor="ctr"/>
          <a:lstStyle/>
          <a:p>
            <a:pPr algn="ctr">
              <a:spcBef>
                <a:spcPct val="0"/>
              </a:spcBef>
              <a:buClrTx/>
              <a:buSzTx/>
              <a:buFontTx/>
              <a:buNone/>
            </a:pPr>
            <a:r>
              <a:rPr lang="en-US" altLang="zh-CN" sz="2400" b="1" dirty="0">
                <a:solidFill>
                  <a:srgbClr val="FFFF00"/>
                </a:solidFill>
                <a:latin typeface="Times New Roman" pitchFamily="18" charset="0"/>
              </a:rPr>
              <a:t>F</a:t>
            </a:r>
          </a:p>
        </p:txBody>
      </p:sp>
      <p:sp>
        <p:nvSpPr>
          <p:cNvPr id="45" name="Line 27"/>
          <p:cNvSpPr>
            <a:spLocks noChangeShapeType="1"/>
          </p:cNvSpPr>
          <p:nvPr/>
        </p:nvSpPr>
        <p:spPr bwMode="auto">
          <a:xfrm>
            <a:off x="6910536" y="2441848"/>
            <a:ext cx="381000" cy="228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rgbClr val="FFFF00"/>
              </a:solidFill>
            </a:endParaRPr>
          </a:p>
        </p:txBody>
      </p:sp>
      <p:sp>
        <p:nvSpPr>
          <p:cNvPr id="46" name="Text Box 28"/>
          <p:cNvSpPr txBox="1">
            <a:spLocks noChangeArrowheads="1"/>
          </p:cNvSpPr>
          <p:nvPr/>
        </p:nvSpPr>
        <p:spPr bwMode="auto">
          <a:xfrm>
            <a:off x="6224736" y="2060848"/>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root</a:t>
            </a:r>
          </a:p>
        </p:txBody>
      </p:sp>
      <p:sp>
        <p:nvSpPr>
          <p:cNvPr id="47" name="Text Box 33"/>
          <p:cNvSpPr txBox="1">
            <a:spLocks noChangeArrowheads="1"/>
          </p:cNvSpPr>
          <p:nvPr/>
        </p:nvSpPr>
        <p:spPr bwMode="auto">
          <a:xfrm>
            <a:off x="4883225" y="5301208"/>
            <a:ext cx="216354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zh-CN" altLang="en-US" sz="2400" dirty="0">
                <a:latin typeface="微软雅黑" pitchFamily="34" charset="-122"/>
                <a:ea typeface="微软雅黑" pitchFamily="34" charset="-122"/>
                <a:cs typeface="经典粗黑简" pitchFamily="49" charset="-122"/>
              </a:rPr>
              <a:t>后序遍历序列：</a:t>
            </a:r>
          </a:p>
        </p:txBody>
      </p:sp>
      <p:sp>
        <p:nvSpPr>
          <p:cNvPr id="56"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后序遍历</a:t>
            </a:r>
          </a:p>
        </p:txBody>
      </p:sp>
      <p:sp>
        <p:nvSpPr>
          <p:cNvPr id="57" name="Text Box 19"/>
          <p:cNvSpPr txBox="1">
            <a:spLocks noChangeArrowheads="1"/>
          </p:cNvSpPr>
          <p:nvPr/>
        </p:nvSpPr>
        <p:spPr bwMode="auto">
          <a:xfrm>
            <a:off x="7055395"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D</a:t>
            </a:r>
          </a:p>
        </p:txBody>
      </p:sp>
      <p:sp>
        <p:nvSpPr>
          <p:cNvPr id="58" name="Text Box 20"/>
          <p:cNvSpPr txBox="1">
            <a:spLocks noChangeArrowheads="1"/>
          </p:cNvSpPr>
          <p:nvPr/>
        </p:nvSpPr>
        <p:spPr bwMode="auto">
          <a:xfrm>
            <a:off x="7436395"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G</a:t>
            </a:r>
          </a:p>
        </p:txBody>
      </p:sp>
      <p:sp>
        <p:nvSpPr>
          <p:cNvPr id="59" name="Text Box 21"/>
          <p:cNvSpPr txBox="1">
            <a:spLocks noChangeArrowheads="1"/>
          </p:cNvSpPr>
          <p:nvPr/>
        </p:nvSpPr>
        <p:spPr bwMode="auto">
          <a:xfrm>
            <a:off x="7817395"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E</a:t>
            </a:r>
          </a:p>
        </p:txBody>
      </p:sp>
      <p:sp>
        <p:nvSpPr>
          <p:cNvPr id="60" name="Text Box 22"/>
          <p:cNvSpPr txBox="1">
            <a:spLocks noChangeArrowheads="1"/>
          </p:cNvSpPr>
          <p:nvPr/>
        </p:nvSpPr>
        <p:spPr bwMode="auto">
          <a:xfrm>
            <a:off x="8274595"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B</a:t>
            </a:r>
          </a:p>
        </p:txBody>
      </p:sp>
      <p:sp>
        <p:nvSpPr>
          <p:cNvPr id="61" name="Text Box 23"/>
          <p:cNvSpPr txBox="1">
            <a:spLocks noChangeArrowheads="1"/>
          </p:cNvSpPr>
          <p:nvPr/>
        </p:nvSpPr>
        <p:spPr bwMode="auto">
          <a:xfrm>
            <a:off x="8731795" y="5301209"/>
            <a:ext cx="381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F</a:t>
            </a:r>
          </a:p>
        </p:txBody>
      </p:sp>
      <p:sp>
        <p:nvSpPr>
          <p:cNvPr id="62" name="Text Box 25"/>
          <p:cNvSpPr txBox="1">
            <a:spLocks noChangeArrowheads="1"/>
          </p:cNvSpPr>
          <p:nvPr/>
        </p:nvSpPr>
        <p:spPr bwMode="auto">
          <a:xfrm>
            <a:off x="9188995"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a:t>C</a:t>
            </a:r>
          </a:p>
        </p:txBody>
      </p:sp>
      <p:sp>
        <p:nvSpPr>
          <p:cNvPr id="63" name="Text Box 29"/>
          <p:cNvSpPr txBox="1">
            <a:spLocks noChangeArrowheads="1"/>
          </p:cNvSpPr>
          <p:nvPr/>
        </p:nvSpPr>
        <p:spPr bwMode="auto">
          <a:xfrm>
            <a:off x="9646195" y="53012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t>A</a:t>
            </a:r>
          </a:p>
        </p:txBody>
      </p:sp>
      <p:sp>
        <p:nvSpPr>
          <p:cNvPr id="2" name="矩形 1">
            <a:extLst>
              <a:ext uri="{FF2B5EF4-FFF2-40B4-BE49-F238E27FC236}">
                <a16:creationId xmlns:a16="http://schemas.microsoft.com/office/drawing/2014/main" xmlns="" id="{0F9F3A53-E3CA-2CB3-8104-4AC35F0576E4}"/>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3" name="Rectangle 2">
            <a:extLst>
              <a:ext uri="{FF2B5EF4-FFF2-40B4-BE49-F238E27FC236}">
                <a16:creationId xmlns:a16="http://schemas.microsoft.com/office/drawing/2014/main" xmlns="" id="{9ABF761C-288D-0990-E551-376630FB60F6}"/>
              </a:ext>
            </a:extLst>
          </p:cNvPr>
          <p:cNvSpPr txBox="1">
            <a:spLocks noChangeArrowheads="1"/>
          </p:cNvSpPr>
          <p:nvPr/>
        </p:nvSpPr>
        <p:spPr>
          <a:xfrm>
            <a:off x="79920" y="836712"/>
            <a:ext cx="46479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7.5.1 </a:t>
            </a:r>
            <a:r>
              <a:rPr lang="zh-CN" altLang="en-US" dirty="0"/>
              <a:t>二叉树遍历的概念</a:t>
            </a:r>
          </a:p>
        </p:txBody>
      </p:sp>
      <p:cxnSp>
        <p:nvCxnSpPr>
          <p:cNvPr id="4" name="直接连接符 3">
            <a:extLst>
              <a:ext uri="{FF2B5EF4-FFF2-40B4-BE49-F238E27FC236}">
                <a16:creationId xmlns:a16="http://schemas.microsoft.com/office/drawing/2014/main" xmlns="" id="{BED0BC53-55F8-DA0E-86A4-9BB9162AD6FC}"/>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907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7" grpId="0"/>
      <p:bldP spid="58" grpId="0"/>
      <p:bldP spid="59" grpId="0"/>
      <p:bldP spid="60" grpId="0"/>
      <p:bldP spid="61" grpId="0"/>
      <p:bldP spid="62" grpId="0"/>
      <p:bldP spid="6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4"/>
          <p:cNvGrpSpPr>
            <a:grpSpLocks/>
          </p:cNvGrpSpPr>
          <p:nvPr/>
        </p:nvGrpSpPr>
        <p:grpSpPr bwMode="auto">
          <a:xfrm>
            <a:off x="6338463" y="1791511"/>
            <a:ext cx="3825715" cy="3467100"/>
            <a:chOff x="1986" y="294"/>
            <a:chExt cx="1891" cy="2040"/>
          </a:xfrm>
        </p:grpSpPr>
        <p:sp>
          <p:nvSpPr>
            <p:cNvPr id="31" name="Oval 5"/>
            <p:cNvSpPr>
              <a:spLocks noChangeArrowheads="1"/>
            </p:cNvSpPr>
            <p:nvPr/>
          </p:nvSpPr>
          <p:spPr bwMode="auto">
            <a:xfrm>
              <a:off x="2829" y="294"/>
              <a:ext cx="290" cy="292"/>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lstStyle/>
            <a:p>
              <a:pPr algn="ctr">
                <a:spcBef>
                  <a:spcPct val="0"/>
                </a:spcBef>
                <a:buClrTx/>
                <a:buSzTx/>
                <a:buFontTx/>
                <a:buNone/>
              </a:pPr>
              <a:r>
                <a:rPr lang="en-US" altLang="zh-CN" sz="3200" dirty="0">
                  <a:latin typeface="Times New Roman" pitchFamily="18" charset="0"/>
                  <a:cs typeface="Times New Roman" pitchFamily="18" charset="0"/>
                </a:rPr>
                <a:t>-</a:t>
              </a:r>
            </a:p>
          </p:txBody>
        </p:sp>
        <p:sp>
          <p:nvSpPr>
            <p:cNvPr id="32" name="Oval 6"/>
            <p:cNvSpPr>
              <a:spLocks noChangeArrowheads="1"/>
            </p:cNvSpPr>
            <p:nvPr/>
          </p:nvSpPr>
          <p:spPr bwMode="auto">
            <a:xfrm>
              <a:off x="2271" y="728"/>
              <a:ext cx="290" cy="292"/>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lstStyle/>
            <a:p>
              <a:pPr algn="ctr">
                <a:spcBef>
                  <a:spcPct val="0"/>
                </a:spcBef>
              </a:pPr>
              <a:r>
                <a:rPr lang="en-US" altLang="zh-CN" sz="3200" dirty="0">
                  <a:latin typeface="Times New Roman" pitchFamily="18" charset="0"/>
                  <a:cs typeface="Times New Roman" pitchFamily="18" charset="0"/>
                </a:rPr>
                <a:t>+</a:t>
              </a:r>
            </a:p>
          </p:txBody>
        </p:sp>
        <p:sp>
          <p:nvSpPr>
            <p:cNvPr id="55" name="Oval 7"/>
            <p:cNvSpPr>
              <a:spLocks noChangeArrowheads="1"/>
            </p:cNvSpPr>
            <p:nvPr/>
          </p:nvSpPr>
          <p:spPr bwMode="auto">
            <a:xfrm>
              <a:off x="3296" y="806"/>
              <a:ext cx="290" cy="292"/>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a:t>
              </a:r>
            </a:p>
          </p:txBody>
        </p:sp>
        <p:sp>
          <p:nvSpPr>
            <p:cNvPr id="56" name="Oval 8"/>
            <p:cNvSpPr>
              <a:spLocks noChangeArrowheads="1"/>
            </p:cNvSpPr>
            <p:nvPr/>
          </p:nvSpPr>
          <p:spPr bwMode="auto">
            <a:xfrm>
              <a:off x="1986" y="1179"/>
              <a:ext cx="290" cy="292"/>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lstStyle/>
            <a:p>
              <a:pPr algn="ctr">
                <a:spcBef>
                  <a:spcPct val="0"/>
                </a:spcBef>
              </a:pPr>
              <a:r>
                <a:rPr lang="en-US" altLang="zh-CN" sz="3200" dirty="0">
                  <a:latin typeface="Times New Roman" pitchFamily="18" charset="0"/>
                  <a:cs typeface="Times New Roman" pitchFamily="18" charset="0"/>
                </a:rPr>
                <a:t>a</a:t>
              </a:r>
            </a:p>
          </p:txBody>
        </p:sp>
        <p:sp>
          <p:nvSpPr>
            <p:cNvPr id="57" name="Oval 9"/>
            <p:cNvSpPr>
              <a:spLocks noChangeArrowheads="1"/>
            </p:cNvSpPr>
            <p:nvPr/>
          </p:nvSpPr>
          <p:spPr bwMode="auto">
            <a:xfrm>
              <a:off x="2590" y="1179"/>
              <a:ext cx="290" cy="292"/>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lstStyle/>
            <a:p>
              <a:pPr algn="ctr">
                <a:spcBef>
                  <a:spcPct val="0"/>
                </a:spcBef>
                <a:buClrTx/>
                <a:buSzTx/>
                <a:buFontTx/>
                <a:buNone/>
              </a:pPr>
              <a:r>
                <a:rPr lang="zh-CN" altLang="en-US" sz="3200" dirty="0">
                  <a:latin typeface="Times New Roman" pitchFamily="18" charset="0"/>
                  <a:cs typeface="Times New Roman" pitchFamily="18" charset="0"/>
                </a:rPr>
                <a:t>*</a:t>
              </a:r>
            </a:p>
          </p:txBody>
        </p:sp>
        <p:sp>
          <p:nvSpPr>
            <p:cNvPr id="58" name="Oval 10"/>
            <p:cNvSpPr>
              <a:spLocks noChangeArrowheads="1"/>
            </p:cNvSpPr>
            <p:nvPr/>
          </p:nvSpPr>
          <p:spPr bwMode="auto">
            <a:xfrm>
              <a:off x="2340" y="1646"/>
              <a:ext cx="290" cy="292"/>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b</a:t>
              </a:r>
            </a:p>
          </p:txBody>
        </p:sp>
        <p:sp>
          <p:nvSpPr>
            <p:cNvPr id="59" name="Oval 11"/>
            <p:cNvSpPr>
              <a:spLocks noChangeArrowheads="1"/>
            </p:cNvSpPr>
            <p:nvPr/>
          </p:nvSpPr>
          <p:spPr bwMode="auto">
            <a:xfrm>
              <a:off x="2935" y="1646"/>
              <a:ext cx="290" cy="292"/>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a:t>
              </a:r>
            </a:p>
          </p:txBody>
        </p:sp>
        <p:sp>
          <p:nvSpPr>
            <p:cNvPr id="60" name="Line 12"/>
            <p:cNvSpPr>
              <a:spLocks noChangeShapeType="1"/>
            </p:cNvSpPr>
            <p:nvPr/>
          </p:nvSpPr>
          <p:spPr bwMode="auto">
            <a:xfrm flipH="1">
              <a:off x="2211" y="1011"/>
              <a:ext cx="146" cy="21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anchor="ctr">
              <a:spAutoFit/>
            </a:bodyPr>
            <a:lstStyle/>
            <a:p>
              <a:endParaRPr lang="zh-CN" altLang="en-US" sz="3200">
                <a:latin typeface="Times New Roman" pitchFamily="18" charset="0"/>
                <a:cs typeface="Times New Roman" pitchFamily="18" charset="0"/>
              </a:endParaRPr>
            </a:p>
          </p:txBody>
        </p:sp>
        <p:sp>
          <p:nvSpPr>
            <p:cNvPr id="61" name="Line 13"/>
            <p:cNvSpPr>
              <a:spLocks noChangeShapeType="1"/>
            </p:cNvSpPr>
            <p:nvPr/>
          </p:nvSpPr>
          <p:spPr bwMode="auto">
            <a:xfrm>
              <a:off x="2489" y="989"/>
              <a:ext cx="178" cy="2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endParaRPr lang="zh-CN" altLang="en-US" sz="3200">
                <a:latin typeface="Times New Roman" pitchFamily="18" charset="0"/>
                <a:cs typeface="Times New Roman" pitchFamily="18" charset="0"/>
              </a:endParaRPr>
            </a:p>
          </p:txBody>
        </p:sp>
        <p:sp>
          <p:nvSpPr>
            <p:cNvPr id="62" name="Line 14"/>
            <p:cNvSpPr>
              <a:spLocks noChangeShapeType="1"/>
            </p:cNvSpPr>
            <p:nvPr/>
          </p:nvSpPr>
          <p:spPr bwMode="auto">
            <a:xfrm>
              <a:off x="2823" y="1411"/>
              <a:ext cx="189" cy="2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endParaRPr lang="zh-CN" altLang="en-US" sz="3200">
                <a:latin typeface="Times New Roman" pitchFamily="18" charset="0"/>
                <a:cs typeface="Times New Roman" pitchFamily="18" charset="0"/>
              </a:endParaRPr>
            </a:p>
          </p:txBody>
        </p:sp>
        <p:sp>
          <p:nvSpPr>
            <p:cNvPr id="63" name="Line 15"/>
            <p:cNvSpPr>
              <a:spLocks noChangeShapeType="1"/>
            </p:cNvSpPr>
            <p:nvPr/>
          </p:nvSpPr>
          <p:spPr bwMode="auto">
            <a:xfrm flipH="1">
              <a:off x="2567" y="1466"/>
              <a:ext cx="111" cy="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endParaRPr lang="zh-CN" altLang="en-US" sz="3200">
                <a:latin typeface="Times New Roman" pitchFamily="18" charset="0"/>
                <a:cs typeface="Times New Roman" pitchFamily="18" charset="0"/>
              </a:endParaRPr>
            </a:p>
          </p:txBody>
        </p:sp>
        <p:sp>
          <p:nvSpPr>
            <p:cNvPr id="64" name="Oval 16"/>
            <p:cNvSpPr>
              <a:spLocks noChangeArrowheads="1"/>
            </p:cNvSpPr>
            <p:nvPr/>
          </p:nvSpPr>
          <p:spPr bwMode="auto">
            <a:xfrm>
              <a:off x="3136" y="1254"/>
              <a:ext cx="290" cy="292"/>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e</a:t>
              </a:r>
            </a:p>
          </p:txBody>
        </p:sp>
        <p:sp>
          <p:nvSpPr>
            <p:cNvPr id="65" name="Oval 17"/>
            <p:cNvSpPr>
              <a:spLocks noChangeArrowheads="1"/>
            </p:cNvSpPr>
            <p:nvPr/>
          </p:nvSpPr>
          <p:spPr bwMode="auto">
            <a:xfrm>
              <a:off x="3587" y="1250"/>
              <a:ext cx="290" cy="292"/>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f</a:t>
              </a:r>
            </a:p>
          </p:txBody>
        </p:sp>
        <p:sp>
          <p:nvSpPr>
            <p:cNvPr id="66" name="Line 18"/>
            <p:cNvSpPr>
              <a:spLocks noChangeShapeType="1"/>
            </p:cNvSpPr>
            <p:nvPr/>
          </p:nvSpPr>
          <p:spPr bwMode="auto">
            <a:xfrm flipH="1">
              <a:off x="2534" y="511"/>
              <a:ext cx="322" cy="3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endParaRPr lang="zh-CN" altLang="en-US" sz="3200">
                <a:latin typeface="Times New Roman" pitchFamily="18" charset="0"/>
                <a:cs typeface="Times New Roman" pitchFamily="18" charset="0"/>
              </a:endParaRPr>
            </a:p>
          </p:txBody>
        </p:sp>
        <p:sp>
          <p:nvSpPr>
            <p:cNvPr id="67" name="Line 19"/>
            <p:cNvSpPr>
              <a:spLocks noChangeShapeType="1"/>
            </p:cNvSpPr>
            <p:nvPr/>
          </p:nvSpPr>
          <p:spPr bwMode="auto">
            <a:xfrm>
              <a:off x="3100" y="522"/>
              <a:ext cx="302" cy="3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anchor="ctr">
              <a:spAutoFit/>
            </a:bodyPr>
            <a:lstStyle/>
            <a:p>
              <a:endParaRPr lang="zh-CN" altLang="en-US" sz="3200">
                <a:latin typeface="Times New Roman" pitchFamily="18" charset="0"/>
                <a:cs typeface="Times New Roman" pitchFamily="18" charset="0"/>
              </a:endParaRPr>
            </a:p>
          </p:txBody>
        </p:sp>
        <p:sp>
          <p:nvSpPr>
            <p:cNvPr id="68" name="Line 20"/>
            <p:cNvSpPr>
              <a:spLocks noChangeShapeType="1"/>
            </p:cNvSpPr>
            <p:nvPr/>
          </p:nvSpPr>
          <p:spPr bwMode="auto">
            <a:xfrm flipH="1">
              <a:off x="3290" y="1089"/>
              <a:ext cx="111" cy="1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endParaRPr lang="zh-CN" altLang="en-US" sz="3200">
                <a:latin typeface="Times New Roman" pitchFamily="18" charset="0"/>
                <a:cs typeface="Times New Roman" pitchFamily="18" charset="0"/>
              </a:endParaRPr>
            </a:p>
          </p:txBody>
        </p:sp>
        <p:sp>
          <p:nvSpPr>
            <p:cNvPr id="69" name="Line 21"/>
            <p:cNvSpPr>
              <a:spLocks noChangeShapeType="1"/>
            </p:cNvSpPr>
            <p:nvPr/>
          </p:nvSpPr>
          <p:spPr bwMode="auto">
            <a:xfrm>
              <a:off x="3545" y="1067"/>
              <a:ext cx="122" cy="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endParaRPr lang="zh-CN" altLang="en-US" sz="3200">
                <a:latin typeface="Times New Roman" pitchFamily="18" charset="0"/>
                <a:cs typeface="Times New Roman" pitchFamily="18" charset="0"/>
              </a:endParaRPr>
            </a:p>
          </p:txBody>
        </p:sp>
        <p:sp>
          <p:nvSpPr>
            <p:cNvPr id="70" name="Oval 22"/>
            <p:cNvSpPr>
              <a:spLocks noChangeArrowheads="1"/>
            </p:cNvSpPr>
            <p:nvPr/>
          </p:nvSpPr>
          <p:spPr bwMode="auto">
            <a:xfrm>
              <a:off x="2647" y="2042"/>
              <a:ext cx="290" cy="292"/>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c</a:t>
              </a:r>
            </a:p>
          </p:txBody>
        </p:sp>
        <p:sp>
          <p:nvSpPr>
            <p:cNvPr id="71" name="Oval 23"/>
            <p:cNvSpPr>
              <a:spLocks noChangeArrowheads="1"/>
            </p:cNvSpPr>
            <p:nvPr/>
          </p:nvSpPr>
          <p:spPr bwMode="auto">
            <a:xfrm>
              <a:off x="3225" y="2042"/>
              <a:ext cx="290" cy="292"/>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d</a:t>
              </a:r>
            </a:p>
          </p:txBody>
        </p:sp>
        <p:sp>
          <p:nvSpPr>
            <p:cNvPr id="72" name="Line 24"/>
            <p:cNvSpPr>
              <a:spLocks noChangeShapeType="1"/>
            </p:cNvSpPr>
            <p:nvPr/>
          </p:nvSpPr>
          <p:spPr bwMode="auto">
            <a:xfrm flipH="1">
              <a:off x="2878" y="1922"/>
              <a:ext cx="122" cy="15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anchor="ctr">
              <a:spAutoFit/>
            </a:bodyPr>
            <a:lstStyle/>
            <a:p>
              <a:endParaRPr lang="zh-CN" altLang="en-US" sz="3200">
                <a:latin typeface="Times New Roman" pitchFamily="18" charset="0"/>
                <a:cs typeface="Times New Roman" pitchFamily="18" charset="0"/>
              </a:endParaRPr>
            </a:p>
          </p:txBody>
        </p:sp>
        <p:sp>
          <p:nvSpPr>
            <p:cNvPr id="73" name="Line 25"/>
            <p:cNvSpPr>
              <a:spLocks noChangeShapeType="1"/>
            </p:cNvSpPr>
            <p:nvPr/>
          </p:nvSpPr>
          <p:spPr bwMode="auto">
            <a:xfrm>
              <a:off x="3167" y="1900"/>
              <a:ext cx="133" cy="18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endParaRPr lang="zh-CN" altLang="en-US" sz="3200">
                <a:latin typeface="Times New Roman" pitchFamily="18" charset="0"/>
                <a:cs typeface="Times New Roman" pitchFamily="18" charset="0"/>
              </a:endParaRPr>
            </a:p>
          </p:txBody>
        </p:sp>
      </p:grpSp>
      <p:sp>
        <p:nvSpPr>
          <p:cNvPr id="74" name="Text Box 26"/>
          <p:cNvSpPr txBox="1">
            <a:spLocks noChangeArrowheads="1"/>
          </p:cNvSpPr>
          <p:nvPr/>
        </p:nvSpPr>
        <p:spPr bwMode="auto">
          <a:xfrm>
            <a:off x="1988519" y="4005064"/>
            <a:ext cx="1467068" cy="400110"/>
          </a:xfrm>
          <a:prstGeom prst="rect">
            <a:avLst/>
          </a:prstGeom>
          <a:noFill/>
          <a:ln w="9525">
            <a:noFill/>
            <a:miter lim="800000"/>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spcBef>
                <a:spcPct val="0"/>
              </a:spcBef>
              <a:buClrTx/>
              <a:buSzTx/>
              <a:buFontTx/>
              <a:buNone/>
            </a:pPr>
            <a:r>
              <a:rPr kumimoji="1" lang="zh-CN" altLang="en-US" sz="2000" dirty="0">
                <a:latin typeface="微软雅黑" pitchFamily="34" charset="-122"/>
                <a:ea typeface="微软雅黑" pitchFamily="34" charset="-122"/>
                <a:cs typeface="经典粗黑简" pitchFamily="49" charset="-122"/>
              </a:rPr>
              <a:t>先序遍历：</a:t>
            </a:r>
          </a:p>
        </p:txBody>
      </p:sp>
      <p:sp>
        <p:nvSpPr>
          <p:cNvPr id="75" name="Text Box 27"/>
          <p:cNvSpPr txBox="1">
            <a:spLocks noChangeArrowheads="1"/>
          </p:cNvSpPr>
          <p:nvPr/>
        </p:nvSpPr>
        <p:spPr bwMode="auto">
          <a:xfrm>
            <a:off x="1988519" y="4495601"/>
            <a:ext cx="1467068" cy="400110"/>
          </a:xfrm>
          <a:prstGeom prst="rect">
            <a:avLst/>
          </a:prstGeom>
          <a:noFill/>
          <a:ln w="9525">
            <a:noFill/>
            <a:miter lim="800000"/>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spcBef>
                <a:spcPct val="0"/>
              </a:spcBef>
              <a:buClrTx/>
              <a:buSzTx/>
              <a:buFontTx/>
              <a:buNone/>
            </a:pPr>
            <a:r>
              <a:rPr kumimoji="1" lang="zh-CN" altLang="en-US" sz="2000" dirty="0">
                <a:latin typeface="微软雅黑" pitchFamily="34" charset="-122"/>
                <a:ea typeface="微软雅黑" pitchFamily="34" charset="-122"/>
                <a:cs typeface="经典粗黑简" pitchFamily="49" charset="-122"/>
              </a:rPr>
              <a:t>中序遍历：</a:t>
            </a:r>
          </a:p>
        </p:txBody>
      </p:sp>
      <p:sp>
        <p:nvSpPr>
          <p:cNvPr id="76" name="Text Box 28"/>
          <p:cNvSpPr txBox="1">
            <a:spLocks noChangeArrowheads="1"/>
          </p:cNvSpPr>
          <p:nvPr/>
        </p:nvSpPr>
        <p:spPr bwMode="auto">
          <a:xfrm>
            <a:off x="1988519" y="5035351"/>
            <a:ext cx="1693386" cy="400110"/>
          </a:xfrm>
          <a:prstGeom prst="rect">
            <a:avLst/>
          </a:prstGeom>
          <a:noFill/>
          <a:ln w="9525">
            <a:noFill/>
            <a:miter lim="800000"/>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square" anchor="ctr">
            <a:spAutoFit/>
          </a:bodyPr>
          <a:lstStyle/>
          <a:p>
            <a:pPr>
              <a:spcBef>
                <a:spcPct val="0"/>
              </a:spcBef>
              <a:buClrTx/>
              <a:buSzTx/>
              <a:buFontTx/>
              <a:buNone/>
            </a:pPr>
            <a:r>
              <a:rPr kumimoji="1" lang="zh-CN" altLang="en-US" sz="2000" dirty="0">
                <a:latin typeface="微软雅黑" pitchFamily="34" charset="-122"/>
                <a:ea typeface="微软雅黑" pitchFamily="34" charset="-122"/>
                <a:cs typeface="经典粗黑简" pitchFamily="49" charset="-122"/>
              </a:rPr>
              <a:t>后序遍历：</a:t>
            </a:r>
          </a:p>
        </p:txBody>
      </p:sp>
      <p:sp>
        <p:nvSpPr>
          <p:cNvPr id="77" name="Text Box 29"/>
          <p:cNvSpPr txBox="1">
            <a:spLocks noChangeArrowheads="1"/>
          </p:cNvSpPr>
          <p:nvPr/>
        </p:nvSpPr>
        <p:spPr bwMode="auto">
          <a:xfrm>
            <a:off x="3374572" y="4024244"/>
            <a:ext cx="269625"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zh-CN" altLang="zh-CN" sz="2000">
                <a:latin typeface="Times New Roman" pitchFamily="18" charset="0"/>
                <a:ea typeface="隶书" pitchFamily="49" charset="-122"/>
                <a:cs typeface="Times New Roman" pitchFamily="18" charset="0"/>
              </a:rPr>
              <a:t>-</a:t>
            </a:r>
            <a:endParaRPr lang="en-US" altLang="zh-CN" sz="2000">
              <a:latin typeface="Times New Roman" pitchFamily="18" charset="0"/>
              <a:ea typeface="隶书" pitchFamily="49" charset="-122"/>
              <a:cs typeface="Times New Roman" pitchFamily="18" charset="0"/>
            </a:endParaRPr>
          </a:p>
        </p:txBody>
      </p:sp>
      <p:sp>
        <p:nvSpPr>
          <p:cNvPr id="78" name="Text Box 30"/>
          <p:cNvSpPr txBox="1">
            <a:spLocks noChangeArrowheads="1"/>
          </p:cNvSpPr>
          <p:nvPr/>
        </p:nvSpPr>
        <p:spPr bwMode="auto">
          <a:xfrm>
            <a:off x="3678291" y="4024244"/>
            <a:ext cx="328936"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zh-CN" altLang="zh-CN" sz="2000">
                <a:latin typeface="Times New Roman" pitchFamily="18" charset="0"/>
                <a:ea typeface="隶书" pitchFamily="49" charset="-122"/>
                <a:cs typeface="Times New Roman" pitchFamily="18" charset="0"/>
              </a:rPr>
              <a:t>+</a:t>
            </a:r>
            <a:endParaRPr lang="en-US" altLang="zh-CN" sz="2000">
              <a:latin typeface="Times New Roman" pitchFamily="18" charset="0"/>
              <a:ea typeface="隶书" pitchFamily="49" charset="-122"/>
              <a:cs typeface="Times New Roman" pitchFamily="18" charset="0"/>
            </a:endParaRPr>
          </a:p>
        </p:txBody>
      </p:sp>
      <p:sp>
        <p:nvSpPr>
          <p:cNvPr id="79" name="Text Box 31"/>
          <p:cNvSpPr txBox="1">
            <a:spLocks noChangeArrowheads="1"/>
          </p:cNvSpPr>
          <p:nvPr/>
        </p:nvSpPr>
        <p:spPr bwMode="auto">
          <a:xfrm>
            <a:off x="4060232" y="4024244"/>
            <a:ext cx="298479"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dirty="0">
                <a:latin typeface="Times New Roman" pitchFamily="18" charset="0"/>
                <a:ea typeface="隶书" pitchFamily="49" charset="-122"/>
                <a:cs typeface="Times New Roman" pitchFamily="18" charset="0"/>
              </a:rPr>
              <a:t>a</a:t>
            </a:r>
          </a:p>
        </p:txBody>
      </p:sp>
      <p:sp>
        <p:nvSpPr>
          <p:cNvPr id="80" name="Text Box 32"/>
          <p:cNvSpPr txBox="1">
            <a:spLocks noChangeArrowheads="1"/>
          </p:cNvSpPr>
          <p:nvPr/>
        </p:nvSpPr>
        <p:spPr bwMode="auto">
          <a:xfrm>
            <a:off x="4407825" y="4024244"/>
            <a:ext cx="312906"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zh-CN" altLang="en-US" sz="2000">
                <a:latin typeface="Times New Roman" pitchFamily="18" charset="0"/>
                <a:ea typeface="隶书" pitchFamily="49" charset="-122"/>
                <a:cs typeface="Times New Roman" pitchFamily="18" charset="0"/>
              </a:rPr>
              <a:t>*</a:t>
            </a:r>
          </a:p>
        </p:txBody>
      </p:sp>
      <p:sp>
        <p:nvSpPr>
          <p:cNvPr id="81" name="Text Box 33"/>
          <p:cNvSpPr txBox="1">
            <a:spLocks noChangeArrowheads="1"/>
          </p:cNvSpPr>
          <p:nvPr/>
        </p:nvSpPr>
        <p:spPr bwMode="auto">
          <a:xfrm>
            <a:off x="4698337" y="4024244"/>
            <a:ext cx="312906"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b</a:t>
            </a:r>
          </a:p>
        </p:txBody>
      </p:sp>
      <p:sp>
        <p:nvSpPr>
          <p:cNvPr id="82" name="Text Box 34"/>
          <p:cNvSpPr txBox="1">
            <a:spLocks noChangeArrowheads="1"/>
          </p:cNvSpPr>
          <p:nvPr/>
        </p:nvSpPr>
        <p:spPr bwMode="auto">
          <a:xfrm>
            <a:off x="4995409" y="4024244"/>
            <a:ext cx="269625"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a:t>
            </a:r>
          </a:p>
        </p:txBody>
      </p:sp>
      <p:sp>
        <p:nvSpPr>
          <p:cNvPr id="83" name="Text Box 35"/>
          <p:cNvSpPr txBox="1">
            <a:spLocks noChangeArrowheads="1"/>
          </p:cNvSpPr>
          <p:nvPr/>
        </p:nvSpPr>
        <p:spPr bwMode="auto">
          <a:xfrm>
            <a:off x="5246889" y="4024244"/>
            <a:ext cx="298479"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c</a:t>
            </a:r>
          </a:p>
        </p:txBody>
      </p:sp>
      <p:sp>
        <p:nvSpPr>
          <p:cNvPr id="84" name="Text Box 36"/>
          <p:cNvSpPr txBox="1">
            <a:spLocks noChangeArrowheads="1"/>
          </p:cNvSpPr>
          <p:nvPr/>
        </p:nvSpPr>
        <p:spPr bwMode="auto">
          <a:xfrm>
            <a:off x="5475504" y="4024244"/>
            <a:ext cx="422275"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d</a:t>
            </a:r>
          </a:p>
        </p:txBody>
      </p:sp>
      <p:sp>
        <p:nvSpPr>
          <p:cNvPr id="85" name="Text Box 37"/>
          <p:cNvSpPr txBox="1">
            <a:spLocks noChangeArrowheads="1"/>
          </p:cNvSpPr>
          <p:nvPr/>
        </p:nvSpPr>
        <p:spPr bwMode="auto">
          <a:xfrm>
            <a:off x="5858285" y="4024244"/>
            <a:ext cx="255198"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a:t>
            </a:r>
          </a:p>
        </p:txBody>
      </p:sp>
      <p:sp>
        <p:nvSpPr>
          <p:cNvPr id="86" name="Text Box 38"/>
          <p:cNvSpPr txBox="1">
            <a:spLocks noChangeArrowheads="1"/>
          </p:cNvSpPr>
          <p:nvPr/>
        </p:nvSpPr>
        <p:spPr bwMode="auto">
          <a:xfrm>
            <a:off x="6186689" y="4024244"/>
            <a:ext cx="298479"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e</a:t>
            </a:r>
          </a:p>
        </p:txBody>
      </p:sp>
      <p:sp>
        <p:nvSpPr>
          <p:cNvPr id="87" name="Text Box 39"/>
          <p:cNvSpPr txBox="1">
            <a:spLocks noChangeArrowheads="1"/>
          </p:cNvSpPr>
          <p:nvPr/>
        </p:nvSpPr>
        <p:spPr bwMode="auto">
          <a:xfrm>
            <a:off x="6523378" y="4024244"/>
            <a:ext cx="269625"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f</a:t>
            </a:r>
          </a:p>
        </p:txBody>
      </p:sp>
      <p:sp>
        <p:nvSpPr>
          <p:cNvPr id="88" name="Text Box 40"/>
          <p:cNvSpPr txBox="1">
            <a:spLocks noChangeArrowheads="1"/>
          </p:cNvSpPr>
          <p:nvPr/>
        </p:nvSpPr>
        <p:spPr bwMode="auto">
          <a:xfrm>
            <a:off x="4848103" y="4520106"/>
            <a:ext cx="269625"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zh-CN" altLang="zh-CN" sz="2000">
                <a:latin typeface="Times New Roman" pitchFamily="18" charset="0"/>
                <a:ea typeface="隶书" pitchFamily="49" charset="-122"/>
                <a:cs typeface="Times New Roman" pitchFamily="18" charset="0"/>
              </a:rPr>
              <a:t>-</a:t>
            </a:r>
            <a:endParaRPr lang="en-US" altLang="zh-CN" sz="2000">
              <a:latin typeface="Times New Roman" pitchFamily="18" charset="0"/>
              <a:ea typeface="隶书" pitchFamily="49" charset="-122"/>
              <a:cs typeface="Times New Roman" pitchFamily="18" charset="0"/>
            </a:endParaRPr>
          </a:p>
        </p:txBody>
      </p:sp>
      <p:sp>
        <p:nvSpPr>
          <p:cNvPr id="89" name="Text Box 41"/>
          <p:cNvSpPr txBox="1">
            <a:spLocks noChangeArrowheads="1"/>
          </p:cNvSpPr>
          <p:nvPr/>
        </p:nvSpPr>
        <p:spPr bwMode="auto">
          <a:xfrm>
            <a:off x="3656397" y="4520106"/>
            <a:ext cx="328936"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zh-CN" altLang="zh-CN" sz="2000">
                <a:latin typeface="Times New Roman" pitchFamily="18" charset="0"/>
                <a:ea typeface="隶书" pitchFamily="49" charset="-122"/>
                <a:cs typeface="Times New Roman" pitchFamily="18" charset="0"/>
              </a:rPr>
              <a:t>+</a:t>
            </a:r>
            <a:endParaRPr lang="en-US" altLang="zh-CN" sz="2000">
              <a:latin typeface="Times New Roman" pitchFamily="18" charset="0"/>
              <a:ea typeface="隶书" pitchFamily="49" charset="-122"/>
              <a:cs typeface="Times New Roman" pitchFamily="18" charset="0"/>
            </a:endParaRPr>
          </a:p>
        </p:txBody>
      </p:sp>
      <p:sp>
        <p:nvSpPr>
          <p:cNvPr id="90" name="Text Box 42"/>
          <p:cNvSpPr txBox="1">
            <a:spLocks noChangeArrowheads="1"/>
          </p:cNvSpPr>
          <p:nvPr/>
        </p:nvSpPr>
        <p:spPr bwMode="auto">
          <a:xfrm>
            <a:off x="3359696" y="4520106"/>
            <a:ext cx="319088"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a</a:t>
            </a:r>
          </a:p>
        </p:txBody>
      </p:sp>
      <p:sp>
        <p:nvSpPr>
          <p:cNvPr id="91" name="Text Box 43"/>
          <p:cNvSpPr txBox="1">
            <a:spLocks noChangeArrowheads="1"/>
          </p:cNvSpPr>
          <p:nvPr/>
        </p:nvSpPr>
        <p:spPr bwMode="auto">
          <a:xfrm>
            <a:off x="4270043" y="4520106"/>
            <a:ext cx="312906"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zh-CN" altLang="en-US" sz="2000">
                <a:latin typeface="Times New Roman" pitchFamily="18" charset="0"/>
                <a:ea typeface="隶书" pitchFamily="49" charset="-122"/>
                <a:cs typeface="Times New Roman" pitchFamily="18" charset="0"/>
              </a:rPr>
              <a:t>*</a:t>
            </a:r>
          </a:p>
        </p:txBody>
      </p:sp>
      <p:sp>
        <p:nvSpPr>
          <p:cNvPr id="92" name="Text Box 44"/>
          <p:cNvSpPr txBox="1">
            <a:spLocks noChangeArrowheads="1"/>
          </p:cNvSpPr>
          <p:nvPr/>
        </p:nvSpPr>
        <p:spPr bwMode="auto">
          <a:xfrm>
            <a:off x="3971593" y="4520106"/>
            <a:ext cx="312906"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b</a:t>
            </a:r>
          </a:p>
        </p:txBody>
      </p:sp>
      <p:sp>
        <p:nvSpPr>
          <p:cNvPr id="93" name="Text Box 45"/>
          <p:cNvSpPr txBox="1">
            <a:spLocks noChangeArrowheads="1"/>
          </p:cNvSpPr>
          <p:nvPr/>
        </p:nvSpPr>
        <p:spPr bwMode="auto">
          <a:xfrm>
            <a:off x="5395790" y="4520106"/>
            <a:ext cx="269625"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a:t>
            </a:r>
          </a:p>
        </p:txBody>
      </p:sp>
      <p:sp>
        <p:nvSpPr>
          <p:cNvPr id="94" name="Text Box 46"/>
          <p:cNvSpPr txBox="1">
            <a:spLocks noChangeArrowheads="1"/>
          </p:cNvSpPr>
          <p:nvPr/>
        </p:nvSpPr>
        <p:spPr bwMode="auto">
          <a:xfrm>
            <a:off x="4569357" y="4520106"/>
            <a:ext cx="298479"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c</a:t>
            </a:r>
          </a:p>
        </p:txBody>
      </p:sp>
      <p:sp>
        <p:nvSpPr>
          <p:cNvPr id="95" name="Text Box 47"/>
          <p:cNvSpPr txBox="1">
            <a:spLocks noChangeArrowheads="1"/>
          </p:cNvSpPr>
          <p:nvPr/>
        </p:nvSpPr>
        <p:spPr bwMode="auto">
          <a:xfrm>
            <a:off x="5100305" y="4520106"/>
            <a:ext cx="312906"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d</a:t>
            </a:r>
          </a:p>
        </p:txBody>
      </p:sp>
      <p:sp>
        <p:nvSpPr>
          <p:cNvPr id="96" name="Text Box 48"/>
          <p:cNvSpPr txBox="1">
            <a:spLocks noChangeArrowheads="1"/>
          </p:cNvSpPr>
          <p:nvPr/>
        </p:nvSpPr>
        <p:spPr bwMode="auto">
          <a:xfrm>
            <a:off x="5923703" y="4520106"/>
            <a:ext cx="255198"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a:t>
            </a:r>
          </a:p>
        </p:txBody>
      </p:sp>
      <p:sp>
        <p:nvSpPr>
          <p:cNvPr id="97" name="Text Box 49"/>
          <p:cNvSpPr txBox="1">
            <a:spLocks noChangeArrowheads="1"/>
          </p:cNvSpPr>
          <p:nvPr/>
        </p:nvSpPr>
        <p:spPr bwMode="auto">
          <a:xfrm>
            <a:off x="5658382" y="4543919"/>
            <a:ext cx="298479"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e</a:t>
            </a:r>
          </a:p>
        </p:txBody>
      </p:sp>
      <p:sp>
        <p:nvSpPr>
          <p:cNvPr id="98" name="Text Box 50"/>
          <p:cNvSpPr txBox="1">
            <a:spLocks noChangeArrowheads="1"/>
          </p:cNvSpPr>
          <p:nvPr/>
        </p:nvSpPr>
        <p:spPr bwMode="auto">
          <a:xfrm>
            <a:off x="6153821" y="4520106"/>
            <a:ext cx="269625"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f</a:t>
            </a:r>
          </a:p>
        </p:txBody>
      </p:sp>
      <p:sp>
        <p:nvSpPr>
          <p:cNvPr id="99" name="Text Box 51"/>
          <p:cNvSpPr txBox="1">
            <a:spLocks noChangeArrowheads="1"/>
          </p:cNvSpPr>
          <p:nvPr/>
        </p:nvSpPr>
        <p:spPr bwMode="auto">
          <a:xfrm>
            <a:off x="6290139" y="5035351"/>
            <a:ext cx="269625"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zh-CN" altLang="zh-CN" sz="2000">
                <a:latin typeface="Times New Roman" pitchFamily="18" charset="0"/>
                <a:ea typeface="隶书" pitchFamily="49" charset="-122"/>
                <a:cs typeface="Times New Roman" pitchFamily="18" charset="0"/>
              </a:rPr>
              <a:t>-</a:t>
            </a:r>
            <a:endParaRPr lang="en-US" altLang="zh-CN" sz="2000">
              <a:latin typeface="Times New Roman" pitchFamily="18" charset="0"/>
              <a:ea typeface="隶书" pitchFamily="49" charset="-122"/>
              <a:cs typeface="Times New Roman" pitchFamily="18" charset="0"/>
            </a:endParaRPr>
          </a:p>
        </p:txBody>
      </p:sp>
      <p:sp>
        <p:nvSpPr>
          <p:cNvPr id="101" name="Text Box 52"/>
          <p:cNvSpPr txBox="1">
            <a:spLocks noChangeArrowheads="1"/>
          </p:cNvSpPr>
          <p:nvPr/>
        </p:nvSpPr>
        <p:spPr bwMode="auto">
          <a:xfrm>
            <a:off x="5177809" y="5035351"/>
            <a:ext cx="328936"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zh-CN" altLang="zh-CN" sz="2000">
                <a:latin typeface="Times New Roman" pitchFamily="18" charset="0"/>
                <a:ea typeface="隶书" pitchFamily="49" charset="-122"/>
                <a:cs typeface="Times New Roman" pitchFamily="18" charset="0"/>
              </a:rPr>
              <a:t>+</a:t>
            </a:r>
            <a:endParaRPr lang="en-US" altLang="zh-CN" sz="2000">
              <a:latin typeface="Times New Roman" pitchFamily="18" charset="0"/>
              <a:ea typeface="隶书" pitchFamily="49" charset="-122"/>
              <a:cs typeface="Times New Roman" pitchFamily="18" charset="0"/>
            </a:endParaRPr>
          </a:p>
        </p:txBody>
      </p:sp>
      <p:sp>
        <p:nvSpPr>
          <p:cNvPr id="102" name="Text Box 53"/>
          <p:cNvSpPr txBox="1">
            <a:spLocks noChangeArrowheads="1"/>
          </p:cNvSpPr>
          <p:nvPr/>
        </p:nvSpPr>
        <p:spPr bwMode="auto">
          <a:xfrm>
            <a:off x="3407100" y="5035351"/>
            <a:ext cx="298479"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a</a:t>
            </a:r>
          </a:p>
        </p:txBody>
      </p:sp>
      <p:sp>
        <p:nvSpPr>
          <p:cNvPr id="103" name="Text Box 54"/>
          <p:cNvSpPr txBox="1">
            <a:spLocks noChangeArrowheads="1"/>
          </p:cNvSpPr>
          <p:nvPr/>
        </p:nvSpPr>
        <p:spPr bwMode="auto">
          <a:xfrm>
            <a:off x="4865942" y="5035351"/>
            <a:ext cx="312906"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zh-CN" altLang="en-US" sz="2000">
                <a:latin typeface="Times New Roman" pitchFamily="18" charset="0"/>
                <a:ea typeface="隶书" pitchFamily="49" charset="-122"/>
                <a:cs typeface="Times New Roman" pitchFamily="18" charset="0"/>
              </a:rPr>
              <a:t>*</a:t>
            </a:r>
          </a:p>
        </p:txBody>
      </p:sp>
      <p:sp>
        <p:nvSpPr>
          <p:cNvPr id="104" name="Text Box 55"/>
          <p:cNvSpPr txBox="1">
            <a:spLocks noChangeArrowheads="1"/>
          </p:cNvSpPr>
          <p:nvPr/>
        </p:nvSpPr>
        <p:spPr bwMode="auto">
          <a:xfrm>
            <a:off x="3699130" y="5035351"/>
            <a:ext cx="312906"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b</a:t>
            </a:r>
          </a:p>
        </p:txBody>
      </p:sp>
      <p:sp>
        <p:nvSpPr>
          <p:cNvPr id="105" name="Text Box 56"/>
          <p:cNvSpPr txBox="1">
            <a:spLocks noChangeArrowheads="1"/>
          </p:cNvSpPr>
          <p:nvPr/>
        </p:nvSpPr>
        <p:spPr bwMode="auto">
          <a:xfrm>
            <a:off x="4605802" y="5035351"/>
            <a:ext cx="269625"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a:t>
            </a:r>
          </a:p>
        </p:txBody>
      </p:sp>
      <p:sp>
        <p:nvSpPr>
          <p:cNvPr id="106" name="Text Box 57"/>
          <p:cNvSpPr txBox="1">
            <a:spLocks noChangeArrowheads="1"/>
          </p:cNvSpPr>
          <p:nvPr/>
        </p:nvSpPr>
        <p:spPr bwMode="auto">
          <a:xfrm>
            <a:off x="4007969" y="5035351"/>
            <a:ext cx="298479"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c</a:t>
            </a:r>
          </a:p>
        </p:txBody>
      </p:sp>
      <p:sp>
        <p:nvSpPr>
          <p:cNvPr id="107" name="Text Box 58"/>
          <p:cNvSpPr txBox="1">
            <a:spLocks noChangeArrowheads="1"/>
          </p:cNvSpPr>
          <p:nvPr/>
        </p:nvSpPr>
        <p:spPr bwMode="auto">
          <a:xfrm>
            <a:off x="4300792" y="5035351"/>
            <a:ext cx="312906"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d</a:t>
            </a:r>
          </a:p>
        </p:txBody>
      </p:sp>
      <p:sp>
        <p:nvSpPr>
          <p:cNvPr id="108" name="Text Box 59"/>
          <p:cNvSpPr txBox="1">
            <a:spLocks noChangeArrowheads="1"/>
          </p:cNvSpPr>
          <p:nvPr/>
        </p:nvSpPr>
        <p:spPr bwMode="auto">
          <a:xfrm>
            <a:off x="6049702" y="5035351"/>
            <a:ext cx="255198"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a:t>
            </a:r>
          </a:p>
        </p:txBody>
      </p:sp>
      <p:sp>
        <p:nvSpPr>
          <p:cNvPr id="109" name="Text Box 60"/>
          <p:cNvSpPr txBox="1">
            <a:spLocks noChangeArrowheads="1"/>
          </p:cNvSpPr>
          <p:nvPr/>
        </p:nvSpPr>
        <p:spPr bwMode="auto">
          <a:xfrm>
            <a:off x="5492295" y="5035351"/>
            <a:ext cx="319088"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e</a:t>
            </a:r>
          </a:p>
        </p:txBody>
      </p:sp>
      <p:sp>
        <p:nvSpPr>
          <p:cNvPr id="110" name="Text Box 61"/>
          <p:cNvSpPr txBox="1">
            <a:spLocks noChangeArrowheads="1"/>
          </p:cNvSpPr>
          <p:nvPr/>
        </p:nvSpPr>
        <p:spPr bwMode="auto">
          <a:xfrm>
            <a:off x="5790870" y="5035351"/>
            <a:ext cx="269625" cy="40011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lgn="ctr">
              <a:spcBef>
                <a:spcPct val="0"/>
              </a:spcBef>
              <a:buClrTx/>
              <a:buSzTx/>
              <a:buFontTx/>
              <a:buNone/>
            </a:pPr>
            <a:r>
              <a:rPr lang="en-US" altLang="zh-CN" sz="2000">
                <a:latin typeface="Times New Roman" pitchFamily="18" charset="0"/>
                <a:ea typeface="隶书" pitchFamily="49" charset="-122"/>
                <a:cs typeface="Times New Roman" pitchFamily="18" charset="0"/>
              </a:rPr>
              <a:t>f</a:t>
            </a:r>
          </a:p>
        </p:txBody>
      </p:sp>
      <p:sp>
        <p:nvSpPr>
          <p:cNvPr id="2" name="矩形 1">
            <a:extLst>
              <a:ext uri="{FF2B5EF4-FFF2-40B4-BE49-F238E27FC236}">
                <a16:creationId xmlns:a16="http://schemas.microsoft.com/office/drawing/2014/main" xmlns="" id="{75EA0C7F-0DCF-9607-5A41-B9B63B8501AC}"/>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3" name="Rectangle 2">
            <a:extLst>
              <a:ext uri="{FF2B5EF4-FFF2-40B4-BE49-F238E27FC236}">
                <a16:creationId xmlns:a16="http://schemas.microsoft.com/office/drawing/2014/main" xmlns="" id="{BAC45BE1-FCC1-6D29-C74D-FBEB3041A581}"/>
              </a:ext>
            </a:extLst>
          </p:cNvPr>
          <p:cNvSpPr txBox="1">
            <a:spLocks noChangeArrowheads="1"/>
          </p:cNvSpPr>
          <p:nvPr/>
        </p:nvSpPr>
        <p:spPr>
          <a:xfrm>
            <a:off x="79920" y="836712"/>
            <a:ext cx="46479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7.5.1 </a:t>
            </a:r>
            <a:r>
              <a:rPr lang="zh-CN" altLang="en-US" dirty="0"/>
              <a:t>二叉树遍历的概念</a:t>
            </a:r>
          </a:p>
        </p:txBody>
      </p:sp>
      <p:cxnSp>
        <p:nvCxnSpPr>
          <p:cNvPr id="4" name="直接连接符 3">
            <a:extLst>
              <a:ext uri="{FF2B5EF4-FFF2-40B4-BE49-F238E27FC236}">
                <a16:creationId xmlns:a16="http://schemas.microsoft.com/office/drawing/2014/main" xmlns="" id="{E8FA32AE-0805-4E21-DAD9-4EF7863E900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184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4">
                                            <p:txEl>
                                              <p:pRg st="0" end="0"/>
                                            </p:txEl>
                                          </p:spTgt>
                                        </p:tgtEl>
                                        <p:attrNameLst>
                                          <p:attrName>style.visibility</p:attrName>
                                        </p:attrNameLst>
                                      </p:cBhvr>
                                      <p:to>
                                        <p:strVal val="visible"/>
                                      </p:to>
                                    </p:set>
                                    <p:animEffect transition="in" filter="box(out)">
                                      <p:cBhvr>
                                        <p:cTn id="12" dur="500"/>
                                        <p:tgtEl>
                                          <p:spTgt spid="74">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7">
                                            <p:txEl>
                                              <p:pRg st="0" end="0"/>
                                            </p:txEl>
                                          </p:spTgt>
                                        </p:tgtEl>
                                        <p:attrNameLst>
                                          <p:attrName>style.visibility</p:attrName>
                                        </p:attrNameLst>
                                      </p:cBhvr>
                                      <p:to>
                                        <p:strVal val="visible"/>
                                      </p:to>
                                    </p:set>
                                    <p:animEffect transition="in" filter="box(out)">
                                      <p:cBhvr>
                                        <p:cTn id="17" dur="500"/>
                                        <p:tgtEl>
                                          <p:spTgt spid="77">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78">
                                            <p:txEl>
                                              <p:pRg st="0" end="0"/>
                                            </p:txEl>
                                          </p:spTgt>
                                        </p:tgtEl>
                                        <p:attrNameLst>
                                          <p:attrName>style.visibility</p:attrName>
                                        </p:attrNameLst>
                                      </p:cBhvr>
                                      <p:to>
                                        <p:strVal val="visible"/>
                                      </p:to>
                                    </p:set>
                                    <p:animEffect transition="in" filter="box(out)">
                                      <p:cBhvr>
                                        <p:cTn id="22" dur="500"/>
                                        <p:tgtEl>
                                          <p:spTgt spid="78">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79">
                                            <p:txEl>
                                              <p:pRg st="0" end="0"/>
                                            </p:txEl>
                                          </p:spTgt>
                                        </p:tgtEl>
                                        <p:attrNameLst>
                                          <p:attrName>style.visibility</p:attrName>
                                        </p:attrNameLst>
                                      </p:cBhvr>
                                      <p:to>
                                        <p:strVal val="visible"/>
                                      </p:to>
                                    </p:set>
                                    <p:animEffect transition="in" filter="box(out)">
                                      <p:cBhvr>
                                        <p:cTn id="27" dur="500"/>
                                        <p:tgtEl>
                                          <p:spTgt spid="79">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80">
                                            <p:txEl>
                                              <p:pRg st="0" end="0"/>
                                            </p:txEl>
                                          </p:spTgt>
                                        </p:tgtEl>
                                        <p:attrNameLst>
                                          <p:attrName>style.visibility</p:attrName>
                                        </p:attrNameLst>
                                      </p:cBhvr>
                                      <p:to>
                                        <p:strVal val="visible"/>
                                      </p:to>
                                    </p:set>
                                    <p:animEffect transition="in" filter="box(out)">
                                      <p:cBhvr>
                                        <p:cTn id="32" dur="500"/>
                                        <p:tgtEl>
                                          <p:spTgt spid="80">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81">
                                            <p:txEl>
                                              <p:pRg st="0" end="0"/>
                                            </p:txEl>
                                          </p:spTgt>
                                        </p:tgtEl>
                                        <p:attrNameLst>
                                          <p:attrName>style.visibility</p:attrName>
                                        </p:attrNameLst>
                                      </p:cBhvr>
                                      <p:to>
                                        <p:strVal val="visible"/>
                                      </p:to>
                                    </p:set>
                                    <p:animEffect transition="in" filter="box(out)">
                                      <p:cBhvr>
                                        <p:cTn id="37" dur="500"/>
                                        <p:tgtEl>
                                          <p:spTgt spid="81">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82">
                                            <p:txEl>
                                              <p:pRg st="0" end="0"/>
                                            </p:txEl>
                                          </p:spTgt>
                                        </p:tgtEl>
                                        <p:attrNameLst>
                                          <p:attrName>style.visibility</p:attrName>
                                        </p:attrNameLst>
                                      </p:cBhvr>
                                      <p:to>
                                        <p:strVal val="visible"/>
                                      </p:to>
                                    </p:set>
                                    <p:animEffect transition="in" filter="box(out)">
                                      <p:cBhvr>
                                        <p:cTn id="42" dur="500"/>
                                        <p:tgtEl>
                                          <p:spTgt spid="82">
                                            <p:txEl>
                                              <p:pRg st="0" end="0"/>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83">
                                            <p:txEl>
                                              <p:pRg st="0" end="0"/>
                                            </p:txEl>
                                          </p:spTgt>
                                        </p:tgtEl>
                                        <p:attrNameLst>
                                          <p:attrName>style.visibility</p:attrName>
                                        </p:attrNameLst>
                                      </p:cBhvr>
                                      <p:to>
                                        <p:strVal val="visible"/>
                                      </p:to>
                                    </p:set>
                                    <p:animEffect transition="in" filter="box(out)">
                                      <p:cBhvr>
                                        <p:cTn id="47" dur="500"/>
                                        <p:tgtEl>
                                          <p:spTgt spid="83">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84">
                                            <p:txEl>
                                              <p:pRg st="0" end="0"/>
                                            </p:txEl>
                                          </p:spTgt>
                                        </p:tgtEl>
                                        <p:attrNameLst>
                                          <p:attrName>style.visibility</p:attrName>
                                        </p:attrNameLst>
                                      </p:cBhvr>
                                      <p:to>
                                        <p:strVal val="visible"/>
                                      </p:to>
                                    </p:set>
                                    <p:animEffect transition="in" filter="box(out)">
                                      <p:cBhvr>
                                        <p:cTn id="52" dur="500"/>
                                        <p:tgtEl>
                                          <p:spTgt spid="84">
                                            <p:txEl>
                                              <p:pRg st="0" end="0"/>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85">
                                            <p:txEl>
                                              <p:pRg st="0" end="0"/>
                                            </p:txEl>
                                          </p:spTgt>
                                        </p:tgtEl>
                                        <p:attrNameLst>
                                          <p:attrName>style.visibility</p:attrName>
                                        </p:attrNameLst>
                                      </p:cBhvr>
                                      <p:to>
                                        <p:strVal val="visible"/>
                                      </p:to>
                                    </p:set>
                                    <p:animEffect transition="in" filter="box(out)">
                                      <p:cBhvr>
                                        <p:cTn id="57" dur="500"/>
                                        <p:tgtEl>
                                          <p:spTgt spid="85">
                                            <p:txEl>
                                              <p:pRg st="0" end="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86">
                                            <p:txEl>
                                              <p:pRg st="0" end="0"/>
                                            </p:txEl>
                                          </p:spTgt>
                                        </p:tgtEl>
                                        <p:attrNameLst>
                                          <p:attrName>style.visibility</p:attrName>
                                        </p:attrNameLst>
                                      </p:cBhvr>
                                      <p:to>
                                        <p:strVal val="visible"/>
                                      </p:to>
                                    </p:set>
                                    <p:animEffect transition="in" filter="box(out)">
                                      <p:cBhvr>
                                        <p:cTn id="62" dur="500"/>
                                        <p:tgtEl>
                                          <p:spTgt spid="86">
                                            <p:txEl>
                                              <p:pRg st="0" end="0"/>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87">
                                            <p:txEl>
                                              <p:pRg st="0" end="0"/>
                                            </p:txEl>
                                          </p:spTgt>
                                        </p:tgtEl>
                                        <p:attrNameLst>
                                          <p:attrName>style.visibility</p:attrName>
                                        </p:attrNameLst>
                                      </p:cBhvr>
                                      <p:to>
                                        <p:strVal val="visible"/>
                                      </p:to>
                                    </p:set>
                                    <p:animEffect transition="in" filter="box(out)">
                                      <p:cBhvr>
                                        <p:cTn id="67" dur="500"/>
                                        <p:tgtEl>
                                          <p:spTgt spid="87">
                                            <p:txEl>
                                              <p:pRg st="0" end="0"/>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75">
                                            <p:txEl>
                                              <p:pRg st="0" end="0"/>
                                            </p:txEl>
                                          </p:spTgt>
                                        </p:tgtEl>
                                        <p:attrNameLst>
                                          <p:attrName>style.visibility</p:attrName>
                                        </p:attrNameLst>
                                      </p:cBhvr>
                                      <p:to>
                                        <p:strVal val="visible"/>
                                      </p:to>
                                    </p:set>
                                    <p:animEffect transition="in" filter="box(out)">
                                      <p:cBhvr>
                                        <p:cTn id="72" dur="500"/>
                                        <p:tgtEl>
                                          <p:spTgt spid="75">
                                            <p:txEl>
                                              <p:pRg st="0" end="0"/>
                                            </p:txEl>
                                          </p:spTgt>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90">
                                            <p:txEl>
                                              <p:pRg st="0" end="0"/>
                                            </p:txEl>
                                          </p:spTgt>
                                        </p:tgtEl>
                                        <p:attrNameLst>
                                          <p:attrName>style.visibility</p:attrName>
                                        </p:attrNameLst>
                                      </p:cBhvr>
                                      <p:to>
                                        <p:strVal val="visible"/>
                                      </p:to>
                                    </p:set>
                                    <p:animEffect transition="in" filter="box(out)">
                                      <p:cBhvr>
                                        <p:cTn id="77" dur="500"/>
                                        <p:tgtEl>
                                          <p:spTgt spid="90">
                                            <p:txEl>
                                              <p:pRg st="0" end="0"/>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8" fill="hold">
                      <p:stCondLst>
                        <p:cond delay="indefinite"/>
                      </p:stCondLst>
                      <p:childTnLst>
                        <p:par>
                          <p:cTn id="79" fill="hold">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89">
                                            <p:txEl>
                                              <p:pRg st="0" end="0"/>
                                            </p:txEl>
                                          </p:spTgt>
                                        </p:tgtEl>
                                        <p:attrNameLst>
                                          <p:attrName>style.visibility</p:attrName>
                                        </p:attrNameLst>
                                      </p:cBhvr>
                                      <p:to>
                                        <p:strVal val="visible"/>
                                      </p:to>
                                    </p:set>
                                    <p:animEffect transition="in" filter="box(out)">
                                      <p:cBhvr>
                                        <p:cTn id="82" dur="500"/>
                                        <p:tgtEl>
                                          <p:spTgt spid="89">
                                            <p:txEl>
                                              <p:pRg st="0" end="0"/>
                                            </p:txEl>
                                          </p:spTgt>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childTnLst>
                    </p:cTn>
                  </p:par>
                  <p:par>
                    <p:cTn id="83" fill="hold">
                      <p:stCondLst>
                        <p:cond delay="indefinite"/>
                      </p:stCondLst>
                      <p:childTnLst>
                        <p:par>
                          <p:cTn id="84" fill="hold">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92">
                                            <p:txEl>
                                              <p:pRg st="0" end="0"/>
                                            </p:txEl>
                                          </p:spTgt>
                                        </p:tgtEl>
                                        <p:attrNameLst>
                                          <p:attrName>style.visibility</p:attrName>
                                        </p:attrNameLst>
                                      </p:cBhvr>
                                      <p:to>
                                        <p:strVal val="visible"/>
                                      </p:to>
                                    </p:set>
                                    <p:animEffect transition="in" filter="box(out)">
                                      <p:cBhvr>
                                        <p:cTn id="87" dur="500"/>
                                        <p:tgtEl>
                                          <p:spTgt spid="92">
                                            <p:txEl>
                                              <p:pRg st="0" end="0"/>
                                            </p:txEl>
                                          </p:spTgt>
                                        </p:tgtEl>
                                      </p:cBhvr>
                                    </p:animEffect>
                                  </p:childTnLst>
                                  <p:subTnLst>
                                    <p:audio>
                                      <p:cMediaNode>
                                        <p:cTn display="0" masterRel="sameClick">
                                          <p:stCondLst>
                                            <p:cond evt="begin" delay="0">
                                              <p:tn val="85"/>
                                            </p:cond>
                                          </p:stCondLst>
                                          <p:endCondLst>
                                            <p:cond evt="onStopAudio" delay="0">
                                              <p:tgtEl>
                                                <p:sldTgt/>
                                              </p:tgtEl>
                                            </p:cond>
                                          </p:endCondLst>
                                        </p:cTn>
                                        <p:tgtEl>
                                          <p:sndTgt r:embed="rId2" name="CAMERA.WAV"/>
                                        </p:tgtEl>
                                      </p:cMediaNode>
                                    </p:audio>
                                  </p:subTnLst>
                                </p:cTn>
                              </p:par>
                            </p:childTnLst>
                          </p:cTn>
                        </p:par>
                      </p:childTnLst>
                    </p:cTn>
                  </p:par>
                  <p:par>
                    <p:cTn id="88" fill="hold">
                      <p:stCondLst>
                        <p:cond delay="indefinite"/>
                      </p:stCondLst>
                      <p:childTnLst>
                        <p:par>
                          <p:cTn id="89" fill="hold">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91">
                                            <p:txEl>
                                              <p:pRg st="0" end="0"/>
                                            </p:txEl>
                                          </p:spTgt>
                                        </p:tgtEl>
                                        <p:attrNameLst>
                                          <p:attrName>style.visibility</p:attrName>
                                        </p:attrNameLst>
                                      </p:cBhvr>
                                      <p:to>
                                        <p:strVal val="visible"/>
                                      </p:to>
                                    </p:set>
                                    <p:animEffect transition="in" filter="box(out)">
                                      <p:cBhvr>
                                        <p:cTn id="92" dur="500"/>
                                        <p:tgtEl>
                                          <p:spTgt spid="91">
                                            <p:txEl>
                                              <p:pRg st="0" end="0"/>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2" name="CAMERA.WAV"/>
                                        </p:tgtEl>
                                      </p:cMediaNode>
                                    </p:audio>
                                  </p:subTnLst>
                                </p:cTn>
                              </p:par>
                            </p:childTnLst>
                          </p:cTn>
                        </p:par>
                      </p:childTnLst>
                    </p:cTn>
                  </p:par>
                  <p:par>
                    <p:cTn id="93" fill="hold">
                      <p:stCondLst>
                        <p:cond delay="indefinite"/>
                      </p:stCondLst>
                      <p:childTnLst>
                        <p:par>
                          <p:cTn id="94" fill="hold">
                            <p:stCondLst>
                              <p:cond delay="0"/>
                            </p:stCondLst>
                            <p:childTnLst>
                              <p:par>
                                <p:cTn id="95" presetID="4" presetClass="entr" presetSubtype="32" fill="hold" grpId="0" nodeType="clickEffect">
                                  <p:stCondLst>
                                    <p:cond delay="0"/>
                                  </p:stCondLst>
                                  <p:childTnLst>
                                    <p:set>
                                      <p:cBhvr>
                                        <p:cTn id="96" dur="1" fill="hold">
                                          <p:stCondLst>
                                            <p:cond delay="0"/>
                                          </p:stCondLst>
                                        </p:cTn>
                                        <p:tgtEl>
                                          <p:spTgt spid="94">
                                            <p:txEl>
                                              <p:pRg st="0" end="0"/>
                                            </p:txEl>
                                          </p:spTgt>
                                        </p:tgtEl>
                                        <p:attrNameLst>
                                          <p:attrName>style.visibility</p:attrName>
                                        </p:attrNameLst>
                                      </p:cBhvr>
                                      <p:to>
                                        <p:strVal val="visible"/>
                                      </p:to>
                                    </p:set>
                                    <p:animEffect transition="in" filter="box(out)">
                                      <p:cBhvr>
                                        <p:cTn id="97" dur="500"/>
                                        <p:tgtEl>
                                          <p:spTgt spid="94">
                                            <p:txEl>
                                              <p:pRg st="0" end="0"/>
                                            </p:txEl>
                                          </p:spTgt>
                                        </p:tgtEl>
                                      </p:cBhvr>
                                    </p:animEffect>
                                  </p:childTnLst>
                                  <p:subTnLst>
                                    <p:audio>
                                      <p:cMediaNode>
                                        <p:cTn display="0" masterRel="sameClick">
                                          <p:stCondLst>
                                            <p:cond evt="begin" delay="0">
                                              <p:tn val="95"/>
                                            </p:cond>
                                          </p:stCondLst>
                                          <p:endCondLst>
                                            <p:cond evt="onStopAudio" delay="0">
                                              <p:tgtEl>
                                                <p:sldTgt/>
                                              </p:tgtEl>
                                            </p:cond>
                                          </p:endCondLst>
                                        </p:cTn>
                                        <p:tgtEl>
                                          <p:sndTgt r:embed="rId2"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88">
                                            <p:txEl>
                                              <p:pRg st="0" end="0"/>
                                            </p:txEl>
                                          </p:spTgt>
                                        </p:tgtEl>
                                        <p:attrNameLst>
                                          <p:attrName>style.visibility</p:attrName>
                                        </p:attrNameLst>
                                      </p:cBhvr>
                                      <p:to>
                                        <p:strVal val="visible"/>
                                      </p:to>
                                    </p:set>
                                    <p:animEffect transition="in" filter="box(out)">
                                      <p:cBhvr>
                                        <p:cTn id="102" dur="500"/>
                                        <p:tgtEl>
                                          <p:spTgt spid="88">
                                            <p:txEl>
                                              <p:pRg st="0" end="0"/>
                                            </p:txEl>
                                          </p:spTgt>
                                        </p:tgtEl>
                                      </p:cBhvr>
                                    </p:animEffect>
                                  </p:childTnLst>
                                  <p:subTnLst>
                                    <p:audio>
                                      <p:cMediaNode>
                                        <p:cTn display="0" masterRel="sameClick">
                                          <p:stCondLst>
                                            <p:cond evt="begin" delay="0">
                                              <p:tn val="100"/>
                                            </p:cond>
                                          </p:stCondLst>
                                          <p:endCondLst>
                                            <p:cond evt="onStopAudio" delay="0">
                                              <p:tgtEl>
                                                <p:sldTgt/>
                                              </p:tgtEl>
                                            </p:cond>
                                          </p:endCondLst>
                                        </p:cTn>
                                        <p:tgtEl>
                                          <p:sndTgt r:embed="rId2" name="CAMERA.WAV"/>
                                        </p:tgtEl>
                                      </p:cMediaNode>
                                    </p:audio>
                                  </p:sub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grpId="0" nodeType="clickEffect">
                                  <p:stCondLst>
                                    <p:cond delay="0"/>
                                  </p:stCondLst>
                                  <p:childTnLst>
                                    <p:set>
                                      <p:cBhvr>
                                        <p:cTn id="106" dur="1" fill="hold">
                                          <p:stCondLst>
                                            <p:cond delay="0"/>
                                          </p:stCondLst>
                                        </p:cTn>
                                        <p:tgtEl>
                                          <p:spTgt spid="95">
                                            <p:txEl>
                                              <p:pRg st="0" end="0"/>
                                            </p:txEl>
                                          </p:spTgt>
                                        </p:tgtEl>
                                        <p:attrNameLst>
                                          <p:attrName>style.visibility</p:attrName>
                                        </p:attrNameLst>
                                      </p:cBhvr>
                                      <p:to>
                                        <p:strVal val="visible"/>
                                      </p:to>
                                    </p:set>
                                    <p:animEffect transition="in" filter="box(out)">
                                      <p:cBhvr>
                                        <p:cTn id="107" dur="500"/>
                                        <p:tgtEl>
                                          <p:spTgt spid="95">
                                            <p:txEl>
                                              <p:pRg st="0" end="0"/>
                                            </p:txEl>
                                          </p:spTgt>
                                        </p:tgtEl>
                                      </p:cBhvr>
                                    </p:animEffect>
                                  </p:childTnLst>
                                  <p:subTnLst>
                                    <p:audio>
                                      <p:cMediaNode>
                                        <p:cTn display="0" masterRel="sameClick">
                                          <p:stCondLst>
                                            <p:cond evt="begin" delay="0">
                                              <p:tn val="105"/>
                                            </p:cond>
                                          </p:stCondLst>
                                          <p:endCondLst>
                                            <p:cond evt="onStopAudio" delay="0">
                                              <p:tgtEl>
                                                <p:sldTgt/>
                                              </p:tgtEl>
                                            </p:cond>
                                          </p:endCondLst>
                                        </p:cTn>
                                        <p:tgtEl>
                                          <p:sndTgt r:embed="rId2" name="CAMERA.WAV"/>
                                        </p:tgtEl>
                                      </p:cMediaNode>
                                    </p:audio>
                                  </p:subTnLst>
                                </p:cTn>
                              </p:par>
                            </p:childTnLst>
                          </p:cTn>
                        </p:par>
                      </p:childTnLst>
                    </p:cTn>
                  </p:par>
                  <p:par>
                    <p:cTn id="108" fill="hold">
                      <p:stCondLst>
                        <p:cond delay="indefinite"/>
                      </p:stCondLst>
                      <p:childTnLst>
                        <p:par>
                          <p:cTn id="109" fill="hold">
                            <p:stCondLst>
                              <p:cond delay="0"/>
                            </p:stCondLst>
                            <p:childTnLst>
                              <p:par>
                                <p:cTn id="110" presetID="4" presetClass="entr" presetSubtype="32" fill="hold" grpId="0" nodeType="clickEffect">
                                  <p:stCondLst>
                                    <p:cond delay="0"/>
                                  </p:stCondLst>
                                  <p:childTnLst>
                                    <p:set>
                                      <p:cBhvr>
                                        <p:cTn id="111" dur="1" fill="hold">
                                          <p:stCondLst>
                                            <p:cond delay="0"/>
                                          </p:stCondLst>
                                        </p:cTn>
                                        <p:tgtEl>
                                          <p:spTgt spid="93">
                                            <p:txEl>
                                              <p:pRg st="0" end="0"/>
                                            </p:txEl>
                                          </p:spTgt>
                                        </p:tgtEl>
                                        <p:attrNameLst>
                                          <p:attrName>style.visibility</p:attrName>
                                        </p:attrNameLst>
                                      </p:cBhvr>
                                      <p:to>
                                        <p:strVal val="visible"/>
                                      </p:to>
                                    </p:set>
                                    <p:animEffect transition="in" filter="box(out)">
                                      <p:cBhvr>
                                        <p:cTn id="112" dur="500"/>
                                        <p:tgtEl>
                                          <p:spTgt spid="93">
                                            <p:txEl>
                                              <p:pRg st="0" end="0"/>
                                            </p:txEl>
                                          </p:spTgt>
                                        </p:tgtEl>
                                      </p:cBhvr>
                                    </p:animEffect>
                                  </p:childTnLst>
                                  <p:subTnLst>
                                    <p:audio>
                                      <p:cMediaNode>
                                        <p:cTn display="0" masterRel="sameClick">
                                          <p:stCondLst>
                                            <p:cond evt="begin" delay="0">
                                              <p:tn val="110"/>
                                            </p:cond>
                                          </p:stCondLst>
                                          <p:endCondLst>
                                            <p:cond evt="onStopAudio" delay="0">
                                              <p:tgtEl>
                                                <p:sldTgt/>
                                              </p:tgtEl>
                                            </p:cond>
                                          </p:endCondLst>
                                        </p:cTn>
                                        <p:tgtEl>
                                          <p:sndTgt r:embed="rId2"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4" presetClass="entr" presetSubtype="32" fill="hold" grpId="0" nodeType="clickEffect">
                                  <p:stCondLst>
                                    <p:cond delay="0"/>
                                  </p:stCondLst>
                                  <p:childTnLst>
                                    <p:set>
                                      <p:cBhvr>
                                        <p:cTn id="116" dur="1" fill="hold">
                                          <p:stCondLst>
                                            <p:cond delay="0"/>
                                          </p:stCondLst>
                                        </p:cTn>
                                        <p:tgtEl>
                                          <p:spTgt spid="97">
                                            <p:txEl>
                                              <p:pRg st="0" end="0"/>
                                            </p:txEl>
                                          </p:spTgt>
                                        </p:tgtEl>
                                        <p:attrNameLst>
                                          <p:attrName>style.visibility</p:attrName>
                                        </p:attrNameLst>
                                      </p:cBhvr>
                                      <p:to>
                                        <p:strVal val="visible"/>
                                      </p:to>
                                    </p:set>
                                    <p:animEffect transition="in" filter="box(out)">
                                      <p:cBhvr>
                                        <p:cTn id="117" dur="500"/>
                                        <p:tgtEl>
                                          <p:spTgt spid="97">
                                            <p:txEl>
                                              <p:pRg st="0" end="0"/>
                                            </p:txEl>
                                          </p:spTgt>
                                        </p:tgtEl>
                                      </p:cBhvr>
                                    </p:animEffect>
                                  </p:childTnLst>
                                  <p:subTnLst>
                                    <p:audio>
                                      <p:cMediaNode>
                                        <p:cTn display="0" masterRel="sameClick">
                                          <p:stCondLst>
                                            <p:cond evt="begin" delay="0">
                                              <p:tn val="115"/>
                                            </p:cond>
                                          </p:stCondLst>
                                          <p:endCondLst>
                                            <p:cond evt="onStopAudio" delay="0">
                                              <p:tgtEl>
                                                <p:sldTgt/>
                                              </p:tgtEl>
                                            </p:cond>
                                          </p:endCondLst>
                                        </p:cTn>
                                        <p:tgtEl>
                                          <p:sndTgt r:embed="rId2" name="CAMERA.WAV"/>
                                        </p:tgtEl>
                                      </p:cMediaNode>
                                    </p:audio>
                                  </p:subTnLst>
                                </p:cTn>
                              </p:par>
                            </p:childTnLst>
                          </p:cTn>
                        </p:par>
                      </p:childTnLst>
                    </p:cTn>
                  </p:par>
                  <p:par>
                    <p:cTn id="118" fill="hold">
                      <p:stCondLst>
                        <p:cond delay="indefinite"/>
                      </p:stCondLst>
                      <p:childTnLst>
                        <p:par>
                          <p:cTn id="119" fill="hold">
                            <p:stCondLst>
                              <p:cond delay="0"/>
                            </p:stCondLst>
                            <p:childTnLst>
                              <p:par>
                                <p:cTn id="120" presetID="4" presetClass="entr" presetSubtype="32" fill="hold" grpId="0" nodeType="clickEffect">
                                  <p:stCondLst>
                                    <p:cond delay="0"/>
                                  </p:stCondLst>
                                  <p:childTnLst>
                                    <p:set>
                                      <p:cBhvr>
                                        <p:cTn id="121" dur="1" fill="hold">
                                          <p:stCondLst>
                                            <p:cond delay="0"/>
                                          </p:stCondLst>
                                        </p:cTn>
                                        <p:tgtEl>
                                          <p:spTgt spid="96">
                                            <p:txEl>
                                              <p:pRg st="0" end="0"/>
                                            </p:txEl>
                                          </p:spTgt>
                                        </p:tgtEl>
                                        <p:attrNameLst>
                                          <p:attrName>style.visibility</p:attrName>
                                        </p:attrNameLst>
                                      </p:cBhvr>
                                      <p:to>
                                        <p:strVal val="visible"/>
                                      </p:to>
                                    </p:set>
                                    <p:animEffect transition="in" filter="box(out)">
                                      <p:cBhvr>
                                        <p:cTn id="122" dur="500"/>
                                        <p:tgtEl>
                                          <p:spTgt spid="96">
                                            <p:txEl>
                                              <p:pRg st="0" end="0"/>
                                            </p:txEl>
                                          </p:spTgt>
                                        </p:tgtEl>
                                      </p:cBhvr>
                                    </p:animEffect>
                                  </p:childTnLst>
                                  <p:subTnLst>
                                    <p:audio>
                                      <p:cMediaNode>
                                        <p:cTn display="0" masterRel="sameClick">
                                          <p:stCondLst>
                                            <p:cond evt="begin" delay="0">
                                              <p:tn val="120"/>
                                            </p:cond>
                                          </p:stCondLst>
                                          <p:endCondLst>
                                            <p:cond evt="onStopAudio" delay="0">
                                              <p:tgtEl>
                                                <p:sldTgt/>
                                              </p:tgtEl>
                                            </p:cond>
                                          </p:endCondLst>
                                        </p:cTn>
                                        <p:tgtEl>
                                          <p:sndTgt r:embed="rId2" name="CAMERA.WAV"/>
                                        </p:tgtEl>
                                      </p:cMediaNode>
                                    </p:audio>
                                  </p:subTnLst>
                                </p:cTn>
                              </p:par>
                            </p:childTnLst>
                          </p:cTn>
                        </p:par>
                      </p:childTnLst>
                    </p:cTn>
                  </p:par>
                  <p:par>
                    <p:cTn id="123" fill="hold">
                      <p:stCondLst>
                        <p:cond delay="indefinite"/>
                      </p:stCondLst>
                      <p:childTnLst>
                        <p:par>
                          <p:cTn id="124" fill="hold">
                            <p:stCondLst>
                              <p:cond delay="0"/>
                            </p:stCondLst>
                            <p:childTnLst>
                              <p:par>
                                <p:cTn id="125" presetID="4" presetClass="entr" presetSubtype="32" fill="hold" grpId="0" nodeType="clickEffect">
                                  <p:stCondLst>
                                    <p:cond delay="0"/>
                                  </p:stCondLst>
                                  <p:childTnLst>
                                    <p:set>
                                      <p:cBhvr>
                                        <p:cTn id="126" dur="1" fill="hold">
                                          <p:stCondLst>
                                            <p:cond delay="0"/>
                                          </p:stCondLst>
                                        </p:cTn>
                                        <p:tgtEl>
                                          <p:spTgt spid="98">
                                            <p:txEl>
                                              <p:pRg st="0" end="0"/>
                                            </p:txEl>
                                          </p:spTgt>
                                        </p:tgtEl>
                                        <p:attrNameLst>
                                          <p:attrName>style.visibility</p:attrName>
                                        </p:attrNameLst>
                                      </p:cBhvr>
                                      <p:to>
                                        <p:strVal val="visible"/>
                                      </p:to>
                                    </p:set>
                                    <p:animEffect transition="in" filter="box(out)">
                                      <p:cBhvr>
                                        <p:cTn id="127" dur="500"/>
                                        <p:tgtEl>
                                          <p:spTgt spid="98">
                                            <p:txEl>
                                              <p:pRg st="0" end="0"/>
                                            </p:txEl>
                                          </p:spTgt>
                                        </p:tgtEl>
                                      </p:cBhvr>
                                    </p:animEffect>
                                  </p:childTnLst>
                                  <p:subTnLst>
                                    <p:audio>
                                      <p:cMediaNode>
                                        <p:cTn display="0" masterRel="sameClick">
                                          <p:stCondLst>
                                            <p:cond evt="begin" delay="0">
                                              <p:tn val="125"/>
                                            </p:cond>
                                          </p:stCondLst>
                                          <p:endCondLst>
                                            <p:cond evt="onStopAudio" delay="0">
                                              <p:tgtEl>
                                                <p:sldTgt/>
                                              </p:tgtEl>
                                            </p:cond>
                                          </p:endCondLst>
                                        </p:cTn>
                                        <p:tgtEl>
                                          <p:sndTgt r:embed="rId2" name="CAMERA.WAV"/>
                                        </p:tgtEl>
                                      </p:cMediaNode>
                                    </p:audio>
                                  </p:subTnLst>
                                </p:cTn>
                              </p:par>
                            </p:childTnLst>
                          </p:cTn>
                        </p:par>
                      </p:childTnLst>
                    </p:cTn>
                  </p:par>
                  <p:par>
                    <p:cTn id="128" fill="hold">
                      <p:stCondLst>
                        <p:cond delay="indefinite"/>
                      </p:stCondLst>
                      <p:childTnLst>
                        <p:par>
                          <p:cTn id="129" fill="hold">
                            <p:stCondLst>
                              <p:cond delay="0"/>
                            </p:stCondLst>
                            <p:childTnLst>
                              <p:par>
                                <p:cTn id="130" presetID="4" presetClass="entr" presetSubtype="32" fill="hold" grpId="0" nodeType="clickEffect">
                                  <p:stCondLst>
                                    <p:cond delay="0"/>
                                  </p:stCondLst>
                                  <p:childTnLst>
                                    <p:set>
                                      <p:cBhvr>
                                        <p:cTn id="131" dur="1" fill="hold">
                                          <p:stCondLst>
                                            <p:cond delay="0"/>
                                          </p:stCondLst>
                                        </p:cTn>
                                        <p:tgtEl>
                                          <p:spTgt spid="76">
                                            <p:txEl>
                                              <p:pRg st="0" end="0"/>
                                            </p:txEl>
                                          </p:spTgt>
                                        </p:tgtEl>
                                        <p:attrNameLst>
                                          <p:attrName>style.visibility</p:attrName>
                                        </p:attrNameLst>
                                      </p:cBhvr>
                                      <p:to>
                                        <p:strVal val="visible"/>
                                      </p:to>
                                    </p:set>
                                    <p:animEffect transition="in" filter="box(out)">
                                      <p:cBhvr>
                                        <p:cTn id="132" dur="500"/>
                                        <p:tgtEl>
                                          <p:spTgt spid="76">
                                            <p:txEl>
                                              <p:pRg st="0" end="0"/>
                                            </p:txEl>
                                          </p:spTgt>
                                        </p:tgtEl>
                                      </p:cBhvr>
                                    </p:animEffect>
                                  </p:childTnLst>
                                  <p:subTnLst>
                                    <p:audio>
                                      <p:cMediaNode>
                                        <p:cTn display="0" masterRel="sameClick">
                                          <p:stCondLst>
                                            <p:cond evt="begin" delay="0">
                                              <p:tn val="130"/>
                                            </p:cond>
                                          </p:stCondLst>
                                          <p:endCondLst>
                                            <p:cond evt="onStopAudio" delay="0">
                                              <p:tgtEl>
                                                <p:sldTgt/>
                                              </p:tgtEl>
                                            </p:cond>
                                          </p:endCondLst>
                                        </p:cTn>
                                        <p:tgtEl>
                                          <p:sndTgt r:embed="rId2" name="CAMERA.WAV"/>
                                        </p:tgtEl>
                                      </p:cMediaNode>
                                    </p:audio>
                                  </p:subTnLst>
                                </p:cTn>
                              </p:par>
                            </p:childTnLst>
                          </p:cTn>
                        </p:par>
                      </p:childTnLst>
                    </p:cTn>
                  </p:par>
                  <p:par>
                    <p:cTn id="133" fill="hold">
                      <p:stCondLst>
                        <p:cond delay="indefinite"/>
                      </p:stCondLst>
                      <p:childTnLst>
                        <p:par>
                          <p:cTn id="134" fill="hold">
                            <p:stCondLst>
                              <p:cond delay="0"/>
                            </p:stCondLst>
                            <p:childTnLst>
                              <p:par>
                                <p:cTn id="135" presetID="4" presetClass="entr" presetSubtype="32" fill="hold" grpId="0" nodeType="clickEffect">
                                  <p:stCondLst>
                                    <p:cond delay="0"/>
                                  </p:stCondLst>
                                  <p:childTnLst>
                                    <p:set>
                                      <p:cBhvr>
                                        <p:cTn id="136" dur="1" fill="hold">
                                          <p:stCondLst>
                                            <p:cond delay="0"/>
                                          </p:stCondLst>
                                        </p:cTn>
                                        <p:tgtEl>
                                          <p:spTgt spid="102">
                                            <p:txEl>
                                              <p:pRg st="0" end="0"/>
                                            </p:txEl>
                                          </p:spTgt>
                                        </p:tgtEl>
                                        <p:attrNameLst>
                                          <p:attrName>style.visibility</p:attrName>
                                        </p:attrNameLst>
                                      </p:cBhvr>
                                      <p:to>
                                        <p:strVal val="visible"/>
                                      </p:to>
                                    </p:set>
                                    <p:animEffect transition="in" filter="box(out)">
                                      <p:cBhvr>
                                        <p:cTn id="137" dur="500"/>
                                        <p:tgtEl>
                                          <p:spTgt spid="102">
                                            <p:txEl>
                                              <p:pRg st="0" end="0"/>
                                            </p:txEl>
                                          </p:spTgt>
                                        </p:tgtEl>
                                      </p:cBhvr>
                                    </p:animEffect>
                                  </p:childTnLst>
                                  <p:subTnLst>
                                    <p:audio>
                                      <p:cMediaNode>
                                        <p:cTn display="0" masterRel="sameClick">
                                          <p:stCondLst>
                                            <p:cond evt="begin" delay="0">
                                              <p:tn val="135"/>
                                            </p:cond>
                                          </p:stCondLst>
                                          <p:endCondLst>
                                            <p:cond evt="onStopAudio" delay="0">
                                              <p:tgtEl>
                                                <p:sldTgt/>
                                              </p:tgtEl>
                                            </p:cond>
                                          </p:endCondLst>
                                        </p:cTn>
                                        <p:tgtEl>
                                          <p:sndTgt r:embed="rId2" name="CAMERA.WAV"/>
                                        </p:tgtEl>
                                      </p:cMediaNode>
                                    </p:audio>
                                  </p:subTnLst>
                                </p:cTn>
                              </p:par>
                            </p:childTnLst>
                          </p:cTn>
                        </p:par>
                      </p:childTnLst>
                    </p:cTn>
                  </p:par>
                  <p:par>
                    <p:cTn id="138" fill="hold">
                      <p:stCondLst>
                        <p:cond delay="indefinite"/>
                      </p:stCondLst>
                      <p:childTnLst>
                        <p:par>
                          <p:cTn id="139" fill="hold">
                            <p:stCondLst>
                              <p:cond delay="0"/>
                            </p:stCondLst>
                            <p:childTnLst>
                              <p:par>
                                <p:cTn id="140" presetID="4" presetClass="entr" presetSubtype="32" fill="hold" grpId="0" nodeType="clickEffect">
                                  <p:stCondLst>
                                    <p:cond delay="0"/>
                                  </p:stCondLst>
                                  <p:childTnLst>
                                    <p:set>
                                      <p:cBhvr>
                                        <p:cTn id="141" dur="1" fill="hold">
                                          <p:stCondLst>
                                            <p:cond delay="0"/>
                                          </p:stCondLst>
                                        </p:cTn>
                                        <p:tgtEl>
                                          <p:spTgt spid="104">
                                            <p:txEl>
                                              <p:pRg st="0" end="0"/>
                                            </p:txEl>
                                          </p:spTgt>
                                        </p:tgtEl>
                                        <p:attrNameLst>
                                          <p:attrName>style.visibility</p:attrName>
                                        </p:attrNameLst>
                                      </p:cBhvr>
                                      <p:to>
                                        <p:strVal val="visible"/>
                                      </p:to>
                                    </p:set>
                                    <p:animEffect transition="in" filter="box(out)">
                                      <p:cBhvr>
                                        <p:cTn id="142" dur="500"/>
                                        <p:tgtEl>
                                          <p:spTgt spid="104">
                                            <p:txEl>
                                              <p:pRg st="0" end="0"/>
                                            </p:txEl>
                                          </p:spTgt>
                                        </p:tgtEl>
                                      </p:cBhvr>
                                    </p:animEffect>
                                  </p:childTnLst>
                                  <p:subTnLst>
                                    <p:audio>
                                      <p:cMediaNode>
                                        <p:cTn display="0" masterRel="sameClick">
                                          <p:stCondLst>
                                            <p:cond evt="begin" delay="0">
                                              <p:tn val="140"/>
                                            </p:cond>
                                          </p:stCondLst>
                                          <p:endCondLst>
                                            <p:cond evt="onStopAudio" delay="0">
                                              <p:tgtEl>
                                                <p:sldTgt/>
                                              </p:tgtEl>
                                            </p:cond>
                                          </p:endCondLst>
                                        </p:cTn>
                                        <p:tgtEl>
                                          <p:sndTgt r:embed="rId2" name="CAMERA.WAV"/>
                                        </p:tgtEl>
                                      </p:cMediaNode>
                                    </p:audio>
                                  </p:subTnLst>
                                </p:cTn>
                              </p:par>
                            </p:childTnLst>
                          </p:cTn>
                        </p:par>
                      </p:childTnLst>
                    </p:cTn>
                  </p:par>
                  <p:par>
                    <p:cTn id="143" fill="hold">
                      <p:stCondLst>
                        <p:cond delay="indefinite"/>
                      </p:stCondLst>
                      <p:childTnLst>
                        <p:par>
                          <p:cTn id="144" fill="hold">
                            <p:stCondLst>
                              <p:cond delay="0"/>
                            </p:stCondLst>
                            <p:childTnLst>
                              <p:par>
                                <p:cTn id="145" presetID="4" presetClass="entr" presetSubtype="32" fill="hold" grpId="0" nodeType="clickEffect">
                                  <p:stCondLst>
                                    <p:cond delay="0"/>
                                  </p:stCondLst>
                                  <p:childTnLst>
                                    <p:set>
                                      <p:cBhvr>
                                        <p:cTn id="146" dur="1" fill="hold">
                                          <p:stCondLst>
                                            <p:cond delay="0"/>
                                          </p:stCondLst>
                                        </p:cTn>
                                        <p:tgtEl>
                                          <p:spTgt spid="106">
                                            <p:txEl>
                                              <p:pRg st="0" end="0"/>
                                            </p:txEl>
                                          </p:spTgt>
                                        </p:tgtEl>
                                        <p:attrNameLst>
                                          <p:attrName>style.visibility</p:attrName>
                                        </p:attrNameLst>
                                      </p:cBhvr>
                                      <p:to>
                                        <p:strVal val="visible"/>
                                      </p:to>
                                    </p:set>
                                    <p:animEffect transition="in" filter="box(out)">
                                      <p:cBhvr>
                                        <p:cTn id="147" dur="500"/>
                                        <p:tgtEl>
                                          <p:spTgt spid="106">
                                            <p:txEl>
                                              <p:pRg st="0" end="0"/>
                                            </p:txEl>
                                          </p:spTgt>
                                        </p:tgtEl>
                                      </p:cBhvr>
                                    </p:animEffect>
                                  </p:childTnLst>
                                  <p:subTnLst>
                                    <p:audio>
                                      <p:cMediaNode>
                                        <p:cTn display="0" masterRel="sameClick">
                                          <p:stCondLst>
                                            <p:cond evt="begin" delay="0">
                                              <p:tn val="145"/>
                                            </p:cond>
                                          </p:stCondLst>
                                          <p:endCondLst>
                                            <p:cond evt="onStopAudio" delay="0">
                                              <p:tgtEl>
                                                <p:sldTgt/>
                                              </p:tgtEl>
                                            </p:cond>
                                          </p:endCondLst>
                                        </p:cTn>
                                        <p:tgtEl>
                                          <p:sndTgt r:embed="rId2" name="CAMERA.WAV"/>
                                        </p:tgtEl>
                                      </p:cMediaNode>
                                    </p:audio>
                                  </p:subTnLst>
                                </p:cTn>
                              </p:par>
                            </p:childTnLst>
                          </p:cTn>
                        </p:par>
                      </p:childTnLst>
                    </p:cTn>
                  </p:par>
                  <p:par>
                    <p:cTn id="148" fill="hold">
                      <p:stCondLst>
                        <p:cond delay="indefinite"/>
                      </p:stCondLst>
                      <p:childTnLst>
                        <p:par>
                          <p:cTn id="149" fill="hold">
                            <p:stCondLst>
                              <p:cond delay="0"/>
                            </p:stCondLst>
                            <p:childTnLst>
                              <p:par>
                                <p:cTn id="150" presetID="4" presetClass="entr" presetSubtype="32" fill="hold" grpId="0" nodeType="clickEffect">
                                  <p:stCondLst>
                                    <p:cond delay="0"/>
                                  </p:stCondLst>
                                  <p:childTnLst>
                                    <p:set>
                                      <p:cBhvr>
                                        <p:cTn id="151" dur="1" fill="hold">
                                          <p:stCondLst>
                                            <p:cond delay="0"/>
                                          </p:stCondLst>
                                        </p:cTn>
                                        <p:tgtEl>
                                          <p:spTgt spid="107">
                                            <p:txEl>
                                              <p:pRg st="0" end="0"/>
                                            </p:txEl>
                                          </p:spTgt>
                                        </p:tgtEl>
                                        <p:attrNameLst>
                                          <p:attrName>style.visibility</p:attrName>
                                        </p:attrNameLst>
                                      </p:cBhvr>
                                      <p:to>
                                        <p:strVal val="visible"/>
                                      </p:to>
                                    </p:set>
                                    <p:animEffect transition="in" filter="box(out)">
                                      <p:cBhvr>
                                        <p:cTn id="152" dur="500"/>
                                        <p:tgtEl>
                                          <p:spTgt spid="107">
                                            <p:txEl>
                                              <p:pRg st="0" end="0"/>
                                            </p:txEl>
                                          </p:spTgt>
                                        </p:tgtEl>
                                      </p:cBhvr>
                                    </p:animEffect>
                                  </p:childTnLst>
                                  <p:subTnLst>
                                    <p:audio>
                                      <p:cMediaNode>
                                        <p:cTn display="0" masterRel="sameClick">
                                          <p:stCondLst>
                                            <p:cond evt="begin" delay="0">
                                              <p:tn val="150"/>
                                            </p:cond>
                                          </p:stCondLst>
                                          <p:endCondLst>
                                            <p:cond evt="onStopAudio" delay="0">
                                              <p:tgtEl>
                                                <p:sldTgt/>
                                              </p:tgtEl>
                                            </p:cond>
                                          </p:endCondLst>
                                        </p:cTn>
                                        <p:tgtEl>
                                          <p:sndTgt r:embed="rId2" name="CAMERA.WAV"/>
                                        </p:tgtEl>
                                      </p:cMediaNode>
                                    </p:audio>
                                  </p:subTnLst>
                                </p:cTn>
                              </p:par>
                            </p:childTnLst>
                          </p:cTn>
                        </p:par>
                      </p:childTnLst>
                    </p:cTn>
                  </p:par>
                  <p:par>
                    <p:cTn id="153" fill="hold">
                      <p:stCondLst>
                        <p:cond delay="indefinite"/>
                      </p:stCondLst>
                      <p:childTnLst>
                        <p:par>
                          <p:cTn id="154" fill="hold">
                            <p:stCondLst>
                              <p:cond delay="0"/>
                            </p:stCondLst>
                            <p:childTnLst>
                              <p:par>
                                <p:cTn id="155" presetID="4" presetClass="entr" presetSubtype="32" fill="hold" grpId="0" nodeType="clickEffect">
                                  <p:stCondLst>
                                    <p:cond delay="0"/>
                                  </p:stCondLst>
                                  <p:childTnLst>
                                    <p:set>
                                      <p:cBhvr>
                                        <p:cTn id="156" dur="1" fill="hold">
                                          <p:stCondLst>
                                            <p:cond delay="0"/>
                                          </p:stCondLst>
                                        </p:cTn>
                                        <p:tgtEl>
                                          <p:spTgt spid="105">
                                            <p:txEl>
                                              <p:pRg st="0" end="0"/>
                                            </p:txEl>
                                          </p:spTgt>
                                        </p:tgtEl>
                                        <p:attrNameLst>
                                          <p:attrName>style.visibility</p:attrName>
                                        </p:attrNameLst>
                                      </p:cBhvr>
                                      <p:to>
                                        <p:strVal val="visible"/>
                                      </p:to>
                                    </p:set>
                                    <p:animEffect transition="in" filter="box(out)">
                                      <p:cBhvr>
                                        <p:cTn id="157" dur="500"/>
                                        <p:tgtEl>
                                          <p:spTgt spid="105">
                                            <p:txEl>
                                              <p:pRg st="0" end="0"/>
                                            </p:txEl>
                                          </p:spTgt>
                                        </p:tgtEl>
                                      </p:cBhvr>
                                    </p:animEffect>
                                  </p:childTnLst>
                                  <p:subTnLst>
                                    <p:audio>
                                      <p:cMediaNode>
                                        <p:cTn display="0" masterRel="sameClick">
                                          <p:stCondLst>
                                            <p:cond evt="begin" delay="0">
                                              <p:tn val="155"/>
                                            </p:cond>
                                          </p:stCondLst>
                                          <p:endCondLst>
                                            <p:cond evt="onStopAudio" delay="0">
                                              <p:tgtEl>
                                                <p:sldTgt/>
                                              </p:tgtEl>
                                            </p:cond>
                                          </p:endCondLst>
                                        </p:cTn>
                                        <p:tgtEl>
                                          <p:sndTgt r:embed="rId2" name="CAMERA.WAV"/>
                                        </p:tgtEl>
                                      </p:cMediaNode>
                                    </p:audio>
                                  </p:subTnLst>
                                </p:cTn>
                              </p:par>
                            </p:childTnLst>
                          </p:cTn>
                        </p:par>
                      </p:childTnLst>
                    </p:cTn>
                  </p:par>
                  <p:par>
                    <p:cTn id="158" fill="hold">
                      <p:stCondLst>
                        <p:cond delay="indefinite"/>
                      </p:stCondLst>
                      <p:childTnLst>
                        <p:par>
                          <p:cTn id="159" fill="hold">
                            <p:stCondLst>
                              <p:cond delay="0"/>
                            </p:stCondLst>
                            <p:childTnLst>
                              <p:par>
                                <p:cTn id="160" presetID="4" presetClass="entr" presetSubtype="32" fill="hold" grpId="0" nodeType="clickEffect">
                                  <p:stCondLst>
                                    <p:cond delay="0"/>
                                  </p:stCondLst>
                                  <p:childTnLst>
                                    <p:set>
                                      <p:cBhvr>
                                        <p:cTn id="161" dur="1" fill="hold">
                                          <p:stCondLst>
                                            <p:cond delay="0"/>
                                          </p:stCondLst>
                                        </p:cTn>
                                        <p:tgtEl>
                                          <p:spTgt spid="103">
                                            <p:txEl>
                                              <p:pRg st="0" end="0"/>
                                            </p:txEl>
                                          </p:spTgt>
                                        </p:tgtEl>
                                        <p:attrNameLst>
                                          <p:attrName>style.visibility</p:attrName>
                                        </p:attrNameLst>
                                      </p:cBhvr>
                                      <p:to>
                                        <p:strVal val="visible"/>
                                      </p:to>
                                    </p:set>
                                    <p:animEffect transition="in" filter="box(out)">
                                      <p:cBhvr>
                                        <p:cTn id="162" dur="500"/>
                                        <p:tgtEl>
                                          <p:spTgt spid="103">
                                            <p:txEl>
                                              <p:pRg st="0" end="0"/>
                                            </p:txEl>
                                          </p:spTgt>
                                        </p:tgtEl>
                                      </p:cBhvr>
                                    </p:animEffect>
                                  </p:childTnLst>
                                  <p:subTnLst>
                                    <p:audio>
                                      <p:cMediaNode>
                                        <p:cTn display="0" masterRel="sameClick">
                                          <p:stCondLst>
                                            <p:cond evt="begin" delay="0">
                                              <p:tn val="160"/>
                                            </p:cond>
                                          </p:stCondLst>
                                          <p:endCondLst>
                                            <p:cond evt="onStopAudio" delay="0">
                                              <p:tgtEl>
                                                <p:sldTgt/>
                                              </p:tgtEl>
                                            </p:cond>
                                          </p:endCondLst>
                                        </p:cTn>
                                        <p:tgtEl>
                                          <p:sndTgt r:embed="rId2" name="CAMERA.WAV"/>
                                        </p:tgtEl>
                                      </p:cMediaNode>
                                    </p:audio>
                                  </p:subTnLst>
                                </p:cTn>
                              </p:par>
                            </p:childTnLst>
                          </p:cTn>
                        </p:par>
                      </p:childTnLst>
                    </p:cTn>
                  </p:par>
                  <p:par>
                    <p:cTn id="163" fill="hold">
                      <p:stCondLst>
                        <p:cond delay="indefinite"/>
                      </p:stCondLst>
                      <p:childTnLst>
                        <p:par>
                          <p:cTn id="164" fill="hold">
                            <p:stCondLst>
                              <p:cond delay="0"/>
                            </p:stCondLst>
                            <p:childTnLst>
                              <p:par>
                                <p:cTn id="165" presetID="4" presetClass="entr" presetSubtype="32" fill="hold" grpId="0" nodeType="clickEffect">
                                  <p:stCondLst>
                                    <p:cond delay="0"/>
                                  </p:stCondLst>
                                  <p:childTnLst>
                                    <p:set>
                                      <p:cBhvr>
                                        <p:cTn id="166" dur="1" fill="hold">
                                          <p:stCondLst>
                                            <p:cond delay="0"/>
                                          </p:stCondLst>
                                        </p:cTn>
                                        <p:tgtEl>
                                          <p:spTgt spid="101">
                                            <p:txEl>
                                              <p:pRg st="0" end="0"/>
                                            </p:txEl>
                                          </p:spTgt>
                                        </p:tgtEl>
                                        <p:attrNameLst>
                                          <p:attrName>style.visibility</p:attrName>
                                        </p:attrNameLst>
                                      </p:cBhvr>
                                      <p:to>
                                        <p:strVal val="visible"/>
                                      </p:to>
                                    </p:set>
                                    <p:animEffect transition="in" filter="box(out)">
                                      <p:cBhvr>
                                        <p:cTn id="167" dur="500"/>
                                        <p:tgtEl>
                                          <p:spTgt spid="101">
                                            <p:txEl>
                                              <p:pRg st="0" end="0"/>
                                            </p:txEl>
                                          </p:spTgt>
                                        </p:tgtEl>
                                      </p:cBhvr>
                                    </p:animEffect>
                                  </p:childTnLst>
                                  <p:subTnLst>
                                    <p:audio>
                                      <p:cMediaNode>
                                        <p:cTn display="0" masterRel="sameClick">
                                          <p:stCondLst>
                                            <p:cond evt="begin" delay="0">
                                              <p:tn val="165"/>
                                            </p:cond>
                                          </p:stCondLst>
                                          <p:endCondLst>
                                            <p:cond evt="onStopAudio" delay="0">
                                              <p:tgtEl>
                                                <p:sldTgt/>
                                              </p:tgtEl>
                                            </p:cond>
                                          </p:endCondLst>
                                        </p:cTn>
                                        <p:tgtEl>
                                          <p:sndTgt r:embed="rId2" name="CAMERA.WAV"/>
                                        </p:tgtEl>
                                      </p:cMediaNode>
                                    </p:audio>
                                  </p:subTnLst>
                                </p:cTn>
                              </p:par>
                            </p:childTnLst>
                          </p:cTn>
                        </p:par>
                      </p:childTnLst>
                    </p:cTn>
                  </p:par>
                  <p:par>
                    <p:cTn id="168" fill="hold">
                      <p:stCondLst>
                        <p:cond delay="indefinite"/>
                      </p:stCondLst>
                      <p:childTnLst>
                        <p:par>
                          <p:cTn id="169" fill="hold">
                            <p:stCondLst>
                              <p:cond delay="0"/>
                            </p:stCondLst>
                            <p:childTnLst>
                              <p:par>
                                <p:cTn id="170" presetID="4" presetClass="entr" presetSubtype="32" fill="hold" grpId="0" nodeType="clickEffect">
                                  <p:stCondLst>
                                    <p:cond delay="0"/>
                                  </p:stCondLst>
                                  <p:childTnLst>
                                    <p:set>
                                      <p:cBhvr>
                                        <p:cTn id="171" dur="1" fill="hold">
                                          <p:stCondLst>
                                            <p:cond delay="0"/>
                                          </p:stCondLst>
                                        </p:cTn>
                                        <p:tgtEl>
                                          <p:spTgt spid="109">
                                            <p:txEl>
                                              <p:pRg st="0" end="0"/>
                                            </p:txEl>
                                          </p:spTgt>
                                        </p:tgtEl>
                                        <p:attrNameLst>
                                          <p:attrName>style.visibility</p:attrName>
                                        </p:attrNameLst>
                                      </p:cBhvr>
                                      <p:to>
                                        <p:strVal val="visible"/>
                                      </p:to>
                                    </p:set>
                                    <p:animEffect transition="in" filter="box(out)">
                                      <p:cBhvr>
                                        <p:cTn id="172" dur="500"/>
                                        <p:tgtEl>
                                          <p:spTgt spid="109">
                                            <p:txEl>
                                              <p:pRg st="0" end="0"/>
                                            </p:txEl>
                                          </p:spTgt>
                                        </p:tgtEl>
                                      </p:cBhvr>
                                    </p:animEffect>
                                  </p:childTnLst>
                                  <p:subTnLst>
                                    <p:audio>
                                      <p:cMediaNode>
                                        <p:cTn display="0" masterRel="sameClick">
                                          <p:stCondLst>
                                            <p:cond evt="begin" delay="0">
                                              <p:tn val="170"/>
                                            </p:cond>
                                          </p:stCondLst>
                                          <p:endCondLst>
                                            <p:cond evt="onStopAudio" delay="0">
                                              <p:tgtEl>
                                                <p:sldTgt/>
                                              </p:tgtEl>
                                            </p:cond>
                                          </p:endCondLst>
                                        </p:cTn>
                                        <p:tgtEl>
                                          <p:sndTgt r:embed="rId2" name="CAMERA.WAV"/>
                                        </p:tgtEl>
                                      </p:cMediaNode>
                                    </p:audio>
                                  </p:subTnLst>
                                </p:cTn>
                              </p:par>
                            </p:childTnLst>
                          </p:cTn>
                        </p:par>
                      </p:childTnLst>
                    </p:cTn>
                  </p:par>
                  <p:par>
                    <p:cTn id="173" fill="hold">
                      <p:stCondLst>
                        <p:cond delay="indefinite"/>
                      </p:stCondLst>
                      <p:childTnLst>
                        <p:par>
                          <p:cTn id="174" fill="hold">
                            <p:stCondLst>
                              <p:cond delay="0"/>
                            </p:stCondLst>
                            <p:childTnLst>
                              <p:par>
                                <p:cTn id="175" presetID="4" presetClass="entr" presetSubtype="32" fill="hold" grpId="0" nodeType="clickEffect">
                                  <p:stCondLst>
                                    <p:cond delay="0"/>
                                  </p:stCondLst>
                                  <p:childTnLst>
                                    <p:set>
                                      <p:cBhvr>
                                        <p:cTn id="176" dur="1" fill="hold">
                                          <p:stCondLst>
                                            <p:cond delay="0"/>
                                          </p:stCondLst>
                                        </p:cTn>
                                        <p:tgtEl>
                                          <p:spTgt spid="110">
                                            <p:txEl>
                                              <p:pRg st="0" end="0"/>
                                            </p:txEl>
                                          </p:spTgt>
                                        </p:tgtEl>
                                        <p:attrNameLst>
                                          <p:attrName>style.visibility</p:attrName>
                                        </p:attrNameLst>
                                      </p:cBhvr>
                                      <p:to>
                                        <p:strVal val="visible"/>
                                      </p:to>
                                    </p:set>
                                    <p:animEffect transition="in" filter="box(out)">
                                      <p:cBhvr>
                                        <p:cTn id="177" dur="500"/>
                                        <p:tgtEl>
                                          <p:spTgt spid="110">
                                            <p:txEl>
                                              <p:pRg st="0" end="0"/>
                                            </p:txEl>
                                          </p:spTgt>
                                        </p:tgtEl>
                                      </p:cBhvr>
                                    </p:animEffect>
                                  </p:childTnLst>
                                  <p:subTnLst>
                                    <p:audio>
                                      <p:cMediaNode>
                                        <p:cTn display="0" masterRel="sameClick">
                                          <p:stCondLst>
                                            <p:cond evt="begin" delay="0">
                                              <p:tn val="175"/>
                                            </p:cond>
                                          </p:stCondLst>
                                          <p:endCondLst>
                                            <p:cond evt="onStopAudio" delay="0">
                                              <p:tgtEl>
                                                <p:sldTgt/>
                                              </p:tgtEl>
                                            </p:cond>
                                          </p:endCondLst>
                                        </p:cTn>
                                        <p:tgtEl>
                                          <p:sndTgt r:embed="rId2" name="CAMERA.WAV"/>
                                        </p:tgtEl>
                                      </p:cMediaNode>
                                    </p:audio>
                                  </p:subTnLst>
                                </p:cTn>
                              </p:par>
                            </p:childTnLst>
                          </p:cTn>
                        </p:par>
                      </p:childTnLst>
                    </p:cTn>
                  </p:par>
                  <p:par>
                    <p:cTn id="178" fill="hold">
                      <p:stCondLst>
                        <p:cond delay="indefinite"/>
                      </p:stCondLst>
                      <p:childTnLst>
                        <p:par>
                          <p:cTn id="179" fill="hold">
                            <p:stCondLst>
                              <p:cond delay="0"/>
                            </p:stCondLst>
                            <p:childTnLst>
                              <p:par>
                                <p:cTn id="180" presetID="4" presetClass="entr" presetSubtype="32" fill="hold" grpId="0" nodeType="clickEffect">
                                  <p:stCondLst>
                                    <p:cond delay="0"/>
                                  </p:stCondLst>
                                  <p:childTnLst>
                                    <p:set>
                                      <p:cBhvr>
                                        <p:cTn id="181" dur="1" fill="hold">
                                          <p:stCondLst>
                                            <p:cond delay="0"/>
                                          </p:stCondLst>
                                        </p:cTn>
                                        <p:tgtEl>
                                          <p:spTgt spid="108">
                                            <p:txEl>
                                              <p:pRg st="0" end="0"/>
                                            </p:txEl>
                                          </p:spTgt>
                                        </p:tgtEl>
                                        <p:attrNameLst>
                                          <p:attrName>style.visibility</p:attrName>
                                        </p:attrNameLst>
                                      </p:cBhvr>
                                      <p:to>
                                        <p:strVal val="visible"/>
                                      </p:to>
                                    </p:set>
                                    <p:animEffect transition="in" filter="box(out)">
                                      <p:cBhvr>
                                        <p:cTn id="182" dur="500"/>
                                        <p:tgtEl>
                                          <p:spTgt spid="108">
                                            <p:txEl>
                                              <p:pRg st="0" end="0"/>
                                            </p:txEl>
                                          </p:spTgt>
                                        </p:tgtEl>
                                      </p:cBhvr>
                                    </p:animEffect>
                                  </p:childTnLst>
                                  <p:subTnLst>
                                    <p:audio>
                                      <p:cMediaNode>
                                        <p:cTn display="0" masterRel="sameClick">
                                          <p:stCondLst>
                                            <p:cond evt="begin" delay="0">
                                              <p:tn val="180"/>
                                            </p:cond>
                                          </p:stCondLst>
                                          <p:endCondLst>
                                            <p:cond evt="onStopAudio" delay="0">
                                              <p:tgtEl>
                                                <p:sldTgt/>
                                              </p:tgtEl>
                                            </p:cond>
                                          </p:endCondLst>
                                        </p:cTn>
                                        <p:tgtEl>
                                          <p:sndTgt r:embed="rId2" name="CAMERA.WAV"/>
                                        </p:tgtEl>
                                      </p:cMediaNode>
                                    </p:audio>
                                  </p:subTnLst>
                                </p:cTn>
                              </p:par>
                            </p:childTnLst>
                          </p:cTn>
                        </p:par>
                      </p:childTnLst>
                    </p:cTn>
                  </p:par>
                  <p:par>
                    <p:cTn id="183" fill="hold">
                      <p:stCondLst>
                        <p:cond delay="indefinite"/>
                      </p:stCondLst>
                      <p:childTnLst>
                        <p:par>
                          <p:cTn id="184" fill="hold">
                            <p:stCondLst>
                              <p:cond delay="0"/>
                            </p:stCondLst>
                            <p:childTnLst>
                              <p:par>
                                <p:cTn id="185" presetID="4" presetClass="entr" presetSubtype="32" fill="hold" grpId="0" nodeType="clickEffect">
                                  <p:stCondLst>
                                    <p:cond delay="0"/>
                                  </p:stCondLst>
                                  <p:childTnLst>
                                    <p:set>
                                      <p:cBhvr>
                                        <p:cTn id="186" dur="1" fill="hold">
                                          <p:stCondLst>
                                            <p:cond delay="0"/>
                                          </p:stCondLst>
                                        </p:cTn>
                                        <p:tgtEl>
                                          <p:spTgt spid="99">
                                            <p:txEl>
                                              <p:pRg st="0" end="0"/>
                                            </p:txEl>
                                          </p:spTgt>
                                        </p:tgtEl>
                                        <p:attrNameLst>
                                          <p:attrName>style.visibility</p:attrName>
                                        </p:attrNameLst>
                                      </p:cBhvr>
                                      <p:to>
                                        <p:strVal val="visible"/>
                                      </p:to>
                                    </p:set>
                                    <p:animEffect transition="in" filter="box(out)">
                                      <p:cBhvr>
                                        <p:cTn id="187" dur="500"/>
                                        <p:tgtEl>
                                          <p:spTgt spid="99">
                                            <p:txEl>
                                              <p:pRg st="0" end="0"/>
                                            </p:txEl>
                                          </p:spTgt>
                                        </p:tgtEl>
                                      </p:cBhvr>
                                    </p:animEffect>
                                  </p:childTnLst>
                                  <p:subTnLst>
                                    <p:audio>
                                      <p:cMediaNode>
                                        <p:cTn display="0" masterRel="sameClick">
                                          <p:stCondLst>
                                            <p:cond evt="begin" delay="0">
                                              <p:tn val="185"/>
                                            </p:cond>
                                          </p:stCondLst>
                                          <p:endCondLst>
                                            <p:cond evt="onStopAudio" delay="0">
                                              <p:tgtEl>
                                                <p:sldTgt/>
                                              </p:tgtEl>
                                            </p:cond>
                                          </p:endCondLst>
                                        </p:cTn>
                                        <p:tgtEl>
                                          <p:sndTgt r:embed="rId2" name="CAMERA.WAV"/>
                                        </p:tgtEl>
                                      </p:cMediaNode>
                                    </p:audio>
                                  </p:subTnLst>
                                </p:cTn>
                              </p:par>
                            </p:childTnLst>
                          </p:cTn>
                        </p:par>
                      </p:childTnLst>
                    </p:cTn>
                  </p:par>
                  <p:par>
                    <p:cTn id="188" fill="hold">
                      <p:stCondLst>
                        <p:cond delay="indefinite"/>
                      </p:stCondLst>
                      <p:childTnLst>
                        <p:par>
                          <p:cTn id="189" fill="hold">
                            <p:stCondLst>
                              <p:cond delay="0"/>
                            </p:stCondLst>
                            <p:childTnLst>
                              <p:par>
                                <p:cTn id="190" presetID="6" presetClass="emph" presetSubtype="0" fill="hold" nodeType="clickEffect">
                                  <p:stCondLst>
                                    <p:cond delay="0"/>
                                  </p:stCondLst>
                                  <p:childTnLst>
                                    <p:animScale>
                                      <p:cBhvr>
                                        <p:cTn id="191" dur="2000" fill="hold"/>
                                        <p:tgtEl>
                                          <p:spTgt spid="77">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build="p" autoUpdateAnimBg="0"/>
      <p:bldP spid="75" grpId="0" build="p" autoUpdateAnimBg="0"/>
      <p:bldP spid="76" grpId="0" build="p" autoUpdateAnimBg="0"/>
      <p:bldP spid="77" grpId="0" build="p" autoUpdateAnimBg="0"/>
      <p:bldP spid="78" grpId="0" build="p" autoUpdateAnimBg="0"/>
      <p:bldP spid="79" grpId="0" build="p" autoUpdateAnimBg="0"/>
      <p:bldP spid="80" grpId="0" build="p" autoUpdateAnimBg="0"/>
      <p:bldP spid="81" grpId="0" build="p" autoUpdateAnimBg="0"/>
      <p:bldP spid="82" grpId="0" build="p" autoUpdateAnimBg="0"/>
      <p:bldP spid="83" grpId="0" build="p" autoUpdateAnimBg="0"/>
      <p:bldP spid="84" grpId="0" build="p" autoUpdateAnimBg="0"/>
      <p:bldP spid="85" grpId="0" build="p" autoUpdateAnimBg="0"/>
      <p:bldP spid="86" grpId="0" build="p" autoUpdateAnimBg="0"/>
      <p:bldP spid="87" grpId="0" build="p" autoUpdateAnimBg="0"/>
      <p:bldP spid="88" grpId="0" build="p" autoUpdateAnimBg="0"/>
      <p:bldP spid="89" grpId="0" build="p" autoUpdateAnimBg="0"/>
      <p:bldP spid="90" grpId="0" build="p" autoUpdateAnimBg="0"/>
      <p:bldP spid="91" grpId="0" build="p" autoUpdateAnimBg="0"/>
      <p:bldP spid="92" grpId="0" build="p" autoUpdateAnimBg="0"/>
      <p:bldP spid="93" grpId="0" build="p" autoUpdateAnimBg="0"/>
      <p:bldP spid="94" grpId="0" build="p" autoUpdateAnimBg="0"/>
      <p:bldP spid="95" grpId="0" build="p" autoUpdateAnimBg="0"/>
      <p:bldP spid="96" grpId="0" build="p" autoUpdateAnimBg="0"/>
      <p:bldP spid="97" grpId="0" build="p" autoUpdateAnimBg="0"/>
      <p:bldP spid="98" grpId="0" build="p" autoUpdateAnimBg="0"/>
      <p:bldP spid="99" grpId="0" build="p" autoUpdateAnimBg="0"/>
      <p:bldP spid="101" grpId="0" build="p" autoUpdateAnimBg="0"/>
      <p:bldP spid="102" grpId="0" build="p" autoUpdateAnimBg="0"/>
      <p:bldP spid="103" grpId="0" build="p" autoUpdateAnimBg="0"/>
      <p:bldP spid="104" grpId="0" build="p" autoUpdateAnimBg="0"/>
      <p:bldP spid="105" grpId="0" build="p" autoUpdateAnimBg="0"/>
      <p:bldP spid="106" grpId="0" build="p" autoUpdateAnimBg="0"/>
      <p:bldP spid="107" grpId="0" build="p" autoUpdateAnimBg="0"/>
      <p:bldP spid="108" grpId="0" build="p" autoUpdateAnimBg="0"/>
      <p:bldP spid="109" grpId="0" build="p" autoUpdateAnimBg="0"/>
      <p:bldP spid="110"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19ECCA3-6C39-18C4-C2A5-689992F13D88}"/>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xmlns="" id="{E63732C4-D544-30DD-01BB-B4F786FFEEC2}"/>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6" name="Rectangle 2">
            <a:extLst>
              <a:ext uri="{FF2B5EF4-FFF2-40B4-BE49-F238E27FC236}">
                <a16:creationId xmlns:a16="http://schemas.microsoft.com/office/drawing/2014/main" xmlns="" id="{495DADF2-C65D-D5F5-ADD6-5D29FAF7BFF6}"/>
              </a:ext>
            </a:extLst>
          </p:cNvPr>
          <p:cNvSpPr txBox="1">
            <a:spLocks noChangeArrowheads="1"/>
          </p:cNvSpPr>
          <p:nvPr/>
        </p:nvSpPr>
        <p:spPr>
          <a:xfrm>
            <a:off x="79920" y="836712"/>
            <a:ext cx="46479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7.5.1 </a:t>
            </a:r>
            <a:r>
              <a:rPr lang="zh-CN" altLang="en-US" dirty="0"/>
              <a:t>二叉树遍历的概念</a:t>
            </a:r>
          </a:p>
        </p:txBody>
      </p:sp>
      <p:cxnSp>
        <p:nvCxnSpPr>
          <p:cNvPr id="7" name="直接连接符 6">
            <a:extLst>
              <a:ext uri="{FF2B5EF4-FFF2-40B4-BE49-F238E27FC236}">
                <a16:creationId xmlns:a16="http://schemas.microsoft.com/office/drawing/2014/main" xmlns="" id="{EE309046-4E83-8903-7B07-EFB6D771544A}"/>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Text Box 2">
            <a:extLst>
              <a:ext uri="{FF2B5EF4-FFF2-40B4-BE49-F238E27FC236}">
                <a16:creationId xmlns:a16="http://schemas.microsoft.com/office/drawing/2014/main" xmlns="" id="{168D0947-15FA-84E6-6010-2A65D3C3760F}"/>
              </a:ext>
            </a:extLst>
          </p:cNvPr>
          <p:cNvSpPr txBox="1">
            <a:spLocks noChangeArrowheads="1"/>
          </p:cNvSpPr>
          <p:nvPr/>
        </p:nvSpPr>
        <p:spPr bwMode="auto">
          <a:xfrm>
            <a:off x="1048791" y="1708788"/>
            <a:ext cx="1590825" cy="461665"/>
          </a:xfrm>
          <a:prstGeom prst="rect">
            <a:avLst/>
          </a:prstGeom>
          <a:noFill/>
          <a:ln w="9525">
            <a:noFill/>
            <a:miter lim="800000"/>
            <a:headEnd/>
            <a:tailEnd/>
          </a:ln>
          <a:effectLst/>
        </p:spPr>
        <p:txBody>
          <a:bodyPr wrap="square">
            <a:spAutoFit/>
          </a:bodyPr>
          <a:lstStyle/>
          <a:p>
            <a:pPr algn="just">
              <a:spcBef>
                <a:spcPct val="50000"/>
              </a:spcBef>
            </a:pPr>
            <a:r>
              <a:rPr kumimoji="1" lang="zh-CN" altLang="en-US" sz="2400" dirty="0">
                <a:latin typeface="微软雅黑" pitchFamily="34" charset="-122"/>
                <a:ea typeface="微软雅黑" pitchFamily="34" charset="-122"/>
                <a:cs typeface="经典粗黑简" pitchFamily="49" charset="-122"/>
              </a:rPr>
              <a:t>层次遍历</a:t>
            </a:r>
          </a:p>
        </p:txBody>
      </p:sp>
      <p:sp>
        <p:nvSpPr>
          <p:cNvPr id="9" name="Text Box 4">
            <a:extLst>
              <a:ext uri="{FF2B5EF4-FFF2-40B4-BE49-F238E27FC236}">
                <a16:creationId xmlns:a16="http://schemas.microsoft.com/office/drawing/2014/main" xmlns="" id="{D3C0FA49-906F-C503-5D26-FFE41C8FE122}"/>
              </a:ext>
            </a:extLst>
          </p:cNvPr>
          <p:cNvSpPr txBox="1">
            <a:spLocks noChangeArrowheads="1"/>
          </p:cNvSpPr>
          <p:nvPr/>
        </p:nvSpPr>
        <p:spPr bwMode="auto">
          <a:xfrm>
            <a:off x="1033003" y="2853754"/>
            <a:ext cx="7358114" cy="2137472"/>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44000" bIns="144000">
            <a:spAutoFit/>
          </a:bodyPr>
          <a:lstStyle/>
          <a:p>
            <a:pPr algn="l">
              <a:lnSpc>
                <a:spcPct val="150000"/>
              </a:lnSpc>
            </a:pPr>
            <a:r>
              <a:rPr lang="zh-CN" altLang="zh-CN" sz="2000">
                <a:solidFill>
                  <a:srgbClr val="0000FF"/>
                </a:solidFill>
                <a:latin typeface="Consolas" pitchFamily="49" charset="0"/>
                <a:ea typeface="仿宋" pitchFamily="49" charset="-122"/>
                <a:cs typeface="Consolas" pitchFamily="49" charset="0"/>
              </a:rPr>
              <a:t>若二叉树非空（假设其高度为</a:t>
            </a:r>
            <a:r>
              <a:rPr lang="en-US" altLang="zh-CN" sz="2000" i="1">
                <a:solidFill>
                  <a:srgbClr val="0000FF"/>
                </a:solidFill>
                <a:latin typeface="Consolas" pitchFamily="49" charset="0"/>
                <a:ea typeface="仿宋" pitchFamily="49" charset="-122"/>
                <a:cs typeface="Consolas" pitchFamily="49" charset="0"/>
              </a:rPr>
              <a:t>h</a:t>
            </a:r>
            <a:r>
              <a:rPr lang="zh-CN" altLang="zh-CN" sz="2000">
                <a:solidFill>
                  <a:srgbClr val="0000FF"/>
                </a:solidFill>
                <a:latin typeface="Consolas" pitchFamily="49" charset="0"/>
                <a:ea typeface="仿宋" pitchFamily="49" charset="-122"/>
                <a:cs typeface="Consolas" pitchFamily="49" charset="0"/>
              </a:rPr>
              <a:t>），则：</a:t>
            </a:r>
          </a:p>
          <a:p>
            <a:pPr algn="l">
              <a:lnSpc>
                <a:spcPct val="150000"/>
              </a:lnSpc>
            </a:pP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）访问根结点（第</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层）；</a:t>
            </a:r>
          </a:p>
          <a:p>
            <a:pPr algn="l">
              <a:lnSpc>
                <a:spcPct val="150000"/>
              </a:lnSpc>
            </a:pP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2</a:t>
            </a:r>
            <a:r>
              <a:rPr lang="zh-CN" altLang="zh-CN" sz="2000">
                <a:solidFill>
                  <a:srgbClr val="0000FF"/>
                </a:solidFill>
                <a:latin typeface="Consolas" pitchFamily="49" charset="0"/>
                <a:ea typeface="仿宋" pitchFamily="49" charset="-122"/>
                <a:cs typeface="Consolas" pitchFamily="49" charset="0"/>
              </a:rPr>
              <a:t>）从左到右访问第</a:t>
            </a:r>
            <a:r>
              <a:rPr lang="en-US" altLang="zh-CN" sz="2000">
                <a:solidFill>
                  <a:srgbClr val="0000FF"/>
                </a:solidFill>
                <a:latin typeface="Consolas" pitchFamily="49" charset="0"/>
                <a:ea typeface="仿宋" pitchFamily="49" charset="-122"/>
                <a:cs typeface="Consolas" pitchFamily="49" charset="0"/>
              </a:rPr>
              <a:t>2</a:t>
            </a:r>
            <a:r>
              <a:rPr lang="zh-CN" altLang="zh-CN" sz="2000">
                <a:solidFill>
                  <a:srgbClr val="0000FF"/>
                </a:solidFill>
                <a:latin typeface="Consolas" pitchFamily="49" charset="0"/>
                <a:ea typeface="仿宋" pitchFamily="49" charset="-122"/>
                <a:cs typeface="Consolas" pitchFamily="49" charset="0"/>
              </a:rPr>
              <a:t>层的所有结点；</a:t>
            </a:r>
          </a:p>
          <a:p>
            <a:pPr algn="l">
              <a:lnSpc>
                <a:spcPct val="150000"/>
              </a:lnSpc>
            </a:pP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3</a:t>
            </a:r>
            <a:r>
              <a:rPr lang="zh-CN" altLang="zh-CN" sz="2000">
                <a:solidFill>
                  <a:srgbClr val="0000FF"/>
                </a:solidFill>
                <a:latin typeface="Consolas" pitchFamily="49" charset="0"/>
                <a:ea typeface="仿宋" pitchFamily="49" charset="-122"/>
                <a:cs typeface="Consolas" pitchFamily="49" charset="0"/>
              </a:rPr>
              <a:t>）从左到右访问第</a:t>
            </a:r>
            <a:r>
              <a:rPr lang="en-US" altLang="zh-CN" sz="2000">
                <a:solidFill>
                  <a:srgbClr val="0000FF"/>
                </a:solidFill>
                <a:latin typeface="Consolas" pitchFamily="49" charset="0"/>
                <a:ea typeface="仿宋" pitchFamily="49" charset="-122"/>
                <a:cs typeface="Consolas" pitchFamily="49" charset="0"/>
              </a:rPr>
              <a:t>3</a:t>
            </a:r>
            <a:r>
              <a:rPr lang="zh-CN" altLang="zh-CN" sz="2000">
                <a:solidFill>
                  <a:srgbClr val="0000FF"/>
                </a:solidFill>
                <a:latin typeface="Consolas" pitchFamily="49" charset="0"/>
                <a:ea typeface="仿宋" pitchFamily="49" charset="-122"/>
                <a:cs typeface="Consolas" pitchFamily="49" charset="0"/>
              </a:rPr>
              <a:t>层的所有结点、</a:t>
            </a:r>
            <a:r>
              <a:rPr lang="zh-CN" altLang="zh-CN" sz="2000">
                <a:solidFill>
                  <a:srgbClr val="0000FF"/>
                </a:solidFill>
                <a:latin typeface="宋体" pitchFamily="2" charset="-122"/>
                <a:ea typeface="宋体" pitchFamily="2"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、第</a:t>
            </a:r>
            <a:r>
              <a:rPr lang="en-US" altLang="zh-CN" sz="2000" i="1">
                <a:solidFill>
                  <a:srgbClr val="0000FF"/>
                </a:solidFill>
                <a:latin typeface="Consolas" pitchFamily="49" charset="0"/>
                <a:ea typeface="仿宋" pitchFamily="49" charset="-122"/>
                <a:cs typeface="Consolas" pitchFamily="49" charset="0"/>
              </a:rPr>
              <a:t>h</a:t>
            </a:r>
            <a:r>
              <a:rPr lang="zh-CN" altLang="zh-CN" sz="2000">
                <a:solidFill>
                  <a:srgbClr val="0000FF"/>
                </a:solidFill>
                <a:latin typeface="Consolas" pitchFamily="49" charset="0"/>
                <a:ea typeface="仿宋" pitchFamily="49" charset="-122"/>
                <a:cs typeface="Consolas" pitchFamily="49" charset="0"/>
              </a:rPr>
              <a:t>层的所有结点。</a:t>
            </a:r>
          </a:p>
        </p:txBody>
      </p:sp>
      <p:sp>
        <p:nvSpPr>
          <p:cNvPr id="10" name="TextBox 6">
            <a:extLst>
              <a:ext uri="{FF2B5EF4-FFF2-40B4-BE49-F238E27FC236}">
                <a16:creationId xmlns:a16="http://schemas.microsoft.com/office/drawing/2014/main" xmlns="" id="{2592A86C-4433-539E-AA74-DA8281DFDCE0}"/>
              </a:ext>
            </a:extLst>
          </p:cNvPr>
          <p:cNvSpPr txBox="1"/>
          <p:nvPr/>
        </p:nvSpPr>
        <p:spPr>
          <a:xfrm>
            <a:off x="1405981" y="5423564"/>
            <a:ext cx="5000660" cy="400110"/>
          </a:xfrm>
          <a:prstGeom prst="rect">
            <a:avLst/>
          </a:prstGeom>
          <a:noFill/>
        </p:spPr>
        <p:txBody>
          <a:bodyPr wrap="square" rtlCol="0">
            <a:spAutoFit/>
          </a:bodyPr>
          <a:lstStyle/>
          <a:p>
            <a:pPr algn="l"/>
            <a:r>
              <a:rPr lang="zh-CN" altLang="en-US" sz="2000">
                <a:latin typeface="Consolas" pitchFamily="49" charset="0"/>
                <a:ea typeface="华文中宋" pitchFamily="2" charset="-122"/>
                <a:cs typeface="Consolas" pitchFamily="49" charset="0"/>
              </a:rPr>
              <a:t>层次序列的第一个结点是根结点</a:t>
            </a:r>
          </a:p>
        </p:txBody>
      </p:sp>
      <p:sp>
        <p:nvSpPr>
          <p:cNvPr id="15" name="文本框 14">
            <a:extLst>
              <a:ext uri="{FF2B5EF4-FFF2-40B4-BE49-F238E27FC236}">
                <a16:creationId xmlns:a16="http://schemas.microsoft.com/office/drawing/2014/main" xmlns="" id="{D6270B6B-9BB4-DD4B-DED6-6626B6185AB7}"/>
              </a:ext>
            </a:extLst>
          </p:cNvPr>
          <p:cNvSpPr txBox="1"/>
          <p:nvPr/>
        </p:nvSpPr>
        <p:spPr>
          <a:xfrm>
            <a:off x="1033003" y="2281271"/>
            <a:ext cx="6152224" cy="461665"/>
          </a:xfrm>
          <a:prstGeom prst="rect">
            <a:avLst/>
          </a:prstGeom>
          <a:noFill/>
        </p:spPr>
        <p:txBody>
          <a:bodyPr wrap="square">
            <a:spAutoFit/>
          </a:bodyPr>
          <a:lstStyle/>
          <a:p>
            <a:pPr algn="just">
              <a:spcBef>
                <a:spcPct val="50000"/>
              </a:spcBef>
            </a:pPr>
            <a:r>
              <a:rPr kumimoji="1" lang="zh-CN" altLang="en-US" sz="2400" dirty="0">
                <a:latin typeface="微软雅黑" pitchFamily="34" charset="-122"/>
                <a:ea typeface="微软雅黑" pitchFamily="34" charset="-122"/>
                <a:cs typeface="经典粗黑简" pitchFamily="49" charset="-122"/>
              </a:rPr>
              <a:t>层次遍历二叉树的过程是：</a:t>
            </a:r>
          </a:p>
        </p:txBody>
      </p:sp>
    </p:spTree>
    <p:extLst>
      <p:ext uri="{BB962C8B-B14F-4D97-AF65-F5344CB8AC3E}">
        <p14:creationId xmlns:p14="http://schemas.microsoft.com/office/powerpoint/2010/main" val="3434056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A459629-420B-2E91-0723-2CFBF3E4CFBA}"/>
            </a:ext>
          </a:extLst>
        </p:cNvPr>
        <p:cNvGrpSpPr/>
        <p:nvPr/>
      </p:nvGrpSpPr>
      <p:grpSpPr>
        <a:xfrm>
          <a:off x="0" y="0"/>
          <a:ext cx="0" cy="0"/>
          <a:chOff x="0" y="0"/>
          <a:chExt cx="0" cy="0"/>
        </a:xfrm>
      </p:grpSpPr>
      <p:sp>
        <p:nvSpPr>
          <p:cNvPr id="74" name="Text Box 26">
            <a:extLst>
              <a:ext uri="{FF2B5EF4-FFF2-40B4-BE49-F238E27FC236}">
                <a16:creationId xmlns:a16="http://schemas.microsoft.com/office/drawing/2014/main" xmlns="" id="{2578018F-B399-F505-388B-2E3ECDF10DA0}"/>
              </a:ext>
            </a:extLst>
          </p:cNvPr>
          <p:cNvSpPr txBox="1">
            <a:spLocks noChangeArrowheads="1"/>
          </p:cNvSpPr>
          <p:nvPr/>
        </p:nvSpPr>
        <p:spPr bwMode="auto">
          <a:xfrm>
            <a:off x="1090058" y="2756945"/>
            <a:ext cx="1723549" cy="461665"/>
          </a:xfrm>
          <a:prstGeom prst="rect">
            <a:avLst/>
          </a:prstGeom>
          <a:noFill/>
          <a:ln w="9525">
            <a:noFill/>
            <a:miter lim="800000"/>
            <a:headEnd/>
            <a:tailEnd/>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 uri="{53640926-AAD7-44D8-BBD7-CCE9431645EC}">
              <a14:shadowObscured xmlns:a14="http://schemas.microsoft.com/office/drawing/2010/main" val="1"/>
            </a:ext>
          </a:extLst>
        </p:spPr>
        <p:txBody>
          <a:bodyPr wrap="none" anchor="ctr">
            <a:spAutoFit/>
          </a:bodyPr>
          <a:lstStyle/>
          <a:p>
            <a:pPr>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层次遍历：</a:t>
            </a:r>
          </a:p>
        </p:txBody>
      </p:sp>
      <p:grpSp>
        <p:nvGrpSpPr>
          <p:cNvPr id="111" name="Group 2">
            <a:extLst>
              <a:ext uri="{FF2B5EF4-FFF2-40B4-BE49-F238E27FC236}">
                <a16:creationId xmlns:a16="http://schemas.microsoft.com/office/drawing/2014/main" xmlns="" id="{77D86E0A-C034-0519-D361-E3383DB7FFA0}"/>
              </a:ext>
            </a:extLst>
          </p:cNvPr>
          <p:cNvGrpSpPr>
            <a:grpSpLocks/>
          </p:cNvGrpSpPr>
          <p:nvPr/>
        </p:nvGrpSpPr>
        <p:grpSpPr bwMode="auto">
          <a:xfrm>
            <a:off x="6515734" y="2051153"/>
            <a:ext cx="3673475" cy="3384550"/>
            <a:chOff x="1972" y="482"/>
            <a:chExt cx="2314" cy="2132"/>
          </a:xfrm>
        </p:grpSpPr>
        <p:sp>
          <p:nvSpPr>
            <p:cNvPr id="112" name="Oval 3">
              <a:extLst>
                <a:ext uri="{FF2B5EF4-FFF2-40B4-BE49-F238E27FC236}">
                  <a16:creationId xmlns:a16="http://schemas.microsoft.com/office/drawing/2014/main" xmlns="" id="{E7507206-358C-8622-CB75-155374551316}"/>
                </a:ext>
              </a:extLst>
            </p:cNvPr>
            <p:cNvSpPr>
              <a:spLocks noChangeArrowheads="1"/>
            </p:cNvSpPr>
            <p:nvPr/>
          </p:nvSpPr>
          <p:spPr bwMode="auto">
            <a:xfrm>
              <a:off x="3832" y="2251"/>
              <a:ext cx="363" cy="363"/>
            </a:xfrm>
            <a:prstGeom prst="ellipse">
              <a:avLst/>
            </a:prstGeom>
            <a:solidFill>
              <a:schemeClr val="bg1"/>
            </a:solidFill>
            <a:ln w="28575" cap="sq">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H</a:t>
              </a:r>
            </a:p>
          </p:txBody>
        </p:sp>
        <p:sp>
          <p:nvSpPr>
            <p:cNvPr id="113" name="Oval 4">
              <a:extLst>
                <a:ext uri="{FF2B5EF4-FFF2-40B4-BE49-F238E27FC236}">
                  <a16:creationId xmlns:a16="http://schemas.microsoft.com/office/drawing/2014/main" xmlns="" id="{A2572EB2-88BB-30EF-DBED-889D7D73404C}"/>
                </a:ext>
              </a:extLst>
            </p:cNvPr>
            <p:cNvSpPr>
              <a:spLocks noChangeArrowheads="1"/>
            </p:cNvSpPr>
            <p:nvPr/>
          </p:nvSpPr>
          <p:spPr bwMode="auto">
            <a:xfrm>
              <a:off x="2335" y="1661"/>
              <a:ext cx="363" cy="363"/>
            </a:xfrm>
            <a:prstGeom prst="ellipse">
              <a:avLst/>
            </a:prstGeom>
            <a:solidFill>
              <a:schemeClr val="bg1"/>
            </a:solidFill>
            <a:ln w="28575" cap="sq">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D</a:t>
              </a:r>
            </a:p>
          </p:txBody>
        </p:sp>
        <p:sp>
          <p:nvSpPr>
            <p:cNvPr id="114" name="Oval 5">
              <a:extLst>
                <a:ext uri="{FF2B5EF4-FFF2-40B4-BE49-F238E27FC236}">
                  <a16:creationId xmlns:a16="http://schemas.microsoft.com/office/drawing/2014/main" xmlns="" id="{D14FF8D1-6DD3-49ED-015F-C55D39CBF3B9}"/>
                </a:ext>
              </a:extLst>
            </p:cNvPr>
            <p:cNvSpPr>
              <a:spLocks noChangeArrowheads="1"/>
            </p:cNvSpPr>
            <p:nvPr/>
          </p:nvSpPr>
          <p:spPr bwMode="auto">
            <a:xfrm>
              <a:off x="3424" y="1661"/>
              <a:ext cx="363" cy="363"/>
            </a:xfrm>
            <a:prstGeom prst="ellipse">
              <a:avLst/>
            </a:prstGeom>
            <a:solidFill>
              <a:schemeClr val="bg1"/>
            </a:solidFill>
            <a:ln w="28575" cap="sq">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E</a:t>
              </a:r>
            </a:p>
          </p:txBody>
        </p:sp>
        <p:sp>
          <p:nvSpPr>
            <p:cNvPr id="115" name="Oval 6">
              <a:extLst>
                <a:ext uri="{FF2B5EF4-FFF2-40B4-BE49-F238E27FC236}">
                  <a16:creationId xmlns:a16="http://schemas.microsoft.com/office/drawing/2014/main" xmlns="" id="{9AE522FF-0513-3738-FD01-941AA05905C9}"/>
                </a:ext>
              </a:extLst>
            </p:cNvPr>
            <p:cNvSpPr>
              <a:spLocks noChangeArrowheads="1"/>
            </p:cNvSpPr>
            <p:nvPr/>
          </p:nvSpPr>
          <p:spPr bwMode="auto">
            <a:xfrm>
              <a:off x="1972" y="1072"/>
              <a:ext cx="363" cy="363"/>
            </a:xfrm>
            <a:prstGeom prst="ellipse">
              <a:avLst/>
            </a:prstGeom>
            <a:solidFill>
              <a:schemeClr val="bg1"/>
            </a:solidFill>
            <a:ln w="28575" cap="sq">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B</a:t>
              </a:r>
            </a:p>
          </p:txBody>
        </p:sp>
        <p:sp>
          <p:nvSpPr>
            <p:cNvPr id="116" name="Oval 7">
              <a:extLst>
                <a:ext uri="{FF2B5EF4-FFF2-40B4-BE49-F238E27FC236}">
                  <a16:creationId xmlns:a16="http://schemas.microsoft.com/office/drawing/2014/main" xmlns="" id="{D8A3C90B-B533-57C2-2E80-576F61BCFB5C}"/>
                </a:ext>
              </a:extLst>
            </p:cNvPr>
            <p:cNvSpPr>
              <a:spLocks noChangeArrowheads="1"/>
            </p:cNvSpPr>
            <p:nvPr/>
          </p:nvSpPr>
          <p:spPr bwMode="auto">
            <a:xfrm>
              <a:off x="3923" y="1072"/>
              <a:ext cx="363" cy="363"/>
            </a:xfrm>
            <a:prstGeom prst="ellipse">
              <a:avLst/>
            </a:prstGeom>
            <a:solidFill>
              <a:schemeClr val="bg1"/>
            </a:solidFill>
            <a:ln w="28575" cap="sq">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3200" dirty="0">
                  <a:latin typeface="Times New Roman" pitchFamily="18" charset="0"/>
                  <a:cs typeface="Times New Roman" pitchFamily="18" charset="0"/>
                </a:rPr>
                <a:t>C</a:t>
              </a:r>
            </a:p>
          </p:txBody>
        </p:sp>
        <p:sp>
          <p:nvSpPr>
            <p:cNvPr id="117" name="Oval 8">
              <a:extLst>
                <a:ext uri="{FF2B5EF4-FFF2-40B4-BE49-F238E27FC236}">
                  <a16:creationId xmlns:a16="http://schemas.microsoft.com/office/drawing/2014/main" xmlns="" id="{58678AFC-3C9D-8116-B253-9C8D1F636506}"/>
                </a:ext>
              </a:extLst>
            </p:cNvPr>
            <p:cNvSpPr>
              <a:spLocks noChangeArrowheads="1"/>
            </p:cNvSpPr>
            <p:nvPr/>
          </p:nvSpPr>
          <p:spPr bwMode="auto">
            <a:xfrm>
              <a:off x="2879" y="482"/>
              <a:ext cx="363" cy="363"/>
            </a:xfrm>
            <a:prstGeom prst="ellipse">
              <a:avLst/>
            </a:prstGeom>
            <a:solidFill>
              <a:schemeClr val="bg1"/>
            </a:solidFill>
            <a:ln w="28575" cap="sq">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A</a:t>
              </a:r>
            </a:p>
          </p:txBody>
        </p:sp>
        <p:sp>
          <p:nvSpPr>
            <p:cNvPr id="118" name="Line 9">
              <a:extLst>
                <a:ext uri="{FF2B5EF4-FFF2-40B4-BE49-F238E27FC236}">
                  <a16:creationId xmlns:a16="http://schemas.microsoft.com/office/drawing/2014/main" xmlns="" id="{BFB25AEA-D7F6-464C-32D5-BC31998E3A3F}"/>
                </a:ext>
              </a:extLst>
            </p:cNvPr>
            <p:cNvSpPr>
              <a:spLocks noChangeShapeType="1"/>
            </p:cNvSpPr>
            <p:nvPr/>
          </p:nvSpPr>
          <p:spPr bwMode="auto">
            <a:xfrm>
              <a:off x="3242" y="663"/>
              <a:ext cx="748" cy="454"/>
            </a:xfrm>
            <a:prstGeom prst="line">
              <a:avLst/>
            </a:prstGeom>
            <a:noFill/>
            <a:ln w="28575" cap="sq">
              <a:solidFill>
                <a:srgbClr val="808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3200">
                <a:latin typeface="Times New Roman" pitchFamily="18" charset="0"/>
                <a:cs typeface="Times New Roman" pitchFamily="18" charset="0"/>
              </a:endParaRPr>
            </a:p>
          </p:txBody>
        </p:sp>
        <p:sp>
          <p:nvSpPr>
            <p:cNvPr id="119" name="Line 10">
              <a:extLst>
                <a:ext uri="{FF2B5EF4-FFF2-40B4-BE49-F238E27FC236}">
                  <a16:creationId xmlns:a16="http://schemas.microsoft.com/office/drawing/2014/main" xmlns="" id="{2DB4BC1E-FBDC-F0BC-8DB1-CB5138130FF2}"/>
                </a:ext>
              </a:extLst>
            </p:cNvPr>
            <p:cNvSpPr>
              <a:spLocks noChangeShapeType="1"/>
            </p:cNvSpPr>
            <p:nvPr/>
          </p:nvSpPr>
          <p:spPr bwMode="auto">
            <a:xfrm flipH="1">
              <a:off x="3651" y="1344"/>
              <a:ext cx="272" cy="317"/>
            </a:xfrm>
            <a:prstGeom prst="line">
              <a:avLst/>
            </a:prstGeom>
            <a:noFill/>
            <a:ln w="28575" cap="sq">
              <a:solidFill>
                <a:srgbClr val="808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3200">
                <a:latin typeface="Times New Roman" pitchFamily="18" charset="0"/>
                <a:cs typeface="Times New Roman" pitchFamily="18" charset="0"/>
              </a:endParaRPr>
            </a:p>
          </p:txBody>
        </p:sp>
        <p:sp>
          <p:nvSpPr>
            <p:cNvPr id="120" name="Line 11">
              <a:extLst>
                <a:ext uri="{FF2B5EF4-FFF2-40B4-BE49-F238E27FC236}">
                  <a16:creationId xmlns:a16="http://schemas.microsoft.com/office/drawing/2014/main" xmlns="" id="{51A17F82-BE8A-88A1-BA61-F9B72DDD837E}"/>
                </a:ext>
              </a:extLst>
            </p:cNvPr>
            <p:cNvSpPr>
              <a:spLocks noChangeShapeType="1"/>
            </p:cNvSpPr>
            <p:nvPr/>
          </p:nvSpPr>
          <p:spPr bwMode="auto">
            <a:xfrm flipH="1">
              <a:off x="2267" y="663"/>
              <a:ext cx="612" cy="454"/>
            </a:xfrm>
            <a:prstGeom prst="line">
              <a:avLst/>
            </a:prstGeom>
            <a:noFill/>
            <a:ln w="28575" cap="sq">
              <a:solidFill>
                <a:srgbClr val="808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3200">
                <a:latin typeface="Times New Roman" pitchFamily="18" charset="0"/>
                <a:cs typeface="Times New Roman" pitchFamily="18" charset="0"/>
              </a:endParaRPr>
            </a:p>
          </p:txBody>
        </p:sp>
        <p:sp>
          <p:nvSpPr>
            <p:cNvPr id="121" name="Line 12">
              <a:extLst>
                <a:ext uri="{FF2B5EF4-FFF2-40B4-BE49-F238E27FC236}">
                  <a16:creationId xmlns:a16="http://schemas.microsoft.com/office/drawing/2014/main" xmlns="" id="{9DC8DACA-95C2-C05D-6C4B-AB0429939CA5}"/>
                </a:ext>
              </a:extLst>
            </p:cNvPr>
            <p:cNvSpPr>
              <a:spLocks noChangeShapeType="1"/>
            </p:cNvSpPr>
            <p:nvPr/>
          </p:nvSpPr>
          <p:spPr bwMode="auto">
            <a:xfrm>
              <a:off x="2290" y="1389"/>
              <a:ext cx="181" cy="272"/>
            </a:xfrm>
            <a:prstGeom prst="line">
              <a:avLst/>
            </a:prstGeom>
            <a:noFill/>
            <a:ln w="28575" cap="sq">
              <a:solidFill>
                <a:srgbClr val="808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3200">
                <a:latin typeface="Times New Roman" pitchFamily="18" charset="0"/>
                <a:cs typeface="Times New Roman" pitchFamily="18" charset="0"/>
              </a:endParaRPr>
            </a:p>
          </p:txBody>
        </p:sp>
        <p:sp>
          <p:nvSpPr>
            <p:cNvPr id="122" name="Oval 13">
              <a:extLst>
                <a:ext uri="{FF2B5EF4-FFF2-40B4-BE49-F238E27FC236}">
                  <a16:creationId xmlns:a16="http://schemas.microsoft.com/office/drawing/2014/main" xmlns="" id="{32A7C4A3-9BE8-4CDA-F5C0-CA1F039FAD8C}"/>
                </a:ext>
              </a:extLst>
            </p:cNvPr>
            <p:cNvSpPr>
              <a:spLocks noChangeArrowheads="1"/>
            </p:cNvSpPr>
            <p:nvPr/>
          </p:nvSpPr>
          <p:spPr bwMode="auto">
            <a:xfrm>
              <a:off x="3061" y="2251"/>
              <a:ext cx="363" cy="363"/>
            </a:xfrm>
            <a:prstGeom prst="ellipse">
              <a:avLst/>
            </a:prstGeom>
            <a:solidFill>
              <a:schemeClr val="bg1"/>
            </a:solidFill>
            <a:ln w="28575" cap="sq">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G</a:t>
              </a:r>
            </a:p>
          </p:txBody>
        </p:sp>
        <p:sp>
          <p:nvSpPr>
            <p:cNvPr id="123" name="Oval 14">
              <a:extLst>
                <a:ext uri="{FF2B5EF4-FFF2-40B4-BE49-F238E27FC236}">
                  <a16:creationId xmlns:a16="http://schemas.microsoft.com/office/drawing/2014/main" xmlns="" id="{B8151855-2E3A-62BF-77D7-A4D47A8BC92D}"/>
                </a:ext>
              </a:extLst>
            </p:cNvPr>
            <p:cNvSpPr>
              <a:spLocks noChangeArrowheads="1"/>
            </p:cNvSpPr>
            <p:nvPr/>
          </p:nvSpPr>
          <p:spPr bwMode="auto">
            <a:xfrm>
              <a:off x="2154" y="2251"/>
              <a:ext cx="363" cy="363"/>
            </a:xfrm>
            <a:prstGeom prst="ellipse">
              <a:avLst/>
            </a:prstGeom>
            <a:solidFill>
              <a:schemeClr val="bg1"/>
            </a:solidFill>
            <a:ln w="28575" cap="sq">
              <a:solidFill>
                <a:srgbClr val="8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3200">
                  <a:latin typeface="Times New Roman" pitchFamily="18" charset="0"/>
                  <a:cs typeface="Times New Roman" pitchFamily="18" charset="0"/>
                </a:rPr>
                <a:t>F</a:t>
              </a:r>
            </a:p>
          </p:txBody>
        </p:sp>
        <p:sp>
          <p:nvSpPr>
            <p:cNvPr id="124" name="Line 15">
              <a:extLst>
                <a:ext uri="{FF2B5EF4-FFF2-40B4-BE49-F238E27FC236}">
                  <a16:creationId xmlns:a16="http://schemas.microsoft.com/office/drawing/2014/main" xmlns="" id="{FA7A5853-38C4-DE06-B76A-C6E4623E7E0A}"/>
                </a:ext>
              </a:extLst>
            </p:cNvPr>
            <p:cNvSpPr>
              <a:spLocks noChangeShapeType="1"/>
            </p:cNvSpPr>
            <p:nvPr/>
          </p:nvSpPr>
          <p:spPr bwMode="auto">
            <a:xfrm flipH="1">
              <a:off x="2290" y="1979"/>
              <a:ext cx="136" cy="272"/>
            </a:xfrm>
            <a:prstGeom prst="line">
              <a:avLst/>
            </a:prstGeom>
            <a:noFill/>
            <a:ln w="28575" cap="sq">
              <a:solidFill>
                <a:srgbClr val="808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3200">
                <a:latin typeface="Times New Roman" pitchFamily="18" charset="0"/>
                <a:cs typeface="Times New Roman" pitchFamily="18" charset="0"/>
              </a:endParaRPr>
            </a:p>
          </p:txBody>
        </p:sp>
        <p:sp>
          <p:nvSpPr>
            <p:cNvPr id="125" name="Line 16">
              <a:extLst>
                <a:ext uri="{FF2B5EF4-FFF2-40B4-BE49-F238E27FC236}">
                  <a16:creationId xmlns:a16="http://schemas.microsoft.com/office/drawing/2014/main" xmlns="" id="{E0AB5411-E710-0D04-6DB2-D2FF919A786D}"/>
                </a:ext>
              </a:extLst>
            </p:cNvPr>
            <p:cNvSpPr>
              <a:spLocks noChangeShapeType="1"/>
            </p:cNvSpPr>
            <p:nvPr/>
          </p:nvSpPr>
          <p:spPr bwMode="auto">
            <a:xfrm flipH="1">
              <a:off x="3333" y="1979"/>
              <a:ext cx="182" cy="272"/>
            </a:xfrm>
            <a:prstGeom prst="line">
              <a:avLst/>
            </a:prstGeom>
            <a:noFill/>
            <a:ln w="28575" cap="sq">
              <a:solidFill>
                <a:srgbClr val="808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3200">
                <a:latin typeface="Times New Roman" pitchFamily="18" charset="0"/>
                <a:cs typeface="Times New Roman" pitchFamily="18" charset="0"/>
              </a:endParaRPr>
            </a:p>
          </p:txBody>
        </p:sp>
        <p:sp>
          <p:nvSpPr>
            <p:cNvPr id="126" name="Line 17">
              <a:extLst>
                <a:ext uri="{FF2B5EF4-FFF2-40B4-BE49-F238E27FC236}">
                  <a16:creationId xmlns:a16="http://schemas.microsoft.com/office/drawing/2014/main" xmlns="" id="{06530E84-DEFF-776F-20EC-42CB537D8D8D}"/>
                </a:ext>
              </a:extLst>
            </p:cNvPr>
            <p:cNvSpPr>
              <a:spLocks noChangeShapeType="1"/>
            </p:cNvSpPr>
            <p:nvPr/>
          </p:nvSpPr>
          <p:spPr bwMode="auto">
            <a:xfrm>
              <a:off x="3787" y="1933"/>
              <a:ext cx="272" cy="318"/>
            </a:xfrm>
            <a:prstGeom prst="line">
              <a:avLst/>
            </a:prstGeom>
            <a:noFill/>
            <a:ln w="28575" cap="sq">
              <a:solidFill>
                <a:srgbClr val="808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3200">
                <a:latin typeface="Times New Roman" pitchFamily="18" charset="0"/>
                <a:cs typeface="Times New Roman" pitchFamily="18" charset="0"/>
              </a:endParaRPr>
            </a:p>
          </p:txBody>
        </p:sp>
      </p:grpSp>
      <p:sp>
        <p:nvSpPr>
          <p:cNvPr id="2" name="矩形 1">
            <a:extLst>
              <a:ext uri="{FF2B5EF4-FFF2-40B4-BE49-F238E27FC236}">
                <a16:creationId xmlns:a16="http://schemas.microsoft.com/office/drawing/2014/main" xmlns="" id="{D1FA5508-6A56-16D6-3DFC-77C4502D8B2C}"/>
              </a:ext>
            </a:extLst>
          </p:cNvPr>
          <p:cNvSpPr/>
          <p:nvPr/>
        </p:nvSpPr>
        <p:spPr>
          <a:xfrm>
            <a:off x="2796379" y="2691134"/>
            <a:ext cx="2396810" cy="584775"/>
          </a:xfrm>
          <a:prstGeom prst="rect">
            <a:avLst/>
          </a:prstGeom>
        </p:spPr>
        <p:txBody>
          <a:bodyPr wrap="none">
            <a:spAutoFit/>
          </a:bodyPr>
          <a:lstStyle/>
          <a:p>
            <a:pPr>
              <a:spcBef>
                <a:spcPct val="50000"/>
              </a:spcBef>
              <a:buClrTx/>
              <a:buSzTx/>
              <a:buFontTx/>
              <a:buNone/>
            </a:pPr>
            <a:r>
              <a:rPr lang="en-US" altLang="zh-CN" sz="3200" dirty="0">
                <a:latin typeface="Times New Roman" pitchFamily="18" charset="0"/>
                <a:ea typeface="隶书" pitchFamily="49" charset="-122"/>
                <a:cs typeface="Times New Roman" pitchFamily="18" charset="0"/>
              </a:rPr>
              <a:t>ABCDEFGH</a:t>
            </a:r>
          </a:p>
        </p:txBody>
      </p:sp>
      <p:sp>
        <p:nvSpPr>
          <p:cNvPr id="5" name="矩形 4">
            <a:extLst>
              <a:ext uri="{FF2B5EF4-FFF2-40B4-BE49-F238E27FC236}">
                <a16:creationId xmlns:a16="http://schemas.microsoft.com/office/drawing/2014/main" xmlns="" id="{0E58AF26-0E94-E3A4-9B21-B3B8822FCCD6}"/>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6" name="Rectangle 2">
            <a:extLst>
              <a:ext uri="{FF2B5EF4-FFF2-40B4-BE49-F238E27FC236}">
                <a16:creationId xmlns:a16="http://schemas.microsoft.com/office/drawing/2014/main" xmlns="" id="{4D67C639-9028-D77F-1629-B8738C6BB069}"/>
              </a:ext>
            </a:extLst>
          </p:cNvPr>
          <p:cNvSpPr txBox="1">
            <a:spLocks noChangeArrowheads="1"/>
          </p:cNvSpPr>
          <p:nvPr/>
        </p:nvSpPr>
        <p:spPr>
          <a:xfrm>
            <a:off x="79920" y="836712"/>
            <a:ext cx="464792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7.5.1 </a:t>
            </a:r>
            <a:r>
              <a:rPr lang="zh-CN" altLang="en-US" dirty="0"/>
              <a:t>二叉树遍历的概念</a:t>
            </a:r>
          </a:p>
        </p:txBody>
      </p:sp>
      <p:cxnSp>
        <p:nvCxnSpPr>
          <p:cNvPr id="7" name="直接连接符 6">
            <a:extLst>
              <a:ext uri="{FF2B5EF4-FFF2-40B4-BE49-F238E27FC236}">
                <a16:creationId xmlns:a16="http://schemas.microsoft.com/office/drawing/2014/main" xmlns="" id="{D3473A39-A78B-1171-F695-7F61933E634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5550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animEffect transition="in" filter="box(out)">
                                      <p:cBhvr>
                                        <p:cTn id="7" dur="500"/>
                                        <p:tgtEl>
                                          <p:spTgt spid="74">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build="p"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4"/>
          <p:cNvSpPr>
            <a:spLocks noChangeArrowheads="1"/>
          </p:cNvSpPr>
          <p:nvPr/>
        </p:nvSpPr>
        <p:spPr bwMode="auto">
          <a:xfrm>
            <a:off x="3648419" y="3152875"/>
            <a:ext cx="449262" cy="389768"/>
          </a:xfrm>
          <a:prstGeom prst="ellipse">
            <a:avLst/>
          </a:prstGeom>
          <a:solidFill>
            <a:srgbClr val="FFCC99"/>
          </a:solidFill>
          <a:ln w="9525">
            <a:solidFill>
              <a:schemeClr val="tx1"/>
            </a:solidFill>
            <a:round/>
            <a:headEnd/>
            <a:tailEnd/>
          </a:ln>
        </p:spPr>
        <p:txBody>
          <a:bodyPr wrap="none" anchor="ctr"/>
          <a:lstStyle/>
          <a:p>
            <a:pPr algn="ctr">
              <a:lnSpc>
                <a:spcPct val="90000"/>
              </a:lnSpc>
              <a:buClrTx/>
              <a:buSzTx/>
              <a:buFont typeface="Wingdings" pitchFamily="2" charset="2"/>
              <a:buNone/>
            </a:pPr>
            <a:r>
              <a:rPr lang="en-US" altLang="zh-CN" sz="2400" dirty="0">
                <a:latin typeface="Times New Roman" pitchFamily="18" charset="0"/>
              </a:rPr>
              <a:t>D</a:t>
            </a:r>
          </a:p>
        </p:txBody>
      </p:sp>
      <p:sp>
        <p:nvSpPr>
          <p:cNvPr id="28" name="AutoShape 5"/>
          <p:cNvSpPr>
            <a:spLocks noChangeArrowheads="1"/>
          </p:cNvSpPr>
          <p:nvPr/>
        </p:nvSpPr>
        <p:spPr bwMode="auto">
          <a:xfrm>
            <a:off x="2731715" y="3909602"/>
            <a:ext cx="838200" cy="533400"/>
          </a:xfrm>
          <a:prstGeom prst="triangle">
            <a:avLst>
              <a:gd name="adj" fmla="val 50000"/>
            </a:avLst>
          </a:prstGeom>
          <a:solidFill>
            <a:srgbClr val="FF000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L</a:t>
            </a:r>
          </a:p>
        </p:txBody>
      </p:sp>
      <p:sp>
        <p:nvSpPr>
          <p:cNvPr id="29" name="AutoShape 6"/>
          <p:cNvSpPr>
            <a:spLocks noChangeArrowheads="1"/>
          </p:cNvSpPr>
          <p:nvPr/>
        </p:nvSpPr>
        <p:spPr bwMode="auto">
          <a:xfrm>
            <a:off x="4017751" y="3880956"/>
            <a:ext cx="838200" cy="618043"/>
          </a:xfrm>
          <a:prstGeom prst="triangle">
            <a:avLst>
              <a:gd name="adj" fmla="val 50000"/>
            </a:avLst>
          </a:prstGeom>
          <a:solidFill>
            <a:srgbClr val="00B05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R</a:t>
            </a:r>
          </a:p>
        </p:txBody>
      </p:sp>
      <p:sp>
        <p:nvSpPr>
          <p:cNvPr id="30" name="Line 7"/>
          <p:cNvSpPr>
            <a:spLocks noChangeShapeType="1"/>
          </p:cNvSpPr>
          <p:nvPr/>
        </p:nvSpPr>
        <p:spPr bwMode="auto">
          <a:xfrm flipH="1">
            <a:off x="3150816" y="3542643"/>
            <a:ext cx="620563" cy="36695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8"/>
          <p:cNvSpPr>
            <a:spLocks noChangeShapeType="1"/>
          </p:cNvSpPr>
          <p:nvPr/>
        </p:nvSpPr>
        <p:spPr bwMode="auto">
          <a:xfrm>
            <a:off x="3955852" y="3542642"/>
            <a:ext cx="475493" cy="366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Text Box 9"/>
          <p:cNvSpPr txBox="1">
            <a:spLocks noChangeArrowheads="1"/>
          </p:cNvSpPr>
          <p:nvPr/>
        </p:nvSpPr>
        <p:spPr bwMode="auto">
          <a:xfrm>
            <a:off x="4274888" y="3085443"/>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1</a:t>
            </a:r>
            <a:endParaRPr lang="zh-CN" altLang="en-US" sz="2400" dirty="0">
              <a:latin typeface="微软雅黑" pitchFamily="34" charset="-122"/>
              <a:ea typeface="微软雅黑" pitchFamily="34" charset="-122"/>
              <a:cs typeface="经典粗黑简" pitchFamily="49" charset="-122"/>
            </a:endParaRPr>
          </a:p>
        </p:txBody>
      </p:sp>
      <p:sp>
        <p:nvSpPr>
          <p:cNvPr id="20" name="Text Box 9"/>
          <p:cNvSpPr txBox="1">
            <a:spLocks noChangeArrowheads="1"/>
          </p:cNvSpPr>
          <p:nvPr/>
        </p:nvSpPr>
        <p:spPr bwMode="auto">
          <a:xfrm>
            <a:off x="3368452"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2</a:t>
            </a:r>
            <a:endParaRPr lang="zh-CN" altLang="en-US" sz="2400" dirty="0">
              <a:latin typeface="微软雅黑" pitchFamily="34" charset="-122"/>
              <a:ea typeface="微软雅黑" pitchFamily="34" charset="-122"/>
              <a:cs typeface="经典粗黑简" pitchFamily="49" charset="-122"/>
            </a:endParaRPr>
          </a:p>
        </p:txBody>
      </p:sp>
      <p:sp>
        <p:nvSpPr>
          <p:cNvPr id="21" name="Text Box 9"/>
          <p:cNvSpPr txBox="1">
            <a:spLocks noChangeArrowheads="1"/>
          </p:cNvSpPr>
          <p:nvPr/>
        </p:nvSpPr>
        <p:spPr bwMode="auto">
          <a:xfrm>
            <a:off x="4797485"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3</a:t>
            </a:r>
            <a:endParaRPr lang="zh-CN" altLang="en-US" sz="2400" dirty="0">
              <a:latin typeface="微软雅黑" pitchFamily="34" charset="-122"/>
              <a:ea typeface="微软雅黑" pitchFamily="34" charset="-122"/>
              <a:cs typeface="经典粗黑简" pitchFamily="49" charset="-122"/>
            </a:endParaRPr>
          </a:p>
        </p:txBody>
      </p:sp>
      <p:sp>
        <p:nvSpPr>
          <p:cNvPr id="16" name="Text Box 20"/>
          <p:cNvSpPr txBox="1">
            <a:spLocks noChangeArrowheads="1"/>
          </p:cNvSpPr>
          <p:nvPr/>
        </p:nvSpPr>
        <p:spPr bwMode="auto">
          <a:xfrm>
            <a:off x="6826696" y="2780929"/>
            <a:ext cx="3301752"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若二叉树非空</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）访问根结点；</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）先序遍历左子树；</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）先序遍历右子树；</a:t>
            </a:r>
          </a:p>
        </p:txBody>
      </p:sp>
      <p:sp>
        <p:nvSpPr>
          <p:cNvPr id="17" name="AutoShape 22"/>
          <p:cNvSpPr>
            <a:spLocks noChangeArrowheads="1"/>
          </p:cNvSpPr>
          <p:nvPr/>
        </p:nvSpPr>
        <p:spPr bwMode="auto">
          <a:xfrm>
            <a:off x="5357819" y="3621728"/>
            <a:ext cx="1468877" cy="457200"/>
          </a:xfrm>
          <a:prstGeom prst="rightArrow">
            <a:avLst>
              <a:gd name="adj1" fmla="val 50000"/>
              <a:gd name="adj2" fmla="val 50000"/>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22" name="Text Box 21"/>
          <p:cNvSpPr txBox="1">
            <a:spLocks noChangeArrowheads="1"/>
          </p:cNvSpPr>
          <p:nvPr/>
        </p:nvSpPr>
        <p:spPr bwMode="auto">
          <a:xfrm>
            <a:off x="5049690" y="4653137"/>
            <a:ext cx="5367452" cy="169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若二叉树为空，结束   </a:t>
            </a:r>
            <a:r>
              <a:rPr lang="en-US" altLang="zh-CN" sz="1800" dirty="0">
                <a:latin typeface="微软雅黑" pitchFamily="34" charset="-122"/>
                <a:ea typeface="微软雅黑" pitchFamily="34" charset="-122"/>
                <a:cs typeface="经典粗黑简" pitchFamily="49" charset="-122"/>
              </a:rPr>
              <a:t>——</a:t>
            </a:r>
            <a:r>
              <a:rPr lang="zh-CN" altLang="en-US" sz="1800" dirty="0">
                <a:latin typeface="微软雅黑" pitchFamily="34" charset="-122"/>
                <a:ea typeface="微软雅黑" pitchFamily="34" charset="-122"/>
                <a:cs typeface="经典粗黑简" pitchFamily="49" charset="-122"/>
              </a:rPr>
              <a:t>基本项（也叫终止项）</a:t>
            </a:r>
          </a:p>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若二叉树非空             </a:t>
            </a:r>
            <a:r>
              <a:rPr lang="en-US" altLang="zh-CN" sz="1800" dirty="0">
                <a:latin typeface="微软雅黑" pitchFamily="34" charset="-122"/>
                <a:ea typeface="微软雅黑" pitchFamily="34" charset="-122"/>
                <a:cs typeface="经典粗黑简" pitchFamily="49" charset="-122"/>
              </a:rPr>
              <a:t>——</a:t>
            </a:r>
            <a:r>
              <a:rPr lang="zh-CN" altLang="en-US" sz="1800" dirty="0">
                <a:latin typeface="微软雅黑" pitchFamily="34" charset="-122"/>
                <a:ea typeface="微软雅黑" pitchFamily="34" charset="-122"/>
                <a:cs typeface="经典粗黑简" pitchFamily="49" charset="-122"/>
              </a:rPr>
              <a:t>递归项</a:t>
            </a:r>
          </a:p>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    （</a:t>
            </a:r>
            <a:r>
              <a:rPr lang="en-US" altLang="zh-CN" sz="1800" dirty="0">
                <a:latin typeface="微软雅黑" pitchFamily="34" charset="-122"/>
                <a:ea typeface="微软雅黑" pitchFamily="34" charset="-122"/>
                <a:cs typeface="经典粗黑简" pitchFamily="49" charset="-122"/>
              </a:rPr>
              <a:t>1</a:t>
            </a:r>
            <a:r>
              <a:rPr lang="zh-CN" altLang="en-US" sz="1800" dirty="0">
                <a:latin typeface="微软雅黑" pitchFamily="34" charset="-122"/>
                <a:ea typeface="微软雅黑" pitchFamily="34" charset="-122"/>
                <a:cs typeface="经典粗黑简" pitchFamily="49" charset="-122"/>
              </a:rPr>
              <a:t>）访问根结点；</a:t>
            </a:r>
          </a:p>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    （</a:t>
            </a:r>
            <a:r>
              <a:rPr lang="en-US" altLang="zh-CN" sz="1800" dirty="0">
                <a:latin typeface="微软雅黑" pitchFamily="34" charset="-122"/>
                <a:ea typeface="微软雅黑" pitchFamily="34" charset="-122"/>
                <a:cs typeface="经典粗黑简" pitchFamily="49" charset="-122"/>
              </a:rPr>
              <a:t>2</a:t>
            </a:r>
            <a:r>
              <a:rPr lang="zh-CN" altLang="en-US" sz="1800" dirty="0">
                <a:latin typeface="微软雅黑" pitchFamily="34" charset="-122"/>
                <a:ea typeface="微软雅黑" pitchFamily="34" charset="-122"/>
                <a:cs typeface="经典粗黑简" pitchFamily="49" charset="-122"/>
              </a:rPr>
              <a:t>）先序遍历左子树；</a:t>
            </a:r>
          </a:p>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    （</a:t>
            </a:r>
            <a:r>
              <a:rPr lang="en-US" altLang="zh-CN" sz="1800" dirty="0">
                <a:latin typeface="微软雅黑" pitchFamily="34" charset="-122"/>
                <a:ea typeface="微软雅黑" pitchFamily="34" charset="-122"/>
                <a:cs typeface="经典粗黑简" pitchFamily="49" charset="-122"/>
              </a:rPr>
              <a:t>3</a:t>
            </a:r>
            <a:r>
              <a:rPr lang="zh-CN" altLang="en-US" sz="1800" dirty="0">
                <a:latin typeface="微软雅黑" pitchFamily="34" charset="-122"/>
                <a:ea typeface="微软雅黑" pitchFamily="34" charset="-122"/>
                <a:cs typeface="经典粗黑简" pitchFamily="49" charset="-122"/>
              </a:rPr>
              <a:t>）先序遍历右子树；</a:t>
            </a:r>
          </a:p>
        </p:txBody>
      </p:sp>
      <p:sp>
        <p:nvSpPr>
          <p:cNvPr id="23" name="AutoShape 23"/>
          <p:cNvSpPr>
            <a:spLocks noChangeArrowheads="1"/>
          </p:cNvSpPr>
          <p:nvPr/>
        </p:nvSpPr>
        <p:spPr bwMode="auto">
          <a:xfrm rot="16200000">
            <a:off x="7551365" y="4242485"/>
            <a:ext cx="364102" cy="457200"/>
          </a:xfrm>
          <a:prstGeom prst="leftArrow">
            <a:avLst>
              <a:gd name="adj1" fmla="val 50000"/>
              <a:gd name="adj2" fmla="val 45833"/>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41"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先序遍历</a:t>
            </a:r>
          </a:p>
        </p:txBody>
      </p:sp>
      <p:sp>
        <p:nvSpPr>
          <p:cNvPr id="2" name="矩形 1">
            <a:extLst>
              <a:ext uri="{FF2B5EF4-FFF2-40B4-BE49-F238E27FC236}">
                <a16:creationId xmlns:a16="http://schemas.microsoft.com/office/drawing/2014/main" xmlns="" id="{E11CFD54-9B5F-A629-EEF8-E8C370BED78E}"/>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sp>
        <p:nvSpPr>
          <p:cNvPr id="3" name="Rectangle 2">
            <a:extLst>
              <a:ext uri="{FF2B5EF4-FFF2-40B4-BE49-F238E27FC236}">
                <a16:creationId xmlns:a16="http://schemas.microsoft.com/office/drawing/2014/main" xmlns="" id="{BF8A6FC2-3EF7-63A2-F24A-F498192F4B72}"/>
              </a:ext>
            </a:extLst>
          </p:cNvPr>
          <p:cNvSpPr txBox="1">
            <a:spLocks noChangeArrowheads="1"/>
          </p:cNvSpPr>
          <p:nvPr/>
        </p:nvSpPr>
        <p:spPr>
          <a:xfrm>
            <a:off x="79920" y="836712"/>
            <a:ext cx="68801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7.5.2 </a:t>
            </a:r>
            <a:r>
              <a:rPr lang="zh-CN" altLang="en-US" dirty="0"/>
              <a:t>先序、中序、后序遍历的递归算法</a:t>
            </a:r>
          </a:p>
        </p:txBody>
      </p:sp>
      <p:cxnSp>
        <p:nvCxnSpPr>
          <p:cNvPr id="4" name="直接连接符 3">
            <a:extLst>
              <a:ext uri="{FF2B5EF4-FFF2-40B4-BE49-F238E27FC236}">
                <a16:creationId xmlns:a16="http://schemas.microsoft.com/office/drawing/2014/main" xmlns="" id="{3E7CD082-A598-7249-61C5-3365831EC1D2}"/>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900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up)">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7" grpId="0" animBg="1"/>
      <p:bldP spid="22" grpId="0" autoUpdateAnimBg="0"/>
      <p:bldP spid="23"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4"/>
          <p:cNvSpPr>
            <a:spLocks noChangeArrowheads="1"/>
          </p:cNvSpPr>
          <p:nvPr/>
        </p:nvSpPr>
        <p:spPr bwMode="auto">
          <a:xfrm>
            <a:off x="3648419" y="3152875"/>
            <a:ext cx="449262" cy="389768"/>
          </a:xfrm>
          <a:prstGeom prst="ellipse">
            <a:avLst/>
          </a:prstGeom>
          <a:solidFill>
            <a:srgbClr val="FFCC99"/>
          </a:solidFill>
          <a:ln w="9525">
            <a:solidFill>
              <a:schemeClr val="tx1"/>
            </a:solidFill>
            <a:round/>
            <a:headEnd/>
            <a:tailEnd/>
          </a:ln>
        </p:spPr>
        <p:txBody>
          <a:bodyPr wrap="none" anchor="ctr"/>
          <a:lstStyle/>
          <a:p>
            <a:pPr algn="ctr">
              <a:lnSpc>
                <a:spcPct val="90000"/>
              </a:lnSpc>
              <a:buClrTx/>
              <a:buSzTx/>
              <a:buFont typeface="Wingdings" pitchFamily="2" charset="2"/>
              <a:buNone/>
            </a:pPr>
            <a:r>
              <a:rPr lang="en-US" altLang="zh-CN" sz="2400" dirty="0">
                <a:latin typeface="Times New Roman" pitchFamily="18" charset="0"/>
              </a:rPr>
              <a:t>D</a:t>
            </a:r>
          </a:p>
        </p:txBody>
      </p:sp>
      <p:sp>
        <p:nvSpPr>
          <p:cNvPr id="28" name="AutoShape 5"/>
          <p:cNvSpPr>
            <a:spLocks noChangeArrowheads="1"/>
          </p:cNvSpPr>
          <p:nvPr/>
        </p:nvSpPr>
        <p:spPr bwMode="auto">
          <a:xfrm>
            <a:off x="2731715" y="3909602"/>
            <a:ext cx="838200" cy="533400"/>
          </a:xfrm>
          <a:prstGeom prst="triangle">
            <a:avLst>
              <a:gd name="adj" fmla="val 50000"/>
            </a:avLst>
          </a:prstGeom>
          <a:solidFill>
            <a:srgbClr val="FF000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L</a:t>
            </a:r>
          </a:p>
        </p:txBody>
      </p:sp>
      <p:sp>
        <p:nvSpPr>
          <p:cNvPr id="29" name="AutoShape 6"/>
          <p:cNvSpPr>
            <a:spLocks noChangeArrowheads="1"/>
          </p:cNvSpPr>
          <p:nvPr/>
        </p:nvSpPr>
        <p:spPr bwMode="auto">
          <a:xfrm>
            <a:off x="4017751" y="3880956"/>
            <a:ext cx="838200" cy="618043"/>
          </a:xfrm>
          <a:prstGeom prst="triangle">
            <a:avLst>
              <a:gd name="adj" fmla="val 50000"/>
            </a:avLst>
          </a:prstGeom>
          <a:solidFill>
            <a:srgbClr val="00B05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R</a:t>
            </a:r>
          </a:p>
        </p:txBody>
      </p:sp>
      <p:sp>
        <p:nvSpPr>
          <p:cNvPr id="30" name="Line 7"/>
          <p:cNvSpPr>
            <a:spLocks noChangeShapeType="1"/>
          </p:cNvSpPr>
          <p:nvPr/>
        </p:nvSpPr>
        <p:spPr bwMode="auto">
          <a:xfrm flipH="1">
            <a:off x="3150816" y="3542643"/>
            <a:ext cx="620563" cy="36695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8"/>
          <p:cNvSpPr>
            <a:spLocks noChangeShapeType="1"/>
          </p:cNvSpPr>
          <p:nvPr/>
        </p:nvSpPr>
        <p:spPr bwMode="auto">
          <a:xfrm>
            <a:off x="3955852" y="3542642"/>
            <a:ext cx="475493" cy="366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Text Box 9"/>
          <p:cNvSpPr txBox="1">
            <a:spLocks noChangeArrowheads="1"/>
          </p:cNvSpPr>
          <p:nvPr/>
        </p:nvSpPr>
        <p:spPr bwMode="auto">
          <a:xfrm>
            <a:off x="4274888" y="3085443"/>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1</a:t>
            </a:r>
            <a:endParaRPr lang="zh-CN" altLang="en-US" sz="2400" dirty="0">
              <a:latin typeface="微软雅黑" pitchFamily="34" charset="-122"/>
              <a:ea typeface="微软雅黑" pitchFamily="34" charset="-122"/>
              <a:cs typeface="经典粗黑简" pitchFamily="49" charset="-122"/>
            </a:endParaRPr>
          </a:p>
        </p:txBody>
      </p:sp>
      <p:sp>
        <p:nvSpPr>
          <p:cNvPr id="20" name="Text Box 9"/>
          <p:cNvSpPr txBox="1">
            <a:spLocks noChangeArrowheads="1"/>
          </p:cNvSpPr>
          <p:nvPr/>
        </p:nvSpPr>
        <p:spPr bwMode="auto">
          <a:xfrm>
            <a:off x="3368452"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2</a:t>
            </a:r>
            <a:endParaRPr lang="zh-CN" altLang="en-US" sz="2400" dirty="0">
              <a:latin typeface="微软雅黑" pitchFamily="34" charset="-122"/>
              <a:ea typeface="微软雅黑" pitchFamily="34" charset="-122"/>
              <a:cs typeface="经典粗黑简" pitchFamily="49" charset="-122"/>
            </a:endParaRPr>
          </a:p>
        </p:txBody>
      </p:sp>
      <p:sp>
        <p:nvSpPr>
          <p:cNvPr id="21" name="Text Box 9"/>
          <p:cNvSpPr txBox="1">
            <a:spLocks noChangeArrowheads="1"/>
          </p:cNvSpPr>
          <p:nvPr/>
        </p:nvSpPr>
        <p:spPr bwMode="auto">
          <a:xfrm>
            <a:off x="4797485"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3</a:t>
            </a:r>
            <a:endParaRPr lang="zh-CN" altLang="en-US" sz="2400" dirty="0">
              <a:latin typeface="微软雅黑" pitchFamily="34" charset="-122"/>
              <a:ea typeface="微软雅黑" pitchFamily="34" charset="-122"/>
              <a:cs typeface="经典粗黑简" pitchFamily="49" charset="-122"/>
            </a:endParaRPr>
          </a:p>
        </p:txBody>
      </p:sp>
      <p:sp>
        <p:nvSpPr>
          <p:cNvPr id="16" name="Text Box 20"/>
          <p:cNvSpPr txBox="1">
            <a:spLocks noChangeArrowheads="1"/>
          </p:cNvSpPr>
          <p:nvPr/>
        </p:nvSpPr>
        <p:spPr bwMode="auto">
          <a:xfrm>
            <a:off x="6826696" y="2780929"/>
            <a:ext cx="3301752"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若二叉树非空</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）访问根结点；</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）先序遍历左子树；</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）先序遍历右子树；</a:t>
            </a:r>
          </a:p>
        </p:txBody>
      </p:sp>
      <p:sp>
        <p:nvSpPr>
          <p:cNvPr id="17" name="AutoShape 22"/>
          <p:cNvSpPr>
            <a:spLocks noChangeArrowheads="1"/>
          </p:cNvSpPr>
          <p:nvPr/>
        </p:nvSpPr>
        <p:spPr bwMode="auto">
          <a:xfrm>
            <a:off x="5357819" y="3621728"/>
            <a:ext cx="1468877" cy="457200"/>
          </a:xfrm>
          <a:prstGeom prst="rightArrow">
            <a:avLst>
              <a:gd name="adj1" fmla="val 50000"/>
              <a:gd name="adj2" fmla="val 50000"/>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23" name="AutoShape 23"/>
          <p:cNvSpPr>
            <a:spLocks noChangeArrowheads="1"/>
          </p:cNvSpPr>
          <p:nvPr/>
        </p:nvSpPr>
        <p:spPr bwMode="auto">
          <a:xfrm rot="16200000">
            <a:off x="7551365" y="4242485"/>
            <a:ext cx="364102" cy="457200"/>
          </a:xfrm>
          <a:prstGeom prst="leftArrow">
            <a:avLst>
              <a:gd name="adj1" fmla="val 50000"/>
              <a:gd name="adj2" fmla="val 45833"/>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41"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先序遍历</a:t>
            </a:r>
          </a:p>
        </p:txBody>
      </p:sp>
      <p:sp>
        <p:nvSpPr>
          <p:cNvPr id="24" name="Rectangle 2"/>
          <p:cNvSpPr>
            <a:spLocks noChangeArrowheads="1"/>
          </p:cNvSpPr>
          <p:nvPr/>
        </p:nvSpPr>
        <p:spPr bwMode="auto">
          <a:xfrm>
            <a:off x="2756867" y="4581129"/>
            <a:ext cx="684076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chemeClr val="bg1"/>
                </a:solidFill>
                <a:miter lim="800000"/>
                <a:headEnd/>
                <a:tailEnd/>
              </a14:hiddenLine>
            </a:ext>
          </a:extLst>
        </p:spPr>
        <p:txBody>
          <a:bodyPr wrap="square">
            <a:spAutoFit/>
          </a:bodyPr>
          <a:lstStyle/>
          <a:p>
            <a:pPr marL="457200" indent="-457200" eaLnBrk="0" hangingPunct="0">
              <a:spcBef>
                <a:spcPct val="0"/>
              </a:spcBef>
            </a:pPr>
            <a:r>
              <a:rPr lang="en-US" altLang="zh-CN" b="1" dirty="0">
                <a:latin typeface="Times New Roman" pitchFamily="18" charset="0"/>
              </a:rPr>
              <a:t>    void preorder (</a:t>
            </a:r>
            <a:r>
              <a:rPr lang="en-US" altLang="zh-CN" b="1" dirty="0" err="1">
                <a:latin typeface="Times New Roman" pitchFamily="18" charset="0"/>
              </a:rPr>
              <a:t>BiTNode</a:t>
            </a:r>
            <a:r>
              <a:rPr lang="en-US" altLang="zh-CN" b="1" dirty="0">
                <a:latin typeface="Times New Roman" pitchFamily="18" charset="0"/>
              </a:rPr>
              <a:t> *root)  </a:t>
            </a:r>
            <a:r>
              <a:rPr lang="en-US" altLang="zh-CN" dirty="0">
                <a:latin typeface="Times New Roman" pitchFamily="18" charset="0"/>
              </a:rPr>
              <a:t>{</a:t>
            </a:r>
            <a:r>
              <a:rPr lang="en-US" altLang="zh-CN" b="1" dirty="0">
                <a:latin typeface="Times New Roman" pitchFamily="18" charset="0"/>
              </a:rPr>
              <a:t>//</a:t>
            </a:r>
            <a:r>
              <a:rPr lang="zh-CN" altLang="en-US" dirty="0">
                <a:latin typeface="Times New Roman" pitchFamily="18" charset="0"/>
              </a:rPr>
              <a:t>先序遍历</a:t>
            </a:r>
            <a:r>
              <a:rPr lang="en-US" altLang="zh-CN" dirty="0">
                <a:latin typeface="Times New Roman" pitchFamily="18" charset="0"/>
              </a:rPr>
              <a:t>root</a:t>
            </a:r>
            <a:r>
              <a:rPr lang="zh-CN" altLang="en-US" dirty="0">
                <a:latin typeface="Times New Roman" pitchFamily="18" charset="0"/>
              </a:rPr>
              <a:t>指向根的二叉树</a:t>
            </a:r>
          </a:p>
          <a:p>
            <a:pPr marL="457200" indent="-457200" eaLnBrk="0" hangingPunct="0">
              <a:spcBef>
                <a:spcPct val="0"/>
              </a:spcBef>
            </a:pPr>
            <a:r>
              <a:rPr lang="zh-CN" altLang="en-US" dirty="0">
                <a:latin typeface="Times New Roman" pitchFamily="18" charset="0"/>
              </a:rPr>
              <a:t>            </a:t>
            </a:r>
            <a:r>
              <a:rPr lang="en-US" altLang="zh-CN" b="1" dirty="0">
                <a:latin typeface="Times New Roman" pitchFamily="18" charset="0"/>
              </a:rPr>
              <a:t>if (root!=NULL)</a:t>
            </a:r>
            <a:r>
              <a:rPr lang="en-US" altLang="zh-CN" dirty="0">
                <a:latin typeface="Times New Roman" pitchFamily="18" charset="0"/>
              </a:rPr>
              <a:t> </a:t>
            </a:r>
            <a:r>
              <a:rPr lang="en-US" altLang="zh-CN" b="1" dirty="0">
                <a:latin typeface="Times New Roman" pitchFamily="18" charset="0"/>
              </a:rPr>
              <a:t>  { </a:t>
            </a:r>
          </a:p>
          <a:p>
            <a:pPr marL="457200" indent="-457200" eaLnBrk="0" hangingPunct="0">
              <a:spcBef>
                <a:spcPct val="0"/>
              </a:spcBef>
            </a:pPr>
            <a:r>
              <a:rPr lang="en-US" altLang="zh-CN" b="1" dirty="0">
                <a:latin typeface="Times New Roman" pitchFamily="18" charset="0"/>
              </a:rPr>
              <a:t>                   </a:t>
            </a:r>
            <a:r>
              <a:rPr lang="en-US" altLang="zh-CN" b="1" dirty="0" err="1">
                <a:latin typeface="Times New Roman" pitchFamily="18" charset="0"/>
              </a:rPr>
              <a:t>cout</a:t>
            </a:r>
            <a:r>
              <a:rPr lang="en-US" altLang="zh-CN" b="1" dirty="0">
                <a:latin typeface="Times New Roman" pitchFamily="18" charset="0"/>
              </a:rPr>
              <a:t>&lt;&lt; root-&gt;data</a:t>
            </a:r>
            <a:r>
              <a:rPr lang="zh-CN" altLang="en-US" b="1" dirty="0">
                <a:latin typeface="Times New Roman" pitchFamily="18" charset="0"/>
              </a:rPr>
              <a:t>；</a:t>
            </a:r>
            <a:r>
              <a:rPr lang="en-US" altLang="zh-CN" dirty="0">
                <a:latin typeface="Times New Roman" pitchFamily="18" charset="0"/>
              </a:rPr>
              <a:t>//</a:t>
            </a:r>
            <a:r>
              <a:rPr lang="zh-CN" altLang="en-US" dirty="0">
                <a:latin typeface="Times New Roman" pitchFamily="18" charset="0"/>
              </a:rPr>
              <a:t>访问根结点</a:t>
            </a:r>
          </a:p>
          <a:p>
            <a:pPr marL="457200" indent="-457200" eaLnBrk="0" hangingPunct="0">
              <a:spcBef>
                <a:spcPct val="0"/>
              </a:spcBef>
            </a:pPr>
            <a:r>
              <a:rPr lang="zh-CN" altLang="en-US" b="1" dirty="0">
                <a:latin typeface="Times New Roman" pitchFamily="18" charset="0"/>
              </a:rPr>
              <a:t>                   </a:t>
            </a:r>
            <a:r>
              <a:rPr lang="en-US" altLang="zh-CN" b="1" dirty="0">
                <a:latin typeface="Times New Roman" pitchFamily="18" charset="0"/>
              </a:rPr>
              <a:t>preorder(root-&gt;</a:t>
            </a:r>
            <a:r>
              <a:rPr lang="en-US" altLang="zh-CN" b="1" dirty="0" err="1">
                <a:latin typeface="Times New Roman" pitchFamily="18" charset="0"/>
              </a:rPr>
              <a:t>Lchild</a:t>
            </a:r>
            <a:r>
              <a:rPr lang="en-US" altLang="zh-CN" b="1" dirty="0">
                <a:latin typeface="Times New Roman" pitchFamily="18" charset="0"/>
              </a:rPr>
              <a:t>);</a:t>
            </a:r>
            <a:r>
              <a:rPr lang="en-US" altLang="zh-CN" dirty="0">
                <a:latin typeface="Times New Roman" pitchFamily="18" charset="0"/>
              </a:rPr>
              <a:t> //</a:t>
            </a:r>
            <a:r>
              <a:rPr lang="zh-CN" altLang="en-US" dirty="0">
                <a:latin typeface="Times New Roman" pitchFamily="18" charset="0"/>
              </a:rPr>
              <a:t>先序遍历根的左子树</a:t>
            </a:r>
          </a:p>
          <a:p>
            <a:pPr marL="457200" indent="-457200" eaLnBrk="0" hangingPunct="0">
              <a:spcBef>
                <a:spcPct val="0"/>
              </a:spcBef>
            </a:pPr>
            <a:r>
              <a:rPr lang="zh-CN" altLang="en-US" dirty="0">
                <a:latin typeface="Times New Roman" pitchFamily="18" charset="0"/>
              </a:rPr>
              <a:t>                  </a:t>
            </a:r>
            <a:r>
              <a:rPr lang="en-US" altLang="zh-CN" b="1" dirty="0">
                <a:latin typeface="Times New Roman" pitchFamily="18" charset="0"/>
              </a:rPr>
              <a:t>preorder(root-&gt;</a:t>
            </a:r>
            <a:r>
              <a:rPr lang="en-US" altLang="zh-CN" b="1" dirty="0" err="1">
                <a:latin typeface="Times New Roman" pitchFamily="18" charset="0"/>
              </a:rPr>
              <a:t>Rchild</a:t>
            </a:r>
            <a:r>
              <a:rPr lang="en-US" altLang="zh-CN" b="1" dirty="0">
                <a:latin typeface="Times New Roman" pitchFamily="18" charset="0"/>
              </a:rPr>
              <a:t>); </a:t>
            </a:r>
            <a:r>
              <a:rPr lang="en-US" altLang="zh-CN" dirty="0">
                <a:latin typeface="Times New Roman" pitchFamily="18" charset="0"/>
              </a:rPr>
              <a:t>//</a:t>
            </a:r>
            <a:r>
              <a:rPr lang="zh-CN" altLang="en-US" dirty="0">
                <a:latin typeface="Times New Roman" pitchFamily="18" charset="0"/>
              </a:rPr>
              <a:t>先序遍历根的右子树</a:t>
            </a:r>
            <a:endParaRPr lang="zh-CN" altLang="en-US" b="1" dirty="0">
              <a:latin typeface="Times New Roman" pitchFamily="18" charset="0"/>
            </a:endParaRPr>
          </a:p>
          <a:p>
            <a:pPr marL="457200" indent="-457200" eaLnBrk="0" hangingPunct="0">
              <a:spcBef>
                <a:spcPct val="0"/>
              </a:spcBef>
            </a:pPr>
            <a:r>
              <a:rPr lang="zh-CN" altLang="en-US" b="1" dirty="0">
                <a:latin typeface="Times New Roman" pitchFamily="18" charset="0"/>
              </a:rPr>
              <a:t>          </a:t>
            </a:r>
            <a:r>
              <a:rPr lang="en-US" altLang="zh-CN" dirty="0">
                <a:latin typeface="Times New Roman" pitchFamily="18" charset="0"/>
              </a:rPr>
              <a:t>}//if</a:t>
            </a:r>
          </a:p>
          <a:p>
            <a:pPr marL="457200" indent="-457200" eaLnBrk="0" hangingPunct="0">
              <a:spcBef>
                <a:spcPct val="0"/>
              </a:spcBef>
            </a:pPr>
            <a:r>
              <a:rPr lang="en-US" altLang="zh-CN" dirty="0">
                <a:latin typeface="Times New Roman" pitchFamily="18" charset="0"/>
              </a:rPr>
              <a:t>    }//preorder</a:t>
            </a:r>
            <a:endParaRPr lang="en-US" altLang="zh-CN" b="1" dirty="0">
              <a:latin typeface="Times New Roman" pitchFamily="18" charset="0"/>
            </a:endParaRPr>
          </a:p>
        </p:txBody>
      </p:sp>
      <p:sp>
        <p:nvSpPr>
          <p:cNvPr id="2" name="矩形 1">
            <a:extLst>
              <a:ext uri="{FF2B5EF4-FFF2-40B4-BE49-F238E27FC236}">
                <a16:creationId xmlns:a16="http://schemas.microsoft.com/office/drawing/2014/main" xmlns="" id="{067C9C9F-1E97-C212-4565-C95577CA6398}"/>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cxnSp>
        <p:nvCxnSpPr>
          <p:cNvPr id="4" name="直接连接符 3">
            <a:extLst>
              <a:ext uri="{FF2B5EF4-FFF2-40B4-BE49-F238E27FC236}">
                <a16:creationId xmlns:a16="http://schemas.microsoft.com/office/drawing/2014/main" xmlns="" id="{8841A332-66E4-8A23-3647-AF9B8A21E19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xmlns="" id="{B06AEBEB-2CB9-F58E-5D1D-808685C42766}"/>
              </a:ext>
            </a:extLst>
          </p:cNvPr>
          <p:cNvSpPr txBox="1">
            <a:spLocks noChangeArrowheads="1"/>
          </p:cNvSpPr>
          <p:nvPr/>
        </p:nvSpPr>
        <p:spPr>
          <a:xfrm>
            <a:off x="79920" y="836712"/>
            <a:ext cx="68801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7.5.2 </a:t>
            </a:r>
            <a:r>
              <a:rPr lang="zh-CN" altLang="en-US" dirty="0"/>
              <a:t>先序、中序、后序遍历的递归算法</a:t>
            </a:r>
          </a:p>
        </p:txBody>
      </p:sp>
    </p:spTree>
    <p:extLst>
      <p:ext uri="{BB962C8B-B14F-4D97-AF65-F5344CB8AC3E}">
        <p14:creationId xmlns:p14="http://schemas.microsoft.com/office/powerpoint/2010/main" val="65397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7" grpId="0" animBg="1"/>
      <p:bldP spid="2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4"/>
          <p:cNvSpPr>
            <a:spLocks noChangeArrowheads="1"/>
          </p:cNvSpPr>
          <p:nvPr/>
        </p:nvSpPr>
        <p:spPr bwMode="auto">
          <a:xfrm>
            <a:off x="3648419" y="3152875"/>
            <a:ext cx="449262" cy="389768"/>
          </a:xfrm>
          <a:prstGeom prst="ellipse">
            <a:avLst/>
          </a:prstGeom>
          <a:solidFill>
            <a:srgbClr val="FFCC99"/>
          </a:solidFill>
          <a:ln w="9525">
            <a:solidFill>
              <a:schemeClr val="tx1"/>
            </a:solidFill>
            <a:round/>
            <a:headEnd/>
            <a:tailEnd/>
          </a:ln>
        </p:spPr>
        <p:txBody>
          <a:bodyPr wrap="none" anchor="ctr"/>
          <a:lstStyle/>
          <a:p>
            <a:pPr algn="ctr">
              <a:lnSpc>
                <a:spcPct val="90000"/>
              </a:lnSpc>
              <a:buClrTx/>
              <a:buSzTx/>
              <a:buFont typeface="Wingdings" pitchFamily="2" charset="2"/>
              <a:buNone/>
            </a:pPr>
            <a:r>
              <a:rPr lang="en-US" altLang="zh-CN" sz="2400" dirty="0">
                <a:latin typeface="Times New Roman" pitchFamily="18" charset="0"/>
              </a:rPr>
              <a:t>D</a:t>
            </a:r>
          </a:p>
        </p:txBody>
      </p:sp>
      <p:sp>
        <p:nvSpPr>
          <p:cNvPr id="28" name="AutoShape 5"/>
          <p:cNvSpPr>
            <a:spLocks noChangeArrowheads="1"/>
          </p:cNvSpPr>
          <p:nvPr/>
        </p:nvSpPr>
        <p:spPr bwMode="auto">
          <a:xfrm>
            <a:off x="2731715" y="3909602"/>
            <a:ext cx="838200" cy="533400"/>
          </a:xfrm>
          <a:prstGeom prst="triangle">
            <a:avLst>
              <a:gd name="adj" fmla="val 50000"/>
            </a:avLst>
          </a:prstGeom>
          <a:solidFill>
            <a:srgbClr val="FF000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L</a:t>
            </a:r>
          </a:p>
        </p:txBody>
      </p:sp>
      <p:sp>
        <p:nvSpPr>
          <p:cNvPr id="29" name="AutoShape 6"/>
          <p:cNvSpPr>
            <a:spLocks noChangeArrowheads="1"/>
          </p:cNvSpPr>
          <p:nvPr/>
        </p:nvSpPr>
        <p:spPr bwMode="auto">
          <a:xfrm>
            <a:off x="4017751" y="3880956"/>
            <a:ext cx="838200" cy="618043"/>
          </a:xfrm>
          <a:prstGeom prst="triangle">
            <a:avLst>
              <a:gd name="adj" fmla="val 50000"/>
            </a:avLst>
          </a:prstGeom>
          <a:solidFill>
            <a:srgbClr val="00B05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R</a:t>
            </a:r>
          </a:p>
        </p:txBody>
      </p:sp>
      <p:sp>
        <p:nvSpPr>
          <p:cNvPr id="30" name="Line 7"/>
          <p:cNvSpPr>
            <a:spLocks noChangeShapeType="1"/>
          </p:cNvSpPr>
          <p:nvPr/>
        </p:nvSpPr>
        <p:spPr bwMode="auto">
          <a:xfrm flipH="1">
            <a:off x="3150816" y="3542643"/>
            <a:ext cx="620563" cy="36695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8"/>
          <p:cNvSpPr>
            <a:spLocks noChangeShapeType="1"/>
          </p:cNvSpPr>
          <p:nvPr/>
        </p:nvSpPr>
        <p:spPr bwMode="auto">
          <a:xfrm>
            <a:off x="3955852" y="3542642"/>
            <a:ext cx="475493" cy="366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Text Box 9"/>
          <p:cNvSpPr txBox="1">
            <a:spLocks noChangeArrowheads="1"/>
          </p:cNvSpPr>
          <p:nvPr/>
        </p:nvSpPr>
        <p:spPr bwMode="auto">
          <a:xfrm>
            <a:off x="4274888" y="3085443"/>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2</a:t>
            </a:r>
            <a:endParaRPr lang="zh-CN" altLang="en-US" sz="2400" dirty="0">
              <a:latin typeface="微软雅黑" pitchFamily="34" charset="-122"/>
              <a:ea typeface="微软雅黑" pitchFamily="34" charset="-122"/>
              <a:cs typeface="经典粗黑简" pitchFamily="49" charset="-122"/>
            </a:endParaRPr>
          </a:p>
        </p:txBody>
      </p:sp>
      <p:sp>
        <p:nvSpPr>
          <p:cNvPr id="20" name="Text Box 9"/>
          <p:cNvSpPr txBox="1">
            <a:spLocks noChangeArrowheads="1"/>
          </p:cNvSpPr>
          <p:nvPr/>
        </p:nvSpPr>
        <p:spPr bwMode="auto">
          <a:xfrm>
            <a:off x="3368452"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1</a:t>
            </a:r>
            <a:endParaRPr lang="zh-CN" altLang="en-US" sz="2400" dirty="0">
              <a:latin typeface="微软雅黑" pitchFamily="34" charset="-122"/>
              <a:ea typeface="微软雅黑" pitchFamily="34" charset="-122"/>
              <a:cs typeface="经典粗黑简" pitchFamily="49" charset="-122"/>
            </a:endParaRPr>
          </a:p>
        </p:txBody>
      </p:sp>
      <p:sp>
        <p:nvSpPr>
          <p:cNvPr id="21" name="Text Box 9"/>
          <p:cNvSpPr txBox="1">
            <a:spLocks noChangeArrowheads="1"/>
          </p:cNvSpPr>
          <p:nvPr/>
        </p:nvSpPr>
        <p:spPr bwMode="auto">
          <a:xfrm>
            <a:off x="4797485"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3</a:t>
            </a:r>
            <a:endParaRPr lang="zh-CN" altLang="en-US" sz="2400" dirty="0">
              <a:latin typeface="微软雅黑" pitchFamily="34" charset="-122"/>
              <a:ea typeface="微软雅黑" pitchFamily="34" charset="-122"/>
              <a:cs typeface="经典粗黑简" pitchFamily="49" charset="-122"/>
            </a:endParaRPr>
          </a:p>
        </p:txBody>
      </p:sp>
      <p:sp>
        <p:nvSpPr>
          <p:cNvPr id="16" name="Text Box 20"/>
          <p:cNvSpPr txBox="1">
            <a:spLocks noChangeArrowheads="1"/>
          </p:cNvSpPr>
          <p:nvPr/>
        </p:nvSpPr>
        <p:spPr bwMode="auto">
          <a:xfrm>
            <a:off x="6826696" y="2780929"/>
            <a:ext cx="3301752"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若二叉树非空</a:t>
            </a:r>
          </a:p>
          <a:p>
            <a:pPr algn="l">
              <a:spcBef>
                <a:spcPct val="20000"/>
              </a:spcBef>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）中序遍历左子树；</a:t>
            </a:r>
          </a:p>
          <a:p>
            <a:pPr algn="l">
              <a:spcBef>
                <a:spcPct val="20000"/>
              </a:spcBef>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）访问根结点；</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）中序遍历右子树；</a:t>
            </a:r>
          </a:p>
        </p:txBody>
      </p:sp>
      <p:sp>
        <p:nvSpPr>
          <p:cNvPr id="17" name="AutoShape 22"/>
          <p:cNvSpPr>
            <a:spLocks noChangeArrowheads="1"/>
          </p:cNvSpPr>
          <p:nvPr/>
        </p:nvSpPr>
        <p:spPr bwMode="auto">
          <a:xfrm>
            <a:off x="5357819" y="3621728"/>
            <a:ext cx="1468877" cy="457200"/>
          </a:xfrm>
          <a:prstGeom prst="rightArrow">
            <a:avLst>
              <a:gd name="adj1" fmla="val 50000"/>
              <a:gd name="adj2" fmla="val 50000"/>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22" name="Text Box 21"/>
          <p:cNvSpPr txBox="1">
            <a:spLocks noChangeArrowheads="1"/>
          </p:cNvSpPr>
          <p:nvPr/>
        </p:nvSpPr>
        <p:spPr bwMode="auto">
          <a:xfrm>
            <a:off x="5049690" y="4653137"/>
            <a:ext cx="5367452" cy="169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若二叉树为空，结束   </a:t>
            </a:r>
            <a:r>
              <a:rPr lang="en-US" altLang="zh-CN" sz="1800" dirty="0">
                <a:latin typeface="微软雅黑" pitchFamily="34" charset="-122"/>
                <a:ea typeface="微软雅黑" pitchFamily="34" charset="-122"/>
                <a:cs typeface="经典粗黑简" pitchFamily="49" charset="-122"/>
              </a:rPr>
              <a:t>——</a:t>
            </a:r>
            <a:r>
              <a:rPr lang="zh-CN" altLang="en-US" sz="1800" dirty="0">
                <a:latin typeface="微软雅黑" pitchFamily="34" charset="-122"/>
                <a:ea typeface="微软雅黑" pitchFamily="34" charset="-122"/>
                <a:cs typeface="经典粗黑简" pitchFamily="49" charset="-122"/>
              </a:rPr>
              <a:t>基本项（也叫终止项）</a:t>
            </a:r>
          </a:p>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若二叉树非空             </a:t>
            </a:r>
            <a:r>
              <a:rPr lang="en-US" altLang="zh-CN" sz="1800" dirty="0">
                <a:latin typeface="微软雅黑" pitchFamily="34" charset="-122"/>
                <a:ea typeface="微软雅黑" pitchFamily="34" charset="-122"/>
                <a:cs typeface="经典粗黑简" pitchFamily="49" charset="-122"/>
              </a:rPr>
              <a:t>——</a:t>
            </a:r>
            <a:r>
              <a:rPr lang="zh-CN" altLang="en-US" sz="1800" dirty="0">
                <a:latin typeface="微软雅黑" pitchFamily="34" charset="-122"/>
                <a:ea typeface="微软雅黑" pitchFamily="34" charset="-122"/>
                <a:cs typeface="经典粗黑简" pitchFamily="49" charset="-122"/>
              </a:rPr>
              <a:t>递归项</a:t>
            </a:r>
          </a:p>
          <a:p>
            <a:pPr algn="l">
              <a:spcBef>
                <a:spcPct val="20000"/>
              </a:spcBef>
            </a:pPr>
            <a:r>
              <a:rPr lang="zh-CN" altLang="en-US" sz="1800" dirty="0">
                <a:latin typeface="微软雅黑" pitchFamily="34" charset="-122"/>
                <a:ea typeface="微软雅黑" pitchFamily="34" charset="-122"/>
                <a:cs typeface="经典粗黑简" pitchFamily="49" charset="-122"/>
              </a:rPr>
              <a:t>    （</a:t>
            </a:r>
            <a:r>
              <a:rPr lang="en-US" altLang="zh-CN" sz="1800" dirty="0">
                <a:latin typeface="微软雅黑" pitchFamily="34" charset="-122"/>
                <a:ea typeface="微软雅黑" pitchFamily="34" charset="-122"/>
                <a:cs typeface="经典粗黑简" pitchFamily="49" charset="-122"/>
              </a:rPr>
              <a:t>1</a:t>
            </a:r>
            <a:r>
              <a:rPr lang="zh-CN" altLang="en-US" sz="1800" dirty="0">
                <a:latin typeface="微软雅黑" pitchFamily="34" charset="-122"/>
                <a:ea typeface="微软雅黑" pitchFamily="34" charset="-122"/>
                <a:cs typeface="经典粗黑简" pitchFamily="49" charset="-122"/>
              </a:rPr>
              <a:t>）中序遍历左子树；</a:t>
            </a:r>
          </a:p>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    （</a:t>
            </a:r>
            <a:r>
              <a:rPr lang="en-US" altLang="zh-CN" sz="1800" dirty="0">
                <a:latin typeface="微软雅黑" pitchFamily="34" charset="-122"/>
                <a:ea typeface="微软雅黑" pitchFamily="34" charset="-122"/>
                <a:cs typeface="经典粗黑简" pitchFamily="49" charset="-122"/>
              </a:rPr>
              <a:t>2</a:t>
            </a:r>
            <a:r>
              <a:rPr lang="zh-CN" altLang="en-US" sz="1800" dirty="0">
                <a:latin typeface="微软雅黑" pitchFamily="34" charset="-122"/>
                <a:ea typeface="微软雅黑" pitchFamily="34" charset="-122"/>
                <a:cs typeface="经典粗黑简" pitchFamily="49" charset="-122"/>
              </a:rPr>
              <a:t>）访问根结点；</a:t>
            </a:r>
          </a:p>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    （</a:t>
            </a:r>
            <a:r>
              <a:rPr lang="en-US" altLang="zh-CN" sz="1800" dirty="0">
                <a:latin typeface="微软雅黑" pitchFamily="34" charset="-122"/>
                <a:ea typeface="微软雅黑" pitchFamily="34" charset="-122"/>
                <a:cs typeface="经典粗黑简" pitchFamily="49" charset="-122"/>
              </a:rPr>
              <a:t>3</a:t>
            </a:r>
            <a:r>
              <a:rPr lang="zh-CN" altLang="en-US" sz="1800" dirty="0">
                <a:latin typeface="微软雅黑" pitchFamily="34" charset="-122"/>
                <a:ea typeface="微软雅黑" pitchFamily="34" charset="-122"/>
                <a:cs typeface="经典粗黑简" pitchFamily="49" charset="-122"/>
              </a:rPr>
              <a:t>）中序遍历右子树；</a:t>
            </a:r>
          </a:p>
        </p:txBody>
      </p:sp>
      <p:sp>
        <p:nvSpPr>
          <p:cNvPr id="23" name="AutoShape 23"/>
          <p:cNvSpPr>
            <a:spLocks noChangeArrowheads="1"/>
          </p:cNvSpPr>
          <p:nvPr/>
        </p:nvSpPr>
        <p:spPr bwMode="auto">
          <a:xfrm rot="16200000">
            <a:off x="7551365" y="4242485"/>
            <a:ext cx="364102" cy="457200"/>
          </a:xfrm>
          <a:prstGeom prst="leftArrow">
            <a:avLst>
              <a:gd name="adj1" fmla="val 50000"/>
              <a:gd name="adj2" fmla="val 45833"/>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41"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中序遍历</a:t>
            </a:r>
          </a:p>
        </p:txBody>
      </p:sp>
      <p:sp>
        <p:nvSpPr>
          <p:cNvPr id="2" name="矩形 1">
            <a:extLst>
              <a:ext uri="{FF2B5EF4-FFF2-40B4-BE49-F238E27FC236}">
                <a16:creationId xmlns:a16="http://schemas.microsoft.com/office/drawing/2014/main" xmlns="" id="{ED4DD0FB-9399-2994-1F6D-9124B45BA900}"/>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cxnSp>
        <p:nvCxnSpPr>
          <p:cNvPr id="4" name="直接连接符 3">
            <a:extLst>
              <a:ext uri="{FF2B5EF4-FFF2-40B4-BE49-F238E27FC236}">
                <a16:creationId xmlns:a16="http://schemas.microsoft.com/office/drawing/2014/main" xmlns="" id="{9A135EE7-73F1-FE4A-ED64-5AFA72387E0A}"/>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xmlns="" id="{BA3163B4-2494-582D-0865-AE734ADB6109}"/>
              </a:ext>
            </a:extLst>
          </p:cNvPr>
          <p:cNvSpPr txBox="1">
            <a:spLocks noChangeArrowheads="1"/>
          </p:cNvSpPr>
          <p:nvPr/>
        </p:nvSpPr>
        <p:spPr>
          <a:xfrm>
            <a:off x="79920" y="836712"/>
            <a:ext cx="68801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7.5.2 </a:t>
            </a:r>
            <a:r>
              <a:rPr lang="zh-CN" altLang="en-US" dirty="0"/>
              <a:t>先序、中序、后序遍历的递归算法</a:t>
            </a:r>
          </a:p>
        </p:txBody>
      </p:sp>
    </p:spTree>
    <p:extLst>
      <p:ext uri="{BB962C8B-B14F-4D97-AF65-F5344CB8AC3E}">
        <p14:creationId xmlns:p14="http://schemas.microsoft.com/office/powerpoint/2010/main" val="3432702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up)">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7" grpId="0" animBg="1"/>
      <p:bldP spid="22" grpId="0" autoUpdateAnimBg="0"/>
      <p:bldP spid="23"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4"/>
          <p:cNvSpPr>
            <a:spLocks noChangeArrowheads="1"/>
          </p:cNvSpPr>
          <p:nvPr/>
        </p:nvSpPr>
        <p:spPr bwMode="auto">
          <a:xfrm>
            <a:off x="3648419" y="3152875"/>
            <a:ext cx="449262" cy="389768"/>
          </a:xfrm>
          <a:prstGeom prst="ellipse">
            <a:avLst/>
          </a:prstGeom>
          <a:solidFill>
            <a:srgbClr val="FFCC99"/>
          </a:solidFill>
          <a:ln w="9525">
            <a:solidFill>
              <a:schemeClr val="tx1"/>
            </a:solidFill>
            <a:round/>
            <a:headEnd/>
            <a:tailEnd/>
          </a:ln>
        </p:spPr>
        <p:txBody>
          <a:bodyPr wrap="none" anchor="ctr"/>
          <a:lstStyle/>
          <a:p>
            <a:pPr algn="ctr">
              <a:lnSpc>
                <a:spcPct val="90000"/>
              </a:lnSpc>
              <a:buClrTx/>
              <a:buSzTx/>
              <a:buFont typeface="Wingdings" pitchFamily="2" charset="2"/>
              <a:buNone/>
            </a:pPr>
            <a:r>
              <a:rPr lang="en-US" altLang="zh-CN" sz="2400" dirty="0">
                <a:latin typeface="Times New Roman" pitchFamily="18" charset="0"/>
              </a:rPr>
              <a:t>D</a:t>
            </a:r>
          </a:p>
        </p:txBody>
      </p:sp>
      <p:sp>
        <p:nvSpPr>
          <p:cNvPr id="28" name="AutoShape 5"/>
          <p:cNvSpPr>
            <a:spLocks noChangeArrowheads="1"/>
          </p:cNvSpPr>
          <p:nvPr/>
        </p:nvSpPr>
        <p:spPr bwMode="auto">
          <a:xfrm>
            <a:off x="2731715" y="3909602"/>
            <a:ext cx="838200" cy="533400"/>
          </a:xfrm>
          <a:prstGeom prst="triangle">
            <a:avLst>
              <a:gd name="adj" fmla="val 50000"/>
            </a:avLst>
          </a:prstGeom>
          <a:solidFill>
            <a:srgbClr val="FF000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L</a:t>
            </a:r>
          </a:p>
        </p:txBody>
      </p:sp>
      <p:sp>
        <p:nvSpPr>
          <p:cNvPr id="29" name="AutoShape 6"/>
          <p:cNvSpPr>
            <a:spLocks noChangeArrowheads="1"/>
          </p:cNvSpPr>
          <p:nvPr/>
        </p:nvSpPr>
        <p:spPr bwMode="auto">
          <a:xfrm>
            <a:off x="4017751" y="3880956"/>
            <a:ext cx="838200" cy="618043"/>
          </a:xfrm>
          <a:prstGeom prst="triangle">
            <a:avLst>
              <a:gd name="adj" fmla="val 50000"/>
            </a:avLst>
          </a:prstGeom>
          <a:solidFill>
            <a:srgbClr val="00B05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R</a:t>
            </a:r>
          </a:p>
        </p:txBody>
      </p:sp>
      <p:sp>
        <p:nvSpPr>
          <p:cNvPr id="30" name="Line 7"/>
          <p:cNvSpPr>
            <a:spLocks noChangeShapeType="1"/>
          </p:cNvSpPr>
          <p:nvPr/>
        </p:nvSpPr>
        <p:spPr bwMode="auto">
          <a:xfrm flipH="1">
            <a:off x="3150816" y="3542643"/>
            <a:ext cx="620563" cy="36695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8"/>
          <p:cNvSpPr>
            <a:spLocks noChangeShapeType="1"/>
          </p:cNvSpPr>
          <p:nvPr/>
        </p:nvSpPr>
        <p:spPr bwMode="auto">
          <a:xfrm>
            <a:off x="3955852" y="3542642"/>
            <a:ext cx="475493" cy="366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Text Box 9"/>
          <p:cNvSpPr txBox="1">
            <a:spLocks noChangeArrowheads="1"/>
          </p:cNvSpPr>
          <p:nvPr/>
        </p:nvSpPr>
        <p:spPr bwMode="auto">
          <a:xfrm>
            <a:off x="4274888" y="3085443"/>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2</a:t>
            </a:r>
            <a:endParaRPr lang="zh-CN" altLang="en-US" sz="2400" dirty="0">
              <a:latin typeface="微软雅黑" pitchFamily="34" charset="-122"/>
              <a:ea typeface="微软雅黑" pitchFamily="34" charset="-122"/>
              <a:cs typeface="经典粗黑简" pitchFamily="49" charset="-122"/>
            </a:endParaRPr>
          </a:p>
        </p:txBody>
      </p:sp>
      <p:sp>
        <p:nvSpPr>
          <p:cNvPr id="20" name="Text Box 9"/>
          <p:cNvSpPr txBox="1">
            <a:spLocks noChangeArrowheads="1"/>
          </p:cNvSpPr>
          <p:nvPr/>
        </p:nvSpPr>
        <p:spPr bwMode="auto">
          <a:xfrm>
            <a:off x="3368452"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1</a:t>
            </a:r>
            <a:endParaRPr lang="zh-CN" altLang="en-US" sz="2400" dirty="0">
              <a:latin typeface="微软雅黑" pitchFamily="34" charset="-122"/>
              <a:ea typeface="微软雅黑" pitchFamily="34" charset="-122"/>
              <a:cs typeface="经典粗黑简" pitchFamily="49" charset="-122"/>
            </a:endParaRPr>
          </a:p>
        </p:txBody>
      </p:sp>
      <p:sp>
        <p:nvSpPr>
          <p:cNvPr id="21" name="Text Box 9"/>
          <p:cNvSpPr txBox="1">
            <a:spLocks noChangeArrowheads="1"/>
          </p:cNvSpPr>
          <p:nvPr/>
        </p:nvSpPr>
        <p:spPr bwMode="auto">
          <a:xfrm>
            <a:off x="4797485"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3</a:t>
            </a:r>
            <a:endParaRPr lang="zh-CN" altLang="en-US" sz="2400" dirty="0">
              <a:latin typeface="微软雅黑" pitchFamily="34" charset="-122"/>
              <a:ea typeface="微软雅黑" pitchFamily="34" charset="-122"/>
              <a:cs typeface="经典粗黑简" pitchFamily="49" charset="-122"/>
            </a:endParaRPr>
          </a:p>
        </p:txBody>
      </p:sp>
      <p:sp>
        <p:nvSpPr>
          <p:cNvPr id="17" name="AutoShape 22"/>
          <p:cNvSpPr>
            <a:spLocks noChangeArrowheads="1"/>
          </p:cNvSpPr>
          <p:nvPr/>
        </p:nvSpPr>
        <p:spPr bwMode="auto">
          <a:xfrm>
            <a:off x="5357819" y="3621728"/>
            <a:ext cx="1468877" cy="457200"/>
          </a:xfrm>
          <a:prstGeom prst="rightArrow">
            <a:avLst>
              <a:gd name="adj1" fmla="val 50000"/>
              <a:gd name="adj2" fmla="val 50000"/>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23" name="AutoShape 23"/>
          <p:cNvSpPr>
            <a:spLocks noChangeArrowheads="1"/>
          </p:cNvSpPr>
          <p:nvPr/>
        </p:nvSpPr>
        <p:spPr bwMode="auto">
          <a:xfrm rot="16200000">
            <a:off x="7551365" y="4242485"/>
            <a:ext cx="364102" cy="457200"/>
          </a:xfrm>
          <a:prstGeom prst="leftArrow">
            <a:avLst>
              <a:gd name="adj1" fmla="val 50000"/>
              <a:gd name="adj2" fmla="val 45833"/>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41"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中序遍历</a:t>
            </a:r>
          </a:p>
        </p:txBody>
      </p:sp>
      <p:sp>
        <p:nvSpPr>
          <p:cNvPr id="22" name="Text Box 20"/>
          <p:cNvSpPr txBox="1">
            <a:spLocks noChangeArrowheads="1"/>
          </p:cNvSpPr>
          <p:nvPr/>
        </p:nvSpPr>
        <p:spPr bwMode="auto">
          <a:xfrm>
            <a:off x="6826696" y="2780929"/>
            <a:ext cx="3301752"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若二叉树非空</a:t>
            </a:r>
          </a:p>
          <a:p>
            <a:pPr algn="l">
              <a:spcBef>
                <a:spcPct val="20000"/>
              </a:spcBef>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）中序遍历左子树；</a:t>
            </a:r>
          </a:p>
          <a:p>
            <a:pPr algn="l">
              <a:spcBef>
                <a:spcPct val="20000"/>
              </a:spcBef>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）访问根结点；</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）中序遍历右子树；</a:t>
            </a:r>
          </a:p>
        </p:txBody>
      </p:sp>
      <p:sp>
        <p:nvSpPr>
          <p:cNvPr id="25" name="Rectangle 2"/>
          <p:cNvSpPr>
            <a:spLocks noChangeArrowheads="1"/>
          </p:cNvSpPr>
          <p:nvPr/>
        </p:nvSpPr>
        <p:spPr bwMode="auto">
          <a:xfrm>
            <a:off x="2639616" y="4581129"/>
            <a:ext cx="684076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chemeClr val="bg1"/>
                </a:solidFill>
                <a:miter lim="800000"/>
                <a:headEnd/>
                <a:tailEnd/>
              </a14:hiddenLine>
            </a:ext>
          </a:extLst>
        </p:spPr>
        <p:txBody>
          <a:bodyPr wrap="square">
            <a:spAutoFit/>
          </a:bodyPr>
          <a:lstStyle/>
          <a:p>
            <a:pPr marL="457200" indent="-457200" eaLnBrk="0" hangingPunct="0">
              <a:spcBef>
                <a:spcPct val="0"/>
              </a:spcBef>
            </a:pPr>
            <a:r>
              <a:rPr lang="en-US" altLang="zh-CN" b="1" dirty="0">
                <a:latin typeface="Times New Roman" pitchFamily="18" charset="0"/>
              </a:rPr>
              <a:t>    void </a:t>
            </a:r>
            <a:r>
              <a:rPr lang="en-US" altLang="zh-CN" b="1" dirty="0" err="1">
                <a:latin typeface="Times New Roman" pitchFamily="18" charset="0"/>
              </a:rPr>
              <a:t>inorder</a:t>
            </a:r>
            <a:r>
              <a:rPr lang="en-US" altLang="zh-CN" b="1" dirty="0">
                <a:latin typeface="Times New Roman" pitchFamily="18" charset="0"/>
              </a:rPr>
              <a:t> (</a:t>
            </a:r>
            <a:r>
              <a:rPr lang="en-US" altLang="zh-CN" b="1" dirty="0" err="1">
                <a:latin typeface="Times New Roman" pitchFamily="18" charset="0"/>
              </a:rPr>
              <a:t>BiTNode</a:t>
            </a:r>
            <a:r>
              <a:rPr lang="en-US" altLang="zh-CN" b="1" dirty="0">
                <a:latin typeface="Times New Roman" pitchFamily="18" charset="0"/>
              </a:rPr>
              <a:t> *root)  </a:t>
            </a:r>
            <a:r>
              <a:rPr lang="en-US" altLang="zh-CN" dirty="0">
                <a:latin typeface="Times New Roman" pitchFamily="18" charset="0"/>
              </a:rPr>
              <a:t>{</a:t>
            </a:r>
            <a:r>
              <a:rPr lang="en-US" altLang="zh-CN" b="1" dirty="0">
                <a:latin typeface="Times New Roman" pitchFamily="18" charset="0"/>
              </a:rPr>
              <a:t>//</a:t>
            </a:r>
            <a:r>
              <a:rPr lang="zh-CN" altLang="en-US" dirty="0">
                <a:latin typeface="Times New Roman" pitchFamily="18" charset="0"/>
              </a:rPr>
              <a:t>中序遍历</a:t>
            </a:r>
            <a:r>
              <a:rPr lang="en-US" altLang="zh-CN" dirty="0">
                <a:latin typeface="Times New Roman" pitchFamily="18" charset="0"/>
              </a:rPr>
              <a:t>root</a:t>
            </a:r>
            <a:r>
              <a:rPr lang="zh-CN" altLang="en-US" dirty="0">
                <a:latin typeface="Times New Roman" pitchFamily="18" charset="0"/>
              </a:rPr>
              <a:t>指向根的二叉树</a:t>
            </a:r>
          </a:p>
          <a:p>
            <a:pPr marL="457200" indent="-457200" eaLnBrk="0" hangingPunct="0">
              <a:spcBef>
                <a:spcPct val="0"/>
              </a:spcBef>
            </a:pPr>
            <a:r>
              <a:rPr lang="zh-CN" altLang="en-US" dirty="0">
                <a:latin typeface="Times New Roman" pitchFamily="18" charset="0"/>
              </a:rPr>
              <a:t>            </a:t>
            </a:r>
            <a:r>
              <a:rPr lang="en-US" altLang="zh-CN" b="1" dirty="0">
                <a:latin typeface="Times New Roman" pitchFamily="18" charset="0"/>
              </a:rPr>
              <a:t>if (root!=NULL)</a:t>
            </a:r>
            <a:r>
              <a:rPr lang="en-US" altLang="zh-CN" dirty="0">
                <a:latin typeface="Times New Roman" pitchFamily="18" charset="0"/>
              </a:rPr>
              <a:t> </a:t>
            </a:r>
            <a:r>
              <a:rPr lang="en-US" altLang="zh-CN" b="1" dirty="0">
                <a:latin typeface="Times New Roman" pitchFamily="18" charset="0"/>
              </a:rPr>
              <a:t>  { </a:t>
            </a:r>
          </a:p>
          <a:p>
            <a:pPr marL="457200" indent="-457200" eaLnBrk="0" hangingPunct="0">
              <a:spcBef>
                <a:spcPct val="0"/>
              </a:spcBef>
            </a:pPr>
            <a:r>
              <a:rPr lang="en-US" altLang="zh-CN" b="1" dirty="0">
                <a:latin typeface="Times New Roman" pitchFamily="18" charset="0"/>
              </a:rPr>
              <a:t>     </a:t>
            </a:r>
            <a:r>
              <a:rPr lang="zh-CN" altLang="en-US" b="1" dirty="0">
                <a:latin typeface="Times New Roman" pitchFamily="18" charset="0"/>
              </a:rPr>
              <a:t>                 </a:t>
            </a:r>
            <a:r>
              <a:rPr lang="en-US" altLang="zh-CN" b="1" dirty="0" err="1">
                <a:latin typeface="Times New Roman" pitchFamily="18" charset="0"/>
              </a:rPr>
              <a:t>inorder</a:t>
            </a:r>
            <a:r>
              <a:rPr lang="en-US" altLang="zh-CN" b="1" dirty="0">
                <a:latin typeface="Times New Roman" pitchFamily="18" charset="0"/>
              </a:rPr>
              <a:t>(root-&gt;</a:t>
            </a:r>
            <a:r>
              <a:rPr lang="en-US" altLang="zh-CN" b="1" dirty="0" err="1">
                <a:latin typeface="Times New Roman" pitchFamily="18" charset="0"/>
              </a:rPr>
              <a:t>Lchild</a:t>
            </a:r>
            <a:r>
              <a:rPr lang="en-US" altLang="zh-CN" b="1" dirty="0">
                <a:latin typeface="Times New Roman" pitchFamily="18" charset="0"/>
              </a:rPr>
              <a:t>);</a:t>
            </a:r>
            <a:r>
              <a:rPr lang="en-US" altLang="zh-CN" dirty="0">
                <a:latin typeface="Times New Roman" pitchFamily="18" charset="0"/>
              </a:rPr>
              <a:t> //</a:t>
            </a:r>
            <a:r>
              <a:rPr lang="zh-CN" altLang="en-US" dirty="0">
                <a:latin typeface="Times New Roman" pitchFamily="18" charset="0"/>
              </a:rPr>
              <a:t>中序遍历根的左子树</a:t>
            </a:r>
            <a:endParaRPr lang="en-US" altLang="zh-CN" dirty="0">
              <a:latin typeface="Times New Roman" pitchFamily="18" charset="0"/>
            </a:endParaRPr>
          </a:p>
          <a:p>
            <a:pPr marL="457200" indent="-457200" eaLnBrk="0" hangingPunct="0">
              <a:spcBef>
                <a:spcPct val="0"/>
              </a:spcBef>
            </a:pPr>
            <a:r>
              <a:rPr lang="en-US" altLang="zh-CN" b="1" dirty="0">
                <a:latin typeface="Times New Roman" pitchFamily="18" charset="0"/>
              </a:rPr>
              <a:t>                      </a:t>
            </a:r>
            <a:r>
              <a:rPr lang="en-US" altLang="zh-CN" b="1" dirty="0" err="1">
                <a:latin typeface="Times New Roman" pitchFamily="18" charset="0"/>
              </a:rPr>
              <a:t>cout</a:t>
            </a:r>
            <a:r>
              <a:rPr lang="en-US" altLang="zh-CN" b="1" dirty="0">
                <a:latin typeface="Times New Roman" pitchFamily="18" charset="0"/>
              </a:rPr>
              <a:t>&lt;&lt; root-&gt;data</a:t>
            </a:r>
            <a:r>
              <a:rPr lang="zh-CN" altLang="en-US" b="1" dirty="0">
                <a:latin typeface="Times New Roman" pitchFamily="18" charset="0"/>
              </a:rPr>
              <a:t>；    </a:t>
            </a:r>
            <a:r>
              <a:rPr lang="en-US" altLang="zh-CN" dirty="0">
                <a:latin typeface="Times New Roman" pitchFamily="18" charset="0"/>
              </a:rPr>
              <a:t>//</a:t>
            </a:r>
            <a:r>
              <a:rPr lang="zh-CN" altLang="en-US" dirty="0">
                <a:latin typeface="Times New Roman" pitchFamily="18" charset="0"/>
              </a:rPr>
              <a:t>访问根结点</a:t>
            </a:r>
          </a:p>
          <a:p>
            <a:pPr marL="457200" indent="-457200" eaLnBrk="0" hangingPunct="0">
              <a:spcBef>
                <a:spcPct val="0"/>
              </a:spcBef>
            </a:pPr>
            <a:r>
              <a:rPr lang="en-US" altLang="zh-CN" b="1" dirty="0">
                <a:latin typeface="Times New Roman" pitchFamily="18" charset="0"/>
              </a:rPr>
              <a:t>                      </a:t>
            </a:r>
            <a:r>
              <a:rPr lang="en-US" altLang="zh-CN" b="1" dirty="0" err="1">
                <a:latin typeface="Times New Roman" pitchFamily="18" charset="0"/>
              </a:rPr>
              <a:t>inorder</a:t>
            </a:r>
            <a:r>
              <a:rPr lang="en-US" altLang="zh-CN" b="1" dirty="0">
                <a:latin typeface="Times New Roman" pitchFamily="18" charset="0"/>
              </a:rPr>
              <a:t>(root-&gt;</a:t>
            </a:r>
            <a:r>
              <a:rPr lang="en-US" altLang="zh-CN" b="1" dirty="0" err="1">
                <a:latin typeface="Times New Roman" pitchFamily="18" charset="0"/>
              </a:rPr>
              <a:t>Rchild</a:t>
            </a:r>
            <a:r>
              <a:rPr lang="en-US" altLang="zh-CN" b="1" dirty="0">
                <a:latin typeface="Times New Roman" pitchFamily="18" charset="0"/>
              </a:rPr>
              <a:t>); </a:t>
            </a:r>
            <a:r>
              <a:rPr lang="en-US" altLang="zh-CN" dirty="0">
                <a:latin typeface="Times New Roman" pitchFamily="18" charset="0"/>
              </a:rPr>
              <a:t>//</a:t>
            </a:r>
            <a:r>
              <a:rPr lang="zh-CN" altLang="en-US" dirty="0">
                <a:latin typeface="Times New Roman" pitchFamily="18" charset="0"/>
              </a:rPr>
              <a:t>中序遍历根的右子树</a:t>
            </a:r>
            <a:endParaRPr lang="zh-CN" altLang="en-US" b="1" dirty="0">
              <a:latin typeface="Times New Roman" pitchFamily="18" charset="0"/>
            </a:endParaRPr>
          </a:p>
          <a:p>
            <a:pPr marL="457200" indent="-457200" eaLnBrk="0" hangingPunct="0">
              <a:spcBef>
                <a:spcPct val="0"/>
              </a:spcBef>
            </a:pPr>
            <a:r>
              <a:rPr lang="zh-CN" altLang="en-US" b="1" dirty="0">
                <a:latin typeface="Times New Roman" pitchFamily="18" charset="0"/>
              </a:rPr>
              <a:t>          </a:t>
            </a:r>
            <a:r>
              <a:rPr lang="en-US" altLang="zh-CN" dirty="0">
                <a:latin typeface="Times New Roman" pitchFamily="18" charset="0"/>
              </a:rPr>
              <a:t>}//if</a:t>
            </a:r>
          </a:p>
          <a:p>
            <a:pPr marL="457200" indent="-457200" eaLnBrk="0" hangingPunct="0">
              <a:spcBef>
                <a:spcPct val="0"/>
              </a:spcBef>
            </a:pPr>
            <a:r>
              <a:rPr lang="en-US" altLang="zh-CN" dirty="0">
                <a:latin typeface="Times New Roman" pitchFamily="18" charset="0"/>
              </a:rPr>
              <a:t>    }//</a:t>
            </a:r>
            <a:r>
              <a:rPr lang="en-US" altLang="zh-CN" dirty="0" err="1">
                <a:latin typeface="Times New Roman" pitchFamily="18" charset="0"/>
              </a:rPr>
              <a:t>inorder</a:t>
            </a:r>
            <a:endParaRPr lang="en-US" altLang="zh-CN" b="1" dirty="0">
              <a:latin typeface="Times New Roman" pitchFamily="18" charset="0"/>
            </a:endParaRPr>
          </a:p>
        </p:txBody>
      </p:sp>
      <p:sp>
        <p:nvSpPr>
          <p:cNvPr id="2" name="矩形 1">
            <a:extLst>
              <a:ext uri="{FF2B5EF4-FFF2-40B4-BE49-F238E27FC236}">
                <a16:creationId xmlns:a16="http://schemas.microsoft.com/office/drawing/2014/main" xmlns="" id="{B59FD225-A99F-B51E-2BD1-13FC971F1254}"/>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cxnSp>
        <p:nvCxnSpPr>
          <p:cNvPr id="4" name="直接连接符 3">
            <a:extLst>
              <a:ext uri="{FF2B5EF4-FFF2-40B4-BE49-F238E27FC236}">
                <a16:creationId xmlns:a16="http://schemas.microsoft.com/office/drawing/2014/main" xmlns="" id="{6843492A-7EDD-D03D-E526-F4F48234E7A3}"/>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xmlns="" id="{9CB32C3C-1D3E-C166-B7B7-E0058FFCA728}"/>
              </a:ext>
            </a:extLst>
          </p:cNvPr>
          <p:cNvSpPr txBox="1">
            <a:spLocks noChangeArrowheads="1"/>
          </p:cNvSpPr>
          <p:nvPr/>
        </p:nvSpPr>
        <p:spPr>
          <a:xfrm>
            <a:off x="79920" y="836712"/>
            <a:ext cx="68801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7.5.2 </a:t>
            </a:r>
            <a:r>
              <a:rPr lang="zh-CN" altLang="en-US" dirty="0"/>
              <a:t>先序、中序、后序遍历的递归算法</a:t>
            </a:r>
          </a:p>
        </p:txBody>
      </p:sp>
    </p:spTree>
    <p:extLst>
      <p:ext uri="{BB962C8B-B14F-4D97-AF65-F5344CB8AC3E}">
        <p14:creationId xmlns:p14="http://schemas.microsoft.com/office/powerpoint/2010/main" val="1749588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up)">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3" grpId="0" animBg="1"/>
      <p:bldP spid="22"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4"/>
          <p:cNvSpPr>
            <a:spLocks noChangeArrowheads="1"/>
          </p:cNvSpPr>
          <p:nvPr/>
        </p:nvSpPr>
        <p:spPr bwMode="auto">
          <a:xfrm>
            <a:off x="3648419" y="3152875"/>
            <a:ext cx="449262" cy="389768"/>
          </a:xfrm>
          <a:prstGeom prst="ellipse">
            <a:avLst/>
          </a:prstGeom>
          <a:solidFill>
            <a:srgbClr val="FFCC99"/>
          </a:solidFill>
          <a:ln w="9525">
            <a:solidFill>
              <a:schemeClr val="tx1"/>
            </a:solidFill>
            <a:round/>
            <a:headEnd/>
            <a:tailEnd/>
          </a:ln>
        </p:spPr>
        <p:txBody>
          <a:bodyPr wrap="none" anchor="ctr"/>
          <a:lstStyle/>
          <a:p>
            <a:pPr algn="ctr">
              <a:lnSpc>
                <a:spcPct val="90000"/>
              </a:lnSpc>
              <a:buClrTx/>
              <a:buSzTx/>
              <a:buFont typeface="Wingdings" pitchFamily="2" charset="2"/>
              <a:buNone/>
            </a:pPr>
            <a:r>
              <a:rPr lang="en-US" altLang="zh-CN" sz="2400" dirty="0">
                <a:latin typeface="Times New Roman" pitchFamily="18" charset="0"/>
              </a:rPr>
              <a:t>D</a:t>
            </a:r>
          </a:p>
        </p:txBody>
      </p:sp>
      <p:sp>
        <p:nvSpPr>
          <p:cNvPr id="28" name="AutoShape 5"/>
          <p:cNvSpPr>
            <a:spLocks noChangeArrowheads="1"/>
          </p:cNvSpPr>
          <p:nvPr/>
        </p:nvSpPr>
        <p:spPr bwMode="auto">
          <a:xfrm>
            <a:off x="2731715" y="3909602"/>
            <a:ext cx="838200" cy="533400"/>
          </a:xfrm>
          <a:prstGeom prst="triangle">
            <a:avLst>
              <a:gd name="adj" fmla="val 50000"/>
            </a:avLst>
          </a:prstGeom>
          <a:solidFill>
            <a:srgbClr val="FF000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L</a:t>
            </a:r>
          </a:p>
        </p:txBody>
      </p:sp>
      <p:sp>
        <p:nvSpPr>
          <p:cNvPr id="29" name="AutoShape 6"/>
          <p:cNvSpPr>
            <a:spLocks noChangeArrowheads="1"/>
          </p:cNvSpPr>
          <p:nvPr/>
        </p:nvSpPr>
        <p:spPr bwMode="auto">
          <a:xfrm>
            <a:off x="4017751" y="3880956"/>
            <a:ext cx="838200" cy="618043"/>
          </a:xfrm>
          <a:prstGeom prst="triangle">
            <a:avLst>
              <a:gd name="adj" fmla="val 50000"/>
            </a:avLst>
          </a:prstGeom>
          <a:solidFill>
            <a:srgbClr val="00B05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R</a:t>
            </a:r>
          </a:p>
        </p:txBody>
      </p:sp>
      <p:sp>
        <p:nvSpPr>
          <p:cNvPr id="30" name="Line 7"/>
          <p:cNvSpPr>
            <a:spLocks noChangeShapeType="1"/>
          </p:cNvSpPr>
          <p:nvPr/>
        </p:nvSpPr>
        <p:spPr bwMode="auto">
          <a:xfrm flipH="1">
            <a:off x="3150816" y="3542643"/>
            <a:ext cx="620563" cy="36695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8"/>
          <p:cNvSpPr>
            <a:spLocks noChangeShapeType="1"/>
          </p:cNvSpPr>
          <p:nvPr/>
        </p:nvSpPr>
        <p:spPr bwMode="auto">
          <a:xfrm>
            <a:off x="3955852" y="3542642"/>
            <a:ext cx="475493" cy="366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Text Box 9"/>
          <p:cNvSpPr txBox="1">
            <a:spLocks noChangeArrowheads="1"/>
          </p:cNvSpPr>
          <p:nvPr/>
        </p:nvSpPr>
        <p:spPr bwMode="auto">
          <a:xfrm>
            <a:off x="4274888" y="3085443"/>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3</a:t>
            </a:r>
            <a:endParaRPr lang="zh-CN" altLang="en-US" sz="2400" dirty="0">
              <a:latin typeface="微软雅黑" pitchFamily="34" charset="-122"/>
              <a:ea typeface="微软雅黑" pitchFamily="34" charset="-122"/>
              <a:cs typeface="经典粗黑简" pitchFamily="49" charset="-122"/>
            </a:endParaRPr>
          </a:p>
        </p:txBody>
      </p:sp>
      <p:sp>
        <p:nvSpPr>
          <p:cNvPr id="20" name="Text Box 9"/>
          <p:cNvSpPr txBox="1">
            <a:spLocks noChangeArrowheads="1"/>
          </p:cNvSpPr>
          <p:nvPr/>
        </p:nvSpPr>
        <p:spPr bwMode="auto">
          <a:xfrm>
            <a:off x="3368452"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1</a:t>
            </a:r>
            <a:endParaRPr lang="zh-CN" altLang="en-US" sz="2400" dirty="0">
              <a:latin typeface="微软雅黑" pitchFamily="34" charset="-122"/>
              <a:ea typeface="微软雅黑" pitchFamily="34" charset="-122"/>
              <a:cs typeface="经典粗黑简" pitchFamily="49" charset="-122"/>
            </a:endParaRPr>
          </a:p>
        </p:txBody>
      </p:sp>
      <p:sp>
        <p:nvSpPr>
          <p:cNvPr id="21" name="Text Box 9"/>
          <p:cNvSpPr txBox="1">
            <a:spLocks noChangeArrowheads="1"/>
          </p:cNvSpPr>
          <p:nvPr/>
        </p:nvSpPr>
        <p:spPr bwMode="auto">
          <a:xfrm>
            <a:off x="4797485"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2</a:t>
            </a:r>
            <a:endParaRPr lang="zh-CN" altLang="en-US" sz="2400" dirty="0">
              <a:latin typeface="微软雅黑" pitchFamily="34" charset="-122"/>
              <a:ea typeface="微软雅黑" pitchFamily="34" charset="-122"/>
              <a:cs typeface="经典粗黑简" pitchFamily="49" charset="-122"/>
            </a:endParaRPr>
          </a:p>
        </p:txBody>
      </p:sp>
      <p:sp>
        <p:nvSpPr>
          <p:cNvPr id="16" name="Text Box 20"/>
          <p:cNvSpPr txBox="1">
            <a:spLocks noChangeArrowheads="1"/>
          </p:cNvSpPr>
          <p:nvPr/>
        </p:nvSpPr>
        <p:spPr bwMode="auto">
          <a:xfrm>
            <a:off x="6826696" y="2780929"/>
            <a:ext cx="3301752"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若二叉树非空</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）后序遍历左子树；</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）后序遍历右子树；</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）访问根结点；</a:t>
            </a:r>
          </a:p>
        </p:txBody>
      </p:sp>
      <p:sp>
        <p:nvSpPr>
          <p:cNvPr id="17" name="AutoShape 22"/>
          <p:cNvSpPr>
            <a:spLocks noChangeArrowheads="1"/>
          </p:cNvSpPr>
          <p:nvPr/>
        </p:nvSpPr>
        <p:spPr bwMode="auto">
          <a:xfrm>
            <a:off x="5357819" y="3621728"/>
            <a:ext cx="1468877" cy="457200"/>
          </a:xfrm>
          <a:prstGeom prst="rightArrow">
            <a:avLst>
              <a:gd name="adj1" fmla="val 50000"/>
              <a:gd name="adj2" fmla="val 50000"/>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22" name="Text Box 21"/>
          <p:cNvSpPr txBox="1">
            <a:spLocks noChangeArrowheads="1"/>
          </p:cNvSpPr>
          <p:nvPr/>
        </p:nvSpPr>
        <p:spPr bwMode="auto">
          <a:xfrm>
            <a:off x="5049690" y="4653137"/>
            <a:ext cx="5367452" cy="169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若二叉树为空，结束   </a:t>
            </a:r>
            <a:r>
              <a:rPr lang="en-US" altLang="zh-CN" sz="1800" dirty="0">
                <a:latin typeface="微软雅黑" pitchFamily="34" charset="-122"/>
                <a:ea typeface="微软雅黑" pitchFamily="34" charset="-122"/>
                <a:cs typeface="经典粗黑简" pitchFamily="49" charset="-122"/>
              </a:rPr>
              <a:t>——</a:t>
            </a:r>
            <a:r>
              <a:rPr lang="zh-CN" altLang="en-US" sz="1800" dirty="0">
                <a:latin typeface="微软雅黑" pitchFamily="34" charset="-122"/>
                <a:ea typeface="微软雅黑" pitchFamily="34" charset="-122"/>
                <a:cs typeface="经典粗黑简" pitchFamily="49" charset="-122"/>
              </a:rPr>
              <a:t>基本项（也叫终止项）</a:t>
            </a:r>
          </a:p>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若二叉树非空             </a:t>
            </a:r>
            <a:r>
              <a:rPr lang="en-US" altLang="zh-CN" sz="1800" dirty="0">
                <a:latin typeface="微软雅黑" pitchFamily="34" charset="-122"/>
                <a:ea typeface="微软雅黑" pitchFamily="34" charset="-122"/>
                <a:cs typeface="经典粗黑简" pitchFamily="49" charset="-122"/>
              </a:rPr>
              <a:t>——</a:t>
            </a:r>
            <a:r>
              <a:rPr lang="zh-CN" altLang="en-US" sz="1800" dirty="0">
                <a:latin typeface="微软雅黑" pitchFamily="34" charset="-122"/>
                <a:ea typeface="微软雅黑" pitchFamily="34" charset="-122"/>
                <a:cs typeface="经典粗黑简" pitchFamily="49" charset="-122"/>
              </a:rPr>
              <a:t>递归项</a:t>
            </a:r>
          </a:p>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    （</a:t>
            </a:r>
            <a:r>
              <a:rPr lang="en-US" altLang="zh-CN" sz="1800" dirty="0">
                <a:latin typeface="微软雅黑" pitchFamily="34" charset="-122"/>
                <a:ea typeface="微软雅黑" pitchFamily="34" charset="-122"/>
                <a:cs typeface="经典粗黑简" pitchFamily="49" charset="-122"/>
              </a:rPr>
              <a:t>1</a:t>
            </a:r>
            <a:r>
              <a:rPr lang="zh-CN" altLang="en-US" sz="1800" dirty="0">
                <a:latin typeface="微软雅黑" pitchFamily="34" charset="-122"/>
                <a:ea typeface="微软雅黑" pitchFamily="34" charset="-122"/>
                <a:cs typeface="经典粗黑简" pitchFamily="49" charset="-122"/>
              </a:rPr>
              <a:t>）后序遍历左子树；</a:t>
            </a:r>
          </a:p>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    （</a:t>
            </a:r>
            <a:r>
              <a:rPr lang="en-US" altLang="zh-CN" sz="1800" dirty="0">
                <a:latin typeface="微软雅黑" pitchFamily="34" charset="-122"/>
                <a:ea typeface="微软雅黑" pitchFamily="34" charset="-122"/>
                <a:cs typeface="经典粗黑简" pitchFamily="49" charset="-122"/>
              </a:rPr>
              <a:t>2</a:t>
            </a:r>
            <a:r>
              <a:rPr lang="zh-CN" altLang="en-US" sz="1800" dirty="0">
                <a:latin typeface="微软雅黑" pitchFamily="34" charset="-122"/>
                <a:ea typeface="微软雅黑" pitchFamily="34" charset="-122"/>
                <a:cs typeface="经典粗黑简" pitchFamily="49" charset="-122"/>
              </a:rPr>
              <a:t>）后序遍历右子树；</a:t>
            </a:r>
          </a:p>
          <a:p>
            <a:pPr algn="l">
              <a:spcBef>
                <a:spcPct val="20000"/>
              </a:spcBef>
              <a:buClrTx/>
              <a:buSzTx/>
              <a:buFontTx/>
              <a:buNone/>
            </a:pPr>
            <a:r>
              <a:rPr lang="zh-CN" altLang="en-US" sz="1800" dirty="0">
                <a:latin typeface="微软雅黑" pitchFamily="34" charset="-122"/>
                <a:ea typeface="微软雅黑" pitchFamily="34" charset="-122"/>
                <a:cs typeface="经典粗黑简" pitchFamily="49" charset="-122"/>
              </a:rPr>
              <a:t>    （</a:t>
            </a:r>
            <a:r>
              <a:rPr lang="en-US" altLang="zh-CN" sz="1800" dirty="0">
                <a:latin typeface="微软雅黑" pitchFamily="34" charset="-122"/>
                <a:ea typeface="微软雅黑" pitchFamily="34" charset="-122"/>
                <a:cs typeface="经典粗黑简" pitchFamily="49" charset="-122"/>
              </a:rPr>
              <a:t>3</a:t>
            </a:r>
            <a:r>
              <a:rPr lang="zh-CN" altLang="en-US" sz="1800" dirty="0">
                <a:latin typeface="微软雅黑" pitchFamily="34" charset="-122"/>
                <a:ea typeface="微软雅黑" pitchFamily="34" charset="-122"/>
                <a:cs typeface="经典粗黑简" pitchFamily="49" charset="-122"/>
              </a:rPr>
              <a:t>）访问根结点；</a:t>
            </a:r>
          </a:p>
        </p:txBody>
      </p:sp>
      <p:sp>
        <p:nvSpPr>
          <p:cNvPr id="23" name="AutoShape 23"/>
          <p:cNvSpPr>
            <a:spLocks noChangeArrowheads="1"/>
          </p:cNvSpPr>
          <p:nvPr/>
        </p:nvSpPr>
        <p:spPr bwMode="auto">
          <a:xfrm rot="16200000">
            <a:off x="7551365" y="4242485"/>
            <a:ext cx="364102" cy="457200"/>
          </a:xfrm>
          <a:prstGeom prst="leftArrow">
            <a:avLst>
              <a:gd name="adj1" fmla="val 50000"/>
              <a:gd name="adj2" fmla="val 45833"/>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41"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后序遍历</a:t>
            </a:r>
          </a:p>
        </p:txBody>
      </p:sp>
      <p:sp>
        <p:nvSpPr>
          <p:cNvPr id="2" name="矩形 1">
            <a:extLst>
              <a:ext uri="{FF2B5EF4-FFF2-40B4-BE49-F238E27FC236}">
                <a16:creationId xmlns:a16="http://schemas.microsoft.com/office/drawing/2014/main" xmlns="" id="{4EA35A57-2A70-C79E-FF43-68E43D279D77}"/>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cxnSp>
        <p:nvCxnSpPr>
          <p:cNvPr id="4" name="直接连接符 3">
            <a:extLst>
              <a:ext uri="{FF2B5EF4-FFF2-40B4-BE49-F238E27FC236}">
                <a16:creationId xmlns:a16="http://schemas.microsoft.com/office/drawing/2014/main" xmlns="" id="{B027CB07-8258-A61C-CACC-F78E4B45F5A1}"/>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xmlns="" id="{95DBA932-4F2E-1040-E0DA-F996D05A4B4C}"/>
              </a:ext>
            </a:extLst>
          </p:cNvPr>
          <p:cNvSpPr txBox="1">
            <a:spLocks noChangeArrowheads="1"/>
          </p:cNvSpPr>
          <p:nvPr/>
        </p:nvSpPr>
        <p:spPr>
          <a:xfrm>
            <a:off x="79920" y="836712"/>
            <a:ext cx="68801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7.5.2 </a:t>
            </a:r>
            <a:r>
              <a:rPr lang="zh-CN" altLang="en-US" dirty="0"/>
              <a:t>先序、中序、后序遍历的递归算法</a:t>
            </a:r>
          </a:p>
        </p:txBody>
      </p:sp>
    </p:spTree>
    <p:extLst>
      <p:ext uri="{BB962C8B-B14F-4D97-AF65-F5344CB8AC3E}">
        <p14:creationId xmlns:p14="http://schemas.microsoft.com/office/powerpoint/2010/main" val="1756116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up)">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7" grpId="0" animBg="1"/>
      <p:bldP spid="22" grpId="0" autoUpdateAnimBg="0"/>
      <p:bldP spid="2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4"/>
          <p:cNvSpPr>
            <a:spLocks noChangeArrowheads="1"/>
          </p:cNvSpPr>
          <p:nvPr/>
        </p:nvSpPr>
        <p:spPr bwMode="auto">
          <a:xfrm>
            <a:off x="3648419" y="3152875"/>
            <a:ext cx="449262" cy="389768"/>
          </a:xfrm>
          <a:prstGeom prst="ellipse">
            <a:avLst/>
          </a:prstGeom>
          <a:solidFill>
            <a:srgbClr val="FFCC99"/>
          </a:solidFill>
          <a:ln w="9525">
            <a:solidFill>
              <a:schemeClr val="tx1"/>
            </a:solidFill>
            <a:round/>
            <a:headEnd/>
            <a:tailEnd/>
          </a:ln>
        </p:spPr>
        <p:txBody>
          <a:bodyPr wrap="none" anchor="ctr"/>
          <a:lstStyle/>
          <a:p>
            <a:pPr algn="ctr">
              <a:lnSpc>
                <a:spcPct val="90000"/>
              </a:lnSpc>
              <a:buClrTx/>
              <a:buSzTx/>
              <a:buFont typeface="Wingdings" pitchFamily="2" charset="2"/>
              <a:buNone/>
            </a:pPr>
            <a:r>
              <a:rPr lang="en-US" altLang="zh-CN" sz="2400" dirty="0">
                <a:latin typeface="Times New Roman" pitchFamily="18" charset="0"/>
              </a:rPr>
              <a:t>D</a:t>
            </a:r>
          </a:p>
        </p:txBody>
      </p:sp>
      <p:sp>
        <p:nvSpPr>
          <p:cNvPr id="28" name="AutoShape 5"/>
          <p:cNvSpPr>
            <a:spLocks noChangeArrowheads="1"/>
          </p:cNvSpPr>
          <p:nvPr/>
        </p:nvSpPr>
        <p:spPr bwMode="auto">
          <a:xfrm>
            <a:off x="2731715" y="3909602"/>
            <a:ext cx="838200" cy="533400"/>
          </a:xfrm>
          <a:prstGeom prst="triangle">
            <a:avLst>
              <a:gd name="adj" fmla="val 50000"/>
            </a:avLst>
          </a:prstGeom>
          <a:solidFill>
            <a:srgbClr val="FF000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L</a:t>
            </a:r>
          </a:p>
        </p:txBody>
      </p:sp>
      <p:sp>
        <p:nvSpPr>
          <p:cNvPr id="29" name="AutoShape 6"/>
          <p:cNvSpPr>
            <a:spLocks noChangeArrowheads="1"/>
          </p:cNvSpPr>
          <p:nvPr/>
        </p:nvSpPr>
        <p:spPr bwMode="auto">
          <a:xfrm>
            <a:off x="4017751" y="3880956"/>
            <a:ext cx="838200" cy="618043"/>
          </a:xfrm>
          <a:prstGeom prst="triangle">
            <a:avLst>
              <a:gd name="adj" fmla="val 50000"/>
            </a:avLst>
          </a:prstGeom>
          <a:solidFill>
            <a:srgbClr val="00B050"/>
          </a:solidFill>
          <a:ln w="9525">
            <a:solidFill>
              <a:schemeClr val="tx1"/>
            </a:solidFill>
            <a:miter lim="800000"/>
            <a:headEnd/>
            <a:tailEnd/>
          </a:ln>
        </p:spPr>
        <p:txBody>
          <a:bodyPr wrap="none" anchor="ctr"/>
          <a:lstStyle/>
          <a:p>
            <a:pPr algn="ctr">
              <a:lnSpc>
                <a:spcPct val="90000"/>
              </a:lnSpc>
            </a:pPr>
            <a:r>
              <a:rPr lang="en-US" altLang="zh-CN" sz="2400" dirty="0">
                <a:solidFill>
                  <a:schemeClr val="bg1"/>
                </a:solidFill>
                <a:latin typeface="Times New Roman" pitchFamily="18" charset="0"/>
              </a:rPr>
              <a:t>R</a:t>
            </a:r>
          </a:p>
        </p:txBody>
      </p:sp>
      <p:sp>
        <p:nvSpPr>
          <p:cNvPr id="30" name="Line 7"/>
          <p:cNvSpPr>
            <a:spLocks noChangeShapeType="1"/>
          </p:cNvSpPr>
          <p:nvPr/>
        </p:nvSpPr>
        <p:spPr bwMode="auto">
          <a:xfrm flipH="1">
            <a:off x="3150816" y="3542643"/>
            <a:ext cx="620563" cy="36695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8"/>
          <p:cNvSpPr>
            <a:spLocks noChangeShapeType="1"/>
          </p:cNvSpPr>
          <p:nvPr/>
        </p:nvSpPr>
        <p:spPr bwMode="auto">
          <a:xfrm>
            <a:off x="3955852" y="3542642"/>
            <a:ext cx="475493" cy="366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Text Box 9"/>
          <p:cNvSpPr txBox="1">
            <a:spLocks noChangeArrowheads="1"/>
          </p:cNvSpPr>
          <p:nvPr/>
        </p:nvSpPr>
        <p:spPr bwMode="auto">
          <a:xfrm>
            <a:off x="4274888" y="3085443"/>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3</a:t>
            </a:r>
            <a:endParaRPr lang="zh-CN" altLang="en-US" sz="2400" dirty="0">
              <a:latin typeface="微软雅黑" pitchFamily="34" charset="-122"/>
              <a:ea typeface="微软雅黑" pitchFamily="34" charset="-122"/>
              <a:cs typeface="经典粗黑简" pitchFamily="49" charset="-122"/>
            </a:endParaRPr>
          </a:p>
        </p:txBody>
      </p:sp>
      <p:sp>
        <p:nvSpPr>
          <p:cNvPr id="20" name="Text Box 9"/>
          <p:cNvSpPr txBox="1">
            <a:spLocks noChangeArrowheads="1"/>
          </p:cNvSpPr>
          <p:nvPr/>
        </p:nvSpPr>
        <p:spPr bwMode="auto">
          <a:xfrm>
            <a:off x="3368452"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1</a:t>
            </a:r>
            <a:endParaRPr lang="zh-CN" altLang="en-US" sz="2400" dirty="0">
              <a:latin typeface="微软雅黑" pitchFamily="34" charset="-122"/>
              <a:ea typeface="微软雅黑" pitchFamily="34" charset="-122"/>
              <a:cs typeface="经典粗黑简" pitchFamily="49" charset="-122"/>
            </a:endParaRPr>
          </a:p>
        </p:txBody>
      </p:sp>
      <p:sp>
        <p:nvSpPr>
          <p:cNvPr id="21" name="Text Box 9"/>
          <p:cNvSpPr txBox="1">
            <a:spLocks noChangeArrowheads="1"/>
          </p:cNvSpPr>
          <p:nvPr/>
        </p:nvSpPr>
        <p:spPr bwMode="auto">
          <a:xfrm>
            <a:off x="4797485" y="3880955"/>
            <a:ext cx="40292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eaLnBrk="1" hangingPunct="1">
              <a:spcBef>
                <a:spcPct val="50000"/>
              </a:spcBef>
              <a:buClrTx/>
              <a:buSzTx/>
              <a:buFontTx/>
              <a:buNone/>
            </a:pPr>
            <a:r>
              <a:rPr lang="en-US" altLang="zh-CN" sz="2400" dirty="0">
                <a:latin typeface="微软雅黑" pitchFamily="34" charset="-122"/>
                <a:ea typeface="微软雅黑" pitchFamily="34" charset="-122"/>
                <a:cs typeface="经典粗黑简" pitchFamily="49" charset="-122"/>
              </a:rPr>
              <a:t>2</a:t>
            </a:r>
            <a:endParaRPr lang="zh-CN" altLang="en-US" sz="2400" dirty="0">
              <a:latin typeface="微软雅黑" pitchFamily="34" charset="-122"/>
              <a:ea typeface="微软雅黑" pitchFamily="34" charset="-122"/>
              <a:cs typeface="经典粗黑简" pitchFamily="49" charset="-122"/>
            </a:endParaRPr>
          </a:p>
        </p:txBody>
      </p:sp>
      <p:sp>
        <p:nvSpPr>
          <p:cNvPr id="16" name="Text Box 20"/>
          <p:cNvSpPr txBox="1">
            <a:spLocks noChangeArrowheads="1"/>
          </p:cNvSpPr>
          <p:nvPr/>
        </p:nvSpPr>
        <p:spPr bwMode="auto">
          <a:xfrm>
            <a:off x="6826696" y="2780929"/>
            <a:ext cx="3301752"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pitchFamily="2" charset="-122"/>
              </a:defRPr>
            </a:lvl1pPr>
            <a:lvl2pPr marL="742950" indent="-285750" algn="ctr" eaLnBrk="0" hangingPunct="0">
              <a:spcBef>
                <a:spcPct val="0"/>
              </a:spcBef>
              <a:defRPr kumimoji="1" sz="3200">
                <a:solidFill>
                  <a:schemeClr val="tx1"/>
                </a:solidFill>
                <a:latin typeface="Tahoma" pitchFamily="34" charset="0"/>
                <a:ea typeface="宋体" pitchFamily="2" charset="-122"/>
              </a:defRPr>
            </a:lvl2pPr>
            <a:lvl3pPr marL="1143000" indent="-228600" algn="ctr" eaLnBrk="0" hangingPunct="0">
              <a:spcBef>
                <a:spcPct val="0"/>
              </a:spcBef>
              <a:defRPr kumimoji="1" sz="3200">
                <a:solidFill>
                  <a:schemeClr val="tx1"/>
                </a:solidFill>
                <a:latin typeface="Tahoma" pitchFamily="34" charset="0"/>
                <a:ea typeface="宋体" pitchFamily="2" charset="-122"/>
              </a:defRPr>
            </a:lvl3pPr>
            <a:lvl4pPr marL="1600200" indent="-228600" algn="ctr" eaLnBrk="0" hangingPunct="0">
              <a:spcBef>
                <a:spcPct val="0"/>
              </a:spcBef>
              <a:defRPr kumimoji="1" sz="3200">
                <a:solidFill>
                  <a:schemeClr val="tx1"/>
                </a:solidFill>
                <a:latin typeface="Tahoma" pitchFamily="34" charset="0"/>
                <a:ea typeface="宋体" pitchFamily="2" charset="-122"/>
              </a:defRPr>
            </a:lvl4pPr>
            <a:lvl5pPr marL="2057400" indent="-228600" algn="ctr" eaLnBrk="0" hangingPunct="0">
              <a:spcBef>
                <a:spcPct val="0"/>
              </a:spcBef>
              <a:defRPr kumimoji="1" sz="32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pitchFamily="2" charset="-122"/>
              </a:defRPr>
            </a:lvl9pPr>
          </a:lstStyle>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若二叉树非空</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）后序遍历左子树；</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）后序遍历右子树；</a:t>
            </a:r>
          </a:p>
          <a:p>
            <a:pPr algn="l">
              <a:spcBef>
                <a:spcPct val="20000"/>
              </a:spcBef>
              <a:buClrTx/>
              <a:buSzTx/>
              <a:buFontTx/>
              <a:buNone/>
            </a:pPr>
            <a:r>
              <a:rPr lang="zh-CN" altLang="en-US" sz="2000" dirty="0">
                <a:latin typeface="微软雅黑" pitchFamily="34" charset="-122"/>
                <a:ea typeface="微软雅黑" pitchFamily="34" charset="-122"/>
                <a:cs typeface="经典粗黑简" pitchFamily="49" charset="-122"/>
              </a:rPr>
              <a:t>    （</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）访问根结点；</a:t>
            </a:r>
          </a:p>
        </p:txBody>
      </p:sp>
      <p:sp>
        <p:nvSpPr>
          <p:cNvPr id="17" name="AutoShape 22"/>
          <p:cNvSpPr>
            <a:spLocks noChangeArrowheads="1"/>
          </p:cNvSpPr>
          <p:nvPr/>
        </p:nvSpPr>
        <p:spPr bwMode="auto">
          <a:xfrm>
            <a:off x="5357819" y="3621728"/>
            <a:ext cx="1468877" cy="457200"/>
          </a:xfrm>
          <a:prstGeom prst="rightArrow">
            <a:avLst>
              <a:gd name="adj1" fmla="val 50000"/>
              <a:gd name="adj2" fmla="val 50000"/>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23" name="AutoShape 23"/>
          <p:cNvSpPr>
            <a:spLocks noChangeArrowheads="1"/>
          </p:cNvSpPr>
          <p:nvPr/>
        </p:nvSpPr>
        <p:spPr bwMode="auto">
          <a:xfrm rot="16200000">
            <a:off x="7551365" y="4242485"/>
            <a:ext cx="364102" cy="457200"/>
          </a:xfrm>
          <a:prstGeom prst="leftArrow">
            <a:avLst>
              <a:gd name="adj1" fmla="val 50000"/>
              <a:gd name="adj2" fmla="val 45833"/>
            </a:avLst>
          </a:prstGeom>
          <a:solidFill>
            <a:srgbClr val="C0C0C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41" name="Rectangle 2"/>
          <p:cNvSpPr txBox="1">
            <a:spLocks noChangeArrowheads="1"/>
          </p:cNvSpPr>
          <p:nvPr/>
        </p:nvSpPr>
        <p:spPr>
          <a:xfrm>
            <a:off x="2869624" y="2600894"/>
            <a:ext cx="1522629" cy="546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后序遍历</a:t>
            </a:r>
          </a:p>
        </p:txBody>
      </p:sp>
      <p:sp>
        <p:nvSpPr>
          <p:cNvPr id="24" name="Rectangle 2"/>
          <p:cNvSpPr>
            <a:spLocks noChangeArrowheads="1"/>
          </p:cNvSpPr>
          <p:nvPr/>
        </p:nvSpPr>
        <p:spPr bwMode="auto">
          <a:xfrm>
            <a:off x="2495600" y="4581129"/>
            <a:ext cx="684076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chemeClr val="bg1"/>
                </a:solidFill>
                <a:miter lim="800000"/>
                <a:headEnd/>
                <a:tailEnd/>
              </a14:hiddenLine>
            </a:ext>
          </a:extLst>
        </p:spPr>
        <p:txBody>
          <a:bodyPr wrap="square">
            <a:spAutoFit/>
          </a:bodyPr>
          <a:lstStyle/>
          <a:p>
            <a:pPr marL="457200" indent="-457200" eaLnBrk="0" hangingPunct="0">
              <a:spcBef>
                <a:spcPct val="0"/>
              </a:spcBef>
            </a:pPr>
            <a:r>
              <a:rPr lang="en-US" altLang="zh-CN" b="1" dirty="0">
                <a:latin typeface="Times New Roman" pitchFamily="18" charset="0"/>
              </a:rPr>
              <a:t>    void </a:t>
            </a:r>
            <a:r>
              <a:rPr lang="en-US" altLang="zh-CN" b="1" dirty="0" err="1">
                <a:latin typeface="Times New Roman" pitchFamily="18" charset="0"/>
              </a:rPr>
              <a:t>postorder</a:t>
            </a:r>
            <a:r>
              <a:rPr lang="en-US" altLang="zh-CN" b="1" dirty="0">
                <a:latin typeface="Times New Roman" pitchFamily="18" charset="0"/>
              </a:rPr>
              <a:t> (</a:t>
            </a:r>
            <a:r>
              <a:rPr lang="en-US" altLang="zh-CN" b="1" dirty="0" err="1">
                <a:latin typeface="Times New Roman" pitchFamily="18" charset="0"/>
              </a:rPr>
              <a:t>BiTNode</a:t>
            </a:r>
            <a:r>
              <a:rPr lang="en-US" altLang="zh-CN" b="1" dirty="0">
                <a:latin typeface="Times New Roman" pitchFamily="18" charset="0"/>
              </a:rPr>
              <a:t> *root)  </a:t>
            </a:r>
            <a:r>
              <a:rPr lang="en-US" altLang="zh-CN" dirty="0">
                <a:latin typeface="Times New Roman" pitchFamily="18" charset="0"/>
              </a:rPr>
              <a:t>{</a:t>
            </a:r>
            <a:r>
              <a:rPr lang="en-US" altLang="zh-CN" b="1" dirty="0">
                <a:latin typeface="Times New Roman" pitchFamily="18" charset="0"/>
              </a:rPr>
              <a:t>//</a:t>
            </a:r>
            <a:r>
              <a:rPr lang="zh-CN" altLang="en-US" b="1" dirty="0">
                <a:latin typeface="Times New Roman" pitchFamily="18" charset="0"/>
              </a:rPr>
              <a:t>后</a:t>
            </a:r>
            <a:r>
              <a:rPr lang="zh-CN" altLang="en-US" dirty="0">
                <a:latin typeface="Times New Roman" pitchFamily="18" charset="0"/>
              </a:rPr>
              <a:t>序遍历</a:t>
            </a:r>
            <a:r>
              <a:rPr lang="en-US" altLang="zh-CN" dirty="0">
                <a:latin typeface="Times New Roman" pitchFamily="18" charset="0"/>
              </a:rPr>
              <a:t>root</a:t>
            </a:r>
            <a:r>
              <a:rPr lang="zh-CN" altLang="en-US" dirty="0">
                <a:latin typeface="Times New Roman" pitchFamily="18" charset="0"/>
              </a:rPr>
              <a:t>指向根的二叉树</a:t>
            </a:r>
          </a:p>
          <a:p>
            <a:pPr marL="457200" indent="-457200" eaLnBrk="0" hangingPunct="0">
              <a:spcBef>
                <a:spcPct val="0"/>
              </a:spcBef>
            </a:pPr>
            <a:r>
              <a:rPr lang="zh-CN" altLang="en-US" dirty="0">
                <a:latin typeface="Times New Roman" pitchFamily="18" charset="0"/>
              </a:rPr>
              <a:t>            </a:t>
            </a:r>
            <a:r>
              <a:rPr lang="en-US" altLang="zh-CN" b="1" dirty="0">
                <a:latin typeface="Times New Roman" pitchFamily="18" charset="0"/>
              </a:rPr>
              <a:t>if (root!=NULL)</a:t>
            </a:r>
            <a:r>
              <a:rPr lang="en-US" altLang="zh-CN" dirty="0">
                <a:latin typeface="Times New Roman" pitchFamily="18" charset="0"/>
              </a:rPr>
              <a:t> </a:t>
            </a:r>
            <a:r>
              <a:rPr lang="en-US" altLang="zh-CN" b="1" dirty="0">
                <a:latin typeface="Times New Roman" pitchFamily="18" charset="0"/>
              </a:rPr>
              <a:t>  { </a:t>
            </a:r>
          </a:p>
          <a:p>
            <a:pPr marL="457200" indent="-457200" eaLnBrk="0" hangingPunct="0">
              <a:spcBef>
                <a:spcPct val="0"/>
              </a:spcBef>
            </a:pPr>
            <a:r>
              <a:rPr lang="en-US" altLang="zh-CN" b="1" dirty="0">
                <a:latin typeface="Times New Roman" pitchFamily="18" charset="0"/>
              </a:rPr>
              <a:t>     </a:t>
            </a:r>
            <a:r>
              <a:rPr lang="zh-CN" altLang="en-US" b="1" dirty="0">
                <a:latin typeface="Times New Roman" pitchFamily="18" charset="0"/>
              </a:rPr>
              <a:t>                 </a:t>
            </a:r>
            <a:r>
              <a:rPr lang="en-US" altLang="zh-CN" b="1" dirty="0" err="1">
                <a:latin typeface="Times New Roman" pitchFamily="18" charset="0"/>
              </a:rPr>
              <a:t>postorder</a:t>
            </a:r>
            <a:r>
              <a:rPr lang="en-US" altLang="zh-CN" b="1" dirty="0">
                <a:latin typeface="Times New Roman" pitchFamily="18" charset="0"/>
              </a:rPr>
              <a:t>(root-&gt;</a:t>
            </a:r>
            <a:r>
              <a:rPr lang="en-US" altLang="zh-CN" b="1" dirty="0" err="1">
                <a:latin typeface="Times New Roman" pitchFamily="18" charset="0"/>
              </a:rPr>
              <a:t>Lchild</a:t>
            </a:r>
            <a:r>
              <a:rPr lang="en-US" altLang="zh-CN" b="1" dirty="0">
                <a:latin typeface="Times New Roman" pitchFamily="18" charset="0"/>
              </a:rPr>
              <a:t>);</a:t>
            </a:r>
            <a:r>
              <a:rPr lang="en-US" altLang="zh-CN" dirty="0">
                <a:latin typeface="Times New Roman" pitchFamily="18" charset="0"/>
              </a:rPr>
              <a:t> //</a:t>
            </a:r>
            <a:r>
              <a:rPr lang="zh-CN" altLang="en-US" dirty="0">
                <a:latin typeface="Times New Roman" pitchFamily="18" charset="0"/>
              </a:rPr>
              <a:t>后序遍历根的左子树</a:t>
            </a:r>
            <a:endParaRPr lang="en-US" altLang="zh-CN" dirty="0">
              <a:latin typeface="Times New Roman" pitchFamily="18" charset="0"/>
            </a:endParaRPr>
          </a:p>
          <a:p>
            <a:pPr marL="457200" indent="-457200" eaLnBrk="0" hangingPunct="0">
              <a:spcBef>
                <a:spcPct val="0"/>
              </a:spcBef>
            </a:pPr>
            <a:r>
              <a:rPr lang="en-US" altLang="zh-CN" b="1" dirty="0">
                <a:latin typeface="Times New Roman" pitchFamily="18" charset="0"/>
              </a:rPr>
              <a:t>                      </a:t>
            </a:r>
            <a:r>
              <a:rPr lang="en-US" altLang="zh-CN" b="1" dirty="0" err="1">
                <a:latin typeface="Times New Roman" pitchFamily="18" charset="0"/>
              </a:rPr>
              <a:t>postorder</a:t>
            </a:r>
            <a:r>
              <a:rPr lang="en-US" altLang="zh-CN" b="1" dirty="0">
                <a:latin typeface="Times New Roman" pitchFamily="18" charset="0"/>
              </a:rPr>
              <a:t>(root-&gt;</a:t>
            </a:r>
            <a:r>
              <a:rPr lang="en-US" altLang="zh-CN" b="1" dirty="0" err="1">
                <a:latin typeface="Times New Roman" pitchFamily="18" charset="0"/>
              </a:rPr>
              <a:t>Rchild</a:t>
            </a:r>
            <a:r>
              <a:rPr lang="en-US" altLang="zh-CN" b="1" dirty="0">
                <a:latin typeface="Times New Roman" pitchFamily="18" charset="0"/>
              </a:rPr>
              <a:t>); </a:t>
            </a:r>
            <a:r>
              <a:rPr lang="en-US" altLang="zh-CN" dirty="0">
                <a:latin typeface="Times New Roman" pitchFamily="18" charset="0"/>
              </a:rPr>
              <a:t>//</a:t>
            </a:r>
            <a:r>
              <a:rPr lang="zh-CN" altLang="en-US" dirty="0">
                <a:latin typeface="Times New Roman" pitchFamily="18" charset="0"/>
              </a:rPr>
              <a:t>后序遍历根的右子树</a:t>
            </a:r>
            <a:endParaRPr lang="en-US" altLang="zh-CN" dirty="0">
              <a:latin typeface="Times New Roman" pitchFamily="18" charset="0"/>
            </a:endParaRPr>
          </a:p>
          <a:p>
            <a:pPr marL="457200" indent="-457200" eaLnBrk="0" hangingPunct="0">
              <a:spcBef>
                <a:spcPct val="0"/>
              </a:spcBef>
            </a:pPr>
            <a:r>
              <a:rPr lang="en-US" altLang="zh-CN" b="1" dirty="0">
                <a:latin typeface="Times New Roman" pitchFamily="18" charset="0"/>
              </a:rPr>
              <a:t>                      </a:t>
            </a:r>
            <a:r>
              <a:rPr lang="en-US" altLang="zh-CN" b="1" dirty="0" err="1">
                <a:latin typeface="Times New Roman" pitchFamily="18" charset="0"/>
              </a:rPr>
              <a:t>cout</a:t>
            </a:r>
            <a:r>
              <a:rPr lang="en-US" altLang="zh-CN" b="1" dirty="0">
                <a:latin typeface="Times New Roman" pitchFamily="18" charset="0"/>
              </a:rPr>
              <a:t>&lt;&lt; root-&gt;data</a:t>
            </a:r>
            <a:r>
              <a:rPr lang="zh-CN" altLang="en-US" b="1" dirty="0">
                <a:latin typeface="Times New Roman" pitchFamily="18" charset="0"/>
              </a:rPr>
              <a:t>；        </a:t>
            </a:r>
            <a:r>
              <a:rPr lang="en-US" altLang="zh-CN" dirty="0">
                <a:latin typeface="Times New Roman" pitchFamily="18" charset="0"/>
              </a:rPr>
              <a:t>//</a:t>
            </a:r>
            <a:r>
              <a:rPr lang="zh-CN" altLang="en-US" dirty="0">
                <a:latin typeface="Times New Roman" pitchFamily="18" charset="0"/>
              </a:rPr>
              <a:t>访问根结点</a:t>
            </a:r>
            <a:endParaRPr lang="zh-CN" altLang="en-US" b="1" dirty="0">
              <a:latin typeface="Times New Roman" pitchFamily="18" charset="0"/>
            </a:endParaRPr>
          </a:p>
          <a:p>
            <a:pPr marL="457200" indent="-457200" eaLnBrk="0" hangingPunct="0">
              <a:spcBef>
                <a:spcPct val="0"/>
              </a:spcBef>
            </a:pPr>
            <a:r>
              <a:rPr lang="zh-CN" altLang="en-US" b="1" dirty="0">
                <a:latin typeface="Times New Roman" pitchFamily="18" charset="0"/>
              </a:rPr>
              <a:t>          </a:t>
            </a:r>
            <a:r>
              <a:rPr lang="en-US" altLang="zh-CN" dirty="0">
                <a:latin typeface="Times New Roman" pitchFamily="18" charset="0"/>
              </a:rPr>
              <a:t>}//if</a:t>
            </a:r>
          </a:p>
          <a:p>
            <a:pPr marL="457200" indent="-457200" eaLnBrk="0" hangingPunct="0">
              <a:spcBef>
                <a:spcPct val="0"/>
              </a:spcBef>
            </a:pPr>
            <a:r>
              <a:rPr lang="en-US" altLang="zh-CN" dirty="0">
                <a:latin typeface="Times New Roman" pitchFamily="18" charset="0"/>
              </a:rPr>
              <a:t>    }//</a:t>
            </a:r>
            <a:r>
              <a:rPr lang="en-US" altLang="zh-CN" dirty="0" err="1">
                <a:latin typeface="Times New Roman" pitchFamily="18" charset="0"/>
              </a:rPr>
              <a:t>postorder</a:t>
            </a:r>
            <a:endParaRPr lang="en-US" altLang="zh-CN" b="1" dirty="0">
              <a:latin typeface="Times New Roman" pitchFamily="18" charset="0"/>
            </a:endParaRPr>
          </a:p>
        </p:txBody>
      </p:sp>
      <p:sp>
        <p:nvSpPr>
          <p:cNvPr id="2" name="矩形 1">
            <a:extLst>
              <a:ext uri="{FF2B5EF4-FFF2-40B4-BE49-F238E27FC236}">
                <a16:creationId xmlns:a16="http://schemas.microsoft.com/office/drawing/2014/main" xmlns="" id="{07485533-7125-F221-3F12-B87148189A59}"/>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cxnSp>
        <p:nvCxnSpPr>
          <p:cNvPr id="4" name="直接连接符 3">
            <a:extLst>
              <a:ext uri="{FF2B5EF4-FFF2-40B4-BE49-F238E27FC236}">
                <a16:creationId xmlns:a16="http://schemas.microsoft.com/office/drawing/2014/main" xmlns="" id="{CC1DA822-56C3-29A6-5745-D701A4369351}"/>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xmlns="" id="{0A1293DC-B744-4076-D2C0-3E422375D932}"/>
              </a:ext>
            </a:extLst>
          </p:cNvPr>
          <p:cNvSpPr txBox="1">
            <a:spLocks noChangeArrowheads="1"/>
          </p:cNvSpPr>
          <p:nvPr/>
        </p:nvSpPr>
        <p:spPr>
          <a:xfrm>
            <a:off x="79920" y="836712"/>
            <a:ext cx="68801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7.5.2 </a:t>
            </a:r>
            <a:r>
              <a:rPr lang="zh-CN" altLang="en-US" dirty="0"/>
              <a:t>先序、中序、后序遍历的递归算法</a:t>
            </a:r>
          </a:p>
        </p:txBody>
      </p:sp>
    </p:spTree>
    <p:extLst>
      <p:ext uri="{BB962C8B-B14F-4D97-AF65-F5344CB8AC3E}">
        <p14:creationId xmlns:p14="http://schemas.microsoft.com/office/powerpoint/2010/main" val="2830965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7" grpId="0" animBg="1"/>
      <p:bldP spid="23"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D8BA33-4A60-6054-E7EB-ACCBFB974D7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44CA6DC6-C89A-5C52-A3E0-E7A924943C21}"/>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cxnSp>
        <p:nvCxnSpPr>
          <p:cNvPr id="4" name="直接连接符 3">
            <a:extLst>
              <a:ext uri="{FF2B5EF4-FFF2-40B4-BE49-F238E27FC236}">
                <a16:creationId xmlns:a16="http://schemas.microsoft.com/office/drawing/2014/main" xmlns="" id="{C4F6F7FE-A3CB-CC6A-A8C0-C22A6295A144}"/>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xmlns="" id="{5E2C1EE4-312A-CD46-9D15-C30585C121CA}"/>
              </a:ext>
            </a:extLst>
          </p:cNvPr>
          <p:cNvSpPr txBox="1">
            <a:spLocks noChangeArrowheads="1"/>
          </p:cNvSpPr>
          <p:nvPr/>
        </p:nvSpPr>
        <p:spPr>
          <a:xfrm>
            <a:off x="79920" y="836712"/>
            <a:ext cx="68801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7.5.2 </a:t>
            </a:r>
            <a:r>
              <a:rPr lang="zh-CN" altLang="en-US" dirty="0"/>
              <a:t>先序、中序、后序遍历的递归算法</a:t>
            </a:r>
          </a:p>
        </p:txBody>
      </p:sp>
      <p:sp>
        <p:nvSpPr>
          <p:cNvPr id="3" name="TextBox 2">
            <a:extLst>
              <a:ext uri="{FF2B5EF4-FFF2-40B4-BE49-F238E27FC236}">
                <a16:creationId xmlns:a16="http://schemas.microsoft.com/office/drawing/2014/main" xmlns="" id="{68B3291C-3C9A-0B8B-FA36-58B7E912E067}"/>
              </a:ext>
            </a:extLst>
          </p:cNvPr>
          <p:cNvSpPr txBox="1"/>
          <p:nvPr/>
        </p:nvSpPr>
        <p:spPr>
          <a:xfrm>
            <a:off x="1002166" y="1974108"/>
            <a:ext cx="9990378"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2800"/>
              </a:lnSpc>
              <a:spcBef>
                <a:spcPts val="1200"/>
              </a:spcBef>
              <a:buBlip>
                <a:blip r:embed="rId2"/>
              </a:buBlip>
            </a:pPr>
            <a:r>
              <a:rPr lang="zh-CN" altLang="en-US" sz="2000">
                <a:solidFill>
                  <a:srgbClr val="0000FF"/>
                </a:solidFill>
                <a:latin typeface="Consolas" pitchFamily="49" charset="0"/>
                <a:ea typeface="仿宋" pitchFamily="49" charset="-122"/>
                <a:cs typeface="Consolas" pitchFamily="49" charset="0"/>
              </a:rPr>
              <a:t>这里算法中的</a:t>
            </a:r>
            <a:r>
              <a:rPr lang="zh-CN" altLang="en-US" sz="2000">
                <a:solidFill>
                  <a:srgbClr val="FF0000"/>
                </a:solidFill>
                <a:latin typeface="Consolas" pitchFamily="49" charset="0"/>
                <a:ea typeface="仿宋" pitchFamily="49" charset="-122"/>
                <a:cs typeface="Consolas" pitchFamily="49" charset="0"/>
              </a:rPr>
              <a:t>访问</a:t>
            </a:r>
            <a:r>
              <a:rPr lang="zh-CN" altLang="en-US" sz="2000">
                <a:solidFill>
                  <a:srgbClr val="0000FF"/>
                </a:solidFill>
                <a:latin typeface="Consolas" pitchFamily="49" charset="0"/>
                <a:ea typeface="仿宋" pitchFamily="49" charset="-122"/>
                <a:cs typeface="Consolas" pitchFamily="49" charset="0"/>
              </a:rPr>
              <a:t>是直接输出结点值。实际上，访问结点可以对该结点进行各种操作，如计数、删除结点等。</a:t>
            </a:r>
            <a:endParaRPr lang="en-US" altLang="zh-CN" sz="200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1200"/>
              </a:spcBef>
              <a:buBlip>
                <a:blip r:embed="rId2"/>
              </a:buBlip>
            </a:pPr>
            <a:r>
              <a:rPr lang="en-US" altLang="zh-CN" sz="2000">
                <a:solidFill>
                  <a:srgbClr val="0000FF"/>
                </a:solidFill>
                <a:latin typeface="Consolas" pitchFamily="49" charset="0"/>
                <a:ea typeface="仿宋" pitchFamily="49" charset="-122"/>
                <a:cs typeface="Consolas" pitchFamily="49" charset="0"/>
              </a:rPr>
              <a:t>3</a:t>
            </a:r>
            <a:r>
              <a:rPr lang="zh-CN" altLang="en-US" sz="2000">
                <a:solidFill>
                  <a:srgbClr val="0000FF"/>
                </a:solidFill>
                <a:latin typeface="Consolas" pitchFamily="49" charset="0"/>
                <a:ea typeface="仿宋" pitchFamily="49" charset="-122"/>
                <a:cs typeface="Consolas" pitchFamily="49" charset="0"/>
              </a:rPr>
              <a:t>种递归算法的执行过程是</a:t>
            </a:r>
            <a:r>
              <a:rPr lang="zh-CN" altLang="en-US" sz="2000">
                <a:solidFill>
                  <a:srgbClr val="FF0000"/>
                </a:solidFill>
                <a:latin typeface="Consolas" pitchFamily="49" charset="0"/>
                <a:ea typeface="仿宋" pitchFamily="49" charset="-122"/>
                <a:cs typeface="Consolas" pitchFamily="49" charset="0"/>
              </a:rPr>
              <a:t>递归</a:t>
            </a:r>
            <a:r>
              <a:rPr lang="zh-CN" altLang="en-US" sz="2000">
                <a:solidFill>
                  <a:srgbClr val="0000FF"/>
                </a:solidFill>
                <a:latin typeface="Consolas" pitchFamily="49" charset="0"/>
                <a:ea typeface="仿宋" pitchFamily="49" charset="-122"/>
                <a:cs typeface="Consolas" pitchFamily="49" charset="0"/>
              </a:rPr>
              <a:t>的。</a:t>
            </a:r>
          </a:p>
        </p:txBody>
      </p:sp>
      <p:sp>
        <p:nvSpPr>
          <p:cNvPr id="6" name="TextBox 3">
            <a:extLst>
              <a:ext uri="{FF2B5EF4-FFF2-40B4-BE49-F238E27FC236}">
                <a16:creationId xmlns:a16="http://schemas.microsoft.com/office/drawing/2014/main" xmlns="" id="{D5B6694B-FD52-0EA6-D4D9-25AB9E59C436}"/>
              </a:ext>
            </a:extLst>
          </p:cNvPr>
          <p:cNvSpPr txBox="1"/>
          <p:nvPr/>
        </p:nvSpPr>
        <p:spPr>
          <a:xfrm>
            <a:off x="983432" y="1510940"/>
            <a:ext cx="1785950" cy="461665"/>
          </a:xfrm>
          <a:prstGeom prst="rect">
            <a:avLst/>
          </a:prstGeom>
          <a:noFill/>
        </p:spPr>
        <p:txBody>
          <a:bodyPr wrap="square" rtlCol="0">
            <a:spAutoFit/>
          </a:bodyPr>
          <a:lstStyle/>
          <a:p>
            <a:pPr algn="l"/>
            <a:r>
              <a:rPr kumimoji="1" lang="zh-CN" altLang="en-US" sz="2400" dirty="0">
                <a:latin typeface="微软雅黑" pitchFamily="34" charset="-122"/>
                <a:ea typeface="微软雅黑" pitchFamily="34" charset="-122"/>
                <a:cs typeface="经典粗黑简" pitchFamily="49" charset="-122"/>
              </a:rPr>
              <a:t>注意几点：</a:t>
            </a:r>
          </a:p>
        </p:txBody>
      </p:sp>
      <p:sp>
        <p:nvSpPr>
          <p:cNvPr id="7" name="Line 7">
            <a:extLst>
              <a:ext uri="{FF2B5EF4-FFF2-40B4-BE49-F238E27FC236}">
                <a16:creationId xmlns:a16="http://schemas.microsoft.com/office/drawing/2014/main" xmlns="" id="{B633D290-EC50-D2A0-B0B3-D383A541A401}"/>
              </a:ext>
            </a:extLst>
          </p:cNvPr>
          <p:cNvSpPr>
            <a:spLocks noChangeShapeType="1"/>
          </p:cNvSpPr>
          <p:nvPr/>
        </p:nvSpPr>
        <p:spPr bwMode="auto">
          <a:xfrm>
            <a:off x="6143155" y="4024781"/>
            <a:ext cx="158736" cy="373081"/>
          </a:xfrm>
          <a:prstGeom prst="line">
            <a:avLst/>
          </a:prstGeom>
          <a:noFill/>
          <a:ln w="28575">
            <a:solidFill>
              <a:srgbClr val="FF00FF"/>
            </a:solidFill>
            <a:miter lim="800000"/>
            <a:headEnd/>
            <a:tailEnd type="triangle" w="med" len="med"/>
          </a:ln>
          <a:effectLst/>
        </p:spPr>
        <p:txBody>
          <a:bodyPr wrap="none"/>
          <a:lstStyle/>
          <a:p>
            <a:endParaRPr lang="zh-CN" altLang="en-US"/>
          </a:p>
        </p:txBody>
      </p:sp>
      <p:sp>
        <p:nvSpPr>
          <p:cNvPr id="8" name="Text Box 12">
            <a:extLst>
              <a:ext uri="{FF2B5EF4-FFF2-40B4-BE49-F238E27FC236}">
                <a16:creationId xmlns:a16="http://schemas.microsoft.com/office/drawing/2014/main" xmlns="" id="{3DA3BCFE-986A-5510-6191-82319FF2A2B1}"/>
              </a:ext>
            </a:extLst>
          </p:cNvPr>
          <p:cNvSpPr txBox="1">
            <a:spLocks noChangeArrowheads="1"/>
          </p:cNvSpPr>
          <p:nvPr/>
        </p:nvSpPr>
        <p:spPr bwMode="auto">
          <a:xfrm>
            <a:off x="6760680" y="4037500"/>
            <a:ext cx="720725" cy="369332"/>
          </a:xfrm>
          <a:prstGeom prst="rect">
            <a:avLst/>
          </a:prstGeom>
          <a:noFill/>
          <a:ln w="9525">
            <a:noFill/>
            <a:miter lim="800000"/>
            <a:headEnd/>
            <a:tailEnd/>
          </a:ln>
          <a:effectLst/>
        </p:spPr>
        <p:txBody>
          <a:bodyPr>
            <a:spAutoFit/>
          </a:bodyPr>
          <a:lstStyle/>
          <a:p>
            <a:pPr algn="l">
              <a:spcBef>
                <a:spcPct val="50000"/>
              </a:spcBef>
            </a:pPr>
            <a:r>
              <a:rPr lang="en-US" altLang="zh-CN" sz="1800" i="1" dirty="0">
                <a:latin typeface="Consolas" pitchFamily="49" charset="0"/>
                <a:cs typeface="Consolas" pitchFamily="49" charset="0"/>
              </a:rPr>
              <a:t>f</a:t>
            </a:r>
            <a:r>
              <a:rPr lang="en-US" altLang="zh-CN" sz="1800" dirty="0">
                <a:latin typeface="Consolas" pitchFamily="49" charset="0"/>
                <a:cs typeface="Consolas" pitchFamily="49" charset="0"/>
              </a:rPr>
              <a:t>(</a:t>
            </a:r>
            <a:r>
              <a:rPr lang="en-US" altLang="zh-CN" sz="1800" i="1" dirty="0">
                <a:latin typeface="Consolas" pitchFamily="49" charset="0"/>
                <a:cs typeface="Consolas" pitchFamily="49" charset="0"/>
              </a:rPr>
              <a:t>b</a:t>
            </a:r>
            <a:r>
              <a:rPr lang="en-US" altLang="zh-CN" sz="1800" dirty="0">
                <a:latin typeface="Consolas" pitchFamily="49" charset="0"/>
                <a:cs typeface="Consolas" pitchFamily="49" charset="0"/>
              </a:rPr>
              <a:t>)</a:t>
            </a:r>
          </a:p>
        </p:txBody>
      </p:sp>
      <p:sp>
        <p:nvSpPr>
          <p:cNvPr id="9" name="Text Box 13">
            <a:extLst>
              <a:ext uri="{FF2B5EF4-FFF2-40B4-BE49-F238E27FC236}">
                <a16:creationId xmlns:a16="http://schemas.microsoft.com/office/drawing/2014/main" xmlns="" id="{0BD95869-547B-50C3-96FE-D9E220B0FDD3}"/>
              </a:ext>
            </a:extLst>
          </p:cNvPr>
          <p:cNvSpPr txBox="1">
            <a:spLocks noChangeArrowheads="1"/>
          </p:cNvSpPr>
          <p:nvPr/>
        </p:nvSpPr>
        <p:spPr bwMode="auto">
          <a:xfrm>
            <a:off x="4385780" y="6342550"/>
            <a:ext cx="1871662" cy="369332"/>
          </a:xfrm>
          <a:prstGeom prst="rect">
            <a:avLst/>
          </a:prstGeom>
          <a:noFill/>
          <a:ln w="9525">
            <a:noFill/>
            <a:miter lim="800000"/>
            <a:headEnd/>
            <a:tailEnd/>
          </a:ln>
          <a:effectLst/>
        </p:spPr>
        <p:txBody>
          <a:bodyPr>
            <a:spAutoFit/>
          </a:bodyPr>
          <a:lstStyle/>
          <a:p>
            <a:pPr algn="l">
              <a:spcBef>
                <a:spcPct val="50000"/>
              </a:spcBef>
            </a:pPr>
            <a:r>
              <a:rPr lang="en-US" altLang="zh-CN" sz="1800" i="1" dirty="0">
                <a:latin typeface="Consolas" pitchFamily="49" charset="0"/>
                <a:cs typeface="Consolas" pitchFamily="49" charset="0"/>
              </a:rPr>
              <a:t>f</a:t>
            </a:r>
            <a:r>
              <a:rPr lang="en-US" altLang="zh-CN" sz="1800" dirty="0">
                <a:latin typeface="Consolas" pitchFamily="49" charset="0"/>
                <a:cs typeface="Consolas" pitchFamily="49" charset="0"/>
              </a:rPr>
              <a:t>(</a:t>
            </a:r>
            <a:r>
              <a:rPr lang="en-US" altLang="zh-CN" sz="1800" i="1" dirty="0">
                <a:latin typeface="Consolas" pitchFamily="49" charset="0"/>
                <a:cs typeface="Consolas" pitchFamily="49" charset="0"/>
              </a:rPr>
              <a:t>b</a:t>
            </a:r>
            <a:r>
              <a:rPr lang="en-US" altLang="zh-CN" sz="1800" dirty="0">
                <a:latin typeface="Consolas" pitchFamily="49" charset="0"/>
                <a:ea typeface="宋体" pitchFamily="2" charset="-122"/>
                <a:cs typeface="Consolas" pitchFamily="49" charset="0"/>
              </a:rPr>
              <a:t>-</a:t>
            </a:r>
            <a:r>
              <a:rPr lang="en-US" altLang="zh-CN" sz="1800" dirty="0">
                <a:latin typeface="Consolas" pitchFamily="49" charset="0"/>
                <a:cs typeface="Consolas" pitchFamily="49" charset="0"/>
              </a:rPr>
              <a:t>&gt;</a:t>
            </a:r>
            <a:r>
              <a:rPr lang="en-US" altLang="zh-CN" sz="1800" dirty="0" err="1">
                <a:latin typeface="Consolas" pitchFamily="49" charset="0"/>
                <a:cs typeface="Consolas" pitchFamily="49" charset="0"/>
              </a:rPr>
              <a:t>lchild</a:t>
            </a:r>
            <a:r>
              <a:rPr lang="en-US" altLang="zh-CN" sz="1800" dirty="0">
                <a:latin typeface="Consolas" pitchFamily="49" charset="0"/>
                <a:cs typeface="Consolas" pitchFamily="49" charset="0"/>
              </a:rPr>
              <a:t>)</a:t>
            </a:r>
          </a:p>
        </p:txBody>
      </p:sp>
      <p:sp>
        <p:nvSpPr>
          <p:cNvPr id="10" name="Text Box 14">
            <a:extLst>
              <a:ext uri="{FF2B5EF4-FFF2-40B4-BE49-F238E27FC236}">
                <a16:creationId xmlns:a16="http://schemas.microsoft.com/office/drawing/2014/main" xmlns="" id="{5ECEADC9-BD90-9099-F434-A085B3CA3EF2}"/>
              </a:ext>
            </a:extLst>
          </p:cNvPr>
          <p:cNvSpPr txBox="1">
            <a:spLocks noChangeArrowheads="1"/>
          </p:cNvSpPr>
          <p:nvPr/>
        </p:nvSpPr>
        <p:spPr bwMode="auto">
          <a:xfrm>
            <a:off x="6401905" y="6317150"/>
            <a:ext cx="1943100" cy="369332"/>
          </a:xfrm>
          <a:prstGeom prst="rect">
            <a:avLst/>
          </a:prstGeom>
          <a:noFill/>
          <a:ln w="9525">
            <a:noFill/>
            <a:miter lim="800000"/>
            <a:headEnd/>
            <a:tailEnd/>
          </a:ln>
          <a:effectLst/>
        </p:spPr>
        <p:txBody>
          <a:bodyPr>
            <a:spAutoFit/>
          </a:bodyPr>
          <a:lstStyle/>
          <a:p>
            <a:pPr algn="l">
              <a:spcBef>
                <a:spcPct val="50000"/>
              </a:spcBef>
            </a:pPr>
            <a:r>
              <a:rPr lang="en-US" altLang="zh-CN" sz="1800" i="1" dirty="0">
                <a:latin typeface="Consolas" pitchFamily="49" charset="0"/>
                <a:cs typeface="Consolas" pitchFamily="49" charset="0"/>
              </a:rPr>
              <a:t>f</a:t>
            </a:r>
            <a:r>
              <a:rPr lang="en-US" altLang="zh-CN" sz="1800" dirty="0">
                <a:latin typeface="Consolas" pitchFamily="49" charset="0"/>
                <a:cs typeface="Consolas" pitchFamily="49" charset="0"/>
              </a:rPr>
              <a:t>(</a:t>
            </a:r>
            <a:r>
              <a:rPr lang="en-US" altLang="zh-CN" sz="1800" i="1" dirty="0">
                <a:latin typeface="Consolas" pitchFamily="49" charset="0"/>
                <a:cs typeface="Consolas" pitchFamily="49" charset="0"/>
              </a:rPr>
              <a:t>b</a:t>
            </a:r>
            <a:r>
              <a:rPr lang="en-US" altLang="zh-CN" sz="1800" dirty="0">
                <a:latin typeface="Consolas" pitchFamily="49" charset="0"/>
                <a:ea typeface="宋体" pitchFamily="2" charset="-122"/>
                <a:cs typeface="Consolas" pitchFamily="49" charset="0"/>
              </a:rPr>
              <a:t>-</a:t>
            </a:r>
            <a:r>
              <a:rPr lang="en-US" altLang="zh-CN" sz="1800" dirty="0">
                <a:latin typeface="Consolas" pitchFamily="49" charset="0"/>
                <a:cs typeface="Consolas" pitchFamily="49" charset="0"/>
              </a:rPr>
              <a:t>&gt;</a:t>
            </a:r>
            <a:r>
              <a:rPr lang="en-US" altLang="zh-CN" sz="1800" dirty="0" err="1">
                <a:latin typeface="Consolas" pitchFamily="49" charset="0"/>
                <a:cs typeface="Consolas" pitchFamily="49" charset="0"/>
              </a:rPr>
              <a:t>rchild</a:t>
            </a:r>
            <a:r>
              <a:rPr lang="en-US" altLang="zh-CN" sz="1800" dirty="0">
                <a:latin typeface="Consolas" pitchFamily="49" charset="0"/>
                <a:cs typeface="Consolas" pitchFamily="49" charset="0"/>
              </a:rPr>
              <a:t>)</a:t>
            </a:r>
          </a:p>
        </p:txBody>
      </p:sp>
      <p:sp>
        <p:nvSpPr>
          <p:cNvPr id="11" name="Oval 15">
            <a:extLst>
              <a:ext uri="{FF2B5EF4-FFF2-40B4-BE49-F238E27FC236}">
                <a16:creationId xmlns:a16="http://schemas.microsoft.com/office/drawing/2014/main" xmlns="" id="{ABD55646-B4D1-DC54-AA3B-08C5C77129F9}"/>
              </a:ext>
            </a:extLst>
          </p:cNvPr>
          <p:cNvSpPr>
            <a:spLocks noChangeArrowheads="1"/>
          </p:cNvSpPr>
          <p:nvPr/>
        </p:nvSpPr>
        <p:spPr bwMode="auto">
          <a:xfrm>
            <a:off x="5811355" y="4397863"/>
            <a:ext cx="863600" cy="504825"/>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i="1" dirty="0">
                <a:solidFill>
                  <a:srgbClr val="0000FF"/>
                </a:solidFill>
                <a:latin typeface="Consolas" pitchFamily="49" charset="0"/>
                <a:ea typeface="楷体" pitchFamily="49" charset="-122"/>
                <a:cs typeface="Consolas" pitchFamily="49" charset="0"/>
              </a:rPr>
              <a:t>N</a:t>
            </a:r>
            <a:endParaRPr lang="zh-CN" altLang="zh-CN" sz="2000" i="1" dirty="0">
              <a:solidFill>
                <a:srgbClr val="0000FF"/>
              </a:solidFill>
              <a:latin typeface="Consolas" pitchFamily="49" charset="0"/>
              <a:ea typeface="楷体" pitchFamily="49" charset="-122"/>
              <a:cs typeface="Consolas" pitchFamily="49" charset="0"/>
            </a:endParaRPr>
          </a:p>
        </p:txBody>
      </p:sp>
      <p:sp>
        <p:nvSpPr>
          <p:cNvPr id="12" name="AutoShape 16">
            <a:extLst>
              <a:ext uri="{FF2B5EF4-FFF2-40B4-BE49-F238E27FC236}">
                <a16:creationId xmlns:a16="http://schemas.microsoft.com/office/drawing/2014/main" xmlns="" id="{662C43F9-802C-5DCE-4CE9-21BE8A6E60C2}"/>
              </a:ext>
            </a:extLst>
          </p:cNvPr>
          <p:cNvSpPr>
            <a:spLocks noChangeArrowheads="1"/>
          </p:cNvSpPr>
          <p:nvPr/>
        </p:nvSpPr>
        <p:spPr bwMode="auto">
          <a:xfrm>
            <a:off x="4684230" y="5334488"/>
            <a:ext cx="1150937" cy="792162"/>
          </a:xfrm>
          <a:prstGeom prst="triangle">
            <a:avLst>
              <a:gd name="adj" fmla="val 50000"/>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pPr>
              <a:lnSpc>
                <a:spcPts val="1200"/>
              </a:lnSpc>
            </a:pPr>
            <a:r>
              <a:rPr lang="en-US" altLang="zh-CN" sz="2000" i="1">
                <a:solidFill>
                  <a:srgbClr val="0000FF"/>
                </a:solidFill>
                <a:latin typeface="Consolas" pitchFamily="49" charset="0"/>
                <a:ea typeface="楷体" pitchFamily="49" charset="-122"/>
                <a:cs typeface="Consolas" pitchFamily="49" charset="0"/>
              </a:rPr>
              <a:t>L</a:t>
            </a:r>
          </a:p>
        </p:txBody>
      </p:sp>
      <p:sp>
        <p:nvSpPr>
          <p:cNvPr id="13" name="AutoShape 17">
            <a:extLst>
              <a:ext uri="{FF2B5EF4-FFF2-40B4-BE49-F238E27FC236}">
                <a16:creationId xmlns:a16="http://schemas.microsoft.com/office/drawing/2014/main" xmlns="" id="{FD6A5777-B6AF-BB73-7E97-614DB5CA7082}"/>
              </a:ext>
            </a:extLst>
          </p:cNvPr>
          <p:cNvSpPr>
            <a:spLocks noChangeArrowheads="1"/>
          </p:cNvSpPr>
          <p:nvPr/>
        </p:nvSpPr>
        <p:spPr bwMode="auto">
          <a:xfrm>
            <a:off x="6546367" y="5334488"/>
            <a:ext cx="1150938" cy="792162"/>
          </a:xfrm>
          <a:prstGeom prst="triangle">
            <a:avLst>
              <a:gd name="adj" fmla="val 50000"/>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pPr>
              <a:lnSpc>
                <a:spcPts val="1200"/>
              </a:lnSpc>
            </a:pPr>
            <a:r>
              <a:rPr lang="en-US" altLang="zh-CN" sz="2000" i="1" dirty="0">
                <a:solidFill>
                  <a:srgbClr val="0000FF"/>
                </a:solidFill>
                <a:latin typeface="Consolas" pitchFamily="49" charset="0"/>
                <a:ea typeface="楷体" pitchFamily="49" charset="-122"/>
                <a:cs typeface="Consolas" pitchFamily="49" charset="0"/>
              </a:rPr>
              <a:t>R</a:t>
            </a:r>
          </a:p>
        </p:txBody>
      </p:sp>
      <p:sp>
        <p:nvSpPr>
          <p:cNvPr id="14" name="Line 18">
            <a:extLst>
              <a:ext uri="{FF2B5EF4-FFF2-40B4-BE49-F238E27FC236}">
                <a16:creationId xmlns:a16="http://schemas.microsoft.com/office/drawing/2014/main" xmlns="" id="{0193D005-DEA3-BBC9-7D0D-C1D19A4DB1B7}"/>
              </a:ext>
            </a:extLst>
          </p:cNvPr>
          <p:cNvSpPr>
            <a:spLocks noChangeShapeType="1"/>
          </p:cNvSpPr>
          <p:nvPr/>
        </p:nvSpPr>
        <p:spPr bwMode="auto">
          <a:xfrm flipH="1">
            <a:off x="5331930" y="4829663"/>
            <a:ext cx="647700" cy="649287"/>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p>
        </p:txBody>
      </p:sp>
      <p:sp>
        <p:nvSpPr>
          <p:cNvPr id="15" name="Freeform 19">
            <a:extLst>
              <a:ext uri="{FF2B5EF4-FFF2-40B4-BE49-F238E27FC236}">
                <a16:creationId xmlns:a16="http://schemas.microsoft.com/office/drawing/2014/main" xmlns="" id="{117E97FD-9BD8-711C-2B91-1F3C5F62FBBF}"/>
              </a:ext>
            </a:extLst>
          </p:cNvPr>
          <p:cNvSpPr>
            <a:spLocks/>
          </p:cNvSpPr>
          <p:nvPr/>
        </p:nvSpPr>
        <p:spPr bwMode="auto">
          <a:xfrm>
            <a:off x="6520967" y="4842363"/>
            <a:ext cx="542925" cy="577850"/>
          </a:xfrm>
          <a:custGeom>
            <a:avLst/>
            <a:gdLst/>
            <a:ahLst/>
            <a:cxnLst>
              <a:cxn ang="0">
                <a:pos x="0" y="0"/>
              </a:cxn>
              <a:cxn ang="0">
                <a:pos x="342" y="364"/>
              </a:cxn>
            </a:cxnLst>
            <a:rect l="0" t="0" r="r" b="b"/>
            <a:pathLst>
              <a:path w="342" h="364">
                <a:moveTo>
                  <a:pt x="0" y="0"/>
                </a:moveTo>
                <a:lnTo>
                  <a:pt x="342" y="364"/>
                </a:lnTo>
              </a:path>
            </a:pathLst>
          </a:custGeom>
          <a:ln>
            <a:headEnd type="none" w="med" len="me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p>
        </p:txBody>
      </p:sp>
      <p:sp>
        <p:nvSpPr>
          <p:cNvPr id="18" name="TextBox 16">
            <a:extLst>
              <a:ext uri="{FF2B5EF4-FFF2-40B4-BE49-F238E27FC236}">
                <a16:creationId xmlns:a16="http://schemas.microsoft.com/office/drawing/2014/main" xmlns="" id="{B98451CB-A1F1-685B-7B39-D0AA32FD8F7B}"/>
              </a:ext>
            </a:extLst>
          </p:cNvPr>
          <p:cNvSpPr txBox="1"/>
          <p:nvPr/>
        </p:nvSpPr>
        <p:spPr>
          <a:xfrm>
            <a:off x="3734892" y="4380708"/>
            <a:ext cx="1643074" cy="400110"/>
          </a:xfrm>
          <a:prstGeom prst="rect">
            <a:avLst/>
          </a:prstGeom>
          <a:noFill/>
        </p:spPr>
        <p:txBody>
          <a:bodyPr wrap="square" rtlCol="0">
            <a:spAutoFit/>
          </a:bodyPr>
          <a:lstStyle/>
          <a:p>
            <a:pPr algn="l"/>
            <a:r>
              <a:rPr lang="zh-CN" altLang="en-US" sz="2000" dirty="0">
                <a:solidFill>
                  <a:srgbClr val="FF0000"/>
                </a:solidFill>
                <a:latin typeface="微软雅黑" pitchFamily="34" charset="-122"/>
                <a:ea typeface="微软雅黑" pitchFamily="34" charset="-122"/>
              </a:rPr>
              <a:t>基本思路</a:t>
            </a:r>
          </a:p>
        </p:txBody>
      </p:sp>
      <p:grpSp>
        <p:nvGrpSpPr>
          <p:cNvPr id="19" name="组合 22">
            <a:extLst>
              <a:ext uri="{FF2B5EF4-FFF2-40B4-BE49-F238E27FC236}">
                <a16:creationId xmlns:a16="http://schemas.microsoft.com/office/drawing/2014/main" xmlns="" id="{05D64881-6345-9F35-1378-F71CA2A6EA6D}"/>
              </a:ext>
            </a:extLst>
          </p:cNvPr>
          <p:cNvGrpSpPr/>
          <p:nvPr/>
        </p:nvGrpSpPr>
        <p:grpSpPr>
          <a:xfrm>
            <a:off x="7529052" y="4062862"/>
            <a:ext cx="2643206" cy="2608899"/>
            <a:chOff x="5143504" y="2967015"/>
            <a:chExt cx="2643206" cy="2608899"/>
          </a:xfrm>
        </p:grpSpPr>
        <p:sp>
          <p:nvSpPr>
            <p:cNvPr id="22" name="TextBox 17">
              <a:extLst>
                <a:ext uri="{FF2B5EF4-FFF2-40B4-BE49-F238E27FC236}">
                  <a16:creationId xmlns:a16="http://schemas.microsoft.com/office/drawing/2014/main" xmlns="" id="{A8CEF802-8135-FA79-3B61-E4B5968246B4}"/>
                </a:ext>
              </a:extLst>
            </p:cNvPr>
            <p:cNvSpPr txBox="1"/>
            <p:nvPr/>
          </p:nvSpPr>
          <p:spPr>
            <a:xfrm>
              <a:off x="6218211" y="2967015"/>
              <a:ext cx="985845" cy="400110"/>
            </a:xfrm>
            <a:prstGeom prst="rect">
              <a:avLst/>
            </a:prstGeom>
            <a:noFill/>
          </p:spPr>
          <p:txBody>
            <a:bodyPr wrap="square" rtlCol="0">
              <a:spAutoFit/>
            </a:bodyPr>
            <a:lstStyle/>
            <a:p>
              <a:pPr algn="l"/>
              <a:r>
                <a:rPr lang="zh-CN" altLang="en-US" sz="2000">
                  <a:solidFill>
                    <a:srgbClr val="C00000"/>
                  </a:solidFill>
                  <a:latin typeface="微软雅黑" pitchFamily="34" charset="-122"/>
                  <a:ea typeface="微软雅黑" pitchFamily="34" charset="-122"/>
                </a:rPr>
                <a:t>大问题</a:t>
              </a:r>
            </a:p>
          </p:txBody>
        </p:sp>
        <p:sp>
          <p:nvSpPr>
            <p:cNvPr id="25" name="TextBox 18">
              <a:extLst>
                <a:ext uri="{FF2B5EF4-FFF2-40B4-BE49-F238E27FC236}">
                  <a16:creationId xmlns:a16="http://schemas.microsoft.com/office/drawing/2014/main" xmlns="" id="{F218E16E-01F9-BD67-05DC-28CD6799C87E}"/>
                </a:ext>
              </a:extLst>
            </p:cNvPr>
            <p:cNvSpPr txBox="1"/>
            <p:nvPr/>
          </p:nvSpPr>
          <p:spPr>
            <a:xfrm>
              <a:off x="6227326" y="5175804"/>
              <a:ext cx="1559384" cy="400110"/>
            </a:xfrm>
            <a:prstGeom prst="rect">
              <a:avLst/>
            </a:prstGeom>
            <a:noFill/>
          </p:spPr>
          <p:txBody>
            <a:bodyPr wrap="square" rtlCol="0">
              <a:spAutoFit/>
            </a:bodyPr>
            <a:lstStyle/>
            <a:p>
              <a:pPr algn="l"/>
              <a:r>
                <a:rPr lang="zh-CN" altLang="en-US" sz="2000">
                  <a:solidFill>
                    <a:srgbClr val="C00000"/>
                  </a:solidFill>
                  <a:latin typeface="微软雅黑" pitchFamily="34" charset="-122"/>
                  <a:ea typeface="微软雅黑" pitchFamily="34" charset="-122"/>
                </a:rPr>
                <a:t>两个小问题</a:t>
              </a:r>
            </a:p>
          </p:txBody>
        </p:sp>
        <p:sp>
          <p:nvSpPr>
            <p:cNvPr id="26" name="右箭头 19">
              <a:extLst>
                <a:ext uri="{FF2B5EF4-FFF2-40B4-BE49-F238E27FC236}">
                  <a16:creationId xmlns:a16="http://schemas.microsoft.com/office/drawing/2014/main" xmlns="" id="{793A4402-F09A-F77D-A588-DA0EFF6F9B9D}"/>
                </a:ext>
              </a:extLst>
            </p:cNvPr>
            <p:cNvSpPr/>
            <p:nvPr/>
          </p:nvSpPr>
          <p:spPr>
            <a:xfrm>
              <a:off x="5143504" y="3071810"/>
              <a:ext cx="928694" cy="142876"/>
            </a:xfrm>
            <a:prstGeom prst="rightArrow">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sp>
          <p:nvSpPr>
            <p:cNvPr id="33" name="右箭头 20">
              <a:extLst>
                <a:ext uri="{FF2B5EF4-FFF2-40B4-BE49-F238E27FC236}">
                  <a16:creationId xmlns:a16="http://schemas.microsoft.com/office/drawing/2014/main" xmlns="" id="{284D4319-D647-0B8B-E33A-DC80CB1203FB}"/>
                </a:ext>
              </a:extLst>
            </p:cNvPr>
            <p:cNvSpPr/>
            <p:nvPr/>
          </p:nvSpPr>
          <p:spPr>
            <a:xfrm>
              <a:off x="5759792" y="5337730"/>
              <a:ext cx="360000" cy="142876"/>
            </a:xfrm>
            <a:prstGeom prst="rightArrow">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grpSp>
      <p:grpSp>
        <p:nvGrpSpPr>
          <p:cNvPr id="34" name="组合 26">
            <a:extLst>
              <a:ext uri="{FF2B5EF4-FFF2-40B4-BE49-F238E27FC236}">
                <a16:creationId xmlns:a16="http://schemas.microsoft.com/office/drawing/2014/main" xmlns="" id="{20309A11-9C1B-7362-7371-98BE4DD6EBDA}"/>
              </a:ext>
            </a:extLst>
          </p:cNvPr>
          <p:cNvGrpSpPr/>
          <p:nvPr/>
        </p:nvGrpSpPr>
        <p:grpSpPr>
          <a:xfrm>
            <a:off x="9099894" y="4597079"/>
            <a:ext cx="2358248" cy="1571636"/>
            <a:chOff x="5785652" y="3501232"/>
            <a:chExt cx="2358248" cy="1571636"/>
          </a:xfrm>
        </p:grpSpPr>
        <p:cxnSp>
          <p:nvCxnSpPr>
            <p:cNvPr id="35" name="直接箭头连接符 34">
              <a:extLst>
                <a:ext uri="{FF2B5EF4-FFF2-40B4-BE49-F238E27FC236}">
                  <a16:creationId xmlns:a16="http://schemas.microsoft.com/office/drawing/2014/main" xmlns="" id="{E468E3F4-72C7-2CDD-2A87-E5FE8D873244}"/>
                </a:ext>
              </a:extLst>
            </p:cNvPr>
            <p:cNvCxnSpPr/>
            <p:nvPr/>
          </p:nvCxnSpPr>
          <p:spPr>
            <a:xfrm rot="5400000">
              <a:off x="5000628" y="4286256"/>
              <a:ext cx="1571636" cy="1588"/>
            </a:xfrm>
            <a:prstGeom prst="straightConnector1">
              <a:avLst/>
            </a:prstGeom>
            <a:ln w="28575">
              <a:solidFill>
                <a:srgbClr val="7030A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6" name="TextBox 25">
              <a:extLst>
                <a:ext uri="{FF2B5EF4-FFF2-40B4-BE49-F238E27FC236}">
                  <a16:creationId xmlns:a16="http://schemas.microsoft.com/office/drawing/2014/main" xmlns="" id="{0488E275-06BF-49AE-66AF-24AD8C1CB7F9}"/>
                </a:ext>
              </a:extLst>
            </p:cNvPr>
            <p:cNvSpPr txBox="1"/>
            <p:nvPr/>
          </p:nvSpPr>
          <p:spPr>
            <a:xfrm>
              <a:off x="5857884" y="3864122"/>
              <a:ext cx="2286016" cy="646331"/>
            </a:xfrm>
            <a:prstGeom prst="rect">
              <a:avLst/>
            </a:prstGeom>
            <a:noFill/>
          </p:spPr>
          <p:txBody>
            <a:bodyPr wrap="square" rtlCol="0">
              <a:spAutoFit/>
            </a:bodyPr>
            <a:lstStyle/>
            <a:p>
              <a:r>
                <a:rPr lang="zh-CN" altLang="en-US" sz="1800">
                  <a:latin typeface="仿宋" pitchFamily="49" charset="-122"/>
                  <a:ea typeface="仿宋" pitchFamily="49" charset="-122"/>
                </a:rPr>
                <a:t>求解过程相似，仅仅是大小规模的不同</a:t>
              </a:r>
            </a:p>
          </p:txBody>
        </p:sp>
      </p:grpSp>
      <p:sp>
        <p:nvSpPr>
          <p:cNvPr id="37" name="Text Box 12">
            <a:extLst>
              <a:ext uri="{FF2B5EF4-FFF2-40B4-BE49-F238E27FC236}">
                <a16:creationId xmlns:a16="http://schemas.microsoft.com/office/drawing/2014/main" xmlns="" id="{8B501DF0-2FAB-1492-5BCE-39A136DE1EF8}"/>
              </a:ext>
            </a:extLst>
          </p:cNvPr>
          <p:cNvSpPr txBox="1">
            <a:spLocks noChangeArrowheads="1"/>
          </p:cNvSpPr>
          <p:nvPr/>
        </p:nvSpPr>
        <p:spPr bwMode="auto">
          <a:xfrm>
            <a:off x="5885978" y="3842220"/>
            <a:ext cx="357190" cy="396875"/>
          </a:xfrm>
          <a:prstGeom prst="rect">
            <a:avLst/>
          </a:prstGeom>
          <a:noFill/>
          <a:ln w="9525">
            <a:noFill/>
            <a:miter lim="800000"/>
            <a:headEnd/>
            <a:tailEnd/>
          </a:ln>
          <a:effectLst/>
        </p:spPr>
        <p:txBody>
          <a:bodyPr wrap="square">
            <a:spAutoFit/>
          </a:bodyPr>
          <a:lstStyle/>
          <a:p>
            <a:pPr algn="l">
              <a:spcBef>
                <a:spcPct val="50000"/>
              </a:spcBef>
            </a:pPr>
            <a:r>
              <a:rPr lang="en-US" altLang="zh-CN" sz="2000" i="1">
                <a:latin typeface="Consolas" pitchFamily="49" charset="0"/>
                <a:cs typeface="Consolas" pitchFamily="49" charset="0"/>
              </a:rPr>
              <a:t>b</a:t>
            </a:r>
            <a:endParaRPr lang="en-US" altLang="zh-CN" sz="2000" dirty="0">
              <a:latin typeface="Consolas" pitchFamily="49" charset="0"/>
              <a:cs typeface="Consolas" pitchFamily="49" charset="0"/>
            </a:endParaRPr>
          </a:p>
        </p:txBody>
      </p:sp>
      <p:sp>
        <p:nvSpPr>
          <p:cNvPr id="38" name="TextBox 26">
            <a:extLst>
              <a:ext uri="{FF2B5EF4-FFF2-40B4-BE49-F238E27FC236}">
                <a16:creationId xmlns:a16="http://schemas.microsoft.com/office/drawing/2014/main" xmlns="" id="{20C6C770-1D76-A6EF-F3D7-F2350C55EC59}"/>
              </a:ext>
            </a:extLst>
          </p:cNvPr>
          <p:cNvSpPr txBox="1"/>
          <p:nvPr/>
        </p:nvSpPr>
        <p:spPr>
          <a:xfrm>
            <a:off x="1002166" y="3645024"/>
            <a:ext cx="4429156" cy="483960"/>
          </a:xfrm>
          <a:prstGeom prst="rect">
            <a:avLst/>
          </a:prstGeom>
        </p:spPr>
        <p:style>
          <a:lnRef idx="1">
            <a:schemeClr val="accent4"/>
          </a:lnRef>
          <a:fillRef idx="3">
            <a:schemeClr val="accent4"/>
          </a:fillRef>
          <a:effectRef idx="2">
            <a:schemeClr val="accent4"/>
          </a:effectRef>
          <a:fontRef idx="minor">
            <a:schemeClr val="lt1"/>
          </a:fontRef>
        </p:style>
        <p:txBody>
          <a:bodyPr wrap="square" tIns="72000" bIns="72000" rtlCol="0">
            <a:spAutoFit/>
          </a:bodyPr>
          <a:lstStyle/>
          <a:p>
            <a:r>
              <a:rPr kumimoji="1" lang="zh-CN" altLang="en-US" sz="2200" spc="50">
                <a:ln w="11430"/>
                <a:solidFill>
                  <a:schemeClr val="bg1"/>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二叉树</a:t>
            </a:r>
            <a:r>
              <a:rPr kumimoji="1" lang="en-US" altLang="zh-CN" sz="2200" spc="50">
                <a:ln w="11430"/>
                <a:solidFill>
                  <a:schemeClr val="bg1"/>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3</a:t>
            </a:r>
            <a:r>
              <a:rPr kumimoji="1" lang="zh-CN" altLang="en-US" sz="2200" spc="50">
                <a:ln w="11430"/>
                <a:solidFill>
                  <a:schemeClr val="bg1"/>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种递归遍历算法的应用</a:t>
            </a:r>
            <a:endParaRPr lang="zh-CN" altLang="en-US" sz="2200">
              <a:solidFill>
                <a:schemeClr val="bg1"/>
              </a:solidFill>
              <a:latin typeface="Consolas" pitchFamily="49" charset="0"/>
              <a:ea typeface="微软雅黑" pitchFamily="34" charset="-122"/>
              <a:cs typeface="Consolas" pitchFamily="49" charset="0"/>
            </a:endParaRPr>
          </a:p>
        </p:txBody>
      </p:sp>
    </p:spTree>
    <p:extLst>
      <p:ext uri="{BB962C8B-B14F-4D97-AF65-F5344CB8AC3E}">
        <p14:creationId xmlns:p14="http://schemas.microsoft.com/office/powerpoint/2010/main" val="209815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ED8B121-FC8F-2EE0-A00C-B8CDF0E899F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C5C167FD-EDC1-0F04-DAE2-D59F290E472C}"/>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cxnSp>
        <p:nvCxnSpPr>
          <p:cNvPr id="4" name="直接连接符 3">
            <a:extLst>
              <a:ext uri="{FF2B5EF4-FFF2-40B4-BE49-F238E27FC236}">
                <a16:creationId xmlns:a16="http://schemas.microsoft.com/office/drawing/2014/main" xmlns="" id="{842AB14E-8389-A1E6-934F-6F905DBC7FE8}"/>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xmlns="" id="{FD1138E0-C1BB-DA37-D4CC-9C9E2D5A45C5}"/>
              </a:ext>
            </a:extLst>
          </p:cNvPr>
          <p:cNvSpPr txBox="1">
            <a:spLocks noChangeArrowheads="1"/>
          </p:cNvSpPr>
          <p:nvPr/>
        </p:nvSpPr>
        <p:spPr>
          <a:xfrm>
            <a:off x="79920" y="836712"/>
            <a:ext cx="68801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7.5.2 </a:t>
            </a:r>
            <a:r>
              <a:rPr lang="zh-CN" altLang="en-US" dirty="0"/>
              <a:t>先序、中序、后序遍历的递归算法</a:t>
            </a:r>
          </a:p>
        </p:txBody>
      </p:sp>
      <p:sp>
        <p:nvSpPr>
          <p:cNvPr id="16" name="Text Box 4">
            <a:extLst>
              <a:ext uri="{FF2B5EF4-FFF2-40B4-BE49-F238E27FC236}">
                <a16:creationId xmlns:a16="http://schemas.microsoft.com/office/drawing/2014/main" xmlns="" id="{CBCD0D0C-F47C-A7CA-7363-15DF3CE030D5}"/>
              </a:ext>
            </a:extLst>
          </p:cNvPr>
          <p:cNvSpPr txBox="1">
            <a:spLocks noChangeArrowheads="1"/>
          </p:cNvSpPr>
          <p:nvPr/>
        </p:nvSpPr>
        <p:spPr bwMode="auto">
          <a:xfrm>
            <a:off x="983433" y="1432328"/>
            <a:ext cx="10729192" cy="810478"/>
          </a:xfrm>
          <a:prstGeom prst="rect">
            <a:avLst/>
          </a:prstGeom>
          <a:noFill/>
          <a:ln w="9525">
            <a:noFill/>
            <a:miter lim="800000"/>
            <a:headEnd/>
            <a:tailEnd/>
          </a:ln>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l">
              <a:lnSpc>
                <a:spcPts val="2800"/>
              </a:lnSpc>
              <a:spcBef>
                <a:spcPct val="50000"/>
              </a:spcBef>
            </a:pPr>
            <a:r>
              <a:rPr lang="en-US" altLang="zh-CN" sz="2000" dirty="0">
                <a:solidFill>
                  <a:srgbClr val="FF0000"/>
                </a:solidFill>
                <a:latin typeface="Consolas" pitchFamily="49" charset="0"/>
                <a:ea typeface="楷体" pitchFamily="49" charset="-122"/>
                <a:cs typeface="Consolas" pitchFamily="49" charset="0"/>
              </a:rPr>
              <a:t>【</a:t>
            </a:r>
            <a:r>
              <a:rPr kumimoji="1" lang="zh-CN" altLang="en-US" sz="2000" dirty="0">
                <a:solidFill>
                  <a:srgbClr val="FF0000"/>
                </a:solidFill>
                <a:latin typeface="Consolas" pitchFamily="49" charset="0"/>
                <a:ea typeface="楷体" pitchFamily="49" charset="-122"/>
                <a:cs typeface="Consolas" pitchFamily="49" charset="0"/>
              </a:rPr>
              <a:t>例</a:t>
            </a:r>
            <a:r>
              <a:rPr kumimoji="1" lang="en-US" altLang="zh-CN" sz="2000" dirty="0">
                <a:solidFill>
                  <a:srgbClr val="FF0000"/>
                </a:solidFill>
                <a:latin typeface="Consolas" pitchFamily="49" charset="0"/>
                <a:ea typeface="楷体" pitchFamily="49" charset="-122"/>
                <a:cs typeface="Consolas" pitchFamily="49" charset="0"/>
              </a:rPr>
              <a:t>7.11</a:t>
            </a:r>
            <a:r>
              <a:rPr lang="en-US" altLang="zh-CN" sz="2000" dirty="0">
                <a:solidFill>
                  <a:srgbClr val="FF0000"/>
                </a:solidFill>
                <a:latin typeface="Consolas" pitchFamily="49" charset="0"/>
                <a:ea typeface="楷体" pitchFamily="49" charset="-122"/>
                <a:cs typeface="Consolas" pitchFamily="49" charset="0"/>
              </a:rPr>
              <a:t>】</a:t>
            </a:r>
            <a:r>
              <a:rPr kumimoji="1" lang="en-US" altLang="zh-CN" sz="2000" dirty="0">
                <a:solidFill>
                  <a:srgbClr val="FF0000"/>
                </a:solidFill>
                <a:latin typeface="Consolas" pitchFamily="49" charset="0"/>
                <a:ea typeface="楷体" pitchFamily="49" charset="-122"/>
                <a:cs typeface="Consolas" pitchFamily="49" charset="0"/>
              </a:rPr>
              <a:t> </a:t>
            </a:r>
            <a:r>
              <a:rPr lang="zh-CN" altLang="en-US" sz="2000" dirty="0">
                <a:latin typeface="Consolas" pitchFamily="49" charset="0"/>
                <a:ea typeface="楷体" pitchFamily="49" charset="-122"/>
                <a:cs typeface="Consolas" pitchFamily="49" charset="0"/>
              </a:rPr>
              <a:t>假设二叉树采用二叉链存储结构存储，设计一个算法，计算一棵给定二叉树的所有结点个数。</a:t>
            </a:r>
          </a:p>
        </p:txBody>
      </p:sp>
      <p:sp>
        <p:nvSpPr>
          <p:cNvPr id="17" name="Text Box 5">
            <a:extLst>
              <a:ext uri="{FF2B5EF4-FFF2-40B4-BE49-F238E27FC236}">
                <a16:creationId xmlns:a16="http://schemas.microsoft.com/office/drawing/2014/main" xmlns="" id="{C8FC5039-27D8-B94F-C853-D732175C8A35}"/>
              </a:ext>
            </a:extLst>
          </p:cNvPr>
          <p:cNvSpPr txBox="1">
            <a:spLocks noChangeArrowheads="1"/>
          </p:cNvSpPr>
          <p:nvPr/>
        </p:nvSpPr>
        <p:spPr bwMode="auto">
          <a:xfrm>
            <a:off x="2999656" y="4822125"/>
            <a:ext cx="7072362" cy="492443"/>
          </a:xfrm>
          <a:prstGeom prst="rect">
            <a:avLst/>
          </a:prstGeom>
          <a:noFill/>
          <a:ln w="9525">
            <a:noFill/>
            <a:miter lim="800000"/>
            <a:headEnd/>
            <a:tailEnd/>
          </a:ln>
          <a:effectLst/>
        </p:spPr>
        <p:txBody>
          <a:bodyPr wrap="square">
            <a:spAutoFit/>
          </a:bodyPr>
          <a:lstStyle/>
          <a:p>
            <a:pPr algn="l">
              <a:lnSpc>
                <a:spcPct val="130000"/>
              </a:lnSpc>
            </a:pPr>
            <a:r>
              <a:rPr lang="zh-CN" altLang="en-US" sz="2000">
                <a:latin typeface="Consolas" pitchFamily="49" charset="0"/>
                <a:ea typeface="楷体" pitchFamily="49" charset="-122"/>
                <a:cs typeface="Consolas" pitchFamily="49" charset="0"/>
              </a:rPr>
              <a:t>计</a:t>
            </a:r>
            <a:r>
              <a:rPr lang="zh-CN" altLang="en-US" sz="2000" dirty="0">
                <a:latin typeface="Consolas" pitchFamily="49" charset="0"/>
                <a:ea typeface="楷体" pitchFamily="49" charset="-122"/>
                <a:cs typeface="Consolas" pitchFamily="49" charset="0"/>
              </a:rPr>
              <a:t>算一棵二叉树</a:t>
            </a:r>
            <a:r>
              <a:rPr lang="en-US" altLang="zh-CN" sz="2000" i="1" dirty="0">
                <a:latin typeface="Consolas" pitchFamily="49" charset="0"/>
                <a:ea typeface="楷体" pitchFamily="49" charset="-122"/>
                <a:cs typeface="Consolas" pitchFamily="49" charset="0"/>
              </a:rPr>
              <a:t>b</a:t>
            </a:r>
            <a:r>
              <a:rPr lang="zh-CN" altLang="en-US" sz="2000">
                <a:latin typeface="Consolas" pitchFamily="49" charset="0"/>
                <a:ea typeface="楷体" pitchFamily="49" charset="-122"/>
                <a:cs typeface="Consolas" pitchFamily="49" charset="0"/>
              </a:rPr>
              <a:t>中所有结点个数</a:t>
            </a:r>
            <a:r>
              <a:rPr lang="zh-CN" altLang="en-US" sz="2000" dirty="0">
                <a:latin typeface="Consolas" pitchFamily="49" charset="0"/>
                <a:ea typeface="楷体" pitchFamily="49" charset="-122"/>
                <a:cs typeface="Consolas" pitchFamily="49" charset="0"/>
              </a:rPr>
              <a:t>的递归模型</a:t>
            </a:r>
            <a:r>
              <a:rPr lang="en-US" altLang="zh-CN" sz="2000" i="1" dirty="0">
                <a:latin typeface="Consolas" pitchFamily="49" charset="0"/>
                <a:ea typeface="楷体" pitchFamily="49" charset="-122"/>
                <a:cs typeface="Consolas" pitchFamily="49" charset="0"/>
              </a:rPr>
              <a:t>f</a:t>
            </a:r>
            <a:r>
              <a:rPr lang="en-US" altLang="zh-CN" sz="2000" dirty="0">
                <a:latin typeface="Consolas" pitchFamily="49" charset="0"/>
                <a:ea typeface="楷体" pitchFamily="49" charset="-122"/>
                <a:cs typeface="Consolas" pitchFamily="49" charset="0"/>
              </a:rPr>
              <a:t>(</a:t>
            </a:r>
            <a:r>
              <a:rPr lang="en-US" altLang="zh-CN" sz="2000" i="1" dirty="0">
                <a:latin typeface="Consolas" pitchFamily="49" charset="0"/>
                <a:ea typeface="楷体" pitchFamily="49" charset="-122"/>
                <a:cs typeface="Consolas" pitchFamily="49" charset="0"/>
              </a:rPr>
              <a:t>b</a:t>
            </a:r>
            <a:r>
              <a:rPr lang="en-US" altLang="zh-CN" sz="2000" dirty="0">
                <a:latin typeface="Consolas" pitchFamily="49" charset="0"/>
                <a:ea typeface="楷体" pitchFamily="49" charset="-122"/>
                <a:cs typeface="Consolas" pitchFamily="49" charset="0"/>
              </a:rPr>
              <a:t>)</a:t>
            </a:r>
            <a:r>
              <a:rPr lang="zh-CN" altLang="en-US" sz="2000" dirty="0">
                <a:latin typeface="Consolas" pitchFamily="49" charset="0"/>
                <a:ea typeface="楷体" pitchFamily="49" charset="-122"/>
                <a:cs typeface="Consolas" pitchFamily="49" charset="0"/>
              </a:rPr>
              <a:t>如下：</a:t>
            </a:r>
          </a:p>
        </p:txBody>
      </p:sp>
      <p:sp>
        <p:nvSpPr>
          <p:cNvPr id="20" name="Text Box 20">
            <a:extLst>
              <a:ext uri="{FF2B5EF4-FFF2-40B4-BE49-F238E27FC236}">
                <a16:creationId xmlns:a16="http://schemas.microsoft.com/office/drawing/2014/main" xmlns="" id="{0049F376-50C1-E72A-6396-7189E11813A4}"/>
              </a:ext>
            </a:extLst>
          </p:cNvPr>
          <p:cNvSpPr txBox="1">
            <a:spLocks noChangeArrowheads="1"/>
          </p:cNvSpPr>
          <p:nvPr/>
        </p:nvSpPr>
        <p:spPr bwMode="auto">
          <a:xfrm>
            <a:off x="2571028" y="5465067"/>
            <a:ext cx="6357982" cy="855079"/>
          </a:xfrm>
          <a:prstGeom prst="rect">
            <a:avLst/>
          </a:prstGeom>
          <a:solidFill>
            <a:schemeClr val="bg1">
              <a:lumMod val="95000"/>
            </a:schemeClr>
          </a:solidFill>
          <a:ln>
            <a:headEnd/>
            <a:tailEnd type="none" w="med" len="lg"/>
          </a:ln>
        </p:spPr>
        <p:style>
          <a:lnRef idx="1">
            <a:schemeClr val="accent5"/>
          </a:lnRef>
          <a:fillRef idx="2">
            <a:schemeClr val="accent5"/>
          </a:fillRef>
          <a:effectRef idx="1">
            <a:schemeClr val="accent5"/>
          </a:effectRef>
          <a:fontRef idx="minor">
            <a:schemeClr val="dk1"/>
          </a:fontRef>
        </p:style>
        <p:txBody>
          <a:bodyPr wrap="square" lIns="180000" tIns="108000" rIns="180000" bIns="108000">
            <a:spAutoFit/>
          </a:bodyPr>
          <a:lstStyle/>
          <a:p>
            <a:pPr algn="l">
              <a:lnSpc>
                <a:spcPct val="120000"/>
              </a:lnSpc>
            </a:pPr>
            <a:r>
              <a:rPr lang="en-US" altLang="zh-CN" sz="1800" i="1" dirty="0">
                <a:solidFill>
                  <a:srgbClr val="FF0000"/>
                </a:solidFill>
                <a:latin typeface="Consolas" pitchFamily="49" charset="0"/>
                <a:ea typeface="仿宋" pitchFamily="49" charset="-122"/>
                <a:cs typeface="Consolas" pitchFamily="49" charset="0"/>
              </a:rPr>
              <a:t>f</a:t>
            </a:r>
            <a:r>
              <a:rPr lang="en-US" altLang="zh-CN" sz="1800" dirty="0">
                <a:solidFill>
                  <a:srgbClr val="3333FF"/>
                </a:solidFill>
                <a:latin typeface="Consolas" pitchFamily="49" charset="0"/>
                <a:ea typeface="仿宋" pitchFamily="49" charset="-122"/>
                <a:cs typeface="Consolas" pitchFamily="49" charset="0"/>
              </a:rPr>
              <a:t>(</a:t>
            </a:r>
            <a:r>
              <a:rPr lang="en-US" altLang="zh-CN" sz="1800" i="1" dirty="0">
                <a:solidFill>
                  <a:srgbClr val="3333FF"/>
                </a:solidFill>
                <a:latin typeface="Consolas" pitchFamily="49" charset="0"/>
                <a:ea typeface="仿宋" pitchFamily="49" charset="-122"/>
                <a:cs typeface="Consolas" pitchFamily="49" charset="0"/>
              </a:rPr>
              <a:t>b</a:t>
            </a:r>
            <a:r>
              <a:rPr lang="en-US" altLang="zh-CN" sz="1800" dirty="0">
                <a:solidFill>
                  <a:srgbClr val="3333FF"/>
                </a:solidFill>
                <a:latin typeface="Consolas" pitchFamily="49" charset="0"/>
                <a:ea typeface="仿宋" pitchFamily="49" charset="-122"/>
                <a:cs typeface="Consolas" pitchFamily="49" charset="0"/>
              </a:rPr>
              <a:t>)=0				</a:t>
            </a:r>
            <a:r>
              <a:rPr lang="en-US" altLang="zh-CN" sz="1800">
                <a:solidFill>
                  <a:srgbClr val="3333FF"/>
                </a:solidFill>
                <a:latin typeface="Consolas" pitchFamily="49" charset="0"/>
                <a:ea typeface="仿宋" pitchFamily="49" charset="-122"/>
                <a:cs typeface="Consolas" pitchFamily="49" charset="0"/>
              </a:rPr>
              <a:t>	  </a:t>
            </a:r>
            <a:r>
              <a:rPr lang="zh-CN" altLang="en-US" sz="1800">
                <a:solidFill>
                  <a:srgbClr val="00B0F0"/>
                </a:solidFill>
                <a:latin typeface="Consolas" pitchFamily="49" charset="0"/>
                <a:ea typeface="仿宋" pitchFamily="49" charset="-122"/>
                <a:cs typeface="Consolas" pitchFamily="49" charset="0"/>
              </a:rPr>
              <a:t>若</a:t>
            </a:r>
            <a:r>
              <a:rPr lang="en-US" altLang="zh-CN" sz="1800" i="1" dirty="0">
                <a:solidFill>
                  <a:srgbClr val="00B0F0"/>
                </a:solidFill>
                <a:latin typeface="Consolas" pitchFamily="49" charset="0"/>
                <a:ea typeface="仿宋" pitchFamily="49" charset="-122"/>
                <a:cs typeface="Consolas" pitchFamily="49" charset="0"/>
              </a:rPr>
              <a:t>b</a:t>
            </a:r>
            <a:r>
              <a:rPr lang="en-US" altLang="zh-CN" sz="1800" dirty="0">
                <a:solidFill>
                  <a:srgbClr val="00B0F0"/>
                </a:solidFill>
                <a:latin typeface="Consolas" pitchFamily="49" charset="0"/>
                <a:ea typeface="仿宋" pitchFamily="49" charset="-122"/>
                <a:cs typeface="Consolas" pitchFamily="49" charset="0"/>
              </a:rPr>
              <a:t>=NULL</a:t>
            </a:r>
          </a:p>
          <a:p>
            <a:pPr algn="l">
              <a:lnSpc>
                <a:spcPct val="120000"/>
              </a:lnSpc>
            </a:pPr>
            <a:r>
              <a:rPr lang="en-US" altLang="zh-CN" sz="1800" i="1" dirty="0">
                <a:solidFill>
                  <a:srgbClr val="FF0000"/>
                </a:solidFill>
                <a:latin typeface="Consolas" pitchFamily="49" charset="0"/>
                <a:ea typeface="仿宋" pitchFamily="49" charset="-122"/>
                <a:cs typeface="Consolas" pitchFamily="49" charset="0"/>
              </a:rPr>
              <a:t>f</a:t>
            </a:r>
            <a:r>
              <a:rPr lang="en-US" altLang="zh-CN" sz="1800" dirty="0">
                <a:solidFill>
                  <a:srgbClr val="3333FF"/>
                </a:solidFill>
                <a:latin typeface="Consolas" pitchFamily="49" charset="0"/>
                <a:ea typeface="仿宋" pitchFamily="49" charset="-122"/>
                <a:cs typeface="Consolas" pitchFamily="49" charset="0"/>
              </a:rPr>
              <a:t>(</a:t>
            </a:r>
            <a:r>
              <a:rPr lang="en-US" altLang="zh-CN" sz="1800" i="1" dirty="0">
                <a:solidFill>
                  <a:srgbClr val="3333FF"/>
                </a:solidFill>
                <a:latin typeface="Consolas" pitchFamily="49" charset="0"/>
                <a:ea typeface="仿宋" pitchFamily="49" charset="-122"/>
                <a:cs typeface="Consolas" pitchFamily="49" charset="0"/>
              </a:rPr>
              <a:t>b</a:t>
            </a:r>
            <a:r>
              <a:rPr lang="en-US" altLang="zh-CN" sz="1800" dirty="0">
                <a:solidFill>
                  <a:srgbClr val="3333FF"/>
                </a:solidFill>
                <a:latin typeface="Consolas" pitchFamily="49" charset="0"/>
                <a:ea typeface="仿宋" pitchFamily="49" charset="-122"/>
                <a:cs typeface="Consolas" pitchFamily="49" charset="0"/>
              </a:rPr>
              <a:t>)=</a:t>
            </a:r>
            <a:r>
              <a:rPr lang="en-US" altLang="zh-CN" sz="1800" i="1" dirty="0">
                <a:solidFill>
                  <a:srgbClr val="FF0000"/>
                </a:solidFill>
                <a:latin typeface="Consolas" pitchFamily="49" charset="0"/>
                <a:ea typeface="仿宋" pitchFamily="49" charset="-122"/>
                <a:cs typeface="Consolas" pitchFamily="49" charset="0"/>
              </a:rPr>
              <a:t>f</a:t>
            </a:r>
            <a:r>
              <a:rPr lang="en-US" altLang="zh-CN" sz="1800" dirty="0">
                <a:solidFill>
                  <a:srgbClr val="3333FF"/>
                </a:solidFill>
                <a:latin typeface="Consolas" pitchFamily="49" charset="0"/>
                <a:ea typeface="仿宋" pitchFamily="49" charset="-122"/>
                <a:cs typeface="Consolas" pitchFamily="49" charset="0"/>
              </a:rPr>
              <a:t>(</a:t>
            </a:r>
            <a:r>
              <a:rPr lang="en-US" altLang="zh-CN" sz="1800" i="1" dirty="0">
                <a:solidFill>
                  <a:srgbClr val="3333FF"/>
                </a:solidFill>
                <a:latin typeface="Consolas" pitchFamily="49" charset="0"/>
                <a:ea typeface="仿宋" pitchFamily="49" charset="-122"/>
                <a:cs typeface="Consolas" pitchFamily="49" charset="0"/>
              </a:rPr>
              <a:t>b</a:t>
            </a:r>
            <a:r>
              <a:rPr lang="en-US" altLang="zh-CN" sz="1800" dirty="0">
                <a:solidFill>
                  <a:srgbClr val="3333FF"/>
                </a:solidFill>
                <a:latin typeface="Consolas" pitchFamily="49" charset="0"/>
                <a:ea typeface="仿宋" pitchFamily="49" charset="-122"/>
                <a:cs typeface="Consolas" pitchFamily="49" charset="0"/>
              </a:rPr>
              <a:t>-&gt;</a:t>
            </a:r>
            <a:r>
              <a:rPr lang="en-US" altLang="zh-CN" sz="1800" dirty="0" err="1">
                <a:solidFill>
                  <a:srgbClr val="3333FF"/>
                </a:solidFill>
                <a:latin typeface="Consolas" pitchFamily="49" charset="0"/>
                <a:ea typeface="仿宋" pitchFamily="49" charset="-122"/>
                <a:cs typeface="Consolas" pitchFamily="49" charset="0"/>
              </a:rPr>
              <a:t>lchild</a:t>
            </a:r>
            <a:r>
              <a:rPr lang="en-US" altLang="zh-CN" sz="1800" dirty="0">
                <a:solidFill>
                  <a:srgbClr val="3333FF"/>
                </a:solidFill>
                <a:latin typeface="Consolas" pitchFamily="49" charset="0"/>
                <a:ea typeface="仿宋" pitchFamily="49" charset="-122"/>
                <a:cs typeface="Consolas" pitchFamily="49" charset="0"/>
              </a:rPr>
              <a:t>)+</a:t>
            </a:r>
            <a:r>
              <a:rPr lang="en-US" altLang="zh-CN" sz="1800" i="1" dirty="0">
                <a:solidFill>
                  <a:srgbClr val="FF0000"/>
                </a:solidFill>
                <a:latin typeface="Consolas" pitchFamily="49" charset="0"/>
                <a:ea typeface="仿宋" pitchFamily="49" charset="-122"/>
                <a:cs typeface="Consolas" pitchFamily="49" charset="0"/>
              </a:rPr>
              <a:t>f</a:t>
            </a:r>
            <a:r>
              <a:rPr lang="en-US" altLang="zh-CN" sz="1800" dirty="0">
                <a:solidFill>
                  <a:srgbClr val="3333FF"/>
                </a:solidFill>
                <a:latin typeface="Consolas" pitchFamily="49" charset="0"/>
                <a:ea typeface="仿宋" pitchFamily="49" charset="-122"/>
                <a:cs typeface="Consolas" pitchFamily="49" charset="0"/>
              </a:rPr>
              <a:t>(</a:t>
            </a:r>
            <a:r>
              <a:rPr lang="en-US" altLang="zh-CN" sz="1800" i="1" dirty="0">
                <a:solidFill>
                  <a:srgbClr val="3333FF"/>
                </a:solidFill>
                <a:latin typeface="Consolas" pitchFamily="49" charset="0"/>
                <a:ea typeface="仿宋" pitchFamily="49" charset="-122"/>
                <a:cs typeface="Consolas" pitchFamily="49" charset="0"/>
              </a:rPr>
              <a:t>b</a:t>
            </a:r>
            <a:r>
              <a:rPr lang="en-US" altLang="zh-CN" sz="1800" dirty="0">
                <a:solidFill>
                  <a:srgbClr val="3333FF"/>
                </a:solidFill>
                <a:latin typeface="Consolas" pitchFamily="49" charset="0"/>
                <a:ea typeface="仿宋" pitchFamily="49" charset="-122"/>
                <a:cs typeface="Consolas" pitchFamily="49" charset="0"/>
              </a:rPr>
              <a:t>-&gt;</a:t>
            </a:r>
            <a:r>
              <a:rPr lang="en-US" altLang="zh-CN" sz="1800" dirty="0" err="1">
                <a:solidFill>
                  <a:srgbClr val="3333FF"/>
                </a:solidFill>
                <a:latin typeface="Consolas" pitchFamily="49" charset="0"/>
                <a:ea typeface="仿宋" pitchFamily="49" charset="-122"/>
                <a:cs typeface="Consolas" pitchFamily="49" charset="0"/>
              </a:rPr>
              <a:t>rchild</a:t>
            </a:r>
            <a:r>
              <a:rPr lang="en-US" altLang="zh-CN" sz="1800" dirty="0">
                <a:solidFill>
                  <a:srgbClr val="3333FF"/>
                </a:solidFill>
                <a:latin typeface="Consolas" pitchFamily="49" charset="0"/>
                <a:ea typeface="仿宋" pitchFamily="49" charset="-122"/>
                <a:cs typeface="Consolas" pitchFamily="49" charset="0"/>
              </a:rPr>
              <a:t>)+1</a:t>
            </a:r>
            <a:r>
              <a:rPr lang="en-US" altLang="zh-CN" sz="1800">
                <a:solidFill>
                  <a:srgbClr val="3333FF"/>
                </a:solidFill>
                <a:latin typeface="Consolas" pitchFamily="49" charset="0"/>
                <a:ea typeface="仿宋" pitchFamily="49" charset="-122"/>
                <a:cs typeface="Consolas" pitchFamily="49" charset="0"/>
              </a:rPr>
              <a:t>	  </a:t>
            </a:r>
            <a:r>
              <a:rPr lang="zh-CN" altLang="en-US" sz="1800">
                <a:solidFill>
                  <a:srgbClr val="00B0F0"/>
                </a:solidFill>
                <a:latin typeface="Consolas" pitchFamily="49" charset="0"/>
                <a:ea typeface="仿宋" pitchFamily="49" charset="-122"/>
                <a:cs typeface="Consolas" pitchFamily="49" charset="0"/>
              </a:rPr>
              <a:t>其他</a:t>
            </a:r>
            <a:r>
              <a:rPr lang="zh-CN" altLang="en-US" sz="1800" dirty="0">
                <a:solidFill>
                  <a:srgbClr val="00B0F0"/>
                </a:solidFill>
                <a:latin typeface="Consolas" pitchFamily="49" charset="0"/>
                <a:ea typeface="仿宋" pitchFamily="49" charset="-122"/>
                <a:cs typeface="Consolas" pitchFamily="49" charset="0"/>
              </a:rPr>
              <a:t>情况</a:t>
            </a:r>
          </a:p>
        </p:txBody>
      </p:sp>
      <p:grpSp>
        <p:nvGrpSpPr>
          <p:cNvPr id="21" name="组合 26">
            <a:extLst>
              <a:ext uri="{FF2B5EF4-FFF2-40B4-BE49-F238E27FC236}">
                <a16:creationId xmlns:a16="http://schemas.microsoft.com/office/drawing/2014/main" xmlns="" id="{CAF0CAA0-133A-E3B3-C9CC-858657CA5EA7}"/>
              </a:ext>
            </a:extLst>
          </p:cNvPr>
          <p:cNvGrpSpPr/>
          <p:nvPr/>
        </p:nvGrpSpPr>
        <p:grpSpPr>
          <a:xfrm>
            <a:off x="3503712" y="1888409"/>
            <a:ext cx="3959225" cy="2726786"/>
            <a:chOff x="1970097" y="1130842"/>
            <a:chExt cx="3959225" cy="2726786"/>
          </a:xfrm>
        </p:grpSpPr>
        <p:sp>
          <p:nvSpPr>
            <p:cNvPr id="23" name="Line 7">
              <a:extLst>
                <a:ext uri="{FF2B5EF4-FFF2-40B4-BE49-F238E27FC236}">
                  <a16:creationId xmlns:a16="http://schemas.microsoft.com/office/drawing/2014/main" xmlns="" id="{E562E898-77C2-4030-2767-F7CE4028178B}"/>
                </a:ext>
              </a:extLst>
            </p:cNvPr>
            <p:cNvSpPr>
              <a:spLocks noChangeShapeType="1"/>
            </p:cNvSpPr>
            <p:nvPr/>
          </p:nvSpPr>
          <p:spPr bwMode="auto">
            <a:xfrm>
              <a:off x="3727472" y="1313403"/>
              <a:ext cx="158736" cy="373081"/>
            </a:xfrm>
            <a:prstGeom prst="line">
              <a:avLst/>
            </a:prstGeom>
            <a:noFill/>
            <a:ln w="28575">
              <a:solidFill>
                <a:srgbClr val="FF00FF"/>
              </a:solidFill>
              <a:miter lim="800000"/>
              <a:headEnd/>
              <a:tailEnd type="triangle" w="med" len="med"/>
            </a:ln>
            <a:effectLst/>
          </p:spPr>
          <p:txBody>
            <a:bodyPr wrap="none"/>
            <a:lstStyle/>
            <a:p>
              <a:endParaRPr lang="zh-CN" altLang="en-US"/>
            </a:p>
          </p:txBody>
        </p:sp>
        <p:sp>
          <p:nvSpPr>
            <p:cNvPr id="24" name="Text Box 12">
              <a:extLst>
                <a:ext uri="{FF2B5EF4-FFF2-40B4-BE49-F238E27FC236}">
                  <a16:creationId xmlns:a16="http://schemas.microsoft.com/office/drawing/2014/main" xmlns="" id="{6CB1E43A-DE9D-6722-24E1-71D900069194}"/>
                </a:ext>
              </a:extLst>
            </p:cNvPr>
            <p:cNvSpPr txBox="1">
              <a:spLocks noChangeArrowheads="1"/>
            </p:cNvSpPr>
            <p:nvPr/>
          </p:nvSpPr>
          <p:spPr bwMode="auto">
            <a:xfrm>
              <a:off x="4000496" y="1273718"/>
              <a:ext cx="720725" cy="369332"/>
            </a:xfrm>
            <a:prstGeom prst="rect">
              <a:avLst/>
            </a:prstGeom>
            <a:noFill/>
            <a:ln w="9525">
              <a:noFill/>
              <a:miter lim="800000"/>
              <a:headEnd/>
              <a:tailEnd/>
            </a:ln>
            <a:effectLst/>
          </p:spPr>
          <p:txBody>
            <a:bodyPr>
              <a:spAutoFit/>
            </a:bodyPr>
            <a:lstStyle/>
            <a:p>
              <a:pPr algn="l">
                <a:spcBef>
                  <a:spcPct val="50000"/>
                </a:spcBef>
              </a:pPr>
              <a:r>
                <a:rPr lang="en-US" altLang="zh-CN" sz="1800" i="1" dirty="0">
                  <a:latin typeface="Consolas" pitchFamily="49" charset="0"/>
                  <a:cs typeface="Consolas" pitchFamily="49" charset="0"/>
                </a:rPr>
                <a:t>f</a:t>
              </a:r>
              <a:r>
                <a:rPr lang="en-US" altLang="zh-CN" sz="1800" dirty="0">
                  <a:latin typeface="Consolas" pitchFamily="49" charset="0"/>
                  <a:cs typeface="Consolas" pitchFamily="49" charset="0"/>
                </a:rPr>
                <a:t>(</a:t>
              </a:r>
              <a:r>
                <a:rPr lang="en-US" altLang="zh-CN" sz="1800" i="1" dirty="0">
                  <a:latin typeface="Consolas" pitchFamily="49" charset="0"/>
                  <a:cs typeface="Consolas" pitchFamily="49" charset="0"/>
                </a:rPr>
                <a:t>b</a:t>
              </a:r>
              <a:r>
                <a:rPr lang="en-US" altLang="zh-CN" sz="1800" dirty="0">
                  <a:latin typeface="Consolas" pitchFamily="49" charset="0"/>
                  <a:cs typeface="Consolas" pitchFamily="49" charset="0"/>
                </a:rPr>
                <a:t>)</a:t>
              </a:r>
            </a:p>
          </p:txBody>
        </p:sp>
        <p:sp>
          <p:nvSpPr>
            <p:cNvPr id="27" name="Text Box 13">
              <a:extLst>
                <a:ext uri="{FF2B5EF4-FFF2-40B4-BE49-F238E27FC236}">
                  <a16:creationId xmlns:a16="http://schemas.microsoft.com/office/drawing/2014/main" xmlns="" id="{765F1512-9A11-2422-3B20-E271B4C978D1}"/>
                </a:ext>
              </a:extLst>
            </p:cNvPr>
            <p:cNvSpPr txBox="1">
              <a:spLocks noChangeArrowheads="1"/>
            </p:cNvSpPr>
            <p:nvPr/>
          </p:nvSpPr>
          <p:spPr bwMode="auto">
            <a:xfrm>
              <a:off x="1970097" y="3488296"/>
              <a:ext cx="1871662" cy="369332"/>
            </a:xfrm>
            <a:prstGeom prst="rect">
              <a:avLst/>
            </a:prstGeom>
            <a:noFill/>
            <a:ln w="9525">
              <a:noFill/>
              <a:miter lim="800000"/>
              <a:headEnd/>
              <a:tailEnd/>
            </a:ln>
            <a:effectLst/>
          </p:spPr>
          <p:txBody>
            <a:bodyPr>
              <a:spAutoFit/>
            </a:bodyPr>
            <a:lstStyle/>
            <a:p>
              <a:pPr algn="l">
                <a:spcBef>
                  <a:spcPct val="50000"/>
                </a:spcBef>
              </a:pPr>
              <a:r>
                <a:rPr lang="en-US" altLang="zh-CN" sz="1800" i="1" dirty="0">
                  <a:latin typeface="Consolas" pitchFamily="49" charset="0"/>
                  <a:cs typeface="Consolas" pitchFamily="49" charset="0"/>
                </a:rPr>
                <a:t>f</a:t>
              </a:r>
              <a:r>
                <a:rPr lang="en-US" altLang="zh-CN" sz="1800" dirty="0">
                  <a:latin typeface="Consolas" pitchFamily="49" charset="0"/>
                  <a:cs typeface="Consolas" pitchFamily="49" charset="0"/>
                </a:rPr>
                <a:t>(</a:t>
              </a:r>
              <a:r>
                <a:rPr lang="en-US" altLang="zh-CN" sz="1800" i="1" dirty="0">
                  <a:latin typeface="Consolas" pitchFamily="49" charset="0"/>
                  <a:cs typeface="Consolas" pitchFamily="49" charset="0"/>
                </a:rPr>
                <a:t>b</a:t>
              </a:r>
              <a:r>
                <a:rPr lang="en-US" altLang="zh-CN" sz="1800" dirty="0">
                  <a:latin typeface="Consolas" pitchFamily="49" charset="0"/>
                  <a:ea typeface="宋体" pitchFamily="2" charset="-122"/>
                  <a:cs typeface="Consolas" pitchFamily="49" charset="0"/>
                </a:rPr>
                <a:t>-</a:t>
              </a:r>
              <a:r>
                <a:rPr lang="en-US" altLang="zh-CN" sz="1800" dirty="0">
                  <a:latin typeface="Consolas" pitchFamily="49" charset="0"/>
                  <a:cs typeface="Consolas" pitchFamily="49" charset="0"/>
                </a:rPr>
                <a:t>&gt;</a:t>
              </a:r>
              <a:r>
                <a:rPr lang="en-US" altLang="zh-CN" sz="1800" dirty="0" err="1">
                  <a:latin typeface="Consolas" pitchFamily="49" charset="0"/>
                  <a:cs typeface="Consolas" pitchFamily="49" charset="0"/>
                </a:rPr>
                <a:t>lchild</a:t>
              </a:r>
              <a:r>
                <a:rPr lang="en-US" altLang="zh-CN" sz="1800" dirty="0">
                  <a:latin typeface="Consolas" pitchFamily="49" charset="0"/>
                  <a:cs typeface="Consolas" pitchFamily="49" charset="0"/>
                </a:rPr>
                <a:t>)</a:t>
              </a:r>
            </a:p>
          </p:txBody>
        </p:sp>
        <p:sp>
          <p:nvSpPr>
            <p:cNvPr id="28" name="Text Box 14">
              <a:extLst>
                <a:ext uri="{FF2B5EF4-FFF2-40B4-BE49-F238E27FC236}">
                  <a16:creationId xmlns:a16="http://schemas.microsoft.com/office/drawing/2014/main" xmlns="" id="{BA23AC8D-3DD3-38B4-20D2-46190AB6CB3D}"/>
                </a:ext>
              </a:extLst>
            </p:cNvPr>
            <p:cNvSpPr txBox="1">
              <a:spLocks noChangeArrowheads="1"/>
            </p:cNvSpPr>
            <p:nvPr/>
          </p:nvSpPr>
          <p:spPr bwMode="auto">
            <a:xfrm>
              <a:off x="3986222" y="3462896"/>
              <a:ext cx="1943100" cy="369332"/>
            </a:xfrm>
            <a:prstGeom prst="rect">
              <a:avLst/>
            </a:prstGeom>
            <a:noFill/>
            <a:ln w="9525">
              <a:noFill/>
              <a:miter lim="800000"/>
              <a:headEnd/>
              <a:tailEnd/>
            </a:ln>
            <a:effectLst/>
          </p:spPr>
          <p:txBody>
            <a:bodyPr>
              <a:spAutoFit/>
            </a:bodyPr>
            <a:lstStyle/>
            <a:p>
              <a:pPr algn="l">
                <a:spcBef>
                  <a:spcPct val="50000"/>
                </a:spcBef>
              </a:pPr>
              <a:r>
                <a:rPr lang="en-US" altLang="zh-CN" sz="1800" i="1" dirty="0">
                  <a:latin typeface="Consolas" pitchFamily="49" charset="0"/>
                  <a:cs typeface="Consolas" pitchFamily="49" charset="0"/>
                </a:rPr>
                <a:t>f</a:t>
              </a:r>
              <a:r>
                <a:rPr lang="en-US" altLang="zh-CN" sz="1800" dirty="0">
                  <a:latin typeface="Consolas" pitchFamily="49" charset="0"/>
                  <a:cs typeface="Consolas" pitchFamily="49" charset="0"/>
                </a:rPr>
                <a:t>(</a:t>
              </a:r>
              <a:r>
                <a:rPr lang="en-US" altLang="zh-CN" sz="1800" i="1" dirty="0">
                  <a:latin typeface="Consolas" pitchFamily="49" charset="0"/>
                  <a:cs typeface="Consolas" pitchFamily="49" charset="0"/>
                </a:rPr>
                <a:t>b</a:t>
              </a:r>
              <a:r>
                <a:rPr lang="en-US" altLang="zh-CN" sz="1800" dirty="0">
                  <a:latin typeface="Consolas" pitchFamily="49" charset="0"/>
                  <a:ea typeface="宋体" pitchFamily="2" charset="-122"/>
                  <a:cs typeface="Consolas" pitchFamily="49" charset="0"/>
                </a:rPr>
                <a:t>-</a:t>
              </a:r>
              <a:r>
                <a:rPr lang="en-US" altLang="zh-CN" sz="1800" dirty="0">
                  <a:latin typeface="Consolas" pitchFamily="49" charset="0"/>
                  <a:cs typeface="Consolas" pitchFamily="49" charset="0"/>
                </a:rPr>
                <a:t>&gt;</a:t>
              </a:r>
              <a:r>
                <a:rPr lang="en-US" altLang="zh-CN" sz="1800" dirty="0" err="1">
                  <a:latin typeface="Consolas" pitchFamily="49" charset="0"/>
                  <a:cs typeface="Consolas" pitchFamily="49" charset="0"/>
                </a:rPr>
                <a:t>rchild</a:t>
              </a:r>
              <a:r>
                <a:rPr lang="en-US" altLang="zh-CN" sz="1800" dirty="0">
                  <a:latin typeface="Consolas" pitchFamily="49" charset="0"/>
                  <a:cs typeface="Consolas" pitchFamily="49" charset="0"/>
                </a:rPr>
                <a:t>)</a:t>
              </a:r>
            </a:p>
          </p:txBody>
        </p:sp>
        <p:sp>
          <p:nvSpPr>
            <p:cNvPr id="29" name="Oval 15">
              <a:extLst>
                <a:ext uri="{FF2B5EF4-FFF2-40B4-BE49-F238E27FC236}">
                  <a16:creationId xmlns:a16="http://schemas.microsoft.com/office/drawing/2014/main" xmlns="" id="{8CC57B08-9FC2-87FB-7EAB-8B6EED0F0C5F}"/>
                </a:ext>
              </a:extLst>
            </p:cNvPr>
            <p:cNvSpPr>
              <a:spLocks noChangeArrowheads="1"/>
            </p:cNvSpPr>
            <p:nvPr/>
          </p:nvSpPr>
          <p:spPr bwMode="auto">
            <a:xfrm>
              <a:off x="3395672" y="1686485"/>
              <a:ext cx="863600" cy="504825"/>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i="1" dirty="0">
                  <a:solidFill>
                    <a:srgbClr val="0000FF"/>
                  </a:solidFill>
                  <a:latin typeface="Consolas" pitchFamily="49" charset="0"/>
                  <a:ea typeface="楷体" pitchFamily="49" charset="-122"/>
                  <a:cs typeface="Consolas" pitchFamily="49" charset="0"/>
                </a:rPr>
                <a:t>N</a:t>
              </a:r>
              <a:endParaRPr lang="zh-CN" altLang="zh-CN" sz="2000" i="1" dirty="0">
                <a:solidFill>
                  <a:srgbClr val="0000FF"/>
                </a:solidFill>
                <a:latin typeface="Consolas" pitchFamily="49" charset="0"/>
                <a:ea typeface="楷体" pitchFamily="49" charset="-122"/>
                <a:cs typeface="Consolas" pitchFamily="49" charset="0"/>
              </a:endParaRPr>
            </a:p>
          </p:txBody>
        </p:sp>
        <p:sp>
          <p:nvSpPr>
            <p:cNvPr id="30" name="AutoShape 16">
              <a:extLst>
                <a:ext uri="{FF2B5EF4-FFF2-40B4-BE49-F238E27FC236}">
                  <a16:creationId xmlns:a16="http://schemas.microsoft.com/office/drawing/2014/main" xmlns="" id="{165A9D65-CC26-8F08-6CD7-A20217E5F593}"/>
                </a:ext>
              </a:extLst>
            </p:cNvPr>
            <p:cNvSpPr>
              <a:spLocks noChangeArrowheads="1"/>
            </p:cNvSpPr>
            <p:nvPr/>
          </p:nvSpPr>
          <p:spPr bwMode="auto">
            <a:xfrm>
              <a:off x="2268547" y="2623110"/>
              <a:ext cx="1150937" cy="792162"/>
            </a:xfrm>
            <a:prstGeom prst="triangle">
              <a:avLst>
                <a:gd name="adj" fmla="val 50000"/>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pPr>
                <a:lnSpc>
                  <a:spcPts val="1200"/>
                </a:lnSpc>
              </a:pPr>
              <a:r>
                <a:rPr lang="en-US" altLang="zh-CN" sz="2000" i="1">
                  <a:solidFill>
                    <a:srgbClr val="0000FF"/>
                  </a:solidFill>
                  <a:latin typeface="Consolas" pitchFamily="49" charset="0"/>
                  <a:ea typeface="楷体" pitchFamily="49" charset="-122"/>
                  <a:cs typeface="Consolas" pitchFamily="49" charset="0"/>
                </a:rPr>
                <a:t>L</a:t>
              </a:r>
            </a:p>
          </p:txBody>
        </p:sp>
        <p:sp>
          <p:nvSpPr>
            <p:cNvPr id="31" name="AutoShape 17">
              <a:extLst>
                <a:ext uri="{FF2B5EF4-FFF2-40B4-BE49-F238E27FC236}">
                  <a16:creationId xmlns:a16="http://schemas.microsoft.com/office/drawing/2014/main" xmlns="" id="{89771BCB-E0BD-994B-D64F-1F766618564B}"/>
                </a:ext>
              </a:extLst>
            </p:cNvPr>
            <p:cNvSpPr>
              <a:spLocks noChangeArrowheads="1"/>
            </p:cNvSpPr>
            <p:nvPr/>
          </p:nvSpPr>
          <p:spPr bwMode="auto">
            <a:xfrm>
              <a:off x="4130684" y="2623110"/>
              <a:ext cx="1150938" cy="792162"/>
            </a:xfrm>
            <a:prstGeom prst="triangle">
              <a:avLst>
                <a:gd name="adj" fmla="val 50000"/>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pPr>
                <a:lnSpc>
                  <a:spcPts val="1200"/>
                </a:lnSpc>
              </a:pPr>
              <a:r>
                <a:rPr lang="en-US" altLang="zh-CN" sz="2000" i="1" dirty="0">
                  <a:solidFill>
                    <a:srgbClr val="0000FF"/>
                  </a:solidFill>
                  <a:latin typeface="Consolas" pitchFamily="49" charset="0"/>
                  <a:ea typeface="楷体" pitchFamily="49" charset="-122"/>
                  <a:cs typeface="Consolas" pitchFamily="49" charset="0"/>
                </a:rPr>
                <a:t>R</a:t>
              </a:r>
            </a:p>
          </p:txBody>
        </p:sp>
        <p:sp>
          <p:nvSpPr>
            <p:cNvPr id="32" name="Line 18">
              <a:extLst>
                <a:ext uri="{FF2B5EF4-FFF2-40B4-BE49-F238E27FC236}">
                  <a16:creationId xmlns:a16="http://schemas.microsoft.com/office/drawing/2014/main" xmlns="" id="{021A9531-11C4-0AC6-3079-AB78FCF1D9B9}"/>
                </a:ext>
              </a:extLst>
            </p:cNvPr>
            <p:cNvSpPr>
              <a:spLocks noChangeShapeType="1"/>
            </p:cNvSpPr>
            <p:nvPr/>
          </p:nvSpPr>
          <p:spPr bwMode="auto">
            <a:xfrm flipH="1">
              <a:off x="2916247" y="2118285"/>
              <a:ext cx="647700" cy="649287"/>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p>
          </p:txBody>
        </p:sp>
        <p:sp>
          <p:nvSpPr>
            <p:cNvPr id="39" name="Freeform 19">
              <a:extLst>
                <a:ext uri="{FF2B5EF4-FFF2-40B4-BE49-F238E27FC236}">
                  <a16:creationId xmlns:a16="http://schemas.microsoft.com/office/drawing/2014/main" xmlns="" id="{7FAA8228-C4D6-BFF6-BACE-6D5A45026B8D}"/>
                </a:ext>
              </a:extLst>
            </p:cNvPr>
            <p:cNvSpPr>
              <a:spLocks/>
            </p:cNvSpPr>
            <p:nvPr/>
          </p:nvSpPr>
          <p:spPr bwMode="auto">
            <a:xfrm>
              <a:off x="4105284" y="2130985"/>
              <a:ext cx="542925" cy="577850"/>
            </a:xfrm>
            <a:custGeom>
              <a:avLst/>
              <a:gdLst/>
              <a:ahLst/>
              <a:cxnLst>
                <a:cxn ang="0">
                  <a:pos x="0" y="0"/>
                </a:cxn>
                <a:cxn ang="0">
                  <a:pos x="342" y="364"/>
                </a:cxn>
              </a:cxnLst>
              <a:rect l="0" t="0" r="r" b="b"/>
              <a:pathLst>
                <a:path w="342" h="364">
                  <a:moveTo>
                    <a:pt x="0" y="0"/>
                  </a:moveTo>
                  <a:lnTo>
                    <a:pt x="342" y="364"/>
                  </a:lnTo>
                </a:path>
              </a:pathLst>
            </a:custGeom>
            <a:ln>
              <a:headEnd type="none" w="med" len="me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p>
          </p:txBody>
        </p:sp>
        <p:sp>
          <p:nvSpPr>
            <p:cNvPr id="40" name="Text Box 12">
              <a:extLst>
                <a:ext uri="{FF2B5EF4-FFF2-40B4-BE49-F238E27FC236}">
                  <a16:creationId xmlns:a16="http://schemas.microsoft.com/office/drawing/2014/main" xmlns="" id="{4932C874-2727-EE11-F8A5-66B5E2891EC2}"/>
                </a:ext>
              </a:extLst>
            </p:cNvPr>
            <p:cNvSpPr txBox="1">
              <a:spLocks noChangeArrowheads="1"/>
            </p:cNvSpPr>
            <p:nvPr/>
          </p:nvSpPr>
          <p:spPr bwMode="auto">
            <a:xfrm>
              <a:off x="3470295" y="1130842"/>
              <a:ext cx="357190" cy="396875"/>
            </a:xfrm>
            <a:prstGeom prst="rect">
              <a:avLst/>
            </a:prstGeom>
            <a:noFill/>
            <a:ln w="9525">
              <a:noFill/>
              <a:miter lim="800000"/>
              <a:headEnd/>
              <a:tailEnd/>
            </a:ln>
            <a:effectLst/>
          </p:spPr>
          <p:txBody>
            <a:bodyPr wrap="square">
              <a:spAutoFit/>
            </a:bodyPr>
            <a:lstStyle/>
            <a:p>
              <a:pPr algn="l">
                <a:spcBef>
                  <a:spcPct val="50000"/>
                </a:spcBef>
              </a:pPr>
              <a:r>
                <a:rPr lang="en-US" altLang="zh-CN" sz="2000" i="1">
                  <a:latin typeface="Consolas" pitchFamily="49" charset="0"/>
                  <a:cs typeface="Consolas" pitchFamily="49" charset="0"/>
                </a:rPr>
                <a:t>b</a:t>
              </a:r>
              <a:endParaRPr lang="en-US" altLang="zh-CN" sz="2000" dirty="0">
                <a:latin typeface="Consolas" pitchFamily="49" charset="0"/>
                <a:cs typeface="Consolas" pitchFamily="49" charset="0"/>
              </a:endParaRPr>
            </a:p>
          </p:txBody>
        </p:sp>
      </p:grpSp>
      <p:grpSp>
        <p:nvGrpSpPr>
          <p:cNvPr id="41" name="组合 40">
            <a:extLst>
              <a:ext uri="{FF2B5EF4-FFF2-40B4-BE49-F238E27FC236}">
                <a16:creationId xmlns:a16="http://schemas.microsoft.com/office/drawing/2014/main" xmlns="" id="{8DB4F3CC-0B41-32C7-CE18-42448B815A3A}"/>
              </a:ext>
            </a:extLst>
          </p:cNvPr>
          <p:cNvGrpSpPr/>
          <p:nvPr/>
        </p:nvGrpSpPr>
        <p:grpSpPr>
          <a:xfrm>
            <a:off x="2420219" y="4739578"/>
            <a:ext cx="722313" cy="582613"/>
            <a:chOff x="1774825" y="5489593"/>
            <a:chExt cx="722313" cy="582613"/>
          </a:xfrm>
        </p:grpSpPr>
        <p:sp>
          <p:nvSpPr>
            <p:cNvPr id="42" name="Text Box 13">
              <a:extLst>
                <a:ext uri="{FF2B5EF4-FFF2-40B4-BE49-F238E27FC236}">
                  <a16:creationId xmlns:a16="http://schemas.microsoft.com/office/drawing/2014/main" xmlns="" id="{F114CEF1-EF02-FC4C-957A-B929DE9BE52E}"/>
                </a:ext>
              </a:extLst>
            </p:cNvPr>
            <p:cNvSpPr>
              <a:spLocks noChangeArrowheads="1"/>
            </p:cNvSpPr>
            <p:nvPr/>
          </p:nvSpPr>
          <p:spPr bwMode="auto">
            <a:xfrm>
              <a:off x="2124075" y="5489593"/>
              <a:ext cx="373063" cy="461963"/>
            </a:xfrm>
            <a:prstGeom prst="rect">
              <a:avLst/>
            </a:prstGeom>
            <a:noFill/>
            <a:ln w="9525" cap="flat" algn="ctr">
              <a:noFill/>
              <a:prstDash val="solid"/>
              <a:round/>
              <a:headEnd type="none" w="med" len="med"/>
              <a:tailEnd type="none" w="med" len="med"/>
            </a:ln>
            <a:effectLst/>
          </p:spPr>
          <p:txBody>
            <a:bodyPr wrap="none"/>
            <a:lstStyle/>
            <a:p>
              <a:pPr algn="ctr" eaLnBrk="0" hangingPunct="0"/>
              <a:r>
                <a:rPr lang="ru-RU" altLang="zh-CN" sz="2400" b="1">
                  <a:solidFill>
                    <a:srgbClr val="FFFFFF"/>
                  </a:solidFill>
                  <a:latin typeface="微软雅黑" pitchFamily="34" charset="-122"/>
                  <a:ea typeface="微软雅黑" pitchFamily="34" charset="-122"/>
                </a:rPr>
                <a:t>1</a:t>
              </a:r>
            </a:p>
          </p:txBody>
        </p:sp>
        <p:grpSp>
          <p:nvGrpSpPr>
            <p:cNvPr id="43" name="Group 8">
              <a:extLst>
                <a:ext uri="{FF2B5EF4-FFF2-40B4-BE49-F238E27FC236}">
                  <a16:creationId xmlns:a16="http://schemas.microsoft.com/office/drawing/2014/main" xmlns="" id="{C2A196F0-8E60-E759-17DC-14A7366B47C8}"/>
                </a:ext>
              </a:extLst>
            </p:cNvPr>
            <p:cNvGrpSpPr>
              <a:grpSpLocks/>
            </p:cNvGrpSpPr>
            <p:nvPr/>
          </p:nvGrpSpPr>
          <p:grpSpPr bwMode="auto">
            <a:xfrm>
              <a:off x="1774825" y="5518173"/>
              <a:ext cx="544513" cy="554040"/>
              <a:chOff x="1019" y="1020"/>
              <a:chExt cx="399" cy="406"/>
            </a:xfrm>
          </p:grpSpPr>
          <p:pic>
            <p:nvPicPr>
              <p:cNvPr id="44" name="Picture 49" descr="阴影5">
                <a:extLst>
                  <a:ext uri="{FF2B5EF4-FFF2-40B4-BE49-F238E27FC236}">
                    <a16:creationId xmlns:a16="http://schemas.microsoft.com/office/drawing/2014/main" xmlns="" id="{FF627C9F-25C8-9007-5D5E-437EE417EA75}"/>
                  </a:ext>
                </a:extLst>
              </p:cNvPr>
              <p:cNvPicPr preferRelativeResize="0">
                <a:picLocks noChangeArrowheads="1"/>
              </p:cNvPicPr>
              <p:nvPr/>
            </p:nvPicPr>
            <p:blipFill>
              <a:blip r:embed="rId2" cstate="print"/>
              <a:srcRect/>
              <a:stretch>
                <a:fillRect/>
              </a:stretch>
            </p:blipFill>
            <p:spPr bwMode="auto">
              <a:xfrm>
                <a:off x="1039" y="1380"/>
                <a:ext cx="363" cy="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5" name="AutoShape 8">
                <a:extLst>
                  <a:ext uri="{FF2B5EF4-FFF2-40B4-BE49-F238E27FC236}">
                    <a16:creationId xmlns:a16="http://schemas.microsoft.com/office/drawing/2014/main" xmlns="" id="{07A88ABB-A8C7-D985-24C2-F2A0A1A2F374}"/>
                  </a:ext>
                </a:extLst>
              </p:cNvPr>
              <p:cNvSpPr>
                <a:spLocks noChangeArrowheads="1"/>
              </p:cNvSpPr>
              <p:nvPr/>
            </p:nvSpPr>
            <p:spPr bwMode="auto">
              <a:xfrm>
                <a:off x="1019" y="1020"/>
                <a:ext cx="399" cy="370"/>
              </a:xfrm>
              <a:prstGeom prst="roundRect">
                <a:avLst>
                  <a:gd name="adj" fmla="val 8380"/>
                </a:avLst>
              </a:prstGeom>
              <a:gradFill rotWithShape="1">
                <a:gsLst>
                  <a:gs pos="0">
                    <a:srgbClr val="8F0000"/>
                  </a:gs>
                  <a:gs pos="50000">
                    <a:srgbClr val="CF0001"/>
                  </a:gs>
                  <a:gs pos="100000">
                    <a:srgbClr val="F60004"/>
                  </a:gs>
                </a:gsLst>
                <a:lin ang="2700000"/>
              </a:gradFill>
              <a:ln w="9525" cap="flat" algn="ctr">
                <a:noFill/>
                <a:prstDash val="solid"/>
                <a:round/>
                <a:headEnd type="none" w="med" len="med"/>
                <a:tailEnd type="none" w="med" len="med"/>
              </a:ln>
              <a:effectLst>
                <a:outerShdw blurRad="76200" dir="13500000" sy="23000" kx="1200000" algn="br" rotWithShape="0">
                  <a:prstClr val="black">
                    <a:alpha val="20000"/>
                  </a:prstClr>
                </a:outerShdw>
              </a:effectLst>
            </p:spPr>
            <p:txBody>
              <a:bodyPr wrap="none" anchor="ctr"/>
              <a:lstStyle/>
              <a:p>
                <a:pPr marL="342900" indent="-342900" algn="ctr">
                  <a:buFont typeface="Wingdings" pitchFamily="2" charset="2"/>
                  <a:buNone/>
                </a:pPr>
                <a:r>
                  <a:rPr lang="zh-CN" altLang="en-US" sz="2200" b="1">
                    <a:solidFill>
                      <a:schemeClr val="bg1"/>
                    </a:solidFill>
                    <a:latin typeface="微软雅黑" pitchFamily="34" charset="-122"/>
                    <a:ea typeface="微软雅黑" pitchFamily="34" charset="-122"/>
                  </a:rPr>
                  <a:t>解</a:t>
                </a:r>
                <a:endParaRPr lang="ru-RU" altLang="zh-CN" sz="2200" b="1">
                  <a:solidFill>
                    <a:schemeClr val="bg1"/>
                  </a:solidFill>
                  <a:latin typeface="微软雅黑" pitchFamily="34" charset="-122"/>
                  <a:ea typeface="微软雅黑" pitchFamily="34" charset="-122"/>
                </a:endParaRPr>
              </a:p>
            </p:txBody>
          </p:sp>
        </p:grpSp>
      </p:grpSp>
    </p:spTree>
    <p:extLst>
      <p:ext uri="{BB962C8B-B14F-4D97-AF65-F5344CB8AC3E}">
        <p14:creationId xmlns:p14="http://schemas.microsoft.com/office/powerpoint/2010/main" val="300999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6CC35F-8BE9-8127-A5A4-3C3D9E801F7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6A133021-81C6-7B26-0F04-33323245300E}"/>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cxnSp>
        <p:nvCxnSpPr>
          <p:cNvPr id="4" name="直接连接符 3">
            <a:extLst>
              <a:ext uri="{FF2B5EF4-FFF2-40B4-BE49-F238E27FC236}">
                <a16:creationId xmlns:a16="http://schemas.microsoft.com/office/drawing/2014/main" xmlns="" id="{3E3F017D-3A7B-0E6F-73C7-02B8C4AFEF31}"/>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xmlns="" id="{0C38DB3E-DD98-CF5F-24E7-2691CDE570A4}"/>
              </a:ext>
            </a:extLst>
          </p:cNvPr>
          <p:cNvSpPr txBox="1">
            <a:spLocks noChangeArrowheads="1"/>
          </p:cNvSpPr>
          <p:nvPr/>
        </p:nvSpPr>
        <p:spPr>
          <a:xfrm>
            <a:off x="79920" y="836712"/>
            <a:ext cx="68801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7.5.2 </a:t>
            </a:r>
            <a:r>
              <a:rPr lang="zh-CN" altLang="en-US" dirty="0"/>
              <a:t>先序、中序、后序遍历的递归算法</a:t>
            </a:r>
          </a:p>
        </p:txBody>
      </p:sp>
      <p:sp>
        <p:nvSpPr>
          <p:cNvPr id="16" name="Text Box 4">
            <a:extLst>
              <a:ext uri="{FF2B5EF4-FFF2-40B4-BE49-F238E27FC236}">
                <a16:creationId xmlns:a16="http://schemas.microsoft.com/office/drawing/2014/main" xmlns="" id="{ADCD53CC-11BC-F0BC-6835-59A787F68CC0}"/>
              </a:ext>
            </a:extLst>
          </p:cNvPr>
          <p:cNvSpPr txBox="1">
            <a:spLocks noChangeArrowheads="1"/>
          </p:cNvSpPr>
          <p:nvPr/>
        </p:nvSpPr>
        <p:spPr bwMode="auto">
          <a:xfrm>
            <a:off x="983433" y="1432328"/>
            <a:ext cx="10729192" cy="810478"/>
          </a:xfrm>
          <a:prstGeom prst="rect">
            <a:avLst/>
          </a:prstGeom>
          <a:noFill/>
          <a:ln w="9525">
            <a:noFill/>
            <a:miter lim="800000"/>
            <a:headEnd/>
            <a:tailEnd/>
          </a:ln>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l">
              <a:lnSpc>
                <a:spcPts val="2800"/>
              </a:lnSpc>
              <a:spcBef>
                <a:spcPct val="50000"/>
              </a:spcBef>
            </a:pPr>
            <a:r>
              <a:rPr lang="en-US" altLang="zh-CN" sz="2000" dirty="0">
                <a:solidFill>
                  <a:srgbClr val="FF0000"/>
                </a:solidFill>
                <a:latin typeface="Consolas" pitchFamily="49" charset="0"/>
                <a:ea typeface="楷体" pitchFamily="49" charset="-122"/>
                <a:cs typeface="Consolas" pitchFamily="49" charset="0"/>
              </a:rPr>
              <a:t>【</a:t>
            </a:r>
            <a:r>
              <a:rPr kumimoji="1" lang="zh-CN" altLang="en-US" sz="2000" dirty="0">
                <a:solidFill>
                  <a:srgbClr val="FF0000"/>
                </a:solidFill>
                <a:latin typeface="Consolas" pitchFamily="49" charset="0"/>
                <a:ea typeface="楷体" pitchFamily="49" charset="-122"/>
                <a:cs typeface="Consolas" pitchFamily="49" charset="0"/>
              </a:rPr>
              <a:t>例</a:t>
            </a:r>
            <a:r>
              <a:rPr kumimoji="1" lang="en-US" altLang="zh-CN" sz="2000" dirty="0">
                <a:solidFill>
                  <a:srgbClr val="FF0000"/>
                </a:solidFill>
                <a:latin typeface="Consolas" pitchFamily="49" charset="0"/>
                <a:ea typeface="楷体" pitchFamily="49" charset="-122"/>
                <a:cs typeface="Consolas" pitchFamily="49" charset="0"/>
              </a:rPr>
              <a:t>7.11</a:t>
            </a:r>
            <a:r>
              <a:rPr lang="en-US" altLang="zh-CN" sz="2000" dirty="0">
                <a:solidFill>
                  <a:srgbClr val="FF0000"/>
                </a:solidFill>
                <a:latin typeface="Consolas" pitchFamily="49" charset="0"/>
                <a:ea typeface="楷体" pitchFamily="49" charset="-122"/>
                <a:cs typeface="Consolas" pitchFamily="49" charset="0"/>
              </a:rPr>
              <a:t>】</a:t>
            </a:r>
            <a:r>
              <a:rPr kumimoji="1" lang="en-US" altLang="zh-CN" sz="2000" dirty="0">
                <a:solidFill>
                  <a:srgbClr val="FF0000"/>
                </a:solidFill>
                <a:latin typeface="Consolas" pitchFamily="49" charset="0"/>
                <a:ea typeface="楷体" pitchFamily="49" charset="-122"/>
                <a:cs typeface="Consolas" pitchFamily="49" charset="0"/>
              </a:rPr>
              <a:t> </a:t>
            </a:r>
            <a:r>
              <a:rPr lang="zh-CN" altLang="en-US" sz="2000" dirty="0">
                <a:latin typeface="Consolas" pitchFamily="49" charset="0"/>
                <a:ea typeface="楷体" pitchFamily="49" charset="-122"/>
                <a:cs typeface="Consolas" pitchFamily="49" charset="0"/>
              </a:rPr>
              <a:t>假设二叉树采用二叉链存储结构存储，设计一个算法，计算一棵给定二叉树的所有结点个数。</a:t>
            </a:r>
          </a:p>
        </p:txBody>
      </p:sp>
      <p:sp>
        <p:nvSpPr>
          <p:cNvPr id="3" name="Text Box 2">
            <a:extLst>
              <a:ext uri="{FF2B5EF4-FFF2-40B4-BE49-F238E27FC236}">
                <a16:creationId xmlns:a16="http://schemas.microsoft.com/office/drawing/2014/main" xmlns="" id="{E21B963C-FFC1-0039-9FEE-27B7574D9AB7}"/>
              </a:ext>
            </a:extLst>
          </p:cNvPr>
          <p:cNvSpPr txBox="1">
            <a:spLocks noChangeArrowheads="1"/>
          </p:cNvSpPr>
          <p:nvPr/>
        </p:nvSpPr>
        <p:spPr bwMode="auto">
          <a:xfrm>
            <a:off x="2279576" y="2699461"/>
            <a:ext cx="7885113" cy="2617603"/>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lIns="180000" tIns="144000" bIns="144000">
            <a:spAutoFit/>
          </a:bodyPr>
          <a:lstStyle/>
          <a:p>
            <a:pPr algn="l">
              <a:lnSpc>
                <a:spcPct val="120000"/>
              </a:lnSpc>
            </a:pPr>
            <a:r>
              <a:rPr lang="en-US" altLang="zh-CN" sz="1800" dirty="0" err="1">
                <a:solidFill>
                  <a:srgbClr val="3333FF"/>
                </a:solidFill>
                <a:latin typeface="Consolas" pitchFamily="49" charset="0"/>
                <a:ea typeface="仿宋" pitchFamily="49" charset="-122"/>
                <a:cs typeface="Consolas" pitchFamily="49" charset="0"/>
              </a:rPr>
              <a:t>int</a:t>
            </a:r>
            <a:r>
              <a:rPr lang="en-US" altLang="zh-CN" sz="1800" dirty="0">
                <a:solidFill>
                  <a:srgbClr val="3333FF"/>
                </a:solidFill>
                <a:latin typeface="Consolas" pitchFamily="49" charset="0"/>
                <a:ea typeface="仿宋" pitchFamily="49" charset="-122"/>
                <a:cs typeface="Consolas" pitchFamily="49" charset="0"/>
              </a:rPr>
              <a:t> </a:t>
            </a:r>
            <a:r>
              <a:rPr lang="en-US" altLang="zh-CN" sz="1800" dirty="0">
                <a:solidFill>
                  <a:srgbClr val="FF0000"/>
                </a:solidFill>
                <a:latin typeface="Consolas" pitchFamily="49" charset="0"/>
                <a:ea typeface="仿宋" pitchFamily="49" charset="-122"/>
                <a:cs typeface="Consolas" pitchFamily="49" charset="0"/>
              </a:rPr>
              <a:t>Nodes</a:t>
            </a:r>
            <a:r>
              <a:rPr lang="en-US" altLang="zh-CN" sz="1800" dirty="0">
                <a:solidFill>
                  <a:srgbClr val="3333FF"/>
                </a:solidFill>
                <a:latin typeface="Consolas" pitchFamily="49" charset="0"/>
                <a:ea typeface="仿宋" pitchFamily="49" charset="-122"/>
                <a:cs typeface="Consolas" pitchFamily="49" charset="0"/>
              </a:rPr>
              <a:t>(</a:t>
            </a:r>
            <a:r>
              <a:rPr lang="en-US" altLang="zh-CN" sz="1800" dirty="0" err="1">
                <a:solidFill>
                  <a:srgbClr val="3333FF"/>
                </a:solidFill>
                <a:latin typeface="Consolas" pitchFamily="49" charset="0"/>
                <a:ea typeface="仿宋" pitchFamily="49" charset="-122"/>
                <a:cs typeface="Consolas" pitchFamily="49" charset="0"/>
              </a:rPr>
              <a:t>BTNode</a:t>
            </a:r>
            <a:r>
              <a:rPr lang="en-US" altLang="zh-CN" sz="1800" dirty="0">
                <a:solidFill>
                  <a:srgbClr val="3333FF"/>
                </a:solidFill>
                <a:latin typeface="Consolas" pitchFamily="49" charset="0"/>
                <a:ea typeface="仿宋" pitchFamily="49" charset="-122"/>
                <a:cs typeface="Consolas" pitchFamily="49" charset="0"/>
              </a:rPr>
              <a:t> *b)</a:t>
            </a:r>
          </a:p>
          <a:p>
            <a:pPr algn="l">
              <a:lnSpc>
                <a:spcPct val="120000"/>
              </a:lnSpc>
            </a:pPr>
            <a:r>
              <a:rPr lang="en-US" altLang="zh-CN" sz="1800">
                <a:solidFill>
                  <a:srgbClr val="3333FF"/>
                </a:solidFill>
                <a:latin typeface="Consolas" pitchFamily="49" charset="0"/>
                <a:ea typeface="仿宋" pitchFamily="49" charset="-122"/>
                <a:cs typeface="Consolas" pitchFamily="49" charset="0"/>
              </a:rPr>
              <a:t>{  </a:t>
            </a:r>
          </a:p>
          <a:p>
            <a:pPr algn="l">
              <a:lnSpc>
                <a:spcPct val="120000"/>
              </a:lnSpc>
            </a:pPr>
            <a:r>
              <a:rPr lang="en-US" altLang="zh-CN" sz="1800">
                <a:solidFill>
                  <a:srgbClr val="3333FF"/>
                </a:solidFill>
                <a:latin typeface="Consolas" pitchFamily="49" charset="0"/>
                <a:ea typeface="仿宋" pitchFamily="49" charset="-122"/>
                <a:cs typeface="Consolas" pitchFamily="49" charset="0"/>
              </a:rPr>
              <a:t>   if (b==NULL) </a:t>
            </a:r>
          </a:p>
          <a:p>
            <a:pPr algn="l">
              <a:lnSpc>
                <a:spcPct val="120000"/>
              </a:lnSpc>
            </a:pPr>
            <a:r>
              <a:rPr lang="en-US" altLang="zh-CN" sz="1800">
                <a:solidFill>
                  <a:srgbClr val="3333FF"/>
                </a:solidFill>
                <a:latin typeface="Consolas" pitchFamily="49" charset="0"/>
                <a:ea typeface="仿宋" pitchFamily="49" charset="-122"/>
                <a:cs typeface="Consolas" pitchFamily="49" charset="0"/>
              </a:rPr>
              <a:t>      return </a:t>
            </a:r>
            <a:r>
              <a:rPr lang="en-US" altLang="zh-CN" sz="1800" dirty="0">
                <a:solidFill>
                  <a:srgbClr val="3333FF"/>
                </a:solidFill>
                <a:latin typeface="Consolas" pitchFamily="49" charset="0"/>
                <a:ea typeface="仿宋" pitchFamily="49" charset="-122"/>
                <a:cs typeface="Consolas" pitchFamily="49" charset="0"/>
              </a:rPr>
              <a:t>0;</a:t>
            </a:r>
          </a:p>
          <a:p>
            <a:pPr algn="l">
              <a:lnSpc>
                <a:spcPct val="120000"/>
              </a:lnSpc>
            </a:pPr>
            <a:r>
              <a:rPr lang="en-US" altLang="zh-CN" sz="1800">
                <a:solidFill>
                  <a:srgbClr val="3333FF"/>
                </a:solidFill>
                <a:latin typeface="Consolas" pitchFamily="49" charset="0"/>
                <a:ea typeface="仿宋" pitchFamily="49" charset="-122"/>
                <a:cs typeface="Consolas" pitchFamily="49" charset="0"/>
              </a:rPr>
              <a:t>   else</a:t>
            </a:r>
            <a:endParaRPr lang="en-US" altLang="zh-CN" sz="1800" dirty="0">
              <a:solidFill>
                <a:srgbClr val="3333FF"/>
              </a:solidFill>
              <a:latin typeface="Consolas" pitchFamily="49" charset="0"/>
              <a:ea typeface="仿宋" pitchFamily="49" charset="-122"/>
              <a:cs typeface="Consolas" pitchFamily="49" charset="0"/>
            </a:endParaRPr>
          </a:p>
          <a:p>
            <a:pPr algn="l">
              <a:lnSpc>
                <a:spcPct val="120000"/>
              </a:lnSpc>
            </a:pPr>
            <a:r>
              <a:rPr lang="en-US" altLang="zh-CN" sz="1800">
                <a:solidFill>
                  <a:srgbClr val="3333FF"/>
                </a:solidFill>
                <a:latin typeface="Consolas" pitchFamily="49" charset="0"/>
                <a:ea typeface="仿宋" pitchFamily="49" charset="-122"/>
                <a:cs typeface="Consolas" pitchFamily="49" charset="0"/>
              </a:rPr>
              <a:t>      return </a:t>
            </a:r>
            <a:r>
              <a:rPr lang="en-US" altLang="zh-CN" sz="1800" dirty="0">
                <a:solidFill>
                  <a:srgbClr val="FF0000"/>
                </a:solidFill>
                <a:latin typeface="Consolas" pitchFamily="49" charset="0"/>
                <a:ea typeface="仿宋" pitchFamily="49" charset="-122"/>
                <a:cs typeface="Consolas" pitchFamily="49" charset="0"/>
              </a:rPr>
              <a:t>Nodes</a:t>
            </a:r>
            <a:r>
              <a:rPr lang="en-US" altLang="zh-CN" sz="1800" dirty="0">
                <a:solidFill>
                  <a:srgbClr val="3333FF"/>
                </a:solidFill>
                <a:latin typeface="Consolas" pitchFamily="49" charset="0"/>
                <a:ea typeface="仿宋" pitchFamily="49" charset="-122"/>
                <a:cs typeface="Consolas" pitchFamily="49" charset="0"/>
              </a:rPr>
              <a:t>(b-&gt;</a:t>
            </a:r>
            <a:r>
              <a:rPr lang="en-US" altLang="zh-CN" sz="1800" dirty="0" err="1">
                <a:solidFill>
                  <a:srgbClr val="3333FF"/>
                </a:solidFill>
                <a:latin typeface="Consolas" pitchFamily="49" charset="0"/>
                <a:ea typeface="仿宋" pitchFamily="49" charset="-122"/>
                <a:cs typeface="Consolas" pitchFamily="49" charset="0"/>
              </a:rPr>
              <a:t>lchild</a:t>
            </a:r>
            <a:r>
              <a:rPr lang="en-US" altLang="zh-CN" sz="1800" dirty="0">
                <a:solidFill>
                  <a:srgbClr val="3333FF"/>
                </a:solidFill>
                <a:latin typeface="Consolas" pitchFamily="49" charset="0"/>
                <a:ea typeface="仿宋" pitchFamily="49" charset="-122"/>
                <a:cs typeface="Consolas" pitchFamily="49" charset="0"/>
              </a:rPr>
              <a:t>)+</a:t>
            </a:r>
            <a:r>
              <a:rPr lang="en-US" altLang="zh-CN" sz="1800" dirty="0">
                <a:solidFill>
                  <a:srgbClr val="FF0000"/>
                </a:solidFill>
                <a:latin typeface="Consolas" pitchFamily="49" charset="0"/>
                <a:ea typeface="仿宋" pitchFamily="49" charset="-122"/>
                <a:cs typeface="Consolas" pitchFamily="49" charset="0"/>
              </a:rPr>
              <a:t>Nodes</a:t>
            </a:r>
            <a:r>
              <a:rPr lang="en-US" altLang="zh-CN" sz="1800" dirty="0">
                <a:solidFill>
                  <a:srgbClr val="3333FF"/>
                </a:solidFill>
                <a:latin typeface="Consolas" pitchFamily="49" charset="0"/>
                <a:ea typeface="仿宋" pitchFamily="49" charset="-122"/>
                <a:cs typeface="Consolas" pitchFamily="49" charset="0"/>
              </a:rPr>
              <a:t>(b-&gt;</a:t>
            </a:r>
            <a:r>
              <a:rPr lang="en-US" altLang="zh-CN" sz="1800" dirty="0" err="1">
                <a:solidFill>
                  <a:srgbClr val="3333FF"/>
                </a:solidFill>
                <a:latin typeface="Consolas" pitchFamily="49" charset="0"/>
                <a:ea typeface="仿宋" pitchFamily="49" charset="-122"/>
                <a:cs typeface="Consolas" pitchFamily="49" charset="0"/>
              </a:rPr>
              <a:t>rchild</a:t>
            </a:r>
            <a:r>
              <a:rPr lang="en-US" altLang="zh-CN" sz="1800" dirty="0">
                <a:solidFill>
                  <a:srgbClr val="3333FF"/>
                </a:solidFill>
                <a:latin typeface="Consolas" pitchFamily="49" charset="0"/>
                <a:ea typeface="仿宋" pitchFamily="49" charset="-122"/>
                <a:cs typeface="Consolas" pitchFamily="49" charset="0"/>
              </a:rPr>
              <a:t>)+1</a:t>
            </a:r>
          </a:p>
          <a:p>
            <a:pPr algn="l">
              <a:lnSpc>
                <a:spcPct val="120000"/>
              </a:lnSpc>
            </a:pPr>
            <a:r>
              <a:rPr lang="en-US" altLang="zh-CN" sz="1800" dirty="0">
                <a:solidFill>
                  <a:srgbClr val="3333FF"/>
                </a:solidFill>
                <a:latin typeface="Consolas" pitchFamily="49" charset="0"/>
                <a:ea typeface="仿宋" pitchFamily="49" charset="-122"/>
                <a:cs typeface="Consolas" pitchFamily="49" charset="0"/>
              </a:rPr>
              <a:t>}</a:t>
            </a:r>
          </a:p>
        </p:txBody>
      </p:sp>
      <p:sp>
        <p:nvSpPr>
          <p:cNvPr id="6" name="Text Box 3">
            <a:extLst>
              <a:ext uri="{FF2B5EF4-FFF2-40B4-BE49-F238E27FC236}">
                <a16:creationId xmlns:a16="http://schemas.microsoft.com/office/drawing/2014/main" xmlns="" id="{B63E42E7-3FBC-82CB-990F-479AF284AB47}"/>
              </a:ext>
            </a:extLst>
          </p:cNvPr>
          <p:cNvSpPr txBox="1">
            <a:spLocks noChangeArrowheads="1"/>
          </p:cNvSpPr>
          <p:nvPr/>
        </p:nvSpPr>
        <p:spPr bwMode="auto">
          <a:xfrm>
            <a:off x="1041951" y="6263333"/>
            <a:ext cx="5643602" cy="400110"/>
          </a:xfrm>
          <a:prstGeom prst="rect">
            <a:avLst/>
          </a:prstGeom>
          <a:noFill/>
          <a:ln w="9525">
            <a:noFill/>
            <a:miter lim="800000"/>
            <a:headEnd/>
            <a:tailEnd/>
          </a:ln>
          <a:effectLst/>
        </p:spPr>
        <p:txBody>
          <a:bodyPr wrap="square">
            <a:spAutoFit/>
          </a:bodyPr>
          <a:lstStyle/>
          <a:p>
            <a:pPr algn="l">
              <a:spcBef>
                <a:spcPct val="50000"/>
              </a:spcBef>
            </a:pPr>
            <a:r>
              <a:rPr lang="zh-CN" altLang="en-US" sz="2000" dirty="0">
                <a:solidFill>
                  <a:srgbClr val="FF0000"/>
                </a:solidFill>
                <a:latin typeface="Consolas" pitchFamily="49" charset="0"/>
                <a:ea typeface="华文中宋" pitchFamily="2" charset="-122"/>
                <a:cs typeface="Consolas" pitchFamily="49" charset="0"/>
              </a:rPr>
              <a:t>提示：</a:t>
            </a:r>
            <a:r>
              <a:rPr lang="zh-CN" altLang="en-US" sz="2000" dirty="0">
                <a:latin typeface="Consolas" pitchFamily="49" charset="0"/>
                <a:ea typeface="华文中宋" pitchFamily="2" charset="-122"/>
                <a:cs typeface="Consolas" pitchFamily="49" charset="0"/>
              </a:rPr>
              <a:t>本例算法可以基于任何一种遍历算法。</a:t>
            </a:r>
          </a:p>
        </p:txBody>
      </p:sp>
      <p:sp>
        <p:nvSpPr>
          <p:cNvPr id="7" name="Text Box 4">
            <a:extLst>
              <a:ext uri="{FF2B5EF4-FFF2-40B4-BE49-F238E27FC236}">
                <a16:creationId xmlns:a16="http://schemas.microsoft.com/office/drawing/2014/main" xmlns="" id="{5E846F69-FC70-EEBB-A282-1CCF44CF4A82}"/>
              </a:ext>
            </a:extLst>
          </p:cNvPr>
          <p:cNvSpPr txBox="1">
            <a:spLocks noChangeArrowheads="1"/>
          </p:cNvSpPr>
          <p:nvPr/>
        </p:nvSpPr>
        <p:spPr bwMode="auto">
          <a:xfrm>
            <a:off x="2277959" y="2145403"/>
            <a:ext cx="4103688" cy="426335"/>
          </a:xfrm>
          <a:prstGeom prst="rect">
            <a:avLst/>
          </a:prstGeom>
          <a:noFill/>
          <a:ln w="38100" algn="ctr">
            <a:noFill/>
            <a:prstDash val="sysDot"/>
            <a:miter lim="800000"/>
            <a:headEnd/>
            <a:tailEnd type="none" w="med" len="lg"/>
          </a:ln>
          <a:effectLst/>
        </p:spPr>
        <p:txBody>
          <a:bodyPr>
            <a:spAutoFit/>
          </a:bodyPr>
          <a:lstStyle/>
          <a:p>
            <a:pPr algn="l">
              <a:lnSpc>
                <a:spcPct val="120000"/>
              </a:lnSpc>
            </a:pPr>
            <a:r>
              <a:rPr lang="zh-CN" altLang="en-US" sz="2000" dirty="0">
                <a:ea typeface="楷体" pitchFamily="49" charset="-122"/>
                <a:cs typeface="Times New Roman" pitchFamily="18" charset="0"/>
              </a:rPr>
              <a:t>对应的递归算法如下：</a:t>
            </a:r>
          </a:p>
        </p:txBody>
      </p:sp>
      <p:grpSp>
        <p:nvGrpSpPr>
          <p:cNvPr id="8" name="组合 11">
            <a:extLst>
              <a:ext uri="{FF2B5EF4-FFF2-40B4-BE49-F238E27FC236}">
                <a16:creationId xmlns:a16="http://schemas.microsoft.com/office/drawing/2014/main" xmlns="" id="{D7CDBB3E-1FEE-E805-9723-568AEBCEB260}"/>
              </a:ext>
            </a:extLst>
          </p:cNvPr>
          <p:cNvGrpSpPr/>
          <p:nvPr/>
        </p:nvGrpSpPr>
        <p:grpSpPr>
          <a:xfrm>
            <a:off x="3863752" y="4359981"/>
            <a:ext cx="5429288" cy="1820042"/>
            <a:chOff x="1871513" y="2928934"/>
            <a:chExt cx="5429288" cy="1820042"/>
          </a:xfrm>
        </p:grpSpPr>
        <p:sp>
          <p:nvSpPr>
            <p:cNvPr id="9" name="圆角矩形 4">
              <a:extLst>
                <a:ext uri="{FF2B5EF4-FFF2-40B4-BE49-F238E27FC236}">
                  <a16:creationId xmlns:a16="http://schemas.microsoft.com/office/drawing/2014/main" xmlns="" id="{A238AD3F-F5B8-60BD-C919-C8087700298C}"/>
                </a:ext>
              </a:extLst>
            </p:cNvPr>
            <p:cNvSpPr/>
            <p:nvPr/>
          </p:nvSpPr>
          <p:spPr>
            <a:xfrm>
              <a:off x="2000232" y="2928934"/>
              <a:ext cx="4572032" cy="642942"/>
            </a:xfrm>
            <a:prstGeom prst="roundRect">
              <a:avLst/>
            </a:prstGeom>
            <a:solidFill>
              <a:schemeClr val="accent1">
                <a:alpha val="0"/>
              </a:schemeClr>
            </a:solidFill>
            <a:ln>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a:extLst>
                <a:ext uri="{FF2B5EF4-FFF2-40B4-BE49-F238E27FC236}">
                  <a16:creationId xmlns:a16="http://schemas.microsoft.com/office/drawing/2014/main" xmlns="" id="{5311C797-0BCF-977A-D66A-CDE0E334FCB3}"/>
                </a:ext>
              </a:extLst>
            </p:cNvPr>
            <p:cNvCxnSpPr>
              <a:cxnSpLocks/>
              <a:stCxn id="9" idx="2"/>
            </p:cNvCxnSpPr>
            <p:nvPr/>
          </p:nvCxnSpPr>
          <p:spPr>
            <a:xfrm>
              <a:off x="4286248" y="3571876"/>
              <a:ext cx="794" cy="510230"/>
            </a:xfrm>
            <a:prstGeom prst="straightConnector1">
              <a:avLst/>
            </a:prstGeom>
            <a:ln w="28575">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11" name="TextBox 6">
              <a:extLst>
                <a:ext uri="{FF2B5EF4-FFF2-40B4-BE49-F238E27FC236}">
                  <a16:creationId xmlns:a16="http://schemas.microsoft.com/office/drawing/2014/main" xmlns="" id="{7EADA0A4-52A3-6829-3EEF-DACBF7807943}"/>
                </a:ext>
              </a:extLst>
            </p:cNvPr>
            <p:cNvSpPr txBox="1"/>
            <p:nvPr/>
          </p:nvSpPr>
          <p:spPr>
            <a:xfrm>
              <a:off x="1871513" y="4041090"/>
              <a:ext cx="5429288" cy="707886"/>
            </a:xfrm>
            <a:prstGeom prst="rect">
              <a:avLst/>
            </a:prstGeom>
            <a:noFill/>
          </p:spPr>
          <p:txBody>
            <a:bodyPr wrap="square" rtlCol="0">
              <a:spAutoFit/>
            </a:bodyPr>
            <a:lstStyle/>
            <a:p>
              <a:r>
                <a:rPr kumimoji="1" lang="zh-CN" altLang="en-US" sz="2000" dirty="0">
                  <a:latin typeface="Consolas" pitchFamily="49" charset="0"/>
                  <a:ea typeface="仿宋" pitchFamily="49" charset="-122"/>
                  <a:cs typeface="Consolas" pitchFamily="49" charset="0"/>
                </a:rPr>
                <a:t>先左子树、再右子树，最后根结点（计</a:t>
              </a:r>
              <a:r>
                <a:rPr kumimoji="1" lang="en-US" altLang="zh-CN" sz="2000" dirty="0">
                  <a:latin typeface="Consolas" pitchFamily="49" charset="0"/>
                  <a:ea typeface="仿宋" pitchFamily="49" charset="-122"/>
                  <a:cs typeface="Consolas" pitchFamily="49" charset="0"/>
                </a:rPr>
                <a:t>1</a:t>
              </a:r>
              <a:r>
                <a:rPr kumimoji="1" lang="zh-CN" altLang="en-US" sz="2000" dirty="0">
                  <a:latin typeface="Consolas" pitchFamily="49" charset="0"/>
                  <a:ea typeface="仿宋" pitchFamily="49" charset="-122"/>
                  <a:cs typeface="Consolas" pitchFamily="49" charset="0"/>
                </a:rPr>
                <a:t>），</a:t>
              </a:r>
              <a:endParaRPr kumimoji="1" lang="en-US" altLang="zh-CN" sz="2000" dirty="0">
                <a:latin typeface="Consolas" pitchFamily="49" charset="0"/>
                <a:ea typeface="仿宋" pitchFamily="49" charset="-122"/>
                <a:cs typeface="Consolas" pitchFamily="49" charset="0"/>
              </a:endParaRPr>
            </a:p>
            <a:p>
              <a:r>
                <a:rPr kumimoji="1" lang="zh-CN" altLang="en-US" sz="2000" dirty="0">
                  <a:latin typeface="Consolas" pitchFamily="49" charset="0"/>
                  <a:ea typeface="仿宋" pitchFamily="49" charset="-122"/>
                  <a:cs typeface="Consolas" pitchFamily="49" charset="0"/>
                </a:rPr>
                <a:t>是</a:t>
              </a:r>
              <a:r>
                <a:rPr kumimoji="1" lang="zh-CN" altLang="en-US" sz="2000" dirty="0">
                  <a:solidFill>
                    <a:srgbClr val="CC00FF"/>
                  </a:solidFill>
                  <a:latin typeface="Consolas" pitchFamily="49" charset="0"/>
                  <a:ea typeface="仿宋" pitchFamily="49" charset="-122"/>
                  <a:cs typeface="Consolas" pitchFamily="49" charset="0"/>
                </a:rPr>
                <a:t>后序遍历</a:t>
              </a:r>
              <a:r>
                <a:rPr kumimoji="1" lang="zh-CN" altLang="en-US" sz="2000" dirty="0">
                  <a:latin typeface="Consolas" pitchFamily="49" charset="0"/>
                  <a:ea typeface="仿宋" pitchFamily="49" charset="-122"/>
                  <a:cs typeface="Consolas" pitchFamily="49" charset="0"/>
                </a:rPr>
                <a:t>的思路。</a:t>
              </a:r>
              <a:endParaRPr lang="zh-CN" altLang="en-US" sz="2000" dirty="0">
                <a:latin typeface="Consolas" pitchFamily="49" charset="0"/>
                <a:ea typeface="仿宋" pitchFamily="49" charset="-122"/>
                <a:cs typeface="Consolas" pitchFamily="49" charset="0"/>
              </a:endParaRPr>
            </a:p>
          </p:txBody>
        </p:sp>
      </p:grpSp>
    </p:spTree>
    <p:extLst>
      <p:ext uri="{BB962C8B-B14F-4D97-AF65-F5344CB8AC3E}">
        <p14:creationId xmlns:p14="http://schemas.microsoft.com/office/powerpoint/2010/main" val="1192378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E27D4CF-8CCC-8CAA-053C-6E8D984CCF3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5A0379A4-B5F4-D401-E395-337349E7D51D}"/>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cxnSp>
        <p:nvCxnSpPr>
          <p:cNvPr id="4" name="直接连接符 3">
            <a:extLst>
              <a:ext uri="{FF2B5EF4-FFF2-40B4-BE49-F238E27FC236}">
                <a16:creationId xmlns:a16="http://schemas.microsoft.com/office/drawing/2014/main" xmlns="" id="{2E6BA6EF-2D0F-AA7E-3FB7-65EA858DD30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xmlns="" id="{48AEB2D8-4AD1-F3C0-4FDE-EEDD834C4A1A}"/>
              </a:ext>
            </a:extLst>
          </p:cNvPr>
          <p:cNvSpPr txBox="1">
            <a:spLocks noChangeArrowheads="1"/>
          </p:cNvSpPr>
          <p:nvPr/>
        </p:nvSpPr>
        <p:spPr>
          <a:xfrm>
            <a:off x="79920" y="836712"/>
            <a:ext cx="68801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7.5.2 </a:t>
            </a:r>
            <a:r>
              <a:rPr lang="zh-CN" altLang="en-US" dirty="0"/>
              <a:t>先序、中序、后序遍历的递归算法</a:t>
            </a:r>
          </a:p>
        </p:txBody>
      </p:sp>
      <p:sp>
        <p:nvSpPr>
          <p:cNvPr id="12" name="Text Box 2">
            <a:extLst>
              <a:ext uri="{FF2B5EF4-FFF2-40B4-BE49-F238E27FC236}">
                <a16:creationId xmlns:a16="http://schemas.microsoft.com/office/drawing/2014/main" xmlns="" id="{116782AE-1C4D-B404-B45E-5C625D25DA25}"/>
              </a:ext>
            </a:extLst>
          </p:cNvPr>
          <p:cNvSpPr txBox="1">
            <a:spLocks noChangeArrowheads="1"/>
          </p:cNvSpPr>
          <p:nvPr/>
        </p:nvSpPr>
        <p:spPr bwMode="auto">
          <a:xfrm>
            <a:off x="2567608" y="5301208"/>
            <a:ext cx="7572428" cy="1260831"/>
          </a:xfrm>
          <a:prstGeom prst="rect">
            <a:avLst/>
          </a:prstGeom>
          <a:solidFill>
            <a:schemeClr val="bg1">
              <a:lumMod val="95000"/>
            </a:schemeClr>
          </a:solidFill>
          <a:ln>
            <a:headEnd/>
            <a:tailEnd/>
          </a:ln>
        </p:spPr>
        <p:style>
          <a:lnRef idx="1">
            <a:schemeClr val="accent5"/>
          </a:lnRef>
          <a:fillRef idx="2">
            <a:schemeClr val="accent5"/>
          </a:fillRef>
          <a:effectRef idx="1">
            <a:schemeClr val="accent5"/>
          </a:effectRef>
          <a:fontRef idx="minor">
            <a:schemeClr val="dk1"/>
          </a:fontRef>
        </p:style>
        <p:txBody>
          <a:bodyPr wrap="square" lIns="180000" tIns="108000" rIns="180000" bIns="108000">
            <a:spAutoFit/>
          </a:bodyPr>
          <a:lstStyle/>
          <a:p>
            <a:pPr algn="l">
              <a:lnSpc>
                <a:spcPts val="2800"/>
              </a:lnSpc>
            </a:pPr>
            <a:r>
              <a:rPr lang="en-US" sz="1800" i="1">
                <a:solidFill>
                  <a:srgbClr val="3333FF"/>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 </a:t>
            </a:r>
            <a:r>
              <a:rPr lang="en-US" sz="1800">
                <a:solidFill>
                  <a:srgbClr val="3333FF"/>
                </a:solidFill>
                <a:latin typeface="Consolas" pitchFamily="49" charset="0"/>
                <a:ea typeface="仿宋" pitchFamily="49" charset="-122"/>
                <a:cs typeface="Consolas" pitchFamily="49" charset="0"/>
                <a:sym typeface="Symbol"/>
              </a:rPr>
              <a:t></a:t>
            </a:r>
            <a:r>
              <a:rPr lang="en-US" sz="1800">
                <a:solidFill>
                  <a:srgbClr val="3333FF"/>
                </a:solidFill>
                <a:latin typeface="Consolas" pitchFamily="49" charset="0"/>
                <a:ea typeface="仿宋" pitchFamily="49" charset="-122"/>
                <a:cs typeface="Consolas" pitchFamily="49" charset="0"/>
              </a:rPr>
              <a:t> </a:t>
            </a:r>
            <a:r>
              <a:rPr lang="zh-CN" altLang="en-US" sz="1800">
                <a:solidFill>
                  <a:srgbClr val="3333FF"/>
                </a:solidFill>
                <a:latin typeface="Consolas" pitchFamily="49" charset="0"/>
                <a:ea typeface="仿宋" pitchFamily="49" charset="-122"/>
                <a:cs typeface="Consolas" pitchFamily="49" charset="0"/>
              </a:rPr>
              <a:t>不做任何事件</a:t>
            </a:r>
            <a:r>
              <a:rPr lang="en-US" sz="1800">
                <a:solidFill>
                  <a:srgbClr val="3333FF"/>
                </a:solidFill>
                <a:latin typeface="Consolas" pitchFamily="49" charset="0"/>
                <a:ea typeface="仿宋" pitchFamily="49" charset="-122"/>
                <a:cs typeface="Consolas" pitchFamily="49" charset="0"/>
              </a:rPr>
              <a:t>			</a:t>
            </a:r>
            <a:r>
              <a:rPr lang="zh-CN" altLang="en-US" sz="1800">
                <a:solidFill>
                  <a:srgbClr val="00B0F0"/>
                </a:solidFill>
                <a:latin typeface="Consolas" pitchFamily="49" charset="0"/>
                <a:ea typeface="仿宋" pitchFamily="49" charset="-122"/>
                <a:cs typeface="Consolas" pitchFamily="49" charset="0"/>
              </a:rPr>
              <a:t>若</a:t>
            </a:r>
            <a:r>
              <a:rPr lang="en-US" sz="1800" i="1">
                <a:solidFill>
                  <a:srgbClr val="00B0F0"/>
                </a:solidFill>
                <a:latin typeface="Consolas" pitchFamily="49" charset="0"/>
                <a:ea typeface="仿宋" pitchFamily="49" charset="-122"/>
                <a:cs typeface="Consolas" pitchFamily="49" charset="0"/>
              </a:rPr>
              <a:t>b</a:t>
            </a:r>
            <a:r>
              <a:rPr lang="en-US" sz="1800">
                <a:solidFill>
                  <a:srgbClr val="00B0F0"/>
                </a:solidFill>
                <a:latin typeface="Consolas" pitchFamily="49" charset="0"/>
                <a:ea typeface="仿宋" pitchFamily="49" charset="-122"/>
                <a:cs typeface="Consolas" pitchFamily="49" charset="0"/>
              </a:rPr>
              <a:t>=NULL</a:t>
            </a:r>
            <a:endParaRPr lang="zh-CN" altLang="en-US" sz="1800">
              <a:solidFill>
                <a:srgbClr val="00B0F0"/>
              </a:solidFill>
              <a:latin typeface="Consolas" pitchFamily="49" charset="0"/>
              <a:ea typeface="仿宋" pitchFamily="49" charset="-122"/>
              <a:cs typeface="Consolas" pitchFamily="49" charset="0"/>
            </a:endParaRPr>
          </a:p>
          <a:p>
            <a:pPr algn="l">
              <a:lnSpc>
                <a:spcPts val="2800"/>
              </a:lnSpc>
            </a:pPr>
            <a:r>
              <a:rPr lang="en-US" sz="1800" i="1">
                <a:solidFill>
                  <a:srgbClr val="3333FF"/>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 </a:t>
            </a:r>
            <a:r>
              <a:rPr lang="en-US" sz="1800">
                <a:solidFill>
                  <a:srgbClr val="3333FF"/>
                </a:solidFill>
                <a:latin typeface="Consolas" pitchFamily="49" charset="0"/>
                <a:ea typeface="仿宋" pitchFamily="49" charset="-122"/>
                <a:cs typeface="Consolas" pitchFamily="49" charset="0"/>
                <a:sym typeface="Symbol"/>
              </a:rPr>
              <a:t></a:t>
            </a:r>
            <a:r>
              <a:rPr lang="en-US" sz="1800">
                <a:solidFill>
                  <a:srgbClr val="3333FF"/>
                </a:solidFill>
                <a:latin typeface="Consolas" pitchFamily="49" charset="0"/>
                <a:ea typeface="仿宋" pitchFamily="49" charset="-122"/>
                <a:cs typeface="Consolas" pitchFamily="49" charset="0"/>
              </a:rPr>
              <a:t> </a:t>
            </a:r>
            <a:r>
              <a:rPr lang="zh-CN" altLang="en-US" sz="1800">
                <a:solidFill>
                  <a:srgbClr val="3333FF"/>
                </a:solidFill>
                <a:latin typeface="Consolas" pitchFamily="49" charset="0"/>
                <a:ea typeface="仿宋" pitchFamily="49" charset="-122"/>
                <a:cs typeface="Consolas" pitchFamily="49" charset="0"/>
              </a:rPr>
              <a:t>输出</a:t>
            </a:r>
            <a:r>
              <a:rPr lang="en-US" sz="1800" i="1">
                <a:solidFill>
                  <a:srgbClr val="3333FF"/>
                </a:solidFill>
                <a:latin typeface="Consolas" pitchFamily="49" charset="0"/>
                <a:ea typeface="仿宋" pitchFamily="49" charset="-122"/>
                <a:cs typeface="Consolas" pitchFamily="49" charset="0"/>
              </a:rPr>
              <a:t>b</a:t>
            </a:r>
            <a:r>
              <a:rPr lang="zh-CN" altLang="en-US" sz="1800">
                <a:solidFill>
                  <a:srgbClr val="3333FF"/>
                </a:solidFill>
                <a:latin typeface="Consolas" pitchFamily="49" charset="0"/>
                <a:ea typeface="仿宋" pitchFamily="49" charset="-122"/>
                <a:cs typeface="Consolas" pitchFamily="49" charset="0"/>
              </a:rPr>
              <a:t>所指结点的</a:t>
            </a:r>
            <a:r>
              <a:rPr lang="en-US" sz="1800">
                <a:solidFill>
                  <a:srgbClr val="3333FF"/>
                </a:solidFill>
                <a:latin typeface="Consolas" pitchFamily="49" charset="0"/>
                <a:ea typeface="仿宋" pitchFamily="49" charset="-122"/>
                <a:cs typeface="Consolas" pitchFamily="49" charset="0"/>
              </a:rPr>
              <a:t>data</a:t>
            </a:r>
            <a:r>
              <a:rPr lang="zh-CN" altLang="en-US" sz="1800">
                <a:solidFill>
                  <a:srgbClr val="3333FF"/>
                </a:solidFill>
                <a:latin typeface="Consolas" pitchFamily="49" charset="0"/>
                <a:ea typeface="仿宋" pitchFamily="49" charset="-122"/>
                <a:cs typeface="Consolas" pitchFamily="49" charset="0"/>
              </a:rPr>
              <a:t>域</a:t>
            </a:r>
            <a:r>
              <a:rPr lang="en-US" sz="1800">
                <a:solidFill>
                  <a:srgbClr val="3333FF"/>
                </a:solidFill>
                <a:latin typeface="Consolas" pitchFamily="49" charset="0"/>
                <a:ea typeface="仿宋" pitchFamily="49" charset="-122"/>
                <a:cs typeface="Consolas" pitchFamily="49" charset="0"/>
              </a:rPr>
              <a:t>	  	</a:t>
            </a:r>
            <a:r>
              <a:rPr lang="zh-CN" altLang="en-US" sz="1800">
                <a:solidFill>
                  <a:srgbClr val="00B0F0"/>
                </a:solidFill>
                <a:latin typeface="Consolas" pitchFamily="49" charset="0"/>
                <a:ea typeface="仿宋" pitchFamily="49" charset="-122"/>
                <a:cs typeface="Consolas" pitchFamily="49" charset="0"/>
              </a:rPr>
              <a:t>若</a:t>
            </a:r>
            <a:r>
              <a:rPr lang="en-US" sz="1800" i="1">
                <a:solidFill>
                  <a:srgbClr val="00B0F0"/>
                </a:solidFill>
                <a:latin typeface="Consolas" pitchFamily="49" charset="0"/>
                <a:ea typeface="仿宋" pitchFamily="49" charset="-122"/>
                <a:cs typeface="Consolas" pitchFamily="49" charset="0"/>
              </a:rPr>
              <a:t>b</a:t>
            </a:r>
            <a:r>
              <a:rPr lang="zh-CN" altLang="en-US" sz="1800">
                <a:solidFill>
                  <a:srgbClr val="00B0F0"/>
                </a:solidFill>
                <a:latin typeface="Consolas" pitchFamily="49" charset="0"/>
                <a:ea typeface="仿宋" pitchFamily="49" charset="-122"/>
                <a:cs typeface="Consolas" pitchFamily="49" charset="0"/>
              </a:rPr>
              <a:t>所指结点为叶子结点</a:t>
            </a:r>
          </a:p>
          <a:p>
            <a:pPr algn="l">
              <a:lnSpc>
                <a:spcPts val="2800"/>
              </a:lnSpc>
            </a:pPr>
            <a:r>
              <a:rPr lang="en-US" sz="1800" i="1">
                <a:solidFill>
                  <a:srgbClr val="3333FF"/>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 </a:t>
            </a:r>
            <a:r>
              <a:rPr lang="en-US" sz="1800">
                <a:solidFill>
                  <a:srgbClr val="3333FF"/>
                </a:solidFill>
                <a:latin typeface="Consolas" pitchFamily="49" charset="0"/>
                <a:ea typeface="仿宋" pitchFamily="49" charset="-122"/>
                <a:cs typeface="Consolas" pitchFamily="49" charset="0"/>
                <a:sym typeface="Symbol"/>
              </a:rPr>
              <a:t></a:t>
            </a:r>
            <a:r>
              <a:rPr lang="en-US" sz="1800">
                <a:solidFill>
                  <a:srgbClr val="3333FF"/>
                </a:solidFill>
                <a:latin typeface="Consolas" pitchFamily="49" charset="0"/>
                <a:ea typeface="仿宋" pitchFamily="49" charset="-122"/>
                <a:cs typeface="Consolas" pitchFamily="49" charset="0"/>
              </a:rPr>
              <a:t> </a:t>
            </a:r>
            <a:r>
              <a:rPr lang="en-US" sz="1800" i="1">
                <a:solidFill>
                  <a:srgbClr val="3333FF"/>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-&gt;</a:t>
            </a:r>
            <a:r>
              <a:rPr lang="en-US" sz="1800" i="1">
                <a:solidFill>
                  <a:srgbClr val="3333FF"/>
                </a:solidFill>
                <a:latin typeface="Consolas" pitchFamily="49" charset="0"/>
                <a:ea typeface="仿宋" pitchFamily="49" charset="-122"/>
                <a:cs typeface="Consolas" pitchFamily="49" charset="0"/>
              </a:rPr>
              <a:t>lchild</a:t>
            </a:r>
            <a:r>
              <a:rPr lang="en-US" sz="1800">
                <a:solidFill>
                  <a:srgbClr val="3333FF"/>
                </a:solidFill>
                <a:latin typeface="Consolas" pitchFamily="49" charset="0"/>
                <a:ea typeface="仿宋" pitchFamily="49" charset="-122"/>
                <a:cs typeface="Consolas" pitchFamily="49" charset="0"/>
              </a:rPr>
              <a:t>)</a:t>
            </a:r>
            <a:r>
              <a:rPr lang="zh-CN" alt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f</a:t>
            </a:r>
            <a:r>
              <a:rPr lang="en-US" sz="1800">
                <a:solidFill>
                  <a:srgbClr val="3333FF"/>
                </a:solidFill>
                <a:latin typeface="Consolas" pitchFamily="49" charset="0"/>
                <a:ea typeface="仿宋" pitchFamily="49" charset="-122"/>
                <a:cs typeface="Consolas" pitchFamily="49" charset="0"/>
              </a:rPr>
              <a:t>(</a:t>
            </a:r>
            <a:r>
              <a:rPr lang="en-US" sz="1800" i="1">
                <a:solidFill>
                  <a:srgbClr val="3333FF"/>
                </a:solidFill>
                <a:latin typeface="Consolas" pitchFamily="49" charset="0"/>
                <a:ea typeface="仿宋" pitchFamily="49" charset="-122"/>
                <a:cs typeface="Consolas" pitchFamily="49" charset="0"/>
              </a:rPr>
              <a:t>b</a:t>
            </a:r>
            <a:r>
              <a:rPr lang="en-US" sz="1800">
                <a:solidFill>
                  <a:srgbClr val="3333FF"/>
                </a:solidFill>
                <a:latin typeface="Consolas" pitchFamily="49" charset="0"/>
                <a:ea typeface="仿宋" pitchFamily="49" charset="-122"/>
                <a:cs typeface="Consolas" pitchFamily="49" charset="0"/>
              </a:rPr>
              <a:t>-&gt;</a:t>
            </a:r>
            <a:r>
              <a:rPr lang="en-US" sz="1800" i="1">
                <a:solidFill>
                  <a:srgbClr val="3333FF"/>
                </a:solidFill>
                <a:latin typeface="Consolas" pitchFamily="49" charset="0"/>
                <a:ea typeface="仿宋" pitchFamily="49" charset="-122"/>
                <a:cs typeface="Consolas" pitchFamily="49" charset="0"/>
              </a:rPr>
              <a:t>rchild</a:t>
            </a:r>
            <a:r>
              <a:rPr lang="en-US" sz="1800">
                <a:solidFill>
                  <a:srgbClr val="3333FF"/>
                </a:solidFill>
                <a:latin typeface="Consolas" pitchFamily="49" charset="0"/>
                <a:ea typeface="仿宋" pitchFamily="49" charset="-122"/>
                <a:cs typeface="Consolas" pitchFamily="49" charset="0"/>
              </a:rPr>
              <a:t>)  	</a:t>
            </a:r>
            <a:r>
              <a:rPr lang="zh-CN" altLang="en-US" sz="1800">
                <a:solidFill>
                  <a:srgbClr val="00B0F0"/>
                </a:solidFill>
                <a:latin typeface="Consolas" pitchFamily="49" charset="0"/>
                <a:ea typeface="仿宋" pitchFamily="49" charset="-122"/>
                <a:cs typeface="Consolas" pitchFamily="49" charset="0"/>
              </a:rPr>
              <a:t>其他情况</a:t>
            </a:r>
          </a:p>
        </p:txBody>
      </p:sp>
      <p:sp>
        <p:nvSpPr>
          <p:cNvPr id="13" name="Text Box 4">
            <a:extLst>
              <a:ext uri="{FF2B5EF4-FFF2-40B4-BE49-F238E27FC236}">
                <a16:creationId xmlns:a16="http://schemas.microsoft.com/office/drawing/2014/main" xmlns="" id="{1A0E9F84-9475-CEEB-10E5-48F57EA94860}"/>
              </a:ext>
            </a:extLst>
          </p:cNvPr>
          <p:cNvSpPr txBox="1">
            <a:spLocks noChangeArrowheads="1"/>
          </p:cNvSpPr>
          <p:nvPr/>
        </p:nvSpPr>
        <p:spPr bwMode="auto">
          <a:xfrm>
            <a:off x="911425" y="1454551"/>
            <a:ext cx="10441160" cy="810478"/>
          </a:xfrm>
          <a:prstGeom prst="rect">
            <a:avLst/>
          </a:prstGeom>
          <a:noFill/>
          <a:ln w="38100" algn="ctr">
            <a:noFill/>
            <a:prstDash val="sysDot"/>
            <a:miter lim="800000"/>
            <a:headEnd/>
            <a:tailEnd type="none" w="med" len="lg"/>
          </a:ln>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l">
              <a:lnSpc>
                <a:spcPts val="2800"/>
              </a:lnSpc>
              <a:spcBef>
                <a:spcPts val="0"/>
              </a:spcBef>
            </a:pPr>
            <a:r>
              <a:rPr lang="en-US" altLang="zh-CN" sz="2000" dirty="0">
                <a:solidFill>
                  <a:srgbClr val="FF0000"/>
                </a:solidFill>
                <a:latin typeface="Consolas" pitchFamily="49" charset="0"/>
                <a:ea typeface="楷体" pitchFamily="49" charset="-122"/>
                <a:cs typeface="Consolas" pitchFamily="49" charset="0"/>
              </a:rPr>
              <a:t>【</a:t>
            </a:r>
            <a:r>
              <a:rPr kumimoji="1" lang="zh-CN" altLang="en-US" sz="2000" dirty="0">
                <a:solidFill>
                  <a:srgbClr val="FF0000"/>
                </a:solidFill>
                <a:latin typeface="Consolas" pitchFamily="49" charset="0"/>
                <a:ea typeface="楷体" pitchFamily="49" charset="-122"/>
                <a:cs typeface="Consolas" pitchFamily="49" charset="0"/>
              </a:rPr>
              <a:t>例</a:t>
            </a:r>
            <a:r>
              <a:rPr kumimoji="1" lang="en-US" altLang="zh-CN" sz="2000" dirty="0">
                <a:solidFill>
                  <a:srgbClr val="FF0000"/>
                </a:solidFill>
                <a:latin typeface="Consolas" pitchFamily="49" charset="0"/>
                <a:ea typeface="楷体" pitchFamily="49" charset="-122"/>
                <a:cs typeface="Consolas" pitchFamily="49" charset="0"/>
              </a:rPr>
              <a:t>7.12</a:t>
            </a:r>
            <a:r>
              <a:rPr lang="en-US" altLang="zh-CN" sz="2000" dirty="0">
                <a:solidFill>
                  <a:srgbClr val="FF0000"/>
                </a:solidFill>
                <a:latin typeface="Consolas" pitchFamily="49" charset="0"/>
                <a:ea typeface="楷体" pitchFamily="49" charset="-122"/>
                <a:cs typeface="Consolas" pitchFamily="49" charset="0"/>
              </a:rPr>
              <a:t>】</a:t>
            </a:r>
            <a:r>
              <a:rPr lang="zh-CN" altLang="en-US" sz="2000" dirty="0">
                <a:latin typeface="Consolas" pitchFamily="49" charset="0"/>
                <a:ea typeface="楷体" pitchFamily="49" charset="-122"/>
                <a:cs typeface="Consolas" pitchFamily="49" charset="0"/>
              </a:rPr>
              <a:t>假设二叉树采用二叉链存储结构存储，设计一个算法，输出一棵给定二叉树的</a:t>
            </a:r>
            <a:r>
              <a:rPr lang="zh-CN" altLang="en-US" sz="2000" dirty="0">
                <a:solidFill>
                  <a:srgbClr val="FF00FF"/>
                </a:solidFill>
                <a:latin typeface="Consolas" pitchFamily="49" charset="0"/>
                <a:ea typeface="楷体" pitchFamily="49" charset="-122"/>
                <a:cs typeface="Consolas" pitchFamily="49" charset="0"/>
              </a:rPr>
              <a:t>所有叶子结点</a:t>
            </a:r>
            <a:r>
              <a:rPr lang="zh-CN" altLang="en-US" sz="2000" dirty="0">
                <a:latin typeface="Consolas" pitchFamily="49" charset="0"/>
                <a:ea typeface="楷体" pitchFamily="49" charset="-122"/>
                <a:cs typeface="Consolas" pitchFamily="49" charset="0"/>
              </a:rPr>
              <a:t>。</a:t>
            </a:r>
          </a:p>
        </p:txBody>
      </p:sp>
      <p:sp>
        <p:nvSpPr>
          <p:cNvPr id="14" name="Text Box 6">
            <a:extLst>
              <a:ext uri="{FF2B5EF4-FFF2-40B4-BE49-F238E27FC236}">
                <a16:creationId xmlns:a16="http://schemas.microsoft.com/office/drawing/2014/main" xmlns="" id="{80D0970E-EF9A-FDD9-DD70-5B944300C07D}"/>
              </a:ext>
            </a:extLst>
          </p:cNvPr>
          <p:cNvSpPr txBox="1">
            <a:spLocks noChangeArrowheads="1"/>
          </p:cNvSpPr>
          <p:nvPr/>
        </p:nvSpPr>
        <p:spPr bwMode="auto">
          <a:xfrm>
            <a:off x="2996236" y="4789000"/>
            <a:ext cx="6786610" cy="400110"/>
          </a:xfrm>
          <a:prstGeom prst="rect">
            <a:avLst/>
          </a:prstGeom>
          <a:noFill/>
          <a:ln w="38100" algn="ctr">
            <a:noFill/>
            <a:prstDash val="sysDot"/>
            <a:miter lim="800000"/>
            <a:headEnd/>
            <a:tailEnd type="none" w="med" len="lg"/>
          </a:ln>
          <a:effectLst/>
        </p:spPr>
        <p:txBody>
          <a:bodyPr wrap="square">
            <a:spAutoFit/>
          </a:bodyPr>
          <a:lstStyle/>
          <a:p>
            <a:pPr algn="l"/>
            <a:r>
              <a:rPr lang="zh-CN" altLang="en-US" sz="2000">
                <a:latin typeface="Consolas" pitchFamily="49" charset="0"/>
                <a:ea typeface="楷体" pitchFamily="49" charset="-122"/>
                <a:cs typeface="Consolas" pitchFamily="49" charset="0"/>
              </a:rPr>
              <a:t>输出一</a:t>
            </a:r>
            <a:r>
              <a:rPr lang="zh-CN" altLang="en-US" sz="2000" dirty="0">
                <a:latin typeface="Consolas" pitchFamily="49" charset="0"/>
                <a:ea typeface="楷体" pitchFamily="49" charset="-122"/>
                <a:cs typeface="Consolas" pitchFamily="49" charset="0"/>
              </a:rPr>
              <a:t>棵二叉树</a:t>
            </a:r>
            <a:r>
              <a:rPr lang="en-US" altLang="zh-CN" sz="2000" i="1" dirty="0">
                <a:latin typeface="Consolas" pitchFamily="49" charset="0"/>
                <a:ea typeface="楷体" pitchFamily="49" charset="-122"/>
                <a:cs typeface="Consolas" pitchFamily="49" charset="0"/>
              </a:rPr>
              <a:t>b</a:t>
            </a:r>
            <a:r>
              <a:rPr lang="zh-CN" altLang="en-US" sz="2000" dirty="0">
                <a:latin typeface="Consolas" pitchFamily="49" charset="0"/>
                <a:ea typeface="楷体" pitchFamily="49" charset="-122"/>
                <a:cs typeface="Consolas" pitchFamily="49" charset="0"/>
              </a:rPr>
              <a:t>中</a:t>
            </a:r>
            <a:r>
              <a:rPr lang="zh-CN" altLang="en-US" sz="2000">
                <a:latin typeface="Consolas" pitchFamily="49" charset="0"/>
                <a:ea typeface="楷体" pitchFamily="49" charset="-122"/>
                <a:cs typeface="Consolas" pitchFamily="49" charset="0"/>
              </a:rPr>
              <a:t>所有叶子结点的</a:t>
            </a:r>
            <a:r>
              <a:rPr lang="zh-CN" altLang="en-US" sz="2000" dirty="0">
                <a:latin typeface="Consolas" pitchFamily="49" charset="0"/>
                <a:ea typeface="楷体" pitchFamily="49" charset="-122"/>
                <a:cs typeface="Consolas" pitchFamily="49" charset="0"/>
              </a:rPr>
              <a:t>递归模型</a:t>
            </a:r>
            <a:r>
              <a:rPr lang="en-US" altLang="zh-CN" sz="2000" i="1" dirty="0">
                <a:latin typeface="Consolas" pitchFamily="49" charset="0"/>
                <a:ea typeface="楷体" pitchFamily="49" charset="-122"/>
                <a:cs typeface="Consolas" pitchFamily="49" charset="0"/>
              </a:rPr>
              <a:t>f</a:t>
            </a:r>
            <a:r>
              <a:rPr lang="en-US" altLang="zh-CN" sz="2000" dirty="0">
                <a:latin typeface="Consolas" pitchFamily="49" charset="0"/>
                <a:ea typeface="楷体" pitchFamily="49" charset="-122"/>
                <a:cs typeface="Consolas" pitchFamily="49" charset="0"/>
              </a:rPr>
              <a:t>(</a:t>
            </a:r>
            <a:r>
              <a:rPr lang="en-US" altLang="zh-CN" sz="2000" i="1" dirty="0">
                <a:latin typeface="Consolas" pitchFamily="49" charset="0"/>
                <a:ea typeface="楷体" pitchFamily="49" charset="-122"/>
                <a:cs typeface="Consolas" pitchFamily="49" charset="0"/>
              </a:rPr>
              <a:t>b</a:t>
            </a:r>
            <a:r>
              <a:rPr lang="en-US" altLang="zh-CN" sz="2000" dirty="0">
                <a:latin typeface="Consolas" pitchFamily="49" charset="0"/>
                <a:ea typeface="楷体" pitchFamily="49" charset="-122"/>
                <a:cs typeface="Consolas" pitchFamily="49" charset="0"/>
              </a:rPr>
              <a:t>)</a:t>
            </a:r>
            <a:r>
              <a:rPr lang="zh-CN" altLang="en-US" sz="2000" dirty="0">
                <a:latin typeface="Consolas" pitchFamily="49" charset="0"/>
                <a:ea typeface="楷体" pitchFamily="49" charset="-122"/>
                <a:cs typeface="Consolas" pitchFamily="49" charset="0"/>
              </a:rPr>
              <a:t>如下：</a:t>
            </a:r>
          </a:p>
        </p:txBody>
      </p:sp>
      <p:grpSp>
        <p:nvGrpSpPr>
          <p:cNvPr id="15" name="组合 34">
            <a:extLst>
              <a:ext uri="{FF2B5EF4-FFF2-40B4-BE49-F238E27FC236}">
                <a16:creationId xmlns:a16="http://schemas.microsoft.com/office/drawing/2014/main" xmlns="" id="{4CA91D69-BA2B-9BF5-1C1F-3ADB5EA2A94F}"/>
              </a:ext>
            </a:extLst>
          </p:cNvPr>
          <p:cNvGrpSpPr/>
          <p:nvPr/>
        </p:nvGrpSpPr>
        <p:grpSpPr>
          <a:xfrm>
            <a:off x="3680481" y="1872184"/>
            <a:ext cx="3959225" cy="2726786"/>
            <a:chOff x="1970097" y="1130842"/>
            <a:chExt cx="3959225" cy="2726786"/>
          </a:xfrm>
        </p:grpSpPr>
        <p:sp>
          <p:nvSpPr>
            <p:cNvPr id="17" name="Line 7">
              <a:extLst>
                <a:ext uri="{FF2B5EF4-FFF2-40B4-BE49-F238E27FC236}">
                  <a16:creationId xmlns:a16="http://schemas.microsoft.com/office/drawing/2014/main" xmlns="" id="{C1FEABB3-FB61-2561-C882-1F640E771329}"/>
                </a:ext>
              </a:extLst>
            </p:cNvPr>
            <p:cNvSpPr>
              <a:spLocks noChangeShapeType="1"/>
            </p:cNvSpPr>
            <p:nvPr/>
          </p:nvSpPr>
          <p:spPr bwMode="auto">
            <a:xfrm>
              <a:off x="3727472" y="1313403"/>
              <a:ext cx="158736" cy="373081"/>
            </a:xfrm>
            <a:prstGeom prst="line">
              <a:avLst/>
            </a:prstGeom>
            <a:noFill/>
            <a:ln w="28575">
              <a:solidFill>
                <a:srgbClr val="FF00FF"/>
              </a:solidFill>
              <a:miter lim="800000"/>
              <a:headEnd/>
              <a:tailEnd type="triangle" w="med" len="med"/>
            </a:ln>
            <a:effectLst/>
          </p:spPr>
          <p:txBody>
            <a:bodyPr wrap="none"/>
            <a:lstStyle/>
            <a:p>
              <a:endParaRPr lang="zh-CN" altLang="en-US"/>
            </a:p>
          </p:txBody>
        </p:sp>
        <p:sp>
          <p:nvSpPr>
            <p:cNvPr id="18" name="Text Box 12">
              <a:extLst>
                <a:ext uri="{FF2B5EF4-FFF2-40B4-BE49-F238E27FC236}">
                  <a16:creationId xmlns:a16="http://schemas.microsoft.com/office/drawing/2014/main" xmlns="" id="{2E69C6E5-73F2-42C1-D4F7-B20ED2615D9F}"/>
                </a:ext>
              </a:extLst>
            </p:cNvPr>
            <p:cNvSpPr txBox="1">
              <a:spLocks noChangeArrowheads="1"/>
            </p:cNvSpPr>
            <p:nvPr/>
          </p:nvSpPr>
          <p:spPr bwMode="auto">
            <a:xfrm>
              <a:off x="4000496" y="1273718"/>
              <a:ext cx="720725" cy="369332"/>
            </a:xfrm>
            <a:prstGeom prst="rect">
              <a:avLst/>
            </a:prstGeom>
            <a:noFill/>
            <a:ln w="9525">
              <a:noFill/>
              <a:miter lim="800000"/>
              <a:headEnd/>
              <a:tailEnd/>
            </a:ln>
            <a:effectLst/>
          </p:spPr>
          <p:txBody>
            <a:bodyPr>
              <a:spAutoFit/>
            </a:bodyPr>
            <a:lstStyle/>
            <a:p>
              <a:pPr algn="l">
                <a:spcBef>
                  <a:spcPct val="50000"/>
                </a:spcBef>
              </a:pPr>
              <a:r>
                <a:rPr lang="en-US" altLang="zh-CN" sz="1800" i="1" dirty="0">
                  <a:latin typeface="Consolas" pitchFamily="49" charset="0"/>
                  <a:cs typeface="Consolas" pitchFamily="49" charset="0"/>
                </a:rPr>
                <a:t>f</a:t>
              </a:r>
              <a:r>
                <a:rPr lang="en-US" altLang="zh-CN" sz="1800" dirty="0">
                  <a:latin typeface="Consolas" pitchFamily="49" charset="0"/>
                  <a:cs typeface="Consolas" pitchFamily="49" charset="0"/>
                </a:rPr>
                <a:t>(</a:t>
              </a:r>
              <a:r>
                <a:rPr lang="en-US" altLang="zh-CN" sz="1800" i="1" dirty="0">
                  <a:latin typeface="Consolas" pitchFamily="49" charset="0"/>
                  <a:cs typeface="Consolas" pitchFamily="49" charset="0"/>
                </a:rPr>
                <a:t>b</a:t>
              </a:r>
              <a:r>
                <a:rPr lang="en-US" altLang="zh-CN" sz="1800" dirty="0">
                  <a:latin typeface="Consolas" pitchFamily="49" charset="0"/>
                  <a:cs typeface="Consolas" pitchFamily="49" charset="0"/>
                </a:rPr>
                <a:t>)</a:t>
              </a:r>
            </a:p>
          </p:txBody>
        </p:sp>
        <p:sp>
          <p:nvSpPr>
            <p:cNvPr id="19" name="Text Box 13">
              <a:extLst>
                <a:ext uri="{FF2B5EF4-FFF2-40B4-BE49-F238E27FC236}">
                  <a16:creationId xmlns:a16="http://schemas.microsoft.com/office/drawing/2014/main" xmlns="" id="{F07FAA1E-43AF-AC79-52FC-23AA479528D7}"/>
                </a:ext>
              </a:extLst>
            </p:cNvPr>
            <p:cNvSpPr txBox="1">
              <a:spLocks noChangeArrowheads="1"/>
            </p:cNvSpPr>
            <p:nvPr/>
          </p:nvSpPr>
          <p:spPr bwMode="auto">
            <a:xfrm>
              <a:off x="1970097" y="3488296"/>
              <a:ext cx="1871662" cy="369332"/>
            </a:xfrm>
            <a:prstGeom prst="rect">
              <a:avLst/>
            </a:prstGeom>
            <a:noFill/>
            <a:ln w="9525">
              <a:noFill/>
              <a:miter lim="800000"/>
              <a:headEnd/>
              <a:tailEnd/>
            </a:ln>
            <a:effectLst/>
          </p:spPr>
          <p:txBody>
            <a:bodyPr>
              <a:spAutoFit/>
            </a:bodyPr>
            <a:lstStyle/>
            <a:p>
              <a:pPr algn="l">
                <a:spcBef>
                  <a:spcPct val="50000"/>
                </a:spcBef>
              </a:pPr>
              <a:r>
                <a:rPr lang="en-US" altLang="zh-CN" sz="1800" i="1" dirty="0">
                  <a:latin typeface="Consolas" pitchFamily="49" charset="0"/>
                  <a:cs typeface="Consolas" pitchFamily="49" charset="0"/>
                </a:rPr>
                <a:t>f</a:t>
              </a:r>
              <a:r>
                <a:rPr lang="en-US" altLang="zh-CN" sz="1800" dirty="0">
                  <a:latin typeface="Consolas" pitchFamily="49" charset="0"/>
                  <a:cs typeface="Consolas" pitchFamily="49" charset="0"/>
                </a:rPr>
                <a:t>(</a:t>
              </a:r>
              <a:r>
                <a:rPr lang="en-US" altLang="zh-CN" sz="1800" i="1" dirty="0">
                  <a:latin typeface="Consolas" pitchFamily="49" charset="0"/>
                  <a:cs typeface="Consolas" pitchFamily="49" charset="0"/>
                </a:rPr>
                <a:t>b</a:t>
              </a:r>
              <a:r>
                <a:rPr lang="en-US" altLang="zh-CN" sz="1800" dirty="0">
                  <a:latin typeface="Consolas" pitchFamily="49" charset="0"/>
                  <a:ea typeface="宋体" pitchFamily="2" charset="-122"/>
                  <a:cs typeface="Consolas" pitchFamily="49" charset="0"/>
                </a:rPr>
                <a:t>-</a:t>
              </a:r>
              <a:r>
                <a:rPr lang="en-US" altLang="zh-CN" sz="1800" dirty="0">
                  <a:latin typeface="Consolas" pitchFamily="49" charset="0"/>
                  <a:cs typeface="Consolas" pitchFamily="49" charset="0"/>
                </a:rPr>
                <a:t>&gt;</a:t>
              </a:r>
              <a:r>
                <a:rPr lang="en-US" altLang="zh-CN" sz="1800" dirty="0" err="1">
                  <a:latin typeface="Consolas" pitchFamily="49" charset="0"/>
                  <a:cs typeface="Consolas" pitchFamily="49" charset="0"/>
                </a:rPr>
                <a:t>lchild</a:t>
              </a:r>
              <a:r>
                <a:rPr lang="en-US" altLang="zh-CN" sz="1800" dirty="0">
                  <a:latin typeface="Consolas" pitchFamily="49" charset="0"/>
                  <a:cs typeface="Consolas" pitchFamily="49" charset="0"/>
                </a:rPr>
                <a:t>)</a:t>
              </a:r>
            </a:p>
          </p:txBody>
        </p:sp>
        <p:sp>
          <p:nvSpPr>
            <p:cNvPr id="20" name="Text Box 14">
              <a:extLst>
                <a:ext uri="{FF2B5EF4-FFF2-40B4-BE49-F238E27FC236}">
                  <a16:creationId xmlns:a16="http://schemas.microsoft.com/office/drawing/2014/main" xmlns="" id="{CA2F42D8-D5A8-B950-C116-9B3CF66ED714}"/>
                </a:ext>
              </a:extLst>
            </p:cNvPr>
            <p:cNvSpPr txBox="1">
              <a:spLocks noChangeArrowheads="1"/>
            </p:cNvSpPr>
            <p:nvPr/>
          </p:nvSpPr>
          <p:spPr bwMode="auto">
            <a:xfrm>
              <a:off x="3986222" y="3462896"/>
              <a:ext cx="1943100" cy="369332"/>
            </a:xfrm>
            <a:prstGeom prst="rect">
              <a:avLst/>
            </a:prstGeom>
            <a:noFill/>
            <a:ln w="9525">
              <a:noFill/>
              <a:miter lim="800000"/>
              <a:headEnd/>
              <a:tailEnd/>
            </a:ln>
            <a:effectLst/>
          </p:spPr>
          <p:txBody>
            <a:bodyPr>
              <a:spAutoFit/>
            </a:bodyPr>
            <a:lstStyle/>
            <a:p>
              <a:pPr algn="l">
                <a:spcBef>
                  <a:spcPct val="50000"/>
                </a:spcBef>
              </a:pPr>
              <a:r>
                <a:rPr lang="en-US" altLang="zh-CN" sz="1800" i="1" dirty="0">
                  <a:latin typeface="Consolas" pitchFamily="49" charset="0"/>
                  <a:cs typeface="Consolas" pitchFamily="49" charset="0"/>
                </a:rPr>
                <a:t>f</a:t>
              </a:r>
              <a:r>
                <a:rPr lang="en-US" altLang="zh-CN" sz="1800" dirty="0">
                  <a:latin typeface="Consolas" pitchFamily="49" charset="0"/>
                  <a:cs typeface="Consolas" pitchFamily="49" charset="0"/>
                </a:rPr>
                <a:t>(</a:t>
              </a:r>
              <a:r>
                <a:rPr lang="en-US" altLang="zh-CN" sz="1800" i="1" dirty="0">
                  <a:latin typeface="Consolas" pitchFamily="49" charset="0"/>
                  <a:cs typeface="Consolas" pitchFamily="49" charset="0"/>
                </a:rPr>
                <a:t>b</a:t>
              </a:r>
              <a:r>
                <a:rPr lang="en-US" altLang="zh-CN" sz="1800" dirty="0">
                  <a:latin typeface="Consolas" pitchFamily="49" charset="0"/>
                  <a:ea typeface="宋体" pitchFamily="2" charset="-122"/>
                  <a:cs typeface="Consolas" pitchFamily="49" charset="0"/>
                </a:rPr>
                <a:t>-</a:t>
              </a:r>
              <a:r>
                <a:rPr lang="en-US" altLang="zh-CN" sz="1800" dirty="0">
                  <a:latin typeface="Consolas" pitchFamily="49" charset="0"/>
                  <a:cs typeface="Consolas" pitchFamily="49" charset="0"/>
                </a:rPr>
                <a:t>&gt;</a:t>
              </a:r>
              <a:r>
                <a:rPr lang="en-US" altLang="zh-CN" sz="1800" dirty="0" err="1">
                  <a:latin typeface="Consolas" pitchFamily="49" charset="0"/>
                  <a:cs typeface="Consolas" pitchFamily="49" charset="0"/>
                </a:rPr>
                <a:t>rchild</a:t>
              </a:r>
              <a:r>
                <a:rPr lang="en-US" altLang="zh-CN" sz="1800" dirty="0">
                  <a:latin typeface="Consolas" pitchFamily="49" charset="0"/>
                  <a:cs typeface="Consolas" pitchFamily="49" charset="0"/>
                </a:rPr>
                <a:t>)</a:t>
              </a:r>
            </a:p>
          </p:txBody>
        </p:sp>
        <p:sp>
          <p:nvSpPr>
            <p:cNvPr id="21" name="Oval 15">
              <a:extLst>
                <a:ext uri="{FF2B5EF4-FFF2-40B4-BE49-F238E27FC236}">
                  <a16:creationId xmlns:a16="http://schemas.microsoft.com/office/drawing/2014/main" xmlns="" id="{18563E2E-E1F9-73AC-4A93-1D9A038DCFB4}"/>
                </a:ext>
              </a:extLst>
            </p:cNvPr>
            <p:cNvSpPr>
              <a:spLocks noChangeArrowheads="1"/>
            </p:cNvSpPr>
            <p:nvPr/>
          </p:nvSpPr>
          <p:spPr bwMode="auto">
            <a:xfrm>
              <a:off x="3395672" y="1686485"/>
              <a:ext cx="863600" cy="504825"/>
            </a:xfrm>
            <a:prstGeom prst="ellipse">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2000" i="1" dirty="0">
                  <a:solidFill>
                    <a:srgbClr val="0000FF"/>
                  </a:solidFill>
                  <a:latin typeface="Consolas" pitchFamily="49" charset="0"/>
                  <a:ea typeface="楷体" pitchFamily="49" charset="-122"/>
                  <a:cs typeface="Consolas" pitchFamily="49" charset="0"/>
                </a:rPr>
                <a:t>N</a:t>
              </a:r>
              <a:endParaRPr lang="zh-CN" altLang="zh-CN" sz="2000" i="1" dirty="0">
                <a:solidFill>
                  <a:srgbClr val="0000FF"/>
                </a:solidFill>
                <a:latin typeface="Consolas" pitchFamily="49" charset="0"/>
                <a:ea typeface="楷体" pitchFamily="49" charset="-122"/>
                <a:cs typeface="Consolas" pitchFamily="49" charset="0"/>
              </a:endParaRPr>
            </a:p>
          </p:txBody>
        </p:sp>
        <p:sp>
          <p:nvSpPr>
            <p:cNvPr id="22" name="AutoShape 16">
              <a:extLst>
                <a:ext uri="{FF2B5EF4-FFF2-40B4-BE49-F238E27FC236}">
                  <a16:creationId xmlns:a16="http://schemas.microsoft.com/office/drawing/2014/main" xmlns="" id="{C505C9CA-2462-168F-5102-39BFB855E3ED}"/>
                </a:ext>
              </a:extLst>
            </p:cNvPr>
            <p:cNvSpPr>
              <a:spLocks noChangeArrowheads="1"/>
            </p:cNvSpPr>
            <p:nvPr/>
          </p:nvSpPr>
          <p:spPr bwMode="auto">
            <a:xfrm>
              <a:off x="2268547" y="2623110"/>
              <a:ext cx="1150937" cy="792162"/>
            </a:xfrm>
            <a:prstGeom prst="triangle">
              <a:avLst>
                <a:gd name="adj" fmla="val 50000"/>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pPr>
                <a:lnSpc>
                  <a:spcPts val="1200"/>
                </a:lnSpc>
              </a:pPr>
              <a:r>
                <a:rPr lang="en-US" altLang="zh-CN" sz="2000" i="1">
                  <a:solidFill>
                    <a:srgbClr val="0000FF"/>
                  </a:solidFill>
                  <a:latin typeface="Consolas" pitchFamily="49" charset="0"/>
                  <a:ea typeface="楷体" pitchFamily="49" charset="-122"/>
                  <a:cs typeface="Consolas" pitchFamily="49" charset="0"/>
                </a:rPr>
                <a:t>L</a:t>
              </a:r>
            </a:p>
          </p:txBody>
        </p:sp>
        <p:sp>
          <p:nvSpPr>
            <p:cNvPr id="23" name="AutoShape 17">
              <a:extLst>
                <a:ext uri="{FF2B5EF4-FFF2-40B4-BE49-F238E27FC236}">
                  <a16:creationId xmlns:a16="http://schemas.microsoft.com/office/drawing/2014/main" xmlns="" id="{C1745528-0633-17B4-E810-37626D55BA7C}"/>
                </a:ext>
              </a:extLst>
            </p:cNvPr>
            <p:cNvSpPr>
              <a:spLocks noChangeArrowheads="1"/>
            </p:cNvSpPr>
            <p:nvPr/>
          </p:nvSpPr>
          <p:spPr bwMode="auto">
            <a:xfrm>
              <a:off x="4130684" y="2623110"/>
              <a:ext cx="1150938" cy="792162"/>
            </a:xfrm>
            <a:prstGeom prst="triangle">
              <a:avLst>
                <a:gd name="adj" fmla="val 50000"/>
              </a:avLst>
            </a:prstGeom>
            <a:ln>
              <a:headEnd/>
              <a:tailEnd type="none" w="med" len="lg"/>
            </a:ln>
          </p:spPr>
          <p:style>
            <a:lnRef idx="1">
              <a:schemeClr val="accent2"/>
            </a:lnRef>
            <a:fillRef idx="2">
              <a:schemeClr val="accent2"/>
            </a:fillRef>
            <a:effectRef idx="1">
              <a:schemeClr val="accent2"/>
            </a:effectRef>
            <a:fontRef idx="minor">
              <a:schemeClr val="dk1"/>
            </a:fontRef>
          </p:style>
          <p:txBody>
            <a:bodyPr wrap="none" anchor="ctr"/>
            <a:lstStyle/>
            <a:p>
              <a:pPr>
                <a:lnSpc>
                  <a:spcPts val="1200"/>
                </a:lnSpc>
              </a:pPr>
              <a:r>
                <a:rPr lang="en-US" altLang="zh-CN" sz="2000" i="1" dirty="0">
                  <a:solidFill>
                    <a:srgbClr val="0000FF"/>
                  </a:solidFill>
                  <a:latin typeface="Consolas" pitchFamily="49" charset="0"/>
                  <a:ea typeface="楷体" pitchFamily="49" charset="-122"/>
                  <a:cs typeface="Consolas" pitchFamily="49" charset="0"/>
                </a:rPr>
                <a:t>R</a:t>
              </a:r>
            </a:p>
          </p:txBody>
        </p:sp>
        <p:sp>
          <p:nvSpPr>
            <p:cNvPr id="24" name="Line 18">
              <a:extLst>
                <a:ext uri="{FF2B5EF4-FFF2-40B4-BE49-F238E27FC236}">
                  <a16:creationId xmlns:a16="http://schemas.microsoft.com/office/drawing/2014/main" xmlns="" id="{99339CC4-8008-BAFF-FF93-AC7BC72BCC8A}"/>
                </a:ext>
              </a:extLst>
            </p:cNvPr>
            <p:cNvSpPr>
              <a:spLocks noChangeShapeType="1"/>
            </p:cNvSpPr>
            <p:nvPr/>
          </p:nvSpPr>
          <p:spPr bwMode="auto">
            <a:xfrm flipH="1">
              <a:off x="2916247" y="2118285"/>
              <a:ext cx="647700" cy="649287"/>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p>
          </p:txBody>
        </p:sp>
        <p:sp>
          <p:nvSpPr>
            <p:cNvPr id="25" name="Freeform 19">
              <a:extLst>
                <a:ext uri="{FF2B5EF4-FFF2-40B4-BE49-F238E27FC236}">
                  <a16:creationId xmlns:a16="http://schemas.microsoft.com/office/drawing/2014/main" xmlns="" id="{7ECCBD03-C0C9-6C44-2FCC-A995D9A98943}"/>
                </a:ext>
              </a:extLst>
            </p:cNvPr>
            <p:cNvSpPr>
              <a:spLocks/>
            </p:cNvSpPr>
            <p:nvPr/>
          </p:nvSpPr>
          <p:spPr bwMode="auto">
            <a:xfrm>
              <a:off x="4105284" y="2130985"/>
              <a:ext cx="542925" cy="577850"/>
            </a:xfrm>
            <a:custGeom>
              <a:avLst/>
              <a:gdLst/>
              <a:ahLst/>
              <a:cxnLst>
                <a:cxn ang="0">
                  <a:pos x="0" y="0"/>
                </a:cxn>
                <a:cxn ang="0">
                  <a:pos x="342" y="364"/>
                </a:cxn>
              </a:cxnLst>
              <a:rect l="0" t="0" r="r" b="b"/>
              <a:pathLst>
                <a:path w="342" h="364">
                  <a:moveTo>
                    <a:pt x="0" y="0"/>
                  </a:moveTo>
                  <a:lnTo>
                    <a:pt x="342" y="364"/>
                  </a:lnTo>
                </a:path>
              </a:pathLst>
            </a:custGeom>
            <a:ln>
              <a:headEnd type="none" w="med" len="me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p>
          </p:txBody>
        </p:sp>
        <p:sp>
          <p:nvSpPr>
            <p:cNvPr id="26" name="Text Box 12">
              <a:extLst>
                <a:ext uri="{FF2B5EF4-FFF2-40B4-BE49-F238E27FC236}">
                  <a16:creationId xmlns:a16="http://schemas.microsoft.com/office/drawing/2014/main" xmlns="" id="{31891967-1024-7FA5-54BC-807D81B5A597}"/>
                </a:ext>
              </a:extLst>
            </p:cNvPr>
            <p:cNvSpPr txBox="1">
              <a:spLocks noChangeArrowheads="1"/>
            </p:cNvSpPr>
            <p:nvPr/>
          </p:nvSpPr>
          <p:spPr bwMode="auto">
            <a:xfrm>
              <a:off x="3470295" y="1130842"/>
              <a:ext cx="357190" cy="396875"/>
            </a:xfrm>
            <a:prstGeom prst="rect">
              <a:avLst/>
            </a:prstGeom>
            <a:noFill/>
            <a:ln w="9525">
              <a:noFill/>
              <a:miter lim="800000"/>
              <a:headEnd/>
              <a:tailEnd/>
            </a:ln>
            <a:effectLst/>
          </p:spPr>
          <p:txBody>
            <a:bodyPr wrap="square">
              <a:spAutoFit/>
            </a:bodyPr>
            <a:lstStyle/>
            <a:p>
              <a:pPr algn="l">
                <a:spcBef>
                  <a:spcPct val="50000"/>
                </a:spcBef>
              </a:pPr>
              <a:r>
                <a:rPr lang="en-US" altLang="zh-CN" sz="2000" i="1">
                  <a:latin typeface="Consolas" pitchFamily="49" charset="0"/>
                  <a:cs typeface="Consolas" pitchFamily="49" charset="0"/>
                </a:rPr>
                <a:t>b</a:t>
              </a:r>
              <a:endParaRPr lang="en-US" altLang="zh-CN" sz="2000" dirty="0">
                <a:latin typeface="Consolas" pitchFamily="49" charset="0"/>
                <a:cs typeface="Consolas" pitchFamily="49" charset="0"/>
              </a:endParaRPr>
            </a:p>
          </p:txBody>
        </p:sp>
      </p:grpSp>
      <p:grpSp>
        <p:nvGrpSpPr>
          <p:cNvPr id="27" name="组合 26">
            <a:extLst>
              <a:ext uri="{FF2B5EF4-FFF2-40B4-BE49-F238E27FC236}">
                <a16:creationId xmlns:a16="http://schemas.microsoft.com/office/drawing/2014/main" xmlns="" id="{C842F42E-5AE7-3C39-F664-392E97E165C2}"/>
              </a:ext>
            </a:extLst>
          </p:cNvPr>
          <p:cNvGrpSpPr/>
          <p:nvPr/>
        </p:nvGrpSpPr>
        <p:grpSpPr>
          <a:xfrm>
            <a:off x="2353294" y="4658266"/>
            <a:ext cx="722313" cy="582613"/>
            <a:chOff x="1774825" y="5489593"/>
            <a:chExt cx="722313" cy="582613"/>
          </a:xfrm>
        </p:grpSpPr>
        <p:sp>
          <p:nvSpPr>
            <p:cNvPr id="28" name="Text Box 13">
              <a:extLst>
                <a:ext uri="{FF2B5EF4-FFF2-40B4-BE49-F238E27FC236}">
                  <a16:creationId xmlns:a16="http://schemas.microsoft.com/office/drawing/2014/main" xmlns="" id="{70540A87-B7E2-6F9D-0792-3B3C07E821ED}"/>
                </a:ext>
              </a:extLst>
            </p:cNvPr>
            <p:cNvSpPr>
              <a:spLocks noChangeArrowheads="1"/>
            </p:cNvSpPr>
            <p:nvPr/>
          </p:nvSpPr>
          <p:spPr bwMode="auto">
            <a:xfrm>
              <a:off x="2124075" y="5489593"/>
              <a:ext cx="373063" cy="461963"/>
            </a:xfrm>
            <a:prstGeom prst="rect">
              <a:avLst/>
            </a:prstGeom>
            <a:noFill/>
            <a:ln w="9525" cap="flat" algn="ctr">
              <a:noFill/>
              <a:prstDash val="solid"/>
              <a:round/>
              <a:headEnd type="none" w="med" len="med"/>
              <a:tailEnd type="none" w="med" len="med"/>
            </a:ln>
            <a:effectLst/>
          </p:spPr>
          <p:txBody>
            <a:bodyPr wrap="none"/>
            <a:lstStyle/>
            <a:p>
              <a:pPr algn="ctr" eaLnBrk="0" hangingPunct="0"/>
              <a:r>
                <a:rPr lang="ru-RU" altLang="zh-CN" sz="2400" b="1">
                  <a:solidFill>
                    <a:srgbClr val="FFFFFF"/>
                  </a:solidFill>
                  <a:latin typeface="微软雅黑" pitchFamily="34" charset="-122"/>
                  <a:ea typeface="微软雅黑" pitchFamily="34" charset="-122"/>
                </a:rPr>
                <a:t>1</a:t>
              </a:r>
            </a:p>
          </p:txBody>
        </p:sp>
        <p:grpSp>
          <p:nvGrpSpPr>
            <p:cNvPr id="29" name="Group 8">
              <a:extLst>
                <a:ext uri="{FF2B5EF4-FFF2-40B4-BE49-F238E27FC236}">
                  <a16:creationId xmlns:a16="http://schemas.microsoft.com/office/drawing/2014/main" xmlns="" id="{066F2075-0278-7655-0645-D9ABC3759B99}"/>
                </a:ext>
              </a:extLst>
            </p:cNvPr>
            <p:cNvGrpSpPr>
              <a:grpSpLocks/>
            </p:cNvGrpSpPr>
            <p:nvPr/>
          </p:nvGrpSpPr>
          <p:grpSpPr bwMode="auto">
            <a:xfrm>
              <a:off x="1774825" y="5518173"/>
              <a:ext cx="544513" cy="554040"/>
              <a:chOff x="1019" y="1020"/>
              <a:chExt cx="399" cy="406"/>
            </a:xfrm>
          </p:grpSpPr>
          <p:pic>
            <p:nvPicPr>
              <p:cNvPr id="30" name="Picture 49" descr="阴影5">
                <a:extLst>
                  <a:ext uri="{FF2B5EF4-FFF2-40B4-BE49-F238E27FC236}">
                    <a16:creationId xmlns:a16="http://schemas.microsoft.com/office/drawing/2014/main" xmlns="" id="{01F2CF26-6249-A4C9-0D70-0A675E5092F3}"/>
                  </a:ext>
                </a:extLst>
              </p:cNvPr>
              <p:cNvPicPr preferRelativeResize="0">
                <a:picLocks noChangeArrowheads="1"/>
              </p:cNvPicPr>
              <p:nvPr/>
            </p:nvPicPr>
            <p:blipFill>
              <a:blip r:embed="rId2" cstate="print"/>
              <a:srcRect/>
              <a:stretch>
                <a:fillRect/>
              </a:stretch>
            </p:blipFill>
            <p:spPr bwMode="auto">
              <a:xfrm>
                <a:off x="1039" y="1380"/>
                <a:ext cx="363" cy="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1" name="AutoShape 8">
                <a:extLst>
                  <a:ext uri="{FF2B5EF4-FFF2-40B4-BE49-F238E27FC236}">
                    <a16:creationId xmlns:a16="http://schemas.microsoft.com/office/drawing/2014/main" xmlns="" id="{7D96BE19-F5E6-F7E7-5418-F9C769D33A22}"/>
                  </a:ext>
                </a:extLst>
              </p:cNvPr>
              <p:cNvSpPr>
                <a:spLocks noChangeArrowheads="1"/>
              </p:cNvSpPr>
              <p:nvPr/>
            </p:nvSpPr>
            <p:spPr bwMode="auto">
              <a:xfrm>
                <a:off x="1019" y="1020"/>
                <a:ext cx="399" cy="370"/>
              </a:xfrm>
              <a:prstGeom prst="roundRect">
                <a:avLst>
                  <a:gd name="adj" fmla="val 8380"/>
                </a:avLst>
              </a:prstGeom>
              <a:gradFill rotWithShape="1">
                <a:gsLst>
                  <a:gs pos="0">
                    <a:srgbClr val="8F0000"/>
                  </a:gs>
                  <a:gs pos="50000">
                    <a:srgbClr val="CF0001"/>
                  </a:gs>
                  <a:gs pos="100000">
                    <a:srgbClr val="F60004"/>
                  </a:gs>
                </a:gsLst>
                <a:lin ang="2700000"/>
              </a:gradFill>
              <a:ln w="9525" cap="flat" algn="ctr">
                <a:noFill/>
                <a:prstDash val="solid"/>
                <a:round/>
                <a:headEnd type="none" w="med" len="med"/>
                <a:tailEnd type="none" w="med" len="med"/>
              </a:ln>
              <a:effectLst>
                <a:outerShdw blurRad="76200" dir="13500000" sy="23000" kx="1200000" algn="br" rotWithShape="0">
                  <a:prstClr val="black">
                    <a:alpha val="20000"/>
                  </a:prstClr>
                </a:outerShdw>
              </a:effectLst>
            </p:spPr>
            <p:txBody>
              <a:bodyPr wrap="none" anchor="ctr"/>
              <a:lstStyle/>
              <a:p>
                <a:pPr marL="342900" indent="-342900" algn="ctr">
                  <a:buFont typeface="Wingdings" pitchFamily="2" charset="2"/>
                  <a:buNone/>
                </a:pPr>
                <a:r>
                  <a:rPr lang="zh-CN" altLang="en-US" sz="2200" b="1">
                    <a:solidFill>
                      <a:schemeClr val="bg1"/>
                    </a:solidFill>
                    <a:latin typeface="微软雅黑" pitchFamily="34" charset="-122"/>
                    <a:ea typeface="微软雅黑" pitchFamily="34" charset="-122"/>
                  </a:rPr>
                  <a:t>解</a:t>
                </a:r>
                <a:endParaRPr lang="ru-RU" altLang="zh-CN" sz="2200" b="1">
                  <a:solidFill>
                    <a:schemeClr val="bg1"/>
                  </a:solidFill>
                  <a:latin typeface="微软雅黑" pitchFamily="34" charset="-122"/>
                  <a:ea typeface="微软雅黑" pitchFamily="34" charset="-122"/>
                </a:endParaRPr>
              </a:p>
            </p:txBody>
          </p:sp>
        </p:grpSp>
      </p:grpSp>
    </p:spTree>
    <p:extLst>
      <p:ext uri="{BB962C8B-B14F-4D97-AF65-F5344CB8AC3E}">
        <p14:creationId xmlns:p14="http://schemas.microsoft.com/office/powerpoint/2010/main" val="52827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28FB9BA-48CB-8090-FE76-A7DC70002A2B}"/>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FAEB0122-A3E1-0240-D30A-E9F0B731F99D}"/>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7.5 </a:t>
            </a:r>
            <a:r>
              <a:rPr lang="zh-CN" altLang="en-US" sz="3000" b="1" dirty="0">
                <a:latin typeface="黑体" pitchFamily="49" charset="-122"/>
                <a:ea typeface="黑体" pitchFamily="49" charset="-122"/>
                <a:cs typeface="经典粗黑简" pitchFamily="49" charset="-122"/>
              </a:rPr>
              <a:t>二叉树的遍历</a:t>
            </a:r>
          </a:p>
        </p:txBody>
      </p:sp>
      <p:cxnSp>
        <p:nvCxnSpPr>
          <p:cNvPr id="4" name="直接连接符 3">
            <a:extLst>
              <a:ext uri="{FF2B5EF4-FFF2-40B4-BE49-F238E27FC236}">
                <a16:creationId xmlns:a16="http://schemas.microsoft.com/office/drawing/2014/main" xmlns="" id="{0AEF254B-71A8-9F3B-2EC9-9E07FD2184D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xmlns="" id="{286FC735-D799-D59E-C7FD-C270A9172FD6}"/>
              </a:ext>
            </a:extLst>
          </p:cNvPr>
          <p:cNvSpPr txBox="1">
            <a:spLocks noChangeArrowheads="1"/>
          </p:cNvSpPr>
          <p:nvPr/>
        </p:nvSpPr>
        <p:spPr>
          <a:xfrm>
            <a:off x="79920" y="836712"/>
            <a:ext cx="6880176"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7.5.2 </a:t>
            </a:r>
            <a:r>
              <a:rPr lang="zh-CN" altLang="en-US" dirty="0"/>
              <a:t>先序、中序、后序遍历的递归算法</a:t>
            </a:r>
          </a:p>
        </p:txBody>
      </p:sp>
      <p:sp>
        <p:nvSpPr>
          <p:cNvPr id="13" name="Text Box 4">
            <a:extLst>
              <a:ext uri="{FF2B5EF4-FFF2-40B4-BE49-F238E27FC236}">
                <a16:creationId xmlns:a16="http://schemas.microsoft.com/office/drawing/2014/main" xmlns="" id="{6EC88AA2-EEF5-F922-FD29-DFAD45357E3B}"/>
              </a:ext>
            </a:extLst>
          </p:cNvPr>
          <p:cNvSpPr txBox="1">
            <a:spLocks noChangeArrowheads="1"/>
          </p:cNvSpPr>
          <p:nvPr/>
        </p:nvSpPr>
        <p:spPr bwMode="auto">
          <a:xfrm>
            <a:off x="911425" y="1454551"/>
            <a:ext cx="10441160" cy="810478"/>
          </a:xfrm>
          <a:prstGeom prst="rect">
            <a:avLst/>
          </a:prstGeom>
          <a:noFill/>
          <a:ln w="38100" algn="ctr">
            <a:noFill/>
            <a:prstDash val="sysDot"/>
            <a:miter lim="800000"/>
            <a:headEnd/>
            <a:tailEnd type="none" w="med" len="lg"/>
          </a:ln>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l">
              <a:lnSpc>
                <a:spcPts val="2800"/>
              </a:lnSpc>
              <a:spcBef>
                <a:spcPts val="0"/>
              </a:spcBef>
            </a:pPr>
            <a:r>
              <a:rPr lang="en-US" altLang="zh-CN" sz="2000" dirty="0">
                <a:solidFill>
                  <a:srgbClr val="FF0000"/>
                </a:solidFill>
                <a:latin typeface="Consolas" pitchFamily="49" charset="0"/>
                <a:ea typeface="楷体" pitchFamily="49" charset="-122"/>
                <a:cs typeface="Consolas" pitchFamily="49" charset="0"/>
              </a:rPr>
              <a:t>【</a:t>
            </a:r>
            <a:r>
              <a:rPr kumimoji="1" lang="zh-CN" altLang="en-US" sz="2000" dirty="0">
                <a:solidFill>
                  <a:srgbClr val="FF0000"/>
                </a:solidFill>
                <a:latin typeface="Consolas" pitchFamily="49" charset="0"/>
                <a:ea typeface="楷体" pitchFamily="49" charset="-122"/>
                <a:cs typeface="Consolas" pitchFamily="49" charset="0"/>
              </a:rPr>
              <a:t>例</a:t>
            </a:r>
            <a:r>
              <a:rPr kumimoji="1" lang="en-US" altLang="zh-CN" sz="2000" dirty="0">
                <a:solidFill>
                  <a:srgbClr val="FF0000"/>
                </a:solidFill>
                <a:latin typeface="Consolas" pitchFamily="49" charset="0"/>
                <a:ea typeface="楷体" pitchFamily="49" charset="-122"/>
                <a:cs typeface="Consolas" pitchFamily="49" charset="0"/>
              </a:rPr>
              <a:t>7.12</a:t>
            </a:r>
            <a:r>
              <a:rPr lang="en-US" altLang="zh-CN" sz="2000" dirty="0">
                <a:solidFill>
                  <a:srgbClr val="FF0000"/>
                </a:solidFill>
                <a:latin typeface="Consolas" pitchFamily="49" charset="0"/>
                <a:ea typeface="楷体" pitchFamily="49" charset="-122"/>
                <a:cs typeface="Consolas" pitchFamily="49" charset="0"/>
              </a:rPr>
              <a:t>】</a:t>
            </a:r>
            <a:r>
              <a:rPr lang="zh-CN" altLang="en-US" sz="2000" dirty="0">
                <a:latin typeface="Consolas" pitchFamily="49" charset="0"/>
                <a:ea typeface="楷体" pitchFamily="49" charset="-122"/>
                <a:cs typeface="Consolas" pitchFamily="49" charset="0"/>
              </a:rPr>
              <a:t>假设二叉树采用二叉链存储结构存储，设计一个算法，输出一棵给定二叉树的</a:t>
            </a:r>
            <a:r>
              <a:rPr lang="zh-CN" altLang="en-US" sz="2000" dirty="0">
                <a:solidFill>
                  <a:srgbClr val="FF00FF"/>
                </a:solidFill>
                <a:latin typeface="Consolas" pitchFamily="49" charset="0"/>
                <a:ea typeface="楷体" pitchFamily="49" charset="-122"/>
                <a:cs typeface="Consolas" pitchFamily="49" charset="0"/>
              </a:rPr>
              <a:t>所有叶子结点</a:t>
            </a:r>
            <a:r>
              <a:rPr lang="zh-CN" altLang="en-US" sz="2000" dirty="0">
                <a:latin typeface="Consolas" pitchFamily="49" charset="0"/>
                <a:ea typeface="楷体" pitchFamily="49" charset="-122"/>
                <a:cs typeface="Consolas" pitchFamily="49" charset="0"/>
              </a:rPr>
              <a:t>。</a:t>
            </a:r>
          </a:p>
        </p:txBody>
      </p:sp>
      <p:sp>
        <p:nvSpPr>
          <p:cNvPr id="3" name="Text Box 9">
            <a:extLst>
              <a:ext uri="{FF2B5EF4-FFF2-40B4-BE49-F238E27FC236}">
                <a16:creationId xmlns:a16="http://schemas.microsoft.com/office/drawing/2014/main" xmlns="" id="{2B24F299-CD03-9FE4-6BF6-C6628B04565B}"/>
              </a:ext>
            </a:extLst>
          </p:cNvPr>
          <p:cNvSpPr txBox="1">
            <a:spLocks noChangeArrowheads="1"/>
          </p:cNvSpPr>
          <p:nvPr/>
        </p:nvSpPr>
        <p:spPr bwMode="auto">
          <a:xfrm>
            <a:off x="2495600" y="2785695"/>
            <a:ext cx="8032777" cy="2308324"/>
          </a:xfrm>
          <a:prstGeom prst="rect">
            <a:avLst/>
          </a:prstGeom>
          <a:solidFill>
            <a:schemeClr val="bg1">
              <a:lumMod val="95000"/>
            </a:schemeClr>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a:spAutoFit/>
          </a:bodyPr>
          <a:lstStyle/>
          <a:p>
            <a:pPr algn="l"/>
            <a:r>
              <a:rPr lang="en-US" sz="1800">
                <a:solidFill>
                  <a:srgbClr val="3333FF"/>
                </a:solidFill>
                <a:latin typeface="Consolas" pitchFamily="49" charset="0"/>
                <a:ea typeface="仿宋" pitchFamily="49" charset="-122"/>
                <a:cs typeface="Consolas" pitchFamily="49" charset="0"/>
              </a:rPr>
              <a:t>void </a:t>
            </a:r>
            <a:r>
              <a:rPr lang="en-US" sz="1800">
                <a:solidFill>
                  <a:srgbClr val="FF0000"/>
                </a:solidFill>
                <a:latin typeface="Consolas" pitchFamily="49" charset="0"/>
                <a:ea typeface="仿宋" pitchFamily="49" charset="-122"/>
                <a:cs typeface="Consolas" pitchFamily="49" charset="0"/>
              </a:rPr>
              <a:t>DispLeaf</a:t>
            </a:r>
            <a:r>
              <a:rPr lang="en-US" sz="1800">
                <a:solidFill>
                  <a:srgbClr val="3333FF"/>
                </a:solidFill>
                <a:latin typeface="Consolas" pitchFamily="49" charset="0"/>
                <a:ea typeface="仿宋" pitchFamily="49" charset="-122"/>
                <a:cs typeface="Consolas" pitchFamily="49" charset="0"/>
              </a:rPr>
              <a:t>(BTNode *b)</a:t>
            </a:r>
            <a:endParaRPr lang="zh-CN" altLang="en-US" sz="1800">
              <a:solidFill>
                <a:srgbClr val="3333FF"/>
              </a:solidFill>
              <a:latin typeface="Consolas" pitchFamily="49" charset="0"/>
              <a:ea typeface="仿宋" pitchFamily="49" charset="-122"/>
              <a:cs typeface="Consolas" pitchFamily="49" charset="0"/>
            </a:endParaRPr>
          </a:p>
          <a:p>
            <a:pPr algn="l"/>
            <a:r>
              <a:rPr lang="en-US" sz="1800">
                <a:solidFill>
                  <a:srgbClr val="3333FF"/>
                </a:solidFill>
                <a:latin typeface="Consolas" pitchFamily="49" charset="0"/>
                <a:ea typeface="仿宋" pitchFamily="49" charset="-122"/>
                <a:cs typeface="Consolas" pitchFamily="49" charset="0"/>
              </a:rPr>
              <a:t>{  if (b!=NULL)</a:t>
            </a:r>
            <a:endParaRPr lang="zh-CN" altLang="en-US" sz="1800">
              <a:solidFill>
                <a:srgbClr val="3333FF"/>
              </a:solidFill>
              <a:latin typeface="Consolas" pitchFamily="49" charset="0"/>
              <a:ea typeface="仿宋" pitchFamily="49" charset="-122"/>
              <a:cs typeface="Consolas" pitchFamily="49" charset="0"/>
            </a:endParaRPr>
          </a:p>
          <a:p>
            <a:pPr algn="l"/>
            <a:r>
              <a:rPr lang="en-US" sz="1800">
                <a:solidFill>
                  <a:srgbClr val="3333FF"/>
                </a:solidFill>
                <a:latin typeface="Consolas" pitchFamily="49" charset="0"/>
                <a:ea typeface="仿宋" pitchFamily="49" charset="-122"/>
                <a:cs typeface="Consolas" pitchFamily="49" charset="0"/>
              </a:rPr>
              <a:t>   {  if (b-&gt;lchild==NULL &amp;&amp; b-&gt;rchild==NULL)</a:t>
            </a:r>
            <a:endParaRPr lang="zh-CN" altLang="en-US" sz="1800">
              <a:solidFill>
                <a:srgbClr val="3333FF"/>
              </a:solidFill>
              <a:latin typeface="Consolas" pitchFamily="49" charset="0"/>
              <a:ea typeface="仿宋" pitchFamily="49" charset="-122"/>
              <a:cs typeface="Consolas" pitchFamily="49" charset="0"/>
            </a:endParaRPr>
          </a:p>
          <a:p>
            <a:pPr algn="l"/>
            <a:r>
              <a:rPr lang="en-US" sz="1800">
                <a:solidFill>
                  <a:srgbClr val="3333FF"/>
                </a:solidFill>
                <a:latin typeface="Consolas" pitchFamily="49" charset="0"/>
                <a:ea typeface="仿宋" pitchFamily="49" charset="-122"/>
                <a:cs typeface="Consolas" pitchFamily="49" charset="0"/>
              </a:rPr>
              <a:t>	  printf("%c "，b-&gt;data);     </a:t>
            </a:r>
            <a:r>
              <a:rPr lang="en-US"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访问叶子结点</a:t>
            </a:r>
          </a:p>
          <a:p>
            <a:pPr algn="l"/>
            <a:r>
              <a:rPr lang="en-US" sz="1800">
                <a:solidFill>
                  <a:srgbClr val="3333FF"/>
                </a:solidFill>
                <a:latin typeface="Consolas" pitchFamily="49" charset="0"/>
                <a:ea typeface="仿宋" pitchFamily="49" charset="-122"/>
                <a:cs typeface="Consolas" pitchFamily="49" charset="0"/>
              </a:rPr>
              <a:t>      </a:t>
            </a:r>
            <a:r>
              <a:rPr lang="en-US" sz="1800">
                <a:solidFill>
                  <a:srgbClr val="FF0000"/>
                </a:solidFill>
                <a:latin typeface="Consolas" pitchFamily="49" charset="0"/>
                <a:ea typeface="仿宋" pitchFamily="49" charset="-122"/>
                <a:cs typeface="Consolas" pitchFamily="49" charset="0"/>
              </a:rPr>
              <a:t>DispLeaf</a:t>
            </a:r>
            <a:r>
              <a:rPr lang="en-US" sz="1800">
                <a:solidFill>
                  <a:srgbClr val="3333FF"/>
                </a:solidFill>
                <a:latin typeface="Consolas" pitchFamily="49" charset="0"/>
                <a:ea typeface="仿宋" pitchFamily="49" charset="-122"/>
                <a:cs typeface="Consolas" pitchFamily="49" charset="0"/>
              </a:rPr>
              <a:t>(b-&gt;lchild);	        </a:t>
            </a:r>
            <a:r>
              <a:rPr lang="en-US"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输出左子树中的叶子结点</a:t>
            </a:r>
          </a:p>
          <a:p>
            <a:pPr algn="l"/>
            <a:r>
              <a:rPr lang="en-US" sz="1800">
                <a:solidFill>
                  <a:srgbClr val="3333FF"/>
                </a:solidFill>
                <a:latin typeface="Consolas" pitchFamily="49" charset="0"/>
                <a:ea typeface="仿宋" pitchFamily="49" charset="-122"/>
                <a:cs typeface="Consolas" pitchFamily="49" charset="0"/>
              </a:rPr>
              <a:t>      </a:t>
            </a:r>
            <a:r>
              <a:rPr lang="en-US" sz="1800">
                <a:solidFill>
                  <a:srgbClr val="FF0000"/>
                </a:solidFill>
                <a:latin typeface="Consolas" pitchFamily="49" charset="0"/>
                <a:ea typeface="仿宋" pitchFamily="49" charset="-122"/>
                <a:cs typeface="Consolas" pitchFamily="49" charset="0"/>
              </a:rPr>
              <a:t>DispLeaf</a:t>
            </a:r>
            <a:r>
              <a:rPr lang="en-US" sz="1800">
                <a:solidFill>
                  <a:srgbClr val="3333FF"/>
                </a:solidFill>
                <a:latin typeface="Consolas" pitchFamily="49" charset="0"/>
                <a:ea typeface="仿宋" pitchFamily="49" charset="-122"/>
                <a:cs typeface="Consolas" pitchFamily="49" charset="0"/>
              </a:rPr>
              <a:t>(b-&gt;rchild);	        </a:t>
            </a:r>
            <a:r>
              <a:rPr lang="en-US"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输出右子树中的叶子结点</a:t>
            </a:r>
          </a:p>
          <a:p>
            <a:pPr algn="l"/>
            <a:r>
              <a:rPr lang="en-US" sz="1800">
                <a:solidFill>
                  <a:srgbClr val="3333FF"/>
                </a:solidFill>
                <a:latin typeface="Consolas" pitchFamily="49" charset="0"/>
                <a:ea typeface="仿宋" pitchFamily="49" charset="-122"/>
                <a:cs typeface="Consolas" pitchFamily="49" charset="0"/>
              </a:rPr>
              <a:t>   }</a:t>
            </a:r>
            <a:endParaRPr lang="zh-CN" altLang="en-US" sz="1800">
              <a:solidFill>
                <a:srgbClr val="3333FF"/>
              </a:solidFill>
              <a:latin typeface="Consolas" pitchFamily="49" charset="0"/>
              <a:ea typeface="仿宋" pitchFamily="49" charset="-122"/>
              <a:cs typeface="Consolas" pitchFamily="49" charset="0"/>
            </a:endParaRPr>
          </a:p>
          <a:p>
            <a:pPr algn="l"/>
            <a:r>
              <a:rPr lang="en-US" sz="1800">
                <a:solidFill>
                  <a:srgbClr val="3333FF"/>
                </a:solidFill>
                <a:latin typeface="Consolas" pitchFamily="49" charset="0"/>
                <a:ea typeface="仿宋" pitchFamily="49" charset="-122"/>
                <a:cs typeface="Consolas" pitchFamily="49" charset="0"/>
              </a:rPr>
              <a:t>}</a:t>
            </a:r>
            <a:endParaRPr lang="zh-CN" altLang="en-US" sz="1800">
              <a:solidFill>
                <a:srgbClr val="3333FF"/>
              </a:solidFill>
              <a:latin typeface="Consolas" pitchFamily="49" charset="0"/>
              <a:ea typeface="仿宋" pitchFamily="49" charset="-122"/>
              <a:cs typeface="Consolas" pitchFamily="49" charset="0"/>
            </a:endParaRPr>
          </a:p>
        </p:txBody>
      </p:sp>
      <p:sp>
        <p:nvSpPr>
          <p:cNvPr id="6" name="Text Box 10">
            <a:extLst>
              <a:ext uri="{FF2B5EF4-FFF2-40B4-BE49-F238E27FC236}">
                <a16:creationId xmlns:a16="http://schemas.microsoft.com/office/drawing/2014/main" xmlns="" id="{524D1F10-D434-B89D-B77F-935D9B4F0B54}"/>
              </a:ext>
            </a:extLst>
          </p:cNvPr>
          <p:cNvSpPr txBox="1">
            <a:spLocks noChangeArrowheads="1"/>
          </p:cNvSpPr>
          <p:nvPr/>
        </p:nvSpPr>
        <p:spPr bwMode="auto">
          <a:xfrm>
            <a:off x="944285" y="2255411"/>
            <a:ext cx="4103688" cy="426335"/>
          </a:xfrm>
          <a:prstGeom prst="rect">
            <a:avLst/>
          </a:prstGeom>
          <a:noFill/>
          <a:ln w="38100" algn="ctr">
            <a:noFill/>
            <a:prstDash val="sysDot"/>
            <a:miter lim="800000"/>
            <a:headEnd/>
            <a:tailEnd type="none" w="med" len="lg"/>
          </a:ln>
          <a:effectLst/>
        </p:spPr>
        <p:txBody>
          <a:bodyPr>
            <a:spAutoFit/>
          </a:bodyPr>
          <a:lstStyle/>
          <a:p>
            <a:pPr algn="l">
              <a:lnSpc>
                <a:spcPct val="120000"/>
              </a:lnSpc>
            </a:pPr>
            <a:r>
              <a:rPr lang="zh-CN" altLang="en-US" sz="2000" dirty="0">
                <a:ea typeface="楷体" pitchFamily="49" charset="-122"/>
                <a:cs typeface="Times New Roman" pitchFamily="18" charset="0"/>
              </a:rPr>
              <a:t>对应的递归算法如下：</a:t>
            </a:r>
          </a:p>
        </p:txBody>
      </p:sp>
      <p:grpSp>
        <p:nvGrpSpPr>
          <p:cNvPr id="7" name="组合 7">
            <a:extLst>
              <a:ext uri="{FF2B5EF4-FFF2-40B4-BE49-F238E27FC236}">
                <a16:creationId xmlns:a16="http://schemas.microsoft.com/office/drawing/2014/main" xmlns="" id="{B3559B59-0B0A-13D9-AF48-2BD40FD5E0BC}"/>
              </a:ext>
            </a:extLst>
          </p:cNvPr>
          <p:cNvGrpSpPr/>
          <p:nvPr/>
        </p:nvGrpSpPr>
        <p:grpSpPr>
          <a:xfrm>
            <a:off x="3241701" y="3377819"/>
            <a:ext cx="5143536" cy="2714644"/>
            <a:chOff x="1285852" y="2857496"/>
            <a:chExt cx="5143536" cy="2714644"/>
          </a:xfrm>
        </p:grpSpPr>
        <p:sp>
          <p:nvSpPr>
            <p:cNvPr id="8" name="圆角矩形 3">
              <a:extLst>
                <a:ext uri="{FF2B5EF4-FFF2-40B4-BE49-F238E27FC236}">
                  <a16:creationId xmlns:a16="http://schemas.microsoft.com/office/drawing/2014/main" xmlns="" id="{3F59DDD0-3A53-6E13-9ABE-8E6512C6809D}"/>
                </a:ext>
              </a:extLst>
            </p:cNvPr>
            <p:cNvSpPr/>
            <p:nvPr/>
          </p:nvSpPr>
          <p:spPr>
            <a:xfrm>
              <a:off x="1285852" y="2857496"/>
              <a:ext cx="5143536" cy="1357322"/>
            </a:xfrm>
            <a:prstGeom prst="roundRect">
              <a:avLst/>
            </a:prstGeom>
            <a:solidFill>
              <a:schemeClr val="accent1">
                <a:alpha val="0"/>
              </a:schemeClr>
            </a:solidFill>
            <a:ln>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xmlns="" id="{DA101BF1-DA8C-42D7-040D-FE86C1FB0679}"/>
                </a:ext>
              </a:extLst>
            </p:cNvPr>
            <p:cNvCxnSpPr>
              <a:stCxn id="8" idx="2"/>
              <a:endCxn id="10" idx="0"/>
            </p:cNvCxnSpPr>
            <p:nvPr/>
          </p:nvCxnSpPr>
          <p:spPr>
            <a:xfrm rot="16200000" flipH="1">
              <a:off x="3533453" y="4538985"/>
              <a:ext cx="649436" cy="1102"/>
            </a:xfrm>
            <a:prstGeom prst="straightConnector1">
              <a:avLst/>
            </a:prstGeom>
            <a:ln w="28575">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10" name="TextBox 6">
              <a:extLst>
                <a:ext uri="{FF2B5EF4-FFF2-40B4-BE49-F238E27FC236}">
                  <a16:creationId xmlns:a16="http://schemas.microsoft.com/office/drawing/2014/main" xmlns="" id="{27A37533-B0D1-2B3E-93E1-CD17E2ED8069}"/>
                </a:ext>
              </a:extLst>
            </p:cNvPr>
            <p:cNvSpPr txBox="1"/>
            <p:nvPr/>
          </p:nvSpPr>
          <p:spPr>
            <a:xfrm>
              <a:off x="2072772" y="4864254"/>
              <a:ext cx="3571900" cy="707886"/>
            </a:xfrm>
            <a:prstGeom prst="rect">
              <a:avLst/>
            </a:prstGeom>
            <a:noFill/>
          </p:spPr>
          <p:txBody>
            <a:bodyPr wrap="square" rtlCol="0">
              <a:spAutoFit/>
            </a:bodyPr>
            <a:lstStyle/>
            <a:p>
              <a:r>
                <a:rPr kumimoji="1" lang="zh-CN" altLang="en-US" sz="2000">
                  <a:latin typeface="Consolas" pitchFamily="49" charset="0"/>
                  <a:ea typeface="仿宋" pitchFamily="49" charset="-122"/>
                  <a:cs typeface="Consolas" pitchFamily="49" charset="0"/>
                </a:rPr>
                <a:t>先根、再左子树、最后右子树</a:t>
              </a:r>
              <a:endParaRPr kumimoji="1" lang="en-US" altLang="zh-CN" sz="2000" dirty="0">
                <a:latin typeface="Consolas" pitchFamily="49" charset="0"/>
                <a:ea typeface="仿宋" pitchFamily="49" charset="-122"/>
                <a:cs typeface="Consolas" pitchFamily="49" charset="0"/>
              </a:endParaRPr>
            </a:p>
            <a:p>
              <a:r>
                <a:rPr kumimoji="1" lang="zh-CN" altLang="en-US" sz="2000">
                  <a:latin typeface="Consolas" pitchFamily="49" charset="0"/>
                  <a:ea typeface="仿宋" pitchFamily="49" charset="-122"/>
                  <a:cs typeface="Consolas" pitchFamily="49" charset="0"/>
                </a:rPr>
                <a:t>是</a:t>
              </a:r>
              <a:r>
                <a:rPr kumimoji="1" lang="zh-CN" altLang="en-US" sz="2000">
                  <a:solidFill>
                    <a:srgbClr val="CC00FF"/>
                  </a:solidFill>
                  <a:latin typeface="Consolas" pitchFamily="49" charset="0"/>
                  <a:ea typeface="仿宋" pitchFamily="49" charset="-122"/>
                  <a:cs typeface="Consolas" pitchFamily="49" charset="0"/>
                </a:rPr>
                <a:t>先序</a:t>
              </a:r>
              <a:r>
                <a:rPr kumimoji="1" lang="zh-CN" altLang="en-US" sz="2000" dirty="0">
                  <a:solidFill>
                    <a:srgbClr val="CC00FF"/>
                  </a:solidFill>
                  <a:latin typeface="Consolas" pitchFamily="49" charset="0"/>
                  <a:ea typeface="仿宋" pitchFamily="49" charset="-122"/>
                  <a:cs typeface="Consolas" pitchFamily="49" charset="0"/>
                </a:rPr>
                <a:t>遍历</a:t>
              </a:r>
              <a:r>
                <a:rPr kumimoji="1" lang="zh-CN" altLang="en-US" sz="2000" dirty="0">
                  <a:latin typeface="Consolas" pitchFamily="49" charset="0"/>
                  <a:ea typeface="仿宋" pitchFamily="49" charset="-122"/>
                  <a:cs typeface="Consolas" pitchFamily="49" charset="0"/>
                </a:rPr>
                <a:t>的思路。</a:t>
              </a:r>
              <a:endParaRPr lang="zh-CN" altLang="en-US" sz="2000" dirty="0">
                <a:latin typeface="Consolas" pitchFamily="49" charset="0"/>
                <a:ea typeface="仿宋" pitchFamily="49" charset="-122"/>
                <a:cs typeface="Consolas" pitchFamily="49" charset="0"/>
              </a:endParaRPr>
            </a:p>
          </p:txBody>
        </p:sp>
      </p:grpSp>
      <p:sp>
        <p:nvSpPr>
          <p:cNvPr id="11" name="Text Box 3">
            <a:extLst>
              <a:ext uri="{FF2B5EF4-FFF2-40B4-BE49-F238E27FC236}">
                <a16:creationId xmlns:a16="http://schemas.microsoft.com/office/drawing/2014/main" xmlns="" id="{183D0AD9-FF39-7716-2538-65EAB40D351D}"/>
              </a:ext>
            </a:extLst>
          </p:cNvPr>
          <p:cNvSpPr txBox="1">
            <a:spLocks noChangeArrowheads="1"/>
          </p:cNvSpPr>
          <p:nvPr/>
        </p:nvSpPr>
        <p:spPr bwMode="auto">
          <a:xfrm>
            <a:off x="1055440" y="6182966"/>
            <a:ext cx="6215106" cy="400110"/>
          </a:xfrm>
          <a:prstGeom prst="rect">
            <a:avLst/>
          </a:prstGeom>
          <a:noFill/>
          <a:ln w="9525">
            <a:noFill/>
            <a:miter lim="800000"/>
            <a:headEnd/>
            <a:tailEnd/>
          </a:ln>
          <a:effectLst/>
        </p:spPr>
        <p:txBody>
          <a:bodyPr wrap="square">
            <a:spAutoFit/>
          </a:bodyPr>
          <a:lstStyle/>
          <a:p>
            <a:pPr algn="l">
              <a:spcBef>
                <a:spcPct val="50000"/>
              </a:spcBef>
            </a:pPr>
            <a:r>
              <a:rPr lang="zh-CN" altLang="en-US" sz="2000" dirty="0">
                <a:solidFill>
                  <a:srgbClr val="FF0000"/>
                </a:solidFill>
                <a:latin typeface="Consolas" pitchFamily="49" charset="0"/>
                <a:ea typeface="华文中宋" pitchFamily="2" charset="-122"/>
                <a:cs typeface="Consolas" pitchFamily="49" charset="0"/>
              </a:rPr>
              <a:t>提示：</a:t>
            </a:r>
            <a:r>
              <a:rPr lang="zh-CN" altLang="en-US" sz="2000" dirty="0">
                <a:latin typeface="Consolas" pitchFamily="49" charset="0"/>
                <a:ea typeface="华文中宋" pitchFamily="2" charset="-122"/>
                <a:cs typeface="Consolas" pitchFamily="49" charset="0"/>
              </a:rPr>
              <a:t>同样本例算法可以基于任何一种遍历算法。</a:t>
            </a:r>
          </a:p>
        </p:txBody>
      </p:sp>
    </p:spTree>
    <p:extLst>
      <p:ext uri="{BB962C8B-B14F-4D97-AF65-F5344CB8AC3E}">
        <p14:creationId xmlns:p14="http://schemas.microsoft.com/office/powerpoint/2010/main" val="3777507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B7B4C26-43DA-0AF2-AECD-97A94B3E79E9}"/>
            </a:ext>
          </a:extLst>
        </p:cNvPr>
        <p:cNvGrpSpPr/>
        <p:nvPr/>
      </p:nvGrpSpPr>
      <p:grpSpPr>
        <a:xfrm>
          <a:off x="0" y="0"/>
          <a:ext cx="0" cy="0"/>
          <a:chOff x="0" y="0"/>
          <a:chExt cx="0" cy="0"/>
        </a:xfrm>
      </p:grpSpPr>
      <p:cxnSp>
        <p:nvCxnSpPr>
          <p:cNvPr id="3" name="直接连接符 2">
            <a:extLst>
              <a:ext uri="{FF2B5EF4-FFF2-40B4-BE49-F238E27FC236}">
                <a16:creationId xmlns:a16="http://schemas.microsoft.com/office/drawing/2014/main" xmlns="" id="{250BA417-1A3E-ECDE-185A-AABDC01E38AF}"/>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xmlns="" id="{83D4C182-1601-485A-CFEA-55BDB8C51444}"/>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
        <p:nvSpPr>
          <p:cNvPr id="2" name="TextBox 25">
            <a:extLst>
              <a:ext uri="{FF2B5EF4-FFF2-40B4-BE49-F238E27FC236}">
                <a16:creationId xmlns:a16="http://schemas.microsoft.com/office/drawing/2014/main" xmlns="" id="{A1567492-76F2-58C0-25EF-BCEDEA179443}"/>
              </a:ext>
            </a:extLst>
          </p:cNvPr>
          <p:cNvSpPr txBox="1"/>
          <p:nvPr/>
        </p:nvSpPr>
        <p:spPr>
          <a:xfrm>
            <a:off x="3493617" y="890671"/>
            <a:ext cx="5643602" cy="400110"/>
          </a:xfrm>
          <a:prstGeom prst="rect">
            <a:avLst/>
          </a:prstGeom>
          <a:noFill/>
        </p:spPr>
        <p:txBody>
          <a:bodyPr wrap="square" rtlCol="0">
            <a:spAutoFit/>
          </a:bodyPr>
          <a:lstStyle/>
          <a:p>
            <a:pPr algn="l"/>
            <a:r>
              <a:rPr lang="zh-CN" altLang="en-US" sz="2000">
                <a:latin typeface="Consolas" pitchFamily="49" charset="0"/>
                <a:ea typeface="楷体" pitchFamily="49" charset="-122"/>
                <a:cs typeface="Consolas" pitchFamily="49" charset="0"/>
              </a:rPr>
              <a:t>假设二叉树中</a:t>
            </a:r>
            <a:r>
              <a:rPr kumimoji="1" lang="zh-CN" altLang="en-US" sz="2000">
                <a:latin typeface="Consolas" pitchFamily="49" charset="0"/>
                <a:ea typeface="楷体" pitchFamily="49" charset="-122"/>
                <a:cs typeface="Consolas" pitchFamily="49" charset="0"/>
              </a:rPr>
              <a:t>每个结点值唯一（均为单个字符）</a:t>
            </a:r>
            <a:endParaRPr lang="zh-CN" altLang="en-US" sz="2000">
              <a:latin typeface="Consolas" pitchFamily="49" charset="0"/>
              <a:ea typeface="楷体" pitchFamily="49" charset="-122"/>
              <a:cs typeface="Consolas" pitchFamily="49" charset="0"/>
            </a:endParaRPr>
          </a:p>
        </p:txBody>
      </p:sp>
      <p:sp>
        <p:nvSpPr>
          <p:cNvPr id="7" name="TextBox 26">
            <a:extLst>
              <a:ext uri="{FF2B5EF4-FFF2-40B4-BE49-F238E27FC236}">
                <a16:creationId xmlns:a16="http://schemas.microsoft.com/office/drawing/2014/main" xmlns="" id="{CC61EFB7-2264-1054-A227-EF7E5299B883}"/>
              </a:ext>
            </a:extLst>
          </p:cNvPr>
          <p:cNvSpPr txBox="1"/>
          <p:nvPr/>
        </p:nvSpPr>
        <p:spPr>
          <a:xfrm>
            <a:off x="4708063" y="1605051"/>
            <a:ext cx="2643206" cy="400110"/>
          </a:xfrm>
          <a:prstGeom prst="rect">
            <a:avLst/>
          </a:prstGeom>
          <a:noFill/>
        </p:spPr>
        <p:txBody>
          <a:bodyPr wrap="square" rtlCol="0">
            <a:spAutoFit/>
          </a:bodyPr>
          <a:lstStyle/>
          <a:p>
            <a:pPr algn="l"/>
            <a:r>
              <a:rPr lang="zh-CN" altLang="en-US" sz="2000" dirty="0">
                <a:latin typeface="华文中宋" pitchFamily="2" charset="-122"/>
                <a:ea typeface="华文中宋" pitchFamily="2" charset="-122"/>
              </a:rPr>
              <a:t>给定若干个遍历序列</a:t>
            </a:r>
          </a:p>
        </p:txBody>
      </p:sp>
      <p:sp>
        <p:nvSpPr>
          <p:cNvPr id="8" name="TextBox 27">
            <a:extLst>
              <a:ext uri="{FF2B5EF4-FFF2-40B4-BE49-F238E27FC236}">
                <a16:creationId xmlns:a16="http://schemas.microsoft.com/office/drawing/2014/main" xmlns="" id="{121393CF-3EFD-7D7F-F268-AD0B1370B819}"/>
              </a:ext>
            </a:extLst>
          </p:cNvPr>
          <p:cNvSpPr txBox="1"/>
          <p:nvPr/>
        </p:nvSpPr>
        <p:spPr>
          <a:xfrm>
            <a:off x="5351005" y="2748059"/>
            <a:ext cx="1000132" cy="400110"/>
          </a:xfrm>
          <a:prstGeom prst="rect">
            <a:avLst/>
          </a:prstGeom>
          <a:noFill/>
        </p:spPr>
        <p:txBody>
          <a:bodyPr wrap="square" rtlCol="0">
            <a:spAutoFit/>
          </a:bodyPr>
          <a:lstStyle/>
          <a:p>
            <a:pPr algn="l"/>
            <a:r>
              <a:rPr lang="zh-CN" altLang="en-US" sz="2000">
                <a:latin typeface="微软雅黑" pitchFamily="34" charset="-122"/>
                <a:ea typeface="微软雅黑" pitchFamily="34" charset="-122"/>
              </a:rPr>
              <a:t>二叉树</a:t>
            </a:r>
          </a:p>
        </p:txBody>
      </p:sp>
      <p:sp>
        <p:nvSpPr>
          <p:cNvPr id="9" name="下箭头 28">
            <a:extLst>
              <a:ext uri="{FF2B5EF4-FFF2-40B4-BE49-F238E27FC236}">
                <a16:creationId xmlns:a16="http://schemas.microsoft.com/office/drawing/2014/main" xmlns="" id="{9CAE2167-F120-8269-37CD-3B4729FC1E99}"/>
              </a:ext>
            </a:extLst>
          </p:cNvPr>
          <p:cNvSpPr/>
          <p:nvPr/>
        </p:nvSpPr>
        <p:spPr>
          <a:xfrm>
            <a:off x="5779633" y="2105117"/>
            <a:ext cx="142876" cy="500066"/>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000"/>
          </a:p>
        </p:txBody>
      </p:sp>
      <p:sp>
        <p:nvSpPr>
          <p:cNvPr id="10" name="TextBox 29">
            <a:extLst>
              <a:ext uri="{FF2B5EF4-FFF2-40B4-BE49-F238E27FC236}">
                <a16:creationId xmlns:a16="http://schemas.microsoft.com/office/drawing/2014/main" xmlns="" id="{79E2CCA1-D07D-DBA3-B1D3-0A30CA3FCCD1}"/>
              </a:ext>
            </a:extLst>
          </p:cNvPr>
          <p:cNvSpPr txBox="1"/>
          <p:nvPr/>
        </p:nvSpPr>
        <p:spPr>
          <a:xfrm>
            <a:off x="5993947" y="2176555"/>
            <a:ext cx="714380" cy="400110"/>
          </a:xfrm>
          <a:prstGeom prst="rect">
            <a:avLst/>
          </a:prstGeom>
          <a:noFill/>
        </p:spPr>
        <p:txBody>
          <a:bodyPr wrap="square" rtlCol="0">
            <a:spAutoFit/>
          </a:bodyPr>
          <a:lstStyle/>
          <a:p>
            <a:r>
              <a:rPr lang="zh-CN" altLang="en-US" sz="2000">
                <a:latin typeface="仿宋" pitchFamily="49" charset="-122"/>
                <a:ea typeface="仿宋" pitchFamily="49" charset="-122"/>
              </a:rPr>
              <a:t>构造</a:t>
            </a:r>
          </a:p>
        </p:txBody>
      </p:sp>
      <p:sp>
        <p:nvSpPr>
          <p:cNvPr id="11" name="Text Box 3">
            <a:extLst>
              <a:ext uri="{FF2B5EF4-FFF2-40B4-BE49-F238E27FC236}">
                <a16:creationId xmlns:a16="http://schemas.microsoft.com/office/drawing/2014/main" xmlns="" id="{C550E672-2527-5EB9-C4B2-7C2408876FC5}"/>
              </a:ext>
            </a:extLst>
          </p:cNvPr>
          <p:cNvSpPr txBox="1">
            <a:spLocks noChangeArrowheads="1"/>
          </p:cNvSpPr>
          <p:nvPr/>
        </p:nvSpPr>
        <p:spPr bwMode="auto">
          <a:xfrm>
            <a:off x="1631504" y="3317521"/>
            <a:ext cx="9649072" cy="984858"/>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342900" indent="-342900" algn="just">
              <a:lnSpc>
                <a:spcPts val="2800"/>
              </a:lnSpc>
              <a:spcBef>
                <a:spcPts val="600"/>
              </a:spcBef>
              <a:buBlip>
                <a:blip r:embed="rId2"/>
              </a:buBlip>
            </a:pPr>
            <a:r>
              <a:rPr kumimoji="1" lang="zh-CN" altLang="en-US" sz="2000" dirty="0">
                <a:latin typeface="Consolas" pitchFamily="49" charset="0"/>
                <a:ea typeface="仿宋" pitchFamily="49" charset="-122"/>
                <a:cs typeface="Consolas" pitchFamily="49" charset="0"/>
              </a:rPr>
              <a:t>同一棵二叉树具有</a:t>
            </a:r>
            <a:r>
              <a:rPr kumimoji="1" lang="zh-CN" altLang="en-US" sz="2000" dirty="0">
                <a:solidFill>
                  <a:srgbClr val="CC00FF"/>
                </a:solidFill>
                <a:latin typeface="Consolas" pitchFamily="49" charset="0"/>
                <a:ea typeface="仿宋" pitchFamily="49" charset="-122"/>
                <a:cs typeface="Consolas" pitchFamily="49" charset="0"/>
              </a:rPr>
              <a:t>唯一</a:t>
            </a:r>
            <a:r>
              <a:rPr kumimoji="1" lang="zh-CN" altLang="en-US" sz="2000" dirty="0">
                <a:latin typeface="Consolas" pitchFamily="49" charset="0"/>
                <a:ea typeface="仿宋" pitchFamily="49" charset="-122"/>
                <a:cs typeface="Consolas" pitchFamily="49" charset="0"/>
              </a:rPr>
              <a:t>先序序列、中序序列和后序序列。</a:t>
            </a:r>
            <a:endParaRPr kumimoji="1" lang="en-US" altLang="zh-CN" sz="2000" dirty="0">
              <a:latin typeface="Consolas" pitchFamily="49" charset="0"/>
              <a:ea typeface="仿宋" pitchFamily="49" charset="-122"/>
              <a:cs typeface="Consolas" pitchFamily="49" charset="0"/>
            </a:endParaRPr>
          </a:p>
          <a:p>
            <a:pPr marL="342900" indent="-342900" algn="just">
              <a:lnSpc>
                <a:spcPts val="2800"/>
              </a:lnSpc>
              <a:spcBef>
                <a:spcPts val="600"/>
              </a:spcBef>
              <a:buBlip>
                <a:blip r:embed="rId2"/>
              </a:buBlip>
            </a:pPr>
            <a:r>
              <a:rPr kumimoji="1" lang="zh-CN" altLang="en-US" sz="2000" dirty="0">
                <a:latin typeface="Consolas" pitchFamily="49" charset="0"/>
                <a:ea typeface="仿宋" pitchFamily="49" charset="-122"/>
                <a:cs typeface="Consolas" pitchFamily="49" charset="0"/>
              </a:rPr>
              <a:t>但</a:t>
            </a:r>
            <a:r>
              <a:rPr kumimoji="1" lang="zh-CN" altLang="en-US" sz="2000" dirty="0">
                <a:solidFill>
                  <a:srgbClr val="CC00FF"/>
                </a:solidFill>
                <a:latin typeface="Consolas" pitchFamily="49" charset="0"/>
                <a:ea typeface="仿宋" pitchFamily="49" charset="-122"/>
                <a:cs typeface="Consolas" pitchFamily="49" charset="0"/>
              </a:rPr>
              <a:t>不同的二叉树可能</a:t>
            </a:r>
            <a:r>
              <a:rPr kumimoji="1" lang="zh-CN" altLang="en-US" sz="2000" dirty="0">
                <a:latin typeface="Consolas" pitchFamily="49" charset="0"/>
                <a:ea typeface="仿宋" pitchFamily="49" charset="-122"/>
                <a:cs typeface="Consolas" pitchFamily="49" charset="0"/>
              </a:rPr>
              <a:t>具有相同的先序序列、中序序列或后序序列。　　</a:t>
            </a:r>
          </a:p>
        </p:txBody>
      </p:sp>
      <p:sp>
        <p:nvSpPr>
          <p:cNvPr id="12" name="Text Box 4">
            <a:extLst>
              <a:ext uri="{FF2B5EF4-FFF2-40B4-BE49-F238E27FC236}">
                <a16:creationId xmlns:a16="http://schemas.microsoft.com/office/drawing/2014/main" xmlns="" id="{DB0A8C9E-40B2-F329-A993-76D9162B4CDF}"/>
              </a:ext>
            </a:extLst>
          </p:cNvPr>
          <p:cNvSpPr txBox="1">
            <a:spLocks noChangeArrowheads="1"/>
          </p:cNvSpPr>
          <p:nvPr/>
        </p:nvSpPr>
        <p:spPr bwMode="auto">
          <a:xfrm>
            <a:off x="1534976" y="2924944"/>
            <a:ext cx="857256" cy="400110"/>
          </a:xfrm>
          <a:prstGeom prst="rect">
            <a:avLst/>
          </a:prstGeom>
          <a:noFill/>
          <a:ln w="9525" algn="ctr">
            <a:noFill/>
            <a:miter lim="800000"/>
            <a:headEnd/>
            <a:tailEnd type="none" w="med" len="lg"/>
          </a:ln>
          <a:effectLst/>
        </p:spPr>
        <p:txBody>
          <a:bodyPr wrap="square">
            <a:spAutoFit/>
          </a:bodyPr>
          <a:lstStyle/>
          <a:p>
            <a:pPr algn="l">
              <a:spcBef>
                <a:spcPct val="50000"/>
              </a:spcBef>
            </a:pPr>
            <a:r>
              <a:rPr lang="zh-CN" altLang="en-US" sz="2000" spc="300" dirty="0">
                <a:solidFill>
                  <a:srgbClr val="FF0000"/>
                </a:solidFill>
                <a:latin typeface="微软雅黑" pitchFamily="34" charset="-122"/>
                <a:ea typeface="微软雅黑" pitchFamily="34" charset="-122"/>
              </a:rPr>
              <a:t>回顾</a:t>
            </a:r>
          </a:p>
        </p:txBody>
      </p:sp>
      <p:grpSp>
        <p:nvGrpSpPr>
          <p:cNvPr id="13" name="组合 23">
            <a:extLst>
              <a:ext uri="{FF2B5EF4-FFF2-40B4-BE49-F238E27FC236}">
                <a16:creationId xmlns:a16="http://schemas.microsoft.com/office/drawing/2014/main" xmlns="" id="{9326E846-BF7F-2522-94A7-B517434DE235}"/>
              </a:ext>
            </a:extLst>
          </p:cNvPr>
          <p:cNvGrpSpPr/>
          <p:nvPr/>
        </p:nvGrpSpPr>
        <p:grpSpPr>
          <a:xfrm>
            <a:off x="1743386" y="4332307"/>
            <a:ext cx="7091412" cy="2357454"/>
            <a:chOff x="857224" y="3929066"/>
            <a:chExt cx="7091412" cy="2357454"/>
          </a:xfrm>
        </p:grpSpPr>
        <p:sp>
          <p:nvSpPr>
            <p:cNvPr id="14" name="椭圆 13">
              <a:extLst>
                <a:ext uri="{FF2B5EF4-FFF2-40B4-BE49-F238E27FC236}">
                  <a16:creationId xmlns:a16="http://schemas.microsoft.com/office/drawing/2014/main" xmlns="" id="{B2AA87C9-76A1-9D6D-18B8-BBA3B6267F4D}"/>
                </a:ext>
              </a:extLst>
            </p:cNvPr>
            <p:cNvSpPr/>
            <p:nvPr/>
          </p:nvSpPr>
          <p:spPr>
            <a:xfrm>
              <a:off x="1714480" y="450057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a:solidFill>
                    <a:srgbClr val="FF0000"/>
                  </a:solidFill>
                  <a:latin typeface="Consolas" pitchFamily="49" charset="0"/>
                  <a:cs typeface="Consolas" pitchFamily="49" charset="0"/>
                </a:rPr>
                <a:t>A</a:t>
              </a:r>
              <a:endParaRPr lang="zh-CN" altLang="en-US" sz="1800" b="0">
                <a:solidFill>
                  <a:srgbClr val="FF0000"/>
                </a:solidFill>
                <a:latin typeface="Consolas" pitchFamily="49" charset="0"/>
                <a:cs typeface="Consolas" pitchFamily="49" charset="0"/>
              </a:endParaRPr>
            </a:p>
          </p:txBody>
        </p:sp>
        <p:sp>
          <p:nvSpPr>
            <p:cNvPr id="15" name="椭圆 14">
              <a:extLst>
                <a:ext uri="{FF2B5EF4-FFF2-40B4-BE49-F238E27FC236}">
                  <a16:creationId xmlns:a16="http://schemas.microsoft.com/office/drawing/2014/main" xmlns="" id="{654F3C95-7249-7A91-527C-72CE2F39B694}"/>
                </a:ext>
              </a:extLst>
            </p:cNvPr>
            <p:cNvSpPr/>
            <p:nvPr/>
          </p:nvSpPr>
          <p:spPr>
            <a:xfrm>
              <a:off x="1071538" y="5214950"/>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a:solidFill>
                    <a:srgbClr val="FF0000"/>
                  </a:solidFill>
                  <a:latin typeface="Consolas" pitchFamily="49" charset="0"/>
                  <a:cs typeface="Consolas" pitchFamily="49" charset="0"/>
                </a:rPr>
                <a:t>B</a:t>
              </a:r>
              <a:endParaRPr lang="zh-CN" altLang="en-US" sz="1800" b="0">
                <a:solidFill>
                  <a:srgbClr val="FF0000"/>
                </a:solidFill>
                <a:latin typeface="Consolas" pitchFamily="49" charset="0"/>
                <a:cs typeface="Consolas" pitchFamily="49" charset="0"/>
              </a:endParaRPr>
            </a:p>
          </p:txBody>
        </p:sp>
        <p:sp>
          <p:nvSpPr>
            <p:cNvPr id="16" name="椭圆 15">
              <a:extLst>
                <a:ext uri="{FF2B5EF4-FFF2-40B4-BE49-F238E27FC236}">
                  <a16:creationId xmlns:a16="http://schemas.microsoft.com/office/drawing/2014/main" xmlns="" id="{45311491-BAD2-54C8-414D-B9EBE7AEBE14}"/>
                </a:ext>
              </a:extLst>
            </p:cNvPr>
            <p:cNvSpPr/>
            <p:nvPr/>
          </p:nvSpPr>
          <p:spPr>
            <a:xfrm>
              <a:off x="1714480" y="585789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a:solidFill>
                    <a:srgbClr val="FF0000"/>
                  </a:solidFill>
                  <a:latin typeface="Consolas" pitchFamily="49" charset="0"/>
                  <a:cs typeface="Consolas" pitchFamily="49" charset="0"/>
                </a:rPr>
                <a:t>C</a:t>
              </a:r>
              <a:endParaRPr lang="zh-CN" altLang="en-US" sz="1800" b="0">
                <a:solidFill>
                  <a:srgbClr val="FF0000"/>
                </a:solidFill>
                <a:latin typeface="Consolas" pitchFamily="49" charset="0"/>
                <a:cs typeface="Consolas" pitchFamily="49" charset="0"/>
              </a:endParaRPr>
            </a:p>
          </p:txBody>
        </p:sp>
        <p:sp>
          <p:nvSpPr>
            <p:cNvPr id="17" name="椭圆 16">
              <a:extLst>
                <a:ext uri="{FF2B5EF4-FFF2-40B4-BE49-F238E27FC236}">
                  <a16:creationId xmlns:a16="http://schemas.microsoft.com/office/drawing/2014/main" xmlns="" id="{F02CB419-6035-DAD0-E918-A31C6CA6C24A}"/>
                </a:ext>
              </a:extLst>
            </p:cNvPr>
            <p:cNvSpPr/>
            <p:nvPr/>
          </p:nvSpPr>
          <p:spPr>
            <a:xfrm>
              <a:off x="3428992" y="478632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a:solidFill>
                    <a:srgbClr val="FF0000"/>
                  </a:solidFill>
                  <a:latin typeface="Consolas" pitchFamily="49" charset="0"/>
                  <a:cs typeface="Consolas" pitchFamily="49" charset="0"/>
                </a:rPr>
                <a:t>A</a:t>
              </a:r>
              <a:endParaRPr lang="zh-CN" altLang="en-US" sz="1800" b="0">
                <a:solidFill>
                  <a:srgbClr val="FF0000"/>
                </a:solidFill>
                <a:latin typeface="Consolas" pitchFamily="49" charset="0"/>
                <a:cs typeface="Consolas" pitchFamily="49" charset="0"/>
              </a:endParaRPr>
            </a:p>
          </p:txBody>
        </p:sp>
        <p:sp>
          <p:nvSpPr>
            <p:cNvPr id="18" name="椭圆 17">
              <a:extLst>
                <a:ext uri="{FF2B5EF4-FFF2-40B4-BE49-F238E27FC236}">
                  <a16:creationId xmlns:a16="http://schemas.microsoft.com/office/drawing/2014/main" xmlns="" id="{1EBB3534-6A15-F1A1-15B9-003C631A3315}"/>
                </a:ext>
              </a:extLst>
            </p:cNvPr>
            <p:cNvSpPr/>
            <p:nvPr/>
          </p:nvSpPr>
          <p:spPr>
            <a:xfrm>
              <a:off x="2786050" y="550070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a:solidFill>
                    <a:srgbClr val="FF0000"/>
                  </a:solidFill>
                  <a:latin typeface="Consolas" pitchFamily="49" charset="0"/>
                  <a:cs typeface="Consolas" pitchFamily="49" charset="0"/>
                </a:rPr>
                <a:t>B</a:t>
              </a:r>
              <a:endParaRPr lang="zh-CN" altLang="en-US" sz="1800" b="0">
                <a:solidFill>
                  <a:srgbClr val="FF0000"/>
                </a:solidFill>
                <a:latin typeface="Consolas" pitchFamily="49" charset="0"/>
                <a:cs typeface="Consolas" pitchFamily="49" charset="0"/>
              </a:endParaRPr>
            </a:p>
          </p:txBody>
        </p:sp>
        <p:sp>
          <p:nvSpPr>
            <p:cNvPr id="19" name="椭圆 18">
              <a:extLst>
                <a:ext uri="{FF2B5EF4-FFF2-40B4-BE49-F238E27FC236}">
                  <a16:creationId xmlns:a16="http://schemas.microsoft.com/office/drawing/2014/main" xmlns="" id="{EB96D7BC-384D-3A87-81AF-199C29D453D4}"/>
                </a:ext>
              </a:extLst>
            </p:cNvPr>
            <p:cNvSpPr/>
            <p:nvPr/>
          </p:nvSpPr>
          <p:spPr>
            <a:xfrm>
              <a:off x="4143372" y="5500702"/>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a:solidFill>
                    <a:srgbClr val="FF0000"/>
                  </a:solidFill>
                  <a:latin typeface="Consolas" pitchFamily="49" charset="0"/>
                  <a:cs typeface="Consolas" pitchFamily="49" charset="0"/>
                </a:rPr>
                <a:t>C</a:t>
              </a:r>
              <a:endParaRPr lang="zh-CN" altLang="en-US" sz="1800" b="0">
                <a:solidFill>
                  <a:srgbClr val="FF0000"/>
                </a:solidFill>
                <a:latin typeface="Consolas" pitchFamily="49" charset="0"/>
                <a:cs typeface="Consolas" pitchFamily="49" charset="0"/>
              </a:endParaRPr>
            </a:p>
          </p:txBody>
        </p:sp>
        <p:cxnSp>
          <p:nvCxnSpPr>
            <p:cNvPr id="20" name="直接连接符 19">
              <a:extLst>
                <a:ext uri="{FF2B5EF4-FFF2-40B4-BE49-F238E27FC236}">
                  <a16:creationId xmlns:a16="http://schemas.microsoft.com/office/drawing/2014/main" xmlns="" id="{47ADE640-50CE-576C-F67B-831C0E218457}"/>
                </a:ext>
              </a:extLst>
            </p:cNvPr>
            <p:cNvCxnSpPr>
              <a:stCxn id="14" idx="3"/>
              <a:endCxn id="15" idx="7"/>
            </p:cNvCxnSpPr>
            <p:nvPr/>
          </p:nvCxnSpPr>
          <p:spPr>
            <a:xfrm rot="5400000">
              <a:off x="1401676" y="4902146"/>
              <a:ext cx="411294" cy="33985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xmlns="" id="{8B946C77-7EEA-81DB-C268-5913CD93557C}"/>
                </a:ext>
              </a:extLst>
            </p:cNvPr>
            <p:cNvCxnSpPr>
              <a:stCxn id="15" idx="5"/>
              <a:endCxn id="16" idx="1"/>
            </p:cNvCxnSpPr>
            <p:nvPr/>
          </p:nvCxnSpPr>
          <p:spPr>
            <a:xfrm rot="16200000" flipH="1">
              <a:off x="1437395" y="5580807"/>
              <a:ext cx="339856" cy="33985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xmlns="" id="{9B53BFA3-14D6-3E8F-CF9C-BC5D8CC236EC}"/>
                </a:ext>
              </a:extLst>
            </p:cNvPr>
            <p:cNvCxnSpPr>
              <a:stCxn id="17" idx="3"/>
              <a:endCxn id="18" idx="7"/>
            </p:cNvCxnSpPr>
            <p:nvPr/>
          </p:nvCxnSpPr>
          <p:spPr>
            <a:xfrm rot="5400000">
              <a:off x="3116188" y="5187898"/>
              <a:ext cx="411294" cy="33985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xmlns="" id="{7002FE24-188E-6122-AAE1-2771A40A5DB0}"/>
                </a:ext>
              </a:extLst>
            </p:cNvPr>
            <p:cNvCxnSpPr>
              <a:stCxn id="17" idx="5"/>
              <a:endCxn id="19" idx="1"/>
            </p:cNvCxnSpPr>
            <p:nvPr/>
          </p:nvCxnSpPr>
          <p:spPr>
            <a:xfrm rot="16200000" flipH="1">
              <a:off x="3794849" y="5152179"/>
              <a:ext cx="411294" cy="411294"/>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4" name="右箭头 20">
              <a:extLst>
                <a:ext uri="{FF2B5EF4-FFF2-40B4-BE49-F238E27FC236}">
                  <a16:creationId xmlns:a16="http://schemas.microsoft.com/office/drawing/2014/main" xmlns="" id="{1C8E58E5-AC84-817C-7314-6FC9FEC5DAE6}"/>
                </a:ext>
              </a:extLst>
            </p:cNvPr>
            <p:cNvSpPr/>
            <p:nvPr/>
          </p:nvSpPr>
          <p:spPr>
            <a:xfrm>
              <a:off x="4857752" y="5214950"/>
              <a:ext cx="571504" cy="28575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b="0">
                <a:latin typeface="Consolas" pitchFamily="49" charset="0"/>
                <a:cs typeface="Consolas" pitchFamily="49" charset="0"/>
              </a:endParaRPr>
            </a:p>
          </p:txBody>
        </p:sp>
        <p:sp>
          <p:nvSpPr>
            <p:cNvPr id="25" name="TextBox 21">
              <a:extLst>
                <a:ext uri="{FF2B5EF4-FFF2-40B4-BE49-F238E27FC236}">
                  <a16:creationId xmlns:a16="http://schemas.microsoft.com/office/drawing/2014/main" xmlns="" id="{0EA6DC69-10E6-E579-F736-DE2224EDF35B}"/>
                </a:ext>
              </a:extLst>
            </p:cNvPr>
            <p:cNvSpPr txBox="1"/>
            <p:nvPr/>
          </p:nvSpPr>
          <p:spPr>
            <a:xfrm>
              <a:off x="5662620" y="5126608"/>
              <a:ext cx="2286016" cy="400110"/>
            </a:xfrm>
            <a:prstGeom prst="rect">
              <a:avLst/>
            </a:prstGeom>
            <a:noFill/>
          </p:spPr>
          <p:txBody>
            <a:bodyPr wrap="square" rtlCol="0">
              <a:spAutoFit/>
            </a:bodyPr>
            <a:lstStyle/>
            <a:p>
              <a:pPr algn="l"/>
              <a:r>
                <a:rPr kumimoji="1" lang="zh-CN" altLang="en-US" sz="2000">
                  <a:latin typeface="Consolas" pitchFamily="49" charset="0"/>
                  <a:ea typeface="仿宋" pitchFamily="49" charset="-122"/>
                  <a:cs typeface="Consolas" pitchFamily="49" charset="0"/>
                </a:rPr>
                <a:t>先序序列</a:t>
              </a:r>
              <a:r>
                <a:rPr lang="zh-CN" altLang="en-US" sz="2000">
                  <a:latin typeface="Consolas" pitchFamily="49" charset="0"/>
                  <a:ea typeface="仿宋" pitchFamily="49" charset="-122"/>
                  <a:cs typeface="Consolas" pitchFamily="49" charset="0"/>
                </a:rPr>
                <a:t>均为</a:t>
              </a:r>
              <a:r>
                <a:rPr lang="en-US" altLang="zh-CN" sz="2000">
                  <a:latin typeface="Consolas" pitchFamily="49" charset="0"/>
                  <a:ea typeface="仿宋" pitchFamily="49" charset="-122"/>
                  <a:cs typeface="Consolas" pitchFamily="49" charset="0"/>
                </a:rPr>
                <a:t>ABC</a:t>
              </a:r>
              <a:endParaRPr lang="zh-CN" altLang="en-US" sz="2000">
                <a:latin typeface="Consolas" pitchFamily="49" charset="0"/>
                <a:ea typeface="仿宋" pitchFamily="49" charset="-122"/>
                <a:cs typeface="Consolas" pitchFamily="49" charset="0"/>
              </a:endParaRPr>
            </a:p>
          </p:txBody>
        </p:sp>
        <p:sp>
          <p:nvSpPr>
            <p:cNvPr id="26" name="TextBox 22">
              <a:extLst>
                <a:ext uri="{FF2B5EF4-FFF2-40B4-BE49-F238E27FC236}">
                  <a16:creationId xmlns:a16="http://schemas.microsoft.com/office/drawing/2014/main" xmlns="" id="{4EF261A1-5603-3E8D-F115-0854D080A4EF}"/>
                </a:ext>
              </a:extLst>
            </p:cNvPr>
            <p:cNvSpPr txBox="1"/>
            <p:nvPr/>
          </p:nvSpPr>
          <p:spPr>
            <a:xfrm>
              <a:off x="857224" y="3929066"/>
              <a:ext cx="1500198" cy="400110"/>
            </a:xfrm>
            <a:prstGeom prst="rect">
              <a:avLst/>
            </a:prstGeom>
            <a:noFill/>
          </p:spPr>
          <p:txBody>
            <a:bodyPr wrap="square" rtlCol="0">
              <a:spAutoFit/>
            </a:bodyPr>
            <a:lstStyle/>
            <a:p>
              <a:pPr algn="l"/>
              <a:r>
                <a:rPr lang="zh-CN" altLang="en-US" sz="2000">
                  <a:latin typeface="Consolas" pitchFamily="49" charset="0"/>
                  <a:ea typeface="楷体" pitchFamily="49" charset="-122"/>
                  <a:cs typeface="Consolas" pitchFamily="49" charset="0"/>
                </a:rPr>
                <a:t>例如</a:t>
              </a:r>
            </a:p>
          </p:txBody>
        </p:sp>
      </p:grpSp>
    </p:spTree>
    <p:extLst>
      <p:ext uri="{BB962C8B-B14F-4D97-AF65-F5344CB8AC3E}">
        <p14:creationId xmlns:p14="http://schemas.microsoft.com/office/powerpoint/2010/main" val="2570325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1021664-DEF5-FFE0-7731-605BCBA8F0CC}"/>
            </a:ext>
          </a:extLst>
        </p:cNvPr>
        <p:cNvGrpSpPr/>
        <p:nvPr/>
      </p:nvGrpSpPr>
      <p:grpSpPr>
        <a:xfrm>
          <a:off x="0" y="0"/>
          <a:ext cx="0" cy="0"/>
          <a:chOff x="0" y="0"/>
          <a:chExt cx="0" cy="0"/>
        </a:xfrm>
      </p:grpSpPr>
      <p:cxnSp>
        <p:nvCxnSpPr>
          <p:cNvPr id="3" name="直接连接符 2">
            <a:extLst>
              <a:ext uri="{FF2B5EF4-FFF2-40B4-BE49-F238E27FC236}">
                <a16:creationId xmlns:a16="http://schemas.microsoft.com/office/drawing/2014/main" xmlns="" id="{17BAA243-E78B-1A86-0FF6-60E9A3CA56A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xmlns="" id="{659AB3AF-9940-0B3F-1B78-5A15113D51FB}"/>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
        <p:nvSpPr>
          <p:cNvPr id="4" name="TextBox 2">
            <a:extLst>
              <a:ext uri="{FF2B5EF4-FFF2-40B4-BE49-F238E27FC236}">
                <a16:creationId xmlns:a16="http://schemas.microsoft.com/office/drawing/2014/main" xmlns="" id="{627928FB-4C9F-FE2B-EEEC-3637E9E76D63}"/>
              </a:ext>
            </a:extLst>
          </p:cNvPr>
          <p:cNvSpPr txBox="1"/>
          <p:nvPr/>
        </p:nvSpPr>
        <p:spPr>
          <a:xfrm>
            <a:off x="1703512" y="1484784"/>
            <a:ext cx="7858180" cy="116143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lIns="180000" tIns="144000" bIns="144000" rtlCol="0">
            <a:spAutoFit/>
          </a:bodyPr>
          <a:lstStyle/>
          <a:p>
            <a:pPr algn="l">
              <a:lnSpc>
                <a:spcPct val="150000"/>
              </a:lnSpc>
            </a:pPr>
            <a:r>
              <a:rPr kumimoji="1" lang="zh-CN" altLang="en-US" sz="2000">
                <a:solidFill>
                  <a:srgbClr val="3333FF"/>
                </a:solidFill>
                <a:latin typeface="Consolas" pitchFamily="49" charset="0"/>
                <a:ea typeface="仿宋" pitchFamily="49" charset="-122"/>
                <a:cs typeface="Consolas" pitchFamily="49" charset="0"/>
              </a:rPr>
              <a:t>    给定一棵二叉树的一种遍历序列（先序序列、中序序列或后序序列）不能唯一确定该二叉树。　</a:t>
            </a:r>
            <a:endParaRPr lang="zh-CN" altLang="en-US" sz="2000">
              <a:solidFill>
                <a:srgbClr val="3333FF"/>
              </a:solidFill>
            </a:endParaRPr>
          </a:p>
        </p:txBody>
      </p:sp>
      <p:sp>
        <p:nvSpPr>
          <p:cNvPr id="5" name="Text Box 4">
            <a:extLst>
              <a:ext uri="{FF2B5EF4-FFF2-40B4-BE49-F238E27FC236}">
                <a16:creationId xmlns:a16="http://schemas.microsoft.com/office/drawing/2014/main" xmlns="" id="{6CB7A2B4-1E2C-57D4-4A1B-95896A8AF8A8}"/>
              </a:ext>
            </a:extLst>
          </p:cNvPr>
          <p:cNvSpPr txBox="1">
            <a:spLocks noChangeArrowheads="1"/>
          </p:cNvSpPr>
          <p:nvPr/>
        </p:nvSpPr>
        <p:spPr bwMode="auto">
          <a:xfrm>
            <a:off x="1703512" y="913280"/>
            <a:ext cx="857256" cy="400110"/>
          </a:xfrm>
          <a:prstGeom prst="rect">
            <a:avLst/>
          </a:prstGeom>
          <a:noFill/>
          <a:ln w="9525" algn="ctr">
            <a:noFill/>
            <a:miter lim="800000"/>
            <a:headEnd/>
            <a:tailEnd type="none" w="med" len="lg"/>
          </a:ln>
          <a:effectLst/>
        </p:spPr>
        <p:txBody>
          <a:bodyPr wrap="square">
            <a:spAutoFit/>
          </a:bodyPr>
          <a:lstStyle/>
          <a:p>
            <a:pPr algn="l">
              <a:spcBef>
                <a:spcPct val="50000"/>
              </a:spcBef>
            </a:pPr>
            <a:r>
              <a:rPr lang="zh-CN" altLang="en-US" sz="2000" spc="300">
                <a:solidFill>
                  <a:srgbClr val="FF0000"/>
                </a:solidFill>
                <a:latin typeface="微软雅黑" pitchFamily="34" charset="-122"/>
                <a:ea typeface="微软雅黑" pitchFamily="34" charset="-122"/>
              </a:rPr>
              <a:t>结论</a:t>
            </a:r>
            <a:endParaRPr lang="zh-CN" altLang="en-US" sz="2000" spc="300" dirty="0">
              <a:solidFill>
                <a:srgbClr val="FF0000"/>
              </a:solidFill>
              <a:latin typeface="微软雅黑" pitchFamily="34" charset="-122"/>
              <a:ea typeface="微软雅黑" pitchFamily="34" charset="-122"/>
            </a:endParaRPr>
          </a:p>
        </p:txBody>
      </p:sp>
      <p:grpSp>
        <p:nvGrpSpPr>
          <p:cNvPr id="27" name="组合 26">
            <a:extLst>
              <a:ext uri="{FF2B5EF4-FFF2-40B4-BE49-F238E27FC236}">
                <a16:creationId xmlns:a16="http://schemas.microsoft.com/office/drawing/2014/main" xmlns="" id="{E211580B-71E3-E7B9-9C28-670D77D8C434}"/>
              </a:ext>
            </a:extLst>
          </p:cNvPr>
          <p:cNvGrpSpPr/>
          <p:nvPr/>
        </p:nvGrpSpPr>
        <p:grpSpPr>
          <a:xfrm>
            <a:off x="9333548" y="4399364"/>
            <a:ext cx="727070" cy="1784358"/>
            <a:chOff x="8001024" y="2643182"/>
            <a:chExt cx="727070" cy="1784358"/>
          </a:xfrm>
        </p:grpSpPr>
        <p:sp>
          <p:nvSpPr>
            <p:cNvPr id="28" name="Text Box 5">
              <a:extLst>
                <a:ext uri="{FF2B5EF4-FFF2-40B4-BE49-F238E27FC236}">
                  <a16:creationId xmlns:a16="http://schemas.microsoft.com/office/drawing/2014/main" xmlns="" id="{1AA12241-A852-6AD6-80D1-EF2A9C26FED5}"/>
                </a:ext>
              </a:extLst>
            </p:cNvPr>
            <p:cNvSpPr txBox="1">
              <a:spLocks noChangeArrowheads="1"/>
            </p:cNvSpPr>
            <p:nvPr/>
          </p:nvSpPr>
          <p:spPr bwMode="auto">
            <a:xfrm>
              <a:off x="8001024" y="2643182"/>
              <a:ext cx="720725" cy="579438"/>
            </a:xfrm>
            <a:prstGeom prst="rect">
              <a:avLst/>
            </a:prstGeom>
            <a:noFill/>
            <a:ln w="9525">
              <a:noFill/>
              <a:miter lim="800000"/>
              <a:headEnd/>
              <a:tailEnd/>
            </a:ln>
            <a:effectLst/>
          </p:spPr>
          <p:txBody>
            <a:bodyPr>
              <a:spAutoFit/>
            </a:bodyPr>
            <a:lstStyle/>
            <a:p>
              <a:pPr algn="l">
                <a:spcBef>
                  <a:spcPct val="50000"/>
                </a:spcBef>
              </a:pPr>
              <a:r>
                <a:rPr lang="en-US" altLang="zh-CN" sz="3200" b="0" dirty="0">
                  <a:solidFill>
                    <a:srgbClr val="FF0000"/>
                  </a:solidFill>
                  <a:latin typeface="Verdana" pitchFamily="34" charset="0"/>
                  <a:ea typeface="宋体" pitchFamily="2" charset="-122"/>
                  <a:sym typeface="Wingdings" pitchFamily="2" charset="2"/>
                </a:rPr>
                <a:t></a:t>
              </a:r>
              <a:r>
                <a:rPr lang="en-US" altLang="zh-CN" sz="3200" b="0" dirty="0">
                  <a:solidFill>
                    <a:srgbClr val="FF0000"/>
                  </a:solidFill>
                  <a:latin typeface="Verdana" pitchFamily="34" charset="0"/>
                  <a:ea typeface="宋体" pitchFamily="2" charset="-122"/>
                </a:rPr>
                <a:t> </a:t>
              </a:r>
            </a:p>
          </p:txBody>
        </p:sp>
        <p:sp>
          <p:nvSpPr>
            <p:cNvPr id="29" name="Text Box 6">
              <a:extLst>
                <a:ext uri="{FF2B5EF4-FFF2-40B4-BE49-F238E27FC236}">
                  <a16:creationId xmlns:a16="http://schemas.microsoft.com/office/drawing/2014/main" xmlns="" id="{6D1F27A2-9F18-7CDF-15B9-1E62D628F671}"/>
                </a:ext>
              </a:extLst>
            </p:cNvPr>
            <p:cNvSpPr txBox="1">
              <a:spLocks noChangeArrowheads="1"/>
            </p:cNvSpPr>
            <p:nvPr/>
          </p:nvSpPr>
          <p:spPr bwMode="auto">
            <a:xfrm>
              <a:off x="8007369" y="3206752"/>
              <a:ext cx="720725" cy="579438"/>
            </a:xfrm>
            <a:prstGeom prst="rect">
              <a:avLst/>
            </a:prstGeom>
            <a:noFill/>
            <a:ln w="9525">
              <a:noFill/>
              <a:miter lim="800000"/>
              <a:headEnd/>
              <a:tailEnd/>
            </a:ln>
            <a:effectLst/>
          </p:spPr>
          <p:txBody>
            <a:bodyPr>
              <a:spAutoFit/>
            </a:bodyPr>
            <a:lstStyle/>
            <a:p>
              <a:pPr algn="l">
                <a:spcBef>
                  <a:spcPct val="50000"/>
                </a:spcBef>
              </a:pPr>
              <a:r>
                <a:rPr lang="en-US" altLang="zh-CN" sz="3200" b="0">
                  <a:solidFill>
                    <a:srgbClr val="FF0000"/>
                  </a:solidFill>
                  <a:latin typeface="Verdana" pitchFamily="34" charset="0"/>
                  <a:ea typeface="宋体" pitchFamily="2" charset="-122"/>
                  <a:sym typeface="Wingdings" pitchFamily="2" charset="2"/>
                </a:rPr>
                <a:t></a:t>
              </a:r>
              <a:r>
                <a:rPr lang="en-US" altLang="zh-CN" sz="3200" b="0">
                  <a:solidFill>
                    <a:srgbClr val="FF0000"/>
                  </a:solidFill>
                  <a:latin typeface="Verdana" pitchFamily="34" charset="0"/>
                  <a:ea typeface="宋体" pitchFamily="2" charset="-122"/>
                </a:rPr>
                <a:t> </a:t>
              </a:r>
            </a:p>
          </p:txBody>
        </p:sp>
        <p:sp>
          <p:nvSpPr>
            <p:cNvPr id="30" name="Text Box 7">
              <a:extLst>
                <a:ext uri="{FF2B5EF4-FFF2-40B4-BE49-F238E27FC236}">
                  <a16:creationId xmlns:a16="http://schemas.microsoft.com/office/drawing/2014/main" xmlns="" id="{F65C0A07-4B26-89A2-89A8-A5CDD9CFACE4}"/>
                </a:ext>
              </a:extLst>
            </p:cNvPr>
            <p:cNvSpPr txBox="1">
              <a:spLocks noChangeArrowheads="1"/>
            </p:cNvSpPr>
            <p:nvPr/>
          </p:nvSpPr>
          <p:spPr bwMode="auto">
            <a:xfrm>
              <a:off x="8007369" y="3786190"/>
              <a:ext cx="720725" cy="641350"/>
            </a:xfrm>
            <a:prstGeom prst="rect">
              <a:avLst/>
            </a:prstGeom>
            <a:noFill/>
            <a:ln w="9525">
              <a:noFill/>
              <a:miter lim="800000"/>
              <a:headEnd/>
              <a:tailEnd/>
            </a:ln>
            <a:effectLst/>
          </p:spPr>
          <p:txBody>
            <a:bodyPr>
              <a:spAutoFit/>
            </a:bodyPr>
            <a:lstStyle/>
            <a:p>
              <a:pPr algn="l">
                <a:spcBef>
                  <a:spcPct val="50000"/>
                </a:spcBef>
              </a:pPr>
              <a:r>
                <a:rPr lang="en-US" altLang="zh-CN" sz="3600" b="0">
                  <a:solidFill>
                    <a:srgbClr val="FF0000"/>
                  </a:solidFill>
                  <a:latin typeface="Verdana" pitchFamily="34" charset="0"/>
                  <a:ea typeface="宋体" pitchFamily="2" charset="-122"/>
                  <a:sym typeface="Wingdings" pitchFamily="2" charset="2"/>
                </a:rPr>
                <a:t></a:t>
              </a:r>
              <a:r>
                <a:rPr lang="en-US" altLang="zh-CN" sz="3200" b="0">
                  <a:solidFill>
                    <a:srgbClr val="FF0000"/>
                  </a:solidFill>
                  <a:latin typeface="Verdana" pitchFamily="34" charset="0"/>
                  <a:ea typeface="宋体" pitchFamily="2" charset="-122"/>
                  <a:sym typeface="Wingdings" pitchFamily="2" charset="2"/>
                </a:rPr>
                <a:t> </a:t>
              </a:r>
              <a:r>
                <a:rPr lang="en-US" altLang="zh-CN" sz="3200" b="0">
                  <a:solidFill>
                    <a:srgbClr val="FF0000"/>
                  </a:solidFill>
                  <a:latin typeface="Verdana" pitchFamily="34" charset="0"/>
                  <a:ea typeface="宋体" pitchFamily="2" charset="-122"/>
                </a:rPr>
                <a:t> </a:t>
              </a:r>
            </a:p>
          </p:txBody>
        </p:sp>
      </p:grpSp>
      <p:grpSp>
        <p:nvGrpSpPr>
          <p:cNvPr id="31" name="组合 30">
            <a:extLst>
              <a:ext uri="{FF2B5EF4-FFF2-40B4-BE49-F238E27FC236}">
                <a16:creationId xmlns:a16="http://schemas.microsoft.com/office/drawing/2014/main" xmlns="" id="{A24F9F99-9947-5E1A-8578-A72A986A4896}"/>
              </a:ext>
            </a:extLst>
          </p:cNvPr>
          <p:cNvGrpSpPr/>
          <p:nvPr/>
        </p:nvGrpSpPr>
        <p:grpSpPr>
          <a:xfrm>
            <a:off x="1559496" y="3537346"/>
            <a:ext cx="7715304" cy="2815500"/>
            <a:chOff x="500034" y="1857364"/>
            <a:chExt cx="7715304" cy="2815500"/>
          </a:xfrm>
        </p:grpSpPr>
        <p:sp>
          <p:nvSpPr>
            <p:cNvPr id="32" name="Text Box 4">
              <a:extLst>
                <a:ext uri="{FF2B5EF4-FFF2-40B4-BE49-F238E27FC236}">
                  <a16:creationId xmlns:a16="http://schemas.microsoft.com/office/drawing/2014/main" xmlns="" id="{BB53AB10-5C7D-8711-B2B5-81A188A5919D}"/>
                </a:ext>
              </a:extLst>
            </p:cNvPr>
            <p:cNvSpPr txBox="1">
              <a:spLocks noChangeArrowheads="1"/>
            </p:cNvSpPr>
            <p:nvPr/>
          </p:nvSpPr>
          <p:spPr bwMode="auto">
            <a:xfrm>
              <a:off x="500034" y="2571744"/>
              <a:ext cx="7715304" cy="2101120"/>
            </a:xfrm>
            <a:prstGeom prst="rect">
              <a:avLst/>
            </a:prstGeom>
            <a:solidFill>
              <a:schemeClr val="bg1">
                <a:lumMod val="95000"/>
              </a:schemeClr>
            </a:solid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wrap="square" lIns="180000" tIns="72000" bIns="180000">
              <a:spAutoFit/>
            </a:bodyPr>
            <a:lstStyle/>
            <a:p>
              <a:pPr marL="342900" indent="-342900" algn="l">
                <a:lnSpc>
                  <a:spcPct val="200000"/>
                </a:lnSpc>
                <a:buBlip>
                  <a:blip r:embed="rId2"/>
                </a:buBlip>
              </a:pPr>
              <a:r>
                <a:rPr kumimoji="1" lang="zh-CN" altLang="en-US" sz="2000">
                  <a:solidFill>
                    <a:srgbClr val="3333FF"/>
                  </a:solidFill>
                  <a:latin typeface="楷体" pitchFamily="49" charset="-122"/>
                  <a:ea typeface="楷体" pitchFamily="49" charset="-122"/>
                </a:rPr>
                <a:t>给</a:t>
              </a:r>
              <a:r>
                <a:rPr kumimoji="1" lang="zh-CN" altLang="en-US" sz="2000" dirty="0">
                  <a:solidFill>
                    <a:srgbClr val="3333FF"/>
                  </a:solidFill>
                  <a:latin typeface="楷体" pitchFamily="49" charset="-122"/>
                  <a:ea typeface="楷体" pitchFamily="49" charset="-122"/>
                </a:rPr>
                <a:t>定一棵二叉树的先序序列和中序</a:t>
              </a:r>
              <a:r>
                <a:rPr kumimoji="1" lang="zh-CN" altLang="en-US" sz="2000">
                  <a:solidFill>
                    <a:srgbClr val="3333FF"/>
                  </a:solidFill>
                  <a:latin typeface="楷体" pitchFamily="49" charset="-122"/>
                  <a:ea typeface="楷体" pitchFamily="49" charset="-122"/>
                </a:rPr>
                <a:t>序列能</a:t>
              </a:r>
              <a:r>
                <a:rPr kumimoji="1" lang="zh-CN" altLang="en-US" sz="2000" dirty="0">
                  <a:solidFill>
                    <a:srgbClr val="3333FF"/>
                  </a:solidFill>
                  <a:latin typeface="楷体" pitchFamily="49" charset="-122"/>
                  <a:ea typeface="楷体" pitchFamily="49" charset="-122"/>
                </a:rPr>
                <a:t>唯一确定这棵二叉树。</a:t>
              </a:r>
              <a:r>
                <a:rPr kumimoji="1" lang="zh-CN" altLang="en-US" sz="2000" b="0" dirty="0">
                  <a:solidFill>
                    <a:srgbClr val="3333FF"/>
                  </a:solidFill>
                  <a:latin typeface="楷体" pitchFamily="49" charset="-122"/>
                  <a:ea typeface="楷体" pitchFamily="49" charset="-122"/>
                </a:rPr>
                <a:t> </a:t>
              </a:r>
            </a:p>
            <a:p>
              <a:pPr marL="342900" indent="-342900" algn="l">
                <a:lnSpc>
                  <a:spcPct val="200000"/>
                </a:lnSpc>
                <a:buBlip>
                  <a:blip r:embed="rId2"/>
                </a:buBlip>
              </a:pPr>
              <a:r>
                <a:rPr kumimoji="1" lang="zh-CN" altLang="en-US" sz="2000">
                  <a:solidFill>
                    <a:srgbClr val="3333FF"/>
                  </a:solidFill>
                  <a:latin typeface="楷体" pitchFamily="49" charset="-122"/>
                  <a:ea typeface="楷体" pitchFamily="49" charset="-122"/>
                </a:rPr>
                <a:t>给</a:t>
              </a:r>
              <a:r>
                <a:rPr kumimoji="1" lang="zh-CN" altLang="en-US" sz="2000" dirty="0">
                  <a:solidFill>
                    <a:srgbClr val="3333FF"/>
                  </a:solidFill>
                  <a:latin typeface="楷体" pitchFamily="49" charset="-122"/>
                  <a:ea typeface="楷体" pitchFamily="49" charset="-122"/>
                </a:rPr>
                <a:t>定一棵二叉树的中序序列和后序</a:t>
              </a:r>
              <a:r>
                <a:rPr kumimoji="1" lang="zh-CN" altLang="en-US" sz="2000">
                  <a:solidFill>
                    <a:srgbClr val="3333FF"/>
                  </a:solidFill>
                  <a:latin typeface="楷体" pitchFamily="49" charset="-122"/>
                  <a:ea typeface="楷体" pitchFamily="49" charset="-122"/>
                </a:rPr>
                <a:t>序列能</a:t>
              </a:r>
              <a:r>
                <a:rPr kumimoji="1" lang="zh-CN" altLang="en-US" sz="2000" dirty="0">
                  <a:solidFill>
                    <a:srgbClr val="3333FF"/>
                  </a:solidFill>
                  <a:latin typeface="楷体" pitchFamily="49" charset="-122"/>
                  <a:ea typeface="楷体" pitchFamily="49" charset="-122"/>
                </a:rPr>
                <a:t>唯一确定这棵二叉树。</a:t>
              </a:r>
              <a:r>
                <a:rPr kumimoji="1" lang="zh-CN" altLang="en-US" sz="2000" b="0" dirty="0">
                  <a:solidFill>
                    <a:srgbClr val="3333FF"/>
                  </a:solidFill>
                  <a:latin typeface="楷体" pitchFamily="49" charset="-122"/>
                  <a:ea typeface="楷体" pitchFamily="49" charset="-122"/>
                </a:rPr>
                <a:t> </a:t>
              </a:r>
              <a:endParaRPr lang="zh-CN" altLang="en-US" sz="2000" b="0" dirty="0">
                <a:solidFill>
                  <a:srgbClr val="3333FF"/>
                </a:solidFill>
                <a:latin typeface="楷体" pitchFamily="49" charset="-122"/>
                <a:ea typeface="楷体" pitchFamily="49" charset="-122"/>
              </a:endParaRPr>
            </a:p>
            <a:p>
              <a:pPr marL="342900" indent="-342900" algn="l">
                <a:lnSpc>
                  <a:spcPct val="200000"/>
                </a:lnSpc>
                <a:buBlip>
                  <a:blip r:embed="rId2"/>
                </a:buBlip>
              </a:pPr>
              <a:r>
                <a:rPr kumimoji="1" lang="zh-CN" altLang="en-US" sz="2000">
                  <a:solidFill>
                    <a:srgbClr val="3333FF"/>
                  </a:solidFill>
                  <a:latin typeface="楷体" pitchFamily="49" charset="-122"/>
                  <a:ea typeface="楷体" pitchFamily="49" charset="-122"/>
                </a:rPr>
                <a:t>给</a:t>
              </a:r>
              <a:r>
                <a:rPr kumimoji="1" lang="zh-CN" altLang="en-US" sz="2000" dirty="0">
                  <a:solidFill>
                    <a:srgbClr val="3333FF"/>
                  </a:solidFill>
                  <a:latin typeface="楷体" pitchFamily="49" charset="-122"/>
                  <a:ea typeface="楷体" pitchFamily="49" charset="-122"/>
                </a:rPr>
                <a:t>定一棵二叉树的先序序列和后序</a:t>
              </a:r>
              <a:r>
                <a:rPr kumimoji="1" lang="zh-CN" altLang="en-US" sz="2000">
                  <a:solidFill>
                    <a:srgbClr val="3333FF"/>
                  </a:solidFill>
                  <a:latin typeface="楷体" pitchFamily="49" charset="-122"/>
                  <a:ea typeface="楷体" pitchFamily="49" charset="-122"/>
                </a:rPr>
                <a:t>序列能</a:t>
              </a:r>
              <a:r>
                <a:rPr kumimoji="1" lang="zh-CN" altLang="en-US" sz="2000" dirty="0">
                  <a:solidFill>
                    <a:srgbClr val="3333FF"/>
                  </a:solidFill>
                  <a:latin typeface="楷体" pitchFamily="49" charset="-122"/>
                  <a:ea typeface="楷体" pitchFamily="49" charset="-122"/>
                </a:rPr>
                <a:t>唯一确定这棵二叉树。</a:t>
              </a:r>
              <a:r>
                <a:rPr kumimoji="1" lang="zh-CN" altLang="en-US" sz="2000" b="0" dirty="0">
                  <a:solidFill>
                    <a:srgbClr val="3333FF"/>
                  </a:solidFill>
                  <a:latin typeface="楷体" pitchFamily="49" charset="-122"/>
                  <a:ea typeface="楷体" pitchFamily="49" charset="-122"/>
                </a:rPr>
                <a:t> </a:t>
              </a:r>
              <a:endParaRPr lang="zh-CN" altLang="en-US" sz="2000" b="0" dirty="0">
                <a:solidFill>
                  <a:srgbClr val="3333FF"/>
                </a:solidFill>
                <a:latin typeface="楷体" pitchFamily="49" charset="-122"/>
                <a:ea typeface="楷体" pitchFamily="49" charset="-122"/>
              </a:endParaRPr>
            </a:p>
          </p:txBody>
        </p:sp>
        <p:sp>
          <p:nvSpPr>
            <p:cNvPr id="33" name="TextBox 6">
              <a:extLst>
                <a:ext uri="{FF2B5EF4-FFF2-40B4-BE49-F238E27FC236}">
                  <a16:creationId xmlns:a16="http://schemas.microsoft.com/office/drawing/2014/main" xmlns="" id="{3F9DA8B0-74A3-67B9-2410-73BC18DAF7D9}"/>
                </a:ext>
              </a:extLst>
            </p:cNvPr>
            <p:cNvSpPr txBox="1"/>
            <p:nvPr/>
          </p:nvSpPr>
          <p:spPr>
            <a:xfrm>
              <a:off x="642910" y="1857364"/>
              <a:ext cx="2316152" cy="400110"/>
            </a:xfrm>
            <a:prstGeom prst="rect">
              <a:avLst/>
            </a:prstGeom>
            <a:noFill/>
          </p:spPr>
          <p:txBody>
            <a:bodyPr wrap="square" rtlCol="0">
              <a:spAutoFit/>
            </a:bodyPr>
            <a:lstStyle/>
            <a:p>
              <a:pPr algn="l"/>
              <a:r>
                <a:rPr kumimoji="1" lang="zh-CN" altLang="en-US" sz="2000">
                  <a:solidFill>
                    <a:srgbClr val="FF0000"/>
                  </a:solidFill>
                  <a:latin typeface="华文中宋" pitchFamily="2" charset="-122"/>
                  <a:ea typeface="华文中宋" pitchFamily="2" charset="-122"/>
                </a:rPr>
                <a:t>以下命题</a:t>
              </a:r>
              <a:r>
                <a:rPr kumimoji="1" lang="zh-CN" altLang="en-US" sz="2000" dirty="0">
                  <a:solidFill>
                    <a:srgbClr val="FF0000"/>
                  </a:solidFill>
                  <a:latin typeface="华文中宋" pitchFamily="2" charset="-122"/>
                  <a:ea typeface="华文中宋" pitchFamily="2" charset="-122"/>
                </a:rPr>
                <a:t>成立否？</a:t>
              </a:r>
              <a:endParaRPr lang="zh-CN" altLang="en-US" sz="2000" dirty="0">
                <a:latin typeface="华文中宋" pitchFamily="2" charset="-122"/>
                <a:ea typeface="华文中宋" pitchFamily="2" charset="-122"/>
              </a:endParaRPr>
            </a:p>
          </p:txBody>
        </p:sp>
      </p:grpSp>
      <p:sp>
        <p:nvSpPr>
          <p:cNvPr id="34" name="TextBox 9">
            <a:extLst>
              <a:ext uri="{FF2B5EF4-FFF2-40B4-BE49-F238E27FC236}">
                <a16:creationId xmlns:a16="http://schemas.microsoft.com/office/drawing/2014/main" xmlns="" id="{235B41C4-C59E-4453-90F7-DD467C5F650A}"/>
              </a:ext>
            </a:extLst>
          </p:cNvPr>
          <p:cNvSpPr txBox="1"/>
          <p:nvPr/>
        </p:nvSpPr>
        <p:spPr>
          <a:xfrm>
            <a:off x="1559496" y="2827728"/>
            <a:ext cx="3500462" cy="400110"/>
          </a:xfrm>
          <a:prstGeom prst="rect">
            <a:avLst/>
          </a:prstGeom>
          <a:noFill/>
        </p:spPr>
        <p:txBody>
          <a:bodyPr wrap="square" rtlCol="0">
            <a:spAutoFit/>
          </a:bodyPr>
          <a:lstStyle/>
          <a:p>
            <a:pPr algn="l"/>
            <a:r>
              <a:rPr lang="zh-CN" altLang="en-US" sz="2000">
                <a:latin typeface="楷体" pitchFamily="49" charset="-122"/>
                <a:ea typeface="楷体" pitchFamily="49" charset="-122"/>
              </a:rPr>
              <a:t>那么给定两种</a:t>
            </a:r>
            <a:r>
              <a:rPr kumimoji="1" lang="zh-CN" altLang="en-US" sz="2000">
                <a:latin typeface="楷体" pitchFamily="49" charset="-122"/>
                <a:ea typeface="楷体" pitchFamily="49" charset="-122"/>
                <a:cs typeface="Consolas" pitchFamily="49" charset="0"/>
              </a:rPr>
              <a:t>遍历序列呢？</a:t>
            </a:r>
            <a:endParaRPr lang="zh-CN" altLang="en-US" sz="2000">
              <a:latin typeface="楷体" pitchFamily="49" charset="-122"/>
              <a:ea typeface="楷体" pitchFamily="49" charset="-122"/>
            </a:endParaRPr>
          </a:p>
        </p:txBody>
      </p:sp>
    </p:spTree>
    <p:extLst>
      <p:ext uri="{BB962C8B-B14F-4D97-AF65-F5344CB8AC3E}">
        <p14:creationId xmlns:p14="http://schemas.microsoft.com/office/powerpoint/2010/main" val="65735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txBox="1">
            <a:spLocks noChangeArrowheads="1"/>
          </p:cNvSpPr>
          <p:nvPr/>
        </p:nvSpPr>
        <p:spPr>
          <a:xfrm>
            <a:off x="2366046" y="2062072"/>
            <a:ext cx="1077888" cy="57606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思考：</a:t>
            </a:r>
          </a:p>
        </p:txBody>
      </p:sp>
      <p:sp>
        <p:nvSpPr>
          <p:cNvPr id="29" name="Text Box 2"/>
          <p:cNvSpPr txBox="1">
            <a:spLocks noChangeArrowheads="1"/>
          </p:cNvSpPr>
          <p:nvPr/>
        </p:nvSpPr>
        <p:spPr bwMode="auto">
          <a:xfrm>
            <a:off x="2351583" y="3358217"/>
            <a:ext cx="46370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由二叉树的先序和中序序列建树</a:t>
            </a:r>
          </a:p>
        </p:txBody>
      </p:sp>
      <p:sp>
        <p:nvSpPr>
          <p:cNvPr id="31" name="Text Box 4"/>
          <p:cNvSpPr txBox="1">
            <a:spLocks noChangeArrowheads="1"/>
          </p:cNvSpPr>
          <p:nvPr/>
        </p:nvSpPr>
        <p:spPr bwMode="auto">
          <a:xfrm>
            <a:off x="2956842" y="4100752"/>
            <a:ext cx="2867635" cy="470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二叉树的先序序列</a:t>
            </a:r>
          </a:p>
        </p:txBody>
      </p:sp>
      <p:sp>
        <p:nvSpPr>
          <p:cNvPr id="32" name="Text Box 5"/>
          <p:cNvSpPr txBox="1">
            <a:spLocks noChangeArrowheads="1"/>
          </p:cNvSpPr>
          <p:nvPr/>
        </p:nvSpPr>
        <p:spPr bwMode="auto">
          <a:xfrm>
            <a:off x="2958620" y="5109048"/>
            <a:ext cx="2762895" cy="470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二叉树的中序序列</a:t>
            </a:r>
          </a:p>
        </p:txBody>
      </p:sp>
      <p:sp>
        <p:nvSpPr>
          <p:cNvPr id="33" name="Text Box 6"/>
          <p:cNvSpPr txBox="1">
            <a:spLocks noChangeArrowheads="1"/>
          </p:cNvSpPr>
          <p:nvPr/>
        </p:nvSpPr>
        <p:spPr bwMode="auto">
          <a:xfrm>
            <a:off x="6451045" y="5109048"/>
            <a:ext cx="1160463" cy="461665"/>
          </a:xfrm>
          <a:prstGeom prst="rect">
            <a:avLst/>
          </a:prstGeom>
          <a:solidFill>
            <a:srgbClr val="CCFFCC"/>
          </a:solidFill>
          <a:ln w="31750" cap="sq">
            <a:solidFill>
              <a:srgbClr val="0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spcBef>
                <a:spcPct val="50000"/>
              </a:spcBef>
              <a:buClrTx/>
              <a:buSzTx/>
              <a:buFontTx/>
              <a:buNone/>
            </a:pPr>
            <a:r>
              <a:rPr kumimoji="1" lang="zh-CN" altLang="en-US" sz="2400" dirty="0">
                <a:latin typeface="微软雅黑" pitchFamily="34" charset="-122"/>
                <a:ea typeface="微软雅黑" pitchFamily="34" charset="-122"/>
                <a:cs typeface="经典粗黑简" pitchFamily="49" charset="-122"/>
              </a:rPr>
              <a:t>左子树</a:t>
            </a:r>
          </a:p>
        </p:txBody>
      </p:sp>
      <p:sp>
        <p:nvSpPr>
          <p:cNvPr id="34" name="Text Box 7"/>
          <p:cNvSpPr txBox="1">
            <a:spLocks noChangeArrowheads="1"/>
          </p:cNvSpPr>
          <p:nvPr/>
        </p:nvSpPr>
        <p:spPr bwMode="auto">
          <a:xfrm>
            <a:off x="7092279" y="4100752"/>
            <a:ext cx="1143000" cy="461665"/>
          </a:xfrm>
          <a:prstGeom prst="rect">
            <a:avLst/>
          </a:prstGeom>
          <a:solidFill>
            <a:srgbClr val="CCFFCC"/>
          </a:solidFill>
          <a:ln w="31750" cap="sq">
            <a:solidFill>
              <a:srgbClr val="008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spcBef>
                <a:spcPct val="50000"/>
              </a:spcBef>
              <a:buClrTx/>
              <a:buSzTx/>
              <a:buFontTx/>
              <a:buNone/>
            </a:pPr>
            <a:r>
              <a:rPr kumimoji="1" lang="zh-CN" altLang="en-US" sz="2400" dirty="0">
                <a:latin typeface="微软雅黑" pitchFamily="34" charset="-122"/>
                <a:ea typeface="微软雅黑" pitchFamily="34" charset="-122"/>
                <a:cs typeface="经典粗黑简" pitchFamily="49" charset="-122"/>
              </a:rPr>
              <a:t>左子树</a:t>
            </a:r>
          </a:p>
        </p:txBody>
      </p:sp>
      <p:sp>
        <p:nvSpPr>
          <p:cNvPr id="35" name="Text Box 8"/>
          <p:cNvSpPr txBox="1">
            <a:spLocks noChangeArrowheads="1"/>
          </p:cNvSpPr>
          <p:nvPr/>
        </p:nvSpPr>
        <p:spPr bwMode="auto">
          <a:xfrm>
            <a:off x="8387679" y="4100752"/>
            <a:ext cx="1143000" cy="461665"/>
          </a:xfrm>
          <a:prstGeom prst="rect">
            <a:avLst/>
          </a:prstGeom>
          <a:solidFill>
            <a:srgbClr val="CCECFF"/>
          </a:solidFill>
          <a:ln w="31750" cap="sq">
            <a:solidFill>
              <a:srgbClr val="00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spcBef>
                <a:spcPct val="50000"/>
              </a:spcBef>
              <a:buClrTx/>
              <a:buSzTx/>
              <a:buFontTx/>
              <a:buNone/>
            </a:pPr>
            <a:r>
              <a:rPr kumimoji="1" lang="zh-CN" altLang="en-US" sz="2400" dirty="0">
                <a:latin typeface="微软雅黑" pitchFamily="34" charset="-122"/>
                <a:ea typeface="微软雅黑" pitchFamily="34" charset="-122"/>
                <a:cs typeface="经典粗黑简" pitchFamily="49" charset="-122"/>
              </a:rPr>
              <a:t>右子树</a:t>
            </a:r>
          </a:p>
        </p:txBody>
      </p:sp>
      <p:sp>
        <p:nvSpPr>
          <p:cNvPr id="36" name="Text Box 9"/>
          <p:cNvSpPr txBox="1">
            <a:spLocks noChangeArrowheads="1"/>
          </p:cNvSpPr>
          <p:nvPr/>
        </p:nvSpPr>
        <p:spPr bwMode="auto">
          <a:xfrm>
            <a:off x="8433832" y="5109048"/>
            <a:ext cx="1143000" cy="461665"/>
          </a:xfrm>
          <a:prstGeom prst="rect">
            <a:avLst/>
          </a:prstGeom>
          <a:solidFill>
            <a:srgbClr val="CCECFF"/>
          </a:solidFill>
          <a:ln w="31750" cap="sq">
            <a:solidFill>
              <a:srgbClr val="00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spcBef>
                <a:spcPct val="50000"/>
              </a:spcBef>
              <a:buClrTx/>
              <a:buSzTx/>
              <a:buFontTx/>
              <a:buNone/>
            </a:pPr>
            <a:r>
              <a:rPr kumimoji="1" lang="zh-CN" altLang="en-US" sz="2400" dirty="0">
                <a:latin typeface="微软雅黑" pitchFamily="34" charset="-122"/>
                <a:ea typeface="微软雅黑" pitchFamily="34" charset="-122"/>
                <a:cs typeface="经典粗黑简" pitchFamily="49" charset="-122"/>
              </a:rPr>
              <a:t>右子树</a:t>
            </a:r>
          </a:p>
        </p:txBody>
      </p:sp>
      <p:sp>
        <p:nvSpPr>
          <p:cNvPr id="37" name="Oval 10"/>
          <p:cNvSpPr>
            <a:spLocks noChangeArrowheads="1"/>
          </p:cNvSpPr>
          <p:nvPr/>
        </p:nvSpPr>
        <p:spPr bwMode="auto">
          <a:xfrm>
            <a:off x="6481091" y="4100751"/>
            <a:ext cx="458788" cy="457200"/>
          </a:xfrm>
          <a:prstGeom prst="ellipse">
            <a:avLst/>
          </a:prstGeom>
          <a:solidFill>
            <a:schemeClr val="bg1"/>
          </a:solidFill>
          <a:ln w="31750" cap="sq">
            <a:solidFill>
              <a:srgbClr val="006666"/>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根</a:t>
            </a:r>
          </a:p>
        </p:txBody>
      </p:sp>
      <p:sp>
        <p:nvSpPr>
          <p:cNvPr id="38" name="Oval 11"/>
          <p:cNvSpPr>
            <a:spLocks noChangeArrowheads="1"/>
          </p:cNvSpPr>
          <p:nvPr/>
        </p:nvSpPr>
        <p:spPr bwMode="auto">
          <a:xfrm>
            <a:off x="7748032" y="5109048"/>
            <a:ext cx="533400" cy="485775"/>
          </a:xfrm>
          <a:prstGeom prst="ellipse">
            <a:avLst/>
          </a:prstGeom>
          <a:solidFill>
            <a:schemeClr val="bg1"/>
          </a:solidFill>
          <a:ln w="31750" cap="sq">
            <a:solidFill>
              <a:srgbClr val="006666"/>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根</a:t>
            </a:r>
          </a:p>
        </p:txBody>
      </p:sp>
      <p:sp>
        <p:nvSpPr>
          <p:cNvPr id="39" name="Rectangle 3"/>
          <p:cNvSpPr txBox="1">
            <a:spLocks noChangeArrowheads="1"/>
          </p:cNvSpPr>
          <p:nvPr/>
        </p:nvSpPr>
        <p:spPr>
          <a:xfrm>
            <a:off x="2351584" y="2636912"/>
            <a:ext cx="7773987" cy="57728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、怎样由二叉树的先序序列和中序序列构造一颗二叉树？</a:t>
            </a:r>
          </a:p>
        </p:txBody>
      </p:sp>
      <p:cxnSp>
        <p:nvCxnSpPr>
          <p:cNvPr id="3" name="直接连接符 2">
            <a:extLst>
              <a:ext uri="{FF2B5EF4-FFF2-40B4-BE49-F238E27FC236}">
                <a16:creationId xmlns:a16="http://schemas.microsoft.com/office/drawing/2014/main" xmlns="" id="{8AEC9B8A-E11C-6D28-0E8F-3C812687CE9A}"/>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xmlns="" id="{EB3FA6B3-FB19-86A2-B3A3-F529E56F2FDF}"/>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6" name="矩形 5">
            <a:extLst>
              <a:ext uri="{FF2B5EF4-FFF2-40B4-BE49-F238E27FC236}">
                <a16:creationId xmlns:a16="http://schemas.microsoft.com/office/drawing/2014/main" xmlns="" id="{D0968520-A5C8-2AEF-63C0-17BDF5D5A668}"/>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2662610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500" fill="hold"/>
                                        <p:tgtEl>
                                          <p:spTgt spid="37"/>
                                        </p:tgtEl>
                                        <p:attrNameLst>
                                          <p:attrName>ppt_x</p:attrName>
                                        </p:attrNameLst>
                                      </p:cBhvr>
                                      <p:tavLst>
                                        <p:tav tm="0">
                                          <p:val>
                                            <p:strVal val="#ppt_x-#ppt_w/2"/>
                                          </p:val>
                                        </p:tav>
                                        <p:tav tm="100000">
                                          <p:val>
                                            <p:strVal val="#ppt_x"/>
                                          </p:val>
                                        </p:tav>
                                      </p:tavLst>
                                    </p:anim>
                                    <p:anim calcmode="lin" valueType="num">
                                      <p:cBhvr>
                                        <p:cTn id="13" dur="500" fill="hold"/>
                                        <p:tgtEl>
                                          <p:spTgt spid="37"/>
                                        </p:tgtEl>
                                        <p:attrNameLst>
                                          <p:attrName>ppt_y</p:attrName>
                                        </p:attrNameLst>
                                      </p:cBhvr>
                                      <p:tavLst>
                                        <p:tav tm="0">
                                          <p:val>
                                            <p:strVal val="#ppt_y"/>
                                          </p:val>
                                        </p:tav>
                                        <p:tav tm="100000">
                                          <p:val>
                                            <p:strVal val="#ppt_y"/>
                                          </p:val>
                                        </p:tav>
                                      </p:tavLst>
                                    </p:anim>
                                    <p:anim calcmode="lin" valueType="num">
                                      <p:cBhvr>
                                        <p:cTn id="14" dur="500" fill="hold"/>
                                        <p:tgtEl>
                                          <p:spTgt spid="37"/>
                                        </p:tgtEl>
                                        <p:attrNameLst>
                                          <p:attrName>ppt_w</p:attrName>
                                        </p:attrNameLst>
                                      </p:cBhvr>
                                      <p:tavLst>
                                        <p:tav tm="0">
                                          <p:val>
                                            <p:fltVal val="0"/>
                                          </p:val>
                                        </p:tav>
                                        <p:tav tm="100000">
                                          <p:val>
                                            <p:strVal val="#ppt_w"/>
                                          </p:val>
                                        </p:tav>
                                      </p:tavLst>
                                    </p:anim>
                                    <p:anim calcmode="lin" valueType="num">
                                      <p:cBhvr>
                                        <p:cTn id="15" dur="500" fill="hold"/>
                                        <p:tgtEl>
                                          <p:spTgt spid="37"/>
                                        </p:tgtEl>
                                        <p:attrNameLst>
                                          <p:attrName>ppt_h</p:attrName>
                                        </p:attrNameLst>
                                      </p:cBhvr>
                                      <p:tavLst>
                                        <p:tav tm="0">
                                          <p:val>
                                            <p:strVal val="#ppt_h"/>
                                          </p:val>
                                        </p:tav>
                                        <p:tav tm="100000">
                                          <p:val>
                                            <p:strVal val="#ppt_h"/>
                                          </p:val>
                                        </p:tav>
                                      </p:tavLst>
                                    </p:anim>
                                  </p:childTnLst>
                                </p:cTn>
                              </p:par>
                            </p:childTnLst>
                          </p:cTn>
                        </p:par>
                        <p:par>
                          <p:cTn id="16" fill="hold">
                            <p:stCondLst>
                              <p:cond delay="500"/>
                            </p:stCondLst>
                            <p:childTnLst>
                              <p:par>
                                <p:cTn id="17" presetID="17" presetClass="entr" presetSubtype="8"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ppt_x</p:attrName>
                                        </p:attrNameLst>
                                      </p:cBhvr>
                                      <p:tavLst>
                                        <p:tav tm="0">
                                          <p:val>
                                            <p:strVal val="#ppt_x-#ppt_w/2"/>
                                          </p:val>
                                        </p:tav>
                                        <p:tav tm="100000">
                                          <p:val>
                                            <p:strVal val="#ppt_x"/>
                                          </p:val>
                                        </p:tav>
                                      </p:tavLst>
                                    </p:anim>
                                    <p:anim calcmode="lin" valueType="num">
                                      <p:cBhvr>
                                        <p:cTn id="20" dur="500" fill="hold"/>
                                        <p:tgtEl>
                                          <p:spTgt spid="34"/>
                                        </p:tgtEl>
                                        <p:attrNameLst>
                                          <p:attrName>ppt_y</p:attrName>
                                        </p:attrNameLst>
                                      </p:cBhvr>
                                      <p:tavLst>
                                        <p:tav tm="0">
                                          <p:val>
                                            <p:strVal val="#ppt_y"/>
                                          </p:val>
                                        </p:tav>
                                        <p:tav tm="100000">
                                          <p:val>
                                            <p:strVal val="#ppt_y"/>
                                          </p:val>
                                        </p:tav>
                                      </p:tavLst>
                                    </p:anim>
                                    <p:anim calcmode="lin" valueType="num">
                                      <p:cBhvr>
                                        <p:cTn id="21" dur="500" fill="hold"/>
                                        <p:tgtEl>
                                          <p:spTgt spid="34"/>
                                        </p:tgtEl>
                                        <p:attrNameLst>
                                          <p:attrName>ppt_w</p:attrName>
                                        </p:attrNameLst>
                                      </p:cBhvr>
                                      <p:tavLst>
                                        <p:tav tm="0">
                                          <p:val>
                                            <p:fltVal val="0"/>
                                          </p:val>
                                        </p:tav>
                                        <p:tav tm="100000">
                                          <p:val>
                                            <p:strVal val="#ppt_w"/>
                                          </p:val>
                                        </p:tav>
                                      </p:tavLst>
                                    </p:anim>
                                    <p:anim calcmode="lin" valueType="num">
                                      <p:cBhvr>
                                        <p:cTn id="22" dur="500" fill="hold"/>
                                        <p:tgtEl>
                                          <p:spTgt spid="34"/>
                                        </p:tgtEl>
                                        <p:attrNameLst>
                                          <p:attrName>ppt_h</p:attrName>
                                        </p:attrNameLst>
                                      </p:cBhvr>
                                      <p:tavLst>
                                        <p:tav tm="0">
                                          <p:val>
                                            <p:strVal val="#ppt_h"/>
                                          </p:val>
                                        </p:tav>
                                        <p:tav tm="100000">
                                          <p:val>
                                            <p:strVal val="#ppt_h"/>
                                          </p:val>
                                        </p:tav>
                                      </p:tavLst>
                                    </p:anim>
                                  </p:childTnLst>
                                </p:cTn>
                              </p:par>
                            </p:childTnLst>
                          </p:cTn>
                        </p:par>
                        <p:par>
                          <p:cTn id="23" fill="hold">
                            <p:stCondLst>
                              <p:cond delay="1000"/>
                            </p:stCondLst>
                            <p:childTnLst>
                              <p:par>
                                <p:cTn id="24" presetID="17" presetClass="entr" presetSubtype="8" fill="hold" grpId="0" nodeType="after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p:cTn id="26" dur="500" fill="hold"/>
                                        <p:tgtEl>
                                          <p:spTgt spid="35"/>
                                        </p:tgtEl>
                                        <p:attrNameLst>
                                          <p:attrName>ppt_x</p:attrName>
                                        </p:attrNameLst>
                                      </p:cBhvr>
                                      <p:tavLst>
                                        <p:tav tm="0">
                                          <p:val>
                                            <p:strVal val="#ppt_x-#ppt_w/2"/>
                                          </p:val>
                                        </p:tav>
                                        <p:tav tm="100000">
                                          <p:val>
                                            <p:strVal val="#ppt_x"/>
                                          </p:val>
                                        </p:tav>
                                      </p:tavLst>
                                    </p:anim>
                                    <p:anim calcmode="lin" valueType="num">
                                      <p:cBhvr>
                                        <p:cTn id="27" dur="500" fill="hold"/>
                                        <p:tgtEl>
                                          <p:spTgt spid="35"/>
                                        </p:tgtEl>
                                        <p:attrNameLst>
                                          <p:attrName>ppt_y</p:attrName>
                                        </p:attrNameLst>
                                      </p:cBhvr>
                                      <p:tavLst>
                                        <p:tav tm="0">
                                          <p:val>
                                            <p:strVal val="#ppt_y"/>
                                          </p:val>
                                        </p:tav>
                                        <p:tav tm="100000">
                                          <p:val>
                                            <p:strVal val="#ppt_y"/>
                                          </p:val>
                                        </p:tav>
                                      </p:tavLst>
                                    </p:anim>
                                    <p:anim calcmode="lin" valueType="num">
                                      <p:cBhvr>
                                        <p:cTn id="28" dur="500" fill="hold"/>
                                        <p:tgtEl>
                                          <p:spTgt spid="35"/>
                                        </p:tgtEl>
                                        <p:attrNameLst>
                                          <p:attrName>ppt_w</p:attrName>
                                        </p:attrNameLst>
                                      </p:cBhvr>
                                      <p:tavLst>
                                        <p:tav tm="0">
                                          <p:val>
                                            <p:fltVal val="0"/>
                                          </p:val>
                                        </p:tav>
                                        <p:tav tm="100000">
                                          <p:val>
                                            <p:strVal val="#ppt_w"/>
                                          </p:val>
                                        </p:tav>
                                      </p:tavLst>
                                    </p:anim>
                                    <p:anim calcmode="lin" valueType="num">
                                      <p:cBhvr>
                                        <p:cTn id="29" dur="500" fill="hold"/>
                                        <p:tgtEl>
                                          <p:spTgt spid="35"/>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wipe(left)">
                                      <p:cBhvr>
                                        <p:cTn id="34" dur="500"/>
                                        <p:tgtEl>
                                          <p:spTgt spid="32"/>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anim calcmode="lin" valueType="num">
                                      <p:cBhvr>
                                        <p:cTn id="39" dur="500" fill="hold"/>
                                        <p:tgtEl>
                                          <p:spTgt spid="33"/>
                                        </p:tgtEl>
                                        <p:attrNameLst>
                                          <p:attrName>ppt_x</p:attrName>
                                        </p:attrNameLst>
                                      </p:cBhvr>
                                      <p:tavLst>
                                        <p:tav tm="0">
                                          <p:val>
                                            <p:strVal val="#ppt_x-#ppt_w/2"/>
                                          </p:val>
                                        </p:tav>
                                        <p:tav tm="100000">
                                          <p:val>
                                            <p:strVal val="#ppt_x"/>
                                          </p:val>
                                        </p:tav>
                                      </p:tavLst>
                                    </p:anim>
                                    <p:anim calcmode="lin" valueType="num">
                                      <p:cBhvr>
                                        <p:cTn id="40" dur="500" fill="hold"/>
                                        <p:tgtEl>
                                          <p:spTgt spid="33"/>
                                        </p:tgtEl>
                                        <p:attrNameLst>
                                          <p:attrName>ppt_y</p:attrName>
                                        </p:attrNameLst>
                                      </p:cBhvr>
                                      <p:tavLst>
                                        <p:tav tm="0">
                                          <p:val>
                                            <p:strVal val="#ppt_y"/>
                                          </p:val>
                                        </p:tav>
                                        <p:tav tm="100000">
                                          <p:val>
                                            <p:strVal val="#ppt_y"/>
                                          </p:val>
                                        </p:tav>
                                      </p:tavLst>
                                    </p:anim>
                                    <p:anim calcmode="lin" valueType="num">
                                      <p:cBhvr>
                                        <p:cTn id="41" dur="500" fill="hold"/>
                                        <p:tgtEl>
                                          <p:spTgt spid="33"/>
                                        </p:tgtEl>
                                        <p:attrNameLst>
                                          <p:attrName>ppt_w</p:attrName>
                                        </p:attrNameLst>
                                      </p:cBhvr>
                                      <p:tavLst>
                                        <p:tav tm="0">
                                          <p:val>
                                            <p:fltVal val="0"/>
                                          </p:val>
                                        </p:tav>
                                        <p:tav tm="100000">
                                          <p:val>
                                            <p:strVal val="#ppt_w"/>
                                          </p:val>
                                        </p:tav>
                                      </p:tavLst>
                                    </p:anim>
                                    <p:anim calcmode="lin" valueType="num">
                                      <p:cBhvr>
                                        <p:cTn id="42" dur="500" fill="hold"/>
                                        <p:tgtEl>
                                          <p:spTgt spid="33"/>
                                        </p:tgtEl>
                                        <p:attrNameLst>
                                          <p:attrName>ppt_h</p:attrName>
                                        </p:attrNameLst>
                                      </p:cBhvr>
                                      <p:tavLst>
                                        <p:tav tm="0">
                                          <p:val>
                                            <p:strVal val="#ppt_h"/>
                                          </p:val>
                                        </p:tav>
                                        <p:tav tm="100000">
                                          <p:val>
                                            <p:strVal val="#ppt_h"/>
                                          </p:val>
                                        </p:tav>
                                      </p:tavLst>
                                    </p:anim>
                                  </p:childTnLst>
                                </p:cTn>
                              </p:par>
                            </p:childTnLst>
                          </p:cTn>
                        </p:par>
                        <p:par>
                          <p:cTn id="43" fill="hold">
                            <p:stCondLst>
                              <p:cond delay="500"/>
                            </p:stCondLst>
                            <p:childTnLst>
                              <p:par>
                                <p:cTn id="44" presetID="17" presetClass="entr" presetSubtype="8" fill="hold" grpId="0" nodeType="afterEffect">
                                  <p:stCondLst>
                                    <p:cond delay="0"/>
                                  </p:stCondLst>
                                  <p:childTnLst>
                                    <p:set>
                                      <p:cBhvr>
                                        <p:cTn id="45" dur="1" fill="hold">
                                          <p:stCondLst>
                                            <p:cond delay="0"/>
                                          </p:stCondLst>
                                        </p:cTn>
                                        <p:tgtEl>
                                          <p:spTgt spid="38"/>
                                        </p:tgtEl>
                                        <p:attrNameLst>
                                          <p:attrName>style.visibility</p:attrName>
                                        </p:attrNameLst>
                                      </p:cBhvr>
                                      <p:to>
                                        <p:strVal val="visible"/>
                                      </p:to>
                                    </p:set>
                                    <p:anim calcmode="lin" valueType="num">
                                      <p:cBhvr>
                                        <p:cTn id="46" dur="500" fill="hold"/>
                                        <p:tgtEl>
                                          <p:spTgt spid="38"/>
                                        </p:tgtEl>
                                        <p:attrNameLst>
                                          <p:attrName>ppt_x</p:attrName>
                                        </p:attrNameLst>
                                      </p:cBhvr>
                                      <p:tavLst>
                                        <p:tav tm="0">
                                          <p:val>
                                            <p:strVal val="#ppt_x-#ppt_w/2"/>
                                          </p:val>
                                        </p:tav>
                                        <p:tav tm="100000">
                                          <p:val>
                                            <p:strVal val="#ppt_x"/>
                                          </p:val>
                                        </p:tav>
                                      </p:tavLst>
                                    </p:anim>
                                    <p:anim calcmode="lin" valueType="num">
                                      <p:cBhvr>
                                        <p:cTn id="47" dur="500" fill="hold"/>
                                        <p:tgtEl>
                                          <p:spTgt spid="38"/>
                                        </p:tgtEl>
                                        <p:attrNameLst>
                                          <p:attrName>ppt_y</p:attrName>
                                        </p:attrNameLst>
                                      </p:cBhvr>
                                      <p:tavLst>
                                        <p:tav tm="0">
                                          <p:val>
                                            <p:strVal val="#ppt_y"/>
                                          </p:val>
                                        </p:tav>
                                        <p:tav tm="100000">
                                          <p:val>
                                            <p:strVal val="#ppt_y"/>
                                          </p:val>
                                        </p:tav>
                                      </p:tavLst>
                                    </p:anim>
                                    <p:anim calcmode="lin" valueType="num">
                                      <p:cBhvr>
                                        <p:cTn id="48" dur="500" fill="hold"/>
                                        <p:tgtEl>
                                          <p:spTgt spid="38"/>
                                        </p:tgtEl>
                                        <p:attrNameLst>
                                          <p:attrName>ppt_w</p:attrName>
                                        </p:attrNameLst>
                                      </p:cBhvr>
                                      <p:tavLst>
                                        <p:tav tm="0">
                                          <p:val>
                                            <p:fltVal val="0"/>
                                          </p:val>
                                        </p:tav>
                                        <p:tav tm="100000">
                                          <p:val>
                                            <p:strVal val="#ppt_w"/>
                                          </p:val>
                                        </p:tav>
                                      </p:tavLst>
                                    </p:anim>
                                    <p:anim calcmode="lin" valueType="num">
                                      <p:cBhvr>
                                        <p:cTn id="49" dur="500" fill="hold"/>
                                        <p:tgtEl>
                                          <p:spTgt spid="38"/>
                                        </p:tgtEl>
                                        <p:attrNameLst>
                                          <p:attrName>ppt_h</p:attrName>
                                        </p:attrNameLst>
                                      </p:cBhvr>
                                      <p:tavLst>
                                        <p:tav tm="0">
                                          <p:val>
                                            <p:strVal val="#ppt_h"/>
                                          </p:val>
                                        </p:tav>
                                        <p:tav tm="100000">
                                          <p:val>
                                            <p:strVal val="#ppt_h"/>
                                          </p:val>
                                        </p:tav>
                                      </p:tavLst>
                                    </p:anim>
                                  </p:childTnLst>
                                </p:cTn>
                              </p:par>
                            </p:childTnLst>
                          </p:cTn>
                        </p:par>
                        <p:par>
                          <p:cTn id="50" fill="hold">
                            <p:stCondLst>
                              <p:cond delay="1000"/>
                            </p:stCondLst>
                            <p:childTnLst>
                              <p:par>
                                <p:cTn id="51" presetID="17" presetClass="entr" presetSubtype="8" fill="hold" grpId="0" nodeType="afterEffect">
                                  <p:stCondLst>
                                    <p:cond delay="0"/>
                                  </p:stCondLst>
                                  <p:childTnLst>
                                    <p:set>
                                      <p:cBhvr>
                                        <p:cTn id="52" dur="1" fill="hold">
                                          <p:stCondLst>
                                            <p:cond delay="0"/>
                                          </p:stCondLst>
                                        </p:cTn>
                                        <p:tgtEl>
                                          <p:spTgt spid="36"/>
                                        </p:tgtEl>
                                        <p:attrNameLst>
                                          <p:attrName>style.visibility</p:attrName>
                                        </p:attrNameLst>
                                      </p:cBhvr>
                                      <p:to>
                                        <p:strVal val="visible"/>
                                      </p:to>
                                    </p:set>
                                    <p:anim calcmode="lin" valueType="num">
                                      <p:cBhvr>
                                        <p:cTn id="53" dur="500" fill="hold"/>
                                        <p:tgtEl>
                                          <p:spTgt spid="36"/>
                                        </p:tgtEl>
                                        <p:attrNameLst>
                                          <p:attrName>ppt_x</p:attrName>
                                        </p:attrNameLst>
                                      </p:cBhvr>
                                      <p:tavLst>
                                        <p:tav tm="0">
                                          <p:val>
                                            <p:strVal val="#ppt_x-#ppt_w/2"/>
                                          </p:val>
                                        </p:tav>
                                        <p:tav tm="100000">
                                          <p:val>
                                            <p:strVal val="#ppt_x"/>
                                          </p:val>
                                        </p:tav>
                                      </p:tavLst>
                                    </p:anim>
                                    <p:anim calcmode="lin" valueType="num">
                                      <p:cBhvr>
                                        <p:cTn id="54" dur="500" fill="hold"/>
                                        <p:tgtEl>
                                          <p:spTgt spid="36"/>
                                        </p:tgtEl>
                                        <p:attrNameLst>
                                          <p:attrName>ppt_y</p:attrName>
                                        </p:attrNameLst>
                                      </p:cBhvr>
                                      <p:tavLst>
                                        <p:tav tm="0">
                                          <p:val>
                                            <p:strVal val="#ppt_y"/>
                                          </p:val>
                                        </p:tav>
                                        <p:tav tm="100000">
                                          <p:val>
                                            <p:strVal val="#ppt_y"/>
                                          </p:val>
                                        </p:tav>
                                      </p:tavLst>
                                    </p:anim>
                                    <p:anim calcmode="lin" valueType="num">
                                      <p:cBhvr>
                                        <p:cTn id="55" dur="500" fill="hold"/>
                                        <p:tgtEl>
                                          <p:spTgt spid="36"/>
                                        </p:tgtEl>
                                        <p:attrNameLst>
                                          <p:attrName>ppt_w</p:attrName>
                                        </p:attrNameLst>
                                      </p:cBhvr>
                                      <p:tavLst>
                                        <p:tav tm="0">
                                          <p:val>
                                            <p:fltVal val="0"/>
                                          </p:val>
                                        </p:tav>
                                        <p:tav tm="100000">
                                          <p:val>
                                            <p:strVal val="#ppt_w"/>
                                          </p:val>
                                        </p:tav>
                                      </p:tavLst>
                                    </p:anim>
                                    <p:anim calcmode="lin" valueType="num">
                                      <p:cBhvr>
                                        <p:cTn id="56" dur="500" fill="hold"/>
                                        <p:tgtEl>
                                          <p:spTgt spid="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utoUpdateAnimBg="0"/>
      <p:bldP spid="32" grpId="0" autoUpdateAnimBg="0"/>
      <p:bldP spid="33" grpId="0" animBg="1" autoUpdateAnimBg="0"/>
      <p:bldP spid="34" grpId="0" animBg="1" autoUpdateAnimBg="0"/>
      <p:bldP spid="35" grpId="0" animBg="1" autoUpdateAnimBg="0"/>
      <p:bldP spid="36" grpId="0" animBg="1" autoUpdateAnimBg="0"/>
      <p:bldP spid="37" grpId="0" animBg="1" autoUpdateAnimBg="0"/>
      <p:bldP spid="38" grpId="0" animBg="1"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27F66B-5B3D-96CF-6EA5-88CDDE8B32B1}"/>
            </a:ext>
          </a:extLst>
        </p:cNvPr>
        <p:cNvGrpSpPr/>
        <p:nvPr/>
      </p:nvGrpSpPr>
      <p:grpSpPr>
        <a:xfrm>
          <a:off x="0" y="0"/>
          <a:ext cx="0" cy="0"/>
          <a:chOff x="0" y="0"/>
          <a:chExt cx="0" cy="0"/>
        </a:xfrm>
      </p:grpSpPr>
      <p:cxnSp>
        <p:nvCxnSpPr>
          <p:cNvPr id="3" name="直接连接符 2">
            <a:extLst>
              <a:ext uri="{FF2B5EF4-FFF2-40B4-BE49-F238E27FC236}">
                <a16:creationId xmlns:a16="http://schemas.microsoft.com/office/drawing/2014/main" xmlns="" id="{ED51ED18-1627-8C8C-32F2-2264CA40F74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xmlns="" id="{D11A9265-39D3-CE8E-05AB-BA7EC8AFD407}"/>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
        <p:nvSpPr>
          <p:cNvPr id="2" name="Text Box 2">
            <a:extLst>
              <a:ext uri="{FF2B5EF4-FFF2-40B4-BE49-F238E27FC236}">
                <a16:creationId xmlns:a16="http://schemas.microsoft.com/office/drawing/2014/main" xmlns="" id="{4CE1DB67-C21B-1CCB-EE30-266A80DB1614}"/>
              </a:ext>
            </a:extLst>
          </p:cNvPr>
          <p:cNvSpPr txBox="1">
            <a:spLocks noChangeArrowheads="1"/>
          </p:cNvSpPr>
          <p:nvPr/>
        </p:nvSpPr>
        <p:spPr bwMode="auto">
          <a:xfrm>
            <a:off x="1343472" y="752072"/>
            <a:ext cx="8610600" cy="965136"/>
          </a:xfrm>
          <a:prstGeom prst="rect">
            <a:avLst/>
          </a:prstGeom>
          <a:noFill/>
          <a:ln w="9525">
            <a:noFill/>
            <a:miter lim="800000"/>
            <a:headEnd/>
            <a:tailEnd/>
          </a:ln>
          <a:effectLst/>
        </p:spPr>
        <p:txBody>
          <a:bodyPr>
            <a:spAutoFit/>
          </a:bodyPr>
          <a:lstStyle/>
          <a:p>
            <a:pPr algn="just">
              <a:lnSpc>
                <a:spcPct val="150000"/>
              </a:lnSpc>
              <a:spcBef>
                <a:spcPct val="50000"/>
              </a:spcBef>
            </a:pPr>
            <a:r>
              <a:rPr kumimoji="1" lang="en-US" altLang="zh-CN" sz="2000">
                <a:solidFill>
                  <a:srgbClr val="FF0000"/>
                </a:solidFill>
                <a:latin typeface="Consolas" pitchFamily="49" charset="0"/>
                <a:ea typeface="华文中宋" pitchFamily="2" charset="-122"/>
                <a:cs typeface="Consolas" pitchFamily="49" charset="0"/>
              </a:rPr>
              <a:t>   </a:t>
            </a:r>
            <a:r>
              <a:rPr kumimoji="1" lang="zh-CN" altLang="en-US" sz="2000">
                <a:solidFill>
                  <a:srgbClr val="FF0000"/>
                </a:solidFill>
                <a:latin typeface="Consolas" pitchFamily="49" charset="0"/>
                <a:ea typeface="华文中宋" pitchFamily="2" charset="-122"/>
                <a:cs typeface="Consolas" pitchFamily="49" charset="0"/>
              </a:rPr>
              <a:t>定</a:t>
            </a:r>
            <a:r>
              <a:rPr kumimoji="1" lang="zh-CN" altLang="en-US" sz="2000" dirty="0">
                <a:solidFill>
                  <a:srgbClr val="FF0000"/>
                </a:solidFill>
                <a:latin typeface="Consolas" pitchFamily="49" charset="0"/>
                <a:ea typeface="华文中宋" pitchFamily="2" charset="-122"/>
                <a:cs typeface="Consolas" pitchFamily="49" charset="0"/>
              </a:rPr>
              <a:t>理</a:t>
            </a:r>
            <a:r>
              <a:rPr kumimoji="1" lang="en-US" altLang="zh-CN" sz="2000" dirty="0">
                <a:solidFill>
                  <a:srgbClr val="FF0000"/>
                </a:solidFill>
                <a:latin typeface="Consolas" pitchFamily="49" charset="0"/>
                <a:ea typeface="华文中宋" pitchFamily="2" charset="-122"/>
                <a:cs typeface="Consolas" pitchFamily="49" charset="0"/>
              </a:rPr>
              <a:t>7.1</a:t>
            </a:r>
            <a:r>
              <a:rPr kumimoji="1" lang="zh-CN" altLang="en-US" sz="2000" dirty="0">
                <a:solidFill>
                  <a:srgbClr val="FF0000"/>
                </a:solidFill>
                <a:latin typeface="Consolas" pitchFamily="49" charset="0"/>
                <a:ea typeface="华文中宋" pitchFamily="2" charset="-122"/>
                <a:cs typeface="Consolas" pitchFamily="49" charset="0"/>
              </a:rPr>
              <a:t>：</a:t>
            </a:r>
            <a:r>
              <a:rPr kumimoji="1" lang="zh-CN" altLang="en-US" sz="2000" dirty="0">
                <a:latin typeface="Consolas" pitchFamily="49" charset="0"/>
                <a:ea typeface="华文中宋" pitchFamily="2" charset="-122"/>
                <a:cs typeface="Consolas" pitchFamily="49" charset="0"/>
              </a:rPr>
              <a:t>任何</a:t>
            </a:r>
            <a:r>
              <a:rPr kumimoji="1" lang="en-US" altLang="zh-CN" sz="2000" i="1" dirty="0">
                <a:latin typeface="Consolas" pitchFamily="49" charset="0"/>
                <a:ea typeface="华文中宋" pitchFamily="2" charset="-122"/>
                <a:cs typeface="Consolas" pitchFamily="49" charset="0"/>
              </a:rPr>
              <a:t>n</a:t>
            </a:r>
            <a:r>
              <a:rPr kumimoji="1" lang="zh-CN" altLang="en-US" sz="2000" dirty="0">
                <a:latin typeface="Consolas" pitchFamily="49" charset="0"/>
                <a:ea typeface="华文中宋" pitchFamily="2" charset="-122"/>
                <a:cs typeface="Consolas" pitchFamily="49" charset="0"/>
              </a:rPr>
              <a:t>（</a:t>
            </a:r>
            <a:r>
              <a:rPr kumimoji="1" lang="en-US" altLang="zh-CN" sz="2000" i="1" dirty="0">
                <a:latin typeface="Consolas" pitchFamily="49" charset="0"/>
                <a:ea typeface="华文中宋" pitchFamily="2" charset="-122"/>
                <a:cs typeface="Consolas" pitchFamily="49" charset="0"/>
              </a:rPr>
              <a:t>n&gt;</a:t>
            </a:r>
            <a:r>
              <a:rPr kumimoji="1" lang="en-US" altLang="zh-CN" sz="2000" dirty="0">
                <a:latin typeface="Consolas" pitchFamily="49" charset="0"/>
                <a:ea typeface="华文中宋" pitchFamily="2" charset="-122"/>
                <a:cs typeface="Consolas" pitchFamily="49" charset="0"/>
              </a:rPr>
              <a:t>0</a:t>
            </a:r>
            <a:r>
              <a:rPr kumimoji="1" lang="zh-CN" altLang="en-US" sz="2000" dirty="0">
                <a:latin typeface="Consolas" pitchFamily="49" charset="0"/>
                <a:ea typeface="华文中宋" pitchFamily="2" charset="-122"/>
                <a:cs typeface="Consolas" pitchFamily="49" charset="0"/>
              </a:rPr>
              <a:t>）</a:t>
            </a:r>
            <a:r>
              <a:rPr kumimoji="1" lang="zh-CN" altLang="en-US" sz="2000">
                <a:latin typeface="Consolas" pitchFamily="49" charset="0"/>
                <a:ea typeface="华文中宋" pitchFamily="2" charset="-122"/>
                <a:cs typeface="Consolas" pitchFamily="49" charset="0"/>
              </a:rPr>
              <a:t>个不同结点的二叉树，都</a:t>
            </a:r>
            <a:r>
              <a:rPr kumimoji="1" lang="zh-CN" altLang="en-US" sz="2000" dirty="0">
                <a:latin typeface="Consolas" pitchFamily="49" charset="0"/>
                <a:ea typeface="华文中宋" pitchFamily="2" charset="-122"/>
                <a:cs typeface="Consolas" pitchFamily="49" charset="0"/>
              </a:rPr>
              <a:t>可由它的中序序列和先序序列唯一地确定。     </a:t>
            </a:r>
          </a:p>
        </p:txBody>
      </p:sp>
      <p:sp>
        <p:nvSpPr>
          <p:cNvPr id="7" name="Text Box 8">
            <a:extLst>
              <a:ext uri="{FF2B5EF4-FFF2-40B4-BE49-F238E27FC236}">
                <a16:creationId xmlns:a16="http://schemas.microsoft.com/office/drawing/2014/main" xmlns="" id="{62EC37B6-4B12-EF9E-E376-6D98C5416FAA}"/>
              </a:ext>
            </a:extLst>
          </p:cNvPr>
          <p:cNvSpPr txBox="1">
            <a:spLocks noChangeArrowheads="1"/>
          </p:cNvSpPr>
          <p:nvPr/>
        </p:nvSpPr>
        <p:spPr bwMode="auto">
          <a:xfrm>
            <a:off x="1437020" y="2690218"/>
            <a:ext cx="1368425" cy="276999"/>
          </a:xfrm>
          <a:prstGeom prst="rect">
            <a:avLst/>
          </a:prstGeom>
          <a:noFill/>
          <a:ln w="9525" algn="ctr">
            <a:noFill/>
            <a:miter lim="800000"/>
            <a:headEnd/>
            <a:tailEnd type="none" w="med" len="lg"/>
          </a:ln>
          <a:effectLst/>
        </p:spPr>
        <p:txBody>
          <a:bodyPr lIns="0" tIns="0" rIns="0" bIns="0">
            <a:spAutoFit/>
          </a:bodyPr>
          <a:lstStyle/>
          <a:p>
            <a:pPr>
              <a:spcBef>
                <a:spcPct val="50000"/>
              </a:spcBef>
            </a:pPr>
            <a:r>
              <a:rPr lang="zh-CN" altLang="en-US" sz="1800" dirty="0">
                <a:solidFill>
                  <a:srgbClr val="C00000"/>
                </a:solidFill>
                <a:latin typeface="微软雅黑" pitchFamily="34" charset="-122"/>
                <a:ea typeface="微软雅黑" pitchFamily="34" charset="-122"/>
                <a:cs typeface="Times New Roman" pitchFamily="18" charset="0"/>
              </a:rPr>
              <a:t>先序序列：</a:t>
            </a:r>
          </a:p>
        </p:txBody>
      </p:sp>
      <p:sp>
        <p:nvSpPr>
          <p:cNvPr id="8" name="Text Box 9">
            <a:extLst>
              <a:ext uri="{FF2B5EF4-FFF2-40B4-BE49-F238E27FC236}">
                <a16:creationId xmlns:a16="http://schemas.microsoft.com/office/drawing/2014/main" xmlns="" id="{7377CCFD-1A11-79DB-CB6C-E15041809975}"/>
              </a:ext>
            </a:extLst>
          </p:cNvPr>
          <p:cNvSpPr txBox="1">
            <a:spLocks noChangeArrowheads="1"/>
          </p:cNvSpPr>
          <p:nvPr/>
        </p:nvSpPr>
        <p:spPr bwMode="auto">
          <a:xfrm>
            <a:off x="2734008" y="2707680"/>
            <a:ext cx="2951162" cy="276999"/>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1800" i="1" dirty="0" err="1">
                <a:solidFill>
                  <a:srgbClr val="FF0000"/>
                </a:solidFill>
                <a:latin typeface="Consolas" pitchFamily="49" charset="0"/>
                <a:cs typeface="Consolas" pitchFamily="49" charset="0"/>
              </a:rPr>
              <a:t>a</a:t>
            </a:r>
            <a:r>
              <a:rPr lang="en-US" altLang="zh-CN" sz="1800" baseline="-25000" dirty="0" err="1">
                <a:solidFill>
                  <a:srgbClr val="FF0000"/>
                </a:solidFill>
                <a:latin typeface="Consolas" pitchFamily="49" charset="0"/>
                <a:cs typeface="Consolas" pitchFamily="49" charset="0"/>
              </a:rPr>
              <a:t>0</a:t>
            </a:r>
            <a:r>
              <a:rPr lang="en-US" altLang="zh-CN" sz="1800" dirty="0">
                <a:latin typeface="Consolas" pitchFamily="49" charset="0"/>
                <a:cs typeface="Consolas" pitchFamily="49" charset="0"/>
              </a:rPr>
              <a:t> </a:t>
            </a:r>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1</a:t>
            </a:r>
            <a:r>
              <a:rPr lang="en-US" altLang="zh-CN" sz="1800">
                <a:latin typeface="Consolas" pitchFamily="49" charset="0"/>
                <a:cs typeface="Consolas" pitchFamily="49" charset="0"/>
              </a:rPr>
              <a:t> </a:t>
            </a:r>
            <a:r>
              <a:rPr lang="en-US" altLang="zh-CN" sz="1800">
                <a:latin typeface="宋体" pitchFamily="2" charset="-122"/>
                <a:ea typeface="宋体" pitchFamily="2" charset="-122"/>
                <a:cs typeface="Consolas" pitchFamily="49" charset="0"/>
              </a:rPr>
              <a:t>…</a:t>
            </a:r>
            <a:r>
              <a:rPr lang="en-US" altLang="zh-CN" sz="1800">
                <a:latin typeface="Consolas" pitchFamily="49" charset="0"/>
                <a:cs typeface="Consolas" pitchFamily="49" charset="0"/>
              </a:rPr>
              <a:t> </a:t>
            </a:r>
            <a:r>
              <a:rPr lang="en-US" altLang="zh-CN" sz="1800" i="1" err="1">
                <a:latin typeface="Consolas" pitchFamily="49" charset="0"/>
                <a:cs typeface="Consolas" pitchFamily="49" charset="0"/>
              </a:rPr>
              <a:t>a</a:t>
            </a:r>
            <a:r>
              <a:rPr lang="en-US" altLang="zh-CN" sz="1800" i="1" baseline="-25000" err="1">
                <a:latin typeface="Consolas" pitchFamily="49" charset="0"/>
                <a:cs typeface="Consolas" pitchFamily="49" charset="0"/>
              </a:rPr>
              <a:t>k</a:t>
            </a:r>
            <a:r>
              <a:rPr lang="en-US" altLang="zh-CN" sz="1800" i="1" baseline="-25000">
                <a:latin typeface="Consolas" pitchFamily="49" charset="0"/>
                <a:cs typeface="Consolas" pitchFamily="49" charset="0"/>
              </a:rPr>
              <a:t>  </a:t>
            </a:r>
            <a:r>
              <a:rPr lang="en-US" altLang="zh-CN" sz="1800">
                <a:latin typeface="Consolas" pitchFamily="49" charset="0"/>
                <a:cs typeface="Consolas" pitchFamily="49" charset="0"/>
              </a:rPr>
              <a:t>  </a:t>
            </a:r>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k</a:t>
            </a:r>
            <a:r>
              <a:rPr lang="en-US" altLang="zh-CN" sz="1800" baseline="-25000">
                <a:latin typeface="Consolas" pitchFamily="49" charset="0"/>
                <a:cs typeface="Consolas" pitchFamily="49" charset="0"/>
              </a:rPr>
              <a:t>+1</a:t>
            </a:r>
            <a:r>
              <a:rPr lang="en-US" altLang="zh-CN" sz="1800">
                <a:latin typeface="Consolas" pitchFamily="49" charset="0"/>
                <a:cs typeface="Consolas" pitchFamily="49" charset="0"/>
              </a:rPr>
              <a:t> </a:t>
            </a:r>
            <a:r>
              <a:rPr lang="en-US" altLang="zh-CN" sz="1800">
                <a:latin typeface="宋体" pitchFamily="2" charset="-122"/>
                <a:ea typeface="宋体" pitchFamily="2" charset="-122"/>
                <a:cs typeface="Consolas" pitchFamily="49" charset="0"/>
              </a:rPr>
              <a:t>…</a:t>
            </a:r>
            <a:r>
              <a:rPr lang="en-US" altLang="zh-CN" sz="1800">
                <a:latin typeface="Consolas" pitchFamily="49" charset="0"/>
                <a:cs typeface="Consolas" pitchFamily="49" charset="0"/>
              </a:rPr>
              <a:t> </a:t>
            </a:r>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n</a:t>
            </a:r>
            <a:r>
              <a:rPr lang="en-US" altLang="zh-CN" sz="1800" baseline="-25000">
                <a:latin typeface="Consolas" pitchFamily="49" charset="0"/>
                <a:cs typeface="Consolas" pitchFamily="49" charset="0"/>
              </a:rPr>
              <a:t>-1</a:t>
            </a:r>
            <a:endParaRPr lang="en-US" altLang="en-US" sz="1800" baseline="-25000" dirty="0">
              <a:latin typeface="Consolas" pitchFamily="49" charset="0"/>
              <a:cs typeface="Consolas" pitchFamily="49" charset="0"/>
            </a:endParaRPr>
          </a:p>
        </p:txBody>
      </p:sp>
      <p:grpSp>
        <p:nvGrpSpPr>
          <p:cNvPr id="9" name="组合 19">
            <a:extLst>
              <a:ext uri="{FF2B5EF4-FFF2-40B4-BE49-F238E27FC236}">
                <a16:creationId xmlns:a16="http://schemas.microsoft.com/office/drawing/2014/main" xmlns="" id="{06CE7265-8BF4-A442-2C50-F09F97E8B794}"/>
              </a:ext>
            </a:extLst>
          </p:cNvPr>
          <p:cNvGrpSpPr/>
          <p:nvPr/>
        </p:nvGrpSpPr>
        <p:grpSpPr>
          <a:xfrm>
            <a:off x="3021336" y="3128376"/>
            <a:ext cx="1011235" cy="1359681"/>
            <a:chOff x="1704955" y="3141661"/>
            <a:chExt cx="1011235" cy="1359681"/>
          </a:xfrm>
        </p:grpSpPr>
        <p:sp>
          <p:nvSpPr>
            <p:cNvPr id="10" name="Text Box 6">
              <a:extLst>
                <a:ext uri="{FF2B5EF4-FFF2-40B4-BE49-F238E27FC236}">
                  <a16:creationId xmlns:a16="http://schemas.microsoft.com/office/drawing/2014/main" xmlns="" id="{B5C8DCC1-0CB6-0584-F40F-568A97531AFE}"/>
                </a:ext>
              </a:extLst>
            </p:cNvPr>
            <p:cNvSpPr txBox="1">
              <a:spLocks noChangeArrowheads="1"/>
            </p:cNvSpPr>
            <p:nvPr/>
          </p:nvSpPr>
          <p:spPr bwMode="auto">
            <a:xfrm>
              <a:off x="1704955" y="3393346"/>
              <a:ext cx="1011235" cy="1107996"/>
            </a:xfrm>
            <a:prstGeom prst="rect">
              <a:avLst/>
            </a:prstGeom>
            <a:noFill/>
            <a:ln w="9525" algn="ctr">
              <a:noFill/>
              <a:miter lim="800000"/>
              <a:headEnd/>
              <a:tailEnd type="none" w="med" len="lg"/>
            </a:ln>
            <a:effectLst/>
          </p:spPr>
          <p:txBody>
            <a:bodyPr wrap="square" lIns="0" tIns="0" rIns="0" bIns="0">
              <a:spAutoFit/>
            </a:bodyPr>
            <a:lstStyle/>
            <a:p>
              <a:pPr>
                <a:spcBef>
                  <a:spcPct val="50000"/>
                </a:spcBef>
              </a:pPr>
              <a:r>
                <a:rPr lang="zh-CN" altLang="en-US" sz="1800" dirty="0">
                  <a:latin typeface="Consolas" pitchFamily="49" charset="0"/>
                  <a:ea typeface="仿宋" pitchFamily="49" charset="-122"/>
                  <a:cs typeface="Consolas" pitchFamily="49" charset="0"/>
                </a:rPr>
                <a:t>左子树先</a:t>
              </a:r>
              <a:r>
                <a:rPr lang="zh-CN" altLang="en-US" sz="1800">
                  <a:latin typeface="Consolas" pitchFamily="49" charset="0"/>
                  <a:ea typeface="仿宋" pitchFamily="49" charset="-122"/>
                  <a:cs typeface="Consolas" pitchFamily="49" charset="0"/>
                </a:rPr>
                <a:t>序序列，有</a:t>
              </a:r>
              <a:r>
                <a:rPr lang="en-US" altLang="zh-CN" sz="1800" i="1">
                  <a:latin typeface="Consolas" pitchFamily="49" charset="0"/>
                  <a:ea typeface="仿宋" pitchFamily="49" charset="-122"/>
                  <a:cs typeface="Consolas" pitchFamily="49" charset="0"/>
                </a:rPr>
                <a:t>k</a:t>
              </a:r>
              <a:r>
                <a:rPr lang="zh-CN" altLang="en-US" sz="1800">
                  <a:latin typeface="Consolas" pitchFamily="49" charset="0"/>
                  <a:ea typeface="仿宋" pitchFamily="49" charset="-122"/>
                  <a:cs typeface="Consolas" pitchFamily="49" charset="0"/>
                </a:rPr>
                <a:t>个结点</a:t>
              </a:r>
              <a:endParaRPr lang="zh-CN" altLang="en-US" sz="1800" dirty="0">
                <a:latin typeface="Consolas" pitchFamily="49" charset="0"/>
                <a:ea typeface="仿宋" pitchFamily="49" charset="-122"/>
                <a:cs typeface="Consolas" pitchFamily="49" charset="0"/>
              </a:endParaRPr>
            </a:p>
          </p:txBody>
        </p:sp>
        <p:sp>
          <p:nvSpPr>
            <p:cNvPr id="11" name="AutoShape 10">
              <a:extLst>
                <a:ext uri="{FF2B5EF4-FFF2-40B4-BE49-F238E27FC236}">
                  <a16:creationId xmlns:a16="http://schemas.microsoft.com/office/drawing/2014/main" xmlns="" id="{BF14BC02-D316-2FE2-949C-E168DE0725B0}"/>
                </a:ext>
              </a:extLst>
            </p:cNvPr>
            <p:cNvSpPr>
              <a:spLocks/>
            </p:cNvSpPr>
            <p:nvPr/>
          </p:nvSpPr>
          <p:spPr bwMode="auto">
            <a:xfrm rot="16200000">
              <a:off x="2123282" y="2782092"/>
              <a:ext cx="144462" cy="863600"/>
            </a:xfrm>
            <a:prstGeom prst="leftBrace">
              <a:avLst>
                <a:gd name="adj1" fmla="val 49817"/>
                <a:gd name="adj2" fmla="val 50000"/>
              </a:avLst>
            </a:prstGeom>
            <a:ln>
              <a:headEnd/>
              <a:tailEnd type="none" w="med" len="lg"/>
            </a:ln>
          </p:spPr>
          <p:style>
            <a:lnRef idx="2">
              <a:schemeClr val="accent2"/>
            </a:lnRef>
            <a:fillRef idx="0">
              <a:schemeClr val="accent2"/>
            </a:fillRef>
            <a:effectRef idx="1">
              <a:schemeClr val="accent2"/>
            </a:effectRef>
            <a:fontRef idx="minor">
              <a:schemeClr val="tx1"/>
            </a:fontRef>
          </p:style>
          <p:txBody>
            <a:bodyPr wrap="none" anchor="ctr"/>
            <a:lstStyle/>
            <a:p>
              <a:endParaRPr lang="zh-CN" altLang="en-US" sz="1800">
                <a:latin typeface="Consolas" pitchFamily="49" charset="0"/>
                <a:ea typeface="仿宋" pitchFamily="49" charset="-122"/>
                <a:cs typeface="Consolas" pitchFamily="49" charset="0"/>
              </a:endParaRPr>
            </a:p>
          </p:txBody>
        </p:sp>
      </p:grpSp>
      <p:grpSp>
        <p:nvGrpSpPr>
          <p:cNvPr id="12" name="组合 20">
            <a:extLst>
              <a:ext uri="{FF2B5EF4-FFF2-40B4-BE49-F238E27FC236}">
                <a16:creationId xmlns:a16="http://schemas.microsoft.com/office/drawing/2014/main" xmlns="" id="{4AD86D98-DFA0-AA15-7A00-3166E55F57C3}"/>
              </a:ext>
            </a:extLst>
          </p:cNvPr>
          <p:cNvGrpSpPr/>
          <p:nvPr/>
        </p:nvGrpSpPr>
        <p:grpSpPr>
          <a:xfrm>
            <a:off x="4408813" y="3129962"/>
            <a:ext cx="1071569" cy="1348570"/>
            <a:chOff x="3322640" y="3143247"/>
            <a:chExt cx="1071569" cy="1348570"/>
          </a:xfrm>
        </p:grpSpPr>
        <p:sp>
          <p:nvSpPr>
            <p:cNvPr id="13" name="Text Box 7">
              <a:extLst>
                <a:ext uri="{FF2B5EF4-FFF2-40B4-BE49-F238E27FC236}">
                  <a16:creationId xmlns:a16="http://schemas.microsoft.com/office/drawing/2014/main" xmlns="" id="{26BC7D93-4D5D-A42A-65E1-54C24957599E}"/>
                </a:ext>
              </a:extLst>
            </p:cNvPr>
            <p:cNvSpPr txBox="1">
              <a:spLocks noChangeArrowheads="1"/>
            </p:cNvSpPr>
            <p:nvPr/>
          </p:nvSpPr>
          <p:spPr bwMode="auto">
            <a:xfrm>
              <a:off x="3322640" y="3383821"/>
              <a:ext cx="1071569" cy="1107996"/>
            </a:xfrm>
            <a:prstGeom prst="rect">
              <a:avLst/>
            </a:prstGeom>
            <a:noFill/>
            <a:ln w="9525" algn="ctr">
              <a:noFill/>
              <a:miter lim="800000"/>
              <a:headEnd/>
              <a:tailEnd type="none" w="med" len="lg"/>
            </a:ln>
            <a:effectLst/>
          </p:spPr>
          <p:txBody>
            <a:bodyPr wrap="square" lIns="0" tIns="0" rIns="0" bIns="0">
              <a:spAutoFit/>
            </a:bodyPr>
            <a:lstStyle/>
            <a:p>
              <a:pPr>
                <a:spcBef>
                  <a:spcPct val="50000"/>
                </a:spcBef>
              </a:pPr>
              <a:r>
                <a:rPr lang="zh-CN" altLang="en-US" sz="1800" dirty="0">
                  <a:latin typeface="Consolas" pitchFamily="49" charset="0"/>
                  <a:ea typeface="仿宋" pitchFamily="49" charset="-122"/>
                  <a:cs typeface="Consolas" pitchFamily="49" charset="0"/>
                </a:rPr>
                <a:t>右子树先</a:t>
              </a:r>
              <a:r>
                <a:rPr lang="zh-CN" altLang="en-US" sz="1800">
                  <a:latin typeface="Consolas" pitchFamily="49" charset="0"/>
                  <a:ea typeface="仿宋" pitchFamily="49" charset="-122"/>
                  <a:cs typeface="Consolas" pitchFamily="49" charset="0"/>
                </a:rPr>
                <a:t>序序列，有</a:t>
              </a:r>
              <a:r>
                <a:rPr lang="en-US" altLang="zh-CN" sz="1800" i="1">
                  <a:latin typeface="Consolas" pitchFamily="49" charset="0"/>
                  <a:ea typeface="仿宋" pitchFamily="49" charset="-122"/>
                  <a:cs typeface="Consolas" pitchFamily="49" charset="0"/>
                </a:rPr>
                <a:t>n</a:t>
              </a:r>
              <a:r>
                <a:rPr lang="en-US" altLang="zh-CN" sz="1800">
                  <a:latin typeface="Consolas" pitchFamily="49" charset="0"/>
                  <a:ea typeface="仿宋" pitchFamily="49" charset="-122"/>
                  <a:cs typeface="Consolas" pitchFamily="49" charset="0"/>
                </a:rPr>
                <a:t>-</a:t>
              </a:r>
              <a:r>
                <a:rPr lang="en-US" altLang="zh-CN" sz="1800" i="1">
                  <a:latin typeface="Consolas" pitchFamily="49" charset="0"/>
                  <a:ea typeface="仿宋" pitchFamily="49" charset="-122"/>
                  <a:cs typeface="Consolas" pitchFamily="49" charset="0"/>
                </a:rPr>
                <a:t>k</a:t>
              </a:r>
              <a:r>
                <a:rPr lang="en-US" altLang="zh-CN" sz="1800">
                  <a:latin typeface="Consolas" pitchFamily="49" charset="0"/>
                  <a:ea typeface="仿宋" pitchFamily="49" charset="-122"/>
                  <a:cs typeface="Consolas" pitchFamily="49" charset="0"/>
                </a:rPr>
                <a:t>-1</a:t>
              </a:r>
              <a:r>
                <a:rPr lang="zh-CN" altLang="en-US" sz="1800">
                  <a:latin typeface="Consolas" pitchFamily="49" charset="0"/>
                  <a:ea typeface="仿宋" pitchFamily="49" charset="-122"/>
                  <a:cs typeface="Consolas" pitchFamily="49" charset="0"/>
                </a:rPr>
                <a:t>个结点</a:t>
              </a:r>
              <a:endParaRPr lang="zh-CN" altLang="en-US" sz="1800" dirty="0">
                <a:latin typeface="Consolas" pitchFamily="49" charset="0"/>
                <a:ea typeface="仿宋" pitchFamily="49" charset="-122"/>
                <a:cs typeface="Consolas" pitchFamily="49" charset="0"/>
              </a:endParaRPr>
            </a:p>
          </p:txBody>
        </p:sp>
        <p:sp>
          <p:nvSpPr>
            <p:cNvPr id="14" name="AutoShape 11">
              <a:extLst>
                <a:ext uri="{FF2B5EF4-FFF2-40B4-BE49-F238E27FC236}">
                  <a16:creationId xmlns:a16="http://schemas.microsoft.com/office/drawing/2014/main" xmlns="" id="{759CE7EB-1C63-5404-5DB3-6E538FCA4BB2}"/>
                </a:ext>
              </a:extLst>
            </p:cNvPr>
            <p:cNvSpPr>
              <a:spLocks/>
            </p:cNvSpPr>
            <p:nvPr/>
          </p:nvSpPr>
          <p:spPr bwMode="auto">
            <a:xfrm rot="16200000">
              <a:off x="3780631" y="2709067"/>
              <a:ext cx="142875" cy="1011235"/>
            </a:xfrm>
            <a:prstGeom prst="leftBrace">
              <a:avLst>
                <a:gd name="adj1" fmla="val 49817"/>
                <a:gd name="adj2" fmla="val 50000"/>
              </a:avLst>
            </a:prstGeom>
            <a:ln>
              <a:headEnd/>
              <a:tailEnd type="none" w="med" len="lg"/>
            </a:ln>
          </p:spPr>
          <p:style>
            <a:lnRef idx="2">
              <a:schemeClr val="accent2"/>
            </a:lnRef>
            <a:fillRef idx="0">
              <a:schemeClr val="accent2"/>
            </a:fillRef>
            <a:effectRef idx="1">
              <a:schemeClr val="accent2"/>
            </a:effectRef>
            <a:fontRef idx="minor">
              <a:schemeClr val="tx1"/>
            </a:fontRef>
          </p:style>
          <p:txBody>
            <a:bodyPr wrap="none" anchor="ctr"/>
            <a:lstStyle/>
            <a:p>
              <a:endParaRPr lang="zh-CN" altLang="en-US" sz="1800">
                <a:latin typeface="Consolas" pitchFamily="49" charset="0"/>
                <a:ea typeface="仿宋" pitchFamily="49" charset="-122"/>
                <a:cs typeface="Consolas" pitchFamily="49" charset="0"/>
              </a:endParaRPr>
            </a:p>
          </p:txBody>
        </p:sp>
      </p:grpSp>
      <p:sp>
        <p:nvSpPr>
          <p:cNvPr id="15" name="Text Box 14">
            <a:extLst>
              <a:ext uri="{FF2B5EF4-FFF2-40B4-BE49-F238E27FC236}">
                <a16:creationId xmlns:a16="http://schemas.microsoft.com/office/drawing/2014/main" xmlns="" id="{F9FA786A-4E8D-8E2D-1F3D-4C932E7373FF}"/>
              </a:ext>
            </a:extLst>
          </p:cNvPr>
          <p:cNvSpPr txBox="1">
            <a:spLocks noChangeArrowheads="1"/>
          </p:cNvSpPr>
          <p:nvPr/>
        </p:nvSpPr>
        <p:spPr bwMode="auto">
          <a:xfrm>
            <a:off x="5685170" y="2707680"/>
            <a:ext cx="1368425" cy="276999"/>
          </a:xfrm>
          <a:prstGeom prst="rect">
            <a:avLst/>
          </a:prstGeom>
          <a:noFill/>
          <a:ln w="9525" algn="ctr">
            <a:noFill/>
            <a:miter lim="800000"/>
            <a:headEnd/>
            <a:tailEnd type="none" w="med" len="lg"/>
          </a:ln>
          <a:effectLst/>
        </p:spPr>
        <p:txBody>
          <a:bodyPr lIns="0" tIns="0" rIns="0" bIns="0">
            <a:spAutoFit/>
          </a:bodyPr>
          <a:lstStyle/>
          <a:p>
            <a:pPr>
              <a:spcBef>
                <a:spcPct val="50000"/>
              </a:spcBef>
            </a:pPr>
            <a:r>
              <a:rPr lang="zh-CN" altLang="en-US" sz="1800">
                <a:solidFill>
                  <a:srgbClr val="C00000"/>
                </a:solidFill>
                <a:latin typeface="微软雅黑" pitchFamily="34" charset="-122"/>
                <a:ea typeface="微软雅黑" pitchFamily="34" charset="-122"/>
                <a:cs typeface="Times New Roman" pitchFamily="18" charset="0"/>
              </a:rPr>
              <a:t>中序序列：</a:t>
            </a:r>
          </a:p>
        </p:txBody>
      </p:sp>
      <p:sp>
        <p:nvSpPr>
          <p:cNvPr id="16" name="Text Box 15">
            <a:extLst>
              <a:ext uri="{FF2B5EF4-FFF2-40B4-BE49-F238E27FC236}">
                <a16:creationId xmlns:a16="http://schemas.microsoft.com/office/drawing/2014/main" xmlns="" id="{4B2BF4CB-1E40-325B-037E-C9AE0477B204}"/>
              </a:ext>
            </a:extLst>
          </p:cNvPr>
          <p:cNvSpPr txBox="1">
            <a:spLocks noChangeArrowheads="1"/>
          </p:cNvSpPr>
          <p:nvPr/>
        </p:nvSpPr>
        <p:spPr bwMode="auto">
          <a:xfrm>
            <a:off x="6982158" y="2725143"/>
            <a:ext cx="3060730" cy="276999"/>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1800" i="1" dirty="0" err="1">
                <a:latin typeface="Consolas" pitchFamily="49" charset="0"/>
                <a:cs typeface="Consolas" pitchFamily="49" charset="0"/>
              </a:rPr>
              <a:t>b</a:t>
            </a:r>
            <a:r>
              <a:rPr lang="en-US" altLang="zh-CN" sz="1800" baseline="-25000" dirty="0" err="1">
                <a:latin typeface="Consolas" pitchFamily="49" charset="0"/>
                <a:cs typeface="Consolas" pitchFamily="49" charset="0"/>
              </a:rPr>
              <a:t>0</a:t>
            </a:r>
            <a:r>
              <a:rPr lang="en-US" altLang="zh-CN" sz="1800" dirty="0">
                <a:latin typeface="Consolas" pitchFamily="49" charset="0"/>
                <a:cs typeface="Consolas" pitchFamily="49" charset="0"/>
              </a:rPr>
              <a:t> </a:t>
            </a:r>
            <a:r>
              <a:rPr lang="en-US" altLang="zh-CN" sz="1800" i="1" err="1">
                <a:latin typeface="Consolas" pitchFamily="49" charset="0"/>
                <a:cs typeface="Consolas" pitchFamily="49" charset="0"/>
              </a:rPr>
              <a:t>b</a:t>
            </a:r>
            <a:r>
              <a:rPr lang="en-US" altLang="zh-CN" sz="1800" baseline="-25000" err="1">
                <a:latin typeface="Consolas" pitchFamily="49" charset="0"/>
                <a:cs typeface="Consolas" pitchFamily="49" charset="0"/>
              </a:rPr>
              <a:t>1</a:t>
            </a:r>
            <a:r>
              <a:rPr lang="en-US" altLang="zh-CN" sz="1800">
                <a:latin typeface="Consolas" pitchFamily="49" charset="0"/>
                <a:cs typeface="Consolas" pitchFamily="49" charset="0"/>
              </a:rPr>
              <a:t> </a:t>
            </a:r>
            <a:r>
              <a:rPr lang="en-US" altLang="zh-CN" sz="1800">
                <a:latin typeface="宋体" pitchFamily="2" charset="-122"/>
                <a:ea typeface="宋体" pitchFamily="2" charset="-122"/>
                <a:cs typeface="Consolas" pitchFamily="49" charset="0"/>
              </a:rPr>
              <a:t>…</a:t>
            </a:r>
            <a:r>
              <a:rPr lang="en-US" altLang="zh-CN" sz="1800" i="1">
                <a:latin typeface="Consolas" pitchFamily="49" charset="0"/>
                <a:ea typeface="宋体" pitchFamily="2" charset="-122"/>
                <a:cs typeface="Consolas" pitchFamily="49" charset="0"/>
              </a:rPr>
              <a:t>b</a:t>
            </a:r>
            <a:r>
              <a:rPr lang="en-US" altLang="zh-CN" sz="1800" i="1" baseline="-25000">
                <a:latin typeface="Consolas" pitchFamily="49" charset="0"/>
                <a:ea typeface="宋体" pitchFamily="2" charset="-122"/>
                <a:cs typeface="Consolas" pitchFamily="49" charset="0"/>
              </a:rPr>
              <a:t>k</a:t>
            </a:r>
            <a:r>
              <a:rPr lang="en-US" altLang="zh-CN" sz="1800" baseline="-25000">
                <a:latin typeface="Consolas" pitchFamily="49" charset="0"/>
                <a:ea typeface="宋体" pitchFamily="2" charset="-122"/>
                <a:cs typeface="Consolas" pitchFamily="49" charset="0"/>
              </a:rPr>
              <a:t>-1</a:t>
            </a:r>
            <a:r>
              <a:rPr lang="en-US" altLang="zh-CN" sz="1800">
                <a:latin typeface="Consolas" pitchFamily="49" charset="0"/>
                <a:cs typeface="Consolas" pitchFamily="49" charset="0"/>
              </a:rPr>
              <a:t> </a:t>
            </a:r>
            <a:r>
              <a:rPr lang="en-US" altLang="zh-CN" sz="1800" i="1" err="1">
                <a:solidFill>
                  <a:srgbClr val="FF0000"/>
                </a:solidFill>
                <a:latin typeface="Consolas" pitchFamily="49" charset="0"/>
                <a:cs typeface="Consolas" pitchFamily="49" charset="0"/>
              </a:rPr>
              <a:t>b</a:t>
            </a:r>
            <a:r>
              <a:rPr lang="en-US" altLang="zh-CN" sz="1800" i="1" baseline="-25000" err="1">
                <a:solidFill>
                  <a:srgbClr val="FF0000"/>
                </a:solidFill>
                <a:latin typeface="Consolas" pitchFamily="49" charset="0"/>
                <a:cs typeface="Consolas" pitchFamily="49" charset="0"/>
              </a:rPr>
              <a:t>k</a:t>
            </a:r>
            <a:r>
              <a:rPr lang="en-US" altLang="zh-CN" sz="1800">
                <a:latin typeface="Consolas" pitchFamily="49" charset="0"/>
                <a:cs typeface="Consolas" pitchFamily="49" charset="0"/>
              </a:rPr>
              <a:t> </a:t>
            </a:r>
            <a:r>
              <a:rPr lang="en-US" altLang="zh-CN" sz="1800" i="1">
                <a:latin typeface="Consolas" pitchFamily="49" charset="0"/>
                <a:cs typeface="Consolas" pitchFamily="49" charset="0"/>
              </a:rPr>
              <a:t>b</a:t>
            </a:r>
            <a:r>
              <a:rPr lang="en-US" altLang="zh-CN" sz="1800" i="1" baseline="-25000">
                <a:latin typeface="Consolas" pitchFamily="49" charset="0"/>
                <a:cs typeface="Consolas" pitchFamily="49" charset="0"/>
              </a:rPr>
              <a:t>k</a:t>
            </a:r>
            <a:r>
              <a:rPr lang="en-US" altLang="zh-CN" sz="1800" baseline="-25000">
                <a:latin typeface="Consolas" pitchFamily="49" charset="0"/>
                <a:cs typeface="Consolas" pitchFamily="49" charset="0"/>
              </a:rPr>
              <a:t>+1</a:t>
            </a:r>
            <a:r>
              <a:rPr lang="en-US" altLang="zh-CN" sz="1800">
                <a:latin typeface="Consolas" pitchFamily="49" charset="0"/>
                <a:cs typeface="Consolas" pitchFamily="49" charset="0"/>
              </a:rPr>
              <a:t> </a:t>
            </a:r>
            <a:r>
              <a:rPr lang="en-US" altLang="zh-CN" sz="1800">
                <a:latin typeface="宋体" pitchFamily="2" charset="-122"/>
                <a:ea typeface="宋体" pitchFamily="2" charset="-122"/>
                <a:cs typeface="Consolas" pitchFamily="49" charset="0"/>
              </a:rPr>
              <a:t>…</a:t>
            </a:r>
            <a:r>
              <a:rPr lang="en-US" altLang="zh-CN" sz="1800" i="1">
                <a:latin typeface="Consolas" pitchFamily="49" charset="0"/>
                <a:cs typeface="Consolas" pitchFamily="49" charset="0"/>
              </a:rPr>
              <a:t>b</a:t>
            </a:r>
            <a:r>
              <a:rPr lang="en-US" altLang="zh-CN" sz="1800" i="1" baseline="-25000">
                <a:latin typeface="Consolas" pitchFamily="49" charset="0"/>
                <a:cs typeface="Consolas" pitchFamily="49" charset="0"/>
              </a:rPr>
              <a:t>n</a:t>
            </a:r>
            <a:r>
              <a:rPr lang="en-US" altLang="zh-CN" sz="1800" baseline="-25000">
                <a:latin typeface="Consolas" pitchFamily="49" charset="0"/>
                <a:cs typeface="Consolas" pitchFamily="49" charset="0"/>
              </a:rPr>
              <a:t>-1</a:t>
            </a:r>
            <a:endParaRPr lang="en-US" altLang="en-US" sz="1800" baseline="-25000" dirty="0">
              <a:latin typeface="Consolas" pitchFamily="49" charset="0"/>
              <a:cs typeface="Consolas" pitchFamily="49" charset="0"/>
            </a:endParaRPr>
          </a:p>
        </p:txBody>
      </p:sp>
      <p:grpSp>
        <p:nvGrpSpPr>
          <p:cNvPr id="17" name="组合 21">
            <a:extLst>
              <a:ext uri="{FF2B5EF4-FFF2-40B4-BE49-F238E27FC236}">
                <a16:creationId xmlns:a16="http://schemas.microsoft.com/office/drawing/2014/main" xmlns="" id="{5EC60BE3-4677-2159-02D9-E1A2A79A0570}"/>
              </a:ext>
            </a:extLst>
          </p:cNvPr>
          <p:cNvGrpSpPr/>
          <p:nvPr/>
        </p:nvGrpSpPr>
        <p:grpSpPr>
          <a:xfrm>
            <a:off x="7118662" y="3129962"/>
            <a:ext cx="1004924" cy="1348570"/>
            <a:chOff x="6011862" y="3143247"/>
            <a:chExt cx="1004924" cy="1348570"/>
          </a:xfrm>
        </p:grpSpPr>
        <p:sp>
          <p:nvSpPr>
            <p:cNvPr id="18" name="Text Box 12">
              <a:extLst>
                <a:ext uri="{FF2B5EF4-FFF2-40B4-BE49-F238E27FC236}">
                  <a16:creationId xmlns:a16="http://schemas.microsoft.com/office/drawing/2014/main" xmlns="" id="{A51968C3-592C-1F59-BCDB-28C112866883}"/>
                </a:ext>
              </a:extLst>
            </p:cNvPr>
            <p:cNvSpPr txBox="1">
              <a:spLocks noChangeArrowheads="1"/>
            </p:cNvSpPr>
            <p:nvPr/>
          </p:nvSpPr>
          <p:spPr bwMode="auto">
            <a:xfrm>
              <a:off x="6027757" y="3383821"/>
              <a:ext cx="989029" cy="1107996"/>
            </a:xfrm>
            <a:prstGeom prst="rect">
              <a:avLst/>
            </a:prstGeom>
            <a:noFill/>
            <a:ln w="9525" algn="ctr">
              <a:noFill/>
              <a:miter lim="800000"/>
              <a:headEnd/>
              <a:tailEnd type="none" w="med" len="lg"/>
            </a:ln>
            <a:effectLst/>
          </p:spPr>
          <p:txBody>
            <a:bodyPr wrap="square" lIns="0" tIns="0" rIns="0" bIns="0">
              <a:spAutoFit/>
            </a:bodyPr>
            <a:lstStyle/>
            <a:p>
              <a:pPr>
                <a:spcBef>
                  <a:spcPct val="50000"/>
                </a:spcBef>
              </a:pPr>
              <a:r>
                <a:rPr lang="zh-CN" altLang="en-US" sz="1800" dirty="0">
                  <a:latin typeface="Consolas" pitchFamily="49" charset="0"/>
                  <a:ea typeface="仿宋" pitchFamily="49" charset="-122"/>
                  <a:cs typeface="Consolas" pitchFamily="49" charset="0"/>
                </a:rPr>
                <a:t>左子树中</a:t>
              </a:r>
              <a:r>
                <a:rPr lang="zh-CN" altLang="en-US" sz="1800">
                  <a:latin typeface="Consolas" pitchFamily="49" charset="0"/>
                  <a:ea typeface="仿宋" pitchFamily="49" charset="-122"/>
                  <a:cs typeface="Consolas" pitchFamily="49" charset="0"/>
                </a:rPr>
                <a:t>序序列，有</a:t>
              </a:r>
              <a:r>
                <a:rPr lang="en-US" altLang="zh-CN" sz="1800" i="1">
                  <a:latin typeface="Consolas" pitchFamily="49" charset="0"/>
                  <a:ea typeface="仿宋" pitchFamily="49" charset="-122"/>
                  <a:cs typeface="Consolas" pitchFamily="49" charset="0"/>
                </a:rPr>
                <a:t>k</a:t>
              </a:r>
              <a:r>
                <a:rPr lang="zh-CN" altLang="en-US" sz="1800">
                  <a:latin typeface="Consolas" pitchFamily="49" charset="0"/>
                  <a:ea typeface="仿宋" pitchFamily="49" charset="-122"/>
                  <a:cs typeface="Consolas" pitchFamily="49" charset="0"/>
                </a:rPr>
                <a:t>个结点</a:t>
              </a:r>
              <a:endParaRPr lang="zh-CN" altLang="en-US" sz="1800" dirty="0">
                <a:latin typeface="Consolas" pitchFamily="49" charset="0"/>
                <a:ea typeface="仿宋" pitchFamily="49" charset="-122"/>
                <a:cs typeface="Consolas" pitchFamily="49" charset="0"/>
              </a:endParaRPr>
            </a:p>
          </p:txBody>
        </p:sp>
        <p:sp>
          <p:nvSpPr>
            <p:cNvPr id="19" name="AutoShape 16">
              <a:extLst>
                <a:ext uri="{FF2B5EF4-FFF2-40B4-BE49-F238E27FC236}">
                  <a16:creationId xmlns:a16="http://schemas.microsoft.com/office/drawing/2014/main" xmlns="" id="{D649F90C-0D87-F056-AE47-7B7517630C13}"/>
                </a:ext>
              </a:extLst>
            </p:cNvPr>
            <p:cNvSpPr>
              <a:spLocks/>
            </p:cNvSpPr>
            <p:nvPr/>
          </p:nvSpPr>
          <p:spPr bwMode="auto">
            <a:xfrm rot="16200000">
              <a:off x="6423837" y="2731272"/>
              <a:ext cx="142876" cy="966825"/>
            </a:xfrm>
            <a:prstGeom prst="leftBrace">
              <a:avLst>
                <a:gd name="adj1" fmla="val 49817"/>
                <a:gd name="adj2" fmla="val 50000"/>
              </a:avLst>
            </a:prstGeom>
            <a:ln>
              <a:headEnd/>
              <a:tailEnd type="none" w="med" len="lg"/>
            </a:ln>
          </p:spPr>
          <p:style>
            <a:lnRef idx="2">
              <a:schemeClr val="accent2"/>
            </a:lnRef>
            <a:fillRef idx="0">
              <a:schemeClr val="accent2"/>
            </a:fillRef>
            <a:effectRef idx="1">
              <a:schemeClr val="accent2"/>
            </a:effectRef>
            <a:fontRef idx="minor">
              <a:schemeClr val="tx1"/>
            </a:fontRef>
          </p:style>
          <p:txBody>
            <a:bodyPr wrap="none" anchor="ctr"/>
            <a:lstStyle/>
            <a:p>
              <a:endParaRPr lang="zh-CN" altLang="en-US" sz="1800">
                <a:latin typeface="Consolas" pitchFamily="49" charset="0"/>
                <a:ea typeface="仿宋" pitchFamily="49" charset="-122"/>
                <a:cs typeface="Consolas" pitchFamily="49" charset="0"/>
              </a:endParaRPr>
            </a:p>
          </p:txBody>
        </p:sp>
      </p:grpSp>
      <p:grpSp>
        <p:nvGrpSpPr>
          <p:cNvPr id="20" name="组合 22">
            <a:extLst>
              <a:ext uri="{FF2B5EF4-FFF2-40B4-BE49-F238E27FC236}">
                <a16:creationId xmlns:a16="http://schemas.microsoft.com/office/drawing/2014/main" xmlns="" id="{9A24A139-772A-5F78-BDFD-64B2AADA677B}"/>
              </a:ext>
            </a:extLst>
          </p:cNvPr>
          <p:cNvGrpSpPr/>
          <p:nvPr/>
        </p:nvGrpSpPr>
        <p:grpSpPr>
          <a:xfrm>
            <a:off x="8731614" y="3128375"/>
            <a:ext cx="1082672" cy="1350157"/>
            <a:chOff x="7500958" y="3141660"/>
            <a:chExt cx="1082672" cy="1350157"/>
          </a:xfrm>
        </p:grpSpPr>
        <p:sp>
          <p:nvSpPr>
            <p:cNvPr id="21" name="Text Box 13">
              <a:extLst>
                <a:ext uri="{FF2B5EF4-FFF2-40B4-BE49-F238E27FC236}">
                  <a16:creationId xmlns:a16="http://schemas.microsoft.com/office/drawing/2014/main" xmlns="" id="{C71C2C00-33A9-7C2C-5C5C-738BED593D1F}"/>
                </a:ext>
              </a:extLst>
            </p:cNvPr>
            <p:cNvSpPr txBox="1">
              <a:spLocks noChangeArrowheads="1"/>
            </p:cNvSpPr>
            <p:nvPr/>
          </p:nvSpPr>
          <p:spPr bwMode="auto">
            <a:xfrm>
              <a:off x="7500958" y="3383821"/>
              <a:ext cx="1082672" cy="1107996"/>
            </a:xfrm>
            <a:prstGeom prst="rect">
              <a:avLst/>
            </a:prstGeom>
            <a:noFill/>
            <a:ln w="9525" algn="ctr">
              <a:noFill/>
              <a:miter lim="800000"/>
              <a:headEnd/>
              <a:tailEnd type="none" w="med" len="lg"/>
            </a:ln>
            <a:effectLst/>
          </p:spPr>
          <p:txBody>
            <a:bodyPr wrap="square" lIns="0" tIns="0" rIns="0" bIns="0">
              <a:spAutoFit/>
            </a:bodyPr>
            <a:lstStyle/>
            <a:p>
              <a:pPr>
                <a:spcBef>
                  <a:spcPct val="50000"/>
                </a:spcBef>
              </a:pPr>
              <a:r>
                <a:rPr lang="zh-CN" altLang="en-US" sz="1800" dirty="0">
                  <a:latin typeface="Consolas" pitchFamily="49" charset="0"/>
                  <a:ea typeface="仿宋" pitchFamily="49" charset="-122"/>
                  <a:cs typeface="Consolas" pitchFamily="49" charset="0"/>
                </a:rPr>
                <a:t>右子树中</a:t>
              </a:r>
              <a:r>
                <a:rPr lang="zh-CN" altLang="en-US" sz="1800">
                  <a:latin typeface="Consolas" pitchFamily="49" charset="0"/>
                  <a:ea typeface="仿宋" pitchFamily="49" charset="-122"/>
                  <a:cs typeface="Consolas" pitchFamily="49" charset="0"/>
                </a:rPr>
                <a:t>序序列，有</a:t>
              </a:r>
              <a:r>
                <a:rPr lang="en-US" altLang="zh-CN" sz="1800" i="1">
                  <a:latin typeface="Consolas" pitchFamily="49" charset="0"/>
                  <a:ea typeface="仿宋" pitchFamily="49" charset="-122"/>
                  <a:cs typeface="Consolas" pitchFamily="49" charset="0"/>
                </a:rPr>
                <a:t>n</a:t>
              </a:r>
              <a:r>
                <a:rPr lang="en-US" altLang="zh-CN" sz="1800">
                  <a:latin typeface="Consolas" pitchFamily="49" charset="0"/>
                  <a:ea typeface="仿宋" pitchFamily="49" charset="-122"/>
                  <a:cs typeface="Consolas" pitchFamily="49" charset="0"/>
                </a:rPr>
                <a:t>-</a:t>
              </a:r>
              <a:r>
                <a:rPr lang="en-US" altLang="zh-CN" sz="1800" i="1">
                  <a:latin typeface="Consolas" pitchFamily="49" charset="0"/>
                  <a:ea typeface="仿宋" pitchFamily="49" charset="-122"/>
                  <a:cs typeface="Consolas" pitchFamily="49" charset="0"/>
                </a:rPr>
                <a:t>k</a:t>
              </a:r>
              <a:r>
                <a:rPr lang="en-US" altLang="zh-CN" sz="1800">
                  <a:latin typeface="Consolas" pitchFamily="49" charset="0"/>
                  <a:ea typeface="仿宋" pitchFamily="49" charset="-122"/>
                  <a:cs typeface="Consolas" pitchFamily="49" charset="0"/>
                </a:rPr>
                <a:t>-1</a:t>
              </a:r>
              <a:r>
                <a:rPr lang="zh-CN" altLang="en-US" sz="1800">
                  <a:latin typeface="Consolas" pitchFamily="49" charset="0"/>
                  <a:ea typeface="仿宋" pitchFamily="49" charset="-122"/>
                  <a:cs typeface="Consolas" pitchFamily="49" charset="0"/>
                </a:rPr>
                <a:t>个结点</a:t>
              </a:r>
              <a:endParaRPr lang="zh-CN" altLang="en-US" sz="1800" dirty="0">
                <a:latin typeface="Consolas" pitchFamily="49" charset="0"/>
                <a:ea typeface="仿宋" pitchFamily="49" charset="-122"/>
                <a:cs typeface="Consolas" pitchFamily="49" charset="0"/>
              </a:endParaRPr>
            </a:p>
          </p:txBody>
        </p:sp>
        <p:sp>
          <p:nvSpPr>
            <p:cNvPr id="22" name="AutoShape 17">
              <a:extLst>
                <a:ext uri="{FF2B5EF4-FFF2-40B4-BE49-F238E27FC236}">
                  <a16:creationId xmlns:a16="http://schemas.microsoft.com/office/drawing/2014/main" xmlns="" id="{ED7199F7-07D4-E9B3-577E-05AC6DF41916}"/>
                </a:ext>
              </a:extLst>
            </p:cNvPr>
            <p:cNvSpPr>
              <a:spLocks/>
            </p:cNvSpPr>
            <p:nvPr/>
          </p:nvSpPr>
          <p:spPr bwMode="auto">
            <a:xfrm rot="16200000">
              <a:off x="7925620" y="2782092"/>
              <a:ext cx="144463" cy="863600"/>
            </a:xfrm>
            <a:prstGeom prst="leftBrace">
              <a:avLst>
                <a:gd name="adj1" fmla="val 49817"/>
                <a:gd name="adj2" fmla="val 50000"/>
              </a:avLst>
            </a:prstGeom>
            <a:ln>
              <a:headEnd/>
              <a:tailEnd type="none" w="med" len="lg"/>
            </a:ln>
          </p:spPr>
          <p:style>
            <a:lnRef idx="2">
              <a:schemeClr val="accent2"/>
            </a:lnRef>
            <a:fillRef idx="0">
              <a:schemeClr val="accent2"/>
            </a:fillRef>
            <a:effectRef idx="1">
              <a:schemeClr val="accent2"/>
            </a:effectRef>
            <a:fontRef idx="minor">
              <a:schemeClr val="tx1"/>
            </a:fontRef>
          </p:style>
          <p:txBody>
            <a:bodyPr wrap="none" anchor="ctr"/>
            <a:lstStyle/>
            <a:p>
              <a:endParaRPr lang="zh-CN" altLang="en-US" sz="1800">
                <a:latin typeface="Consolas" pitchFamily="49" charset="0"/>
                <a:ea typeface="仿宋" pitchFamily="49" charset="-122"/>
                <a:cs typeface="Consolas" pitchFamily="49" charset="0"/>
              </a:endParaRPr>
            </a:p>
          </p:txBody>
        </p:sp>
      </p:grpSp>
      <p:grpSp>
        <p:nvGrpSpPr>
          <p:cNvPr id="23" name="组合 24">
            <a:extLst>
              <a:ext uri="{FF2B5EF4-FFF2-40B4-BE49-F238E27FC236}">
                <a16:creationId xmlns:a16="http://schemas.microsoft.com/office/drawing/2014/main" xmlns="" id="{34E33651-7FF7-EC57-23EE-C38B557786EC}"/>
              </a:ext>
            </a:extLst>
          </p:cNvPr>
          <p:cNvGrpSpPr/>
          <p:nvPr/>
        </p:nvGrpSpPr>
        <p:grpSpPr>
          <a:xfrm>
            <a:off x="2827649" y="1986955"/>
            <a:ext cx="5652000" cy="777875"/>
            <a:chOff x="1692274" y="2000240"/>
            <a:chExt cx="5652000" cy="777875"/>
          </a:xfrm>
        </p:grpSpPr>
        <p:sp>
          <p:nvSpPr>
            <p:cNvPr id="24" name="Line 18">
              <a:extLst>
                <a:ext uri="{FF2B5EF4-FFF2-40B4-BE49-F238E27FC236}">
                  <a16:creationId xmlns:a16="http://schemas.microsoft.com/office/drawing/2014/main" xmlns="" id="{573FF36E-BB03-2A65-3501-F67E4D996832}"/>
                </a:ext>
              </a:extLst>
            </p:cNvPr>
            <p:cNvSpPr>
              <a:spLocks noChangeShapeType="1"/>
            </p:cNvSpPr>
            <p:nvPr/>
          </p:nvSpPr>
          <p:spPr bwMode="auto">
            <a:xfrm>
              <a:off x="1692275" y="2454265"/>
              <a:ext cx="0" cy="323850"/>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p>
          </p:txBody>
        </p:sp>
        <p:sp>
          <p:nvSpPr>
            <p:cNvPr id="25" name="Line 19">
              <a:extLst>
                <a:ext uri="{FF2B5EF4-FFF2-40B4-BE49-F238E27FC236}">
                  <a16:creationId xmlns:a16="http://schemas.microsoft.com/office/drawing/2014/main" xmlns="" id="{22660E79-A7F0-5DC3-B5B9-8122DA0C4D4A}"/>
                </a:ext>
              </a:extLst>
            </p:cNvPr>
            <p:cNvSpPr>
              <a:spLocks noChangeShapeType="1"/>
            </p:cNvSpPr>
            <p:nvPr/>
          </p:nvSpPr>
          <p:spPr bwMode="auto">
            <a:xfrm flipV="1">
              <a:off x="1692274" y="2433946"/>
              <a:ext cx="5652000" cy="0"/>
            </a:xfrm>
            <a:prstGeom prst="line">
              <a:avLst/>
            </a:prstGeom>
            <a:ln>
              <a:headEnd/>
              <a:tailEnd type="non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p>
          </p:txBody>
        </p:sp>
        <p:sp>
          <p:nvSpPr>
            <p:cNvPr id="26" name="Line 20">
              <a:extLst>
                <a:ext uri="{FF2B5EF4-FFF2-40B4-BE49-F238E27FC236}">
                  <a16:creationId xmlns:a16="http://schemas.microsoft.com/office/drawing/2014/main" xmlns="" id="{04792FBD-E638-A485-8240-FB6E925322F6}"/>
                </a:ext>
              </a:extLst>
            </p:cNvPr>
            <p:cNvSpPr>
              <a:spLocks noChangeShapeType="1"/>
            </p:cNvSpPr>
            <p:nvPr/>
          </p:nvSpPr>
          <p:spPr bwMode="auto">
            <a:xfrm>
              <a:off x="7335877" y="2444740"/>
              <a:ext cx="0" cy="323850"/>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a:p>
          </p:txBody>
        </p:sp>
        <p:sp>
          <p:nvSpPr>
            <p:cNvPr id="35" name="Text Box 22">
              <a:extLst>
                <a:ext uri="{FF2B5EF4-FFF2-40B4-BE49-F238E27FC236}">
                  <a16:creationId xmlns:a16="http://schemas.microsoft.com/office/drawing/2014/main" xmlns="" id="{BCB80019-3E23-51B9-559D-93598E7F7472}"/>
                </a:ext>
              </a:extLst>
            </p:cNvPr>
            <p:cNvSpPr txBox="1">
              <a:spLocks noChangeArrowheads="1"/>
            </p:cNvSpPr>
            <p:nvPr/>
          </p:nvSpPr>
          <p:spPr bwMode="auto">
            <a:xfrm>
              <a:off x="2692407" y="2000240"/>
              <a:ext cx="4032251" cy="307777"/>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zh-CN" altLang="en-US" sz="2000">
                  <a:latin typeface="Consolas" pitchFamily="49" charset="0"/>
                  <a:ea typeface="楷体" pitchFamily="49" charset="-122"/>
                  <a:cs typeface="Consolas" pitchFamily="49" charset="0"/>
                </a:rPr>
                <a:t>通过根结点</a:t>
              </a:r>
              <a:r>
                <a:rPr lang="en-US" altLang="zh-CN" sz="2000" i="1">
                  <a:solidFill>
                    <a:srgbClr val="FF0000"/>
                  </a:solidFill>
                  <a:latin typeface="Consolas" pitchFamily="49" charset="0"/>
                  <a:ea typeface="楷体" pitchFamily="49" charset="-122"/>
                  <a:cs typeface="Consolas" pitchFamily="49" charset="0"/>
                </a:rPr>
                <a:t>a</a:t>
              </a:r>
              <a:r>
                <a:rPr lang="en-US" altLang="zh-CN" sz="2000" baseline="-25000">
                  <a:solidFill>
                    <a:srgbClr val="FF0000"/>
                  </a:solidFill>
                  <a:latin typeface="Consolas" pitchFamily="49" charset="0"/>
                  <a:ea typeface="楷体" pitchFamily="49" charset="-122"/>
                  <a:cs typeface="Consolas" pitchFamily="49" charset="0"/>
                </a:rPr>
                <a:t>0</a:t>
              </a:r>
              <a:r>
                <a:rPr lang="zh-CN" altLang="en-US" sz="2000" dirty="0">
                  <a:latin typeface="Consolas" pitchFamily="49" charset="0"/>
                  <a:ea typeface="楷体" pitchFamily="49" charset="-122"/>
                  <a:cs typeface="Consolas" pitchFamily="49" charset="0"/>
                </a:rPr>
                <a:t>在中序序列中找到</a:t>
              </a:r>
              <a:r>
                <a:rPr lang="en-US" altLang="zh-CN" sz="2000" i="1" dirty="0" err="1">
                  <a:solidFill>
                    <a:srgbClr val="FF0000"/>
                  </a:solidFill>
                  <a:latin typeface="Consolas" pitchFamily="49" charset="0"/>
                  <a:ea typeface="楷体" pitchFamily="49" charset="-122"/>
                  <a:cs typeface="Consolas" pitchFamily="49" charset="0"/>
                </a:rPr>
                <a:t>b</a:t>
              </a:r>
              <a:r>
                <a:rPr lang="en-US" altLang="zh-CN" sz="2000" i="1" baseline="-25000" dirty="0" err="1">
                  <a:solidFill>
                    <a:srgbClr val="FF0000"/>
                  </a:solidFill>
                  <a:latin typeface="Consolas" pitchFamily="49" charset="0"/>
                  <a:ea typeface="楷体" pitchFamily="49" charset="-122"/>
                  <a:cs typeface="Consolas" pitchFamily="49" charset="0"/>
                </a:rPr>
                <a:t>k</a:t>
              </a:r>
              <a:endParaRPr lang="en-US" altLang="zh-CN" sz="2000" i="1" baseline="-25000" dirty="0">
                <a:solidFill>
                  <a:srgbClr val="FF0000"/>
                </a:solidFill>
                <a:latin typeface="Consolas" pitchFamily="49" charset="0"/>
                <a:ea typeface="楷体" pitchFamily="49" charset="-122"/>
                <a:cs typeface="Consolas" pitchFamily="49" charset="0"/>
              </a:endParaRPr>
            </a:p>
          </p:txBody>
        </p:sp>
      </p:grpSp>
      <p:grpSp>
        <p:nvGrpSpPr>
          <p:cNvPr id="36" name="组合 34">
            <a:extLst>
              <a:ext uri="{FF2B5EF4-FFF2-40B4-BE49-F238E27FC236}">
                <a16:creationId xmlns:a16="http://schemas.microsoft.com/office/drawing/2014/main" xmlns="" id="{5F0C8E7F-3F32-F816-EDC8-2D5713ECF9FC}"/>
              </a:ext>
            </a:extLst>
          </p:cNvPr>
          <p:cNvGrpSpPr/>
          <p:nvPr/>
        </p:nvGrpSpPr>
        <p:grpSpPr>
          <a:xfrm>
            <a:off x="3160076" y="4846926"/>
            <a:ext cx="5850293" cy="1766633"/>
            <a:chOff x="2079294" y="4638950"/>
            <a:chExt cx="5850293" cy="1766633"/>
          </a:xfrm>
        </p:grpSpPr>
        <p:sp>
          <p:nvSpPr>
            <p:cNvPr id="37" name="椭圆 36">
              <a:extLst>
                <a:ext uri="{FF2B5EF4-FFF2-40B4-BE49-F238E27FC236}">
                  <a16:creationId xmlns:a16="http://schemas.microsoft.com/office/drawing/2014/main" xmlns="" id="{4D389253-12D9-CBF3-C8D6-564E89B7B006}"/>
                </a:ext>
              </a:extLst>
            </p:cNvPr>
            <p:cNvSpPr/>
            <p:nvPr/>
          </p:nvSpPr>
          <p:spPr>
            <a:xfrm>
              <a:off x="4567504" y="4638950"/>
              <a:ext cx="576000" cy="576000"/>
            </a:xfrm>
            <a:prstGeom prst="ellipse">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0</a:t>
              </a:r>
              <a:endParaRPr lang="zh-CN" altLang="en-US" sz="1800" baseline="-25000">
                <a:solidFill>
                  <a:srgbClr val="FF0000"/>
                </a:solidFill>
                <a:latin typeface="Consolas" pitchFamily="49" charset="0"/>
                <a:cs typeface="Consolas" pitchFamily="49" charset="0"/>
              </a:endParaRPr>
            </a:p>
          </p:txBody>
        </p:sp>
        <p:sp>
          <p:nvSpPr>
            <p:cNvPr id="38" name="TextBox 26">
              <a:extLst>
                <a:ext uri="{FF2B5EF4-FFF2-40B4-BE49-F238E27FC236}">
                  <a16:creationId xmlns:a16="http://schemas.microsoft.com/office/drawing/2014/main" xmlns="" id="{A4016714-E2D7-357B-B819-662F995C60F9}"/>
                </a:ext>
              </a:extLst>
            </p:cNvPr>
            <p:cNvSpPr txBox="1"/>
            <p:nvPr/>
          </p:nvSpPr>
          <p:spPr>
            <a:xfrm>
              <a:off x="2571736" y="5507196"/>
              <a:ext cx="221457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l"/>
              <a:r>
                <a:rPr lang="zh-CN" altLang="en-US" sz="1800">
                  <a:solidFill>
                    <a:srgbClr val="3333FF"/>
                  </a:solidFill>
                  <a:latin typeface="Consolas" pitchFamily="49" charset="0"/>
                  <a:ea typeface="楷体" pitchFamily="49" charset="-122"/>
                  <a:cs typeface="Consolas" pitchFamily="49" charset="0"/>
                </a:rPr>
                <a:t>先序：</a:t>
              </a:r>
              <a:r>
                <a:rPr lang="en-US" altLang="zh-CN" sz="1800" i="1">
                  <a:solidFill>
                    <a:srgbClr val="3333FF"/>
                  </a:solidFill>
                  <a:latin typeface="Consolas" pitchFamily="49" charset="0"/>
                  <a:cs typeface="Consolas" pitchFamily="49" charset="0"/>
                </a:rPr>
                <a:t>a</a:t>
              </a:r>
              <a:r>
                <a:rPr lang="en-US" altLang="zh-CN" sz="1800" baseline="-25000">
                  <a:solidFill>
                    <a:srgbClr val="3333FF"/>
                  </a:solidFill>
                  <a:latin typeface="Consolas" pitchFamily="49" charset="0"/>
                  <a:cs typeface="Consolas" pitchFamily="49" charset="0"/>
                </a:rPr>
                <a:t>1</a:t>
              </a:r>
              <a:r>
                <a:rPr lang="en-US" altLang="zh-CN" sz="1800">
                  <a:solidFill>
                    <a:srgbClr val="3333FF"/>
                  </a:solidFill>
                  <a:latin typeface="Consolas" pitchFamily="49" charset="0"/>
                  <a:cs typeface="Consolas" pitchFamily="49" charset="0"/>
                </a:rPr>
                <a:t>  </a:t>
              </a:r>
              <a:r>
                <a:rPr lang="en-US" altLang="zh-CN" sz="1800">
                  <a:solidFill>
                    <a:srgbClr val="3333FF"/>
                  </a:solidFill>
                  <a:latin typeface="宋体" pitchFamily="2" charset="-122"/>
                  <a:ea typeface="宋体" pitchFamily="2" charset="-122"/>
                  <a:cs typeface="Consolas" pitchFamily="49" charset="0"/>
                </a:rPr>
                <a:t>…</a:t>
              </a:r>
              <a:r>
                <a:rPr lang="en-US" altLang="zh-CN" sz="1800">
                  <a:solidFill>
                    <a:srgbClr val="3333FF"/>
                  </a:solidFill>
                  <a:latin typeface="Consolas" pitchFamily="49" charset="0"/>
                  <a:ea typeface="宋体" pitchFamily="2" charset="-122"/>
                  <a:cs typeface="Consolas" pitchFamily="49" charset="0"/>
                </a:rPr>
                <a:t> </a:t>
              </a:r>
              <a:r>
                <a:rPr lang="en-US" altLang="zh-CN" sz="1800">
                  <a:solidFill>
                    <a:srgbClr val="3333FF"/>
                  </a:solidFill>
                  <a:latin typeface="Consolas" pitchFamily="49" charset="0"/>
                  <a:cs typeface="Consolas" pitchFamily="49" charset="0"/>
                </a:rPr>
                <a:t> </a:t>
              </a:r>
              <a:r>
                <a:rPr lang="en-US" altLang="zh-CN" sz="1800" i="1">
                  <a:solidFill>
                    <a:srgbClr val="3333FF"/>
                  </a:solidFill>
                  <a:latin typeface="Consolas" pitchFamily="49" charset="0"/>
                  <a:cs typeface="Consolas" pitchFamily="49" charset="0"/>
                </a:rPr>
                <a:t>a</a:t>
              </a:r>
              <a:r>
                <a:rPr lang="en-US" altLang="zh-CN" sz="1800" i="1" baseline="-25000">
                  <a:solidFill>
                    <a:srgbClr val="3333FF"/>
                  </a:solidFill>
                  <a:latin typeface="Consolas" pitchFamily="49" charset="0"/>
                  <a:cs typeface="Consolas" pitchFamily="49" charset="0"/>
                </a:rPr>
                <a:t>k</a:t>
              </a:r>
            </a:p>
            <a:p>
              <a:pPr algn="l"/>
              <a:r>
                <a:rPr lang="zh-CN" altLang="en-US" sz="1800">
                  <a:solidFill>
                    <a:srgbClr val="3333FF"/>
                  </a:solidFill>
                  <a:latin typeface="Consolas" pitchFamily="49" charset="0"/>
                  <a:ea typeface="楷体" pitchFamily="49" charset="-122"/>
                  <a:cs typeface="Consolas" pitchFamily="49" charset="0"/>
                </a:rPr>
                <a:t>中序：</a:t>
              </a:r>
              <a:r>
                <a:rPr lang="en-US" altLang="zh-CN" sz="1800" i="1">
                  <a:solidFill>
                    <a:srgbClr val="3333FF"/>
                  </a:solidFill>
                  <a:latin typeface="Consolas" pitchFamily="49" charset="0"/>
                  <a:cs typeface="Consolas" pitchFamily="49" charset="0"/>
                </a:rPr>
                <a:t>b</a:t>
              </a:r>
              <a:r>
                <a:rPr lang="en-US" altLang="zh-CN" sz="1800" baseline="-25000">
                  <a:solidFill>
                    <a:srgbClr val="3333FF"/>
                  </a:solidFill>
                  <a:latin typeface="Consolas" pitchFamily="49" charset="0"/>
                  <a:cs typeface="Consolas" pitchFamily="49" charset="0"/>
                </a:rPr>
                <a:t>0</a:t>
              </a:r>
              <a:r>
                <a:rPr lang="en-US" altLang="zh-CN" sz="1800">
                  <a:solidFill>
                    <a:srgbClr val="3333FF"/>
                  </a:solidFill>
                  <a:latin typeface="Consolas" pitchFamily="49" charset="0"/>
                  <a:cs typeface="Consolas" pitchFamily="49" charset="0"/>
                </a:rPr>
                <a:t>  </a:t>
              </a:r>
              <a:r>
                <a:rPr lang="en-US" altLang="zh-CN" sz="1800">
                  <a:solidFill>
                    <a:srgbClr val="3333FF"/>
                  </a:solidFill>
                  <a:latin typeface="宋体" pitchFamily="2" charset="-122"/>
                  <a:ea typeface="宋体" pitchFamily="2" charset="-122"/>
                  <a:cs typeface="Consolas" pitchFamily="49" charset="0"/>
                </a:rPr>
                <a:t>…</a:t>
              </a:r>
              <a:r>
                <a:rPr lang="en-US" altLang="zh-CN" sz="1800">
                  <a:solidFill>
                    <a:srgbClr val="3333FF"/>
                  </a:solidFill>
                  <a:latin typeface="Consolas" pitchFamily="49" charset="0"/>
                  <a:ea typeface="宋体" pitchFamily="2" charset="-122"/>
                  <a:cs typeface="Consolas" pitchFamily="49" charset="0"/>
                </a:rPr>
                <a:t> </a:t>
              </a:r>
              <a:r>
                <a:rPr lang="en-US" altLang="zh-CN" sz="1800" i="1">
                  <a:solidFill>
                    <a:srgbClr val="3333FF"/>
                  </a:solidFill>
                  <a:latin typeface="Consolas" pitchFamily="49" charset="0"/>
                  <a:ea typeface="宋体" pitchFamily="2" charset="-122"/>
                  <a:cs typeface="Consolas" pitchFamily="49" charset="0"/>
                </a:rPr>
                <a:t>b</a:t>
              </a:r>
              <a:r>
                <a:rPr lang="en-US" altLang="zh-CN" sz="1800" i="1" baseline="-25000">
                  <a:solidFill>
                    <a:srgbClr val="3333FF"/>
                  </a:solidFill>
                  <a:latin typeface="Consolas" pitchFamily="49" charset="0"/>
                  <a:ea typeface="宋体" pitchFamily="2" charset="-122"/>
                  <a:cs typeface="Consolas" pitchFamily="49" charset="0"/>
                </a:rPr>
                <a:t>k</a:t>
              </a:r>
              <a:r>
                <a:rPr lang="en-US" altLang="zh-CN" sz="1800" baseline="-25000">
                  <a:solidFill>
                    <a:srgbClr val="3333FF"/>
                  </a:solidFill>
                  <a:latin typeface="Consolas" pitchFamily="49" charset="0"/>
                  <a:ea typeface="宋体" pitchFamily="2" charset="-122"/>
                  <a:cs typeface="Consolas" pitchFamily="49" charset="0"/>
                </a:rPr>
                <a:t>-1</a:t>
              </a:r>
              <a:endParaRPr lang="zh-CN" altLang="en-US" sz="1800">
                <a:solidFill>
                  <a:srgbClr val="3333FF"/>
                </a:solidFill>
                <a:latin typeface="Consolas" pitchFamily="49" charset="0"/>
                <a:cs typeface="Consolas" pitchFamily="49" charset="0"/>
              </a:endParaRPr>
            </a:p>
          </p:txBody>
        </p:sp>
        <p:sp>
          <p:nvSpPr>
            <p:cNvPr id="39" name="TextBox 27">
              <a:extLst>
                <a:ext uri="{FF2B5EF4-FFF2-40B4-BE49-F238E27FC236}">
                  <a16:creationId xmlns:a16="http://schemas.microsoft.com/office/drawing/2014/main" xmlns="" id="{FC6F928B-F1F1-8927-AE36-1CB89BC033FB}"/>
                </a:ext>
              </a:extLst>
            </p:cNvPr>
            <p:cNvSpPr txBox="1"/>
            <p:nvPr/>
          </p:nvSpPr>
          <p:spPr>
            <a:xfrm>
              <a:off x="2079294" y="5191137"/>
              <a:ext cx="492443" cy="1214446"/>
            </a:xfrm>
            <a:prstGeom prst="rect">
              <a:avLst/>
            </a:prstGeom>
            <a:noFill/>
          </p:spPr>
          <p:txBody>
            <a:bodyPr vert="eaVert" wrap="square" rtlCol="0">
              <a:spAutoFit/>
            </a:bodyPr>
            <a:lstStyle/>
            <a:p>
              <a:r>
                <a:rPr lang="zh-CN" altLang="en-US" sz="2000">
                  <a:latin typeface="仿宋" pitchFamily="49" charset="-122"/>
                  <a:ea typeface="仿宋" pitchFamily="49" charset="-122"/>
                </a:rPr>
                <a:t>左子树</a:t>
              </a:r>
            </a:p>
          </p:txBody>
        </p:sp>
        <p:sp>
          <p:nvSpPr>
            <p:cNvPr id="40" name="TextBox 28">
              <a:extLst>
                <a:ext uri="{FF2B5EF4-FFF2-40B4-BE49-F238E27FC236}">
                  <a16:creationId xmlns:a16="http://schemas.microsoft.com/office/drawing/2014/main" xmlns="" id="{C4CFC494-F408-978D-0C08-B1E526B21A98}"/>
                </a:ext>
              </a:extLst>
            </p:cNvPr>
            <p:cNvSpPr txBox="1"/>
            <p:nvPr/>
          </p:nvSpPr>
          <p:spPr>
            <a:xfrm>
              <a:off x="5214942" y="5507196"/>
              <a:ext cx="2206955"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l"/>
              <a:r>
                <a:rPr lang="zh-CN" altLang="en-US" sz="1800">
                  <a:solidFill>
                    <a:srgbClr val="3333FF"/>
                  </a:solidFill>
                  <a:latin typeface="Consolas" pitchFamily="49" charset="0"/>
                  <a:ea typeface="楷体" pitchFamily="49" charset="-122"/>
                  <a:cs typeface="Consolas" pitchFamily="49" charset="0"/>
                </a:rPr>
                <a:t>先序：</a:t>
              </a:r>
              <a:r>
                <a:rPr lang="en-US" altLang="zh-CN" sz="1800" i="1">
                  <a:solidFill>
                    <a:srgbClr val="3333FF"/>
                  </a:solidFill>
                  <a:latin typeface="Consolas" pitchFamily="49" charset="0"/>
                  <a:cs typeface="Consolas" pitchFamily="49" charset="0"/>
                </a:rPr>
                <a:t>a</a:t>
              </a:r>
              <a:r>
                <a:rPr lang="en-US" altLang="zh-CN" sz="1800" i="1" baseline="-25000">
                  <a:solidFill>
                    <a:srgbClr val="3333FF"/>
                  </a:solidFill>
                  <a:latin typeface="Consolas" pitchFamily="49" charset="0"/>
                  <a:cs typeface="Consolas" pitchFamily="49" charset="0"/>
                </a:rPr>
                <a:t>k</a:t>
              </a:r>
              <a:r>
                <a:rPr lang="en-US" altLang="zh-CN" sz="1800" baseline="-25000">
                  <a:solidFill>
                    <a:srgbClr val="3333FF"/>
                  </a:solidFill>
                  <a:latin typeface="Consolas" pitchFamily="49" charset="0"/>
                  <a:cs typeface="Consolas" pitchFamily="49" charset="0"/>
                </a:rPr>
                <a:t>+1</a:t>
              </a:r>
              <a:r>
                <a:rPr lang="en-US" altLang="zh-CN" sz="1800">
                  <a:solidFill>
                    <a:srgbClr val="3333FF"/>
                  </a:solidFill>
                  <a:latin typeface="Consolas" pitchFamily="49" charset="0"/>
                  <a:cs typeface="Consolas" pitchFamily="49" charset="0"/>
                </a:rPr>
                <a:t> </a:t>
              </a:r>
              <a:r>
                <a:rPr lang="en-US" altLang="zh-CN" sz="1800">
                  <a:solidFill>
                    <a:srgbClr val="3333FF"/>
                  </a:solidFill>
                  <a:latin typeface="宋体" pitchFamily="2" charset="-122"/>
                  <a:ea typeface="宋体" pitchFamily="2" charset="-122"/>
                  <a:cs typeface="Consolas" pitchFamily="49" charset="0"/>
                </a:rPr>
                <a:t>…</a:t>
              </a:r>
              <a:r>
                <a:rPr lang="en-US" altLang="zh-CN" sz="1800">
                  <a:solidFill>
                    <a:srgbClr val="3333FF"/>
                  </a:solidFill>
                  <a:latin typeface="Consolas" pitchFamily="49" charset="0"/>
                  <a:cs typeface="Consolas" pitchFamily="49" charset="0"/>
                </a:rPr>
                <a:t> </a:t>
              </a:r>
              <a:r>
                <a:rPr lang="en-US" altLang="zh-CN" sz="1800" i="1">
                  <a:solidFill>
                    <a:srgbClr val="3333FF"/>
                  </a:solidFill>
                  <a:latin typeface="Consolas" pitchFamily="49" charset="0"/>
                  <a:cs typeface="Consolas" pitchFamily="49" charset="0"/>
                </a:rPr>
                <a:t>a</a:t>
              </a:r>
              <a:r>
                <a:rPr lang="en-US" altLang="zh-CN" sz="1800" i="1" baseline="-25000">
                  <a:solidFill>
                    <a:srgbClr val="3333FF"/>
                  </a:solidFill>
                  <a:latin typeface="Consolas" pitchFamily="49" charset="0"/>
                  <a:cs typeface="Consolas" pitchFamily="49" charset="0"/>
                </a:rPr>
                <a:t>n</a:t>
              </a:r>
              <a:r>
                <a:rPr lang="en-US" altLang="zh-CN" sz="1800" baseline="-25000">
                  <a:solidFill>
                    <a:srgbClr val="3333FF"/>
                  </a:solidFill>
                  <a:latin typeface="Consolas" pitchFamily="49" charset="0"/>
                  <a:cs typeface="Consolas" pitchFamily="49" charset="0"/>
                </a:rPr>
                <a:t>-1</a:t>
              </a:r>
              <a:endParaRPr lang="en-US" altLang="zh-CN" sz="1800" i="1" baseline="-25000">
                <a:solidFill>
                  <a:srgbClr val="3333FF"/>
                </a:solidFill>
                <a:latin typeface="Consolas" pitchFamily="49" charset="0"/>
                <a:cs typeface="Consolas" pitchFamily="49" charset="0"/>
              </a:endParaRPr>
            </a:p>
            <a:p>
              <a:pPr algn="l"/>
              <a:r>
                <a:rPr lang="zh-CN" altLang="en-US" sz="1800">
                  <a:solidFill>
                    <a:srgbClr val="3333FF"/>
                  </a:solidFill>
                  <a:latin typeface="Consolas" pitchFamily="49" charset="0"/>
                  <a:ea typeface="楷体" pitchFamily="49" charset="-122"/>
                  <a:cs typeface="Consolas" pitchFamily="49" charset="0"/>
                </a:rPr>
                <a:t>中序：</a:t>
              </a:r>
              <a:r>
                <a:rPr lang="en-US" altLang="zh-CN" sz="1800" i="1">
                  <a:solidFill>
                    <a:srgbClr val="3333FF"/>
                  </a:solidFill>
                  <a:latin typeface="Consolas" pitchFamily="49" charset="0"/>
                  <a:cs typeface="Consolas" pitchFamily="49" charset="0"/>
                </a:rPr>
                <a:t>b</a:t>
              </a:r>
              <a:r>
                <a:rPr lang="en-US" altLang="zh-CN" sz="1800" i="1" baseline="-25000">
                  <a:solidFill>
                    <a:srgbClr val="3333FF"/>
                  </a:solidFill>
                  <a:latin typeface="Consolas" pitchFamily="49" charset="0"/>
                  <a:cs typeface="Consolas" pitchFamily="49" charset="0"/>
                </a:rPr>
                <a:t>k</a:t>
              </a:r>
              <a:r>
                <a:rPr lang="en-US" altLang="zh-CN" sz="1800" baseline="-25000">
                  <a:solidFill>
                    <a:srgbClr val="3333FF"/>
                  </a:solidFill>
                  <a:latin typeface="Consolas" pitchFamily="49" charset="0"/>
                  <a:cs typeface="Consolas" pitchFamily="49" charset="0"/>
                </a:rPr>
                <a:t>+1</a:t>
              </a:r>
              <a:r>
                <a:rPr lang="en-US" altLang="zh-CN" sz="1800">
                  <a:solidFill>
                    <a:srgbClr val="3333FF"/>
                  </a:solidFill>
                  <a:latin typeface="Consolas" pitchFamily="49" charset="0"/>
                  <a:cs typeface="Consolas" pitchFamily="49" charset="0"/>
                </a:rPr>
                <a:t> </a:t>
              </a:r>
              <a:r>
                <a:rPr lang="en-US" altLang="zh-CN" sz="1800">
                  <a:solidFill>
                    <a:srgbClr val="3333FF"/>
                  </a:solidFill>
                  <a:latin typeface="宋体" pitchFamily="2" charset="-122"/>
                  <a:ea typeface="宋体" pitchFamily="2" charset="-122"/>
                  <a:cs typeface="Consolas" pitchFamily="49" charset="0"/>
                </a:rPr>
                <a:t>…</a:t>
              </a:r>
              <a:r>
                <a:rPr lang="en-US" altLang="zh-CN" sz="1800">
                  <a:solidFill>
                    <a:srgbClr val="3333FF"/>
                  </a:solidFill>
                  <a:latin typeface="Consolas" pitchFamily="49" charset="0"/>
                  <a:cs typeface="Consolas" pitchFamily="49" charset="0"/>
                </a:rPr>
                <a:t> </a:t>
              </a:r>
              <a:r>
                <a:rPr lang="en-US" altLang="zh-CN" sz="1800" i="1">
                  <a:solidFill>
                    <a:srgbClr val="3333FF"/>
                  </a:solidFill>
                  <a:latin typeface="Consolas" pitchFamily="49" charset="0"/>
                  <a:cs typeface="Consolas" pitchFamily="49" charset="0"/>
                </a:rPr>
                <a:t>b</a:t>
              </a:r>
              <a:r>
                <a:rPr lang="en-US" altLang="zh-CN" sz="1800" i="1" baseline="-25000">
                  <a:solidFill>
                    <a:srgbClr val="3333FF"/>
                  </a:solidFill>
                  <a:latin typeface="Consolas" pitchFamily="49" charset="0"/>
                  <a:cs typeface="Consolas" pitchFamily="49" charset="0"/>
                </a:rPr>
                <a:t>n</a:t>
              </a:r>
              <a:r>
                <a:rPr lang="en-US" altLang="zh-CN" sz="1800" baseline="-25000">
                  <a:solidFill>
                    <a:srgbClr val="3333FF"/>
                  </a:solidFill>
                  <a:latin typeface="Consolas" pitchFamily="49" charset="0"/>
                  <a:cs typeface="Consolas" pitchFamily="49" charset="0"/>
                </a:rPr>
                <a:t>-1</a:t>
              </a:r>
              <a:endParaRPr lang="en-US" altLang="en-US" sz="1800" baseline="-25000">
                <a:solidFill>
                  <a:srgbClr val="3333FF"/>
                </a:solidFill>
                <a:latin typeface="Consolas" pitchFamily="49" charset="0"/>
                <a:cs typeface="Consolas" pitchFamily="49" charset="0"/>
              </a:endParaRPr>
            </a:p>
          </p:txBody>
        </p:sp>
        <p:sp>
          <p:nvSpPr>
            <p:cNvPr id="41" name="TextBox 29">
              <a:extLst>
                <a:ext uri="{FF2B5EF4-FFF2-40B4-BE49-F238E27FC236}">
                  <a16:creationId xmlns:a16="http://schemas.microsoft.com/office/drawing/2014/main" xmlns="" id="{C68C10E9-354A-88BD-9E2B-8D716B226F05}"/>
                </a:ext>
              </a:extLst>
            </p:cNvPr>
            <p:cNvSpPr txBox="1"/>
            <p:nvPr/>
          </p:nvSpPr>
          <p:spPr>
            <a:xfrm>
              <a:off x="7437144" y="5191137"/>
              <a:ext cx="492443" cy="1214446"/>
            </a:xfrm>
            <a:prstGeom prst="rect">
              <a:avLst/>
            </a:prstGeom>
            <a:noFill/>
          </p:spPr>
          <p:txBody>
            <a:bodyPr vert="eaVert" wrap="square" rtlCol="0">
              <a:spAutoFit/>
            </a:bodyPr>
            <a:lstStyle/>
            <a:p>
              <a:r>
                <a:rPr lang="zh-CN" altLang="en-US" sz="2000">
                  <a:latin typeface="仿宋" pitchFamily="49" charset="-122"/>
                  <a:ea typeface="仿宋" pitchFamily="49" charset="-122"/>
                </a:rPr>
                <a:t>右子树</a:t>
              </a:r>
            </a:p>
          </p:txBody>
        </p:sp>
        <p:cxnSp>
          <p:nvCxnSpPr>
            <p:cNvPr id="42" name="直接连接符 41">
              <a:extLst>
                <a:ext uri="{FF2B5EF4-FFF2-40B4-BE49-F238E27FC236}">
                  <a16:creationId xmlns:a16="http://schemas.microsoft.com/office/drawing/2014/main" xmlns="" id="{B2C90E13-19FA-C263-E750-1918586F1C3C}"/>
                </a:ext>
              </a:extLst>
            </p:cNvPr>
            <p:cNvCxnSpPr>
              <a:stCxn id="37" idx="2"/>
              <a:endCxn id="38" idx="0"/>
            </p:cNvCxnSpPr>
            <p:nvPr/>
          </p:nvCxnSpPr>
          <p:spPr>
            <a:xfrm rot="10800000" flipV="1">
              <a:off x="3679026" y="4926950"/>
              <a:ext cx="888479" cy="58024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xmlns="" id="{22E1F4B4-C9D9-9D1C-A64E-3B63B6D8D478}"/>
                </a:ext>
              </a:extLst>
            </p:cNvPr>
            <p:cNvCxnSpPr>
              <a:stCxn id="37" idx="6"/>
              <a:endCxn id="40" idx="0"/>
            </p:cNvCxnSpPr>
            <p:nvPr/>
          </p:nvCxnSpPr>
          <p:spPr>
            <a:xfrm>
              <a:off x="5143504" y="4926950"/>
              <a:ext cx="1174916" cy="58024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44" name="下箭头 35">
            <a:extLst>
              <a:ext uri="{FF2B5EF4-FFF2-40B4-BE49-F238E27FC236}">
                <a16:creationId xmlns:a16="http://schemas.microsoft.com/office/drawing/2014/main" xmlns="" id="{E11016F4-4217-021F-B027-9FBDE384C70B}"/>
              </a:ext>
            </a:extLst>
          </p:cNvPr>
          <p:cNvSpPr/>
          <p:nvPr/>
        </p:nvSpPr>
        <p:spPr>
          <a:xfrm>
            <a:off x="5799471" y="4230108"/>
            <a:ext cx="285752" cy="500066"/>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9231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2"/>
          <p:cNvSpPr>
            <a:spLocks noChangeArrowheads="1"/>
          </p:cNvSpPr>
          <p:nvPr/>
        </p:nvSpPr>
        <p:spPr bwMode="auto">
          <a:xfrm>
            <a:off x="7902872" y="4371991"/>
            <a:ext cx="1079500" cy="151130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DEBA</a:t>
            </a:r>
          </a:p>
        </p:txBody>
      </p:sp>
      <p:sp>
        <p:nvSpPr>
          <p:cNvPr id="17" name="Rectangle 3"/>
          <p:cNvSpPr txBox="1">
            <a:spLocks noChangeArrowheads="1"/>
          </p:cNvSpPr>
          <p:nvPr/>
        </p:nvSpPr>
        <p:spPr>
          <a:xfrm>
            <a:off x="2308226" y="3762798"/>
            <a:ext cx="2707655" cy="99905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1000"/>
              </a:spcBef>
              <a:buNone/>
            </a:pPr>
            <a:r>
              <a:rPr kumimoji="1" lang="zh-CN" altLang="en-US" sz="2400" dirty="0">
                <a:latin typeface="微软雅黑" pitchFamily="34" charset="-122"/>
                <a:ea typeface="微软雅黑" pitchFamily="34" charset="-122"/>
                <a:cs typeface="经典粗黑简" pitchFamily="49" charset="-122"/>
              </a:rPr>
              <a:t>先序序列为：</a:t>
            </a:r>
          </a:p>
          <a:p>
            <a:pPr marL="0" indent="0">
              <a:spcBef>
                <a:spcPts val="1000"/>
              </a:spcBef>
              <a:buNone/>
            </a:pPr>
            <a:r>
              <a:rPr kumimoji="1" lang="zh-CN" altLang="en-US" sz="2400" dirty="0">
                <a:latin typeface="微软雅黑" pitchFamily="34" charset="-122"/>
                <a:ea typeface="微软雅黑" pitchFamily="34" charset="-122"/>
                <a:cs typeface="经典粗黑简" pitchFamily="49" charset="-122"/>
              </a:rPr>
              <a:t>中序序列为：</a:t>
            </a:r>
          </a:p>
        </p:txBody>
      </p:sp>
      <p:sp>
        <p:nvSpPr>
          <p:cNvPr id="18" name="Text Box 4"/>
          <p:cNvSpPr txBox="1">
            <a:spLocks noChangeArrowheads="1"/>
          </p:cNvSpPr>
          <p:nvPr/>
        </p:nvSpPr>
        <p:spPr bwMode="auto">
          <a:xfrm>
            <a:off x="4507643" y="3822478"/>
            <a:ext cx="527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a:latin typeface="Comic Sans MS" pitchFamily="66" charset="0"/>
              </a:rPr>
              <a:t>C</a:t>
            </a:r>
          </a:p>
        </p:txBody>
      </p:sp>
      <p:sp>
        <p:nvSpPr>
          <p:cNvPr id="19" name="Text Box 5"/>
          <p:cNvSpPr txBox="1">
            <a:spLocks noChangeArrowheads="1"/>
          </p:cNvSpPr>
          <p:nvPr/>
        </p:nvSpPr>
        <p:spPr bwMode="auto">
          <a:xfrm>
            <a:off x="5155343" y="3822478"/>
            <a:ext cx="527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a:latin typeface="Comic Sans MS" pitchFamily="66" charset="0"/>
              </a:rPr>
              <a:t>E</a:t>
            </a:r>
          </a:p>
        </p:txBody>
      </p:sp>
      <p:sp>
        <p:nvSpPr>
          <p:cNvPr id="20" name="Text Box 6"/>
          <p:cNvSpPr txBox="1">
            <a:spLocks noChangeArrowheads="1"/>
          </p:cNvSpPr>
          <p:nvPr/>
        </p:nvSpPr>
        <p:spPr bwMode="auto">
          <a:xfrm>
            <a:off x="5731606" y="3822478"/>
            <a:ext cx="527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a:latin typeface="Comic Sans MS" pitchFamily="66" charset="0"/>
              </a:rPr>
              <a:t>D</a:t>
            </a:r>
          </a:p>
        </p:txBody>
      </p:sp>
      <p:sp>
        <p:nvSpPr>
          <p:cNvPr id="21" name="Text Box 7"/>
          <p:cNvSpPr txBox="1">
            <a:spLocks noChangeArrowheads="1"/>
          </p:cNvSpPr>
          <p:nvPr/>
        </p:nvSpPr>
        <p:spPr bwMode="auto">
          <a:xfrm>
            <a:off x="7027006" y="3797078"/>
            <a:ext cx="527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a:latin typeface="Comic Sans MS" pitchFamily="66" charset="0"/>
              </a:rPr>
              <a:t>A</a:t>
            </a:r>
          </a:p>
        </p:txBody>
      </p:sp>
      <p:sp>
        <p:nvSpPr>
          <p:cNvPr id="22" name="Text Box 8"/>
          <p:cNvSpPr txBox="1">
            <a:spLocks noChangeArrowheads="1"/>
          </p:cNvSpPr>
          <p:nvPr/>
        </p:nvSpPr>
        <p:spPr bwMode="auto">
          <a:xfrm>
            <a:off x="6379306" y="3822478"/>
            <a:ext cx="527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a:latin typeface="Comic Sans MS" pitchFamily="66" charset="0"/>
              </a:rPr>
              <a:t>B</a:t>
            </a:r>
          </a:p>
        </p:txBody>
      </p:sp>
      <p:sp>
        <p:nvSpPr>
          <p:cNvPr id="23" name="Text Box 9"/>
          <p:cNvSpPr txBox="1">
            <a:spLocks noChangeArrowheads="1"/>
          </p:cNvSpPr>
          <p:nvPr/>
        </p:nvSpPr>
        <p:spPr bwMode="auto">
          <a:xfrm>
            <a:off x="4489747" y="4292352"/>
            <a:ext cx="527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a:latin typeface="Comic Sans MS" pitchFamily="66" charset="0"/>
              </a:rPr>
              <a:t>D</a:t>
            </a:r>
          </a:p>
        </p:txBody>
      </p:sp>
      <p:sp>
        <p:nvSpPr>
          <p:cNvPr id="24" name="Text Box 10"/>
          <p:cNvSpPr txBox="1">
            <a:spLocks noChangeArrowheads="1"/>
          </p:cNvSpPr>
          <p:nvPr/>
        </p:nvSpPr>
        <p:spPr bwMode="auto">
          <a:xfrm>
            <a:off x="5137447" y="4292352"/>
            <a:ext cx="527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a:latin typeface="Comic Sans MS" pitchFamily="66" charset="0"/>
              </a:rPr>
              <a:t>E</a:t>
            </a:r>
          </a:p>
        </p:txBody>
      </p:sp>
      <p:sp>
        <p:nvSpPr>
          <p:cNvPr id="25" name="Text Box 11"/>
          <p:cNvSpPr txBox="1">
            <a:spLocks noChangeArrowheads="1"/>
          </p:cNvSpPr>
          <p:nvPr/>
        </p:nvSpPr>
        <p:spPr bwMode="auto">
          <a:xfrm>
            <a:off x="5713710" y="4292352"/>
            <a:ext cx="527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a:latin typeface="Comic Sans MS" pitchFamily="66" charset="0"/>
              </a:rPr>
              <a:t>B</a:t>
            </a:r>
          </a:p>
        </p:txBody>
      </p:sp>
      <p:sp>
        <p:nvSpPr>
          <p:cNvPr id="26" name="Text Box 12"/>
          <p:cNvSpPr txBox="1">
            <a:spLocks noChangeArrowheads="1"/>
          </p:cNvSpPr>
          <p:nvPr/>
        </p:nvSpPr>
        <p:spPr bwMode="auto">
          <a:xfrm>
            <a:off x="7009110" y="4292352"/>
            <a:ext cx="527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a:latin typeface="Comic Sans MS" pitchFamily="66" charset="0"/>
              </a:rPr>
              <a:t>C</a:t>
            </a:r>
          </a:p>
        </p:txBody>
      </p:sp>
      <p:sp>
        <p:nvSpPr>
          <p:cNvPr id="30" name="Text Box 13"/>
          <p:cNvSpPr txBox="1">
            <a:spLocks noChangeArrowheads="1"/>
          </p:cNvSpPr>
          <p:nvPr/>
        </p:nvSpPr>
        <p:spPr bwMode="auto">
          <a:xfrm>
            <a:off x="6361410" y="4292352"/>
            <a:ext cx="527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a:latin typeface="Comic Sans MS" pitchFamily="66" charset="0"/>
              </a:rPr>
              <a:t>A</a:t>
            </a:r>
          </a:p>
        </p:txBody>
      </p:sp>
      <p:sp>
        <p:nvSpPr>
          <p:cNvPr id="39" name="Oval 14"/>
          <p:cNvSpPr>
            <a:spLocks noChangeArrowheads="1"/>
          </p:cNvSpPr>
          <p:nvPr/>
        </p:nvSpPr>
        <p:spPr bwMode="auto">
          <a:xfrm>
            <a:off x="8190210" y="4371992"/>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dirty="0">
                <a:latin typeface="Comic Sans MS" pitchFamily="66" charset="0"/>
              </a:rPr>
              <a:t>E</a:t>
            </a:r>
          </a:p>
        </p:txBody>
      </p:sp>
      <p:sp>
        <p:nvSpPr>
          <p:cNvPr id="40" name="Oval 15"/>
          <p:cNvSpPr>
            <a:spLocks noChangeArrowheads="1"/>
          </p:cNvSpPr>
          <p:nvPr/>
        </p:nvSpPr>
        <p:spPr bwMode="auto">
          <a:xfrm>
            <a:off x="8982372" y="3563516"/>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C</a:t>
            </a:r>
          </a:p>
        </p:txBody>
      </p:sp>
      <p:sp>
        <p:nvSpPr>
          <p:cNvPr id="41" name="Line 16"/>
          <p:cNvSpPr>
            <a:spLocks noChangeShapeType="1"/>
          </p:cNvSpPr>
          <p:nvPr/>
        </p:nvSpPr>
        <p:spPr bwMode="auto">
          <a:xfrm flipH="1">
            <a:off x="8514061" y="4011629"/>
            <a:ext cx="485775" cy="360363"/>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Oval 17"/>
          <p:cNvSpPr>
            <a:spLocks noChangeArrowheads="1"/>
          </p:cNvSpPr>
          <p:nvPr/>
        </p:nvSpPr>
        <p:spPr bwMode="auto">
          <a:xfrm>
            <a:off x="8837910" y="5164154"/>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BA</a:t>
            </a:r>
          </a:p>
        </p:txBody>
      </p:sp>
      <p:sp>
        <p:nvSpPr>
          <p:cNvPr id="43" name="Line 18"/>
          <p:cNvSpPr>
            <a:spLocks noChangeShapeType="1"/>
          </p:cNvSpPr>
          <p:nvPr/>
        </p:nvSpPr>
        <p:spPr bwMode="auto">
          <a:xfrm>
            <a:off x="8766472" y="4732354"/>
            <a:ext cx="287338"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 name="Oval 19"/>
          <p:cNvSpPr>
            <a:spLocks noChangeArrowheads="1"/>
          </p:cNvSpPr>
          <p:nvPr/>
        </p:nvSpPr>
        <p:spPr bwMode="auto">
          <a:xfrm>
            <a:off x="8837910" y="5164154"/>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B</a:t>
            </a:r>
          </a:p>
        </p:txBody>
      </p:sp>
      <p:grpSp>
        <p:nvGrpSpPr>
          <p:cNvPr id="45" name="Group 20"/>
          <p:cNvGrpSpPr>
            <a:grpSpLocks/>
          </p:cNvGrpSpPr>
          <p:nvPr/>
        </p:nvGrpSpPr>
        <p:grpSpPr bwMode="auto">
          <a:xfrm>
            <a:off x="7779048" y="4803792"/>
            <a:ext cx="576263" cy="1008063"/>
            <a:chOff x="1928" y="2523"/>
            <a:chExt cx="363" cy="635"/>
          </a:xfrm>
        </p:grpSpPr>
        <p:sp>
          <p:nvSpPr>
            <p:cNvPr id="46" name="Oval 21"/>
            <p:cNvSpPr>
              <a:spLocks noChangeArrowheads="1"/>
            </p:cNvSpPr>
            <p:nvPr/>
          </p:nvSpPr>
          <p:spPr bwMode="auto">
            <a:xfrm>
              <a:off x="1928" y="2795"/>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D</a:t>
              </a:r>
            </a:p>
          </p:txBody>
        </p:sp>
        <p:sp>
          <p:nvSpPr>
            <p:cNvPr id="47" name="Line 22"/>
            <p:cNvSpPr>
              <a:spLocks noChangeShapeType="1"/>
            </p:cNvSpPr>
            <p:nvPr/>
          </p:nvSpPr>
          <p:spPr bwMode="auto">
            <a:xfrm flipH="1">
              <a:off x="2064" y="2523"/>
              <a:ext cx="136" cy="272"/>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8" name="Group 23"/>
          <p:cNvGrpSpPr>
            <a:grpSpLocks/>
          </p:cNvGrpSpPr>
          <p:nvPr/>
        </p:nvGrpSpPr>
        <p:grpSpPr bwMode="auto">
          <a:xfrm>
            <a:off x="9414173" y="5595955"/>
            <a:ext cx="669131" cy="865063"/>
            <a:chOff x="2608" y="2432"/>
            <a:chExt cx="499" cy="681"/>
          </a:xfrm>
        </p:grpSpPr>
        <p:sp>
          <p:nvSpPr>
            <p:cNvPr id="49" name="Oval 24"/>
            <p:cNvSpPr>
              <a:spLocks noChangeArrowheads="1"/>
            </p:cNvSpPr>
            <p:nvPr/>
          </p:nvSpPr>
          <p:spPr bwMode="auto">
            <a:xfrm>
              <a:off x="2744" y="275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A</a:t>
              </a:r>
            </a:p>
          </p:txBody>
        </p:sp>
        <p:sp>
          <p:nvSpPr>
            <p:cNvPr id="50" name="Line 25"/>
            <p:cNvSpPr>
              <a:spLocks noChangeShapeType="1"/>
            </p:cNvSpPr>
            <p:nvPr/>
          </p:nvSpPr>
          <p:spPr bwMode="auto">
            <a:xfrm>
              <a:off x="2608" y="2432"/>
              <a:ext cx="272" cy="318"/>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8" name="Rectangle 2"/>
          <p:cNvSpPr txBox="1">
            <a:spLocks noChangeArrowheads="1"/>
          </p:cNvSpPr>
          <p:nvPr/>
        </p:nvSpPr>
        <p:spPr>
          <a:xfrm>
            <a:off x="2366047" y="2547723"/>
            <a:ext cx="1077888" cy="57606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思考：</a:t>
            </a:r>
          </a:p>
        </p:txBody>
      </p:sp>
      <p:sp>
        <p:nvSpPr>
          <p:cNvPr id="51" name="Rectangle 3"/>
          <p:cNvSpPr txBox="1">
            <a:spLocks noChangeArrowheads="1"/>
          </p:cNvSpPr>
          <p:nvPr/>
        </p:nvSpPr>
        <p:spPr>
          <a:xfrm>
            <a:off x="2351585" y="3122563"/>
            <a:ext cx="7773987" cy="57728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、怎样由二叉树的先序序列和中序序列构造一颗二叉树？</a:t>
            </a:r>
          </a:p>
        </p:txBody>
      </p:sp>
      <p:cxnSp>
        <p:nvCxnSpPr>
          <p:cNvPr id="3" name="直接连接符 2">
            <a:extLst>
              <a:ext uri="{FF2B5EF4-FFF2-40B4-BE49-F238E27FC236}">
                <a16:creationId xmlns:a16="http://schemas.microsoft.com/office/drawing/2014/main" xmlns="" id="{B49B6322-4261-1BB7-5990-488C35A5977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xmlns="" id="{1FE91361-5797-1BCD-99F7-1186B38B73E4}"/>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6" name="矩形 5">
            <a:extLst>
              <a:ext uri="{FF2B5EF4-FFF2-40B4-BE49-F238E27FC236}">
                <a16:creationId xmlns:a16="http://schemas.microsoft.com/office/drawing/2014/main" xmlns="" id="{14688AF8-DE0E-BA73-42C1-15337EF20B6A}"/>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2599469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2000" fill="hold"/>
                                        <p:tgtEl>
                                          <p:spTgt spid="18"/>
                                        </p:tgtEl>
                                        <p:attrNameLst>
                                          <p:attrName>style.color</p:attrName>
                                        </p:attrNameLst>
                                      </p:cBhvr>
                                      <p:to>
                                        <a:srgbClr val="DE580E"/>
                                      </p:to>
                                    </p:animClr>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2000" fill="hold"/>
                                        <p:tgtEl>
                                          <p:spTgt spid="26"/>
                                        </p:tgtEl>
                                        <p:attrNameLst>
                                          <p:attrName>style.color</p:attrName>
                                        </p:attrNameLst>
                                      </p:cBhvr>
                                      <p:to>
                                        <a:schemeClr val="accent2"/>
                                      </p:to>
                                    </p:animClr>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grpId="0" nodeType="clickEffect">
                                  <p:stCondLst>
                                    <p:cond delay="0"/>
                                  </p:stCondLst>
                                  <p:childTnLst>
                                    <p:animClr clrSpc="rgb" dir="cw">
                                      <p:cBhvr override="childStyle">
                                        <p:cTn id="26" dur="2000" fill="hold"/>
                                        <p:tgtEl>
                                          <p:spTgt spid="19"/>
                                        </p:tgtEl>
                                        <p:attrNameLst>
                                          <p:attrName>style.color</p:attrName>
                                        </p:attrNameLst>
                                      </p:cBhvr>
                                      <p:to>
                                        <a:srgbClr val="DE580E"/>
                                      </p:to>
                                    </p:animClr>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3" presetClass="emph" presetSubtype="2" fill="hold" grpId="0" nodeType="clickEffect">
                                  <p:stCondLst>
                                    <p:cond delay="0"/>
                                  </p:stCondLst>
                                  <p:childTnLst>
                                    <p:animClr clrSpc="rgb" dir="cw">
                                      <p:cBhvr override="childStyle">
                                        <p:cTn id="36" dur="2000" fill="hold"/>
                                        <p:tgtEl>
                                          <p:spTgt spid="24"/>
                                        </p:tgtEl>
                                        <p:attrNameLst>
                                          <p:attrName>style.color</p:attrName>
                                        </p:attrNameLst>
                                      </p:cBhvr>
                                      <p:to>
                                        <a:schemeClr val="accent2"/>
                                      </p:to>
                                    </p:animClr>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3" presetClass="emph" presetSubtype="2" fill="hold" grpId="0" nodeType="clickEffect">
                                  <p:stCondLst>
                                    <p:cond delay="0"/>
                                  </p:stCondLst>
                                  <p:childTnLst>
                                    <p:animClr clrSpc="rgb" dir="cw">
                                      <p:cBhvr override="childStyle">
                                        <p:cTn id="52" dur="2000" fill="hold"/>
                                        <p:tgtEl>
                                          <p:spTgt spid="22"/>
                                        </p:tgtEl>
                                        <p:attrNameLst>
                                          <p:attrName>style.color</p:attrName>
                                        </p:attrNameLst>
                                      </p:cBhvr>
                                      <p:to>
                                        <a:srgbClr val="DE580E"/>
                                      </p:to>
                                    </p:animClr>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4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0" nodeType="clickEffect">
                                  <p:stCondLst>
                                    <p:cond delay="0"/>
                                  </p:stCondLst>
                                  <p:childTnLst>
                                    <p:set>
                                      <p:cBhvr>
                                        <p:cTn id="60" dur="1" fill="hold">
                                          <p:stCondLst>
                                            <p:cond delay="0"/>
                                          </p:stCondLst>
                                        </p:cTn>
                                        <p:tgtEl>
                                          <p:spTgt spid="42"/>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3" presetClass="emph" presetSubtype="2" fill="hold" grpId="0" nodeType="clickEffect">
                                  <p:stCondLst>
                                    <p:cond delay="0"/>
                                  </p:stCondLst>
                                  <p:childTnLst>
                                    <p:animClr clrSpc="rgb" dir="cw">
                                      <p:cBhvr override="childStyle">
                                        <p:cTn id="66" dur="2000" fill="hold"/>
                                        <p:tgtEl>
                                          <p:spTgt spid="25"/>
                                        </p:tgtEl>
                                        <p:attrNameLst>
                                          <p:attrName>style.color</p:attrName>
                                        </p:attrNameLst>
                                      </p:cBhvr>
                                      <p:to>
                                        <a:schemeClr val="accent2"/>
                                      </p:to>
                                    </p:animClr>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8" grpId="0"/>
      <p:bldP spid="19" grpId="0"/>
      <p:bldP spid="22" grpId="0"/>
      <p:bldP spid="24" grpId="0"/>
      <p:bldP spid="25" grpId="0"/>
      <p:bldP spid="26" grpId="0"/>
      <p:bldP spid="39" grpId="0" animBg="1"/>
      <p:bldP spid="40" grpId="0" animBg="1"/>
      <p:bldP spid="41" grpId="0" animBg="1"/>
      <p:bldP spid="42" grpId="0" animBg="1"/>
      <p:bldP spid="42" grpId="1" animBg="1"/>
      <p:bldP spid="43" grpId="0" animBg="1"/>
      <p:bldP spid="43" grpId="1" animBg="1"/>
      <p:bldP spid="44"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Box 2"/>
          <p:cNvSpPr txBox="1">
            <a:spLocks noChangeArrowheads="1"/>
          </p:cNvSpPr>
          <p:nvPr/>
        </p:nvSpPr>
        <p:spPr bwMode="auto">
          <a:xfrm>
            <a:off x="2711624" y="2151088"/>
            <a:ext cx="5579120"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先序序列为：</a:t>
            </a:r>
            <a:r>
              <a:rPr kumimoji="1" lang="en-US" altLang="zh-CN" sz="2400" dirty="0">
                <a:latin typeface="微软雅黑" pitchFamily="34" charset="-122"/>
                <a:ea typeface="微软雅黑" pitchFamily="34" charset="-122"/>
                <a:cs typeface="经典粗黑简" pitchFamily="49" charset="-122"/>
              </a:rPr>
              <a:t>A B D E C F H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中序序列为：</a:t>
            </a:r>
            <a:r>
              <a:rPr kumimoji="1" lang="en-US" altLang="zh-CN" sz="2400" dirty="0">
                <a:latin typeface="微软雅黑" pitchFamily="34" charset="-122"/>
                <a:ea typeface="微软雅黑" pitchFamily="34" charset="-122"/>
                <a:cs typeface="经典粗黑简" pitchFamily="49" charset="-122"/>
              </a:rPr>
              <a:t>D B E A H F C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构造一棵二叉树。</a:t>
            </a:r>
          </a:p>
        </p:txBody>
      </p:sp>
      <p:sp>
        <p:nvSpPr>
          <p:cNvPr id="84" name="Oval 9"/>
          <p:cNvSpPr>
            <a:spLocks noChangeArrowheads="1"/>
          </p:cNvSpPr>
          <p:nvPr/>
        </p:nvSpPr>
        <p:spPr bwMode="auto">
          <a:xfrm>
            <a:off x="7177360" y="2866175"/>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A</a:t>
            </a:r>
          </a:p>
        </p:txBody>
      </p:sp>
      <p:cxnSp>
        <p:nvCxnSpPr>
          <p:cNvPr id="3" name="直接连接符 2">
            <a:extLst>
              <a:ext uri="{FF2B5EF4-FFF2-40B4-BE49-F238E27FC236}">
                <a16:creationId xmlns:a16="http://schemas.microsoft.com/office/drawing/2014/main" xmlns="" id="{C2AE3A28-CBA6-96F7-2ECE-2B2748FF67EF}"/>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xmlns="" id="{649F4F25-42F6-D251-465E-89E0C2C09855}"/>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6" name="矩形 5">
            <a:extLst>
              <a:ext uri="{FF2B5EF4-FFF2-40B4-BE49-F238E27FC236}">
                <a16:creationId xmlns:a16="http://schemas.microsoft.com/office/drawing/2014/main" xmlns="" id="{23FFD33A-B787-CB33-3AE7-8F16E57CDCC2}"/>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3228431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blinds(horizontal)">
                                      <p:cBhvr>
                                        <p:cTn id="7"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Box 2"/>
          <p:cNvSpPr txBox="1">
            <a:spLocks noChangeArrowheads="1"/>
          </p:cNvSpPr>
          <p:nvPr/>
        </p:nvSpPr>
        <p:spPr bwMode="auto">
          <a:xfrm>
            <a:off x="2711624" y="2151088"/>
            <a:ext cx="5579120"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先序序列为：</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a:t>
            </a:r>
            <a:r>
              <a:rPr kumimoji="1" lang="en-US" altLang="zh-CN" sz="2400" dirty="0">
                <a:solidFill>
                  <a:srgbClr val="00B0F0"/>
                </a:solidFill>
                <a:latin typeface="微软雅黑" pitchFamily="34" charset="-122"/>
                <a:ea typeface="微软雅黑" pitchFamily="34" charset="-122"/>
                <a:cs typeface="经典粗黑简" pitchFamily="49" charset="-122"/>
              </a:rPr>
              <a:t>B D E </a:t>
            </a:r>
            <a:r>
              <a:rPr kumimoji="1" lang="en-US" altLang="zh-CN" sz="2400" dirty="0">
                <a:latin typeface="微软雅黑" pitchFamily="34" charset="-122"/>
                <a:ea typeface="微软雅黑" pitchFamily="34" charset="-122"/>
                <a:cs typeface="经典粗黑简" pitchFamily="49" charset="-122"/>
              </a:rPr>
              <a:t>C F H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中序序列为：</a:t>
            </a:r>
            <a:r>
              <a:rPr kumimoji="1" lang="en-US" altLang="zh-CN" sz="2400" dirty="0">
                <a:solidFill>
                  <a:srgbClr val="00B0F0"/>
                </a:solidFill>
                <a:latin typeface="微软雅黑" pitchFamily="34" charset="-122"/>
                <a:ea typeface="微软雅黑" pitchFamily="34" charset="-122"/>
                <a:cs typeface="经典粗黑简" pitchFamily="49" charset="-122"/>
              </a:rPr>
              <a:t>D B E </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H F C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构造一棵二叉树。</a:t>
            </a:r>
          </a:p>
        </p:txBody>
      </p:sp>
      <p:sp>
        <p:nvSpPr>
          <p:cNvPr id="84" name="Oval 9"/>
          <p:cNvSpPr>
            <a:spLocks noChangeArrowheads="1"/>
          </p:cNvSpPr>
          <p:nvPr/>
        </p:nvSpPr>
        <p:spPr bwMode="auto">
          <a:xfrm>
            <a:off x="7177360" y="2866175"/>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A</a:t>
            </a:r>
          </a:p>
        </p:txBody>
      </p:sp>
      <p:sp>
        <p:nvSpPr>
          <p:cNvPr id="2" name="矩形 1"/>
          <p:cNvSpPr/>
          <p:nvPr/>
        </p:nvSpPr>
        <p:spPr>
          <a:xfrm>
            <a:off x="6023993" y="3834699"/>
            <a:ext cx="907621" cy="400110"/>
          </a:xfrm>
          <a:prstGeom prst="rect">
            <a:avLst/>
          </a:prstGeom>
          <a:ln>
            <a:solidFill>
              <a:schemeClr val="tx1"/>
            </a:solidFill>
          </a:ln>
        </p:spPr>
        <p:txBody>
          <a:bodyPr wrap="none">
            <a:spAutoFit/>
          </a:bodyPr>
          <a:lstStyle/>
          <a:p>
            <a:r>
              <a:rPr kumimoji="1" lang="en-US" altLang="zh-CN" sz="2000" dirty="0">
                <a:solidFill>
                  <a:srgbClr val="00B0F0"/>
                </a:solidFill>
                <a:latin typeface="微软雅黑" pitchFamily="34" charset="-122"/>
                <a:ea typeface="微软雅黑" pitchFamily="34" charset="-122"/>
                <a:cs typeface="经典粗黑简" pitchFamily="49" charset="-122"/>
              </a:rPr>
              <a:t>B D E </a:t>
            </a:r>
            <a:endParaRPr lang="zh-CN" altLang="en-US" sz="2000" dirty="0"/>
          </a:p>
        </p:txBody>
      </p:sp>
      <p:sp>
        <p:nvSpPr>
          <p:cNvPr id="3" name="矩形 2"/>
          <p:cNvSpPr/>
          <p:nvPr/>
        </p:nvSpPr>
        <p:spPr>
          <a:xfrm>
            <a:off x="8110133" y="3861048"/>
            <a:ext cx="1107996" cy="430374"/>
          </a:xfrm>
          <a:prstGeom prst="rect">
            <a:avLst/>
          </a:prstGeom>
          <a:ln>
            <a:solidFill>
              <a:schemeClr val="tx1"/>
            </a:solidFill>
          </a:ln>
        </p:spPr>
        <p:txBody>
          <a:bodyPr wrap="none">
            <a:spAutoFit/>
          </a:bodyPr>
          <a:lstStyle/>
          <a:p>
            <a:pPr>
              <a:lnSpc>
                <a:spcPct val="120000"/>
              </a:lnSpc>
              <a:spcBef>
                <a:spcPct val="0"/>
              </a:spcBef>
              <a:buClrTx/>
              <a:buSzTx/>
              <a:buFontTx/>
              <a:buNone/>
            </a:pPr>
            <a:r>
              <a:rPr kumimoji="1" lang="en-US" altLang="zh-CN" sz="2000" dirty="0">
                <a:latin typeface="微软雅黑" pitchFamily="34" charset="-122"/>
                <a:ea typeface="微软雅黑" pitchFamily="34" charset="-122"/>
                <a:cs typeface="经典粗黑简" pitchFamily="49" charset="-122"/>
              </a:rPr>
              <a:t>C F H G</a:t>
            </a:r>
          </a:p>
        </p:txBody>
      </p:sp>
      <p:sp>
        <p:nvSpPr>
          <p:cNvPr id="11" name="Line 13"/>
          <p:cNvSpPr>
            <a:spLocks noChangeShapeType="1"/>
          </p:cNvSpPr>
          <p:nvPr/>
        </p:nvSpPr>
        <p:spPr bwMode="auto">
          <a:xfrm flipH="1">
            <a:off x="6477802" y="3346085"/>
            <a:ext cx="770326"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3"/>
          <p:cNvSpPr>
            <a:spLocks noChangeShapeType="1"/>
          </p:cNvSpPr>
          <p:nvPr/>
        </p:nvSpPr>
        <p:spPr bwMode="auto">
          <a:xfrm>
            <a:off x="7684941" y="3346086"/>
            <a:ext cx="1006239"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cxnSp>
        <p:nvCxnSpPr>
          <p:cNvPr id="5" name="直接连接符 4">
            <a:extLst>
              <a:ext uri="{FF2B5EF4-FFF2-40B4-BE49-F238E27FC236}">
                <a16:creationId xmlns:a16="http://schemas.microsoft.com/office/drawing/2014/main" xmlns="" id="{DF164040-674F-BE92-6D07-C8A963E1496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xmlns="" id="{91BDB33A-A23C-AF14-0056-91E8F2BC6E93}"/>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8" name="矩形 7">
            <a:extLst>
              <a:ext uri="{FF2B5EF4-FFF2-40B4-BE49-F238E27FC236}">
                <a16:creationId xmlns:a16="http://schemas.microsoft.com/office/drawing/2014/main" xmlns="" id="{5AFF4E18-5997-7E38-A322-1152B75D4743}"/>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37832234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Box 2"/>
          <p:cNvSpPr txBox="1">
            <a:spLocks noChangeArrowheads="1"/>
          </p:cNvSpPr>
          <p:nvPr/>
        </p:nvSpPr>
        <p:spPr bwMode="auto">
          <a:xfrm>
            <a:off x="2711624" y="2151088"/>
            <a:ext cx="5579120"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先序序列为：</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a:t>
            </a:r>
            <a:r>
              <a:rPr kumimoji="1" lang="en-US" altLang="zh-CN" sz="2400" dirty="0">
                <a:solidFill>
                  <a:srgbClr val="00B0F0"/>
                </a:solidFill>
                <a:latin typeface="微软雅黑" pitchFamily="34" charset="-122"/>
                <a:ea typeface="微软雅黑" pitchFamily="34" charset="-122"/>
                <a:cs typeface="经典粗黑简" pitchFamily="49" charset="-122"/>
              </a:rPr>
              <a:t>B D E </a:t>
            </a:r>
            <a:r>
              <a:rPr kumimoji="1" lang="en-US" altLang="zh-CN" sz="2400" dirty="0">
                <a:latin typeface="微软雅黑" pitchFamily="34" charset="-122"/>
                <a:ea typeface="微软雅黑" pitchFamily="34" charset="-122"/>
                <a:cs typeface="经典粗黑简" pitchFamily="49" charset="-122"/>
              </a:rPr>
              <a:t>C F H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中序序列为：</a:t>
            </a:r>
            <a:r>
              <a:rPr kumimoji="1" lang="en-US" altLang="zh-CN" sz="2400" dirty="0">
                <a:solidFill>
                  <a:srgbClr val="00B0F0"/>
                </a:solidFill>
                <a:latin typeface="微软雅黑" pitchFamily="34" charset="-122"/>
                <a:ea typeface="微软雅黑" pitchFamily="34" charset="-122"/>
                <a:cs typeface="经典粗黑简" pitchFamily="49" charset="-122"/>
              </a:rPr>
              <a:t>D B E </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H F C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构造一棵二叉树。</a:t>
            </a:r>
          </a:p>
        </p:txBody>
      </p:sp>
      <p:sp>
        <p:nvSpPr>
          <p:cNvPr id="84" name="Oval 9"/>
          <p:cNvSpPr>
            <a:spLocks noChangeArrowheads="1"/>
          </p:cNvSpPr>
          <p:nvPr/>
        </p:nvSpPr>
        <p:spPr bwMode="auto">
          <a:xfrm>
            <a:off x="7177360" y="2866175"/>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A</a:t>
            </a:r>
          </a:p>
        </p:txBody>
      </p:sp>
      <p:sp>
        <p:nvSpPr>
          <p:cNvPr id="2" name="矩形 1"/>
          <p:cNvSpPr/>
          <p:nvPr/>
        </p:nvSpPr>
        <p:spPr>
          <a:xfrm>
            <a:off x="6023993" y="3834699"/>
            <a:ext cx="907621" cy="400110"/>
          </a:xfrm>
          <a:prstGeom prst="rect">
            <a:avLst/>
          </a:prstGeom>
          <a:ln>
            <a:solidFill>
              <a:schemeClr val="tx1"/>
            </a:solidFill>
          </a:ln>
        </p:spPr>
        <p:txBody>
          <a:bodyPr wrap="none">
            <a:spAutoFit/>
          </a:bodyPr>
          <a:lstStyle/>
          <a:p>
            <a:r>
              <a:rPr kumimoji="1" lang="en-US" altLang="zh-CN" sz="2000" dirty="0">
                <a:solidFill>
                  <a:srgbClr val="00B0F0"/>
                </a:solidFill>
                <a:latin typeface="微软雅黑" pitchFamily="34" charset="-122"/>
                <a:ea typeface="微软雅黑" pitchFamily="34" charset="-122"/>
                <a:cs typeface="经典粗黑简" pitchFamily="49" charset="-122"/>
              </a:rPr>
              <a:t>B D E </a:t>
            </a:r>
            <a:endParaRPr lang="zh-CN" altLang="en-US" sz="2000" dirty="0"/>
          </a:p>
        </p:txBody>
      </p:sp>
      <p:sp>
        <p:nvSpPr>
          <p:cNvPr id="3" name="矩形 2"/>
          <p:cNvSpPr/>
          <p:nvPr/>
        </p:nvSpPr>
        <p:spPr>
          <a:xfrm>
            <a:off x="8110133" y="3861048"/>
            <a:ext cx="1107996" cy="430374"/>
          </a:xfrm>
          <a:prstGeom prst="rect">
            <a:avLst/>
          </a:prstGeom>
          <a:ln>
            <a:solidFill>
              <a:schemeClr val="tx1"/>
            </a:solidFill>
          </a:ln>
        </p:spPr>
        <p:txBody>
          <a:bodyPr wrap="none">
            <a:spAutoFit/>
          </a:bodyPr>
          <a:lstStyle/>
          <a:p>
            <a:pPr>
              <a:lnSpc>
                <a:spcPct val="120000"/>
              </a:lnSpc>
              <a:spcBef>
                <a:spcPct val="0"/>
              </a:spcBef>
              <a:buClrTx/>
              <a:buSzTx/>
              <a:buFontTx/>
              <a:buNone/>
            </a:pPr>
            <a:r>
              <a:rPr kumimoji="1" lang="en-US" altLang="zh-CN" sz="2000" dirty="0">
                <a:latin typeface="微软雅黑" pitchFamily="34" charset="-122"/>
                <a:ea typeface="微软雅黑" pitchFamily="34" charset="-122"/>
                <a:cs typeface="经典粗黑简" pitchFamily="49" charset="-122"/>
              </a:rPr>
              <a:t>C F H G</a:t>
            </a:r>
          </a:p>
        </p:txBody>
      </p:sp>
      <p:sp>
        <p:nvSpPr>
          <p:cNvPr id="11" name="Line 13"/>
          <p:cNvSpPr>
            <a:spLocks noChangeShapeType="1"/>
          </p:cNvSpPr>
          <p:nvPr/>
        </p:nvSpPr>
        <p:spPr bwMode="auto">
          <a:xfrm flipH="1">
            <a:off x="6477802" y="3346085"/>
            <a:ext cx="770326"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3"/>
          <p:cNvSpPr>
            <a:spLocks noChangeShapeType="1"/>
          </p:cNvSpPr>
          <p:nvPr/>
        </p:nvSpPr>
        <p:spPr bwMode="auto">
          <a:xfrm>
            <a:off x="7684941" y="3346086"/>
            <a:ext cx="1006239"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3"/>
          <p:cNvSpPr>
            <a:spLocks noChangeShapeType="1"/>
          </p:cNvSpPr>
          <p:nvPr/>
        </p:nvSpPr>
        <p:spPr bwMode="auto">
          <a:xfrm flipH="1">
            <a:off x="4943873" y="2624368"/>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3"/>
          <p:cNvSpPr>
            <a:spLocks noChangeShapeType="1"/>
          </p:cNvSpPr>
          <p:nvPr/>
        </p:nvSpPr>
        <p:spPr bwMode="auto">
          <a:xfrm flipH="1">
            <a:off x="4960697" y="3056416"/>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3"/>
          <p:cNvSpPr>
            <a:spLocks noChangeShapeType="1"/>
          </p:cNvSpPr>
          <p:nvPr/>
        </p:nvSpPr>
        <p:spPr bwMode="auto">
          <a:xfrm flipH="1">
            <a:off x="5231905"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3"/>
          <p:cNvSpPr>
            <a:spLocks noChangeShapeType="1"/>
          </p:cNvSpPr>
          <p:nvPr/>
        </p:nvSpPr>
        <p:spPr bwMode="auto">
          <a:xfrm flipH="1">
            <a:off x="5501185"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13"/>
          <p:cNvSpPr>
            <a:spLocks noChangeShapeType="1"/>
          </p:cNvSpPr>
          <p:nvPr/>
        </p:nvSpPr>
        <p:spPr bwMode="auto">
          <a:xfrm flipH="1">
            <a:off x="4655841"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3"/>
          <p:cNvSpPr>
            <a:spLocks noChangeShapeType="1"/>
          </p:cNvSpPr>
          <p:nvPr/>
        </p:nvSpPr>
        <p:spPr bwMode="auto">
          <a:xfrm flipH="1">
            <a:off x="5237822"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cxnSp>
        <p:nvCxnSpPr>
          <p:cNvPr id="5" name="直接连接符 4">
            <a:extLst>
              <a:ext uri="{FF2B5EF4-FFF2-40B4-BE49-F238E27FC236}">
                <a16:creationId xmlns:a16="http://schemas.microsoft.com/office/drawing/2014/main" xmlns="" id="{1226495A-AF62-ADEA-FF3B-9841EBB1B398}"/>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xmlns="" id="{4E49CE3E-7AA5-622E-A68F-0DDF02C6BA78}"/>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8" name="矩形 7">
            <a:extLst>
              <a:ext uri="{FF2B5EF4-FFF2-40B4-BE49-F238E27FC236}">
                <a16:creationId xmlns:a16="http://schemas.microsoft.com/office/drawing/2014/main" xmlns="" id="{0F874DB4-0CF3-D06C-F292-41DD86AB35FD}"/>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47693510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Box 2"/>
          <p:cNvSpPr txBox="1">
            <a:spLocks noChangeArrowheads="1"/>
          </p:cNvSpPr>
          <p:nvPr/>
        </p:nvSpPr>
        <p:spPr bwMode="auto">
          <a:xfrm>
            <a:off x="2711624" y="2151088"/>
            <a:ext cx="5579120"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先序序列为：</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a:t>
            </a:r>
            <a:r>
              <a:rPr kumimoji="1" lang="en-US" altLang="zh-CN" sz="2400" dirty="0">
                <a:solidFill>
                  <a:srgbClr val="00B0F0"/>
                </a:solidFill>
                <a:latin typeface="微软雅黑" pitchFamily="34" charset="-122"/>
                <a:ea typeface="微软雅黑" pitchFamily="34" charset="-122"/>
                <a:cs typeface="经典粗黑简" pitchFamily="49" charset="-122"/>
              </a:rPr>
              <a:t>B D E </a:t>
            </a:r>
            <a:r>
              <a:rPr kumimoji="1" lang="en-US" altLang="zh-CN" sz="2400" dirty="0">
                <a:latin typeface="微软雅黑" pitchFamily="34" charset="-122"/>
                <a:ea typeface="微软雅黑" pitchFamily="34" charset="-122"/>
                <a:cs typeface="经典粗黑简" pitchFamily="49" charset="-122"/>
              </a:rPr>
              <a:t>C F H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中序序列为：</a:t>
            </a:r>
            <a:r>
              <a:rPr kumimoji="1" lang="en-US" altLang="zh-CN" sz="2400" dirty="0">
                <a:solidFill>
                  <a:srgbClr val="00B0F0"/>
                </a:solidFill>
                <a:latin typeface="微软雅黑" pitchFamily="34" charset="-122"/>
                <a:ea typeface="微软雅黑" pitchFamily="34" charset="-122"/>
                <a:cs typeface="经典粗黑简" pitchFamily="49" charset="-122"/>
              </a:rPr>
              <a:t>D B E </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H F C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构造一棵二叉树。</a:t>
            </a:r>
          </a:p>
        </p:txBody>
      </p:sp>
      <p:sp>
        <p:nvSpPr>
          <p:cNvPr id="84" name="Oval 9"/>
          <p:cNvSpPr>
            <a:spLocks noChangeArrowheads="1"/>
          </p:cNvSpPr>
          <p:nvPr/>
        </p:nvSpPr>
        <p:spPr bwMode="auto">
          <a:xfrm>
            <a:off x="7177360" y="2866175"/>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A</a:t>
            </a:r>
          </a:p>
        </p:txBody>
      </p:sp>
      <p:sp>
        <p:nvSpPr>
          <p:cNvPr id="3" name="矩形 2"/>
          <p:cNvSpPr/>
          <p:nvPr/>
        </p:nvSpPr>
        <p:spPr>
          <a:xfrm>
            <a:off x="8110133" y="3861048"/>
            <a:ext cx="1107996" cy="430374"/>
          </a:xfrm>
          <a:prstGeom prst="rect">
            <a:avLst/>
          </a:prstGeom>
          <a:ln>
            <a:solidFill>
              <a:schemeClr val="tx1"/>
            </a:solidFill>
          </a:ln>
        </p:spPr>
        <p:txBody>
          <a:bodyPr wrap="none">
            <a:spAutoFit/>
          </a:bodyPr>
          <a:lstStyle/>
          <a:p>
            <a:pPr>
              <a:lnSpc>
                <a:spcPct val="120000"/>
              </a:lnSpc>
              <a:spcBef>
                <a:spcPct val="0"/>
              </a:spcBef>
              <a:buClrTx/>
              <a:buSzTx/>
              <a:buFontTx/>
              <a:buNone/>
            </a:pPr>
            <a:r>
              <a:rPr kumimoji="1" lang="en-US" altLang="zh-CN" sz="2000" dirty="0">
                <a:latin typeface="微软雅黑" pitchFamily="34" charset="-122"/>
                <a:ea typeface="微软雅黑" pitchFamily="34" charset="-122"/>
                <a:cs typeface="经典粗黑简" pitchFamily="49" charset="-122"/>
              </a:rPr>
              <a:t>C F H G</a:t>
            </a:r>
          </a:p>
        </p:txBody>
      </p:sp>
      <p:sp>
        <p:nvSpPr>
          <p:cNvPr id="11" name="Line 13"/>
          <p:cNvSpPr>
            <a:spLocks noChangeShapeType="1"/>
          </p:cNvSpPr>
          <p:nvPr/>
        </p:nvSpPr>
        <p:spPr bwMode="auto">
          <a:xfrm flipH="1">
            <a:off x="6477802" y="3346085"/>
            <a:ext cx="770326"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3"/>
          <p:cNvSpPr>
            <a:spLocks noChangeShapeType="1"/>
          </p:cNvSpPr>
          <p:nvPr/>
        </p:nvSpPr>
        <p:spPr bwMode="auto">
          <a:xfrm>
            <a:off x="7684941" y="3346086"/>
            <a:ext cx="1006239"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3"/>
          <p:cNvSpPr>
            <a:spLocks noChangeShapeType="1"/>
          </p:cNvSpPr>
          <p:nvPr/>
        </p:nvSpPr>
        <p:spPr bwMode="auto">
          <a:xfrm flipH="1">
            <a:off x="4943873" y="2624368"/>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3"/>
          <p:cNvSpPr>
            <a:spLocks noChangeShapeType="1"/>
          </p:cNvSpPr>
          <p:nvPr/>
        </p:nvSpPr>
        <p:spPr bwMode="auto">
          <a:xfrm flipH="1">
            <a:off x="4960697" y="3056416"/>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3"/>
          <p:cNvSpPr>
            <a:spLocks noChangeShapeType="1"/>
          </p:cNvSpPr>
          <p:nvPr/>
        </p:nvSpPr>
        <p:spPr bwMode="auto">
          <a:xfrm flipH="1">
            <a:off x="5231905"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3"/>
          <p:cNvSpPr>
            <a:spLocks noChangeShapeType="1"/>
          </p:cNvSpPr>
          <p:nvPr/>
        </p:nvSpPr>
        <p:spPr bwMode="auto">
          <a:xfrm flipH="1">
            <a:off x="5501185"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13"/>
          <p:cNvSpPr>
            <a:spLocks noChangeShapeType="1"/>
          </p:cNvSpPr>
          <p:nvPr/>
        </p:nvSpPr>
        <p:spPr bwMode="auto">
          <a:xfrm flipH="1">
            <a:off x="4655841"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3"/>
          <p:cNvSpPr>
            <a:spLocks noChangeShapeType="1"/>
          </p:cNvSpPr>
          <p:nvPr/>
        </p:nvSpPr>
        <p:spPr bwMode="auto">
          <a:xfrm flipH="1">
            <a:off x="5237822"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Oval 3"/>
          <p:cNvSpPr>
            <a:spLocks noChangeArrowheads="1"/>
          </p:cNvSpPr>
          <p:nvPr/>
        </p:nvSpPr>
        <p:spPr bwMode="auto">
          <a:xfrm>
            <a:off x="5375896" y="4737838"/>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D</a:t>
            </a:r>
          </a:p>
        </p:txBody>
      </p:sp>
      <p:sp>
        <p:nvSpPr>
          <p:cNvPr id="23" name="Oval 4"/>
          <p:cNvSpPr>
            <a:spLocks noChangeArrowheads="1"/>
          </p:cNvSpPr>
          <p:nvPr/>
        </p:nvSpPr>
        <p:spPr bwMode="auto">
          <a:xfrm>
            <a:off x="6599858" y="4737838"/>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E</a:t>
            </a:r>
          </a:p>
        </p:txBody>
      </p:sp>
      <p:sp>
        <p:nvSpPr>
          <p:cNvPr id="24" name="Oval 7"/>
          <p:cNvSpPr>
            <a:spLocks noChangeArrowheads="1"/>
          </p:cNvSpPr>
          <p:nvPr/>
        </p:nvSpPr>
        <p:spPr bwMode="auto">
          <a:xfrm>
            <a:off x="6023596" y="3802800"/>
            <a:ext cx="576263"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B</a:t>
            </a:r>
          </a:p>
        </p:txBody>
      </p:sp>
      <p:sp>
        <p:nvSpPr>
          <p:cNvPr id="25" name="Line 14"/>
          <p:cNvSpPr>
            <a:spLocks noChangeShapeType="1"/>
          </p:cNvSpPr>
          <p:nvPr/>
        </p:nvSpPr>
        <p:spPr bwMode="auto">
          <a:xfrm>
            <a:off x="6528420" y="4306037"/>
            <a:ext cx="287338"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15"/>
          <p:cNvSpPr>
            <a:spLocks noChangeShapeType="1"/>
          </p:cNvSpPr>
          <p:nvPr/>
        </p:nvSpPr>
        <p:spPr bwMode="auto">
          <a:xfrm flipH="1">
            <a:off x="5736258" y="4306037"/>
            <a:ext cx="360362"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cxnSp>
        <p:nvCxnSpPr>
          <p:cNvPr id="4" name="直接连接符 3">
            <a:extLst>
              <a:ext uri="{FF2B5EF4-FFF2-40B4-BE49-F238E27FC236}">
                <a16:creationId xmlns:a16="http://schemas.microsoft.com/office/drawing/2014/main" xmlns="" id="{DCA73670-675D-4C59-1402-800D9EDCE1C8}"/>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xmlns="" id="{FD025640-7E9B-357B-0B1D-8EB51C6509E1}"/>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7" name="矩形 6">
            <a:extLst>
              <a:ext uri="{FF2B5EF4-FFF2-40B4-BE49-F238E27FC236}">
                <a16:creationId xmlns:a16="http://schemas.microsoft.com/office/drawing/2014/main" xmlns="" id="{D7C37245-8406-924C-26F9-91996124B21D}"/>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3347052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Box 2"/>
          <p:cNvSpPr txBox="1">
            <a:spLocks noChangeArrowheads="1"/>
          </p:cNvSpPr>
          <p:nvPr/>
        </p:nvSpPr>
        <p:spPr bwMode="auto">
          <a:xfrm>
            <a:off x="2711624" y="2151088"/>
            <a:ext cx="5579120"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先序序列为：</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a:t>
            </a:r>
            <a:r>
              <a:rPr kumimoji="1" lang="en-US" altLang="zh-CN" sz="2400" dirty="0">
                <a:solidFill>
                  <a:srgbClr val="00B0F0"/>
                </a:solidFill>
                <a:latin typeface="微软雅黑" pitchFamily="34" charset="-122"/>
                <a:ea typeface="微软雅黑" pitchFamily="34" charset="-122"/>
                <a:cs typeface="经典粗黑简" pitchFamily="49" charset="-122"/>
              </a:rPr>
              <a:t>B D E </a:t>
            </a:r>
            <a:r>
              <a:rPr kumimoji="1" lang="en-US" altLang="zh-CN" sz="2400" dirty="0">
                <a:latin typeface="微软雅黑" pitchFamily="34" charset="-122"/>
                <a:ea typeface="微软雅黑" pitchFamily="34" charset="-122"/>
                <a:cs typeface="经典粗黑简" pitchFamily="49" charset="-122"/>
              </a:rPr>
              <a:t>C F H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中序序列为：</a:t>
            </a:r>
            <a:r>
              <a:rPr kumimoji="1" lang="en-US" altLang="zh-CN" sz="2400" dirty="0">
                <a:solidFill>
                  <a:srgbClr val="00B0F0"/>
                </a:solidFill>
                <a:latin typeface="微软雅黑" pitchFamily="34" charset="-122"/>
                <a:ea typeface="微软雅黑" pitchFamily="34" charset="-122"/>
                <a:cs typeface="经典粗黑简" pitchFamily="49" charset="-122"/>
              </a:rPr>
              <a:t>D B E </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H F C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构造一棵二叉树。</a:t>
            </a:r>
          </a:p>
        </p:txBody>
      </p:sp>
      <p:sp>
        <p:nvSpPr>
          <p:cNvPr id="2" name="矩形 1"/>
          <p:cNvSpPr/>
          <p:nvPr/>
        </p:nvSpPr>
        <p:spPr>
          <a:xfrm>
            <a:off x="5777756" y="2199111"/>
            <a:ext cx="288032" cy="413362"/>
          </a:xfrm>
          <a:prstGeom prst="rect">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Oval 9"/>
          <p:cNvSpPr>
            <a:spLocks noChangeArrowheads="1"/>
          </p:cNvSpPr>
          <p:nvPr/>
        </p:nvSpPr>
        <p:spPr bwMode="auto">
          <a:xfrm>
            <a:off x="7177360" y="2866175"/>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A</a:t>
            </a:r>
          </a:p>
        </p:txBody>
      </p:sp>
      <p:sp>
        <p:nvSpPr>
          <p:cNvPr id="3" name="矩形 2"/>
          <p:cNvSpPr/>
          <p:nvPr/>
        </p:nvSpPr>
        <p:spPr>
          <a:xfrm>
            <a:off x="8110133" y="3861048"/>
            <a:ext cx="1107996" cy="430374"/>
          </a:xfrm>
          <a:prstGeom prst="rect">
            <a:avLst/>
          </a:prstGeom>
          <a:ln>
            <a:solidFill>
              <a:schemeClr val="tx1"/>
            </a:solidFill>
          </a:ln>
        </p:spPr>
        <p:txBody>
          <a:bodyPr wrap="none">
            <a:spAutoFit/>
          </a:bodyPr>
          <a:lstStyle/>
          <a:p>
            <a:pPr>
              <a:lnSpc>
                <a:spcPct val="120000"/>
              </a:lnSpc>
              <a:spcBef>
                <a:spcPct val="0"/>
              </a:spcBef>
              <a:buClrTx/>
              <a:buSzTx/>
              <a:buFontTx/>
              <a:buNone/>
            </a:pPr>
            <a:r>
              <a:rPr kumimoji="1" lang="en-US" altLang="zh-CN" sz="2000" dirty="0">
                <a:latin typeface="微软雅黑" pitchFamily="34" charset="-122"/>
                <a:ea typeface="微软雅黑" pitchFamily="34" charset="-122"/>
                <a:cs typeface="经典粗黑简" pitchFamily="49" charset="-122"/>
              </a:rPr>
              <a:t>C F H G</a:t>
            </a:r>
          </a:p>
        </p:txBody>
      </p:sp>
      <p:sp>
        <p:nvSpPr>
          <p:cNvPr id="11" name="Line 13"/>
          <p:cNvSpPr>
            <a:spLocks noChangeShapeType="1"/>
          </p:cNvSpPr>
          <p:nvPr/>
        </p:nvSpPr>
        <p:spPr bwMode="auto">
          <a:xfrm flipH="1">
            <a:off x="6477802" y="3346085"/>
            <a:ext cx="770326"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3"/>
          <p:cNvSpPr>
            <a:spLocks noChangeShapeType="1"/>
          </p:cNvSpPr>
          <p:nvPr/>
        </p:nvSpPr>
        <p:spPr bwMode="auto">
          <a:xfrm>
            <a:off x="7684941" y="3346086"/>
            <a:ext cx="1006239"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3"/>
          <p:cNvSpPr>
            <a:spLocks noChangeShapeType="1"/>
          </p:cNvSpPr>
          <p:nvPr/>
        </p:nvSpPr>
        <p:spPr bwMode="auto">
          <a:xfrm flipH="1">
            <a:off x="4943873" y="2624368"/>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3"/>
          <p:cNvSpPr>
            <a:spLocks noChangeShapeType="1"/>
          </p:cNvSpPr>
          <p:nvPr/>
        </p:nvSpPr>
        <p:spPr bwMode="auto">
          <a:xfrm flipH="1">
            <a:off x="4960697" y="3056416"/>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3"/>
          <p:cNvSpPr>
            <a:spLocks noChangeShapeType="1"/>
          </p:cNvSpPr>
          <p:nvPr/>
        </p:nvSpPr>
        <p:spPr bwMode="auto">
          <a:xfrm flipH="1">
            <a:off x="5231905"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3"/>
          <p:cNvSpPr>
            <a:spLocks noChangeShapeType="1"/>
          </p:cNvSpPr>
          <p:nvPr/>
        </p:nvSpPr>
        <p:spPr bwMode="auto">
          <a:xfrm flipH="1">
            <a:off x="5501185"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13"/>
          <p:cNvSpPr>
            <a:spLocks noChangeShapeType="1"/>
          </p:cNvSpPr>
          <p:nvPr/>
        </p:nvSpPr>
        <p:spPr bwMode="auto">
          <a:xfrm flipH="1">
            <a:off x="4655841"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3"/>
          <p:cNvSpPr>
            <a:spLocks noChangeShapeType="1"/>
          </p:cNvSpPr>
          <p:nvPr/>
        </p:nvSpPr>
        <p:spPr bwMode="auto">
          <a:xfrm flipH="1">
            <a:off x="5237822"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Oval 3"/>
          <p:cNvSpPr>
            <a:spLocks noChangeArrowheads="1"/>
          </p:cNvSpPr>
          <p:nvPr/>
        </p:nvSpPr>
        <p:spPr bwMode="auto">
          <a:xfrm>
            <a:off x="5375896" y="4737838"/>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D</a:t>
            </a:r>
          </a:p>
        </p:txBody>
      </p:sp>
      <p:sp>
        <p:nvSpPr>
          <p:cNvPr id="23" name="Oval 4"/>
          <p:cNvSpPr>
            <a:spLocks noChangeArrowheads="1"/>
          </p:cNvSpPr>
          <p:nvPr/>
        </p:nvSpPr>
        <p:spPr bwMode="auto">
          <a:xfrm>
            <a:off x="6599858" y="4737838"/>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E</a:t>
            </a:r>
          </a:p>
        </p:txBody>
      </p:sp>
      <p:sp>
        <p:nvSpPr>
          <p:cNvPr id="24" name="Oval 7"/>
          <p:cNvSpPr>
            <a:spLocks noChangeArrowheads="1"/>
          </p:cNvSpPr>
          <p:nvPr/>
        </p:nvSpPr>
        <p:spPr bwMode="auto">
          <a:xfrm>
            <a:off x="6023596" y="3802800"/>
            <a:ext cx="576263"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B</a:t>
            </a:r>
          </a:p>
        </p:txBody>
      </p:sp>
      <p:sp>
        <p:nvSpPr>
          <p:cNvPr id="25" name="Line 14"/>
          <p:cNvSpPr>
            <a:spLocks noChangeShapeType="1"/>
          </p:cNvSpPr>
          <p:nvPr/>
        </p:nvSpPr>
        <p:spPr bwMode="auto">
          <a:xfrm>
            <a:off x="6528420" y="4306037"/>
            <a:ext cx="287338"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15"/>
          <p:cNvSpPr>
            <a:spLocks noChangeShapeType="1"/>
          </p:cNvSpPr>
          <p:nvPr/>
        </p:nvSpPr>
        <p:spPr bwMode="auto">
          <a:xfrm flipH="1">
            <a:off x="5736258" y="4306037"/>
            <a:ext cx="360362"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矩形 26"/>
          <p:cNvSpPr/>
          <p:nvPr/>
        </p:nvSpPr>
        <p:spPr>
          <a:xfrm>
            <a:off x="6333786" y="2631279"/>
            <a:ext cx="288032" cy="413362"/>
          </a:xfrm>
          <a:prstGeom prst="rect">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6664894" y="2645101"/>
            <a:ext cx="288032" cy="413362"/>
          </a:xfrm>
          <a:prstGeom prst="rect">
            <a:avLst/>
          </a:prstGeom>
          <a:solidFill>
            <a:srgbClr val="00B05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6664894" y="2151088"/>
            <a:ext cx="288032" cy="413362"/>
          </a:xfrm>
          <a:prstGeom prst="rect">
            <a:avLst/>
          </a:prstGeom>
          <a:solidFill>
            <a:srgbClr val="00B05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xmlns="" id="{4397637F-85FD-423E-EBF6-735B909FB59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Text Box 2">
            <a:extLst>
              <a:ext uri="{FF2B5EF4-FFF2-40B4-BE49-F238E27FC236}">
                <a16:creationId xmlns:a16="http://schemas.microsoft.com/office/drawing/2014/main" xmlns="" id="{F470EEC1-50CA-EAAA-C65E-6C6D3A19911E}"/>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8" name="矩形 7">
            <a:extLst>
              <a:ext uri="{FF2B5EF4-FFF2-40B4-BE49-F238E27FC236}">
                <a16:creationId xmlns:a16="http://schemas.microsoft.com/office/drawing/2014/main" xmlns="" id="{5BDD0C24-2531-0422-55C4-ED7A496F17B1}"/>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292851957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Box 2"/>
          <p:cNvSpPr txBox="1">
            <a:spLocks noChangeArrowheads="1"/>
          </p:cNvSpPr>
          <p:nvPr/>
        </p:nvSpPr>
        <p:spPr bwMode="auto">
          <a:xfrm>
            <a:off x="2711624" y="2151088"/>
            <a:ext cx="5579120"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先序序列为：</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a:t>
            </a:r>
            <a:r>
              <a:rPr kumimoji="1" lang="en-US" altLang="zh-CN" sz="2400" dirty="0">
                <a:solidFill>
                  <a:srgbClr val="00B0F0"/>
                </a:solidFill>
                <a:latin typeface="微软雅黑" pitchFamily="34" charset="-122"/>
                <a:ea typeface="微软雅黑" pitchFamily="34" charset="-122"/>
                <a:cs typeface="经典粗黑简" pitchFamily="49" charset="-122"/>
              </a:rPr>
              <a:t>B D E </a:t>
            </a:r>
            <a:r>
              <a:rPr kumimoji="1" lang="en-US" altLang="zh-CN" sz="2400" dirty="0">
                <a:latin typeface="微软雅黑" pitchFamily="34" charset="-122"/>
                <a:ea typeface="微软雅黑" pitchFamily="34" charset="-122"/>
                <a:cs typeface="经典粗黑简" pitchFamily="49" charset="-122"/>
              </a:rPr>
              <a:t>C F H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中序序列为：</a:t>
            </a:r>
            <a:r>
              <a:rPr kumimoji="1" lang="en-US" altLang="zh-CN" sz="2400" dirty="0">
                <a:solidFill>
                  <a:srgbClr val="00B0F0"/>
                </a:solidFill>
                <a:latin typeface="微软雅黑" pitchFamily="34" charset="-122"/>
                <a:ea typeface="微软雅黑" pitchFamily="34" charset="-122"/>
                <a:cs typeface="经典粗黑简" pitchFamily="49" charset="-122"/>
              </a:rPr>
              <a:t>D B E </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H F C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构造一棵二叉树。</a:t>
            </a:r>
          </a:p>
        </p:txBody>
      </p:sp>
      <p:sp>
        <p:nvSpPr>
          <p:cNvPr id="2" name="矩形 1"/>
          <p:cNvSpPr/>
          <p:nvPr/>
        </p:nvSpPr>
        <p:spPr>
          <a:xfrm>
            <a:off x="5777756" y="2199111"/>
            <a:ext cx="288032" cy="413362"/>
          </a:xfrm>
          <a:prstGeom prst="rect">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Oval 9"/>
          <p:cNvSpPr>
            <a:spLocks noChangeArrowheads="1"/>
          </p:cNvSpPr>
          <p:nvPr/>
        </p:nvSpPr>
        <p:spPr bwMode="auto">
          <a:xfrm>
            <a:off x="7177360" y="2866175"/>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A</a:t>
            </a:r>
          </a:p>
        </p:txBody>
      </p:sp>
      <p:sp>
        <p:nvSpPr>
          <p:cNvPr id="11" name="Line 13"/>
          <p:cNvSpPr>
            <a:spLocks noChangeShapeType="1"/>
          </p:cNvSpPr>
          <p:nvPr/>
        </p:nvSpPr>
        <p:spPr bwMode="auto">
          <a:xfrm flipH="1">
            <a:off x="6477802" y="3346085"/>
            <a:ext cx="770326"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3"/>
          <p:cNvSpPr>
            <a:spLocks noChangeShapeType="1"/>
          </p:cNvSpPr>
          <p:nvPr/>
        </p:nvSpPr>
        <p:spPr bwMode="auto">
          <a:xfrm>
            <a:off x="7684941" y="3346086"/>
            <a:ext cx="1006239"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3"/>
          <p:cNvSpPr>
            <a:spLocks noChangeShapeType="1"/>
          </p:cNvSpPr>
          <p:nvPr/>
        </p:nvSpPr>
        <p:spPr bwMode="auto">
          <a:xfrm flipH="1">
            <a:off x="4943873" y="2624368"/>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3"/>
          <p:cNvSpPr>
            <a:spLocks noChangeShapeType="1"/>
          </p:cNvSpPr>
          <p:nvPr/>
        </p:nvSpPr>
        <p:spPr bwMode="auto">
          <a:xfrm flipH="1">
            <a:off x="4960697" y="3056416"/>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3"/>
          <p:cNvSpPr>
            <a:spLocks noChangeShapeType="1"/>
          </p:cNvSpPr>
          <p:nvPr/>
        </p:nvSpPr>
        <p:spPr bwMode="auto">
          <a:xfrm flipH="1">
            <a:off x="5231905"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3"/>
          <p:cNvSpPr>
            <a:spLocks noChangeShapeType="1"/>
          </p:cNvSpPr>
          <p:nvPr/>
        </p:nvSpPr>
        <p:spPr bwMode="auto">
          <a:xfrm flipH="1">
            <a:off x="5501185"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13"/>
          <p:cNvSpPr>
            <a:spLocks noChangeShapeType="1"/>
          </p:cNvSpPr>
          <p:nvPr/>
        </p:nvSpPr>
        <p:spPr bwMode="auto">
          <a:xfrm flipH="1">
            <a:off x="4655841"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3"/>
          <p:cNvSpPr>
            <a:spLocks noChangeShapeType="1"/>
          </p:cNvSpPr>
          <p:nvPr/>
        </p:nvSpPr>
        <p:spPr bwMode="auto">
          <a:xfrm flipH="1">
            <a:off x="5237822"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Oval 3"/>
          <p:cNvSpPr>
            <a:spLocks noChangeArrowheads="1"/>
          </p:cNvSpPr>
          <p:nvPr/>
        </p:nvSpPr>
        <p:spPr bwMode="auto">
          <a:xfrm>
            <a:off x="5375896" y="4737838"/>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D</a:t>
            </a:r>
          </a:p>
        </p:txBody>
      </p:sp>
      <p:sp>
        <p:nvSpPr>
          <p:cNvPr id="23" name="Oval 4"/>
          <p:cNvSpPr>
            <a:spLocks noChangeArrowheads="1"/>
          </p:cNvSpPr>
          <p:nvPr/>
        </p:nvSpPr>
        <p:spPr bwMode="auto">
          <a:xfrm>
            <a:off x="6599858" y="4737838"/>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E</a:t>
            </a:r>
          </a:p>
        </p:txBody>
      </p:sp>
      <p:sp>
        <p:nvSpPr>
          <p:cNvPr id="24" name="Oval 7"/>
          <p:cNvSpPr>
            <a:spLocks noChangeArrowheads="1"/>
          </p:cNvSpPr>
          <p:nvPr/>
        </p:nvSpPr>
        <p:spPr bwMode="auto">
          <a:xfrm>
            <a:off x="6023596" y="3802800"/>
            <a:ext cx="576263"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B</a:t>
            </a:r>
          </a:p>
        </p:txBody>
      </p:sp>
      <p:sp>
        <p:nvSpPr>
          <p:cNvPr id="25" name="Line 14"/>
          <p:cNvSpPr>
            <a:spLocks noChangeShapeType="1"/>
          </p:cNvSpPr>
          <p:nvPr/>
        </p:nvSpPr>
        <p:spPr bwMode="auto">
          <a:xfrm>
            <a:off x="6528420" y="4306037"/>
            <a:ext cx="287338"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15"/>
          <p:cNvSpPr>
            <a:spLocks noChangeShapeType="1"/>
          </p:cNvSpPr>
          <p:nvPr/>
        </p:nvSpPr>
        <p:spPr bwMode="auto">
          <a:xfrm flipH="1">
            <a:off x="5736258" y="4306037"/>
            <a:ext cx="360362"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矩形 26"/>
          <p:cNvSpPr/>
          <p:nvPr/>
        </p:nvSpPr>
        <p:spPr>
          <a:xfrm>
            <a:off x="6333786" y="2631279"/>
            <a:ext cx="288032" cy="413362"/>
          </a:xfrm>
          <a:prstGeom prst="rect">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6664894" y="2645101"/>
            <a:ext cx="288032" cy="413362"/>
          </a:xfrm>
          <a:prstGeom prst="rect">
            <a:avLst/>
          </a:prstGeom>
          <a:solidFill>
            <a:srgbClr val="00B05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6664894" y="2151088"/>
            <a:ext cx="288032" cy="413362"/>
          </a:xfrm>
          <a:prstGeom prst="rect">
            <a:avLst/>
          </a:prstGeom>
          <a:solidFill>
            <a:srgbClr val="00B05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Oval 5"/>
          <p:cNvSpPr>
            <a:spLocks noChangeArrowheads="1"/>
          </p:cNvSpPr>
          <p:nvPr/>
        </p:nvSpPr>
        <p:spPr bwMode="auto">
          <a:xfrm>
            <a:off x="9482410" y="4737838"/>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G</a:t>
            </a:r>
          </a:p>
        </p:txBody>
      </p:sp>
      <p:sp>
        <p:nvSpPr>
          <p:cNvPr id="32" name="Oval 8"/>
          <p:cNvSpPr>
            <a:spLocks noChangeArrowheads="1"/>
          </p:cNvSpPr>
          <p:nvPr/>
        </p:nvSpPr>
        <p:spPr bwMode="auto">
          <a:xfrm>
            <a:off x="8618810" y="3802800"/>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C</a:t>
            </a:r>
          </a:p>
        </p:txBody>
      </p:sp>
      <p:sp>
        <p:nvSpPr>
          <p:cNvPr id="33" name="Line 11"/>
          <p:cNvSpPr>
            <a:spLocks noChangeShapeType="1"/>
          </p:cNvSpPr>
          <p:nvPr/>
        </p:nvSpPr>
        <p:spPr bwMode="auto">
          <a:xfrm flipH="1">
            <a:off x="8187010" y="4234601"/>
            <a:ext cx="431800" cy="50323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12"/>
          <p:cNvSpPr>
            <a:spLocks noChangeShapeType="1"/>
          </p:cNvSpPr>
          <p:nvPr/>
        </p:nvSpPr>
        <p:spPr bwMode="auto">
          <a:xfrm>
            <a:off x="9195073" y="4161575"/>
            <a:ext cx="574675" cy="576262"/>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矩形 36"/>
          <p:cNvSpPr/>
          <p:nvPr/>
        </p:nvSpPr>
        <p:spPr>
          <a:xfrm>
            <a:off x="7688265" y="4737837"/>
            <a:ext cx="670376" cy="430374"/>
          </a:xfrm>
          <a:prstGeom prst="rect">
            <a:avLst/>
          </a:prstGeom>
          <a:ln>
            <a:solidFill>
              <a:schemeClr val="tx1"/>
            </a:solidFill>
          </a:ln>
        </p:spPr>
        <p:txBody>
          <a:bodyPr wrap="none">
            <a:spAutoFit/>
          </a:bodyPr>
          <a:lstStyle/>
          <a:p>
            <a:pPr>
              <a:lnSpc>
                <a:spcPct val="120000"/>
              </a:lnSpc>
              <a:spcBef>
                <a:spcPct val="0"/>
              </a:spcBef>
              <a:buClrTx/>
              <a:buSzTx/>
              <a:buFontTx/>
              <a:buNone/>
            </a:pPr>
            <a:r>
              <a:rPr kumimoji="1" lang="en-US" altLang="zh-CN" sz="2000" dirty="0">
                <a:latin typeface="微软雅黑" pitchFamily="34" charset="-122"/>
                <a:ea typeface="微软雅黑" pitchFamily="34" charset="-122"/>
                <a:cs typeface="经典粗黑简" pitchFamily="49" charset="-122"/>
              </a:rPr>
              <a:t>F  H</a:t>
            </a:r>
          </a:p>
        </p:txBody>
      </p:sp>
      <p:cxnSp>
        <p:nvCxnSpPr>
          <p:cNvPr id="4" name="直接连接符 3">
            <a:extLst>
              <a:ext uri="{FF2B5EF4-FFF2-40B4-BE49-F238E27FC236}">
                <a16:creationId xmlns:a16="http://schemas.microsoft.com/office/drawing/2014/main" xmlns="" id="{18A9BBA8-DC73-5CFA-5C32-465B08E503BB}"/>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xmlns="" id="{AD419805-DAD7-BBB7-E7E8-8FBFD5B9123D}"/>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7" name="矩形 6">
            <a:extLst>
              <a:ext uri="{FF2B5EF4-FFF2-40B4-BE49-F238E27FC236}">
                <a16:creationId xmlns:a16="http://schemas.microsoft.com/office/drawing/2014/main" xmlns="" id="{8CC9EE93-9DD6-A72A-9213-DA510155B24D}"/>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229606024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Box 2"/>
          <p:cNvSpPr txBox="1">
            <a:spLocks noChangeArrowheads="1"/>
          </p:cNvSpPr>
          <p:nvPr/>
        </p:nvSpPr>
        <p:spPr bwMode="auto">
          <a:xfrm>
            <a:off x="2711624" y="2151088"/>
            <a:ext cx="5579120"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先序序列为：</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a:t>
            </a:r>
            <a:r>
              <a:rPr kumimoji="1" lang="en-US" altLang="zh-CN" sz="2400" dirty="0">
                <a:solidFill>
                  <a:srgbClr val="00B0F0"/>
                </a:solidFill>
                <a:latin typeface="微软雅黑" pitchFamily="34" charset="-122"/>
                <a:ea typeface="微软雅黑" pitchFamily="34" charset="-122"/>
                <a:cs typeface="经典粗黑简" pitchFamily="49" charset="-122"/>
              </a:rPr>
              <a:t>B D E </a:t>
            </a:r>
            <a:r>
              <a:rPr kumimoji="1" lang="en-US" altLang="zh-CN" sz="2400" dirty="0">
                <a:latin typeface="微软雅黑" pitchFamily="34" charset="-122"/>
                <a:ea typeface="微软雅黑" pitchFamily="34" charset="-122"/>
                <a:cs typeface="经典粗黑简" pitchFamily="49" charset="-122"/>
              </a:rPr>
              <a:t>C F H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中序序列为：</a:t>
            </a:r>
            <a:r>
              <a:rPr kumimoji="1" lang="en-US" altLang="zh-CN" sz="2400" dirty="0">
                <a:solidFill>
                  <a:srgbClr val="00B0F0"/>
                </a:solidFill>
                <a:latin typeface="微软雅黑" pitchFamily="34" charset="-122"/>
                <a:ea typeface="微软雅黑" pitchFamily="34" charset="-122"/>
                <a:cs typeface="经典粗黑简" pitchFamily="49" charset="-122"/>
              </a:rPr>
              <a:t>D B E </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H F C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构造一棵二叉树。</a:t>
            </a:r>
          </a:p>
        </p:txBody>
      </p:sp>
      <p:sp>
        <p:nvSpPr>
          <p:cNvPr id="2" name="矩形 1"/>
          <p:cNvSpPr/>
          <p:nvPr/>
        </p:nvSpPr>
        <p:spPr>
          <a:xfrm>
            <a:off x="5777756" y="2199111"/>
            <a:ext cx="288032" cy="413362"/>
          </a:xfrm>
          <a:prstGeom prst="rect">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Oval 9"/>
          <p:cNvSpPr>
            <a:spLocks noChangeArrowheads="1"/>
          </p:cNvSpPr>
          <p:nvPr/>
        </p:nvSpPr>
        <p:spPr bwMode="auto">
          <a:xfrm>
            <a:off x="7177360" y="2866175"/>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A</a:t>
            </a:r>
          </a:p>
        </p:txBody>
      </p:sp>
      <p:sp>
        <p:nvSpPr>
          <p:cNvPr id="11" name="Line 13"/>
          <p:cNvSpPr>
            <a:spLocks noChangeShapeType="1"/>
          </p:cNvSpPr>
          <p:nvPr/>
        </p:nvSpPr>
        <p:spPr bwMode="auto">
          <a:xfrm flipH="1">
            <a:off x="6477802" y="3346085"/>
            <a:ext cx="770326"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3"/>
          <p:cNvSpPr>
            <a:spLocks noChangeShapeType="1"/>
          </p:cNvSpPr>
          <p:nvPr/>
        </p:nvSpPr>
        <p:spPr bwMode="auto">
          <a:xfrm>
            <a:off x="7684941" y="3346086"/>
            <a:ext cx="1006239"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3"/>
          <p:cNvSpPr>
            <a:spLocks noChangeShapeType="1"/>
          </p:cNvSpPr>
          <p:nvPr/>
        </p:nvSpPr>
        <p:spPr bwMode="auto">
          <a:xfrm flipH="1">
            <a:off x="4943873" y="2624368"/>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3"/>
          <p:cNvSpPr>
            <a:spLocks noChangeShapeType="1"/>
          </p:cNvSpPr>
          <p:nvPr/>
        </p:nvSpPr>
        <p:spPr bwMode="auto">
          <a:xfrm flipH="1">
            <a:off x="4960697" y="3056416"/>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3"/>
          <p:cNvSpPr>
            <a:spLocks noChangeShapeType="1"/>
          </p:cNvSpPr>
          <p:nvPr/>
        </p:nvSpPr>
        <p:spPr bwMode="auto">
          <a:xfrm flipH="1">
            <a:off x="5231905"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3"/>
          <p:cNvSpPr>
            <a:spLocks noChangeShapeType="1"/>
          </p:cNvSpPr>
          <p:nvPr/>
        </p:nvSpPr>
        <p:spPr bwMode="auto">
          <a:xfrm flipH="1">
            <a:off x="5501185"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13"/>
          <p:cNvSpPr>
            <a:spLocks noChangeShapeType="1"/>
          </p:cNvSpPr>
          <p:nvPr/>
        </p:nvSpPr>
        <p:spPr bwMode="auto">
          <a:xfrm flipH="1">
            <a:off x="4655841"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3"/>
          <p:cNvSpPr>
            <a:spLocks noChangeShapeType="1"/>
          </p:cNvSpPr>
          <p:nvPr/>
        </p:nvSpPr>
        <p:spPr bwMode="auto">
          <a:xfrm flipH="1">
            <a:off x="5237822"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Oval 3"/>
          <p:cNvSpPr>
            <a:spLocks noChangeArrowheads="1"/>
          </p:cNvSpPr>
          <p:nvPr/>
        </p:nvSpPr>
        <p:spPr bwMode="auto">
          <a:xfrm>
            <a:off x="5375896" y="4737838"/>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D</a:t>
            </a:r>
          </a:p>
        </p:txBody>
      </p:sp>
      <p:sp>
        <p:nvSpPr>
          <p:cNvPr id="23" name="Oval 4"/>
          <p:cNvSpPr>
            <a:spLocks noChangeArrowheads="1"/>
          </p:cNvSpPr>
          <p:nvPr/>
        </p:nvSpPr>
        <p:spPr bwMode="auto">
          <a:xfrm>
            <a:off x="6599858" y="4737838"/>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E</a:t>
            </a:r>
          </a:p>
        </p:txBody>
      </p:sp>
      <p:sp>
        <p:nvSpPr>
          <p:cNvPr id="24" name="Oval 7"/>
          <p:cNvSpPr>
            <a:spLocks noChangeArrowheads="1"/>
          </p:cNvSpPr>
          <p:nvPr/>
        </p:nvSpPr>
        <p:spPr bwMode="auto">
          <a:xfrm>
            <a:off x="6023596" y="3802800"/>
            <a:ext cx="576263"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B</a:t>
            </a:r>
          </a:p>
        </p:txBody>
      </p:sp>
      <p:sp>
        <p:nvSpPr>
          <p:cNvPr id="25" name="Line 14"/>
          <p:cNvSpPr>
            <a:spLocks noChangeShapeType="1"/>
          </p:cNvSpPr>
          <p:nvPr/>
        </p:nvSpPr>
        <p:spPr bwMode="auto">
          <a:xfrm>
            <a:off x="6528420" y="4306037"/>
            <a:ext cx="287338"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15"/>
          <p:cNvSpPr>
            <a:spLocks noChangeShapeType="1"/>
          </p:cNvSpPr>
          <p:nvPr/>
        </p:nvSpPr>
        <p:spPr bwMode="auto">
          <a:xfrm flipH="1">
            <a:off x="5736258" y="4306037"/>
            <a:ext cx="360362"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矩形 26"/>
          <p:cNvSpPr/>
          <p:nvPr/>
        </p:nvSpPr>
        <p:spPr>
          <a:xfrm>
            <a:off x="6333786" y="2631279"/>
            <a:ext cx="288032" cy="413362"/>
          </a:xfrm>
          <a:prstGeom prst="rect">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6664894" y="2645101"/>
            <a:ext cx="288032" cy="413362"/>
          </a:xfrm>
          <a:prstGeom prst="rect">
            <a:avLst/>
          </a:prstGeom>
          <a:solidFill>
            <a:srgbClr val="00B05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6664894" y="2151088"/>
            <a:ext cx="288032" cy="413362"/>
          </a:xfrm>
          <a:prstGeom prst="rect">
            <a:avLst/>
          </a:prstGeom>
          <a:solidFill>
            <a:srgbClr val="00B05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Oval 5"/>
          <p:cNvSpPr>
            <a:spLocks noChangeArrowheads="1"/>
          </p:cNvSpPr>
          <p:nvPr/>
        </p:nvSpPr>
        <p:spPr bwMode="auto">
          <a:xfrm>
            <a:off x="9482410" y="4737838"/>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G</a:t>
            </a:r>
          </a:p>
        </p:txBody>
      </p:sp>
      <p:sp>
        <p:nvSpPr>
          <p:cNvPr id="32" name="Oval 8"/>
          <p:cNvSpPr>
            <a:spLocks noChangeArrowheads="1"/>
          </p:cNvSpPr>
          <p:nvPr/>
        </p:nvSpPr>
        <p:spPr bwMode="auto">
          <a:xfrm>
            <a:off x="8618810" y="3802800"/>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C</a:t>
            </a:r>
          </a:p>
        </p:txBody>
      </p:sp>
      <p:sp>
        <p:nvSpPr>
          <p:cNvPr id="33" name="Line 11"/>
          <p:cNvSpPr>
            <a:spLocks noChangeShapeType="1"/>
          </p:cNvSpPr>
          <p:nvPr/>
        </p:nvSpPr>
        <p:spPr bwMode="auto">
          <a:xfrm flipH="1">
            <a:off x="8187010" y="4234601"/>
            <a:ext cx="431800" cy="50323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12"/>
          <p:cNvSpPr>
            <a:spLocks noChangeShapeType="1"/>
          </p:cNvSpPr>
          <p:nvPr/>
        </p:nvSpPr>
        <p:spPr bwMode="auto">
          <a:xfrm>
            <a:off x="9195073" y="4161575"/>
            <a:ext cx="574675" cy="576262"/>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矩形 36"/>
          <p:cNvSpPr/>
          <p:nvPr/>
        </p:nvSpPr>
        <p:spPr>
          <a:xfrm>
            <a:off x="7688265" y="4737837"/>
            <a:ext cx="670376" cy="430374"/>
          </a:xfrm>
          <a:prstGeom prst="rect">
            <a:avLst/>
          </a:prstGeom>
          <a:ln>
            <a:solidFill>
              <a:schemeClr val="tx1"/>
            </a:solidFill>
          </a:ln>
        </p:spPr>
        <p:txBody>
          <a:bodyPr wrap="none">
            <a:spAutoFit/>
          </a:bodyPr>
          <a:lstStyle/>
          <a:p>
            <a:pPr>
              <a:lnSpc>
                <a:spcPct val="120000"/>
              </a:lnSpc>
              <a:spcBef>
                <a:spcPct val="0"/>
              </a:spcBef>
              <a:buClrTx/>
              <a:buSzTx/>
              <a:buFontTx/>
              <a:buNone/>
            </a:pPr>
            <a:r>
              <a:rPr kumimoji="1" lang="en-US" altLang="zh-CN" sz="2000" dirty="0">
                <a:latin typeface="微软雅黑" pitchFamily="34" charset="-122"/>
                <a:ea typeface="微软雅黑" pitchFamily="34" charset="-122"/>
                <a:cs typeface="经典粗黑简" pitchFamily="49" charset="-122"/>
              </a:rPr>
              <a:t>F  H</a:t>
            </a:r>
          </a:p>
        </p:txBody>
      </p:sp>
      <p:sp>
        <p:nvSpPr>
          <p:cNvPr id="31" name="矩形 30"/>
          <p:cNvSpPr/>
          <p:nvPr/>
        </p:nvSpPr>
        <p:spPr>
          <a:xfrm>
            <a:off x="6081426" y="2199111"/>
            <a:ext cx="288032" cy="413362"/>
          </a:xfrm>
          <a:prstGeom prst="rect">
            <a:avLst/>
          </a:prstGeom>
          <a:solidFill>
            <a:srgbClr val="FFFF0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6033383" y="2643054"/>
            <a:ext cx="288032" cy="413362"/>
          </a:xfrm>
          <a:prstGeom prst="rect">
            <a:avLst/>
          </a:prstGeom>
          <a:solidFill>
            <a:srgbClr val="FFFF0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xmlns="" id="{2B2F4C8D-A8A4-B3CD-4776-D12A32E43A5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xmlns="" id="{15F22615-AF31-B145-9F33-DDEDD7C2866F}"/>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7" name="矩形 6">
            <a:extLst>
              <a:ext uri="{FF2B5EF4-FFF2-40B4-BE49-F238E27FC236}">
                <a16:creationId xmlns:a16="http://schemas.microsoft.com/office/drawing/2014/main" xmlns="" id="{17E1AEDF-48A8-303C-7DE6-58B531C899FB}"/>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210704322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 Box 2"/>
          <p:cNvSpPr txBox="1">
            <a:spLocks noChangeArrowheads="1"/>
          </p:cNvSpPr>
          <p:nvPr/>
        </p:nvSpPr>
        <p:spPr bwMode="auto">
          <a:xfrm>
            <a:off x="2711624" y="2151088"/>
            <a:ext cx="5579120"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先序序列为：</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a:t>
            </a:r>
            <a:r>
              <a:rPr kumimoji="1" lang="en-US" altLang="zh-CN" sz="2400" dirty="0">
                <a:solidFill>
                  <a:srgbClr val="00B0F0"/>
                </a:solidFill>
                <a:latin typeface="微软雅黑" pitchFamily="34" charset="-122"/>
                <a:ea typeface="微软雅黑" pitchFamily="34" charset="-122"/>
                <a:cs typeface="经典粗黑简" pitchFamily="49" charset="-122"/>
              </a:rPr>
              <a:t>B D E </a:t>
            </a:r>
            <a:r>
              <a:rPr kumimoji="1" lang="en-US" altLang="zh-CN" sz="2400" dirty="0">
                <a:latin typeface="微软雅黑" pitchFamily="34" charset="-122"/>
                <a:ea typeface="微软雅黑" pitchFamily="34" charset="-122"/>
                <a:cs typeface="经典粗黑简" pitchFamily="49" charset="-122"/>
              </a:rPr>
              <a:t>C F H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中序序列为：</a:t>
            </a:r>
            <a:r>
              <a:rPr kumimoji="1" lang="en-US" altLang="zh-CN" sz="2400" dirty="0">
                <a:solidFill>
                  <a:srgbClr val="00B0F0"/>
                </a:solidFill>
                <a:latin typeface="微软雅黑" pitchFamily="34" charset="-122"/>
                <a:ea typeface="微软雅黑" pitchFamily="34" charset="-122"/>
                <a:cs typeface="经典粗黑简" pitchFamily="49" charset="-122"/>
              </a:rPr>
              <a:t>D B E </a:t>
            </a:r>
            <a:r>
              <a:rPr kumimoji="1" lang="en-US" altLang="zh-CN" sz="2400" dirty="0">
                <a:solidFill>
                  <a:srgbClr val="FF0000"/>
                </a:solidFill>
                <a:latin typeface="微软雅黑" pitchFamily="34" charset="-122"/>
                <a:ea typeface="微软雅黑" pitchFamily="34" charset="-122"/>
                <a:cs typeface="经典粗黑简" pitchFamily="49" charset="-122"/>
              </a:rPr>
              <a:t>A</a:t>
            </a:r>
            <a:r>
              <a:rPr kumimoji="1" lang="en-US" altLang="zh-CN" sz="2400" dirty="0">
                <a:latin typeface="微软雅黑" pitchFamily="34" charset="-122"/>
                <a:ea typeface="微软雅黑" pitchFamily="34" charset="-122"/>
                <a:cs typeface="经典粗黑简" pitchFamily="49" charset="-122"/>
              </a:rPr>
              <a:t> H F C G</a:t>
            </a:r>
          </a:p>
          <a:p>
            <a:pPr>
              <a:lnSpc>
                <a:spcPct val="120000"/>
              </a:lnSpc>
              <a:spcBef>
                <a:spcPct val="0"/>
              </a:spcBef>
              <a:buClrTx/>
              <a:buSzTx/>
              <a:buFontTx/>
              <a:buNone/>
            </a:pPr>
            <a:r>
              <a:rPr kumimoji="1" lang="zh-CN" altLang="en-US" sz="2400" dirty="0">
                <a:latin typeface="微软雅黑" pitchFamily="34" charset="-122"/>
                <a:ea typeface="微软雅黑" pitchFamily="34" charset="-122"/>
                <a:cs typeface="经典粗黑简" pitchFamily="49" charset="-122"/>
              </a:rPr>
              <a:t>构造一棵二叉树。</a:t>
            </a:r>
          </a:p>
        </p:txBody>
      </p:sp>
      <p:sp>
        <p:nvSpPr>
          <p:cNvPr id="2" name="矩形 1"/>
          <p:cNvSpPr/>
          <p:nvPr/>
        </p:nvSpPr>
        <p:spPr>
          <a:xfrm>
            <a:off x="5777756" y="2199111"/>
            <a:ext cx="288032" cy="413362"/>
          </a:xfrm>
          <a:prstGeom prst="rect">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Oval 9"/>
          <p:cNvSpPr>
            <a:spLocks noChangeArrowheads="1"/>
          </p:cNvSpPr>
          <p:nvPr/>
        </p:nvSpPr>
        <p:spPr bwMode="auto">
          <a:xfrm>
            <a:off x="7177360" y="2866175"/>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A</a:t>
            </a:r>
          </a:p>
        </p:txBody>
      </p:sp>
      <p:sp>
        <p:nvSpPr>
          <p:cNvPr id="11" name="Line 13"/>
          <p:cNvSpPr>
            <a:spLocks noChangeShapeType="1"/>
          </p:cNvSpPr>
          <p:nvPr/>
        </p:nvSpPr>
        <p:spPr bwMode="auto">
          <a:xfrm flipH="1">
            <a:off x="6477802" y="3346085"/>
            <a:ext cx="770326"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3"/>
          <p:cNvSpPr>
            <a:spLocks noChangeShapeType="1"/>
          </p:cNvSpPr>
          <p:nvPr/>
        </p:nvSpPr>
        <p:spPr bwMode="auto">
          <a:xfrm>
            <a:off x="7684941" y="3346086"/>
            <a:ext cx="1006239" cy="50405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3"/>
          <p:cNvSpPr>
            <a:spLocks noChangeShapeType="1"/>
          </p:cNvSpPr>
          <p:nvPr/>
        </p:nvSpPr>
        <p:spPr bwMode="auto">
          <a:xfrm flipH="1">
            <a:off x="4943873" y="2624368"/>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3"/>
          <p:cNvSpPr>
            <a:spLocks noChangeShapeType="1"/>
          </p:cNvSpPr>
          <p:nvPr/>
        </p:nvSpPr>
        <p:spPr bwMode="auto">
          <a:xfrm flipH="1">
            <a:off x="4960697" y="3056416"/>
            <a:ext cx="192581" cy="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3"/>
          <p:cNvSpPr>
            <a:spLocks noChangeShapeType="1"/>
          </p:cNvSpPr>
          <p:nvPr/>
        </p:nvSpPr>
        <p:spPr bwMode="auto">
          <a:xfrm flipH="1">
            <a:off x="5231905"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3"/>
          <p:cNvSpPr>
            <a:spLocks noChangeShapeType="1"/>
          </p:cNvSpPr>
          <p:nvPr/>
        </p:nvSpPr>
        <p:spPr bwMode="auto">
          <a:xfrm flipH="1">
            <a:off x="5501185"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13"/>
          <p:cNvSpPr>
            <a:spLocks noChangeShapeType="1"/>
          </p:cNvSpPr>
          <p:nvPr/>
        </p:nvSpPr>
        <p:spPr bwMode="auto">
          <a:xfrm flipH="1">
            <a:off x="4655841" y="3056416"/>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3"/>
          <p:cNvSpPr>
            <a:spLocks noChangeShapeType="1"/>
          </p:cNvSpPr>
          <p:nvPr/>
        </p:nvSpPr>
        <p:spPr bwMode="auto">
          <a:xfrm flipH="1">
            <a:off x="5237822" y="2624368"/>
            <a:ext cx="192581" cy="0"/>
          </a:xfrm>
          <a:prstGeom prst="line">
            <a:avLst/>
          </a:prstGeom>
          <a:noFill/>
          <a:ln w="28575" cap="sq">
            <a:solidFill>
              <a:srgbClr val="FF0000"/>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Oval 3"/>
          <p:cNvSpPr>
            <a:spLocks noChangeArrowheads="1"/>
          </p:cNvSpPr>
          <p:nvPr/>
        </p:nvSpPr>
        <p:spPr bwMode="auto">
          <a:xfrm>
            <a:off x="5375896" y="4737838"/>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D</a:t>
            </a:r>
          </a:p>
        </p:txBody>
      </p:sp>
      <p:sp>
        <p:nvSpPr>
          <p:cNvPr id="23" name="Oval 4"/>
          <p:cNvSpPr>
            <a:spLocks noChangeArrowheads="1"/>
          </p:cNvSpPr>
          <p:nvPr/>
        </p:nvSpPr>
        <p:spPr bwMode="auto">
          <a:xfrm>
            <a:off x="6599858" y="4737838"/>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E</a:t>
            </a:r>
          </a:p>
        </p:txBody>
      </p:sp>
      <p:sp>
        <p:nvSpPr>
          <p:cNvPr id="24" name="Oval 7"/>
          <p:cNvSpPr>
            <a:spLocks noChangeArrowheads="1"/>
          </p:cNvSpPr>
          <p:nvPr/>
        </p:nvSpPr>
        <p:spPr bwMode="auto">
          <a:xfrm>
            <a:off x="6023596" y="3802800"/>
            <a:ext cx="576263"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B</a:t>
            </a:r>
          </a:p>
        </p:txBody>
      </p:sp>
      <p:sp>
        <p:nvSpPr>
          <p:cNvPr id="25" name="Line 14"/>
          <p:cNvSpPr>
            <a:spLocks noChangeShapeType="1"/>
          </p:cNvSpPr>
          <p:nvPr/>
        </p:nvSpPr>
        <p:spPr bwMode="auto">
          <a:xfrm>
            <a:off x="6528420" y="4306037"/>
            <a:ext cx="287338"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15"/>
          <p:cNvSpPr>
            <a:spLocks noChangeShapeType="1"/>
          </p:cNvSpPr>
          <p:nvPr/>
        </p:nvSpPr>
        <p:spPr bwMode="auto">
          <a:xfrm flipH="1">
            <a:off x="5736258" y="4306037"/>
            <a:ext cx="360362"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矩形 26"/>
          <p:cNvSpPr/>
          <p:nvPr/>
        </p:nvSpPr>
        <p:spPr>
          <a:xfrm>
            <a:off x="6333786" y="2631279"/>
            <a:ext cx="288032" cy="413362"/>
          </a:xfrm>
          <a:prstGeom prst="rect">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6664894" y="2645101"/>
            <a:ext cx="288032" cy="413362"/>
          </a:xfrm>
          <a:prstGeom prst="rect">
            <a:avLst/>
          </a:prstGeom>
          <a:solidFill>
            <a:srgbClr val="00B05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6664894" y="2151088"/>
            <a:ext cx="288032" cy="413362"/>
          </a:xfrm>
          <a:prstGeom prst="rect">
            <a:avLst/>
          </a:prstGeom>
          <a:solidFill>
            <a:srgbClr val="00B05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Oval 5"/>
          <p:cNvSpPr>
            <a:spLocks noChangeArrowheads="1"/>
          </p:cNvSpPr>
          <p:nvPr/>
        </p:nvSpPr>
        <p:spPr bwMode="auto">
          <a:xfrm>
            <a:off x="9482410" y="4737838"/>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G</a:t>
            </a:r>
          </a:p>
        </p:txBody>
      </p:sp>
      <p:sp>
        <p:nvSpPr>
          <p:cNvPr id="32" name="Oval 8"/>
          <p:cNvSpPr>
            <a:spLocks noChangeArrowheads="1"/>
          </p:cNvSpPr>
          <p:nvPr/>
        </p:nvSpPr>
        <p:spPr bwMode="auto">
          <a:xfrm>
            <a:off x="8618810" y="3802800"/>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C</a:t>
            </a:r>
          </a:p>
        </p:txBody>
      </p:sp>
      <p:sp>
        <p:nvSpPr>
          <p:cNvPr id="33" name="Line 11"/>
          <p:cNvSpPr>
            <a:spLocks noChangeShapeType="1"/>
          </p:cNvSpPr>
          <p:nvPr/>
        </p:nvSpPr>
        <p:spPr bwMode="auto">
          <a:xfrm flipH="1">
            <a:off x="8187010" y="4234601"/>
            <a:ext cx="431800" cy="50323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12"/>
          <p:cNvSpPr>
            <a:spLocks noChangeShapeType="1"/>
          </p:cNvSpPr>
          <p:nvPr/>
        </p:nvSpPr>
        <p:spPr bwMode="auto">
          <a:xfrm>
            <a:off x="9195073" y="4161575"/>
            <a:ext cx="574675" cy="576262"/>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矩形 30"/>
          <p:cNvSpPr/>
          <p:nvPr/>
        </p:nvSpPr>
        <p:spPr>
          <a:xfrm>
            <a:off x="6081426" y="2199111"/>
            <a:ext cx="288032" cy="413362"/>
          </a:xfrm>
          <a:prstGeom prst="rect">
            <a:avLst/>
          </a:prstGeom>
          <a:solidFill>
            <a:srgbClr val="FFFF0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6033383" y="2643054"/>
            <a:ext cx="288032" cy="413362"/>
          </a:xfrm>
          <a:prstGeom prst="rect">
            <a:avLst/>
          </a:prstGeom>
          <a:solidFill>
            <a:srgbClr val="FFFF0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Oval 6"/>
          <p:cNvSpPr>
            <a:spLocks noChangeArrowheads="1"/>
          </p:cNvSpPr>
          <p:nvPr/>
        </p:nvSpPr>
        <p:spPr bwMode="auto">
          <a:xfrm>
            <a:off x="7705136" y="4652368"/>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F</a:t>
            </a:r>
          </a:p>
        </p:txBody>
      </p:sp>
      <p:sp>
        <p:nvSpPr>
          <p:cNvPr id="38" name="Oval 16"/>
          <p:cNvSpPr>
            <a:spLocks noChangeArrowheads="1"/>
          </p:cNvSpPr>
          <p:nvPr/>
        </p:nvSpPr>
        <p:spPr bwMode="auto">
          <a:xfrm>
            <a:off x="6985998" y="5662018"/>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H</a:t>
            </a:r>
          </a:p>
        </p:txBody>
      </p:sp>
      <p:sp>
        <p:nvSpPr>
          <p:cNvPr id="39" name="Line 17"/>
          <p:cNvSpPr>
            <a:spLocks noChangeShapeType="1"/>
          </p:cNvSpPr>
          <p:nvPr/>
        </p:nvSpPr>
        <p:spPr bwMode="auto">
          <a:xfrm flipH="1">
            <a:off x="7346360" y="5157193"/>
            <a:ext cx="431800" cy="504825"/>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cxnSp>
        <p:nvCxnSpPr>
          <p:cNvPr id="4" name="直接连接符 3">
            <a:extLst>
              <a:ext uri="{FF2B5EF4-FFF2-40B4-BE49-F238E27FC236}">
                <a16:creationId xmlns:a16="http://schemas.microsoft.com/office/drawing/2014/main" xmlns="" id="{0DB96CA0-3F04-3243-9F40-6B184B43B128}"/>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xmlns="" id="{D44816C6-DDC6-760E-92B8-BD9C9AED3BCD}"/>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7" name="矩形 6">
            <a:extLst>
              <a:ext uri="{FF2B5EF4-FFF2-40B4-BE49-F238E27FC236}">
                <a16:creationId xmlns:a16="http://schemas.microsoft.com/office/drawing/2014/main" xmlns="" id="{FF4DCD95-9C40-C8DC-91A9-B0273B3D0C33}"/>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286633975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txBox="1">
            <a:spLocks noChangeArrowheads="1"/>
          </p:cNvSpPr>
          <p:nvPr/>
        </p:nvSpPr>
        <p:spPr>
          <a:xfrm>
            <a:off x="2366047" y="2547723"/>
            <a:ext cx="1077888" cy="57606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400" dirty="0">
                <a:latin typeface="微软雅黑" pitchFamily="34" charset="-122"/>
                <a:ea typeface="微软雅黑" pitchFamily="34" charset="-122"/>
                <a:cs typeface="经典粗黑简" pitchFamily="49" charset="-122"/>
              </a:rPr>
              <a:t>思考：</a:t>
            </a:r>
          </a:p>
        </p:txBody>
      </p:sp>
      <p:sp>
        <p:nvSpPr>
          <p:cNvPr id="39" name="Rectangle 3"/>
          <p:cNvSpPr txBox="1">
            <a:spLocks noChangeArrowheads="1"/>
          </p:cNvSpPr>
          <p:nvPr/>
        </p:nvSpPr>
        <p:spPr>
          <a:xfrm>
            <a:off x="2351585" y="3122563"/>
            <a:ext cx="7773987" cy="57728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kumimoji="1" lang="en-US" altLang="zh-CN" sz="2400" dirty="0">
                <a:latin typeface="微软雅黑" pitchFamily="34" charset="-122"/>
                <a:ea typeface="微软雅黑" pitchFamily="34" charset="-122"/>
                <a:cs typeface="经典粗黑简" pitchFamily="49" charset="-122"/>
              </a:rPr>
              <a:t>1</a:t>
            </a:r>
            <a:r>
              <a:rPr kumimoji="1" lang="zh-CN" altLang="en-US" sz="2400" dirty="0">
                <a:latin typeface="微软雅黑" pitchFamily="34" charset="-122"/>
                <a:ea typeface="微软雅黑" pitchFamily="34" charset="-122"/>
                <a:cs typeface="经典粗黑简" pitchFamily="49" charset="-122"/>
              </a:rPr>
              <a:t>、怎样由二叉树</a:t>
            </a:r>
            <a:r>
              <a:rPr kumimoji="1" lang="zh-CN" altLang="en-US" sz="2400" dirty="0" smtClean="0">
                <a:latin typeface="微软雅黑" pitchFamily="34" charset="-122"/>
                <a:ea typeface="微软雅黑" pitchFamily="34" charset="-122"/>
                <a:cs typeface="经典粗黑简" pitchFamily="49" charset="-122"/>
              </a:rPr>
              <a:t>的后序</a:t>
            </a:r>
            <a:r>
              <a:rPr kumimoji="1" lang="zh-CN" altLang="en-US" sz="2400" dirty="0">
                <a:latin typeface="微软雅黑" pitchFamily="34" charset="-122"/>
                <a:ea typeface="微软雅黑" pitchFamily="34" charset="-122"/>
                <a:cs typeface="经典粗黑简" pitchFamily="49" charset="-122"/>
              </a:rPr>
              <a:t>序列和中序序列构造一颗二叉树？</a:t>
            </a:r>
          </a:p>
        </p:txBody>
      </p:sp>
      <p:sp>
        <p:nvSpPr>
          <p:cNvPr id="21" name="Rectangle 3"/>
          <p:cNvSpPr txBox="1">
            <a:spLocks noChangeArrowheads="1"/>
          </p:cNvSpPr>
          <p:nvPr/>
        </p:nvSpPr>
        <p:spPr>
          <a:xfrm>
            <a:off x="2351585" y="3645024"/>
            <a:ext cx="4507855" cy="93610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1000"/>
              </a:spcBef>
              <a:buNone/>
            </a:pPr>
            <a:r>
              <a:rPr kumimoji="1" lang="zh-CN" altLang="en-US" sz="2400" dirty="0" smtClean="0">
                <a:latin typeface="微软雅黑" pitchFamily="34" charset="-122"/>
                <a:ea typeface="微软雅黑" pitchFamily="34" charset="-122"/>
                <a:cs typeface="经典粗黑简" pitchFamily="49" charset="-122"/>
              </a:rPr>
              <a:t>后序</a:t>
            </a:r>
            <a:r>
              <a:rPr kumimoji="1" lang="zh-CN" altLang="en-US" sz="2400" dirty="0">
                <a:latin typeface="微软雅黑" pitchFamily="34" charset="-122"/>
                <a:ea typeface="微软雅黑" pitchFamily="34" charset="-122"/>
                <a:cs typeface="经典粗黑简" pitchFamily="49" charset="-122"/>
              </a:rPr>
              <a:t>序列为：</a:t>
            </a:r>
            <a:r>
              <a:rPr kumimoji="1" lang="en-US" altLang="zh-CN" sz="2400" dirty="0">
                <a:latin typeface="微软雅黑" pitchFamily="34" charset="-122"/>
                <a:ea typeface="微软雅黑" pitchFamily="34" charset="-122"/>
                <a:cs typeface="经典粗黑简" pitchFamily="49" charset="-122"/>
              </a:rPr>
              <a:t>D E B </a:t>
            </a:r>
            <a:r>
              <a:rPr kumimoji="1" lang="en-US" altLang="zh-CN" sz="2400" dirty="0">
                <a:solidFill>
                  <a:srgbClr val="FF0000"/>
                </a:solidFill>
                <a:latin typeface="微软雅黑" pitchFamily="34" charset="-122"/>
                <a:ea typeface="微软雅黑" pitchFamily="34" charset="-122"/>
                <a:cs typeface="经典粗黑简" pitchFamily="49" charset="-122"/>
              </a:rPr>
              <a:t>H F G C </a:t>
            </a:r>
            <a:r>
              <a:rPr kumimoji="1" lang="en-US" altLang="zh-CN" sz="2400" dirty="0">
                <a:latin typeface="微软雅黑" pitchFamily="34" charset="-122"/>
                <a:ea typeface="微软雅黑" pitchFamily="34" charset="-122"/>
                <a:cs typeface="经典粗黑简" pitchFamily="49" charset="-122"/>
              </a:rPr>
              <a:t>A</a:t>
            </a:r>
          </a:p>
          <a:p>
            <a:pPr marL="0" indent="0">
              <a:spcBef>
                <a:spcPts val="1000"/>
              </a:spcBef>
              <a:buNone/>
            </a:pPr>
            <a:r>
              <a:rPr kumimoji="1" lang="zh-CN" altLang="en-US" sz="2400" dirty="0">
                <a:latin typeface="微软雅黑" pitchFamily="34" charset="-122"/>
                <a:ea typeface="微软雅黑" pitchFamily="34" charset="-122"/>
                <a:cs typeface="经典粗黑简" pitchFamily="49" charset="-122"/>
              </a:rPr>
              <a:t>中序序列为：</a:t>
            </a:r>
            <a:r>
              <a:rPr kumimoji="1" lang="en-US" altLang="zh-CN" sz="2400" dirty="0">
                <a:latin typeface="微软雅黑" pitchFamily="34" charset="-122"/>
                <a:ea typeface="微软雅黑" pitchFamily="34" charset="-122"/>
                <a:cs typeface="经典粗黑简" pitchFamily="49" charset="-122"/>
              </a:rPr>
              <a:t>D B E A </a:t>
            </a:r>
            <a:r>
              <a:rPr kumimoji="1" lang="en-US" altLang="zh-CN" sz="2400" dirty="0">
                <a:solidFill>
                  <a:srgbClr val="FF0000"/>
                </a:solidFill>
                <a:latin typeface="微软雅黑" pitchFamily="34" charset="-122"/>
                <a:ea typeface="微软雅黑" pitchFamily="34" charset="-122"/>
                <a:cs typeface="经典粗黑简" pitchFamily="49" charset="-122"/>
              </a:rPr>
              <a:t>H F C G</a:t>
            </a:r>
          </a:p>
        </p:txBody>
      </p:sp>
      <p:sp>
        <p:nvSpPr>
          <p:cNvPr id="22" name="Oval 9"/>
          <p:cNvSpPr>
            <a:spLocks noChangeArrowheads="1"/>
          </p:cNvSpPr>
          <p:nvPr/>
        </p:nvSpPr>
        <p:spPr bwMode="auto">
          <a:xfrm>
            <a:off x="7723254" y="3602983"/>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A</a:t>
            </a:r>
          </a:p>
        </p:txBody>
      </p:sp>
      <p:sp>
        <p:nvSpPr>
          <p:cNvPr id="23" name="Line 13"/>
          <p:cNvSpPr>
            <a:spLocks noChangeShapeType="1"/>
          </p:cNvSpPr>
          <p:nvPr/>
        </p:nvSpPr>
        <p:spPr bwMode="auto">
          <a:xfrm flipH="1">
            <a:off x="6999159" y="4113076"/>
            <a:ext cx="770326" cy="318198"/>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13"/>
          <p:cNvSpPr>
            <a:spLocks noChangeShapeType="1"/>
          </p:cNvSpPr>
          <p:nvPr/>
        </p:nvSpPr>
        <p:spPr bwMode="auto">
          <a:xfrm>
            <a:off x="8299516" y="4077073"/>
            <a:ext cx="913020" cy="354203"/>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Oval 3"/>
          <p:cNvSpPr>
            <a:spLocks noChangeArrowheads="1"/>
          </p:cNvSpPr>
          <p:nvPr/>
        </p:nvSpPr>
        <p:spPr bwMode="auto">
          <a:xfrm>
            <a:off x="5897253" y="5318971"/>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D</a:t>
            </a:r>
          </a:p>
        </p:txBody>
      </p:sp>
      <p:sp>
        <p:nvSpPr>
          <p:cNvPr id="26" name="Oval 4"/>
          <p:cNvSpPr>
            <a:spLocks noChangeArrowheads="1"/>
          </p:cNvSpPr>
          <p:nvPr/>
        </p:nvSpPr>
        <p:spPr bwMode="auto">
          <a:xfrm>
            <a:off x="7121215" y="5318971"/>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E</a:t>
            </a:r>
          </a:p>
        </p:txBody>
      </p:sp>
      <p:sp>
        <p:nvSpPr>
          <p:cNvPr id="28" name="Oval 7"/>
          <p:cNvSpPr>
            <a:spLocks noChangeArrowheads="1"/>
          </p:cNvSpPr>
          <p:nvPr/>
        </p:nvSpPr>
        <p:spPr bwMode="auto">
          <a:xfrm>
            <a:off x="6544953" y="4383933"/>
            <a:ext cx="576263"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B</a:t>
            </a:r>
          </a:p>
        </p:txBody>
      </p:sp>
      <p:sp>
        <p:nvSpPr>
          <p:cNvPr id="30" name="Line 14"/>
          <p:cNvSpPr>
            <a:spLocks noChangeShapeType="1"/>
          </p:cNvSpPr>
          <p:nvPr/>
        </p:nvSpPr>
        <p:spPr bwMode="auto">
          <a:xfrm>
            <a:off x="7049777" y="4887170"/>
            <a:ext cx="287338"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Line 15"/>
          <p:cNvSpPr>
            <a:spLocks noChangeShapeType="1"/>
          </p:cNvSpPr>
          <p:nvPr/>
        </p:nvSpPr>
        <p:spPr bwMode="auto">
          <a:xfrm flipH="1">
            <a:off x="6257615" y="4887170"/>
            <a:ext cx="360362" cy="43180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Oval 5"/>
          <p:cNvSpPr>
            <a:spLocks noChangeArrowheads="1"/>
          </p:cNvSpPr>
          <p:nvPr/>
        </p:nvSpPr>
        <p:spPr bwMode="auto">
          <a:xfrm>
            <a:off x="9845208" y="5293710"/>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G</a:t>
            </a:r>
          </a:p>
        </p:txBody>
      </p:sp>
      <p:sp>
        <p:nvSpPr>
          <p:cNvPr id="42" name="Oval 8"/>
          <p:cNvSpPr>
            <a:spLocks noChangeArrowheads="1"/>
          </p:cNvSpPr>
          <p:nvPr/>
        </p:nvSpPr>
        <p:spPr bwMode="auto">
          <a:xfrm>
            <a:off x="9140167" y="4383933"/>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C</a:t>
            </a:r>
          </a:p>
        </p:txBody>
      </p:sp>
      <p:sp>
        <p:nvSpPr>
          <p:cNvPr id="43" name="Line 11"/>
          <p:cNvSpPr>
            <a:spLocks noChangeShapeType="1"/>
          </p:cNvSpPr>
          <p:nvPr/>
        </p:nvSpPr>
        <p:spPr bwMode="auto">
          <a:xfrm flipH="1">
            <a:off x="8708367" y="4815734"/>
            <a:ext cx="431800" cy="50323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 name="Line 12"/>
          <p:cNvSpPr>
            <a:spLocks noChangeShapeType="1"/>
          </p:cNvSpPr>
          <p:nvPr/>
        </p:nvSpPr>
        <p:spPr bwMode="auto">
          <a:xfrm>
            <a:off x="9716430" y="4742708"/>
            <a:ext cx="287338" cy="576262"/>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5" name="Oval 6"/>
          <p:cNvSpPr>
            <a:spLocks noChangeArrowheads="1"/>
          </p:cNvSpPr>
          <p:nvPr/>
        </p:nvSpPr>
        <p:spPr bwMode="auto">
          <a:xfrm>
            <a:off x="8226493" y="5233501"/>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F</a:t>
            </a:r>
          </a:p>
        </p:txBody>
      </p:sp>
      <p:sp>
        <p:nvSpPr>
          <p:cNvPr id="46" name="Oval 16"/>
          <p:cNvSpPr>
            <a:spLocks noChangeArrowheads="1"/>
          </p:cNvSpPr>
          <p:nvPr/>
        </p:nvSpPr>
        <p:spPr bwMode="auto">
          <a:xfrm>
            <a:off x="7507355" y="6032362"/>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a:latin typeface="Comic Sans MS" pitchFamily="66" charset="0"/>
              </a:rPr>
              <a:t>H</a:t>
            </a:r>
          </a:p>
        </p:txBody>
      </p:sp>
      <p:sp>
        <p:nvSpPr>
          <p:cNvPr id="47" name="Line 17"/>
          <p:cNvSpPr>
            <a:spLocks noChangeShapeType="1"/>
          </p:cNvSpPr>
          <p:nvPr/>
        </p:nvSpPr>
        <p:spPr bwMode="auto">
          <a:xfrm flipH="1">
            <a:off x="7986848" y="5738326"/>
            <a:ext cx="312669" cy="354971"/>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cxnSp>
        <p:nvCxnSpPr>
          <p:cNvPr id="3" name="直接连接符 2">
            <a:extLst>
              <a:ext uri="{FF2B5EF4-FFF2-40B4-BE49-F238E27FC236}">
                <a16:creationId xmlns:a16="http://schemas.microsoft.com/office/drawing/2014/main" xmlns="" id="{EFB36138-CBA0-4FE1-7A04-5C7347CB4E0F}"/>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Text Box 2">
            <a:extLst>
              <a:ext uri="{FF2B5EF4-FFF2-40B4-BE49-F238E27FC236}">
                <a16:creationId xmlns:a16="http://schemas.microsoft.com/office/drawing/2014/main" xmlns="" id="{51C7373D-6EBF-1ECB-F9A8-C3D48126AD2C}"/>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6" name="矩形 5">
            <a:extLst>
              <a:ext uri="{FF2B5EF4-FFF2-40B4-BE49-F238E27FC236}">
                <a16:creationId xmlns:a16="http://schemas.microsoft.com/office/drawing/2014/main" xmlns="" id="{C3900550-CE90-D4C6-99AB-6BDFF7A75E97}"/>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3708506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linds(horizontal)">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linds(horizontal)">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linds(horizontal)">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blinds(horizontal)">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blinds(horizontal)">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blinds(horizontal)">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checkerboard(across)">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checkerboard(across)">
                                      <p:cBhvr>
                                        <p:cTn id="47" dur="5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checkerboard(across)">
                                      <p:cBhvr>
                                        <p:cTn id="52" dur="500"/>
                                        <p:tgtEl>
                                          <p:spTgt spid="44"/>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checkerboard(across)">
                                      <p:cBhvr>
                                        <p:cTn id="57" dur="500"/>
                                        <p:tgtEl>
                                          <p:spTgt spid="4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blinds(horizontal)">
                                      <p:cBhvr>
                                        <p:cTn id="62" dur="5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checkerboard(across)">
                                      <p:cBhvr>
                                        <p:cTn id="67" dur="500"/>
                                        <p:tgtEl>
                                          <p:spTgt spid="4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blinds(horizontal)">
                                      <p:cBhvr>
                                        <p:cTn id="72" dur="500"/>
                                        <p:tgtEl>
                                          <p:spTgt spid="47"/>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blinds(horizontal)">
                                      <p:cBhvr>
                                        <p:cTn id="7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8" grpId="0" animBg="1"/>
      <p:bldP spid="30"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
          <p:cNvSpPr txBox="1">
            <a:spLocks noChangeArrowheads="1"/>
          </p:cNvSpPr>
          <p:nvPr/>
        </p:nvSpPr>
        <p:spPr>
          <a:xfrm>
            <a:off x="2495600" y="2492896"/>
            <a:ext cx="7772400" cy="79208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kumimoji="1" lang="zh-CN" altLang="en-US" sz="1800" dirty="0">
                <a:solidFill>
                  <a:schemeClr val="tx1"/>
                </a:solidFill>
                <a:latin typeface="微软雅黑" pitchFamily="34" charset="-122"/>
                <a:ea typeface="微软雅黑" pitchFamily="34" charset="-122"/>
                <a:cs typeface="经典粗黑简" pitchFamily="49" charset="-122"/>
              </a:rPr>
              <a:t>已知一棵二叉树的先序序列和中序序列，构造该二叉树的过程如下：</a:t>
            </a:r>
          </a:p>
          <a:p>
            <a:pPr lvl="1" algn="l">
              <a:defRPr/>
            </a:pPr>
            <a:r>
              <a:rPr kumimoji="1" lang="en-US" altLang="zh-CN" sz="1800" dirty="0">
                <a:solidFill>
                  <a:schemeClr val="tx1"/>
                </a:solidFill>
                <a:latin typeface="微软雅黑" pitchFamily="34" charset="-122"/>
                <a:ea typeface="微软雅黑" pitchFamily="34" charset="-122"/>
                <a:cs typeface="经典粗黑简" pitchFamily="49" charset="-122"/>
              </a:rPr>
              <a:t>①. </a:t>
            </a:r>
            <a:r>
              <a:rPr kumimoji="1" lang="zh-CN" altLang="en-US" sz="1800" dirty="0">
                <a:solidFill>
                  <a:schemeClr val="tx1"/>
                </a:solidFill>
                <a:latin typeface="微软雅黑" pitchFamily="34" charset="-122"/>
                <a:ea typeface="微软雅黑" pitchFamily="34" charset="-122"/>
                <a:cs typeface="经典粗黑简" pitchFamily="49" charset="-122"/>
              </a:rPr>
              <a:t>根据先序序列的第一个元素建立根结点；</a:t>
            </a:r>
          </a:p>
        </p:txBody>
      </p:sp>
      <p:sp>
        <p:nvSpPr>
          <p:cNvPr id="2" name="矩形 1"/>
          <p:cNvSpPr/>
          <p:nvPr/>
        </p:nvSpPr>
        <p:spPr>
          <a:xfrm>
            <a:off x="2495600" y="3212976"/>
            <a:ext cx="7772400" cy="369332"/>
          </a:xfrm>
          <a:prstGeom prst="rect">
            <a:avLst/>
          </a:prstGeom>
        </p:spPr>
        <p:txBody>
          <a:bodyPr wrap="square">
            <a:spAutoFit/>
          </a:bodyPr>
          <a:lstStyle/>
          <a:p>
            <a:pPr lvl="1">
              <a:defRPr/>
            </a:pPr>
            <a:r>
              <a:rPr kumimoji="1" lang="en-US" altLang="zh-CN" dirty="0">
                <a:latin typeface="微软雅黑" pitchFamily="34" charset="-122"/>
                <a:ea typeface="微软雅黑" pitchFamily="34" charset="-122"/>
                <a:cs typeface="经典粗黑简" pitchFamily="49" charset="-122"/>
              </a:rPr>
              <a:t>②. </a:t>
            </a:r>
            <a:r>
              <a:rPr kumimoji="1" lang="zh-CN" altLang="en-US" dirty="0">
                <a:latin typeface="微软雅黑" pitchFamily="34" charset="-122"/>
                <a:ea typeface="微软雅黑" pitchFamily="34" charset="-122"/>
                <a:cs typeface="经典粗黑简" pitchFamily="49" charset="-122"/>
              </a:rPr>
              <a:t>在中序序列中找到该元素，确定根结点的左右子树的中序序列；</a:t>
            </a:r>
          </a:p>
        </p:txBody>
      </p:sp>
      <p:sp>
        <p:nvSpPr>
          <p:cNvPr id="3" name="矩形 2"/>
          <p:cNvSpPr/>
          <p:nvPr/>
        </p:nvSpPr>
        <p:spPr>
          <a:xfrm>
            <a:off x="2495600" y="3693029"/>
            <a:ext cx="5760640" cy="369332"/>
          </a:xfrm>
          <a:prstGeom prst="rect">
            <a:avLst/>
          </a:prstGeom>
        </p:spPr>
        <p:txBody>
          <a:bodyPr wrap="square">
            <a:spAutoFit/>
          </a:bodyPr>
          <a:lstStyle/>
          <a:p>
            <a:pPr lvl="1">
              <a:defRPr/>
            </a:pPr>
            <a:r>
              <a:rPr kumimoji="1" lang="en-US" altLang="zh-CN" dirty="0">
                <a:latin typeface="微软雅黑" pitchFamily="34" charset="-122"/>
                <a:ea typeface="微软雅黑" pitchFamily="34" charset="-122"/>
                <a:cs typeface="经典粗黑简" pitchFamily="49" charset="-122"/>
              </a:rPr>
              <a:t>③. </a:t>
            </a:r>
            <a:r>
              <a:rPr kumimoji="1" lang="zh-CN" altLang="en-US" dirty="0">
                <a:latin typeface="微软雅黑" pitchFamily="34" charset="-122"/>
                <a:ea typeface="微软雅黑" pitchFamily="34" charset="-122"/>
                <a:cs typeface="经典粗黑简" pitchFamily="49" charset="-122"/>
              </a:rPr>
              <a:t>在先序序列中确定左右子树的先序序列；</a:t>
            </a:r>
          </a:p>
        </p:txBody>
      </p:sp>
      <p:sp>
        <p:nvSpPr>
          <p:cNvPr id="4" name="矩形 3"/>
          <p:cNvSpPr/>
          <p:nvPr/>
        </p:nvSpPr>
        <p:spPr>
          <a:xfrm>
            <a:off x="2495600" y="4173082"/>
            <a:ext cx="6120680" cy="369332"/>
          </a:xfrm>
          <a:prstGeom prst="rect">
            <a:avLst/>
          </a:prstGeom>
        </p:spPr>
        <p:txBody>
          <a:bodyPr wrap="square">
            <a:spAutoFit/>
          </a:bodyPr>
          <a:lstStyle/>
          <a:p>
            <a:pPr lvl="1">
              <a:defRPr/>
            </a:pPr>
            <a:r>
              <a:rPr kumimoji="1" lang="en-US" altLang="zh-CN" dirty="0">
                <a:latin typeface="微软雅黑" pitchFamily="34" charset="-122"/>
                <a:ea typeface="微软雅黑" pitchFamily="34" charset="-122"/>
                <a:cs typeface="经典粗黑简" pitchFamily="49" charset="-122"/>
              </a:rPr>
              <a:t>④. </a:t>
            </a:r>
            <a:r>
              <a:rPr kumimoji="1" lang="zh-CN" altLang="en-US" dirty="0">
                <a:latin typeface="微软雅黑" pitchFamily="34" charset="-122"/>
                <a:ea typeface="微软雅黑" pitchFamily="34" charset="-122"/>
                <a:cs typeface="经典粗黑简" pitchFamily="49" charset="-122"/>
              </a:rPr>
              <a:t>由左子树的先序序列和中序序列建立左子树；</a:t>
            </a:r>
          </a:p>
        </p:txBody>
      </p:sp>
      <p:sp>
        <p:nvSpPr>
          <p:cNvPr id="5" name="矩形 4"/>
          <p:cNvSpPr/>
          <p:nvPr/>
        </p:nvSpPr>
        <p:spPr>
          <a:xfrm>
            <a:off x="2495600" y="4653136"/>
            <a:ext cx="6552728" cy="369332"/>
          </a:xfrm>
          <a:prstGeom prst="rect">
            <a:avLst/>
          </a:prstGeom>
        </p:spPr>
        <p:txBody>
          <a:bodyPr wrap="square">
            <a:spAutoFit/>
          </a:bodyPr>
          <a:lstStyle/>
          <a:p>
            <a:pPr lvl="1">
              <a:defRPr/>
            </a:pPr>
            <a:r>
              <a:rPr kumimoji="1" lang="en-US" altLang="zh-CN" dirty="0">
                <a:latin typeface="微软雅黑" pitchFamily="34" charset="-122"/>
                <a:ea typeface="微软雅黑" pitchFamily="34" charset="-122"/>
                <a:cs typeface="经典粗黑简" pitchFamily="49" charset="-122"/>
              </a:rPr>
              <a:t>⑤. </a:t>
            </a:r>
            <a:r>
              <a:rPr kumimoji="1" lang="zh-CN" altLang="en-US" dirty="0">
                <a:latin typeface="微软雅黑" pitchFamily="34" charset="-122"/>
                <a:ea typeface="微软雅黑" pitchFamily="34" charset="-122"/>
                <a:cs typeface="经典粗黑简" pitchFamily="49" charset="-122"/>
              </a:rPr>
              <a:t>由右子树的先序序列和中序序列建立右子树。  </a:t>
            </a:r>
          </a:p>
        </p:txBody>
      </p:sp>
      <p:cxnSp>
        <p:nvCxnSpPr>
          <p:cNvPr id="7" name="直接连接符 6">
            <a:extLst>
              <a:ext uri="{FF2B5EF4-FFF2-40B4-BE49-F238E27FC236}">
                <a16:creationId xmlns:a16="http://schemas.microsoft.com/office/drawing/2014/main" xmlns="" id="{6C339810-D7C0-6D1A-E07F-91CEE9967A8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xmlns="" id="{D8609E1D-B300-62D6-9B35-FBD0AC05CC66}"/>
              </a:ext>
            </a:extLst>
          </p:cNvPr>
          <p:cNvSpPr txBox="1">
            <a:spLocks noChangeArrowheads="1"/>
          </p:cNvSpPr>
          <p:nvPr/>
        </p:nvSpPr>
        <p:spPr bwMode="auto">
          <a:xfrm>
            <a:off x="1070519" y="1558474"/>
            <a:ext cx="3877985" cy="46166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none">
            <a:spAutoFit/>
          </a:bodyPr>
          <a:lstStyle>
            <a:defPPr>
              <a:defRPr lang="zh-CN"/>
            </a:defPPr>
            <a:lvl1pPr>
              <a:defRPr kumimoji="1">
                <a:latin typeface="微软雅黑" pitchFamily="34" charset="-122"/>
                <a:ea typeface="微软雅黑" pitchFamily="34" charset="-122"/>
                <a:cs typeface="经典粗黑简" pitchFamily="49" charset="-122"/>
              </a:defRPr>
            </a:lvl1pPr>
          </a:lstStyle>
          <a:p>
            <a:r>
              <a:rPr lang="zh-CN" altLang="en-US" sz="2400" dirty="0"/>
              <a:t>由两个遍历序列构造二叉树</a:t>
            </a:r>
          </a:p>
        </p:txBody>
      </p:sp>
      <p:sp>
        <p:nvSpPr>
          <p:cNvPr id="10" name="矩形 9">
            <a:extLst>
              <a:ext uri="{FF2B5EF4-FFF2-40B4-BE49-F238E27FC236}">
                <a16:creationId xmlns:a16="http://schemas.microsoft.com/office/drawing/2014/main" xmlns="" id="{6DD6B64F-DEB2-837C-F5A2-F4915F9882D8}"/>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Tree>
    <p:extLst>
      <p:ext uri="{BB962C8B-B14F-4D97-AF65-F5344CB8AC3E}">
        <p14:creationId xmlns:p14="http://schemas.microsoft.com/office/powerpoint/2010/main" val="347060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F7A8DBA-872B-98A5-A5C9-BAAC5DAE8A7F}"/>
            </a:ext>
          </a:extLst>
        </p:cNvPr>
        <p:cNvGrpSpPr/>
        <p:nvPr/>
      </p:nvGrpSpPr>
      <p:grpSpPr>
        <a:xfrm>
          <a:off x="0" y="0"/>
          <a:ext cx="0" cy="0"/>
          <a:chOff x="0" y="0"/>
          <a:chExt cx="0" cy="0"/>
        </a:xfrm>
      </p:grpSpPr>
      <p:cxnSp>
        <p:nvCxnSpPr>
          <p:cNvPr id="3" name="直接连接符 2">
            <a:extLst>
              <a:ext uri="{FF2B5EF4-FFF2-40B4-BE49-F238E27FC236}">
                <a16:creationId xmlns:a16="http://schemas.microsoft.com/office/drawing/2014/main" xmlns="" id="{9B46D983-83B2-1AA3-865D-B10E4544B435}"/>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xmlns="" id="{78C1EB8F-3ED6-E451-EC8B-A3C3400AB07D}"/>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
        <p:nvSpPr>
          <p:cNvPr id="34" name="Text Box 3">
            <a:extLst>
              <a:ext uri="{FF2B5EF4-FFF2-40B4-BE49-F238E27FC236}">
                <a16:creationId xmlns:a16="http://schemas.microsoft.com/office/drawing/2014/main" xmlns="" id="{8EF7D32B-2F99-E352-7EBD-F4FCA0AD0AF2}"/>
              </a:ext>
            </a:extLst>
          </p:cNvPr>
          <p:cNvSpPr txBox="1">
            <a:spLocks noChangeArrowheads="1"/>
          </p:cNvSpPr>
          <p:nvPr/>
        </p:nvSpPr>
        <p:spPr bwMode="auto">
          <a:xfrm>
            <a:off x="1559496" y="805933"/>
            <a:ext cx="8784976" cy="857414"/>
          </a:xfrm>
          <a:prstGeom prst="rect">
            <a:avLst/>
          </a:prstGeom>
          <a:noFill/>
          <a:ln w="9525" algn="ctr">
            <a:noFill/>
            <a:miter lim="800000"/>
            <a:headEnd/>
            <a:tailEnd type="none" w="med" len="lg"/>
          </a:ln>
          <a:effectLst/>
        </p:spPr>
        <p:txBody>
          <a:bodyPr wrap="square">
            <a:spAutoFit/>
          </a:bodyPr>
          <a:lstStyle/>
          <a:p>
            <a:pPr algn="l">
              <a:lnSpc>
                <a:spcPct val="130000"/>
              </a:lnSpc>
              <a:spcBef>
                <a:spcPct val="50000"/>
              </a:spcBef>
            </a:pPr>
            <a:r>
              <a:rPr kumimoji="1" lang="zh-CN" altLang="en-US" sz="2000" dirty="0">
                <a:solidFill>
                  <a:srgbClr val="FF0000"/>
                </a:solidFill>
                <a:latin typeface="Consolas" pitchFamily="49" charset="0"/>
                <a:ea typeface="华文中宋" pitchFamily="2" charset="-122"/>
                <a:cs typeface="Consolas" pitchFamily="49" charset="0"/>
              </a:rPr>
              <a:t>　　定理</a:t>
            </a:r>
            <a:r>
              <a:rPr kumimoji="1" lang="en-US" altLang="zh-CN" sz="2000" dirty="0">
                <a:solidFill>
                  <a:srgbClr val="FF0000"/>
                </a:solidFill>
                <a:latin typeface="Consolas" pitchFamily="49" charset="0"/>
                <a:ea typeface="华文中宋" pitchFamily="2" charset="-122"/>
                <a:cs typeface="Consolas" pitchFamily="49" charset="0"/>
              </a:rPr>
              <a:t>7.2</a:t>
            </a:r>
            <a:r>
              <a:rPr kumimoji="1" lang="zh-CN" altLang="en-US" sz="2000" dirty="0">
                <a:solidFill>
                  <a:srgbClr val="FF0000"/>
                </a:solidFill>
                <a:latin typeface="Consolas" pitchFamily="49" charset="0"/>
                <a:ea typeface="华文中宋" pitchFamily="2" charset="-122"/>
                <a:cs typeface="Consolas" pitchFamily="49" charset="0"/>
              </a:rPr>
              <a:t>：</a:t>
            </a:r>
            <a:r>
              <a:rPr kumimoji="1" lang="zh-CN" altLang="en-US" sz="2000" dirty="0">
                <a:latin typeface="Consolas" pitchFamily="49" charset="0"/>
                <a:ea typeface="华文中宋" pitchFamily="2" charset="-122"/>
                <a:cs typeface="Consolas" pitchFamily="49" charset="0"/>
              </a:rPr>
              <a:t>任何</a:t>
            </a:r>
            <a:r>
              <a:rPr kumimoji="1" lang="en-US" altLang="zh-CN" sz="2000" i="1" dirty="0">
                <a:latin typeface="Consolas" pitchFamily="49" charset="0"/>
                <a:ea typeface="华文中宋" pitchFamily="2" charset="-122"/>
                <a:cs typeface="Consolas" pitchFamily="49" charset="0"/>
              </a:rPr>
              <a:t>n</a:t>
            </a:r>
            <a:r>
              <a:rPr kumimoji="1" lang="zh-CN" altLang="en-US" sz="2000" dirty="0">
                <a:latin typeface="Consolas" pitchFamily="49" charset="0"/>
                <a:ea typeface="华文中宋" pitchFamily="2" charset="-122"/>
                <a:cs typeface="Consolas" pitchFamily="49" charset="0"/>
              </a:rPr>
              <a:t>（</a:t>
            </a:r>
            <a:r>
              <a:rPr kumimoji="1" lang="en-US" altLang="zh-CN" sz="2000" i="1" dirty="0">
                <a:latin typeface="Consolas" pitchFamily="49" charset="0"/>
                <a:ea typeface="华文中宋" pitchFamily="2" charset="-122"/>
                <a:cs typeface="Consolas" pitchFamily="49" charset="0"/>
              </a:rPr>
              <a:t>n</a:t>
            </a:r>
            <a:r>
              <a:rPr kumimoji="1" lang="zh-CN" altLang="en-US" sz="2000" dirty="0">
                <a:latin typeface="Consolas" pitchFamily="49" charset="0"/>
                <a:ea typeface="华文中宋" pitchFamily="2" charset="-122"/>
                <a:cs typeface="Consolas" pitchFamily="49" charset="0"/>
              </a:rPr>
              <a:t>＞</a:t>
            </a:r>
            <a:r>
              <a:rPr kumimoji="1" lang="en-US" altLang="zh-CN" sz="2000" dirty="0">
                <a:latin typeface="Consolas" pitchFamily="49" charset="0"/>
                <a:ea typeface="华文中宋" pitchFamily="2" charset="-122"/>
                <a:cs typeface="Consolas" pitchFamily="49" charset="0"/>
              </a:rPr>
              <a:t>0</a:t>
            </a:r>
            <a:r>
              <a:rPr kumimoji="1" lang="zh-CN" altLang="en-US" sz="2000" dirty="0">
                <a:latin typeface="Consolas" pitchFamily="49" charset="0"/>
                <a:ea typeface="华文中宋" pitchFamily="2" charset="-122"/>
                <a:cs typeface="Consolas" pitchFamily="49" charset="0"/>
              </a:rPr>
              <a:t>）个不同结点的二叉树，都可由它的中序序列和后序序列唯一地确定。</a:t>
            </a:r>
            <a:endParaRPr lang="zh-CN" altLang="en-US" sz="2000" dirty="0">
              <a:latin typeface="Consolas" pitchFamily="49" charset="0"/>
              <a:ea typeface="华文中宋" pitchFamily="2" charset="-122"/>
              <a:cs typeface="Consolas" pitchFamily="49" charset="0"/>
            </a:endParaRPr>
          </a:p>
        </p:txBody>
      </p:sp>
      <p:sp>
        <p:nvSpPr>
          <p:cNvPr id="35" name="Text Box 8">
            <a:extLst>
              <a:ext uri="{FF2B5EF4-FFF2-40B4-BE49-F238E27FC236}">
                <a16:creationId xmlns:a16="http://schemas.microsoft.com/office/drawing/2014/main" xmlns="" id="{873460E6-12EA-7564-5F76-B7B3E883F1EF}"/>
              </a:ext>
            </a:extLst>
          </p:cNvPr>
          <p:cNvSpPr txBox="1">
            <a:spLocks noChangeArrowheads="1"/>
          </p:cNvSpPr>
          <p:nvPr/>
        </p:nvSpPr>
        <p:spPr bwMode="auto">
          <a:xfrm>
            <a:off x="1330894" y="2531533"/>
            <a:ext cx="1368425" cy="276999"/>
          </a:xfrm>
          <a:prstGeom prst="rect">
            <a:avLst/>
          </a:prstGeom>
          <a:noFill/>
          <a:ln w="9525" algn="ctr">
            <a:noFill/>
            <a:miter lim="800000"/>
            <a:headEnd/>
            <a:tailEnd type="none" w="med" len="lg"/>
          </a:ln>
          <a:effectLst/>
        </p:spPr>
        <p:txBody>
          <a:bodyPr lIns="0" tIns="0" rIns="0" bIns="0">
            <a:spAutoFit/>
          </a:bodyPr>
          <a:lstStyle/>
          <a:p>
            <a:pPr>
              <a:spcBef>
                <a:spcPct val="50000"/>
              </a:spcBef>
            </a:pPr>
            <a:r>
              <a:rPr lang="zh-CN" altLang="en-US" sz="1800" dirty="0">
                <a:solidFill>
                  <a:srgbClr val="C00000"/>
                </a:solidFill>
                <a:latin typeface="微软雅黑" pitchFamily="34" charset="-122"/>
                <a:ea typeface="微软雅黑" pitchFamily="34" charset="-122"/>
                <a:cs typeface="Consolas" pitchFamily="49" charset="0"/>
              </a:rPr>
              <a:t>后序序列：</a:t>
            </a:r>
          </a:p>
        </p:txBody>
      </p:sp>
      <p:sp>
        <p:nvSpPr>
          <p:cNvPr id="36" name="Text Box 9">
            <a:extLst>
              <a:ext uri="{FF2B5EF4-FFF2-40B4-BE49-F238E27FC236}">
                <a16:creationId xmlns:a16="http://schemas.microsoft.com/office/drawing/2014/main" xmlns="" id="{B8AD20E8-3790-E0C1-1690-C188E0D0D74B}"/>
              </a:ext>
            </a:extLst>
          </p:cNvPr>
          <p:cNvSpPr txBox="1">
            <a:spLocks noChangeArrowheads="1"/>
          </p:cNvSpPr>
          <p:nvPr/>
        </p:nvSpPr>
        <p:spPr bwMode="auto">
          <a:xfrm>
            <a:off x="2627882" y="2548995"/>
            <a:ext cx="3346482" cy="276999"/>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1800" i="1" dirty="0" err="1">
                <a:latin typeface="Consolas" pitchFamily="49" charset="0"/>
                <a:cs typeface="Consolas" pitchFamily="49" charset="0"/>
              </a:rPr>
              <a:t>a</a:t>
            </a:r>
            <a:r>
              <a:rPr lang="en-US" altLang="zh-CN" sz="1800" baseline="-25000" dirty="0" err="1">
                <a:latin typeface="Consolas" pitchFamily="49" charset="0"/>
                <a:cs typeface="Consolas" pitchFamily="49" charset="0"/>
              </a:rPr>
              <a:t>0</a:t>
            </a:r>
            <a:r>
              <a:rPr lang="en-US" altLang="zh-CN" sz="1800" dirty="0">
                <a:latin typeface="Consolas" pitchFamily="49" charset="0"/>
                <a:cs typeface="Consolas" pitchFamily="49" charset="0"/>
              </a:rPr>
              <a:t> </a:t>
            </a:r>
            <a:r>
              <a:rPr lang="en-US" altLang="zh-CN" sz="1800" i="1" err="1">
                <a:latin typeface="Consolas" pitchFamily="49" charset="0"/>
                <a:cs typeface="Consolas" pitchFamily="49" charset="0"/>
              </a:rPr>
              <a:t>a</a:t>
            </a:r>
            <a:r>
              <a:rPr lang="en-US" altLang="zh-CN" sz="1800" baseline="-25000" err="1">
                <a:latin typeface="Consolas" pitchFamily="49" charset="0"/>
                <a:cs typeface="Consolas" pitchFamily="49" charset="0"/>
              </a:rPr>
              <a:t>1</a:t>
            </a:r>
            <a:r>
              <a:rPr lang="en-US" altLang="zh-CN" sz="1800">
                <a:latin typeface="Consolas" pitchFamily="49" charset="0"/>
                <a:cs typeface="Consolas" pitchFamily="49" charset="0"/>
              </a:rPr>
              <a:t>  </a:t>
            </a:r>
            <a:r>
              <a:rPr lang="en-US" altLang="zh-CN" sz="1800">
                <a:latin typeface="Consolas" pitchFamily="49" charset="0"/>
                <a:ea typeface="宋体" pitchFamily="2" charset="-122"/>
                <a:cs typeface="Consolas" pitchFamily="49" charset="0"/>
              </a:rPr>
              <a:t>… </a:t>
            </a:r>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k</a:t>
            </a:r>
            <a:r>
              <a:rPr lang="en-US" altLang="zh-CN" sz="1800" baseline="-25000">
                <a:latin typeface="Consolas" pitchFamily="49" charset="0"/>
                <a:cs typeface="Consolas" pitchFamily="49" charset="0"/>
              </a:rPr>
              <a:t>-1</a:t>
            </a:r>
            <a:r>
              <a:rPr lang="en-US" altLang="zh-CN" sz="1800" i="1" baseline="-25000">
                <a:latin typeface="Consolas" pitchFamily="49" charset="0"/>
                <a:cs typeface="Consolas" pitchFamily="49" charset="0"/>
              </a:rPr>
              <a:t>  </a:t>
            </a:r>
            <a:r>
              <a:rPr lang="en-US" altLang="zh-CN" sz="1800" i="1">
                <a:latin typeface="Consolas" pitchFamily="49" charset="0"/>
                <a:cs typeface="Consolas" pitchFamily="49" charset="0"/>
              </a:rPr>
              <a:t>a</a:t>
            </a:r>
            <a:r>
              <a:rPr lang="en-US" altLang="zh-CN" sz="1800" i="1" baseline="-25000">
                <a:latin typeface="Consolas" pitchFamily="49" charset="0"/>
                <a:cs typeface="Consolas" pitchFamily="49" charset="0"/>
              </a:rPr>
              <a:t>k</a:t>
            </a:r>
            <a:r>
              <a:rPr lang="en-US" altLang="zh-CN" sz="1800">
                <a:latin typeface="Consolas" pitchFamily="49" charset="0"/>
                <a:cs typeface="Consolas" pitchFamily="49" charset="0"/>
              </a:rPr>
              <a:t> </a:t>
            </a:r>
            <a:r>
              <a:rPr lang="en-US" altLang="zh-CN" sz="1800" dirty="0">
                <a:latin typeface="Consolas" pitchFamily="49" charset="0"/>
                <a:ea typeface="宋体" pitchFamily="2" charset="-122"/>
                <a:cs typeface="Consolas" pitchFamily="49" charset="0"/>
              </a:rPr>
              <a:t>…</a:t>
            </a:r>
            <a:r>
              <a:rPr lang="en-US" altLang="zh-CN" sz="1800" dirty="0">
                <a:latin typeface="Consolas" pitchFamily="49" charset="0"/>
                <a:cs typeface="Consolas" pitchFamily="49" charset="0"/>
              </a:rPr>
              <a:t> </a:t>
            </a:r>
            <a:r>
              <a:rPr lang="en-US" altLang="zh-CN" sz="1800" i="1" dirty="0">
                <a:latin typeface="Consolas" pitchFamily="49" charset="0"/>
                <a:cs typeface="Consolas" pitchFamily="49" charset="0"/>
              </a:rPr>
              <a:t>a</a:t>
            </a:r>
            <a:r>
              <a:rPr lang="en-US" altLang="zh-CN" sz="1800" i="1" baseline="-25000" dirty="0">
                <a:latin typeface="Consolas" pitchFamily="49" charset="0"/>
                <a:cs typeface="Consolas" pitchFamily="49" charset="0"/>
              </a:rPr>
              <a:t>n</a:t>
            </a:r>
            <a:r>
              <a:rPr lang="en-US" altLang="zh-CN" sz="1800" baseline="-25000" dirty="0">
                <a:latin typeface="Consolas" pitchFamily="49" charset="0"/>
                <a:cs typeface="Consolas" pitchFamily="49" charset="0"/>
              </a:rPr>
              <a:t>-2 </a:t>
            </a:r>
            <a:r>
              <a:rPr lang="en-US" altLang="zh-CN" sz="1800" i="1" dirty="0">
                <a:solidFill>
                  <a:srgbClr val="FF0000"/>
                </a:solidFill>
                <a:latin typeface="Consolas" pitchFamily="49" charset="0"/>
                <a:cs typeface="Consolas" pitchFamily="49" charset="0"/>
              </a:rPr>
              <a:t>a</a:t>
            </a:r>
            <a:r>
              <a:rPr lang="en-US" altLang="zh-CN" sz="1800" i="1" baseline="-25000" dirty="0">
                <a:solidFill>
                  <a:srgbClr val="FF0000"/>
                </a:solidFill>
                <a:latin typeface="Consolas" pitchFamily="49" charset="0"/>
                <a:cs typeface="Consolas" pitchFamily="49" charset="0"/>
              </a:rPr>
              <a:t>n</a:t>
            </a:r>
            <a:r>
              <a:rPr lang="en-US" altLang="zh-CN" sz="1800" baseline="-25000" dirty="0">
                <a:solidFill>
                  <a:srgbClr val="FF0000"/>
                </a:solidFill>
                <a:latin typeface="Consolas" pitchFamily="49" charset="0"/>
                <a:cs typeface="Consolas" pitchFamily="49" charset="0"/>
              </a:rPr>
              <a:t>-1</a:t>
            </a:r>
            <a:endParaRPr lang="en-US" altLang="en-US" sz="1800" baseline="-25000" dirty="0">
              <a:solidFill>
                <a:srgbClr val="FF0000"/>
              </a:solidFill>
              <a:latin typeface="Consolas" pitchFamily="49" charset="0"/>
              <a:cs typeface="Consolas" pitchFamily="49" charset="0"/>
            </a:endParaRPr>
          </a:p>
        </p:txBody>
      </p:sp>
      <p:grpSp>
        <p:nvGrpSpPr>
          <p:cNvPr id="37" name="组合 45">
            <a:extLst>
              <a:ext uri="{FF2B5EF4-FFF2-40B4-BE49-F238E27FC236}">
                <a16:creationId xmlns:a16="http://schemas.microsoft.com/office/drawing/2014/main" xmlns="" id="{62F92C68-ABA0-8603-567F-9AB2C9228A96}"/>
              </a:ext>
            </a:extLst>
          </p:cNvPr>
          <p:cNvGrpSpPr/>
          <p:nvPr/>
        </p:nvGrpSpPr>
        <p:grpSpPr>
          <a:xfrm>
            <a:off x="2702504" y="2971278"/>
            <a:ext cx="1143008" cy="1073157"/>
            <a:chOff x="1428728" y="3143248"/>
            <a:chExt cx="1143008" cy="1073157"/>
          </a:xfrm>
        </p:grpSpPr>
        <p:sp>
          <p:nvSpPr>
            <p:cNvPr id="38" name="Text Box 6">
              <a:extLst>
                <a:ext uri="{FF2B5EF4-FFF2-40B4-BE49-F238E27FC236}">
                  <a16:creationId xmlns:a16="http://schemas.microsoft.com/office/drawing/2014/main" xmlns="" id="{B83DA09A-2555-0FFD-2F0D-099C5E3ADB1B}"/>
                </a:ext>
              </a:extLst>
            </p:cNvPr>
            <p:cNvSpPr txBox="1">
              <a:spLocks noChangeArrowheads="1"/>
            </p:cNvSpPr>
            <p:nvPr/>
          </p:nvSpPr>
          <p:spPr bwMode="auto">
            <a:xfrm>
              <a:off x="1500165" y="3385408"/>
              <a:ext cx="1071571" cy="830997"/>
            </a:xfrm>
            <a:prstGeom prst="rect">
              <a:avLst/>
            </a:prstGeom>
            <a:noFill/>
            <a:ln w="9525" algn="ctr">
              <a:noFill/>
              <a:miter lim="800000"/>
              <a:headEnd/>
              <a:tailEnd type="none" w="med" len="lg"/>
            </a:ln>
            <a:effectLst/>
          </p:spPr>
          <p:txBody>
            <a:bodyPr wrap="square" lIns="0" tIns="0" rIns="0" bIns="0">
              <a:spAutoFit/>
            </a:bodyPr>
            <a:lstStyle/>
            <a:p>
              <a:pPr>
                <a:spcBef>
                  <a:spcPct val="50000"/>
                </a:spcBef>
              </a:pPr>
              <a:r>
                <a:rPr lang="zh-CN" altLang="en-US" sz="1800" dirty="0">
                  <a:latin typeface="Consolas" pitchFamily="49" charset="0"/>
                  <a:ea typeface="仿宋" pitchFamily="49" charset="-122"/>
                  <a:cs typeface="Consolas" pitchFamily="49" charset="0"/>
                </a:rPr>
                <a:t>左子树</a:t>
              </a:r>
              <a:r>
                <a:rPr lang="zh-CN" altLang="en-US" sz="1800">
                  <a:latin typeface="Consolas" pitchFamily="49" charset="0"/>
                  <a:ea typeface="仿宋" pitchFamily="49" charset="-122"/>
                  <a:cs typeface="Consolas" pitchFamily="49" charset="0"/>
                </a:rPr>
                <a:t>后序序列，有</a:t>
              </a:r>
              <a:r>
                <a:rPr lang="en-US" altLang="zh-CN" sz="1800" i="1">
                  <a:latin typeface="Consolas" pitchFamily="49" charset="0"/>
                  <a:ea typeface="仿宋" pitchFamily="49" charset="-122"/>
                  <a:cs typeface="Consolas" pitchFamily="49" charset="0"/>
                </a:rPr>
                <a:t>k</a:t>
              </a:r>
              <a:r>
                <a:rPr lang="zh-CN" altLang="en-US" sz="1800">
                  <a:latin typeface="Consolas" pitchFamily="49" charset="0"/>
                  <a:ea typeface="仿宋" pitchFamily="49" charset="-122"/>
                  <a:cs typeface="Consolas" pitchFamily="49" charset="0"/>
                </a:rPr>
                <a:t>个结点</a:t>
              </a:r>
              <a:endParaRPr lang="zh-CN" altLang="en-US" sz="1800" dirty="0">
                <a:latin typeface="Consolas" pitchFamily="49" charset="0"/>
                <a:ea typeface="仿宋" pitchFamily="49" charset="-122"/>
                <a:cs typeface="Consolas" pitchFamily="49" charset="0"/>
              </a:endParaRPr>
            </a:p>
          </p:txBody>
        </p:sp>
        <p:sp>
          <p:nvSpPr>
            <p:cNvPr id="39" name="AutoShape 10">
              <a:extLst>
                <a:ext uri="{FF2B5EF4-FFF2-40B4-BE49-F238E27FC236}">
                  <a16:creationId xmlns:a16="http://schemas.microsoft.com/office/drawing/2014/main" xmlns="" id="{A4CCC85E-04F2-E5B3-936B-8CC2A111EC9D}"/>
                </a:ext>
              </a:extLst>
            </p:cNvPr>
            <p:cNvSpPr>
              <a:spLocks/>
            </p:cNvSpPr>
            <p:nvPr/>
          </p:nvSpPr>
          <p:spPr bwMode="auto">
            <a:xfrm rot="16200000">
              <a:off x="1914497" y="2657479"/>
              <a:ext cx="144462" cy="1116000"/>
            </a:xfrm>
            <a:prstGeom prst="leftBrace">
              <a:avLst>
                <a:gd name="adj1" fmla="val 49817"/>
                <a:gd name="adj2" fmla="val 50000"/>
              </a:avLst>
            </a:prstGeom>
            <a:ln>
              <a:headEnd/>
              <a:tailEnd type="none" w="med" len="lg"/>
            </a:ln>
          </p:spPr>
          <p:style>
            <a:lnRef idx="2">
              <a:schemeClr val="accent2"/>
            </a:lnRef>
            <a:fillRef idx="0">
              <a:schemeClr val="accent2"/>
            </a:fillRef>
            <a:effectRef idx="1">
              <a:schemeClr val="accent2"/>
            </a:effectRef>
            <a:fontRef idx="minor">
              <a:schemeClr val="tx1"/>
            </a:fontRef>
          </p:style>
          <p:txBody>
            <a:bodyPr wrap="none" anchor="ctr"/>
            <a:lstStyle/>
            <a:p>
              <a:endParaRPr lang="zh-CN" altLang="en-US" sz="1800">
                <a:latin typeface="Consolas" pitchFamily="49" charset="0"/>
                <a:ea typeface="仿宋" pitchFamily="49" charset="-122"/>
                <a:cs typeface="Consolas" pitchFamily="49" charset="0"/>
              </a:endParaRPr>
            </a:p>
          </p:txBody>
        </p:sp>
      </p:grpSp>
      <p:grpSp>
        <p:nvGrpSpPr>
          <p:cNvPr id="40" name="组合 29">
            <a:extLst>
              <a:ext uri="{FF2B5EF4-FFF2-40B4-BE49-F238E27FC236}">
                <a16:creationId xmlns:a16="http://schemas.microsoft.com/office/drawing/2014/main" xmlns="" id="{A51B79BE-101C-CCD4-E3D9-970BD162FACA}"/>
              </a:ext>
            </a:extLst>
          </p:cNvPr>
          <p:cNvGrpSpPr/>
          <p:nvPr/>
        </p:nvGrpSpPr>
        <p:grpSpPr>
          <a:xfrm>
            <a:off x="4248740" y="2969691"/>
            <a:ext cx="1096970" cy="1350156"/>
            <a:chOff x="2974964" y="3141661"/>
            <a:chExt cx="1096970" cy="1350156"/>
          </a:xfrm>
        </p:grpSpPr>
        <p:sp>
          <p:nvSpPr>
            <p:cNvPr id="41" name="Text Box 7">
              <a:extLst>
                <a:ext uri="{FF2B5EF4-FFF2-40B4-BE49-F238E27FC236}">
                  <a16:creationId xmlns:a16="http://schemas.microsoft.com/office/drawing/2014/main" xmlns="" id="{5BE574DF-C736-37E6-D2AE-520F2C49C426}"/>
                </a:ext>
              </a:extLst>
            </p:cNvPr>
            <p:cNvSpPr txBox="1">
              <a:spLocks noChangeArrowheads="1"/>
            </p:cNvSpPr>
            <p:nvPr/>
          </p:nvSpPr>
          <p:spPr bwMode="auto">
            <a:xfrm>
              <a:off x="2974964" y="3383821"/>
              <a:ext cx="1096970" cy="1107996"/>
            </a:xfrm>
            <a:prstGeom prst="rect">
              <a:avLst/>
            </a:prstGeom>
            <a:noFill/>
            <a:ln w="9525" algn="ctr">
              <a:noFill/>
              <a:miter lim="800000"/>
              <a:headEnd/>
              <a:tailEnd type="none" w="med" len="lg"/>
            </a:ln>
            <a:effectLst/>
          </p:spPr>
          <p:txBody>
            <a:bodyPr wrap="square" lIns="0" tIns="0" rIns="0" bIns="0">
              <a:spAutoFit/>
            </a:bodyPr>
            <a:lstStyle/>
            <a:p>
              <a:pPr>
                <a:spcBef>
                  <a:spcPct val="50000"/>
                </a:spcBef>
              </a:pPr>
              <a:r>
                <a:rPr lang="zh-CN" altLang="en-US" sz="1800" dirty="0">
                  <a:latin typeface="Consolas" pitchFamily="49" charset="0"/>
                  <a:ea typeface="仿宋" pitchFamily="49" charset="-122"/>
                  <a:cs typeface="Consolas" pitchFamily="49" charset="0"/>
                </a:rPr>
                <a:t>右子树</a:t>
              </a:r>
              <a:r>
                <a:rPr lang="zh-CN" altLang="en-US" sz="1800">
                  <a:latin typeface="Consolas" pitchFamily="49" charset="0"/>
                  <a:ea typeface="仿宋" pitchFamily="49" charset="-122"/>
                  <a:cs typeface="Consolas" pitchFamily="49" charset="0"/>
                </a:rPr>
                <a:t>后序序列，有</a:t>
              </a:r>
              <a:r>
                <a:rPr lang="en-US" altLang="zh-CN" sz="1800" i="1">
                  <a:latin typeface="Consolas" pitchFamily="49" charset="0"/>
                  <a:ea typeface="仿宋" pitchFamily="49" charset="-122"/>
                  <a:cs typeface="Consolas" pitchFamily="49" charset="0"/>
                </a:rPr>
                <a:t>n</a:t>
              </a:r>
              <a:r>
                <a:rPr lang="en-US" altLang="zh-CN" sz="1800">
                  <a:latin typeface="Consolas" pitchFamily="49" charset="0"/>
                  <a:ea typeface="仿宋" pitchFamily="49" charset="-122"/>
                  <a:cs typeface="Consolas" pitchFamily="49" charset="0"/>
                </a:rPr>
                <a:t>-</a:t>
              </a:r>
              <a:r>
                <a:rPr lang="en-US" altLang="zh-CN" sz="1800" i="1">
                  <a:latin typeface="Consolas" pitchFamily="49" charset="0"/>
                  <a:ea typeface="仿宋" pitchFamily="49" charset="-122"/>
                  <a:cs typeface="Consolas" pitchFamily="49" charset="0"/>
                </a:rPr>
                <a:t>k</a:t>
              </a:r>
              <a:r>
                <a:rPr lang="en-US" altLang="zh-CN" sz="1800">
                  <a:latin typeface="Consolas" pitchFamily="49" charset="0"/>
                  <a:ea typeface="仿宋" pitchFamily="49" charset="-122"/>
                  <a:cs typeface="Consolas" pitchFamily="49" charset="0"/>
                </a:rPr>
                <a:t>-1</a:t>
              </a:r>
              <a:r>
                <a:rPr lang="zh-CN" altLang="en-US" sz="1800">
                  <a:latin typeface="Consolas" pitchFamily="49" charset="0"/>
                  <a:ea typeface="仿宋" pitchFamily="49" charset="-122"/>
                  <a:cs typeface="Consolas" pitchFamily="49" charset="0"/>
                </a:rPr>
                <a:t>个结点</a:t>
              </a:r>
              <a:endParaRPr lang="zh-CN" altLang="en-US" sz="1800" dirty="0">
                <a:latin typeface="Consolas" pitchFamily="49" charset="0"/>
                <a:ea typeface="仿宋" pitchFamily="49" charset="-122"/>
                <a:cs typeface="Consolas" pitchFamily="49" charset="0"/>
              </a:endParaRPr>
            </a:p>
          </p:txBody>
        </p:sp>
        <p:sp>
          <p:nvSpPr>
            <p:cNvPr id="42" name="AutoShape 11">
              <a:extLst>
                <a:ext uri="{FF2B5EF4-FFF2-40B4-BE49-F238E27FC236}">
                  <a16:creationId xmlns:a16="http://schemas.microsoft.com/office/drawing/2014/main" xmlns="" id="{76B12EC4-C32F-70BC-E32D-178A17CF6F2E}"/>
                </a:ext>
              </a:extLst>
            </p:cNvPr>
            <p:cNvSpPr>
              <a:spLocks/>
            </p:cNvSpPr>
            <p:nvPr/>
          </p:nvSpPr>
          <p:spPr bwMode="auto">
            <a:xfrm rot="16200000">
              <a:off x="3410729" y="2782092"/>
              <a:ext cx="144462" cy="863600"/>
            </a:xfrm>
            <a:prstGeom prst="leftBrace">
              <a:avLst>
                <a:gd name="adj1" fmla="val 49817"/>
                <a:gd name="adj2" fmla="val 50000"/>
              </a:avLst>
            </a:prstGeom>
            <a:ln>
              <a:headEnd/>
              <a:tailEnd type="none" w="med" len="lg"/>
            </a:ln>
          </p:spPr>
          <p:style>
            <a:lnRef idx="2">
              <a:schemeClr val="accent2"/>
            </a:lnRef>
            <a:fillRef idx="0">
              <a:schemeClr val="accent2"/>
            </a:fillRef>
            <a:effectRef idx="1">
              <a:schemeClr val="accent2"/>
            </a:effectRef>
            <a:fontRef idx="minor">
              <a:schemeClr val="tx1"/>
            </a:fontRef>
          </p:style>
          <p:txBody>
            <a:bodyPr wrap="none" anchor="ctr"/>
            <a:lstStyle/>
            <a:p>
              <a:endParaRPr lang="zh-CN" altLang="en-US" sz="1800">
                <a:latin typeface="Consolas" pitchFamily="49" charset="0"/>
                <a:ea typeface="仿宋" pitchFamily="49" charset="-122"/>
                <a:cs typeface="Consolas" pitchFamily="49" charset="0"/>
              </a:endParaRPr>
            </a:p>
          </p:txBody>
        </p:sp>
      </p:grpSp>
      <p:sp>
        <p:nvSpPr>
          <p:cNvPr id="43" name="Text Box 14">
            <a:extLst>
              <a:ext uri="{FF2B5EF4-FFF2-40B4-BE49-F238E27FC236}">
                <a16:creationId xmlns:a16="http://schemas.microsoft.com/office/drawing/2014/main" xmlns="" id="{F9277423-C7E5-B9BD-53B1-B666A0691183}"/>
              </a:ext>
            </a:extLst>
          </p:cNvPr>
          <p:cNvSpPr txBox="1">
            <a:spLocks noChangeArrowheads="1"/>
          </p:cNvSpPr>
          <p:nvPr/>
        </p:nvSpPr>
        <p:spPr bwMode="auto">
          <a:xfrm>
            <a:off x="5760051" y="2548995"/>
            <a:ext cx="1368425" cy="276999"/>
          </a:xfrm>
          <a:prstGeom prst="rect">
            <a:avLst/>
          </a:prstGeom>
          <a:noFill/>
          <a:ln w="9525" algn="ctr">
            <a:noFill/>
            <a:miter lim="800000"/>
            <a:headEnd/>
            <a:tailEnd type="none" w="med" len="lg"/>
          </a:ln>
          <a:effectLst/>
        </p:spPr>
        <p:txBody>
          <a:bodyPr lIns="0" tIns="0" rIns="0" bIns="0">
            <a:spAutoFit/>
          </a:bodyPr>
          <a:lstStyle/>
          <a:p>
            <a:pPr>
              <a:spcBef>
                <a:spcPct val="50000"/>
              </a:spcBef>
            </a:pPr>
            <a:r>
              <a:rPr lang="zh-CN" altLang="en-US" sz="1800">
                <a:solidFill>
                  <a:srgbClr val="C00000"/>
                </a:solidFill>
                <a:latin typeface="微软雅黑" pitchFamily="34" charset="-122"/>
                <a:ea typeface="微软雅黑" pitchFamily="34" charset="-122"/>
                <a:cs typeface="Consolas" pitchFamily="49" charset="0"/>
              </a:rPr>
              <a:t>中序序列：</a:t>
            </a:r>
          </a:p>
        </p:txBody>
      </p:sp>
      <p:sp>
        <p:nvSpPr>
          <p:cNvPr id="44" name="Text Box 15">
            <a:extLst>
              <a:ext uri="{FF2B5EF4-FFF2-40B4-BE49-F238E27FC236}">
                <a16:creationId xmlns:a16="http://schemas.microsoft.com/office/drawing/2014/main" xmlns="" id="{5941E86F-9431-89ED-F8AB-9B0DA6787C4A}"/>
              </a:ext>
            </a:extLst>
          </p:cNvPr>
          <p:cNvSpPr txBox="1">
            <a:spLocks noChangeArrowheads="1"/>
          </p:cNvSpPr>
          <p:nvPr/>
        </p:nvSpPr>
        <p:spPr bwMode="auto">
          <a:xfrm>
            <a:off x="7057039" y="2566458"/>
            <a:ext cx="3060730" cy="276999"/>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1800" i="1" dirty="0" err="1">
                <a:latin typeface="Consolas" pitchFamily="49" charset="0"/>
                <a:cs typeface="Consolas" pitchFamily="49" charset="0"/>
              </a:rPr>
              <a:t>b</a:t>
            </a:r>
            <a:r>
              <a:rPr lang="en-US" altLang="zh-CN" sz="1800" baseline="-25000" dirty="0" err="1">
                <a:latin typeface="Consolas" pitchFamily="49" charset="0"/>
                <a:cs typeface="Consolas" pitchFamily="49" charset="0"/>
              </a:rPr>
              <a:t>0</a:t>
            </a:r>
            <a:r>
              <a:rPr lang="en-US" altLang="zh-CN" sz="1800" dirty="0">
                <a:latin typeface="Consolas" pitchFamily="49" charset="0"/>
                <a:cs typeface="Consolas" pitchFamily="49" charset="0"/>
              </a:rPr>
              <a:t> </a:t>
            </a:r>
            <a:r>
              <a:rPr lang="en-US" altLang="zh-CN" sz="1800" i="1" err="1">
                <a:latin typeface="Consolas" pitchFamily="49" charset="0"/>
                <a:cs typeface="Consolas" pitchFamily="49" charset="0"/>
              </a:rPr>
              <a:t>b</a:t>
            </a:r>
            <a:r>
              <a:rPr lang="en-US" altLang="zh-CN" sz="1800" baseline="-25000" err="1">
                <a:latin typeface="Consolas" pitchFamily="49" charset="0"/>
                <a:cs typeface="Consolas" pitchFamily="49" charset="0"/>
              </a:rPr>
              <a:t>1</a:t>
            </a:r>
            <a:r>
              <a:rPr lang="en-US" altLang="zh-CN" sz="1800">
                <a:latin typeface="Consolas" pitchFamily="49" charset="0"/>
                <a:cs typeface="Consolas" pitchFamily="49" charset="0"/>
              </a:rPr>
              <a:t> </a:t>
            </a:r>
            <a:r>
              <a:rPr lang="en-US" altLang="zh-CN" sz="1800">
                <a:latin typeface="Consolas" pitchFamily="49" charset="0"/>
                <a:ea typeface="宋体" pitchFamily="2" charset="-122"/>
                <a:cs typeface="Consolas" pitchFamily="49" charset="0"/>
              </a:rPr>
              <a:t>… </a:t>
            </a:r>
            <a:r>
              <a:rPr lang="en-US" altLang="zh-CN" sz="1800" i="1">
                <a:latin typeface="Consolas" pitchFamily="49" charset="0"/>
                <a:ea typeface="宋体" pitchFamily="2" charset="-122"/>
                <a:cs typeface="Consolas" pitchFamily="49" charset="0"/>
              </a:rPr>
              <a:t>b</a:t>
            </a:r>
            <a:r>
              <a:rPr lang="en-US" altLang="zh-CN" sz="1800" i="1" baseline="-25000">
                <a:latin typeface="Consolas" pitchFamily="49" charset="0"/>
                <a:ea typeface="宋体" pitchFamily="2" charset="-122"/>
                <a:cs typeface="Consolas" pitchFamily="49" charset="0"/>
              </a:rPr>
              <a:t>k</a:t>
            </a:r>
            <a:r>
              <a:rPr lang="en-US" altLang="zh-CN" sz="1800" baseline="-25000">
                <a:latin typeface="Consolas" pitchFamily="49" charset="0"/>
                <a:ea typeface="宋体" pitchFamily="2" charset="-122"/>
                <a:cs typeface="Consolas" pitchFamily="49" charset="0"/>
              </a:rPr>
              <a:t>-1</a:t>
            </a:r>
            <a:r>
              <a:rPr lang="en-US" altLang="zh-CN" sz="1800">
                <a:latin typeface="Consolas" pitchFamily="49" charset="0"/>
                <a:cs typeface="Consolas" pitchFamily="49" charset="0"/>
              </a:rPr>
              <a:t> </a:t>
            </a:r>
            <a:r>
              <a:rPr lang="en-US" altLang="zh-CN" sz="1800" i="1" err="1">
                <a:solidFill>
                  <a:srgbClr val="FF0000"/>
                </a:solidFill>
                <a:latin typeface="Consolas" pitchFamily="49" charset="0"/>
                <a:cs typeface="Consolas" pitchFamily="49" charset="0"/>
              </a:rPr>
              <a:t>b</a:t>
            </a:r>
            <a:r>
              <a:rPr lang="en-US" altLang="zh-CN" sz="1800" i="1" baseline="-25000" err="1">
                <a:solidFill>
                  <a:srgbClr val="FF0000"/>
                </a:solidFill>
                <a:latin typeface="Consolas" pitchFamily="49" charset="0"/>
                <a:cs typeface="Consolas" pitchFamily="49" charset="0"/>
              </a:rPr>
              <a:t>k</a:t>
            </a:r>
            <a:r>
              <a:rPr lang="en-US" altLang="zh-CN" sz="1800">
                <a:latin typeface="Consolas" pitchFamily="49" charset="0"/>
                <a:cs typeface="Consolas" pitchFamily="49" charset="0"/>
              </a:rPr>
              <a:t> </a:t>
            </a:r>
            <a:r>
              <a:rPr lang="en-US" altLang="zh-CN" sz="1800" i="1">
                <a:latin typeface="Consolas" pitchFamily="49" charset="0"/>
                <a:cs typeface="Consolas" pitchFamily="49" charset="0"/>
              </a:rPr>
              <a:t>b</a:t>
            </a:r>
            <a:r>
              <a:rPr lang="en-US" altLang="zh-CN" sz="1800" i="1" baseline="-25000">
                <a:latin typeface="Consolas" pitchFamily="49" charset="0"/>
                <a:cs typeface="Consolas" pitchFamily="49" charset="0"/>
              </a:rPr>
              <a:t>k</a:t>
            </a:r>
            <a:r>
              <a:rPr lang="en-US" altLang="zh-CN" sz="1800" baseline="-25000">
                <a:latin typeface="Consolas" pitchFamily="49" charset="0"/>
                <a:cs typeface="Consolas" pitchFamily="49" charset="0"/>
              </a:rPr>
              <a:t>+1</a:t>
            </a:r>
            <a:r>
              <a:rPr lang="en-US" altLang="zh-CN" sz="1800">
                <a:latin typeface="Consolas" pitchFamily="49" charset="0"/>
                <a:cs typeface="Consolas" pitchFamily="49" charset="0"/>
              </a:rPr>
              <a:t> </a:t>
            </a:r>
            <a:r>
              <a:rPr lang="en-US" altLang="zh-CN" sz="1800" dirty="0">
                <a:latin typeface="Consolas" pitchFamily="49" charset="0"/>
                <a:ea typeface="宋体" pitchFamily="2" charset="-122"/>
                <a:cs typeface="Consolas" pitchFamily="49" charset="0"/>
              </a:rPr>
              <a:t>…</a:t>
            </a:r>
            <a:r>
              <a:rPr lang="en-US" altLang="zh-CN" sz="1800" dirty="0">
                <a:latin typeface="Consolas" pitchFamily="49" charset="0"/>
                <a:cs typeface="Consolas" pitchFamily="49" charset="0"/>
              </a:rPr>
              <a:t> </a:t>
            </a:r>
            <a:r>
              <a:rPr lang="en-US" altLang="zh-CN" sz="1800" i="1" dirty="0" err="1">
                <a:latin typeface="Consolas" pitchFamily="49" charset="0"/>
                <a:cs typeface="Consolas" pitchFamily="49" charset="0"/>
              </a:rPr>
              <a:t>b</a:t>
            </a:r>
            <a:r>
              <a:rPr lang="en-US" altLang="zh-CN" sz="1800" i="1" baseline="-25000" dirty="0" err="1">
                <a:latin typeface="Consolas" pitchFamily="49" charset="0"/>
                <a:cs typeface="Consolas" pitchFamily="49" charset="0"/>
              </a:rPr>
              <a:t>n</a:t>
            </a:r>
            <a:r>
              <a:rPr lang="en-US" altLang="zh-CN" sz="1800" baseline="-25000" dirty="0">
                <a:latin typeface="Consolas" pitchFamily="49" charset="0"/>
                <a:cs typeface="Consolas" pitchFamily="49" charset="0"/>
              </a:rPr>
              <a:t>-1</a:t>
            </a:r>
            <a:endParaRPr lang="en-US" altLang="en-US" sz="1800" baseline="-25000" dirty="0">
              <a:latin typeface="Consolas" pitchFamily="49" charset="0"/>
              <a:cs typeface="Consolas" pitchFamily="49" charset="0"/>
            </a:endParaRPr>
          </a:p>
        </p:txBody>
      </p:sp>
      <p:grpSp>
        <p:nvGrpSpPr>
          <p:cNvPr id="45" name="组合 34">
            <a:extLst>
              <a:ext uri="{FF2B5EF4-FFF2-40B4-BE49-F238E27FC236}">
                <a16:creationId xmlns:a16="http://schemas.microsoft.com/office/drawing/2014/main" xmlns="" id="{4B87E1D0-8D3C-DE30-1F71-6AAE13716194}"/>
              </a:ext>
            </a:extLst>
          </p:cNvPr>
          <p:cNvGrpSpPr/>
          <p:nvPr/>
        </p:nvGrpSpPr>
        <p:grpSpPr>
          <a:xfrm>
            <a:off x="7131660" y="2969690"/>
            <a:ext cx="1071570" cy="1073158"/>
            <a:chOff x="5918219" y="3141660"/>
            <a:chExt cx="1071570" cy="1073158"/>
          </a:xfrm>
        </p:grpSpPr>
        <p:sp>
          <p:nvSpPr>
            <p:cNvPr id="46" name="Text Box 12">
              <a:extLst>
                <a:ext uri="{FF2B5EF4-FFF2-40B4-BE49-F238E27FC236}">
                  <a16:creationId xmlns:a16="http://schemas.microsoft.com/office/drawing/2014/main" xmlns="" id="{5556CDB1-EF73-7CFC-94C1-135645DF8C77}"/>
                </a:ext>
              </a:extLst>
            </p:cNvPr>
            <p:cNvSpPr txBox="1">
              <a:spLocks noChangeArrowheads="1"/>
            </p:cNvSpPr>
            <p:nvPr/>
          </p:nvSpPr>
          <p:spPr bwMode="auto">
            <a:xfrm>
              <a:off x="5918219" y="3383821"/>
              <a:ext cx="1071570" cy="830997"/>
            </a:xfrm>
            <a:prstGeom prst="rect">
              <a:avLst/>
            </a:prstGeom>
            <a:noFill/>
            <a:ln w="9525" algn="ctr">
              <a:noFill/>
              <a:miter lim="800000"/>
              <a:headEnd/>
              <a:tailEnd type="none" w="med" len="lg"/>
            </a:ln>
            <a:effectLst/>
          </p:spPr>
          <p:txBody>
            <a:bodyPr wrap="square" lIns="0" tIns="0" rIns="0" bIns="0">
              <a:spAutoFit/>
            </a:bodyPr>
            <a:lstStyle/>
            <a:p>
              <a:pPr>
                <a:spcBef>
                  <a:spcPct val="50000"/>
                </a:spcBef>
              </a:pPr>
              <a:r>
                <a:rPr lang="zh-CN" altLang="en-US" sz="1800" dirty="0">
                  <a:latin typeface="Consolas" pitchFamily="49" charset="0"/>
                  <a:ea typeface="仿宋" pitchFamily="49" charset="-122"/>
                  <a:cs typeface="Consolas" pitchFamily="49" charset="0"/>
                </a:rPr>
                <a:t>左子树中</a:t>
              </a:r>
              <a:r>
                <a:rPr lang="zh-CN" altLang="en-US" sz="1800">
                  <a:latin typeface="Consolas" pitchFamily="49" charset="0"/>
                  <a:ea typeface="仿宋" pitchFamily="49" charset="-122"/>
                  <a:cs typeface="Consolas" pitchFamily="49" charset="0"/>
                </a:rPr>
                <a:t>序序列，有</a:t>
              </a:r>
              <a:r>
                <a:rPr lang="en-US" altLang="zh-CN" sz="1800" i="1">
                  <a:latin typeface="Consolas" pitchFamily="49" charset="0"/>
                  <a:ea typeface="仿宋" pitchFamily="49" charset="-122"/>
                  <a:cs typeface="Consolas" pitchFamily="49" charset="0"/>
                </a:rPr>
                <a:t>k</a:t>
              </a:r>
              <a:r>
                <a:rPr lang="zh-CN" altLang="en-US" sz="1800">
                  <a:latin typeface="Consolas" pitchFamily="49" charset="0"/>
                  <a:ea typeface="仿宋" pitchFamily="49" charset="-122"/>
                  <a:cs typeface="Consolas" pitchFamily="49" charset="0"/>
                </a:rPr>
                <a:t>个结点</a:t>
              </a:r>
              <a:endParaRPr lang="zh-CN" altLang="en-US" sz="1800" dirty="0">
                <a:latin typeface="Consolas" pitchFamily="49" charset="0"/>
                <a:ea typeface="仿宋" pitchFamily="49" charset="-122"/>
                <a:cs typeface="Consolas" pitchFamily="49" charset="0"/>
              </a:endParaRPr>
            </a:p>
          </p:txBody>
        </p:sp>
        <p:sp>
          <p:nvSpPr>
            <p:cNvPr id="47" name="AutoShape 16">
              <a:extLst>
                <a:ext uri="{FF2B5EF4-FFF2-40B4-BE49-F238E27FC236}">
                  <a16:creationId xmlns:a16="http://schemas.microsoft.com/office/drawing/2014/main" xmlns="" id="{F2BB8FDC-3379-A8F0-083B-D48F7F386C30}"/>
                </a:ext>
              </a:extLst>
            </p:cNvPr>
            <p:cNvSpPr>
              <a:spLocks/>
            </p:cNvSpPr>
            <p:nvPr/>
          </p:nvSpPr>
          <p:spPr bwMode="auto">
            <a:xfrm rot="16200000">
              <a:off x="6371431" y="2782092"/>
              <a:ext cx="144463" cy="863600"/>
            </a:xfrm>
            <a:prstGeom prst="leftBrace">
              <a:avLst>
                <a:gd name="adj1" fmla="val 49817"/>
                <a:gd name="adj2" fmla="val 50000"/>
              </a:avLst>
            </a:prstGeom>
            <a:ln>
              <a:headEnd/>
              <a:tailEnd type="none" w="med" len="lg"/>
            </a:ln>
          </p:spPr>
          <p:style>
            <a:lnRef idx="2">
              <a:schemeClr val="accent2"/>
            </a:lnRef>
            <a:fillRef idx="0">
              <a:schemeClr val="accent2"/>
            </a:fillRef>
            <a:effectRef idx="1">
              <a:schemeClr val="accent2"/>
            </a:effectRef>
            <a:fontRef idx="minor">
              <a:schemeClr val="tx1"/>
            </a:fontRef>
          </p:style>
          <p:txBody>
            <a:bodyPr wrap="none" anchor="ctr"/>
            <a:lstStyle/>
            <a:p>
              <a:endParaRPr lang="zh-CN" altLang="en-US" sz="1800">
                <a:latin typeface="Consolas" pitchFamily="49" charset="0"/>
                <a:ea typeface="仿宋" pitchFamily="49" charset="-122"/>
                <a:cs typeface="Consolas" pitchFamily="49" charset="0"/>
              </a:endParaRPr>
            </a:p>
          </p:txBody>
        </p:sp>
      </p:grpSp>
      <p:grpSp>
        <p:nvGrpSpPr>
          <p:cNvPr id="48" name="组合 37">
            <a:extLst>
              <a:ext uri="{FF2B5EF4-FFF2-40B4-BE49-F238E27FC236}">
                <a16:creationId xmlns:a16="http://schemas.microsoft.com/office/drawing/2014/main" xmlns="" id="{54695EFC-6620-1F98-588A-55C768632367}"/>
              </a:ext>
            </a:extLst>
          </p:cNvPr>
          <p:cNvGrpSpPr/>
          <p:nvPr/>
        </p:nvGrpSpPr>
        <p:grpSpPr>
          <a:xfrm>
            <a:off x="8835070" y="2969690"/>
            <a:ext cx="1082672" cy="1350157"/>
            <a:chOff x="7500958" y="3141660"/>
            <a:chExt cx="1082672" cy="1350157"/>
          </a:xfrm>
        </p:grpSpPr>
        <p:sp>
          <p:nvSpPr>
            <p:cNvPr id="49" name="Text Box 13">
              <a:extLst>
                <a:ext uri="{FF2B5EF4-FFF2-40B4-BE49-F238E27FC236}">
                  <a16:creationId xmlns:a16="http://schemas.microsoft.com/office/drawing/2014/main" xmlns="" id="{37998300-87DE-C0A8-A720-1587BC874F62}"/>
                </a:ext>
              </a:extLst>
            </p:cNvPr>
            <p:cNvSpPr txBox="1">
              <a:spLocks noChangeArrowheads="1"/>
            </p:cNvSpPr>
            <p:nvPr/>
          </p:nvSpPr>
          <p:spPr bwMode="auto">
            <a:xfrm>
              <a:off x="7500958" y="3383821"/>
              <a:ext cx="1082672" cy="1107996"/>
            </a:xfrm>
            <a:prstGeom prst="rect">
              <a:avLst/>
            </a:prstGeom>
            <a:noFill/>
            <a:ln w="9525" algn="ctr">
              <a:noFill/>
              <a:miter lim="800000"/>
              <a:headEnd/>
              <a:tailEnd type="none" w="med" len="lg"/>
            </a:ln>
            <a:effectLst/>
          </p:spPr>
          <p:txBody>
            <a:bodyPr wrap="square" lIns="0" tIns="0" rIns="0" bIns="0">
              <a:spAutoFit/>
            </a:bodyPr>
            <a:lstStyle/>
            <a:p>
              <a:pPr>
                <a:spcBef>
                  <a:spcPct val="50000"/>
                </a:spcBef>
              </a:pPr>
              <a:r>
                <a:rPr lang="zh-CN" altLang="en-US" sz="1800" dirty="0">
                  <a:latin typeface="Consolas" pitchFamily="49" charset="0"/>
                  <a:ea typeface="仿宋" pitchFamily="49" charset="-122"/>
                  <a:cs typeface="Consolas" pitchFamily="49" charset="0"/>
                </a:rPr>
                <a:t>右子树中</a:t>
              </a:r>
              <a:r>
                <a:rPr lang="zh-CN" altLang="en-US" sz="1800">
                  <a:latin typeface="Consolas" pitchFamily="49" charset="0"/>
                  <a:ea typeface="仿宋" pitchFamily="49" charset="-122"/>
                  <a:cs typeface="Consolas" pitchFamily="49" charset="0"/>
                </a:rPr>
                <a:t>序序列，有</a:t>
              </a:r>
              <a:r>
                <a:rPr lang="en-US" altLang="zh-CN" sz="1800" i="1">
                  <a:latin typeface="Consolas" pitchFamily="49" charset="0"/>
                  <a:ea typeface="仿宋" pitchFamily="49" charset="-122"/>
                  <a:cs typeface="Consolas" pitchFamily="49" charset="0"/>
                </a:rPr>
                <a:t>n</a:t>
              </a:r>
              <a:r>
                <a:rPr lang="en-US" altLang="zh-CN" sz="1800">
                  <a:latin typeface="Consolas" pitchFamily="49" charset="0"/>
                  <a:ea typeface="仿宋" pitchFamily="49" charset="-122"/>
                  <a:cs typeface="Consolas" pitchFamily="49" charset="0"/>
                </a:rPr>
                <a:t>-</a:t>
              </a:r>
              <a:r>
                <a:rPr lang="en-US" altLang="zh-CN" sz="1800" i="1">
                  <a:latin typeface="Consolas" pitchFamily="49" charset="0"/>
                  <a:ea typeface="仿宋" pitchFamily="49" charset="-122"/>
                  <a:cs typeface="Consolas" pitchFamily="49" charset="0"/>
                </a:rPr>
                <a:t>k</a:t>
              </a:r>
              <a:r>
                <a:rPr lang="en-US" altLang="zh-CN" sz="1800">
                  <a:latin typeface="Consolas" pitchFamily="49" charset="0"/>
                  <a:ea typeface="仿宋" pitchFamily="49" charset="-122"/>
                  <a:cs typeface="Consolas" pitchFamily="49" charset="0"/>
                </a:rPr>
                <a:t>-1</a:t>
              </a:r>
              <a:r>
                <a:rPr lang="zh-CN" altLang="en-US" sz="1800">
                  <a:latin typeface="Consolas" pitchFamily="49" charset="0"/>
                  <a:ea typeface="仿宋" pitchFamily="49" charset="-122"/>
                  <a:cs typeface="Consolas" pitchFamily="49" charset="0"/>
                </a:rPr>
                <a:t>个结点</a:t>
              </a:r>
              <a:endParaRPr lang="zh-CN" altLang="en-US" sz="1800" dirty="0">
                <a:latin typeface="Consolas" pitchFamily="49" charset="0"/>
                <a:ea typeface="仿宋" pitchFamily="49" charset="-122"/>
                <a:cs typeface="Consolas" pitchFamily="49" charset="0"/>
              </a:endParaRPr>
            </a:p>
          </p:txBody>
        </p:sp>
        <p:sp>
          <p:nvSpPr>
            <p:cNvPr id="50" name="AutoShape 17">
              <a:extLst>
                <a:ext uri="{FF2B5EF4-FFF2-40B4-BE49-F238E27FC236}">
                  <a16:creationId xmlns:a16="http://schemas.microsoft.com/office/drawing/2014/main" xmlns="" id="{072753EF-A986-1D63-9ACA-94CE2D8DAB00}"/>
                </a:ext>
              </a:extLst>
            </p:cNvPr>
            <p:cNvSpPr>
              <a:spLocks/>
            </p:cNvSpPr>
            <p:nvPr/>
          </p:nvSpPr>
          <p:spPr bwMode="auto">
            <a:xfrm rot="16200000">
              <a:off x="7925620" y="2782092"/>
              <a:ext cx="144463" cy="863600"/>
            </a:xfrm>
            <a:prstGeom prst="leftBrace">
              <a:avLst>
                <a:gd name="adj1" fmla="val 49817"/>
                <a:gd name="adj2" fmla="val 50000"/>
              </a:avLst>
            </a:prstGeom>
            <a:ln>
              <a:headEnd/>
              <a:tailEnd type="none" w="med" len="lg"/>
            </a:ln>
          </p:spPr>
          <p:style>
            <a:lnRef idx="2">
              <a:schemeClr val="accent2"/>
            </a:lnRef>
            <a:fillRef idx="0">
              <a:schemeClr val="accent2"/>
            </a:fillRef>
            <a:effectRef idx="1">
              <a:schemeClr val="accent2"/>
            </a:effectRef>
            <a:fontRef idx="minor">
              <a:schemeClr val="tx1"/>
            </a:fontRef>
          </p:style>
          <p:txBody>
            <a:bodyPr wrap="none" anchor="ctr"/>
            <a:lstStyle/>
            <a:p>
              <a:endParaRPr lang="zh-CN" altLang="en-US" sz="1800">
                <a:latin typeface="Consolas" pitchFamily="49" charset="0"/>
                <a:ea typeface="仿宋" pitchFamily="49" charset="-122"/>
                <a:cs typeface="Consolas" pitchFamily="49" charset="0"/>
              </a:endParaRPr>
            </a:p>
          </p:txBody>
        </p:sp>
      </p:grpSp>
      <p:grpSp>
        <p:nvGrpSpPr>
          <p:cNvPr id="51" name="组合 46">
            <a:extLst>
              <a:ext uri="{FF2B5EF4-FFF2-40B4-BE49-F238E27FC236}">
                <a16:creationId xmlns:a16="http://schemas.microsoft.com/office/drawing/2014/main" xmlns="" id="{C1DE21D8-F8E1-2700-8B18-0A6BE7B147BE}"/>
              </a:ext>
            </a:extLst>
          </p:cNvPr>
          <p:cNvGrpSpPr/>
          <p:nvPr/>
        </p:nvGrpSpPr>
        <p:grpSpPr>
          <a:xfrm>
            <a:off x="5274272" y="1828270"/>
            <a:ext cx="4000528" cy="777875"/>
            <a:chOff x="4000496" y="2000240"/>
            <a:chExt cx="4000528" cy="777875"/>
          </a:xfrm>
        </p:grpSpPr>
        <p:sp>
          <p:nvSpPr>
            <p:cNvPr id="52" name="Line 18">
              <a:extLst>
                <a:ext uri="{FF2B5EF4-FFF2-40B4-BE49-F238E27FC236}">
                  <a16:creationId xmlns:a16="http://schemas.microsoft.com/office/drawing/2014/main" xmlns="" id="{5E5FD1F3-103B-F70E-F12F-966F5FAD92BF}"/>
                </a:ext>
              </a:extLst>
            </p:cNvPr>
            <p:cNvSpPr>
              <a:spLocks noChangeShapeType="1"/>
            </p:cNvSpPr>
            <p:nvPr/>
          </p:nvSpPr>
          <p:spPr bwMode="auto">
            <a:xfrm>
              <a:off x="4286248" y="2454265"/>
              <a:ext cx="0" cy="323850"/>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a:latin typeface="Consolas" pitchFamily="49" charset="0"/>
                <a:cs typeface="Consolas" pitchFamily="49" charset="0"/>
              </a:endParaRPr>
            </a:p>
          </p:txBody>
        </p:sp>
        <p:sp>
          <p:nvSpPr>
            <p:cNvPr id="53" name="Line 19">
              <a:extLst>
                <a:ext uri="{FF2B5EF4-FFF2-40B4-BE49-F238E27FC236}">
                  <a16:creationId xmlns:a16="http://schemas.microsoft.com/office/drawing/2014/main" xmlns="" id="{8EE246A0-8F9A-7FB5-C248-B439A65BB066}"/>
                </a:ext>
              </a:extLst>
            </p:cNvPr>
            <p:cNvSpPr>
              <a:spLocks noChangeShapeType="1"/>
            </p:cNvSpPr>
            <p:nvPr/>
          </p:nvSpPr>
          <p:spPr bwMode="auto">
            <a:xfrm flipV="1">
              <a:off x="4286248" y="2454264"/>
              <a:ext cx="2928958" cy="0"/>
            </a:xfrm>
            <a:prstGeom prst="line">
              <a:avLst/>
            </a:prstGeom>
            <a:ln>
              <a:headEnd/>
              <a:tailEnd type="none"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a:latin typeface="Consolas" pitchFamily="49" charset="0"/>
                <a:cs typeface="Consolas" pitchFamily="49" charset="0"/>
              </a:endParaRPr>
            </a:p>
          </p:txBody>
        </p:sp>
        <p:sp>
          <p:nvSpPr>
            <p:cNvPr id="54" name="Line 20">
              <a:extLst>
                <a:ext uri="{FF2B5EF4-FFF2-40B4-BE49-F238E27FC236}">
                  <a16:creationId xmlns:a16="http://schemas.microsoft.com/office/drawing/2014/main" xmlns="" id="{AAAF1714-3841-A60E-9AF6-2511AC03F027}"/>
                </a:ext>
              </a:extLst>
            </p:cNvPr>
            <p:cNvSpPr>
              <a:spLocks noChangeShapeType="1"/>
            </p:cNvSpPr>
            <p:nvPr/>
          </p:nvSpPr>
          <p:spPr bwMode="auto">
            <a:xfrm>
              <a:off x="7215206" y="2444740"/>
              <a:ext cx="0" cy="323850"/>
            </a:xfrm>
            <a:prstGeom prst="line">
              <a:avLst/>
            </a:prstGeom>
            <a:ln>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endParaRPr lang="zh-CN" altLang="en-US" sz="1800">
                <a:latin typeface="Consolas" pitchFamily="49" charset="0"/>
                <a:cs typeface="Consolas" pitchFamily="49" charset="0"/>
              </a:endParaRPr>
            </a:p>
          </p:txBody>
        </p:sp>
        <p:sp>
          <p:nvSpPr>
            <p:cNvPr id="55" name="Text Box 22">
              <a:extLst>
                <a:ext uri="{FF2B5EF4-FFF2-40B4-BE49-F238E27FC236}">
                  <a16:creationId xmlns:a16="http://schemas.microsoft.com/office/drawing/2014/main" xmlns="" id="{FCD3E4F6-0DD9-9DBD-D30E-EAA8A86401E0}"/>
                </a:ext>
              </a:extLst>
            </p:cNvPr>
            <p:cNvSpPr txBox="1">
              <a:spLocks noChangeArrowheads="1"/>
            </p:cNvSpPr>
            <p:nvPr/>
          </p:nvSpPr>
          <p:spPr bwMode="auto">
            <a:xfrm>
              <a:off x="4000496" y="2000240"/>
              <a:ext cx="4000528" cy="307777"/>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zh-CN" altLang="en-US" sz="2000">
                  <a:latin typeface="Consolas" pitchFamily="49" charset="0"/>
                  <a:ea typeface="楷体" pitchFamily="49" charset="-122"/>
                  <a:cs typeface="Consolas" pitchFamily="49" charset="0"/>
                </a:rPr>
                <a:t>通过根结点</a:t>
              </a:r>
              <a:r>
                <a:rPr lang="en-US" altLang="zh-CN" sz="2000" i="1">
                  <a:solidFill>
                    <a:srgbClr val="FF0000"/>
                  </a:solidFill>
                  <a:latin typeface="Consolas" pitchFamily="49" charset="0"/>
                  <a:ea typeface="楷体" pitchFamily="49" charset="-122"/>
                  <a:cs typeface="Consolas" pitchFamily="49" charset="0"/>
                </a:rPr>
                <a:t>a</a:t>
              </a:r>
              <a:r>
                <a:rPr lang="en-US" altLang="zh-CN" sz="2000" i="1" baseline="-25000">
                  <a:solidFill>
                    <a:srgbClr val="FF0000"/>
                  </a:solidFill>
                  <a:latin typeface="Consolas" pitchFamily="49" charset="0"/>
                  <a:ea typeface="楷体" pitchFamily="49" charset="-122"/>
                  <a:cs typeface="Consolas" pitchFamily="49" charset="0"/>
                </a:rPr>
                <a:t>n</a:t>
              </a:r>
              <a:r>
                <a:rPr lang="en-US" altLang="zh-CN" sz="2000" baseline="-25000">
                  <a:solidFill>
                    <a:srgbClr val="FF0000"/>
                  </a:solidFill>
                  <a:latin typeface="Consolas" pitchFamily="49" charset="0"/>
                  <a:ea typeface="楷体" pitchFamily="49" charset="-122"/>
                  <a:cs typeface="Consolas" pitchFamily="49" charset="0"/>
                </a:rPr>
                <a:t>-1</a:t>
              </a:r>
              <a:r>
                <a:rPr lang="zh-CN" altLang="en-US" sz="2000" dirty="0">
                  <a:latin typeface="Consolas" pitchFamily="49" charset="0"/>
                  <a:ea typeface="楷体" pitchFamily="49" charset="-122"/>
                  <a:cs typeface="Consolas" pitchFamily="49" charset="0"/>
                </a:rPr>
                <a:t>在中序序列中找到</a:t>
              </a:r>
              <a:r>
                <a:rPr lang="en-US" altLang="zh-CN" sz="2000" i="1" dirty="0" err="1">
                  <a:solidFill>
                    <a:srgbClr val="FF0000"/>
                  </a:solidFill>
                  <a:latin typeface="Consolas" pitchFamily="49" charset="0"/>
                  <a:ea typeface="楷体" pitchFamily="49" charset="-122"/>
                  <a:cs typeface="Consolas" pitchFamily="49" charset="0"/>
                </a:rPr>
                <a:t>b</a:t>
              </a:r>
              <a:r>
                <a:rPr lang="en-US" altLang="zh-CN" sz="2000" i="1" baseline="-25000" dirty="0" err="1">
                  <a:solidFill>
                    <a:srgbClr val="FF0000"/>
                  </a:solidFill>
                  <a:latin typeface="Consolas" pitchFamily="49" charset="0"/>
                  <a:ea typeface="楷体" pitchFamily="49" charset="-122"/>
                  <a:cs typeface="Consolas" pitchFamily="49" charset="0"/>
                </a:rPr>
                <a:t>k</a:t>
              </a:r>
              <a:endParaRPr lang="en-US" altLang="zh-CN" sz="2000" i="1" baseline="-25000" dirty="0">
                <a:solidFill>
                  <a:srgbClr val="FF0000"/>
                </a:solidFill>
                <a:latin typeface="Consolas" pitchFamily="49" charset="0"/>
                <a:ea typeface="楷体" pitchFamily="49" charset="-122"/>
                <a:cs typeface="Consolas" pitchFamily="49" charset="0"/>
              </a:endParaRPr>
            </a:p>
          </p:txBody>
        </p:sp>
      </p:grpSp>
      <p:grpSp>
        <p:nvGrpSpPr>
          <p:cNvPr id="56" name="组合 23">
            <a:extLst>
              <a:ext uri="{FF2B5EF4-FFF2-40B4-BE49-F238E27FC236}">
                <a16:creationId xmlns:a16="http://schemas.microsoft.com/office/drawing/2014/main" xmlns="" id="{DA4B9B03-931A-1A1C-2C89-E1147CD382F3}"/>
              </a:ext>
            </a:extLst>
          </p:cNvPr>
          <p:cNvGrpSpPr/>
          <p:nvPr/>
        </p:nvGrpSpPr>
        <p:grpSpPr>
          <a:xfrm>
            <a:off x="3353071" y="4801965"/>
            <a:ext cx="5850293" cy="1861884"/>
            <a:chOff x="2079295" y="4638950"/>
            <a:chExt cx="5850293" cy="1861884"/>
          </a:xfrm>
        </p:grpSpPr>
        <p:sp>
          <p:nvSpPr>
            <p:cNvPr id="57" name="椭圆 56">
              <a:extLst>
                <a:ext uri="{FF2B5EF4-FFF2-40B4-BE49-F238E27FC236}">
                  <a16:creationId xmlns:a16="http://schemas.microsoft.com/office/drawing/2014/main" xmlns="" id="{48C56909-B1C9-E8E8-E785-891F4DC641C3}"/>
                </a:ext>
              </a:extLst>
            </p:cNvPr>
            <p:cNvSpPr/>
            <p:nvPr/>
          </p:nvSpPr>
          <p:spPr>
            <a:xfrm>
              <a:off x="4567504" y="4638950"/>
              <a:ext cx="576000" cy="576000"/>
            </a:xfrm>
            <a:prstGeom prst="ellipse">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1800" i="1">
                  <a:solidFill>
                    <a:srgbClr val="FF0000"/>
                  </a:solidFill>
                  <a:latin typeface="Consolas" pitchFamily="49" charset="0"/>
                  <a:cs typeface="Consolas" pitchFamily="49" charset="0"/>
                </a:rPr>
                <a:t>a</a:t>
              </a:r>
              <a:r>
                <a:rPr lang="en-US" altLang="zh-CN" sz="1800" i="1" baseline="-25000">
                  <a:solidFill>
                    <a:srgbClr val="FF0000"/>
                  </a:solidFill>
                  <a:latin typeface="Consolas" pitchFamily="49" charset="0"/>
                  <a:cs typeface="Consolas" pitchFamily="49" charset="0"/>
                </a:rPr>
                <a:t>n</a:t>
              </a:r>
              <a:r>
                <a:rPr lang="en-US" altLang="zh-CN" sz="1800" baseline="-25000">
                  <a:solidFill>
                    <a:srgbClr val="FF0000"/>
                  </a:solidFill>
                  <a:latin typeface="Consolas" pitchFamily="49" charset="0"/>
                  <a:cs typeface="Consolas" pitchFamily="49" charset="0"/>
                </a:rPr>
                <a:t>-1</a:t>
              </a:r>
              <a:endParaRPr lang="zh-CN" altLang="en-US" sz="1800" baseline="-25000">
                <a:solidFill>
                  <a:srgbClr val="FF0000"/>
                </a:solidFill>
                <a:latin typeface="Consolas" pitchFamily="49" charset="0"/>
                <a:cs typeface="Consolas" pitchFamily="49" charset="0"/>
              </a:endParaRPr>
            </a:p>
          </p:txBody>
        </p:sp>
        <p:sp>
          <p:nvSpPr>
            <p:cNvPr id="58" name="TextBox 40">
              <a:extLst>
                <a:ext uri="{FF2B5EF4-FFF2-40B4-BE49-F238E27FC236}">
                  <a16:creationId xmlns:a16="http://schemas.microsoft.com/office/drawing/2014/main" xmlns="" id="{E4BA901D-055E-85AC-EB54-784671B27614}"/>
                </a:ext>
              </a:extLst>
            </p:cNvPr>
            <p:cNvSpPr txBox="1"/>
            <p:nvPr/>
          </p:nvSpPr>
          <p:spPr>
            <a:xfrm>
              <a:off x="2571736" y="5429264"/>
              <a:ext cx="214314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l"/>
              <a:r>
                <a:rPr lang="zh-CN" altLang="en-US" sz="1800">
                  <a:solidFill>
                    <a:srgbClr val="3333FF"/>
                  </a:solidFill>
                  <a:latin typeface="Consolas" pitchFamily="49" charset="0"/>
                  <a:ea typeface="楷体" pitchFamily="49" charset="-122"/>
                  <a:cs typeface="Consolas" pitchFamily="49" charset="0"/>
                </a:rPr>
                <a:t>后序：</a:t>
              </a:r>
              <a:r>
                <a:rPr lang="en-US" altLang="zh-CN" sz="1800" i="1">
                  <a:solidFill>
                    <a:srgbClr val="3333FF"/>
                  </a:solidFill>
                  <a:latin typeface="Consolas" pitchFamily="49" charset="0"/>
                  <a:cs typeface="Consolas" pitchFamily="49" charset="0"/>
                </a:rPr>
                <a:t>a</a:t>
              </a:r>
              <a:r>
                <a:rPr lang="en-US" altLang="zh-CN" sz="1800" baseline="-25000">
                  <a:solidFill>
                    <a:srgbClr val="3333FF"/>
                  </a:solidFill>
                  <a:latin typeface="Consolas" pitchFamily="49" charset="0"/>
                  <a:cs typeface="Consolas" pitchFamily="49" charset="0"/>
                </a:rPr>
                <a:t>0</a:t>
              </a:r>
              <a:r>
                <a:rPr lang="en-US" altLang="zh-CN" sz="1800">
                  <a:solidFill>
                    <a:srgbClr val="3333FF"/>
                  </a:solidFill>
                  <a:latin typeface="Consolas" pitchFamily="49" charset="0"/>
                  <a:cs typeface="Consolas" pitchFamily="49" charset="0"/>
                </a:rPr>
                <a:t>  </a:t>
              </a:r>
              <a:r>
                <a:rPr lang="en-US" altLang="zh-CN" sz="1800">
                  <a:solidFill>
                    <a:srgbClr val="3333FF"/>
                  </a:solidFill>
                  <a:latin typeface="宋体" pitchFamily="2" charset="-122"/>
                  <a:ea typeface="宋体" pitchFamily="2" charset="-122"/>
                  <a:cs typeface="Consolas" pitchFamily="49" charset="0"/>
                </a:rPr>
                <a:t>…</a:t>
              </a:r>
              <a:r>
                <a:rPr lang="en-US" altLang="zh-CN" sz="1800">
                  <a:solidFill>
                    <a:srgbClr val="3333FF"/>
                  </a:solidFill>
                  <a:latin typeface="Consolas" pitchFamily="49" charset="0"/>
                  <a:ea typeface="宋体" pitchFamily="2" charset="-122"/>
                  <a:cs typeface="Consolas" pitchFamily="49" charset="0"/>
                </a:rPr>
                <a:t> </a:t>
              </a:r>
              <a:r>
                <a:rPr lang="en-US" altLang="zh-CN" sz="1800" i="1">
                  <a:solidFill>
                    <a:srgbClr val="3333FF"/>
                  </a:solidFill>
                  <a:latin typeface="Consolas" pitchFamily="49" charset="0"/>
                  <a:cs typeface="Consolas" pitchFamily="49" charset="0"/>
                </a:rPr>
                <a:t>a</a:t>
              </a:r>
              <a:r>
                <a:rPr lang="en-US" altLang="zh-CN" sz="1800" i="1" baseline="-25000">
                  <a:solidFill>
                    <a:srgbClr val="3333FF"/>
                  </a:solidFill>
                  <a:latin typeface="Consolas" pitchFamily="49" charset="0"/>
                  <a:cs typeface="Consolas" pitchFamily="49" charset="0"/>
                </a:rPr>
                <a:t>k</a:t>
              </a:r>
              <a:r>
                <a:rPr lang="en-US" altLang="zh-CN" sz="1800" baseline="-25000">
                  <a:solidFill>
                    <a:srgbClr val="3333FF"/>
                  </a:solidFill>
                  <a:latin typeface="Consolas" pitchFamily="49" charset="0"/>
                  <a:cs typeface="Consolas" pitchFamily="49" charset="0"/>
                </a:rPr>
                <a:t>-1</a:t>
              </a:r>
            </a:p>
            <a:p>
              <a:pPr algn="l"/>
              <a:r>
                <a:rPr lang="zh-CN" altLang="en-US" sz="1800">
                  <a:solidFill>
                    <a:srgbClr val="3333FF"/>
                  </a:solidFill>
                  <a:latin typeface="Consolas" pitchFamily="49" charset="0"/>
                  <a:ea typeface="楷体" pitchFamily="49" charset="-122"/>
                  <a:cs typeface="Consolas" pitchFamily="49" charset="0"/>
                </a:rPr>
                <a:t>中序：</a:t>
              </a:r>
              <a:r>
                <a:rPr lang="en-US" altLang="zh-CN" sz="1800" i="1">
                  <a:solidFill>
                    <a:srgbClr val="3333FF"/>
                  </a:solidFill>
                  <a:latin typeface="Consolas" pitchFamily="49" charset="0"/>
                  <a:cs typeface="Consolas" pitchFamily="49" charset="0"/>
                </a:rPr>
                <a:t>b</a:t>
              </a:r>
              <a:r>
                <a:rPr lang="en-US" altLang="zh-CN" sz="1800" baseline="-25000">
                  <a:solidFill>
                    <a:srgbClr val="3333FF"/>
                  </a:solidFill>
                  <a:latin typeface="Consolas" pitchFamily="49" charset="0"/>
                  <a:cs typeface="Consolas" pitchFamily="49" charset="0"/>
                </a:rPr>
                <a:t>0</a:t>
              </a:r>
              <a:r>
                <a:rPr lang="en-US" altLang="zh-CN" sz="1800">
                  <a:solidFill>
                    <a:srgbClr val="3333FF"/>
                  </a:solidFill>
                  <a:latin typeface="Consolas" pitchFamily="49" charset="0"/>
                  <a:cs typeface="Consolas" pitchFamily="49" charset="0"/>
                </a:rPr>
                <a:t>  </a:t>
              </a:r>
              <a:r>
                <a:rPr lang="en-US" altLang="zh-CN" sz="1800">
                  <a:solidFill>
                    <a:srgbClr val="3333FF"/>
                  </a:solidFill>
                  <a:latin typeface="宋体" pitchFamily="2" charset="-122"/>
                  <a:ea typeface="宋体" pitchFamily="2" charset="-122"/>
                  <a:cs typeface="Consolas" pitchFamily="49" charset="0"/>
                </a:rPr>
                <a:t>…</a:t>
              </a:r>
              <a:r>
                <a:rPr lang="en-US" altLang="zh-CN" sz="1800">
                  <a:solidFill>
                    <a:srgbClr val="3333FF"/>
                  </a:solidFill>
                  <a:latin typeface="Consolas" pitchFamily="49" charset="0"/>
                  <a:ea typeface="宋体" pitchFamily="2" charset="-122"/>
                  <a:cs typeface="Consolas" pitchFamily="49" charset="0"/>
                </a:rPr>
                <a:t> </a:t>
              </a:r>
              <a:r>
                <a:rPr lang="en-US" altLang="zh-CN" sz="1800" i="1">
                  <a:solidFill>
                    <a:srgbClr val="3333FF"/>
                  </a:solidFill>
                  <a:latin typeface="Consolas" pitchFamily="49" charset="0"/>
                  <a:ea typeface="宋体" pitchFamily="2" charset="-122"/>
                  <a:cs typeface="Consolas" pitchFamily="49" charset="0"/>
                </a:rPr>
                <a:t>b</a:t>
              </a:r>
              <a:r>
                <a:rPr lang="en-US" altLang="zh-CN" sz="1800" i="1" baseline="-25000">
                  <a:solidFill>
                    <a:srgbClr val="3333FF"/>
                  </a:solidFill>
                  <a:latin typeface="Consolas" pitchFamily="49" charset="0"/>
                  <a:ea typeface="宋体" pitchFamily="2" charset="-122"/>
                  <a:cs typeface="Consolas" pitchFamily="49" charset="0"/>
                </a:rPr>
                <a:t>k</a:t>
              </a:r>
              <a:r>
                <a:rPr lang="en-US" altLang="zh-CN" sz="1800" baseline="-25000">
                  <a:solidFill>
                    <a:srgbClr val="3333FF"/>
                  </a:solidFill>
                  <a:latin typeface="Consolas" pitchFamily="49" charset="0"/>
                  <a:ea typeface="宋体" pitchFamily="2" charset="-122"/>
                  <a:cs typeface="Consolas" pitchFamily="49" charset="0"/>
                </a:rPr>
                <a:t>-1</a:t>
              </a:r>
              <a:endParaRPr lang="zh-CN" altLang="en-US" sz="1800">
                <a:solidFill>
                  <a:srgbClr val="3333FF"/>
                </a:solidFill>
                <a:latin typeface="Consolas" pitchFamily="49" charset="0"/>
                <a:cs typeface="Consolas" pitchFamily="49" charset="0"/>
              </a:endParaRPr>
            </a:p>
          </p:txBody>
        </p:sp>
        <p:sp>
          <p:nvSpPr>
            <p:cNvPr id="59" name="TextBox 47">
              <a:extLst>
                <a:ext uri="{FF2B5EF4-FFF2-40B4-BE49-F238E27FC236}">
                  <a16:creationId xmlns:a16="http://schemas.microsoft.com/office/drawing/2014/main" xmlns="" id="{256A43C7-87A0-A9F9-C5AD-6FE7C270D387}"/>
                </a:ext>
              </a:extLst>
            </p:cNvPr>
            <p:cNvSpPr txBox="1"/>
            <p:nvPr/>
          </p:nvSpPr>
          <p:spPr>
            <a:xfrm>
              <a:off x="2079295" y="5208456"/>
              <a:ext cx="492443" cy="1214446"/>
            </a:xfrm>
            <a:prstGeom prst="rect">
              <a:avLst/>
            </a:prstGeom>
            <a:noFill/>
          </p:spPr>
          <p:txBody>
            <a:bodyPr vert="eaVert" wrap="square" rtlCol="0">
              <a:spAutoFit/>
            </a:bodyPr>
            <a:lstStyle/>
            <a:p>
              <a:r>
                <a:rPr lang="zh-CN" altLang="en-US" sz="2000">
                  <a:latin typeface="仿宋" pitchFamily="49" charset="-122"/>
                  <a:ea typeface="仿宋" pitchFamily="49" charset="-122"/>
                  <a:cs typeface="Consolas" pitchFamily="49" charset="0"/>
                </a:rPr>
                <a:t>左子树</a:t>
              </a:r>
            </a:p>
          </p:txBody>
        </p:sp>
        <p:sp>
          <p:nvSpPr>
            <p:cNvPr id="60" name="TextBox 48">
              <a:extLst>
                <a:ext uri="{FF2B5EF4-FFF2-40B4-BE49-F238E27FC236}">
                  <a16:creationId xmlns:a16="http://schemas.microsoft.com/office/drawing/2014/main" xmlns="" id="{60764F22-9D77-BB4B-66A9-856EA035581F}"/>
                </a:ext>
              </a:extLst>
            </p:cNvPr>
            <p:cNvSpPr txBox="1"/>
            <p:nvPr/>
          </p:nvSpPr>
          <p:spPr>
            <a:xfrm>
              <a:off x="5214942" y="5429264"/>
              <a:ext cx="2206955"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l"/>
              <a:r>
                <a:rPr lang="zh-CN" altLang="en-US" sz="1800">
                  <a:solidFill>
                    <a:srgbClr val="3333FF"/>
                  </a:solidFill>
                  <a:latin typeface="Consolas" pitchFamily="49" charset="0"/>
                  <a:ea typeface="楷体" pitchFamily="49" charset="-122"/>
                  <a:cs typeface="Consolas" pitchFamily="49" charset="0"/>
                </a:rPr>
                <a:t>后序：</a:t>
              </a:r>
              <a:r>
                <a:rPr lang="en-US" altLang="zh-CN" sz="1800" i="1">
                  <a:solidFill>
                    <a:srgbClr val="3333FF"/>
                  </a:solidFill>
                  <a:latin typeface="Consolas" pitchFamily="49" charset="0"/>
                  <a:cs typeface="Consolas" pitchFamily="49" charset="0"/>
                </a:rPr>
                <a:t>a</a:t>
              </a:r>
              <a:r>
                <a:rPr lang="en-US" altLang="zh-CN" sz="1800" i="1" baseline="-25000">
                  <a:solidFill>
                    <a:srgbClr val="3333FF"/>
                  </a:solidFill>
                  <a:latin typeface="Consolas" pitchFamily="49" charset="0"/>
                  <a:cs typeface="Consolas" pitchFamily="49" charset="0"/>
                </a:rPr>
                <a:t>k</a:t>
              </a:r>
              <a:r>
                <a:rPr lang="en-US" altLang="zh-CN" sz="1800">
                  <a:solidFill>
                    <a:srgbClr val="3333FF"/>
                  </a:solidFill>
                  <a:latin typeface="Consolas" pitchFamily="49" charset="0"/>
                  <a:cs typeface="Consolas" pitchFamily="49" charset="0"/>
                </a:rPr>
                <a:t>  </a:t>
              </a:r>
              <a:r>
                <a:rPr lang="en-US" altLang="zh-CN" sz="1800">
                  <a:solidFill>
                    <a:srgbClr val="3333FF"/>
                  </a:solidFill>
                  <a:latin typeface="宋体" pitchFamily="2" charset="-122"/>
                  <a:ea typeface="宋体" pitchFamily="2" charset="-122"/>
                  <a:cs typeface="Consolas" pitchFamily="49" charset="0"/>
                </a:rPr>
                <a:t>…</a:t>
              </a:r>
              <a:r>
                <a:rPr lang="en-US" altLang="zh-CN" sz="1800">
                  <a:solidFill>
                    <a:srgbClr val="3333FF"/>
                  </a:solidFill>
                  <a:latin typeface="Consolas" pitchFamily="49" charset="0"/>
                  <a:cs typeface="Consolas" pitchFamily="49" charset="0"/>
                </a:rPr>
                <a:t> </a:t>
              </a:r>
              <a:r>
                <a:rPr lang="en-US" altLang="zh-CN" sz="1800" i="1">
                  <a:solidFill>
                    <a:srgbClr val="3333FF"/>
                  </a:solidFill>
                  <a:latin typeface="Consolas" pitchFamily="49" charset="0"/>
                  <a:cs typeface="Consolas" pitchFamily="49" charset="0"/>
                </a:rPr>
                <a:t>a</a:t>
              </a:r>
              <a:r>
                <a:rPr lang="en-US" altLang="zh-CN" sz="1800" i="1" baseline="-25000">
                  <a:solidFill>
                    <a:srgbClr val="3333FF"/>
                  </a:solidFill>
                  <a:latin typeface="Consolas" pitchFamily="49" charset="0"/>
                  <a:cs typeface="Consolas" pitchFamily="49" charset="0"/>
                </a:rPr>
                <a:t>n</a:t>
              </a:r>
              <a:r>
                <a:rPr lang="en-US" altLang="zh-CN" sz="1800" baseline="-25000">
                  <a:solidFill>
                    <a:srgbClr val="3333FF"/>
                  </a:solidFill>
                  <a:latin typeface="Consolas" pitchFamily="49" charset="0"/>
                  <a:cs typeface="Consolas" pitchFamily="49" charset="0"/>
                </a:rPr>
                <a:t>-2</a:t>
              </a:r>
              <a:endParaRPr lang="en-US" altLang="zh-CN" sz="1800" i="1" baseline="-25000">
                <a:solidFill>
                  <a:srgbClr val="3333FF"/>
                </a:solidFill>
                <a:latin typeface="Consolas" pitchFamily="49" charset="0"/>
                <a:cs typeface="Consolas" pitchFamily="49" charset="0"/>
              </a:endParaRPr>
            </a:p>
            <a:p>
              <a:pPr algn="l"/>
              <a:r>
                <a:rPr lang="zh-CN" altLang="en-US" sz="1800">
                  <a:solidFill>
                    <a:srgbClr val="3333FF"/>
                  </a:solidFill>
                  <a:latin typeface="Consolas" pitchFamily="49" charset="0"/>
                  <a:ea typeface="楷体" pitchFamily="49" charset="-122"/>
                  <a:cs typeface="Consolas" pitchFamily="49" charset="0"/>
                </a:rPr>
                <a:t>中序：</a:t>
              </a:r>
              <a:r>
                <a:rPr lang="en-US" altLang="zh-CN" sz="1800" i="1">
                  <a:solidFill>
                    <a:srgbClr val="3333FF"/>
                  </a:solidFill>
                  <a:latin typeface="Consolas" pitchFamily="49" charset="0"/>
                  <a:cs typeface="Consolas" pitchFamily="49" charset="0"/>
                </a:rPr>
                <a:t>b</a:t>
              </a:r>
              <a:r>
                <a:rPr lang="en-US" altLang="zh-CN" sz="1800" i="1" baseline="-25000">
                  <a:solidFill>
                    <a:srgbClr val="3333FF"/>
                  </a:solidFill>
                  <a:latin typeface="Consolas" pitchFamily="49" charset="0"/>
                  <a:cs typeface="Consolas" pitchFamily="49" charset="0"/>
                </a:rPr>
                <a:t>k</a:t>
              </a:r>
              <a:r>
                <a:rPr lang="en-US" altLang="zh-CN" sz="1800" baseline="-25000">
                  <a:solidFill>
                    <a:srgbClr val="3333FF"/>
                  </a:solidFill>
                  <a:latin typeface="Consolas" pitchFamily="49" charset="0"/>
                  <a:cs typeface="Consolas" pitchFamily="49" charset="0"/>
                </a:rPr>
                <a:t>+1</a:t>
              </a:r>
              <a:r>
                <a:rPr lang="en-US" altLang="zh-CN" sz="1800">
                  <a:solidFill>
                    <a:srgbClr val="3333FF"/>
                  </a:solidFill>
                  <a:latin typeface="Consolas" pitchFamily="49" charset="0"/>
                  <a:cs typeface="Consolas" pitchFamily="49" charset="0"/>
                </a:rPr>
                <a:t> </a:t>
              </a:r>
              <a:r>
                <a:rPr lang="en-US" altLang="zh-CN" sz="1800">
                  <a:solidFill>
                    <a:srgbClr val="3333FF"/>
                  </a:solidFill>
                  <a:latin typeface="宋体" pitchFamily="2" charset="-122"/>
                  <a:ea typeface="宋体" pitchFamily="2" charset="-122"/>
                  <a:cs typeface="Consolas" pitchFamily="49" charset="0"/>
                </a:rPr>
                <a:t>…</a:t>
              </a:r>
              <a:r>
                <a:rPr lang="en-US" altLang="zh-CN" sz="1800">
                  <a:solidFill>
                    <a:srgbClr val="3333FF"/>
                  </a:solidFill>
                  <a:latin typeface="Consolas" pitchFamily="49" charset="0"/>
                  <a:cs typeface="Consolas" pitchFamily="49" charset="0"/>
                </a:rPr>
                <a:t> </a:t>
              </a:r>
              <a:r>
                <a:rPr lang="en-US" altLang="zh-CN" sz="1800" i="1">
                  <a:solidFill>
                    <a:srgbClr val="3333FF"/>
                  </a:solidFill>
                  <a:latin typeface="Consolas" pitchFamily="49" charset="0"/>
                  <a:cs typeface="Consolas" pitchFamily="49" charset="0"/>
                </a:rPr>
                <a:t>b</a:t>
              </a:r>
              <a:r>
                <a:rPr lang="en-US" altLang="zh-CN" sz="1800" i="1" baseline="-25000">
                  <a:solidFill>
                    <a:srgbClr val="3333FF"/>
                  </a:solidFill>
                  <a:latin typeface="Consolas" pitchFamily="49" charset="0"/>
                  <a:cs typeface="Consolas" pitchFamily="49" charset="0"/>
                </a:rPr>
                <a:t>n</a:t>
              </a:r>
              <a:r>
                <a:rPr lang="en-US" altLang="zh-CN" sz="1800" baseline="-25000">
                  <a:solidFill>
                    <a:srgbClr val="3333FF"/>
                  </a:solidFill>
                  <a:latin typeface="Consolas" pitchFamily="49" charset="0"/>
                  <a:cs typeface="Consolas" pitchFamily="49" charset="0"/>
                </a:rPr>
                <a:t>-1</a:t>
              </a:r>
              <a:endParaRPr lang="en-US" altLang="en-US" sz="1800" baseline="-25000">
                <a:solidFill>
                  <a:srgbClr val="3333FF"/>
                </a:solidFill>
                <a:latin typeface="Consolas" pitchFamily="49" charset="0"/>
                <a:cs typeface="Consolas" pitchFamily="49" charset="0"/>
              </a:endParaRPr>
            </a:p>
          </p:txBody>
        </p:sp>
        <p:sp>
          <p:nvSpPr>
            <p:cNvPr id="61" name="TextBox 49">
              <a:extLst>
                <a:ext uri="{FF2B5EF4-FFF2-40B4-BE49-F238E27FC236}">
                  <a16:creationId xmlns:a16="http://schemas.microsoft.com/office/drawing/2014/main" xmlns="" id="{830015F1-1462-A4C1-0425-492A3D116790}"/>
                </a:ext>
              </a:extLst>
            </p:cNvPr>
            <p:cNvSpPr txBox="1"/>
            <p:nvPr/>
          </p:nvSpPr>
          <p:spPr>
            <a:xfrm>
              <a:off x="7437145" y="5286388"/>
              <a:ext cx="492443" cy="1214446"/>
            </a:xfrm>
            <a:prstGeom prst="rect">
              <a:avLst/>
            </a:prstGeom>
            <a:noFill/>
          </p:spPr>
          <p:txBody>
            <a:bodyPr vert="eaVert" wrap="square" rtlCol="0">
              <a:spAutoFit/>
            </a:bodyPr>
            <a:lstStyle/>
            <a:p>
              <a:r>
                <a:rPr lang="zh-CN" altLang="en-US" sz="2000">
                  <a:latin typeface="仿宋" pitchFamily="49" charset="-122"/>
                  <a:ea typeface="仿宋" pitchFamily="49" charset="-122"/>
                  <a:cs typeface="Consolas" pitchFamily="49" charset="0"/>
                </a:rPr>
                <a:t>右子树</a:t>
              </a:r>
            </a:p>
          </p:txBody>
        </p:sp>
        <p:cxnSp>
          <p:nvCxnSpPr>
            <p:cNvPr id="62" name="直接连接符 61">
              <a:extLst>
                <a:ext uri="{FF2B5EF4-FFF2-40B4-BE49-F238E27FC236}">
                  <a16:creationId xmlns:a16="http://schemas.microsoft.com/office/drawing/2014/main" xmlns="" id="{002AA585-72F1-BF19-2580-8B821354DBFF}"/>
                </a:ext>
              </a:extLst>
            </p:cNvPr>
            <p:cNvCxnSpPr>
              <a:stCxn id="57" idx="2"/>
              <a:endCxn id="58" idx="0"/>
            </p:cNvCxnSpPr>
            <p:nvPr/>
          </p:nvCxnSpPr>
          <p:spPr>
            <a:xfrm rot="10800000" flipV="1">
              <a:off x="3643306" y="4926950"/>
              <a:ext cx="924198" cy="502314"/>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xmlns="" id="{3008AE44-CD07-B513-8B9B-34E2A829B601}"/>
                </a:ext>
              </a:extLst>
            </p:cNvPr>
            <p:cNvCxnSpPr>
              <a:stCxn id="57" idx="6"/>
              <a:endCxn id="60" idx="0"/>
            </p:cNvCxnSpPr>
            <p:nvPr/>
          </p:nvCxnSpPr>
          <p:spPr>
            <a:xfrm>
              <a:off x="5143504" y="4926950"/>
              <a:ext cx="1174916" cy="502314"/>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64" name="下箭头 52">
            <a:extLst>
              <a:ext uri="{FF2B5EF4-FFF2-40B4-BE49-F238E27FC236}">
                <a16:creationId xmlns:a16="http://schemas.microsoft.com/office/drawing/2014/main" xmlns="" id="{4B228ED5-D065-3DAF-5FB2-1B7D0251EBD5}"/>
              </a:ext>
            </a:extLst>
          </p:cNvPr>
          <p:cNvSpPr/>
          <p:nvPr/>
        </p:nvSpPr>
        <p:spPr>
          <a:xfrm>
            <a:off x="5988652" y="4092081"/>
            <a:ext cx="285752" cy="500066"/>
          </a:xfrm>
          <a:prstGeom prst="down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35338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C080E8C-C25B-7934-7546-C31DB66E534F}"/>
            </a:ext>
          </a:extLst>
        </p:cNvPr>
        <p:cNvGrpSpPr/>
        <p:nvPr/>
      </p:nvGrpSpPr>
      <p:grpSpPr>
        <a:xfrm>
          <a:off x="0" y="0"/>
          <a:ext cx="0" cy="0"/>
          <a:chOff x="0" y="0"/>
          <a:chExt cx="0" cy="0"/>
        </a:xfrm>
      </p:grpSpPr>
      <p:cxnSp>
        <p:nvCxnSpPr>
          <p:cNvPr id="3" name="直接连接符 2">
            <a:extLst>
              <a:ext uri="{FF2B5EF4-FFF2-40B4-BE49-F238E27FC236}">
                <a16:creationId xmlns:a16="http://schemas.microsoft.com/office/drawing/2014/main" xmlns="" id="{38D99A48-D939-8B84-F44A-97A8F1B13FD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xmlns="" id="{C2FDCEDB-8CC3-08E4-E91A-CCFB4DF967BD}"/>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7.6 </a:t>
            </a:r>
            <a:r>
              <a:rPr lang="zh-CN" altLang="en-US" sz="3000" b="1" dirty="0">
                <a:latin typeface="黑体" pitchFamily="49" charset="-122"/>
                <a:ea typeface="黑体" pitchFamily="49" charset="-122"/>
                <a:cs typeface="经典粗黑简" pitchFamily="49" charset="-122"/>
              </a:rPr>
              <a:t>二叉树的构造</a:t>
            </a:r>
          </a:p>
        </p:txBody>
      </p:sp>
      <p:sp>
        <p:nvSpPr>
          <p:cNvPr id="2" name="Text Box 2">
            <a:extLst>
              <a:ext uri="{FF2B5EF4-FFF2-40B4-BE49-F238E27FC236}">
                <a16:creationId xmlns:a16="http://schemas.microsoft.com/office/drawing/2014/main" xmlns="" id="{A0B7FB8D-8508-DD26-E58F-F86423C09964}"/>
              </a:ext>
            </a:extLst>
          </p:cNvPr>
          <p:cNvSpPr txBox="1">
            <a:spLocks noChangeArrowheads="1"/>
          </p:cNvSpPr>
          <p:nvPr/>
        </p:nvSpPr>
        <p:spPr bwMode="auto">
          <a:xfrm>
            <a:off x="1559496" y="842595"/>
            <a:ext cx="8893175" cy="461665"/>
          </a:xfrm>
          <a:prstGeom prst="rect">
            <a:avLst/>
          </a:prstGeom>
          <a:noFill/>
          <a:ln w="9525">
            <a:noFill/>
            <a:miter lim="800000"/>
            <a:headEnd/>
            <a:tailEnd/>
          </a:ln>
          <a:effectLst/>
        </p:spPr>
        <p:txBody>
          <a:bodyPr wrap="square">
            <a:spAutoFit/>
          </a:bodyPr>
          <a:lstStyle/>
          <a:p>
            <a:pPr algn="l">
              <a:lnSpc>
                <a:spcPct val="120000"/>
              </a:lnSpc>
              <a:spcBef>
                <a:spcPct val="50000"/>
              </a:spcBef>
            </a:pPr>
            <a:r>
              <a:rPr kumimoji="1" lang="zh-CN" altLang="en-US" sz="2000">
                <a:latin typeface="Consolas" pitchFamily="49" charset="0"/>
                <a:ea typeface="楷体" pitchFamily="49" charset="-122"/>
                <a:cs typeface="Consolas" pitchFamily="49" charset="0"/>
              </a:rPr>
              <a:t>例如，已知</a:t>
            </a:r>
            <a:r>
              <a:rPr kumimoji="1" lang="zh-CN" altLang="en-US" sz="2000" dirty="0">
                <a:latin typeface="Consolas" pitchFamily="49" charset="0"/>
                <a:ea typeface="楷体" pitchFamily="49" charset="-122"/>
                <a:cs typeface="Consolas" pitchFamily="49" charset="0"/>
              </a:rPr>
              <a:t>中序序列</a:t>
            </a:r>
            <a:r>
              <a:rPr kumimoji="1" lang="zh-CN" altLang="en-US" sz="2000">
                <a:latin typeface="Consolas" pitchFamily="49" charset="0"/>
                <a:ea typeface="楷体" pitchFamily="49" charset="-122"/>
                <a:cs typeface="Consolas" pitchFamily="49" charset="0"/>
              </a:rPr>
              <a:t>为</a:t>
            </a:r>
            <a:r>
              <a:rPr kumimoji="1" lang="en-US" altLang="zh-CN" sz="2000">
                <a:latin typeface="Consolas" pitchFamily="49" charset="0"/>
                <a:ea typeface="楷体" pitchFamily="49" charset="-122"/>
                <a:cs typeface="Consolas" pitchFamily="49" charset="0"/>
              </a:rPr>
              <a:t>DGBAECF</a:t>
            </a:r>
            <a:r>
              <a:rPr kumimoji="1" lang="zh-CN" altLang="en-US" sz="2000">
                <a:latin typeface="Consolas" pitchFamily="49" charset="0"/>
                <a:ea typeface="楷体" pitchFamily="49" charset="-122"/>
                <a:cs typeface="Consolas" pitchFamily="49" charset="0"/>
              </a:rPr>
              <a:t>，后序</a:t>
            </a:r>
            <a:r>
              <a:rPr kumimoji="1" lang="zh-CN" altLang="en-US" sz="2000" dirty="0">
                <a:latin typeface="Consolas" pitchFamily="49" charset="0"/>
                <a:ea typeface="楷体" pitchFamily="49" charset="-122"/>
                <a:cs typeface="Consolas" pitchFamily="49" charset="0"/>
              </a:rPr>
              <a:t>序列为</a:t>
            </a:r>
            <a:r>
              <a:rPr kumimoji="1" lang="en-US" altLang="zh-CN" sz="2000" dirty="0" err="1">
                <a:latin typeface="Consolas" pitchFamily="49" charset="0"/>
                <a:ea typeface="楷体" pitchFamily="49" charset="-122"/>
                <a:cs typeface="Consolas" pitchFamily="49" charset="0"/>
              </a:rPr>
              <a:t>GDBEFCA</a:t>
            </a:r>
            <a:r>
              <a:rPr kumimoji="1" lang="zh-CN" altLang="en-US" sz="2000" dirty="0">
                <a:latin typeface="Consolas" pitchFamily="49" charset="0"/>
                <a:ea typeface="楷体" pitchFamily="49" charset="-122"/>
                <a:cs typeface="Consolas" pitchFamily="49" charset="0"/>
              </a:rPr>
              <a:t>。对应的</a:t>
            </a:r>
            <a:r>
              <a:rPr kumimoji="1" lang="zh-CN" altLang="en-US" sz="2000">
                <a:latin typeface="Consolas" pitchFamily="49" charset="0"/>
                <a:ea typeface="楷体" pitchFamily="49" charset="-122"/>
                <a:cs typeface="Consolas" pitchFamily="49" charset="0"/>
              </a:rPr>
              <a:t>构造该二叉树。 </a:t>
            </a:r>
            <a:endParaRPr kumimoji="1" lang="zh-CN" altLang="en-US" sz="2000" dirty="0">
              <a:latin typeface="Consolas" pitchFamily="49" charset="0"/>
              <a:ea typeface="楷体" pitchFamily="49" charset="-122"/>
              <a:cs typeface="Consolas" pitchFamily="49" charset="0"/>
            </a:endParaRPr>
          </a:p>
        </p:txBody>
      </p:sp>
      <p:sp>
        <p:nvSpPr>
          <p:cNvPr id="4" name="Text Box 22">
            <a:extLst>
              <a:ext uri="{FF2B5EF4-FFF2-40B4-BE49-F238E27FC236}">
                <a16:creationId xmlns:a16="http://schemas.microsoft.com/office/drawing/2014/main" xmlns="" id="{71F39313-9D17-1798-7095-D06E9166563C}"/>
              </a:ext>
            </a:extLst>
          </p:cNvPr>
          <p:cNvSpPr txBox="1">
            <a:spLocks noChangeArrowheads="1"/>
          </p:cNvSpPr>
          <p:nvPr/>
        </p:nvSpPr>
        <p:spPr bwMode="auto">
          <a:xfrm>
            <a:off x="4836977" y="5977303"/>
            <a:ext cx="2376488" cy="400110"/>
          </a:xfrm>
          <a:prstGeom prst="rect">
            <a:avLst/>
          </a:prstGeom>
          <a:noFill/>
          <a:ln w="9525" algn="ctr">
            <a:noFill/>
            <a:miter lim="800000"/>
            <a:headEnd/>
            <a:tailEnd type="none" w="med" len="lg"/>
          </a:ln>
          <a:effectLst/>
        </p:spPr>
        <p:txBody>
          <a:bodyPr>
            <a:spAutoFit/>
          </a:bodyPr>
          <a:lstStyle/>
          <a:p>
            <a:pPr>
              <a:spcBef>
                <a:spcPct val="50000"/>
              </a:spcBef>
            </a:pPr>
            <a:r>
              <a:rPr lang="zh-CN" altLang="en-US" sz="2000" dirty="0">
                <a:latin typeface="仿宋" pitchFamily="49" charset="-122"/>
                <a:ea typeface="仿宋" pitchFamily="49" charset="-122"/>
                <a:cs typeface="Consolas" pitchFamily="49" charset="0"/>
              </a:rPr>
              <a:t>二叉树构造完毕</a:t>
            </a:r>
          </a:p>
        </p:txBody>
      </p:sp>
      <p:sp>
        <p:nvSpPr>
          <p:cNvPr id="5" name="TextBox 22">
            <a:extLst>
              <a:ext uri="{FF2B5EF4-FFF2-40B4-BE49-F238E27FC236}">
                <a16:creationId xmlns:a16="http://schemas.microsoft.com/office/drawing/2014/main" xmlns="" id="{A69E31E5-F47F-3D84-C6F1-D8810B464FA7}"/>
              </a:ext>
            </a:extLst>
          </p:cNvPr>
          <p:cNvSpPr txBox="1"/>
          <p:nvPr/>
        </p:nvSpPr>
        <p:spPr>
          <a:xfrm>
            <a:off x="4917082" y="1628413"/>
            <a:ext cx="2000264" cy="646331"/>
          </a:xfrm>
          <a:prstGeom prst="rect">
            <a:avLst/>
          </a:prstGeom>
          <a:noFill/>
        </p:spPr>
        <p:txBody>
          <a:bodyPr wrap="square" rtlCol="0">
            <a:spAutoFit/>
          </a:bodyPr>
          <a:lstStyle/>
          <a:p>
            <a:r>
              <a:rPr kumimoji="1" lang="zh-CN" altLang="en-US" sz="1800">
                <a:latin typeface="Consolas" pitchFamily="49" charset="0"/>
                <a:ea typeface="楷体" pitchFamily="49" charset="-122"/>
                <a:cs typeface="Consolas" pitchFamily="49" charset="0"/>
              </a:rPr>
              <a:t>后序</a:t>
            </a:r>
            <a:r>
              <a:rPr kumimoji="1" lang="en-US" altLang="zh-CN" sz="1800">
                <a:latin typeface="Consolas" pitchFamily="49" charset="0"/>
                <a:ea typeface="楷体" pitchFamily="49" charset="-122"/>
                <a:cs typeface="Consolas" pitchFamily="49" charset="0"/>
              </a:rPr>
              <a:t>: GDBEFC</a:t>
            </a:r>
            <a:r>
              <a:rPr kumimoji="1" lang="en-US" altLang="zh-CN" sz="1800">
                <a:solidFill>
                  <a:srgbClr val="FF0000"/>
                </a:solidFill>
                <a:latin typeface="Consolas" pitchFamily="49" charset="0"/>
                <a:ea typeface="楷体" pitchFamily="49" charset="-122"/>
                <a:cs typeface="Consolas" pitchFamily="49" charset="0"/>
              </a:rPr>
              <a:t>A</a:t>
            </a:r>
          </a:p>
          <a:p>
            <a:r>
              <a:rPr kumimoji="1" lang="zh-CN" altLang="en-US" sz="1800">
                <a:latin typeface="Consolas" pitchFamily="49" charset="0"/>
                <a:ea typeface="楷体" pitchFamily="49" charset="-122"/>
                <a:cs typeface="Consolas" pitchFamily="49" charset="0"/>
              </a:rPr>
              <a:t>中序</a:t>
            </a:r>
            <a:r>
              <a:rPr kumimoji="1" lang="en-US" altLang="zh-CN" sz="1800">
                <a:latin typeface="Consolas" pitchFamily="49" charset="0"/>
                <a:ea typeface="楷体" pitchFamily="49" charset="-122"/>
                <a:cs typeface="Consolas" pitchFamily="49" charset="0"/>
              </a:rPr>
              <a:t>: DGB</a:t>
            </a:r>
            <a:r>
              <a:rPr kumimoji="1" lang="en-US" altLang="zh-CN" sz="1800">
                <a:solidFill>
                  <a:srgbClr val="FF0000"/>
                </a:solidFill>
                <a:latin typeface="Consolas" pitchFamily="49" charset="0"/>
                <a:ea typeface="楷体" pitchFamily="49" charset="-122"/>
                <a:cs typeface="Consolas" pitchFamily="49" charset="0"/>
              </a:rPr>
              <a:t>A</a:t>
            </a:r>
            <a:r>
              <a:rPr kumimoji="1" lang="en-US" altLang="zh-CN" sz="1800">
                <a:latin typeface="Consolas" pitchFamily="49" charset="0"/>
                <a:ea typeface="楷体" pitchFamily="49" charset="-122"/>
                <a:cs typeface="Consolas" pitchFamily="49" charset="0"/>
              </a:rPr>
              <a:t>ECF</a:t>
            </a:r>
            <a:endParaRPr lang="zh-CN" altLang="en-US" sz="1800">
              <a:solidFill>
                <a:srgbClr val="FF0000"/>
              </a:solidFill>
              <a:latin typeface="Consolas" pitchFamily="49" charset="0"/>
              <a:cs typeface="Consolas" pitchFamily="49" charset="0"/>
            </a:endParaRPr>
          </a:p>
        </p:txBody>
      </p:sp>
      <p:sp>
        <p:nvSpPr>
          <p:cNvPr id="7" name="椭圆 6">
            <a:extLst>
              <a:ext uri="{FF2B5EF4-FFF2-40B4-BE49-F238E27FC236}">
                <a16:creationId xmlns:a16="http://schemas.microsoft.com/office/drawing/2014/main" xmlns="" id="{24930DF6-97EC-C1D7-4E9A-D8EC10246E31}"/>
              </a:ext>
            </a:extLst>
          </p:cNvPr>
          <p:cNvSpPr/>
          <p:nvPr/>
        </p:nvSpPr>
        <p:spPr>
          <a:xfrm>
            <a:off x="5774338" y="2271355"/>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FF0000"/>
                </a:solidFill>
                <a:latin typeface="Consolas" pitchFamily="49" charset="0"/>
                <a:cs typeface="Consolas" pitchFamily="49" charset="0"/>
              </a:rPr>
              <a:t>A</a:t>
            </a:r>
            <a:endParaRPr lang="zh-CN" altLang="en-US" sz="2000">
              <a:solidFill>
                <a:srgbClr val="FF0000"/>
              </a:solidFill>
              <a:latin typeface="Consolas" pitchFamily="49" charset="0"/>
              <a:cs typeface="Consolas" pitchFamily="49" charset="0"/>
            </a:endParaRPr>
          </a:p>
        </p:txBody>
      </p:sp>
      <p:sp>
        <p:nvSpPr>
          <p:cNvPr id="8" name="椭圆 7">
            <a:extLst>
              <a:ext uri="{FF2B5EF4-FFF2-40B4-BE49-F238E27FC236}">
                <a16:creationId xmlns:a16="http://schemas.microsoft.com/office/drawing/2014/main" xmlns="" id="{B99B108B-C3D8-ED86-487C-CFE3F7243EF9}"/>
              </a:ext>
            </a:extLst>
          </p:cNvPr>
          <p:cNvSpPr/>
          <p:nvPr/>
        </p:nvSpPr>
        <p:spPr>
          <a:xfrm>
            <a:off x="4774206" y="3485801"/>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FF0000"/>
                </a:solidFill>
                <a:latin typeface="Consolas" pitchFamily="49" charset="0"/>
                <a:cs typeface="Consolas" pitchFamily="49" charset="0"/>
              </a:rPr>
              <a:t>B</a:t>
            </a:r>
            <a:endParaRPr lang="zh-CN" altLang="en-US" sz="2000">
              <a:solidFill>
                <a:srgbClr val="FF0000"/>
              </a:solidFill>
              <a:latin typeface="Consolas" pitchFamily="49" charset="0"/>
              <a:cs typeface="Consolas" pitchFamily="49" charset="0"/>
            </a:endParaRPr>
          </a:p>
        </p:txBody>
      </p:sp>
      <p:sp>
        <p:nvSpPr>
          <p:cNvPr id="9" name="椭圆 8">
            <a:extLst>
              <a:ext uri="{FF2B5EF4-FFF2-40B4-BE49-F238E27FC236}">
                <a16:creationId xmlns:a16="http://schemas.microsoft.com/office/drawing/2014/main" xmlns="" id="{E97E2245-71A2-C83D-87ED-140A8FDD223D}"/>
              </a:ext>
            </a:extLst>
          </p:cNvPr>
          <p:cNvSpPr/>
          <p:nvPr/>
        </p:nvSpPr>
        <p:spPr>
          <a:xfrm>
            <a:off x="6988784" y="3485801"/>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FF0000"/>
                </a:solidFill>
                <a:latin typeface="Consolas" pitchFamily="49" charset="0"/>
                <a:cs typeface="Consolas" pitchFamily="49" charset="0"/>
              </a:rPr>
              <a:t>C</a:t>
            </a:r>
            <a:endParaRPr lang="zh-CN" altLang="en-US" sz="2000">
              <a:solidFill>
                <a:srgbClr val="FF0000"/>
              </a:solidFill>
              <a:latin typeface="Consolas" pitchFamily="49" charset="0"/>
              <a:cs typeface="Consolas" pitchFamily="49" charset="0"/>
            </a:endParaRPr>
          </a:p>
        </p:txBody>
      </p:sp>
      <p:sp>
        <p:nvSpPr>
          <p:cNvPr id="10" name="椭圆 9">
            <a:extLst>
              <a:ext uri="{FF2B5EF4-FFF2-40B4-BE49-F238E27FC236}">
                <a16:creationId xmlns:a16="http://schemas.microsoft.com/office/drawing/2014/main" xmlns="" id="{31956C12-410F-D483-C8C8-66DB54BB1CE1}"/>
              </a:ext>
            </a:extLst>
          </p:cNvPr>
          <p:cNvSpPr/>
          <p:nvPr/>
        </p:nvSpPr>
        <p:spPr>
          <a:xfrm>
            <a:off x="6417280" y="4414495"/>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FF0000"/>
                </a:solidFill>
                <a:latin typeface="Consolas" pitchFamily="49" charset="0"/>
                <a:cs typeface="Consolas" pitchFamily="49" charset="0"/>
              </a:rPr>
              <a:t>E</a:t>
            </a:r>
            <a:endParaRPr lang="zh-CN" altLang="en-US" sz="2000">
              <a:solidFill>
                <a:srgbClr val="FF0000"/>
              </a:solidFill>
              <a:latin typeface="Consolas" pitchFamily="49" charset="0"/>
              <a:cs typeface="Consolas" pitchFamily="49" charset="0"/>
            </a:endParaRPr>
          </a:p>
        </p:txBody>
      </p:sp>
      <p:sp>
        <p:nvSpPr>
          <p:cNvPr id="11" name="椭圆 10">
            <a:extLst>
              <a:ext uri="{FF2B5EF4-FFF2-40B4-BE49-F238E27FC236}">
                <a16:creationId xmlns:a16="http://schemas.microsoft.com/office/drawing/2014/main" xmlns="" id="{0DD12A9C-983B-E133-943D-C1E7E6F93D6D}"/>
              </a:ext>
            </a:extLst>
          </p:cNvPr>
          <p:cNvSpPr/>
          <p:nvPr/>
        </p:nvSpPr>
        <p:spPr>
          <a:xfrm>
            <a:off x="7917478" y="4414495"/>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FF0000"/>
                </a:solidFill>
                <a:latin typeface="Consolas" pitchFamily="49" charset="0"/>
                <a:cs typeface="Consolas" pitchFamily="49" charset="0"/>
              </a:rPr>
              <a:t>F</a:t>
            </a:r>
            <a:endParaRPr lang="zh-CN" altLang="en-US" sz="2000">
              <a:solidFill>
                <a:srgbClr val="FF0000"/>
              </a:solidFill>
              <a:latin typeface="Consolas" pitchFamily="49" charset="0"/>
              <a:cs typeface="Consolas" pitchFamily="49" charset="0"/>
            </a:endParaRPr>
          </a:p>
        </p:txBody>
      </p:sp>
      <p:sp>
        <p:nvSpPr>
          <p:cNvPr id="12" name="椭圆 11">
            <a:extLst>
              <a:ext uri="{FF2B5EF4-FFF2-40B4-BE49-F238E27FC236}">
                <a16:creationId xmlns:a16="http://schemas.microsoft.com/office/drawing/2014/main" xmlns="" id="{8EF16206-5443-E13B-4A80-7044C8CEC3D1}"/>
              </a:ext>
            </a:extLst>
          </p:cNvPr>
          <p:cNvSpPr/>
          <p:nvPr/>
        </p:nvSpPr>
        <p:spPr>
          <a:xfrm>
            <a:off x="3845512" y="4414495"/>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FF0000"/>
                </a:solidFill>
                <a:latin typeface="Consolas" pitchFamily="49" charset="0"/>
                <a:cs typeface="Consolas" pitchFamily="49" charset="0"/>
              </a:rPr>
              <a:t>D</a:t>
            </a:r>
            <a:endParaRPr lang="zh-CN" altLang="en-US" sz="2000">
              <a:solidFill>
                <a:srgbClr val="FF0000"/>
              </a:solidFill>
              <a:latin typeface="Consolas" pitchFamily="49" charset="0"/>
              <a:cs typeface="Consolas" pitchFamily="49" charset="0"/>
            </a:endParaRPr>
          </a:p>
        </p:txBody>
      </p:sp>
      <p:sp>
        <p:nvSpPr>
          <p:cNvPr id="13" name="椭圆 12">
            <a:extLst>
              <a:ext uri="{FF2B5EF4-FFF2-40B4-BE49-F238E27FC236}">
                <a16:creationId xmlns:a16="http://schemas.microsoft.com/office/drawing/2014/main" xmlns="" id="{073671F4-64B9-B598-178A-E52F636AA821}"/>
              </a:ext>
            </a:extLst>
          </p:cNvPr>
          <p:cNvSpPr/>
          <p:nvPr/>
        </p:nvSpPr>
        <p:spPr>
          <a:xfrm>
            <a:off x="4631330" y="5343189"/>
            <a:ext cx="428628" cy="42862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FF0000"/>
                </a:solidFill>
                <a:latin typeface="Consolas" pitchFamily="49" charset="0"/>
                <a:cs typeface="Consolas" pitchFamily="49" charset="0"/>
              </a:rPr>
              <a:t>G</a:t>
            </a:r>
            <a:endParaRPr lang="zh-CN" altLang="en-US" sz="2000">
              <a:solidFill>
                <a:srgbClr val="FF0000"/>
              </a:solidFill>
              <a:latin typeface="Consolas" pitchFamily="49" charset="0"/>
              <a:cs typeface="Consolas" pitchFamily="49" charset="0"/>
            </a:endParaRPr>
          </a:p>
        </p:txBody>
      </p:sp>
      <p:cxnSp>
        <p:nvCxnSpPr>
          <p:cNvPr id="14" name="直接连接符 13">
            <a:extLst>
              <a:ext uri="{FF2B5EF4-FFF2-40B4-BE49-F238E27FC236}">
                <a16:creationId xmlns:a16="http://schemas.microsoft.com/office/drawing/2014/main" xmlns="" id="{A5624752-4678-93EC-629B-8D4EED6BF72B}"/>
              </a:ext>
            </a:extLst>
          </p:cNvPr>
          <p:cNvCxnSpPr>
            <a:stCxn id="7" idx="3"/>
            <a:endCxn id="8" idx="0"/>
          </p:cNvCxnSpPr>
          <p:nvPr/>
        </p:nvCxnSpPr>
        <p:spPr>
          <a:xfrm rot="5400000">
            <a:off x="4988521" y="2637212"/>
            <a:ext cx="848589" cy="848589"/>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xmlns="" id="{54133A4D-2CCC-3797-A773-633583D3DC21}"/>
              </a:ext>
            </a:extLst>
          </p:cNvPr>
          <p:cNvCxnSpPr>
            <a:stCxn id="7" idx="5"/>
            <a:endCxn id="9" idx="0"/>
          </p:cNvCxnSpPr>
          <p:nvPr/>
        </p:nvCxnSpPr>
        <p:spPr>
          <a:xfrm rot="16200000" flipH="1">
            <a:off x="6247352" y="2530054"/>
            <a:ext cx="848589" cy="1062903"/>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xmlns="" id="{2FFDE9A5-AA98-3526-94C6-46C944226938}"/>
              </a:ext>
            </a:extLst>
          </p:cNvPr>
          <p:cNvCxnSpPr>
            <a:stCxn id="8" idx="3"/>
            <a:endCxn id="12" idx="7"/>
          </p:cNvCxnSpPr>
          <p:nvPr/>
        </p:nvCxnSpPr>
        <p:spPr>
          <a:xfrm rot="5400000">
            <a:off x="4211369" y="3851658"/>
            <a:ext cx="625608" cy="625608"/>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xmlns="" id="{280FA99D-4435-08A9-FB41-4E2E219D7222}"/>
              </a:ext>
            </a:extLst>
          </p:cNvPr>
          <p:cNvCxnSpPr>
            <a:stCxn id="12" idx="5"/>
            <a:endCxn id="13" idx="1"/>
          </p:cNvCxnSpPr>
          <p:nvPr/>
        </p:nvCxnSpPr>
        <p:spPr>
          <a:xfrm rot="16200000" flipH="1">
            <a:off x="4139931" y="4851790"/>
            <a:ext cx="625608" cy="482732"/>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xmlns="" id="{FF909BA3-A539-EDC9-F59F-BD832A842BCC}"/>
              </a:ext>
            </a:extLst>
          </p:cNvPr>
          <p:cNvCxnSpPr>
            <a:stCxn id="9" idx="3"/>
          </p:cNvCxnSpPr>
          <p:nvPr/>
        </p:nvCxnSpPr>
        <p:spPr>
          <a:xfrm rot="5400000">
            <a:off x="6560157" y="3923096"/>
            <a:ext cx="562837" cy="41996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xmlns="" id="{D6C059D1-7B51-1531-ADCA-0E50B406FB69}"/>
              </a:ext>
            </a:extLst>
          </p:cNvPr>
          <p:cNvCxnSpPr>
            <a:stCxn id="9" idx="5"/>
            <a:endCxn id="11" idx="1"/>
          </p:cNvCxnSpPr>
          <p:nvPr/>
        </p:nvCxnSpPr>
        <p:spPr>
          <a:xfrm rot="16200000" flipH="1">
            <a:off x="7354641" y="3851658"/>
            <a:ext cx="625608" cy="625608"/>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0" name="TextBox 42">
            <a:extLst>
              <a:ext uri="{FF2B5EF4-FFF2-40B4-BE49-F238E27FC236}">
                <a16:creationId xmlns:a16="http://schemas.microsoft.com/office/drawing/2014/main" xmlns="" id="{B6217EC7-196B-99C7-9081-9031597FCFB8}"/>
              </a:ext>
            </a:extLst>
          </p:cNvPr>
          <p:cNvSpPr txBox="1"/>
          <p:nvPr/>
        </p:nvSpPr>
        <p:spPr>
          <a:xfrm>
            <a:off x="3559760" y="2982346"/>
            <a:ext cx="1285884" cy="646331"/>
          </a:xfrm>
          <a:prstGeom prst="rect">
            <a:avLst/>
          </a:prstGeom>
          <a:noFill/>
        </p:spPr>
        <p:txBody>
          <a:bodyPr wrap="square" rtlCol="0">
            <a:spAutoFit/>
          </a:bodyPr>
          <a:lstStyle/>
          <a:p>
            <a:r>
              <a:rPr kumimoji="1" lang="zh-CN" altLang="en-US" sz="1800">
                <a:latin typeface="Consolas" pitchFamily="49" charset="0"/>
                <a:ea typeface="楷体" pitchFamily="49" charset="-122"/>
                <a:cs typeface="Consolas" pitchFamily="49" charset="0"/>
              </a:rPr>
              <a:t>后序</a:t>
            </a:r>
            <a:r>
              <a:rPr kumimoji="1" lang="en-US" altLang="zh-CN" sz="1800">
                <a:latin typeface="Consolas" pitchFamily="49" charset="0"/>
                <a:ea typeface="楷体" pitchFamily="49" charset="-122"/>
                <a:cs typeface="Consolas" pitchFamily="49" charset="0"/>
              </a:rPr>
              <a:t>: GD</a:t>
            </a:r>
            <a:r>
              <a:rPr kumimoji="1" lang="en-US" altLang="zh-CN" sz="1800">
                <a:solidFill>
                  <a:srgbClr val="FF0000"/>
                </a:solidFill>
                <a:latin typeface="Consolas" pitchFamily="49" charset="0"/>
                <a:ea typeface="楷体" pitchFamily="49" charset="-122"/>
                <a:cs typeface="Consolas" pitchFamily="49" charset="0"/>
              </a:rPr>
              <a:t>B</a:t>
            </a:r>
          </a:p>
          <a:p>
            <a:r>
              <a:rPr kumimoji="1" lang="zh-CN" altLang="en-US" sz="1800">
                <a:latin typeface="Consolas" pitchFamily="49" charset="0"/>
                <a:ea typeface="楷体" pitchFamily="49" charset="-122"/>
                <a:cs typeface="Consolas" pitchFamily="49" charset="0"/>
              </a:rPr>
              <a:t>中序</a:t>
            </a:r>
            <a:r>
              <a:rPr kumimoji="1" lang="en-US" altLang="zh-CN" sz="1800">
                <a:latin typeface="Consolas" pitchFamily="49" charset="0"/>
                <a:ea typeface="楷体" pitchFamily="49" charset="-122"/>
                <a:cs typeface="Consolas" pitchFamily="49" charset="0"/>
              </a:rPr>
              <a:t>: DG</a:t>
            </a:r>
            <a:r>
              <a:rPr kumimoji="1" lang="en-US" altLang="zh-CN" sz="1800">
                <a:solidFill>
                  <a:srgbClr val="FF0000"/>
                </a:solidFill>
                <a:latin typeface="Consolas" pitchFamily="49" charset="0"/>
                <a:ea typeface="楷体" pitchFamily="49" charset="-122"/>
                <a:cs typeface="Consolas" pitchFamily="49" charset="0"/>
              </a:rPr>
              <a:t>B</a:t>
            </a:r>
            <a:endParaRPr lang="zh-CN" altLang="en-US" sz="1800">
              <a:solidFill>
                <a:srgbClr val="FF0000"/>
              </a:solidFill>
              <a:latin typeface="Consolas" pitchFamily="49" charset="0"/>
              <a:cs typeface="Consolas" pitchFamily="49" charset="0"/>
            </a:endParaRPr>
          </a:p>
        </p:txBody>
      </p:sp>
      <p:sp>
        <p:nvSpPr>
          <p:cNvPr id="21" name="TextBox 43">
            <a:extLst>
              <a:ext uri="{FF2B5EF4-FFF2-40B4-BE49-F238E27FC236}">
                <a16:creationId xmlns:a16="http://schemas.microsoft.com/office/drawing/2014/main" xmlns="" id="{90838893-F103-034E-912E-319CC6E0393B}"/>
              </a:ext>
            </a:extLst>
          </p:cNvPr>
          <p:cNvSpPr txBox="1"/>
          <p:nvPr/>
        </p:nvSpPr>
        <p:spPr>
          <a:xfrm>
            <a:off x="7345974" y="2982346"/>
            <a:ext cx="1428760" cy="646331"/>
          </a:xfrm>
          <a:prstGeom prst="rect">
            <a:avLst/>
          </a:prstGeom>
          <a:noFill/>
        </p:spPr>
        <p:txBody>
          <a:bodyPr wrap="square" rtlCol="0">
            <a:spAutoFit/>
          </a:bodyPr>
          <a:lstStyle/>
          <a:p>
            <a:r>
              <a:rPr kumimoji="1" lang="zh-CN" altLang="en-US" sz="1800">
                <a:latin typeface="Consolas" pitchFamily="49" charset="0"/>
                <a:ea typeface="楷体" pitchFamily="49" charset="-122"/>
                <a:cs typeface="Consolas" pitchFamily="49" charset="0"/>
              </a:rPr>
              <a:t>后序</a:t>
            </a:r>
            <a:r>
              <a:rPr kumimoji="1" lang="en-US" altLang="zh-CN" sz="1800">
                <a:latin typeface="Consolas" pitchFamily="49" charset="0"/>
                <a:ea typeface="楷体" pitchFamily="49" charset="-122"/>
                <a:cs typeface="Consolas" pitchFamily="49" charset="0"/>
              </a:rPr>
              <a:t>: EF</a:t>
            </a:r>
            <a:r>
              <a:rPr kumimoji="1" lang="en-US" altLang="zh-CN" sz="1800">
                <a:solidFill>
                  <a:srgbClr val="FF0000"/>
                </a:solidFill>
                <a:latin typeface="Consolas" pitchFamily="49" charset="0"/>
                <a:ea typeface="楷体" pitchFamily="49" charset="-122"/>
                <a:cs typeface="Consolas" pitchFamily="49" charset="0"/>
              </a:rPr>
              <a:t>C</a:t>
            </a:r>
          </a:p>
          <a:p>
            <a:r>
              <a:rPr kumimoji="1" lang="zh-CN" altLang="en-US" sz="1800">
                <a:latin typeface="Consolas" pitchFamily="49" charset="0"/>
                <a:ea typeface="楷体" pitchFamily="49" charset="-122"/>
                <a:cs typeface="Consolas" pitchFamily="49" charset="0"/>
              </a:rPr>
              <a:t>中序</a:t>
            </a:r>
            <a:r>
              <a:rPr kumimoji="1" lang="en-US" altLang="zh-CN" sz="1800">
                <a:latin typeface="Consolas" pitchFamily="49" charset="0"/>
                <a:ea typeface="楷体" pitchFamily="49" charset="-122"/>
                <a:cs typeface="Consolas" pitchFamily="49" charset="0"/>
              </a:rPr>
              <a:t>: E</a:t>
            </a:r>
            <a:r>
              <a:rPr kumimoji="1" lang="en-US" altLang="zh-CN" sz="1800">
                <a:solidFill>
                  <a:srgbClr val="FF0000"/>
                </a:solidFill>
                <a:latin typeface="Consolas" pitchFamily="49" charset="0"/>
                <a:ea typeface="楷体" pitchFamily="49" charset="-122"/>
                <a:cs typeface="Consolas" pitchFamily="49" charset="0"/>
              </a:rPr>
              <a:t>C</a:t>
            </a:r>
            <a:r>
              <a:rPr kumimoji="1" lang="en-US" altLang="zh-CN" sz="1800">
                <a:latin typeface="Consolas" pitchFamily="49" charset="0"/>
                <a:ea typeface="楷体" pitchFamily="49" charset="-122"/>
                <a:cs typeface="Consolas" pitchFamily="49" charset="0"/>
              </a:rPr>
              <a:t>F</a:t>
            </a:r>
            <a:endParaRPr lang="zh-CN" altLang="en-US" sz="1800">
              <a:solidFill>
                <a:srgbClr val="FF0000"/>
              </a:solidFill>
              <a:latin typeface="Consolas" pitchFamily="49" charset="0"/>
              <a:cs typeface="Consolas" pitchFamily="49" charset="0"/>
            </a:endParaRPr>
          </a:p>
        </p:txBody>
      </p:sp>
      <p:sp>
        <p:nvSpPr>
          <p:cNvPr id="22" name="TextBox 44">
            <a:extLst>
              <a:ext uri="{FF2B5EF4-FFF2-40B4-BE49-F238E27FC236}">
                <a16:creationId xmlns:a16="http://schemas.microsoft.com/office/drawing/2014/main" xmlns="" id="{4F08F2CB-1381-3E0F-FA2C-76FC8159C273}"/>
              </a:ext>
            </a:extLst>
          </p:cNvPr>
          <p:cNvSpPr txBox="1"/>
          <p:nvPr/>
        </p:nvSpPr>
        <p:spPr>
          <a:xfrm>
            <a:off x="2559628" y="4339668"/>
            <a:ext cx="1214446" cy="646331"/>
          </a:xfrm>
          <a:prstGeom prst="rect">
            <a:avLst/>
          </a:prstGeom>
          <a:noFill/>
        </p:spPr>
        <p:txBody>
          <a:bodyPr wrap="square" rtlCol="0">
            <a:spAutoFit/>
          </a:bodyPr>
          <a:lstStyle/>
          <a:p>
            <a:r>
              <a:rPr kumimoji="1" lang="zh-CN" altLang="en-US" sz="1800">
                <a:latin typeface="Consolas" pitchFamily="49" charset="0"/>
                <a:ea typeface="楷体" pitchFamily="49" charset="-122"/>
                <a:cs typeface="Consolas" pitchFamily="49" charset="0"/>
              </a:rPr>
              <a:t>后序</a:t>
            </a:r>
            <a:r>
              <a:rPr kumimoji="1" lang="en-US" altLang="zh-CN" sz="1800">
                <a:latin typeface="Consolas" pitchFamily="49" charset="0"/>
                <a:ea typeface="楷体" pitchFamily="49" charset="-122"/>
                <a:cs typeface="Consolas" pitchFamily="49" charset="0"/>
              </a:rPr>
              <a:t>: G</a:t>
            </a:r>
            <a:r>
              <a:rPr kumimoji="1" lang="en-US" altLang="zh-CN" sz="1800">
                <a:solidFill>
                  <a:srgbClr val="FF0000"/>
                </a:solidFill>
                <a:latin typeface="Consolas" pitchFamily="49" charset="0"/>
                <a:ea typeface="楷体" pitchFamily="49" charset="-122"/>
                <a:cs typeface="Consolas" pitchFamily="49" charset="0"/>
              </a:rPr>
              <a:t>D</a:t>
            </a:r>
          </a:p>
          <a:p>
            <a:r>
              <a:rPr kumimoji="1" lang="zh-CN" altLang="en-US" sz="1800">
                <a:latin typeface="Consolas" pitchFamily="49" charset="0"/>
                <a:ea typeface="楷体" pitchFamily="49" charset="-122"/>
                <a:cs typeface="Consolas" pitchFamily="49" charset="0"/>
              </a:rPr>
              <a:t>中序</a:t>
            </a:r>
            <a:r>
              <a:rPr kumimoji="1" lang="en-US" altLang="zh-CN" sz="1800">
                <a:latin typeface="Consolas" pitchFamily="49" charset="0"/>
                <a:ea typeface="楷体" pitchFamily="49" charset="-122"/>
                <a:cs typeface="Consolas" pitchFamily="49" charset="0"/>
              </a:rPr>
              <a:t>: </a:t>
            </a:r>
            <a:r>
              <a:rPr kumimoji="1" lang="en-US" altLang="zh-CN" sz="1800">
                <a:solidFill>
                  <a:srgbClr val="FF0000"/>
                </a:solidFill>
                <a:latin typeface="Consolas" pitchFamily="49" charset="0"/>
                <a:ea typeface="楷体" pitchFamily="49" charset="-122"/>
                <a:cs typeface="Consolas" pitchFamily="49" charset="0"/>
              </a:rPr>
              <a:t>D</a:t>
            </a:r>
            <a:r>
              <a:rPr kumimoji="1" lang="en-US" altLang="zh-CN" sz="1800">
                <a:latin typeface="Consolas" pitchFamily="49" charset="0"/>
                <a:ea typeface="楷体" pitchFamily="49" charset="-122"/>
                <a:cs typeface="Consolas" pitchFamily="49" charset="0"/>
              </a:rPr>
              <a:t>G</a:t>
            </a:r>
            <a:endParaRPr lang="zh-CN" altLang="en-US" sz="1800">
              <a:solidFill>
                <a:srgbClr val="FF0000"/>
              </a:solidFill>
              <a:latin typeface="Consolas" pitchFamily="49" charset="0"/>
              <a:cs typeface="Consolas" pitchFamily="49" charset="0"/>
            </a:endParaRPr>
          </a:p>
        </p:txBody>
      </p:sp>
      <p:sp>
        <p:nvSpPr>
          <p:cNvPr id="23" name="TextBox 45">
            <a:extLst>
              <a:ext uri="{FF2B5EF4-FFF2-40B4-BE49-F238E27FC236}">
                <a16:creationId xmlns:a16="http://schemas.microsoft.com/office/drawing/2014/main" xmlns="" id="{BCBE80C1-1238-7287-1607-2FC49D1A8350}"/>
              </a:ext>
            </a:extLst>
          </p:cNvPr>
          <p:cNvSpPr txBox="1"/>
          <p:nvPr/>
        </p:nvSpPr>
        <p:spPr>
          <a:xfrm>
            <a:off x="4917082" y="5196924"/>
            <a:ext cx="1071570" cy="646331"/>
          </a:xfrm>
          <a:prstGeom prst="rect">
            <a:avLst/>
          </a:prstGeom>
          <a:noFill/>
        </p:spPr>
        <p:txBody>
          <a:bodyPr wrap="square" rtlCol="0">
            <a:spAutoFit/>
          </a:bodyPr>
          <a:lstStyle/>
          <a:p>
            <a:r>
              <a:rPr kumimoji="1" lang="zh-CN" altLang="en-US" sz="1800">
                <a:latin typeface="Consolas" pitchFamily="49" charset="0"/>
                <a:ea typeface="楷体" pitchFamily="49" charset="-122"/>
                <a:cs typeface="Consolas" pitchFamily="49" charset="0"/>
              </a:rPr>
              <a:t>后序</a:t>
            </a:r>
            <a:r>
              <a:rPr kumimoji="1" lang="en-US" altLang="zh-CN" sz="1800">
                <a:latin typeface="Consolas" pitchFamily="49" charset="0"/>
                <a:ea typeface="楷体" pitchFamily="49" charset="-122"/>
                <a:cs typeface="Consolas" pitchFamily="49" charset="0"/>
              </a:rPr>
              <a:t>: </a:t>
            </a:r>
            <a:r>
              <a:rPr kumimoji="1" lang="en-US" altLang="zh-CN" sz="1800">
                <a:solidFill>
                  <a:srgbClr val="FF0000"/>
                </a:solidFill>
                <a:latin typeface="Consolas" pitchFamily="49" charset="0"/>
                <a:ea typeface="楷体" pitchFamily="49" charset="-122"/>
                <a:cs typeface="Consolas" pitchFamily="49" charset="0"/>
              </a:rPr>
              <a:t>G</a:t>
            </a:r>
          </a:p>
          <a:p>
            <a:r>
              <a:rPr kumimoji="1" lang="zh-CN" altLang="en-US" sz="1800">
                <a:latin typeface="Consolas" pitchFamily="49" charset="0"/>
                <a:ea typeface="楷体" pitchFamily="49" charset="-122"/>
                <a:cs typeface="Consolas" pitchFamily="49" charset="0"/>
              </a:rPr>
              <a:t>中序</a:t>
            </a:r>
            <a:r>
              <a:rPr kumimoji="1" lang="en-US" altLang="zh-CN" sz="1800">
                <a:latin typeface="Consolas" pitchFamily="49" charset="0"/>
                <a:ea typeface="楷体" pitchFamily="49" charset="-122"/>
                <a:cs typeface="Consolas" pitchFamily="49" charset="0"/>
              </a:rPr>
              <a:t>: </a:t>
            </a:r>
            <a:r>
              <a:rPr kumimoji="1" lang="en-US" altLang="zh-CN" sz="1800">
                <a:solidFill>
                  <a:srgbClr val="FF0000"/>
                </a:solidFill>
                <a:latin typeface="Consolas" pitchFamily="49" charset="0"/>
                <a:ea typeface="楷体" pitchFamily="49" charset="-122"/>
                <a:cs typeface="Consolas" pitchFamily="49" charset="0"/>
              </a:rPr>
              <a:t>G</a:t>
            </a:r>
            <a:endParaRPr lang="zh-CN" altLang="en-US" sz="1800">
              <a:solidFill>
                <a:srgbClr val="FF0000"/>
              </a:solidFill>
              <a:latin typeface="Consolas" pitchFamily="49" charset="0"/>
              <a:cs typeface="Consolas" pitchFamily="49" charset="0"/>
            </a:endParaRPr>
          </a:p>
        </p:txBody>
      </p:sp>
      <p:sp>
        <p:nvSpPr>
          <p:cNvPr id="24" name="TextBox 46">
            <a:extLst>
              <a:ext uri="{FF2B5EF4-FFF2-40B4-BE49-F238E27FC236}">
                <a16:creationId xmlns:a16="http://schemas.microsoft.com/office/drawing/2014/main" xmlns="" id="{015ACD24-17CD-2257-151F-EDDA8A78C251}"/>
              </a:ext>
            </a:extLst>
          </p:cNvPr>
          <p:cNvSpPr txBox="1"/>
          <p:nvPr/>
        </p:nvSpPr>
        <p:spPr>
          <a:xfrm>
            <a:off x="5426672" y="4339668"/>
            <a:ext cx="1062046" cy="646331"/>
          </a:xfrm>
          <a:prstGeom prst="rect">
            <a:avLst/>
          </a:prstGeom>
          <a:noFill/>
        </p:spPr>
        <p:txBody>
          <a:bodyPr wrap="square" rtlCol="0">
            <a:spAutoFit/>
          </a:bodyPr>
          <a:lstStyle/>
          <a:p>
            <a:r>
              <a:rPr kumimoji="1" lang="zh-CN" altLang="en-US" sz="1800">
                <a:latin typeface="Consolas" pitchFamily="49" charset="0"/>
                <a:ea typeface="楷体" pitchFamily="49" charset="-122"/>
                <a:cs typeface="Consolas" pitchFamily="49" charset="0"/>
              </a:rPr>
              <a:t>后序</a:t>
            </a:r>
            <a:r>
              <a:rPr kumimoji="1" lang="en-US" altLang="zh-CN" sz="1800">
                <a:latin typeface="Consolas" pitchFamily="49" charset="0"/>
                <a:ea typeface="楷体" pitchFamily="49" charset="-122"/>
                <a:cs typeface="Consolas" pitchFamily="49" charset="0"/>
              </a:rPr>
              <a:t>: </a:t>
            </a:r>
            <a:r>
              <a:rPr kumimoji="1" lang="en-US" altLang="zh-CN" sz="1800">
                <a:solidFill>
                  <a:srgbClr val="FF0000"/>
                </a:solidFill>
                <a:latin typeface="Consolas" pitchFamily="49" charset="0"/>
                <a:ea typeface="楷体" pitchFamily="49" charset="-122"/>
                <a:cs typeface="Consolas" pitchFamily="49" charset="0"/>
              </a:rPr>
              <a:t>E</a:t>
            </a:r>
          </a:p>
          <a:p>
            <a:r>
              <a:rPr kumimoji="1" lang="zh-CN" altLang="en-US" sz="1800">
                <a:latin typeface="Consolas" pitchFamily="49" charset="0"/>
                <a:ea typeface="楷体" pitchFamily="49" charset="-122"/>
                <a:cs typeface="Consolas" pitchFamily="49" charset="0"/>
              </a:rPr>
              <a:t>中序</a:t>
            </a:r>
            <a:r>
              <a:rPr kumimoji="1" lang="en-US" altLang="zh-CN" sz="1800">
                <a:latin typeface="Consolas" pitchFamily="49" charset="0"/>
                <a:ea typeface="楷体" pitchFamily="49" charset="-122"/>
                <a:cs typeface="Consolas" pitchFamily="49" charset="0"/>
              </a:rPr>
              <a:t>: </a:t>
            </a:r>
            <a:r>
              <a:rPr kumimoji="1" lang="en-US" altLang="zh-CN" sz="1800">
                <a:solidFill>
                  <a:srgbClr val="FF0000"/>
                </a:solidFill>
                <a:latin typeface="Consolas" pitchFamily="49" charset="0"/>
                <a:ea typeface="楷体" pitchFamily="49" charset="-122"/>
                <a:cs typeface="Consolas" pitchFamily="49" charset="0"/>
              </a:rPr>
              <a:t>E</a:t>
            </a:r>
            <a:endParaRPr lang="zh-CN" altLang="en-US" sz="1800">
              <a:solidFill>
                <a:srgbClr val="FF0000"/>
              </a:solidFill>
              <a:latin typeface="Consolas" pitchFamily="49" charset="0"/>
              <a:cs typeface="Consolas" pitchFamily="49" charset="0"/>
            </a:endParaRPr>
          </a:p>
        </p:txBody>
      </p:sp>
      <p:sp>
        <p:nvSpPr>
          <p:cNvPr id="25" name="TextBox 47">
            <a:extLst>
              <a:ext uri="{FF2B5EF4-FFF2-40B4-BE49-F238E27FC236}">
                <a16:creationId xmlns:a16="http://schemas.microsoft.com/office/drawing/2014/main" xmlns="" id="{D48CC44C-2FDD-878B-6A13-0423CA2BAF2D}"/>
              </a:ext>
            </a:extLst>
          </p:cNvPr>
          <p:cNvSpPr txBox="1"/>
          <p:nvPr/>
        </p:nvSpPr>
        <p:spPr>
          <a:xfrm>
            <a:off x="8284192" y="4339668"/>
            <a:ext cx="1062046" cy="646331"/>
          </a:xfrm>
          <a:prstGeom prst="rect">
            <a:avLst/>
          </a:prstGeom>
          <a:noFill/>
        </p:spPr>
        <p:txBody>
          <a:bodyPr wrap="square" rtlCol="0">
            <a:spAutoFit/>
          </a:bodyPr>
          <a:lstStyle/>
          <a:p>
            <a:r>
              <a:rPr kumimoji="1" lang="zh-CN" altLang="en-US" sz="1800">
                <a:latin typeface="Consolas" pitchFamily="49" charset="0"/>
                <a:ea typeface="楷体" pitchFamily="49" charset="-122"/>
                <a:cs typeface="Consolas" pitchFamily="49" charset="0"/>
              </a:rPr>
              <a:t>后序</a:t>
            </a:r>
            <a:r>
              <a:rPr kumimoji="1" lang="en-US" altLang="zh-CN" sz="1800">
                <a:latin typeface="Consolas" pitchFamily="49" charset="0"/>
                <a:ea typeface="楷体" pitchFamily="49" charset="-122"/>
                <a:cs typeface="Consolas" pitchFamily="49" charset="0"/>
              </a:rPr>
              <a:t>: </a:t>
            </a:r>
            <a:r>
              <a:rPr kumimoji="1" lang="en-US" altLang="zh-CN" sz="1800">
                <a:solidFill>
                  <a:srgbClr val="FF0000"/>
                </a:solidFill>
                <a:latin typeface="Consolas" pitchFamily="49" charset="0"/>
                <a:ea typeface="楷体" pitchFamily="49" charset="-122"/>
                <a:cs typeface="Consolas" pitchFamily="49" charset="0"/>
              </a:rPr>
              <a:t>F</a:t>
            </a:r>
          </a:p>
          <a:p>
            <a:r>
              <a:rPr kumimoji="1" lang="zh-CN" altLang="en-US" sz="1800">
                <a:latin typeface="Consolas" pitchFamily="49" charset="0"/>
                <a:ea typeface="楷体" pitchFamily="49" charset="-122"/>
                <a:cs typeface="Consolas" pitchFamily="49" charset="0"/>
              </a:rPr>
              <a:t>中序</a:t>
            </a:r>
            <a:r>
              <a:rPr kumimoji="1" lang="en-US" altLang="zh-CN" sz="1800">
                <a:latin typeface="Consolas" pitchFamily="49" charset="0"/>
                <a:ea typeface="楷体" pitchFamily="49" charset="-122"/>
                <a:cs typeface="Consolas" pitchFamily="49" charset="0"/>
              </a:rPr>
              <a:t>: </a:t>
            </a:r>
            <a:r>
              <a:rPr kumimoji="1" lang="en-US" altLang="zh-CN" sz="1800">
                <a:solidFill>
                  <a:srgbClr val="FF0000"/>
                </a:solidFill>
                <a:latin typeface="Consolas" pitchFamily="49" charset="0"/>
                <a:ea typeface="楷体" pitchFamily="49" charset="-122"/>
                <a:cs typeface="Consolas" pitchFamily="49" charset="0"/>
              </a:rPr>
              <a:t>F</a:t>
            </a:r>
            <a:endParaRPr lang="zh-CN" altLang="en-US" sz="1800">
              <a:solidFill>
                <a:srgbClr val="FF0000"/>
              </a:solidFill>
              <a:latin typeface="Consolas" pitchFamily="49" charset="0"/>
              <a:cs typeface="Consolas" pitchFamily="49" charset="0"/>
            </a:endParaRPr>
          </a:p>
        </p:txBody>
      </p:sp>
    </p:spTree>
    <p:extLst>
      <p:ext uri="{BB962C8B-B14F-4D97-AF65-F5344CB8AC3E}">
        <p14:creationId xmlns:p14="http://schemas.microsoft.com/office/powerpoint/2010/main" val="192073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animBg="1"/>
      <p:bldP spid="9" grpId="0" animBg="1"/>
      <p:bldP spid="10" grpId="0" animBg="1"/>
      <p:bldP spid="11" grpId="0" animBg="1"/>
      <p:bldP spid="12" grpId="0" animBg="1"/>
      <p:bldP spid="13" grpId="0" animBg="1"/>
      <p:bldP spid="20" grpId="0"/>
      <p:bldP spid="21" grpId="0"/>
      <p:bldP spid="22" grpId="0"/>
      <p:bldP spid="23" grpId="0"/>
      <p:bldP spid="24" grpId="0"/>
      <p:bldP spid="25"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50FE9FA-97E1-7C77-7B1A-B3CBAFCC9C16}"/>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xmlns="" id="{8401324C-5B54-052C-8BF0-8C013E62AE4B}"/>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2729B776-85EF-5773-8A79-4662AA92F50E}"/>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27BF49A8-7533-4B63-FF7A-CB999024D53E}"/>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7.8.1 </a:t>
            </a:r>
            <a:r>
              <a:rPr lang="zh-CN" altLang="en-US" dirty="0"/>
              <a:t>哈夫曼树的定义</a:t>
            </a:r>
          </a:p>
        </p:txBody>
      </p:sp>
      <p:sp>
        <p:nvSpPr>
          <p:cNvPr id="5" name="Text Box 3">
            <a:extLst>
              <a:ext uri="{FF2B5EF4-FFF2-40B4-BE49-F238E27FC236}">
                <a16:creationId xmlns:a16="http://schemas.microsoft.com/office/drawing/2014/main" xmlns="" id="{CDE97D54-8321-0562-5EA7-FEDA390FFF0E}"/>
              </a:ext>
            </a:extLst>
          </p:cNvPr>
          <p:cNvSpPr txBox="1">
            <a:spLocks noChangeArrowheads="1"/>
          </p:cNvSpPr>
          <p:nvPr/>
        </p:nvSpPr>
        <p:spPr bwMode="auto">
          <a:xfrm>
            <a:off x="1415480" y="1916832"/>
            <a:ext cx="10081120" cy="1135054"/>
          </a:xfrm>
          <a:prstGeom prst="rect">
            <a:avLst/>
          </a:prstGeom>
          <a:noFill/>
          <a:ln w="9525">
            <a:noFill/>
            <a:miter lim="800000"/>
            <a:headEnd/>
            <a:tailEnd/>
          </a:ln>
          <a:effectLst/>
        </p:spPr>
        <p:txBody>
          <a:bodyPr wrap="square">
            <a:spAutoFit/>
          </a:bodyPr>
          <a:lstStyle/>
          <a:p>
            <a:pPr algn="just">
              <a:lnSpc>
                <a:spcPct val="150000"/>
              </a:lnSpc>
              <a:spcBef>
                <a:spcPct val="50000"/>
              </a:spcBef>
            </a:pPr>
            <a:r>
              <a:rPr kumimoji="1" lang="zh-CN" altLang="en-US" sz="2000" dirty="0">
                <a:latin typeface="Consolas" pitchFamily="49" charset="0"/>
                <a:ea typeface="楷体" pitchFamily="49" charset="-122"/>
                <a:cs typeface="Consolas" pitchFamily="49" charset="0"/>
              </a:rPr>
              <a:t>　　</a:t>
            </a:r>
            <a:r>
              <a:rPr kumimoji="1" lang="zh-CN" altLang="en-US" sz="2400" dirty="0">
                <a:latin typeface="微软雅黑" pitchFamily="34" charset="-122"/>
                <a:ea typeface="微软雅黑" pitchFamily="34" charset="-122"/>
                <a:cs typeface="经典粗黑简" pitchFamily="49" charset="-122"/>
              </a:rPr>
              <a:t>设二叉树具有</a:t>
            </a:r>
            <a:r>
              <a:rPr kumimoji="1" lang="en-US" altLang="zh-CN" sz="2400" dirty="0">
                <a:latin typeface="微软雅黑" pitchFamily="34" charset="-122"/>
                <a:ea typeface="微软雅黑" pitchFamily="34" charset="-122"/>
                <a:cs typeface="经典粗黑简" pitchFamily="49" charset="-122"/>
              </a:rPr>
              <a:t>n</a:t>
            </a:r>
            <a:r>
              <a:rPr kumimoji="1" lang="en-US" altLang="zh-CN" sz="2400" baseline="-25000" dirty="0">
                <a:latin typeface="微软雅黑" pitchFamily="34" charset="-122"/>
                <a:ea typeface="微软雅黑" pitchFamily="34" charset="-122"/>
                <a:cs typeface="经典粗黑简" pitchFamily="49" charset="-122"/>
              </a:rPr>
              <a:t>0</a:t>
            </a:r>
            <a:r>
              <a:rPr kumimoji="1" lang="zh-CN" altLang="en-US" sz="2400" dirty="0">
                <a:latin typeface="微软雅黑" pitchFamily="34" charset="-122"/>
                <a:ea typeface="微软雅黑" pitchFamily="34" charset="-122"/>
                <a:cs typeface="经典粗黑简" pitchFamily="49" charset="-122"/>
              </a:rPr>
              <a:t>个带权值的叶结点，那么从根结点到各个叶结点的路径长度与相应结点权值的乘积的和，叫做二叉树的</a:t>
            </a:r>
            <a:r>
              <a:rPr kumimoji="1" lang="zh-CN" altLang="en-US" sz="2400" dirty="0">
                <a:solidFill>
                  <a:srgbClr val="FF0000"/>
                </a:solidFill>
                <a:latin typeface="微软雅黑" pitchFamily="34" charset="-122"/>
                <a:ea typeface="微软雅黑" pitchFamily="34" charset="-122"/>
                <a:cs typeface="经典粗黑简" pitchFamily="49" charset="-122"/>
              </a:rPr>
              <a:t>带权路径长度</a:t>
            </a:r>
            <a:r>
              <a:rPr kumimoji="1" lang="en-US" altLang="zh-CN" sz="2400" dirty="0">
                <a:solidFill>
                  <a:srgbClr val="FF0000"/>
                </a:solidFill>
                <a:latin typeface="微软雅黑" pitchFamily="34" charset="-122"/>
                <a:ea typeface="微软雅黑" pitchFamily="34" charset="-122"/>
                <a:cs typeface="经典粗黑简" pitchFamily="49" charset="-122"/>
              </a:rPr>
              <a:t>WPL</a:t>
            </a:r>
            <a:r>
              <a:rPr kumimoji="1" lang="zh-CN" altLang="en-US" sz="2400" dirty="0">
                <a:latin typeface="微软雅黑" pitchFamily="34" charset="-122"/>
                <a:ea typeface="微软雅黑" pitchFamily="34" charset="-122"/>
                <a:cs typeface="经典粗黑简" pitchFamily="49" charset="-122"/>
              </a:rPr>
              <a:t>。       </a:t>
            </a:r>
          </a:p>
        </p:txBody>
      </p:sp>
      <p:pic>
        <p:nvPicPr>
          <p:cNvPr id="6" name="Picture 6">
            <a:extLst>
              <a:ext uri="{FF2B5EF4-FFF2-40B4-BE49-F238E27FC236}">
                <a16:creationId xmlns:a16="http://schemas.microsoft.com/office/drawing/2014/main" xmlns="" id="{734CD21D-2F64-E892-585C-8FFA685B7FDB}"/>
              </a:ext>
            </a:extLst>
          </p:cNvPr>
          <p:cNvPicPr>
            <a:picLocks noChangeAspect="1" noChangeArrowheads="1"/>
          </p:cNvPicPr>
          <p:nvPr/>
        </p:nvPicPr>
        <p:blipFill>
          <a:blip r:embed="rId2" cstate="print"/>
          <a:srcRect/>
          <a:stretch>
            <a:fillRect/>
          </a:stretch>
        </p:blipFill>
        <p:spPr bwMode="auto">
          <a:xfrm>
            <a:off x="4007768" y="3284984"/>
            <a:ext cx="2952328" cy="1761332"/>
          </a:xfrm>
          <a:prstGeom prst="rect">
            <a:avLst/>
          </a:prstGeom>
          <a:noFill/>
          <a:ln w="9525">
            <a:noFill/>
            <a:miter lim="800000"/>
            <a:headEnd/>
            <a:tailEnd/>
          </a:ln>
        </p:spPr>
      </p:pic>
    </p:spTree>
    <p:extLst>
      <p:ext uri="{BB962C8B-B14F-4D97-AF65-F5344CB8AC3E}">
        <p14:creationId xmlns:p14="http://schemas.microsoft.com/office/powerpoint/2010/main" val="40586389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3"/>
          <p:cNvSpPr txBox="1">
            <a:spLocks noChangeArrowheads="1"/>
          </p:cNvSpPr>
          <p:nvPr/>
        </p:nvSpPr>
        <p:spPr>
          <a:xfrm>
            <a:off x="2135560" y="2492898"/>
            <a:ext cx="8280920" cy="331236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zh-CN" altLang="en-US" sz="2400" dirty="0">
                <a:latin typeface="黑体" pitchFamily="2" charset="-122"/>
                <a:ea typeface="黑体" pitchFamily="2" charset="-122"/>
              </a:rPr>
              <a:t>    编写程序将百分制表示的成绩</a:t>
            </a:r>
            <a:r>
              <a:rPr kumimoji="1" lang="en-US" altLang="zh-CN" sz="2400" b="1" dirty="0">
                <a:latin typeface="Times New Roman" pitchFamily="18" charset="0"/>
                <a:ea typeface="宋体" pitchFamily="2" charset="-122"/>
              </a:rPr>
              <a:t>score</a:t>
            </a:r>
            <a:r>
              <a:rPr kumimoji="1" lang="zh-CN" altLang="en-US" sz="2400" dirty="0">
                <a:latin typeface="黑体" pitchFamily="2" charset="-122"/>
                <a:ea typeface="黑体" pitchFamily="2" charset="-122"/>
              </a:rPr>
              <a:t>转换为等级分</a:t>
            </a:r>
            <a:r>
              <a:rPr kumimoji="1" lang="en-US" altLang="zh-CN" sz="2400" b="1" dirty="0">
                <a:latin typeface="Times New Roman" pitchFamily="18" charset="0"/>
                <a:ea typeface="宋体" pitchFamily="2" charset="-122"/>
              </a:rPr>
              <a:t>grade</a:t>
            </a:r>
            <a:r>
              <a:rPr kumimoji="1" lang="zh-CN" altLang="en-US" sz="2400" dirty="0">
                <a:latin typeface="黑体" pitchFamily="2" charset="-122"/>
                <a:ea typeface="黑体" pitchFamily="2" charset="-122"/>
              </a:rPr>
              <a:t>，规则为：</a:t>
            </a:r>
          </a:p>
          <a:p>
            <a:pPr lvl="1">
              <a:buClr>
                <a:schemeClr val="folHlink"/>
              </a:buClr>
              <a:buFont typeface="Wingdings" pitchFamily="2" charset="2"/>
              <a:buChar char="Ø"/>
            </a:pPr>
            <a:r>
              <a:rPr kumimoji="1" lang="en-US" altLang="zh-CN" sz="2400" b="1" dirty="0">
                <a:latin typeface="Times New Roman" pitchFamily="18" charset="0"/>
                <a:ea typeface="宋体" pitchFamily="2" charset="-122"/>
              </a:rPr>
              <a:t>grade =‘A’:    90 ≤ score ≤ 100</a:t>
            </a:r>
          </a:p>
          <a:p>
            <a:pPr lvl="1">
              <a:buClr>
                <a:schemeClr val="folHlink"/>
              </a:buClr>
              <a:buFont typeface="Wingdings" pitchFamily="2" charset="2"/>
              <a:buChar char="Ø"/>
            </a:pPr>
            <a:r>
              <a:rPr kumimoji="1" lang="en-US" altLang="zh-CN" sz="2400" b="1" dirty="0">
                <a:latin typeface="Times New Roman" pitchFamily="18" charset="0"/>
                <a:ea typeface="宋体" pitchFamily="2" charset="-122"/>
              </a:rPr>
              <a:t>grade =‘B’:    80 ≤ score </a:t>
            </a:r>
            <a:r>
              <a:rPr kumimoji="1" lang="zh-CN" altLang="en-US" sz="2400" b="1" dirty="0">
                <a:latin typeface="Times New Roman" pitchFamily="18" charset="0"/>
                <a:ea typeface="宋体" pitchFamily="2" charset="-122"/>
              </a:rPr>
              <a:t>＜ </a:t>
            </a:r>
            <a:r>
              <a:rPr kumimoji="1" lang="en-US" altLang="zh-CN" sz="2400" b="1" dirty="0">
                <a:latin typeface="Times New Roman" pitchFamily="18" charset="0"/>
                <a:ea typeface="宋体" pitchFamily="2" charset="-122"/>
              </a:rPr>
              <a:t>90</a:t>
            </a:r>
          </a:p>
          <a:p>
            <a:pPr lvl="1">
              <a:buClr>
                <a:schemeClr val="folHlink"/>
              </a:buClr>
              <a:buFont typeface="Wingdings" pitchFamily="2" charset="2"/>
              <a:buChar char="Ø"/>
            </a:pPr>
            <a:r>
              <a:rPr kumimoji="1" lang="en-US" altLang="zh-CN" sz="2400" b="1" dirty="0">
                <a:latin typeface="Times New Roman" pitchFamily="18" charset="0"/>
                <a:ea typeface="宋体" pitchFamily="2" charset="-122"/>
              </a:rPr>
              <a:t>grade =‘C’:    70 ≤ score </a:t>
            </a:r>
            <a:r>
              <a:rPr kumimoji="1" lang="zh-CN" altLang="en-US" sz="2400" b="1" dirty="0">
                <a:latin typeface="Times New Roman" pitchFamily="18" charset="0"/>
                <a:ea typeface="宋体" pitchFamily="2" charset="-122"/>
              </a:rPr>
              <a:t>＜ </a:t>
            </a:r>
            <a:r>
              <a:rPr kumimoji="1" lang="en-US" altLang="zh-CN" sz="2400" b="1" dirty="0">
                <a:latin typeface="Times New Roman" pitchFamily="18" charset="0"/>
                <a:ea typeface="宋体" pitchFamily="2" charset="-122"/>
              </a:rPr>
              <a:t>80</a:t>
            </a:r>
          </a:p>
          <a:p>
            <a:pPr lvl="1">
              <a:buClr>
                <a:schemeClr val="folHlink"/>
              </a:buClr>
              <a:buFont typeface="Wingdings" pitchFamily="2" charset="2"/>
              <a:buChar char="Ø"/>
            </a:pPr>
            <a:r>
              <a:rPr kumimoji="1" lang="en-US" altLang="zh-CN" sz="2400" b="1" dirty="0">
                <a:latin typeface="Times New Roman" pitchFamily="18" charset="0"/>
                <a:ea typeface="宋体" pitchFamily="2" charset="-122"/>
              </a:rPr>
              <a:t>grade =‘D’:    60 ≤ score </a:t>
            </a:r>
            <a:r>
              <a:rPr kumimoji="1" lang="zh-CN" altLang="en-US" sz="2400" b="1" dirty="0">
                <a:latin typeface="Times New Roman" pitchFamily="18" charset="0"/>
                <a:ea typeface="宋体" pitchFamily="2" charset="-122"/>
              </a:rPr>
              <a:t>＜ </a:t>
            </a:r>
            <a:r>
              <a:rPr kumimoji="1" lang="en-US" altLang="zh-CN" sz="2400" b="1" dirty="0">
                <a:latin typeface="Times New Roman" pitchFamily="18" charset="0"/>
                <a:ea typeface="宋体" pitchFamily="2" charset="-122"/>
              </a:rPr>
              <a:t>70</a:t>
            </a:r>
          </a:p>
          <a:p>
            <a:pPr lvl="1">
              <a:buClr>
                <a:schemeClr val="folHlink"/>
              </a:buClr>
              <a:buFont typeface="Wingdings" pitchFamily="2" charset="2"/>
              <a:buChar char="Ø"/>
            </a:pPr>
            <a:r>
              <a:rPr kumimoji="1" lang="en-US" altLang="zh-CN" sz="2400" b="1" dirty="0">
                <a:latin typeface="Times New Roman" pitchFamily="18" charset="0"/>
                <a:ea typeface="宋体" pitchFamily="2" charset="-122"/>
              </a:rPr>
              <a:t>grade =‘F’:    score </a:t>
            </a:r>
            <a:r>
              <a:rPr kumimoji="1" lang="zh-CN" altLang="en-US" sz="2400" b="1" dirty="0">
                <a:latin typeface="Times New Roman" pitchFamily="18" charset="0"/>
                <a:ea typeface="宋体" pitchFamily="2" charset="-122"/>
              </a:rPr>
              <a:t>＜ </a:t>
            </a:r>
            <a:r>
              <a:rPr kumimoji="1" lang="en-US" altLang="zh-CN" sz="2400" b="1" dirty="0">
                <a:latin typeface="Times New Roman" pitchFamily="18" charset="0"/>
                <a:ea typeface="宋体" pitchFamily="2" charset="-122"/>
              </a:rPr>
              <a:t>60</a:t>
            </a:r>
          </a:p>
          <a:p>
            <a:pPr lvl="1">
              <a:buClr>
                <a:schemeClr val="folHlink"/>
              </a:buClr>
              <a:buFont typeface="Wingdings" pitchFamily="2" charset="2"/>
              <a:buChar char="Ø"/>
            </a:pPr>
            <a:endParaRPr kumimoji="1" lang="en-US" altLang="zh-CN" sz="2400" dirty="0">
              <a:latin typeface="黑体" pitchFamily="2" charset="-122"/>
              <a:ea typeface="黑体" pitchFamily="2" charset="-122"/>
            </a:endParaRPr>
          </a:p>
        </p:txBody>
      </p:sp>
      <p:sp>
        <p:nvSpPr>
          <p:cNvPr id="2" name="矩形 1"/>
          <p:cNvSpPr/>
          <p:nvPr/>
        </p:nvSpPr>
        <p:spPr>
          <a:xfrm>
            <a:off x="2668619" y="1923665"/>
            <a:ext cx="2185214" cy="461665"/>
          </a:xfrm>
          <a:prstGeom prst="rect">
            <a:avLst/>
          </a:prstGeom>
        </p:spPr>
        <p:txBody>
          <a:bodyPr wrap="none">
            <a:spAutoFit/>
          </a:bodyPr>
          <a:lstStyle/>
          <a:p>
            <a:r>
              <a:rPr kumimoji="1" lang="en-US" altLang="zh-CN" sz="2400" dirty="0">
                <a:latin typeface="黑体" pitchFamily="2" charset="-122"/>
                <a:ea typeface="黑体" pitchFamily="2" charset="-122"/>
              </a:rPr>
              <a:t>1</a:t>
            </a:r>
            <a:r>
              <a:rPr kumimoji="1" lang="zh-CN" altLang="en-US" sz="2400" dirty="0">
                <a:latin typeface="黑体" pitchFamily="2" charset="-122"/>
                <a:ea typeface="黑体" pitchFamily="2" charset="-122"/>
              </a:rPr>
              <a:t>、最优二叉树</a:t>
            </a:r>
          </a:p>
        </p:txBody>
      </p:sp>
      <p:cxnSp>
        <p:nvCxnSpPr>
          <p:cNvPr id="3" name="直接连接符 2">
            <a:extLst>
              <a:ext uri="{FF2B5EF4-FFF2-40B4-BE49-F238E27FC236}">
                <a16:creationId xmlns:a16="http://schemas.microsoft.com/office/drawing/2014/main" xmlns="" id="{7F007E5C-8C8B-EB9C-BAD0-AC46A19EBFA5}"/>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xmlns="" id="{4C16851E-A334-B29F-0B0E-B001526833C5}"/>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6" name="Rectangle 2">
            <a:extLst>
              <a:ext uri="{FF2B5EF4-FFF2-40B4-BE49-F238E27FC236}">
                <a16:creationId xmlns:a16="http://schemas.microsoft.com/office/drawing/2014/main" xmlns="" id="{65286F0B-AC8E-AFA5-4D7F-EED339C7D97D}"/>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7.8.1 </a:t>
            </a:r>
            <a:r>
              <a:rPr lang="zh-CN" altLang="en-US" dirty="0"/>
              <a:t>哈夫曼树的定义</a:t>
            </a:r>
          </a:p>
        </p:txBody>
      </p:sp>
    </p:spTree>
    <p:extLst>
      <p:ext uri="{BB962C8B-B14F-4D97-AF65-F5344CB8AC3E}">
        <p14:creationId xmlns:p14="http://schemas.microsoft.com/office/powerpoint/2010/main" val="173574100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5"/>
          <p:cNvSpPr>
            <a:spLocks noChangeShapeType="1"/>
          </p:cNvSpPr>
          <p:nvPr/>
        </p:nvSpPr>
        <p:spPr bwMode="auto">
          <a:xfrm>
            <a:off x="2505600" y="2281238"/>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AutoShape 6"/>
          <p:cNvSpPr>
            <a:spLocks noChangeArrowheads="1"/>
          </p:cNvSpPr>
          <p:nvPr/>
        </p:nvSpPr>
        <p:spPr bwMode="auto">
          <a:xfrm>
            <a:off x="1589856" y="2636912"/>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2000" dirty="0">
                <a:latin typeface="Times New Roman" pitchFamily="18" charset="0"/>
              </a:rPr>
              <a:t>Score&lt;60?</a:t>
            </a:r>
            <a:r>
              <a:rPr lang="en-US" altLang="zh-CN" sz="2400" dirty="0"/>
              <a:t> </a:t>
            </a:r>
          </a:p>
        </p:txBody>
      </p:sp>
      <p:sp>
        <p:nvSpPr>
          <p:cNvPr id="8" name="Line 7"/>
          <p:cNvSpPr>
            <a:spLocks noChangeShapeType="1"/>
          </p:cNvSpPr>
          <p:nvPr/>
        </p:nvSpPr>
        <p:spPr bwMode="auto">
          <a:xfrm>
            <a:off x="2504256" y="3398912"/>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Rectangle 8"/>
          <p:cNvSpPr>
            <a:spLocks noChangeArrowheads="1"/>
          </p:cNvSpPr>
          <p:nvPr/>
        </p:nvSpPr>
        <p:spPr bwMode="auto">
          <a:xfrm>
            <a:off x="1818456" y="3703712"/>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grade=‘F’</a:t>
            </a:r>
          </a:p>
        </p:txBody>
      </p:sp>
      <p:sp>
        <p:nvSpPr>
          <p:cNvPr id="11" name="Line 9"/>
          <p:cNvSpPr>
            <a:spLocks noChangeShapeType="1"/>
          </p:cNvSpPr>
          <p:nvPr/>
        </p:nvSpPr>
        <p:spPr bwMode="auto">
          <a:xfrm>
            <a:off x="3418656" y="3017912"/>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10"/>
          <p:cNvSpPr>
            <a:spLocks noChangeShapeType="1"/>
          </p:cNvSpPr>
          <p:nvPr/>
        </p:nvSpPr>
        <p:spPr bwMode="auto">
          <a:xfrm>
            <a:off x="4256856" y="3017912"/>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AutoShape 11"/>
          <p:cNvSpPr>
            <a:spLocks noChangeArrowheads="1"/>
          </p:cNvSpPr>
          <p:nvPr/>
        </p:nvSpPr>
        <p:spPr bwMode="auto">
          <a:xfrm>
            <a:off x="3342456" y="3475112"/>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2000">
                <a:latin typeface="Times New Roman" pitchFamily="18" charset="0"/>
              </a:rPr>
              <a:t>Score&lt;70?</a:t>
            </a:r>
            <a:r>
              <a:rPr lang="en-US" altLang="zh-CN" sz="2400"/>
              <a:t> </a:t>
            </a:r>
          </a:p>
        </p:txBody>
      </p:sp>
      <p:sp>
        <p:nvSpPr>
          <p:cNvPr id="14" name="Line 12"/>
          <p:cNvSpPr>
            <a:spLocks noChangeShapeType="1"/>
          </p:cNvSpPr>
          <p:nvPr/>
        </p:nvSpPr>
        <p:spPr bwMode="auto">
          <a:xfrm>
            <a:off x="4256856" y="4237112"/>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Rectangle 13"/>
          <p:cNvSpPr>
            <a:spLocks noChangeArrowheads="1"/>
          </p:cNvSpPr>
          <p:nvPr/>
        </p:nvSpPr>
        <p:spPr bwMode="auto">
          <a:xfrm>
            <a:off x="3571056" y="4541912"/>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grade=‘D’</a:t>
            </a:r>
          </a:p>
        </p:txBody>
      </p:sp>
      <p:sp>
        <p:nvSpPr>
          <p:cNvPr id="16" name="Rectangle 14"/>
          <p:cNvSpPr>
            <a:spLocks noChangeArrowheads="1"/>
          </p:cNvSpPr>
          <p:nvPr/>
        </p:nvSpPr>
        <p:spPr bwMode="auto">
          <a:xfrm>
            <a:off x="2742381" y="3408437"/>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Y</a:t>
            </a:r>
          </a:p>
        </p:txBody>
      </p:sp>
      <p:sp>
        <p:nvSpPr>
          <p:cNvPr id="17" name="Rectangle 15"/>
          <p:cNvSpPr>
            <a:spLocks noChangeArrowheads="1"/>
          </p:cNvSpPr>
          <p:nvPr/>
        </p:nvSpPr>
        <p:spPr bwMode="auto">
          <a:xfrm>
            <a:off x="3342456" y="2713112"/>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N</a:t>
            </a:r>
          </a:p>
        </p:txBody>
      </p:sp>
      <p:sp>
        <p:nvSpPr>
          <p:cNvPr id="18" name="Rectangle 16"/>
          <p:cNvSpPr>
            <a:spLocks noChangeArrowheads="1"/>
          </p:cNvSpPr>
          <p:nvPr/>
        </p:nvSpPr>
        <p:spPr bwMode="auto">
          <a:xfrm>
            <a:off x="4469581" y="4272037"/>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Y</a:t>
            </a:r>
          </a:p>
        </p:txBody>
      </p:sp>
      <p:sp>
        <p:nvSpPr>
          <p:cNvPr id="19" name="Line 17"/>
          <p:cNvSpPr>
            <a:spLocks noChangeShapeType="1"/>
          </p:cNvSpPr>
          <p:nvPr/>
        </p:nvSpPr>
        <p:spPr bwMode="auto">
          <a:xfrm>
            <a:off x="5171256" y="3856112"/>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8"/>
          <p:cNvSpPr>
            <a:spLocks noChangeShapeType="1"/>
          </p:cNvSpPr>
          <p:nvPr/>
        </p:nvSpPr>
        <p:spPr bwMode="auto">
          <a:xfrm>
            <a:off x="6009456" y="3856112"/>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AutoShape 19"/>
          <p:cNvSpPr>
            <a:spLocks noChangeArrowheads="1"/>
          </p:cNvSpPr>
          <p:nvPr/>
        </p:nvSpPr>
        <p:spPr bwMode="auto">
          <a:xfrm>
            <a:off x="5095056" y="4313312"/>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2000">
                <a:latin typeface="Times New Roman" pitchFamily="18" charset="0"/>
              </a:rPr>
              <a:t>Score&lt;80?</a:t>
            </a:r>
            <a:r>
              <a:rPr lang="en-US" altLang="zh-CN" sz="2400"/>
              <a:t> </a:t>
            </a:r>
          </a:p>
        </p:txBody>
      </p:sp>
      <p:sp>
        <p:nvSpPr>
          <p:cNvPr id="22" name="Line 20"/>
          <p:cNvSpPr>
            <a:spLocks noChangeShapeType="1"/>
          </p:cNvSpPr>
          <p:nvPr/>
        </p:nvSpPr>
        <p:spPr bwMode="auto">
          <a:xfrm>
            <a:off x="6009456" y="5075312"/>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Rectangle 21"/>
          <p:cNvSpPr>
            <a:spLocks noChangeArrowheads="1"/>
          </p:cNvSpPr>
          <p:nvPr/>
        </p:nvSpPr>
        <p:spPr bwMode="auto">
          <a:xfrm>
            <a:off x="5323656" y="5380112"/>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grade=‘C’</a:t>
            </a:r>
          </a:p>
        </p:txBody>
      </p:sp>
      <p:sp>
        <p:nvSpPr>
          <p:cNvPr id="24" name="Rectangle 22"/>
          <p:cNvSpPr>
            <a:spLocks noChangeArrowheads="1"/>
          </p:cNvSpPr>
          <p:nvPr/>
        </p:nvSpPr>
        <p:spPr bwMode="auto">
          <a:xfrm>
            <a:off x="5095056" y="3551312"/>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N</a:t>
            </a:r>
          </a:p>
        </p:txBody>
      </p:sp>
      <p:sp>
        <p:nvSpPr>
          <p:cNvPr id="25" name="Rectangle 23"/>
          <p:cNvSpPr>
            <a:spLocks noChangeArrowheads="1"/>
          </p:cNvSpPr>
          <p:nvPr/>
        </p:nvSpPr>
        <p:spPr bwMode="auto">
          <a:xfrm>
            <a:off x="6198369" y="5064199"/>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Y</a:t>
            </a:r>
          </a:p>
        </p:txBody>
      </p:sp>
      <p:sp>
        <p:nvSpPr>
          <p:cNvPr id="26" name="Line 24"/>
          <p:cNvSpPr>
            <a:spLocks noChangeShapeType="1"/>
          </p:cNvSpPr>
          <p:nvPr/>
        </p:nvSpPr>
        <p:spPr bwMode="auto">
          <a:xfrm>
            <a:off x="6923856" y="4694312"/>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5"/>
          <p:cNvSpPr>
            <a:spLocks noChangeShapeType="1"/>
          </p:cNvSpPr>
          <p:nvPr/>
        </p:nvSpPr>
        <p:spPr bwMode="auto">
          <a:xfrm>
            <a:off x="7762056" y="4694312"/>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AutoShape 26"/>
          <p:cNvSpPr>
            <a:spLocks noChangeArrowheads="1"/>
          </p:cNvSpPr>
          <p:nvPr/>
        </p:nvSpPr>
        <p:spPr bwMode="auto">
          <a:xfrm>
            <a:off x="6847656" y="5151512"/>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2000">
                <a:latin typeface="Times New Roman" pitchFamily="18" charset="0"/>
              </a:rPr>
              <a:t>Score&lt;90?</a:t>
            </a:r>
            <a:r>
              <a:rPr lang="en-US" altLang="zh-CN" sz="2400"/>
              <a:t> </a:t>
            </a:r>
          </a:p>
        </p:txBody>
      </p:sp>
      <p:sp>
        <p:nvSpPr>
          <p:cNvPr id="29" name="Line 27"/>
          <p:cNvSpPr>
            <a:spLocks noChangeShapeType="1"/>
          </p:cNvSpPr>
          <p:nvPr/>
        </p:nvSpPr>
        <p:spPr bwMode="auto">
          <a:xfrm>
            <a:off x="7762056" y="5913512"/>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Rectangle 28"/>
          <p:cNvSpPr>
            <a:spLocks noChangeArrowheads="1"/>
          </p:cNvSpPr>
          <p:nvPr/>
        </p:nvSpPr>
        <p:spPr bwMode="auto">
          <a:xfrm>
            <a:off x="7076256" y="6218312"/>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grade=‘B’</a:t>
            </a:r>
          </a:p>
        </p:txBody>
      </p:sp>
      <p:sp>
        <p:nvSpPr>
          <p:cNvPr id="31" name="Rectangle 29"/>
          <p:cNvSpPr>
            <a:spLocks noChangeArrowheads="1"/>
          </p:cNvSpPr>
          <p:nvPr/>
        </p:nvSpPr>
        <p:spPr bwMode="auto">
          <a:xfrm>
            <a:off x="6847656" y="4389512"/>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N</a:t>
            </a:r>
          </a:p>
        </p:txBody>
      </p:sp>
      <p:sp>
        <p:nvSpPr>
          <p:cNvPr id="32" name="Rectangle 30"/>
          <p:cNvSpPr>
            <a:spLocks noChangeArrowheads="1"/>
          </p:cNvSpPr>
          <p:nvPr/>
        </p:nvSpPr>
        <p:spPr bwMode="auto">
          <a:xfrm>
            <a:off x="7998594" y="5929387"/>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Y</a:t>
            </a:r>
          </a:p>
        </p:txBody>
      </p:sp>
      <p:sp>
        <p:nvSpPr>
          <p:cNvPr id="34" name="Line 31"/>
          <p:cNvSpPr>
            <a:spLocks noChangeShapeType="1"/>
          </p:cNvSpPr>
          <p:nvPr/>
        </p:nvSpPr>
        <p:spPr bwMode="auto">
          <a:xfrm>
            <a:off x="8676456" y="5532512"/>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32"/>
          <p:cNvSpPr>
            <a:spLocks noChangeShapeType="1"/>
          </p:cNvSpPr>
          <p:nvPr/>
        </p:nvSpPr>
        <p:spPr bwMode="auto">
          <a:xfrm>
            <a:off x="9514656" y="5532512"/>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Rectangle 33"/>
          <p:cNvSpPr>
            <a:spLocks noChangeArrowheads="1"/>
          </p:cNvSpPr>
          <p:nvPr/>
        </p:nvSpPr>
        <p:spPr bwMode="auto">
          <a:xfrm>
            <a:off x="8600256" y="5227712"/>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N</a:t>
            </a:r>
          </a:p>
        </p:txBody>
      </p:sp>
      <p:sp>
        <p:nvSpPr>
          <p:cNvPr id="37" name="Rectangle 34"/>
          <p:cNvSpPr>
            <a:spLocks noChangeArrowheads="1"/>
          </p:cNvSpPr>
          <p:nvPr/>
        </p:nvSpPr>
        <p:spPr bwMode="auto">
          <a:xfrm>
            <a:off x="8828856" y="6218312"/>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grade=‘A’</a:t>
            </a:r>
          </a:p>
        </p:txBody>
      </p:sp>
      <p:sp>
        <p:nvSpPr>
          <p:cNvPr id="38" name="Text Box 35"/>
          <p:cNvSpPr txBox="1">
            <a:spLocks noChangeArrowheads="1"/>
          </p:cNvSpPr>
          <p:nvPr/>
        </p:nvSpPr>
        <p:spPr bwMode="auto">
          <a:xfrm>
            <a:off x="5095056" y="3017912"/>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zh-CN" altLang="en-US" sz="2400" dirty="0">
                <a:latin typeface="黑体" pitchFamily="2" charset="-122"/>
                <a:ea typeface="黑体" pitchFamily="2" charset="-122"/>
              </a:rPr>
              <a:t>转换</a:t>
            </a:r>
            <a:r>
              <a:rPr lang="en-US" altLang="zh-CN" sz="2400" dirty="0">
                <a:latin typeface="黑体" pitchFamily="2" charset="-122"/>
                <a:ea typeface="黑体" pitchFamily="2" charset="-122"/>
              </a:rPr>
              <a:t>n</a:t>
            </a:r>
            <a:r>
              <a:rPr lang="zh-CN" altLang="en-US" sz="2400" dirty="0">
                <a:latin typeface="黑体" pitchFamily="2" charset="-122"/>
                <a:ea typeface="黑体" pitchFamily="2" charset="-122"/>
              </a:rPr>
              <a:t>个成绩的平均比较次数：</a:t>
            </a:r>
            <a:r>
              <a:rPr lang="en-US" altLang="zh-CN" sz="2400" b="1" dirty="0">
                <a:latin typeface="Times New Roman" pitchFamily="18" charset="0"/>
                <a:ea typeface="宋体" pitchFamily="2" charset="-122"/>
              </a:rPr>
              <a:t>3.15*n</a:t>
            </a:r>
          </a:p>
        </p:txBody>
      </p:sp>
      <p:grpSp>
        <p:nvGrpSpPr>
          <p:cNvPr id="39" name="Group 36"/>
          <p:cNvGrpSpPr>
            <a:grpSpLocks/>
          </p:cNvGrpSpPr>
          <p:nvPr/>
        </p:nvGrpSpPr>
        <p:grpSpPr bwMode="auto">
          <a:xfrm>
            <a:off x="4866456" y="2082354"/>
            <a:ext cx="5715000" cy="914400"/>
            <a:chOff x="1824" y="528"/>
            <a:chExt cx="3600" cy="576"/>
          </a:xfrm>
        </p:grpSpPr>
        <p:sp>
          <p:nvSpPr>
            <p:cNvPr id="40" name="Rectangle 37"/>
            <p:cNvSpPr>
              <a:spLocks noChangeArrowheads="1"/>
            </p:cNvSpPr>
            <p:nvPr/>
          </p:nvSpPr>
          <p:spPr bwMode="auto">
            <a:xfrm>
              <a:off x="2400"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0 - 59</a:t>
              </a:r>
            </a:p>
          </p:txBody>
        </p:sp>
        <p:sp>
          <p:nvSpPr>
            <p:cNvPr id="41" name="Rectangle 38"/>
            <p:cNvSpPr>
              <a:spLocks noChangeArrowheads="1"/>
            </p:cNvSpPr>
            <p:nvPr/>
          </p:nvSpPr>
          <p:spPr bwMode="auto">
            <a:xfrm>
              <a:off x="2976"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60 - 69</a:t>
              </a:r>
            </a:p>
          </p:txBody>
        </p:sp>
        <p:sp>
          <p:nvSpPr>
            <p:cNvPr id="42" name="Rectangle 39"/>
            <p:cNvSpPr>
              <a:spLocks noChangeArrowheads="1"/>
            </p:cNvSpPr>
            <p:nvPr/>
          </p:nvSpPr>
          <p:spPr bwMode="auto">
            <a:xfrm>
              <a:off x="3600"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70 - 79</a:t>
              </a:r>
            </a:p>
          </p:txBody>
        </p:sp>
        <p:sp>
          <p:nvSpPr>
            <p:cNvPr id="43" name="Rectangle 40"/>
            <p:cNvSpPr>
              <a:spLocks noChangeArrowheads="1"/>
            </p:cNvSpPr>
            <p:nvPr/>
          </p:nvSpPr>
          <p:spPr bwMode="auto">
            <a:xfrm>
              <a:off x="4176"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80 - 89</a:t>
              </a:r>
            </a:p>
          </p:txBody>
        </p:sp>
        <p:sp>
          <p:nvSpPr>
            <p:cNvPr id="44" name="Rectangle 41"/>
            <p:cNvSpPr>
              <a:spLocks noChangeArrowheads="1"/>
            </p:cNvSpPr>
            <p:nvPr/>
          </p:nvSpPr>
          <p:spPr bwMode="auto">
            <a:xfrm>
              <a:off x="4800"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90 - 100</a:t>
              </a:r>
            </a:p>
          </p:txBody>
        </p:sp>
        <p:sp>
          <p:nvSpPr>
            <p:cNvPr id="45" name="Rectangle 42"/>
            <p:cNvSpPr>
              <a:spLocks noChangeArrowheads="1"/>
            </p:cNvSpPr>
            <p:nvPr/>
          </p:nvSpPr>
          <p:spPr bwMode="auto">
            <a:xfrm>
              <a:off x="2400"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0.05</a:t>
              </a:r>
            </a:p>
          </p:txBody>
        </p:sp>
        <p:sp>
          <p:nvSpPr>
            <p:cNvPr id="46" name="Rectangle 43"/>
            <p:cNvSpPr>
              <a:spLocks noChangeArrowheads="1"/>
            </p:cNvSpPr>
            <p:nvPr/>
          </p:nvSpPr>
          <p:spPr bwMode="auto">
            <a:xfrm>
              <a:off x="2976"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0.15</a:t>
              </a:r>
            </a:p>
          </p:txBody>
        </p:sp>
        <p:sp>
          <p:nvSpPr>
            <p:cNvPr id="47" name="Rectangle 44"/>
            <p:cNvSpPr>
              <a:spLocks noChangeArrowheads="1"/>
            </p:cNvSpPr>
            <p:nvPr/>
          </p:nvSpPr>
          <p:spPr bwMode="auto">
            <a:xfrm>
              <a:off x="3600"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0.40</a:t>
              </a:r>
            </a:p>
          </p:txBody>
        </p:sp>
        <p:sp>
          <p:nvSpPr>
            <p:cNvPr id="48" name="Rectangle 45"/>
            <p:cNvSpPr>
              <a:spLocks noChangeArrowheads="1"/>
            </p:cNvSpPr>
            <p:nvPr/>
          </p:nvSpPr>
          <p:spPr bwMode="auto">
            <a:xfrm>
              <a:off x="4176"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0.30</a:t>
              </a:r>
            </a:p>
          </p:txBody>
        </p:sp>
        <p:sp>
          <p:nvSpPr>
            <p:cNvPr id="49" name="Rectangle 46"/>
            <p:cNvSpPr>
              <a:spLocks noChangeArrowheads="1"/>
            </p:cNvSpPr>
            <p:nvPr/>
          </p:nvSpPr>
          <p:spPr bwMode="auto">
            <a:xfrm>
              <a:off x="4800"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0.10</a:t>
              </a:r>
            </a:p>
          </p:txBody>
        </p:sp>
        <p:sp>
          <p:nvSpPr>
            <p:cNvPr id="50" name="Rectangle 47"/>
            <p:cNvSpPr>
              <a:spLocks noChangeArrowheads="1"/>
            </p:cNvSpPr>
            <p:nvPr/>
          </p:nvSpPr>
          <p:spPr bwMode="auto">
            <a:xfrm>
              <a:off x="1824"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dirty="0">
                  <a:latin typeface="Times New Roman" pitchFamily="18" charset="0"/>
                </a:rPr>
                <a:t>分数</a:t>
              </a:r>
            </a:p>
          </p:txBody>
        </p:sp>
        <p:sp>
          <p:nvSpPr>
            <p:cNvPr id="51" name="Rectangle 48"/>
            <p:cNvSpPr>
              <a:spLocks noChangeArrowheads="1"/>
            </p:cNvSpPr>
            <p:nvPr/>
          </p:nvSpPr>
          <p:spPr bwMode="auto">
            <a:xfrm>
              <a:off x="1824"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a:latin typeface="Times New Roman" pitchFamily="18" charset="0"/>
                </a:rPr>
                <a:t>比例</a:t>
              </a:r>
            </a:p>
          </p:txBody>
        </p:sp>
        <p:sp>
          <p:nvSpPr>
            <p:cNvPr id="52" name="Rectangle 49"/>
            <p:cNvSpPr>
              <a:spLocks noChangeArrowheads="1"/>
            </p:cNvSpPr>
            <p:nvPr/>
          </p:nvSpPr>
          <p:spPr bwMode="auto">
            <a:xfrm>
              <a:off x="2400"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F</a:t>
              </a:r>
            </a:p>
          </p:txBody>
        </p:sp>
        <p:sp>
          <p:nvSpPr>
            <p:cNvPr id="53" name="Rectangle 50"/>
            <p:cNvSpPr>
              <a:spLocks noChangeArrowheads="1"/>
            </p:cNvSpPr>
            <p:nvPr/>
          </p:nvSpPr>
          <p:spPr bwMode="auto">
            <a:xfrm>
              <a:off x="2976"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dirty="0">
                  <a:latin typeface="Times New Roman" pitchFamily="18" charset="0"/>
                </a:rPr>
                <a:t>D</a:t>
              </a:r>
            </a:p>
          </p:txBody>
        </p:sp>
        <p:sp>
          <p:nvSpPr>
            <p:cNvPr id="54" name="Rectangle 51"/>
            <p:cNvSpPr>
              <a:spLocks noChangeArrowheads="1"/>
            </p:cNvSpPr>
            <p:nvPr/>
          </p:nvSpPr>
          <p:spPr bwMode="auto">
            <a:xfrm>
              <a:off x="3600"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dirty="0">
                  <a:latin typeface="Times New Roman" pitchFamily="18" charset="0"/>
                </a:rPr>
                <a:t>C</a:t>
              </a:r>
            </a:p>
          </p:txBody>
        </p:sp>
        <p:sp>
          <p:nvSpPr>
            <p:cNvPr id="55" name="Rectangle 52"/>
            <p:cNvSpPr>
              <a:spLocks noChangeArrowheads="1"/>
            </p:cNvSpPr>
            <p:nvPr/>
          </p:nvSpPr>
          <p:spPr bwMode="auto">
            <a:xfrm>
              <a:off x="4176"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B</a:t>
              </a:r>
            </a:p>
          </p:txBody>
        </p:sp>
        <p:sp>
          <p:nvSpPr>
            <p:cNvPr id="56" name="Rectangle 53"/>
            <p:cNvSpPr>
              <a:spLocks noChangeArrowheads="1"/>
            </p:cNvSpPr>
            <p:nvPr/>
          </p:nvSpPr>
          <p:spPr bwMode="auto">
            <a:xfrm>
              <a:off x="4800"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A</a:t>
              </a:r>
            </a:p>
          </p:txBody>
        </p:sp>
        <p:sp>
          <p:nvSpPr>
            <p:cNvPr id="57" name="Rectangle 54"/>
            <p:cNvSpPr>
              <a:spLocks noChangeArrowheads="1"/>
            </p:cNvSpPr>
            <p:nvPr/>
          </p:nvSpPr>
          <p:spPr bwMode="auto">
            <a:xfrm>
              <a:off x="1824"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a:latin typeface="Times New Roman" pitchFamily="18" charset="0"/>
                </a:rPr>
                <a:t>等级分</a:t>
              </a:r>
            </a:p>
          </p:txBody>
        </p:sp>
      </p:grpSp>
      <p:sp>
        <p:nvSpPr>
          <p:cNvPr id="61" name="矩形 60"/>
          <p:cNvSpPr/>
          <p:nvPr/>
        </p:nvSpPr>
        <p:spPr>
          <a:xfrm>
            <a:off x="2668619" y="1923665"/>
            <a:ext cx="2185214" cy="461665"/>
          </a:xfrm>
          <a:prstGeom prst="rect">
            <a:avLst/>
          </a:prstGeom>
        </p:spPr>
        <p:txBody>
          <a:bodyPr wrap="none">
            <a:spAutoFit/>
          </a:bodyPr>
          <a:lstStyle/>
          <a:p>
            <a:r>
              <a:rPr kumimoji="1" lang="en-US" altLang="zh-CN" sz="2400" dirty="0">
                <a:latin typeface="黑体" pitchFamily="2" charset="-122"/>
                <a:ea typeface="黑体" pitchFamily="2" charset="-122"/>
              </a:rPr>
              <a:t>1</a:t>
            </a:r>
            <a:r>
              <a:rPr kumimoji="1" lang="zh-CN" altLang="en-US" sz="2400" dirty="0">
                <a:latin typeface="黑体" pitchFamily="2" charset="-122"/>
                <a:ea typeface="黑体" pitchFamily="2" charset="-122"/>
              </a:rPr>
              <a:t>、最优二叉树</a:t>
            </a:r>
          </a:p>
        </p:txBody>
      </p:sp>
      <p:cxnSp>
        <p:nvCxnSpPr>
          <p:cNvPr id="2" name="直接连接符 1">
            <a:extLst>
              <a:ext uri="{FF2B5EF4-FFF2-40B4-BE49-F238E27FC236}">
                <a16:creationId xmlns:a16="http://schemas.microsoft.com/office/drawing/2014/main" xmlns="" id="{1227F92E-9885-8DDE-AED4-9914FFAFBF72}"/>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653ED92C-EFAA-A62E-41FF-AE871AD1C15A}"/>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53060325-F3D2-8C8B-3468-FB0D6946F416}"/>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7.8.1 </a:t>
            </a:r>
            <a:r>
              <a:rPr lang="zh-CN" altLang="en-US" dirty="0"/>
              <a:t>哈夫曼树的定义</a:t>
            </a:r>
          </a:p>
        </p:txBody>
      </p:sp>
    </p:spTree>
    <p:extLst>
      <p:ext uri="{BB962C8B-B14F-4D97-AF65-F5344CB8AC3E}">
        <p14:creationId xmlns:p14="http://schemas.microsoft.com/office/powerpoint/2010/main" val="1052440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slide(fromRight)">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slide(fromTop)">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5" grpId="0" animBg="1"/>
      <p:bldP spid="16" grpId="0"/>
      <p:bldP spid="17" grpId="0"/>
      <p:bldP spid="18" grpId="0"/>
      <p:bldP spid="19" grpId="0" animBg="1"/>
      <p:bldP spid="20" grpId="0" animBg="1"/>
      <p:bldP spid="21" grpId="0" animBg="1"/>
      <p:bldP spid="22" grpId="0" animBg="1"/>
      <p:bldP spid="23" grpId="0" animBg="1"/>
      <p:bldP spid="24" grpId="0"/>
      <p:bldP spid="25" grpId="0"/>
      <p:bldP spid="26" grpId="0" animBg="1"/>
      <p:bldP spid="27" grpId="0" animBg="1"/>
      <p:bldP spid="28" grpId="0" animBg="1"/>
      <p:bldP spid="29" grpId="0" animBg="1"/>
      <p:bldP spid="30" grpId="0" animBg="1"/>
      <p:bldP spid="31" grpId="0"/>
      <p:bldP spid="32" grpId="0"/>
      <p:bldP spid="34" grpId="0" animBg="1"/>
      <p:bldP spid="35" grpId="0" animBg="1"/>
      <p:bldP spid="36" grpId="0"/>
      <p:bldP spid="37" grpId="0" animBg="1"/>
      <p:bldP spid="38"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Line 6"/>
          <p:cNvSpPr>
            <a:spLocks noChangeShapeType="1"/>
          </p:cNvSpPr>
          <p:nvPr/>
        </p:nvSpPr>
        <p:spPr bwMode="auto">
          <a:xfrm>
            <a:off x="6084404" y="3309218"/>
            <a:ext cx="0" cy="1905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AutoShape 7"/>
          <p:cNvSpPr>
            <a:spLocks noChangeArrowheads="1"/>
          </p:cNvSpPr>
          <p:nvPr/>
        </p:nvSpPr>
        <p:spPr bwMode="auto">
          <a:xfrm>
            <a:off x="3417404" y="4131766"/>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2000" dirty="0">
                <a:latin typeface="Times New Roman" pitchFamily="18" charset="0"/>
              </a:rPr>
              <a:t>Score&lt;70?</a:t>
            </a:r>
            <a:r>
              <a:rPr lang="en-US" altLang="zh-CN" sz="2400" dirty="0"/>
              <a:t> </a:t>
            </a:r>
          </a:p>
        </p:txBody>
      </p:sp>
      <p:sp>
        <p:nvSpPr>
          <p:cNvPr id="60" name="Line 8"/>
          <p:cNvSpPr>
            <a:spLocks noChangeShapeType="1"/>
          </p:cNvSpPr>
          <p:nvPr/>
        </p:nvSpPr>
        <p:spPr bwMode="auto">
          <a:xfrm>
            <a:off x="5855804" y="4509318"/>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Rectangle 9"/>
          <p:cNvSpPr>
            <a:spLocks noChangeArrowheads="1"/>
          </p:cNvSpPr>
          <p:nvPr/>
        </p:nvSpPr>
        <p:spPr bwMode="auto">
          <a:xfrm>
            <a:off x="5170004" y="4966518"/>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grade=‘C’</a:t>
            </a:r>
          </a:p>
        </p:txBody>
      </p:sp>
      <p:sp>
        <p:nvSpPr>
          <p:cNvPr id="62" name="Line 10"/>
          <p:cNvSpPr>
            <a:spLocks noChangeShapeType="1"/>
          </p:cNvSpPr>
          <p:nvPr/>
        </p:nvSpPr>
        <p:spPr bwMode="auto">
          <a:xfrm>
            <a:off x="4331804" y="3880718"/>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11"/>
          <p:cNvSpPr>
            <a:spLocks noChangeShapeType="1"/>
          </p:cNvSpPr>
          <p:nvPr/>
        </p:nvSpPr>
        <p:spPr bwMode="auto">
          <a:xfrm>
            <a:off x="4331804" y="3903166"/>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AutoShape 12"/>
          <p:cNvSpPr>
            <a:spLocks noChangeArrowheads="1"/>
          </p:cNvSpPr>
          <p:nvPr/>
        </p:nvSpPr>
        <p:spPr bwMode="auto">
          <a:xfrm>
            <a:off x="5170004" y="3499718"/>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2000">
                <a:latin typeface="Times New Roman" pitchFamily="18" charset="0"/>
              </a:rPr>
              <a:t>Score&lt;80?</a:t>
            </a:r>
            <a:r>
              <a:rPr lang="en-US" altLang="zh-CN" sz="2400"/>
              <a:t> </a:t>
            </a:r>
          </a:p>
        </p:txBody>
      </p:sp>
      <p:sp>
        <p:nvSpPr>
          <p:cNvPr id="65" name="Rectangle 13"/>
          <p:cNvSpPr>
            <a:spLocks noChangeArrowheads="1"/>
          </p:cNvSpPr>
          <p:nvPr/>
        </p:nvSpPr>
        <p:spPr bwMode="auto">
          <a:xfrm>
            <a:off x="4941404" y="3575918"/>
            <a:ext cx="304800" cy="304800"/>
          </a:xfrm>
          <a:prstGeom prst="rect">
            <a:avLst/>
          </a:prstGeom>
          <a:noFill/>
          <a:ln w="9525">
            <a:noFill/>
            <a:miter lim="800000"/>
            <a:headEnd/>
            <a:tailEnd/>
          </a:ln>
        </p:spPr>
        <p:txBody>
          <a:bodyPr wrap="none" anchor="ctr"/>
          <a:lstStyle/>
          <a:p>
            <a:pPr algn="ctr">
              <a:spcBef>
                <a:spcPct val="0"/>
              </a:spcBef>
              <a:buClrTx/>
              <a:buSzTx/>
              <a:buFontTx/>
              <a:buNone/>
            </a:pPr>
            <a:r>
              <a:rPr lang="en-US" altLang="zh-CN" sz="2000"/>
              <a:t>Y</a:t>
            </a:r>
          </a:p>
        </p:txBody>
      </p:sp>
      <p:sp>
        <p:nvSpPr>
          <p:cNvPr id="66" name="Line 14"/>
          <p:cNvSpPr>
            <a:spLocks noChangeShapeType="1"/>
          </p:cNvSpPr>
          <p:nvPr/>
        </p:nvSpPr>
        <p:spPr bwMode="auto">
          <a:xfrm>
            <a:off x="6998804" y="3880718"/>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15"/>
          <p:cNvSpPr>
            <a:spLocks noChangeShapeType="1"/>
          </p:cNvSpPr>
          <p:nvPr/>
        </p:nvSpPr>
        <p:spPr bwMode="auto">
          <a:xfrm>
            <a:off x="7837004" y="3903166"/>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AutoShape 16"/>
          <p:cNvSpPr>
            <a:spLocks noChangeArrowheads="1"/>
          </p:cNvSpPr>
          <p:nvPr/>
        </p:nvSpPr>
        <p:spPr bwMode="auto">
          <a:xfrm>
            <a:off x="6922604" y="4131766"/>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2000">
                <a:latin typeface="Times New Roman" pitchFamily="18" charset="0"/>
              </a:rPr>
              <a:t>Score&lt;90?</a:t>
            </a:r>
            <a:r>
              <a:rPr lang="en-US" altLang="zh-CN" sz="2400"/>
              <a:t> </a:t>
            </a:r>
          </a:p>
        </p:txBody>
      </p:sp>
      <p:sp>
        <p:nvSpPr>
          <p:cNvPr id="69" name="Line 17"/>
          <p:cNvSpPr>
            <a:spLocks noChangeShapeType="1"/>
          </p:cNvSpPr>
          <p:nvPr/>
        </p:nvSpPr>
        <p:spPr bwMode="auto">
          <a:xfrm>
            <a:off x="7837004" y="4882124"/>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Rectangle 18"/>
          <p:cNvSpPr>
            <a:spLocks noChangeArrowheads="1"/>
          </p:cNvSpPr>
          <p:nvPr/>
        </p:nvSpPr>
        <p:spPr bwMode="auto">
          <a:xfrm>
            <a:off x="7151204" y="5084638"/>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grade=‘B’</a:t>
            </a:r>
          </a:p>
        </p:txBody>
      </p:sp>
      <p:sp>
        <p:nvSpPr>
          <p:cNvPr id="71" name="Rectangle 19"/>
          <p:cNvSpPr>
            <a:spLocks noChangeArrowheads="1"/>
          </p:cNvSpPr>
          <p:nvPr/>
        </p:nvSpPr>
        <p:spPr bwMode="auto">
          <a:xfrm>
            <a:off x="6922604" y="3575918"/>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N</a:t>
            </a:r>
          </a:p>
        </p:txBody>
      </p:sp>
      <p:sp>
        <p:nvSpPr>
          <p:cNvPr id="72" name="Rectangle 20"/>
          <p:cNvSpPr>
            <a:spLocks noChangeArrowheads="1"/>
          </p:cNvSpPr>
          <p:nvPr/>
        </p:nvSpPr>
        <p:spPr bwMode="auto">
          <a:xfrm>
            <a:off x="8016392" y="4780384"/>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Y</a:t>
            </a:r>
          </a:p>
        </p:txBody>
      </p:sp>
      <p:sp>
        <p:nvSpPr>
          <p:cNvPr id="73" name="Line 21"/>
          <p:cNvSpPr>
            <a:spLocks noChangeShapeType="1"/>
          </p:cNvSpPr>
          <p:nvPr/>
        </p:nvSpPr>
        <p:spPr bwMode="auto">
          <a:xfrm>
            <a:off x="8751404" y="4512766"/>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22"/>
          <p:cNvSpPr>
            <a:spLocks noChangeShapeType="1"/>
          </p:cNvSpPr>
          <p:nvPr/>
        </p:nvSpPr>
        <p:spPr bwMode="auto">
          <a:xfrm>
            <a:off x="9361004" y="4509318"/>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AutoShape 23"/>
          <p:cNvSpPr>
            <a:spLocks noChangeArrowheads="1"/>
          </p:cNvSpPr>
          <p:nvPr/>
        </p:nvSpPr>
        <p:spPr bwMode="auto">
          <a:xfrm>
            <a:off x="1893404" y="4737918"/>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2000">
                <a:latin typeface="Times New Roman" pitchFamily="18" charset="0"/>
              </a:rPr>
              <a:t>Score&lt;60?</a:t>
            </a:r>
            <a:r>
              <a:rPr lang="en-US" altLang="zh-CN" sz="2400"/>
              <a:t> </a:t>
            </a:r>
          </a:p>
        </p:txBody>
      </p:sp>
      <p:sp>
        <p:nvSpPr>
          <p:cNvPr id="76" name="Line 24"/>
          <p:cNvSpPr>
            <a:spLocks noChangeShapeType="1"/>
          </p:cNvSpPr>
          <p:nvPr/>
        </p:nvSpPr>
        <p:spPr bwMode="auto">
          <a:xfrm>
            <a:off x="2809392" y="5511750"/>
            <a:ext cx="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Rectangle 25"/>
          <p:cNvSpPr>
            <a:spLocks noChangeArrowheads="1"/>
          </p:cNvSpPr>
          <p:nvPr/>
        </p:nvSpPr>
        <p:spPr bwMode="auto">
          <a:xfrm>
            <a:off x="8675204" y="4966518"/>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grade=‘A’</a:t>
            </a:r>
          </a:p>
        </p:txBody>
      </p:sp>
      <p:sp>
        <p:nvSpPr>
          <p:cNvPr id="78" name="Rectangle 26"/>
          <p:cNvSpPr>
            <a:spLocks noChangeArrowheads="1"/>
          </p:cNvSpPr>
          <p:nvPr/>
        </p:nvSpPr>
        <p:spPr bwMode="auto">
          <a:xfrm>
            <a:off x="8675204" y="420796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N</a:t>
            </a:r>
          </a:p>
        </p:txBody>
      </p:sp>
      <p:sp>
        <p:nvSpPr>
          <p:cNvPr id="79" name="Rectangle 27"/>
          <p:cNvSpPr>
            <a:spLocks noChangeArrowheads="1"/>
          </p:cNvSpPr>
          <p:nvPr/>
        </p:nvSpPr>
        <p:spPr bwMode="auto">
          <a:xfrm>
            <a:off x="3047517" y="5397822"/>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Y</a:t>
            </a:r>
          </a:p>
        </p:txBody>
      </p:sp>
      <p:sp>
        <p:nvSpPr>
          <p:cNvPr id="80" name="Rectangle 28"/>
          <p:cNvSpPr>
            <a:spLocks noChangeArrowheads="1"/>
          </p:cNvSpPr>
          <p:nvPr/>
        </p:nvSpPr>
        <p:spPr bwMode="auto">
          <a:xfrm>
            <a:off x="3646004" y="4814118"/>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N</a:t>
            </a:r>
          </a:p>
        </p:txBody>
      </p:sp>
      <p:sp>
        <p:nvSpPr>
          <p:cNvPr id="81" name="Rectangle 29"/>
          <p:cNvSpPr>
            <a:spLocks noChangeArrowheads="1"/>
          </p:cNvSpPr>
          <p:nvPr/>
        </p:nvSpPr>
        <p:spPr bwMode="auto">
          <a:xfrm>
            <a:off x="2122004" y="5664150"/>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grade=‘F’</a:t>
            </a:r>
          </a:p>
        </p:txBody>
      </p:sp>
      <p:sp>
        <p:nvSpPr>
          <p:cNvPr id="82" name="Line 30"/>
          <p:cNvSpPr>
            <a:spLocks noChangeShapeType="1"/>
          </p:cNvSpPr>
          <p:nvPr/>
        </p:nvSpPr>
        <p:spPr bwMode="auto">
          <a:xfrm>
            <a:off x="5246204" y="4512766"/>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Rectangle 31"/>
          <p:cNvSpPr>
            <a:spLocks noChangeArrowheads="1"/>
          </p:cNvSpPr>
          <p:nvPr/>
        </p:nvSpPr>
        <p:spPr bwMode="auto">
          <a:xfrm>
            <a:off x="5170004" y="420796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N</a:t>
            </a:r>
          </a:p>
        </p:txBody>
      </p:sp>
      <p:sp>
        <p:nvSpPr>
          <p:cNvPr id="84" name="Line 32"/>
          <p:cNvSpPr>
            <a:spLocks noChangeShapeType="1"/>
          </p:cNvSpPr>
          <p:nvPr/>
        </p:nvSpPr>
        <p:spPr bwMode="auto">
          <a:xfrm>
            <a:off x="2807804" y="4512766"/>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33"/>
          <p:cNvSpPr>
            <a:spLocks noChangeShapeType="1"/>
          </p:cNvSpPr>
          <p:nvPr/>
        </p:nvSpPr>
        <p:spPr bwMode="auto">
          <a:xfrm>
            <a:off x="2807804" y="4509318"/>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Rectangle 34"/>
          <p:cNvSpPr>
            <a:spLocks noChangeArrowheads="1"/>
          </p:cNvSpPr>
          <p:nvPr/>
        </p:nvSpPr>
        <p:spPr bwMode="auto">
          <a:xfrm>
            <a:off x="3188804" y="420796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Y</a:t>
            </a:r>
          </a:p>
        </p:txBody>
      </p:sp>
      <p:sp>
        <p:nvSpPr>
          <p:cNvPr id="87" name="Line 35"/>
          <p:cNvSpPr>
            <a:spLocks noChangeShapeType="1"/>
          </p:cNvSpPr>
          <p:nvPr/>
        </p:nvSpPr>
        <p:spPr bwMode="auto">
          <a:xfrm>
            <a:off x="4331804" y="5110724"/>
            <a:ext cx="0" cy="5534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Rectangle 36"/>
          <p:cNvSpPr>
            <a:spLocks noChangeArrowheads="1"/>
          </p:cNvSpPr>
          <p:nvPr/>
        </p:nvSpPr>
        <p:spPr bwMode="auto">
          <a:xfrm>
            <a:off x="3646004" y="5664150"/>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grade=‘D’</a:t>
            </a:r>
          </a:p>
        </p:txBody>
      </p:sp>
      <p:sp>
        <p:nvSpPr>
          <p:cNvPr id="89" name="Line 37"/>
          <p:cNvSpPr>
            <a:spLocks noChangeShapeType="1"/>
          </p:cNvSpPr>
          <p:nvPr/>
        </p:nvSpPr>
        <p:spPr bwMode="auto">
          <a:xfrm>
            <a:off x="3722204" y="5118918"/>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Text Box 35"/>
          <p:cNvSpPr txBox="1">
            <a:spLocks noChangeArrowheads="1"/>
          </p:cNvSpPr>
          <p:nvPr/>
        </p:nvSpPr>
        <p:spPr bwMode="auto">
          <a:xfrm>
            <a:off x="5170004" y="285239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zh-CN" altLang="en-US" sz="2400" dirty="0">
                <a:latin typeface="黑体" pitchFamily="2" charset="-122"/>
                <a:ea typeface="黑体" pitchFamily="2" charset="-122"/>
              </a:rPr>
              <a:t>转换</a:t>
            </a:r>
            <a:r>
              <a:rPr lang="en-US" altLang="zh-CN" sz="2400" dirty="0">
                <a:latin typeface="黑体" pitchFamily="2" charset="-122"/>
                <a:ea typeface="黑体" pitchFamily="2" charset="-122"/>
              </a:rPr>
              <a:t>n</a:t>
            </a:r>
            <a:r>
              <a:rPr lang="zh-CN" altLang="en-US" sz="2400" dirty="0">
                <a:latin typeface="黑体" pitchFamily="2" charset="-122"/>
                <a:ea typeface="黑体" pitchFamily="2" charset="-122"/>
              </a:rPr>
              <a:t>个成绩的平均比较次数：</a:t>
            </a:r>
            <a:r>
              <a:rPr lang="en-US" altLang="zh-CN" sz="2400" b="1" dirty="0">
                <a:latin typeface="Times New Roman" pitchFamily="18" charset="0"/>
                <a:ea typeface="宋体" pitchFamily="2" charset="-122"/>
              </a:rPr>
              <a:t>2.2*n</a:t>
            </a:r>
          </a:p>
        </p:txBody>
      </p:sp>
      <p:grpSp>
        <p:nvGrpSpPr>
          <p:cNvPr id="91" name="Group 36"/>
          <p:cNvGrpSpPr>
            <a:grpSpLocks/>
          </p:cNvGrpSpPr>
          <p:nvPr/>
        </p:nvGrpSpPr>
        <p:grpSpPr bwMode="auto">
          <a:xfrm>
            <a:off x="4871864" y="1916832"/>
            <a:ext cx="5715000" cy="914400"/>
            <a:chOff x="1824" y="528"/>
            <a:chExt cx="3600" cy="576"/>
          </a:xfrm>
        </p:grpSpPr>
        <p:sp>
          <p:nvSpPr>
            <p:cNvPr id="92" name="Rectangle 37"/>
            <p:cNvSpPr>
              <a:spLocks noChangeArrowheads="1"/>
            </p:cNvSpPr>
            <p:nvPr/>
          </p:nvSpPr>
          <p:spPr bwMode="auto">
            <a:xfrm>
              <a:off x="2400"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0 - 59</a:t>
              </a:r>
            </a:p>
          </p:txBody>
        </p:sp>
        <p:sp>
          <p:nvSpPr>
            <p:cNvPr id="93" name="Rectangle 38"/>
            <p:cNvSpPr>
              <a:spLocks noChangeArrowheads="1"/>
            </p:cNvSpPr>
            <p:nvPr/>
          </p:nvSpPr>
          <p:spPr bwMode="auto">
            <a:xfrm>
              <a:off x="2976"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60 - 69</a:t>
              </a:r>
            </a:p>
          </p:txBody>
        </p:sp>
        <p:sp>
          <p:nvSpPr>
            <p:cNvPr id="94" name="Rectangle 39"/>
            <p:cNvSpPr>
              <a:spLocks noChangeArrowheads="1"/>
            </p:cNvSpPr>
            <p:nvPr/>
          </p:nvSpPr>
          <p:spPr bwMode="auto">
            <a:xfrm>
              <a:off x="3600"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70 - 79</a:t>
              </a:r>
            </a:p>
          </p:txBody>
        </p:sp>
        <p:sp>
          <p:nvSpPr>
            <p:cNvPr id="95" name="Rectangle 40"/>
            <p:cNvSpPr>
              <a:spLocks noChangeArrowheads="1"/>
            </p:cNvSpPr>
            <p:nvPr/>
          </p:nvSpPr>
          <p:spPr bwMode="auto">
            <a:xfrm>
              <a:off x="4176"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80 - 89</a:t>
              </a:r>
            </a:p>
          </p:txBody>
        </p:sp>
        <p:sp>
          <p:nvSpPr>
            <p:cNvPr id="96" name="Rectangle 41"/>
            <p:cNvSpPr>
              <a:spLocks noChangeArrowheads="1"/>
            </p:cNvSpPr>
            <p:nvPr/>
          </p:nvSpPr>
          <p:spPr bwMode="auto">
            <a:xfrm>
              <a:off x="4800"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90 - 100</a:t>
              </a:r>
            </a:p>
          </p:txBody>
        </p:sp>
        <p:sp>
          <p:nvSpPr>
            <p:cNvPr id="97" name="Rectangle 42"/>
            <p:cNvSpPr>
              <a:spLocks noChangeArrowheads="1"/>
            </p:cNvSpPr>
            <p:nvPr/>
          </p:nvSpPr>
          <p:spPr bwMode="auto">
            <a:xfrm>
              <a:off x="2400"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0.05</a:t>
              </a:r>
            </a:p>
          </p:txBody>
        </p:sp>
        <p:sp>
          <p:nvSpPr>
            <p:cNvPr id="98" name="Rectangle 43"/>
            <p:cNvSpPr>
              <a:spLocks noChangeArrowheads="1"/>
            </p:cNvSpPr>
            <p:nvPr/>
          </p:nvSpPr>
          <p:spPr bwMode="auto">
            <a:xfrm>
              <a:off x="2976"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0.15</a:t>
              </a:r>
            </a:p>
          </p:txBody>
        </p:sp>
        <p:sp>
          <p:nvSpPr>
            <p:cNvPr id="99" name="Rectangle 44"/>
            <p:cNvSpPr>
              <a:spLocks noChangeArrowheads="1"/>
            </p:cNvSpPr>
            <p:nvPr/>
          </p:nvSpPr>
          <p:spPr bwMode="auto">
            <a:xfrm>
              <a:off x="3600"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0.40</a:t>
              </a:r>
            </a:p>
          </p:txBody>
        </p:sp>
        <p:sp>
          <p:nvSpPr>
            <p:cNvPr id="100" name="Rectangle 45"/>
            <p:cNvSpPr>
              <a:spLocks noChangeArrowheads="1"/>
            </p:cNvSpPr>
            <p:nvPr/>
          </p:nvSpPr>
          <p:spPr bwMode="auto">
            <a:xfrm>
              <a:off x="4176"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0.30</a:t>
              </a:r>
            </a:p>
          </p:txBody>
        </p:sp>
        <p:sp>
          <p:nvSpPr>
            <p:cNvPr id="101" name="Rectangle 46"/>
            <p:cNvSpPr>
              <a:spLocks noChangeArrowheads="1"/>
            </p:cNvSpPr>
            <p:nvPr/>
          </p:nvSpPr>
          <p:spPr bwMode="auto">
            <a:xfrm>
              <a:off x="4800"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0.10</a:t>
              </a:r>
            </a:p>
          </p:txBody>
        </p:sp>
        <p:sp>
          <p:nvSpPr>
            <p:cNvPr id="102" name="Rectangle 47"/>
            <p:cNvSpPr>
              <a:spLocks noChangeArrowheads="1"/>
            </p:cNvSpPr>
            <p:nvPr/>
          </p:nvSpPr>
          <p:spPr bwMode="auto">
            <a:xfrm>
              <a:off x="1824"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dirty="0">
                  <a:latin typeface="Times New Roman" pitchFamily="18" charset="0"/>
                </a:rPr>
                <a:t>分数</a:t>
              </a:r>
            </a:p>
          </p:txBody>
        </p:sp>
        <p:sp>
          <p:nvSpPr>
            <p:cNvPr id="103" name="Rectangle 48"/>
            <p:cNvSpPr>
              <a:spLocks noChangeArrowheads="1"/>
            </p:cNvSpPr>
            <p:nvPr/>
          </p:nvSpPr>
          <p:spPr bwMode="auto">
            <a:xfrm>
              <a:off x="1824"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a:latin typeface="Times New Roman" pitchFamily="18" charset="0"/>
                </a:rPr>
                <a:t>比例</a:t>
              </a:r>
            </a:p>
          </p:txBody>
        </p:sp>
        <p:sp>
          <p:nvSpPr>
            <p:cNvPr id="104" name="Rectangle 49"/>
            <p:cNvSpPr>
              <a:spLocks noChangeArrowheads="1"/>
            </p:cNvSpPr>
            <p:nvPr/>
          </p:nvSpPr>
          <p:spPr bwMode="auto">
            <a:xfrm>
              <a:off x="2400"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F</a:t>
              </a:r>
            </a:p>
          </p:txBody>
        </p:sp>
        <p:sp>
          <p:nvSpPr>
            <p:cNvPr id="105" name="Rectangle 50"/>
            <p:cNvSpPr>
              <a:spLocks noChangeArrowheads="1"/>
            </p:cNvSpPr>
            <p:nvPr/>
          </p:nvSpPr>
          <p:spPr bwMode="auto">
            <a:xfrm>
              <a:off x="2976"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dirty="0">
                  <a:latin typeface="Times New Roman" pitchFamily="18" charset="0"/>
                </a:rPr>
                <a:t>D</a:t>
              </a:r>
            </a:p>
          </p:txBody>
        </p:sp>
        <p:sp>
          <p:nvSpPr>
            <p:cNvPr id="106" name="Rectangle 51"/>
            <p:cNvSpPr>
              <a:spLocks noChangeArrowheads="1"/>
            </p:cNvSpPr>
            <p:nvPr/>
          </p:nvSpPr>
          <p:spPr bwMode="auto">
            <a:xfrm>
              <a:off x="3600"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dirty="0">
                  <a:latin typeface="Times New Roman" pitchFamily="18" charset="0"/>
                </a:rPr>
                <a:t>C</a:t>
              </a:r>
            </a:p>
          </p:txBody>
        </p:sp>
        <p:sp>
          <p:nvSpPr>
            <p:cNvPr id="107" name="Rectangle 52"/>
            <p:cNvSpPr>
              <a:spLocks noChangeArrowheads="1"/>
            </p:cNvSpPr>
            <p:nvPr/>
          </p:nvSpPr>
          <p:spPr bwMode="auto">
            <a:xfrm>
              <a:off x="4176"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B</a:t>
              </a:r>
            </a:p>
          </p:txBody>
        </p:sp>
        <p:sp>
          <p:nvSpPr>
            <p:cNvPr id="108" name="Rectangle 53"/>
            <p:cNvSpPr>
              <a:spLocks noChangeArrowheads="1"/>
            </p:cNvSpPr>
            <p:nvPr/>
          </p:nvSpPr>
          <p:spPr bwMode="auto">
            <a:xfrm>
              <a:off x="4800"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A</a:t>
              </a:r>
            </a:p>
          </p:txBody>
        </p:sp>
        <p:sp>
          <p:nvSpPr>
            <p:cNvPr id="109" name="Rectangle 54"/>
            <p:cNvSpPr>
              <a:spLocks noChangeArrowheads="1"/>
            </p:cNvSpPr>
            <p:nvPr/>
          </p:nvSpPr>
          <p:spPr bwMode="auto">
            <a:xfrm>
              <a:off x="1824"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a:latin typeface="Times New Roman" pitchFamily="18" charset="0"/>
                </a:rPr>
                <a:t>等级分</a:t>
              </a:r>
            </a:p>
          </p:txBody>
        </p:sp>
      </p:grpSp>
      <p:sp>
        <p:nvSpPr>
          <p:cNvPr id="115" name="矩形 114"/>
          <p:cNvSpPr/>
          <p:nvPr/>
        </p:nvSpPr>
        <p:spPr>
          <a:xfrm>
            <a:off x="2668619" y="1923665"/>
            <a:ext cx="2185214" cy="461665"/>
          </a:xfrm>
          <a:prstGeom prst="rect">
            <a:avLst/>
          </a:prstGeom>
        </p:spPr>
        <p:txBody>
          <a:bodyPr wrap="none">
            <a:spAutoFit/>
          </a:bodyPr>
          <a:lstStyle/>
          <a:p>
            <a:r>
              <a:rPr kumimoji="1" lang="en-US" altLang="zh-CN" sz="2400" dirty="0">
                <a:latin typeface="黑体" pitchFamily="2" charset="-122"/>
                <a:ea typeface="黑体" pitchFamily="2" charset="-122"/>
              </a:rPr>
              <a:t>1</a:t>
            </a:r>
            <a:r>
              <a:rPr kumimoji="1" lang="zh-CN" altLang="en-US" sz="2400" dirty="0">
                <a:latin typeface="黑体" pitchFamily="2" charset="-122"/>
                <a:ea typeface="黑体" pitchFamily="2" charset="-122"/>
              </a:rPr>
              <a:t>、最优二叉树</a:t>
            </a:r>
          </a:p>
        </p:txBody>
      </p:sp>
      <p:cxnSp>
        <p:nvCxnSpPr>
          <p:cNvPr id="2" name="直接连接符 1">
            <a:extLst>
              <a:ext uri="{FF2B5EF4-FFF2-40B4-BE49-F238E27FC236}">
                <a16:creationId xmlns:a16="http://schemas.microsoft.com/office/drawing/2014/main" xmlns="" id="{3BDD15EF-4A3D-2A7B-BF4E-D3B11E18D97A}"/>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EF2F1614-DB35-BB22-3245-0877E3738A58}"/>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AB096EA3-B548-6200-C1D6-F15A132246F2}"/>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7.8.1 </a:t>
            </a:r>
            <a:r>
              <a:rPr lang="zh-CN" altLang="en-US" dirty="0"/>
              <a:t>哈夫曼树的定义</a:t>
            </a:r>
          </a:p>
        </p:txBody>
      </p:sp>
    </p:spTree>
    <p:extLst>
      <p:ext uri="{BB962C8B-B14F-4D97-AF65-F5344CB8AC3E}">
        <p14:creationId xmlns:p14="http://schemas.microsoft.com/office/powerpoint/2010/main" val="97837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slide(fromRight)">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slide(fromTop)">
                                      <p:cBhvr>
                                        <p:cTn id="12" dur="500"/>
                                        <p:tgtEl>
                                          <p:spTgt spid="9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0" grpId="0" animBg="1"/>
      <p:bldP spid="61" grpId="0" animBg="1"/>
      <p:bldP spid="62" grpId="0" animBg="1"/>
      <p:bldP spid="63" grpId="0" animBg="1"/>
      <p:bldP spid="64" grpId="0" animBg="1"/>
      <p:bldP spid="65" grpId="0"/>
      <p:bldP spid="66" grpId="0" animBg="1"/>
      <p:bldP spid="67" grpId="0" animBg="1"/>
      <p:bldP spid="68" grpId="0" animBg="1"/>
      <p:bldP spid="69" grpId="0" animBg="1"/>
      <p:bldP spid="70" grpId="0" animBg="1"/>
      <p:bldP spid="71" grpId="0"/>
      <p:bldP spid="72" grpId="0"/>
      <p:bldP spid="73" grpId="0" animBg="1"/>
      <p:bldP spid="74" grpId="0" animBg="1"/>
      <p:bldP spid="75" grpId="0" animBg="1"/>
      <p:bldP spid="76" grpId="0" animBg="1"/>
      <p:bldP spid="77" grpId="0" animBg="1"/>
      <p:bldP spid="78" grpId="0"/>
      <p:bldP spid="79" grpId="0"/>
      <p:bldP spid="80" grpId="0"/>
      <p:bldP spid="81" grpId="0" animBg="1"/>
      <p:bldP spid="82" grpId="0" animBg="1"/>
      <p:bldP spid="83" grpId="0"/>
      <p:bldP spid="84" grpId="0" animBg="1"/>
      <p:bldP spid="85" grpId="0" animBg="1"/>
      <p:bldP spid="86" grpId="0"/>
      <p:bldP spid="87" grpId="0" animBg="1"/>
      <p:bldP spid="88" grpId="0" animBg="1"/>
      <p:bldP spid="89" grpId="0" animBg="1"/>
      <p:bldP spid="90" grpId="0"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 Box 35"/>
          <p:cNvSpPr txBox="1">
            <a:spLocks noChangeArrowheads="1"/>
          </p:cNvSpPr>
          <p:nvPr/>
        </p:nvSpPr>
        <p:spPr bwMode="auto">
          <a:xfrm>
            <a:off x="4930080" y="3399384"/>
            <a:ext cx="5257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zh-CN" altLang="en-US" sz="2400" dirty="0">
                <a:latin typeface="黑体" pitchFamily="2" charset="-122"/>
                <a:ea typeface="黑体" pitchFamily="2" charset="-122"/>
              </a:rPr>
              <a:t>转换</a:t>
            </a:r>
            <a:r>
              <a:rPr lang="en-US" altLang="zh-CN" sz="2400" dirty="0">
                <a:latin typeface="黑体" pitchFamily="2" charset="-122"/>
                <a:ea typeface="黑体" pitchFamily="2" charset="-122"/>
              </a:rPr>
              <a:t>n</a:t>
            </a:r>
            <a:r>
              <a:rPr lang="zh-CN" altLang="en-US" sz="2400" dirty="0">
                <a:latin typeface="黑体" pitchFamily="2" charset="-122"/>
                <a:ea typeface="黑体" pitchFamily="2" charset="-122"/>
              </a:rPr>
              <a:t>个成绩的平均比较次数：</a:t>
            </a:r>
            <a:r>
              <a:rPr lang="en-US" altLang="zh-CN" sz="2400" b="1" dirty="0">
                <a:latin typeface="Times New Roman" pitchFamily="18" charset="0"/>
                <a:ea typeface="宋体" pitchFamily="2" charset="-122"/>
              </a:rPr>
              <a:t>2.05*n</a:t>
            </a:r>
          </a:p>
        </p:txBody>
      </p:sp>
      <p:grpSp>
        <p:nvGrpSpPr>
          <p:cNvPr id="91" name="Group 36"/>
          <p:cNvGrpSpPr>
            <a:grpSpLocks/>
          </p:cNvGrpSpPr>
          <p:nvPr/>
        </p:nvGrpSpPr>
        <p:grpSpPr bwMode="auto">
          <a:xfrm>
            <a:off x="4701480" y="2463825"/>
            <a:ext cx="5715000" cy="914400"/>
            <a:chOff x="1824" y="528"/>
            <a:chExt cx="3600" cy="576"/>
          </a:xfrm>
        </p:grpSpPr>
        <p:sp>
          <p:nvSpPr>
            <p:cNvPr id="92" name="Rectangle 37"/>
            <p:cNvSpPr>
              <a:spLocks noChangeArrowheads="1"/>
            </p:cNvSpPr>
            <p:nvPr/>
          </p:nvSpPr>
          <p:spPr bwMode="auto">
            <a:xfrm>
              <a:off x="2400"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0 - 59</a:t>
              </a:r>
            </a:p>
          </p:txBody>
        </p:sp>
        <p:sp>
          <p:nvSpPr>
            <p:cNvPr id="93" name="Rectangle 38"/>
            <p:cNvSpPr>
              <a:spLocks noChangeArrowheads="1"/>
            </p:cNvSpPr>
            <p:nvPr/>
          </p:nvSpPr>
          <p:spPr bwMode="auto">
            <a:xfrm>
              <a:off x="2976"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60 - 69</a:t>
              </a:r>
            </a:p>
          </p:txBody>
        </p:sp>
        <p:sp>
          <p:nvSpPr>
            <p:cNvPr id="94" name="Rectangle 39"/>
            <p:cNvSpPr>
              <a:spLocks noChangeArrowheads="1"/>
            </p:cNvSpPr>
            <p:nvPr/>
          </p:nvSpPr>
          <p:spPr bwMode="auto">
            <a:xfrm>
              <a:off x="3600"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70 - 79</a:t>
              </a:r>
            </a:p>
          </p:txBody>
        </p:sp>
        <p:sp>
          <p:nvSpPr>
            <p:cNvPr id="95" name="Rectangle 40"/>
            <p:cNvSpPr>
              <a:spLocks noChangeArrowheads="1"/>
            </p:cNvSpPr>
            <p:nvPr/>
          </p:nvSpPr>
          <p:spPr bwMode="auto">
            <a:xfrm>
              <a:off x="4176"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80 - 89</a:t>
              </a:r>
            </a:p>
          </p:txBody>
        </p:sp>
        <p:sp>
          <p:nvSpPr>
            <p:cNvPr id="96" name="Rectangle 41"/>
            <p:cNvSpPr>
              <a:spLocks noChangeArrowheads="1"/>
            </p:cNvSpPr>
            <p:nvPr/>
          </p:nvSpPr>
          <p:spPr bwMode="auto">
            <a:xfrm>
              <a:off x="4800"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90 - 100</a:t>
              </a:r>
            </a:p>
          </p:txBody>
        </p:sp>
        <p:sp>
          <p:nvSpPr>
            <p:cNvPr id="97" name="Rectangle 42"/>
            <p:cNvSpPr>
              <a:spLocks noChangeArrowheads="1"/>
            </p:cNvSpPr>
            <p:nvPr/>
          </p:nvSpPr>
          <p:spPr bwMode="auto">
            <a:xfrm>
              <a:off x="2400"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0.05</a:t>
              </a:r>
            </a:p>
          </p:txBody>
        </p:sp>
        <p:sp>
          <p:nvSpPr>
            <p:cNvPr id="98" name="Rectangle 43"/>
            <p:cNvSpPr>
              <a:spLocks noChangeArrowheads="1"/>
            </p:cNvSpPr>
            <p:nvPr/>
          </p:nvSpPr>
          <p:spPr bwMode="auto">
            <a:xfrm>
              <a:off x="2976"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0.15</a:t>
              </a:r>
            </a:p>
          </p:txBody>
        </p:sp>
        <p:sp>
          <p:nvSpPr>
            <p:cNvPr id="99" name="Rectangle 44"/>
            <p:cNvSpPr>
              <a:spLocks noChangeArrowheads="1"/>
            </p:cNvSpPr>
            <p:nvPr/>
          </p:nvSpPr>
          <p:spPr bwMode="auto">
            <a:xfrm>
              <a:off x="3600"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0.40</a:t>
              </a:r>
            </a:p>
          </p:txBody>
        </p:sp>
        <p:sp>
          <p:nvSpPr>
            <p:cNvPr id="100" name="Rectangle 45"/>
            <p:cNvSpPr>
              <a:spLocks noChangeArrowheads="1"/>
            </p:cNvSpPr>
            <p:nvPr/>
          </p:nvSpPr>
          <p:spPr bwMode="auto">
            <a:xfrm>
              <a:off x="4176"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0.30</a:t>
              </a:r>
            </a:p>
          </p:txBody>
        </p:sp>
        <p:sp>
          <p:nvSpPr>
            <p:cNvPr id="101" name="Rectangle 46"/>
            <p:cNvSpPr>
              <a:spLocks noChangeArrowheads="1"/>
            </p:cNvSpPr>
            <p:nvPr/>
          </p:nvSpPr>
          <p:spPr bwMode="auto">
            <a:xfrm>
              <a:off x="4800"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0.10</a:t>
              </a:r>
            </a:p>
          </p:txBody>
        </p:sp>
        <p:sp>
          <p:nvSpPr>
            <p:cNvPr id="102" name="Rectangle 47"/>
            <p:cNvSpPr>
              <a:spLocks noChangeArrowheads="1"/>
            </p:cNvSpPr>
            <p:nvPr/>
          </p:nvSpPr>
          <p:spPr bwMode="auto">
            <a:xfrm>
              <a:off x="1824"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dirty="0">
                  <a:latin typeface="Times New Roman" pitchFamily="18" charset="0"/>
                </a:rPr>
                <a:t>分数</a:t>
              </a:r>
            </a:p>
          </p:txBody>
        </p:sp>
        <p:sp>
          <p:nvSpPr>
            <p:cNvPr id="103" name="Rectangle 48"/>
            <p:cNvSpPr>
              <a:spLocks noChangeArrowheads="1"/>
            </p:cNvSpPr>
            <p:nvPr/>
          </p:nvSpPr>
          <p:spPr bwMode="auto">
            <a:xfrm>
              <a:off x="1824"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a:latin typeface="Times New Roman" pitchFamily="18" charset="0"/>
                </a:rPr>
                <a:t>比例</a:t>
              </a:r>
            </a:p>
          </p:txBody>
        </p:sp>
        <p:sp>
          <p:nvSpPr>
            <p:cNvPr id="104" name="Rectangle 49"/>
            <p:cNvSpPr>
              <a:spLocks noChangeArrowheads="1"/>
            </p:cNvSpPr>
            <p:nvPr/>
          </p:nvSpPr>
          <p:spPr bwMode="auto">
            <a:xfrm>
              <a:off x="2400"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F</a:t>
              </a:r>
            </a:p>
          </p:txBody>
        </p:sp>
        <p:sp>
          <p:nvSpPr>
            <p:cNvPr id="105" name="Rectangle 50"/>
            <p:cNvSpPr>
              <a:spLocks noChangeArrowheads="1"/>
            </p:cNvSpPr>
            <p:nvPr/>
          </p:nvSpPr>
          <p:spPr bwMode="auto">
            <a:xfrm>
              <a:off x="2976"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dirty="0">
                  <a:latin typeface="Times New Roman" pitchFamily="18" charset="0"/>
                </a:rPr>
                <a:t>D</a:t>
              </a:r>
            </a:p>
          </p:txBody>
        </p:sp>
        <p:sp>
          <p:nvSpPr>
            <p:cNvPr id="106" name="Rectangle 51"/>
            <p:cNvSpPr>
              <a:spLocks noChangeArrowheads="1"/>
            </p:cNvSpPr>
            <p:nvPr/>
          </p:nvSpPr>
          <p:spPr bwMode="auto">
            <a:xfrm>
              <a:off x="3600"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dirty="0">
                  <a:latin typeface="Times New Roman" pitchFamily="18" charset="0"/>
                </a:rPr>
                <a:t>C</a:t>
              </a:r>
            </a:p>
          </p:txBody>
        </p:sp>
        <p:sp>
          <p:nvSpPr>
            <p:cNvPr id="107" name="Rectangle 52"/>
            <p:cNvSpPr>
              <a:spLocks noChangeArrowheads="1"/>
            </p:cNvSpPr>
            <p:nvPr/>
          </p:nvSpPr>
          <p:spPr bwMode="auto">
            <a:xfrm>
              <a:off x="4176"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B</a:t>
              </a:r>
            </a:p>
          </p:txBody>
        </p:sp>
        <p:sp>
          <p:nvSpPr>
            <p:cNvPr id="108" name="Rectangle 53"/>
            <p:cNvSpPr>
              <a:spLocks noChangeArrowheads="1"/>
            </p:cNvSpPr>
            <p:nvPr/>
          </p:nvSpPr>
          <p:spPr bwMode="auto">
            <a:xfrm>
              <a:off x="4800"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A</a:t>
              </a:r>
            </a:p>
          </p:txBody>
        </p:sp>
        <p:sp>
          <p:nvSpPr>
            <p:cNvPr id="109" name="Rectangle 54"/>
            <p:cNvSpPr>
              <a:spLocks noChangeArrowheads="1"/>
            </p:cNvSpPr>
            <p:nvPr/>
          </p:nvSpPr>
          <p:spPr bwMode="auto">
            <a:xfrm>
              <a:off x="1824"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a:latin typeface="Times New Roman" pitchFamily="18" charset="0"/>
                </a:rPr>
                <a:t>等级分</a:t>
              </a:r>
            </a:p>
          </p:txBody>
        </p:sp>
      </p:grpSp>
      <p:sp>
        <p:nvSpPr>
          <p:cNvPr id="57" name="Line 25"/>
          <p:cNvSpPr>
            <a:spLocks noChangeShapeType="1"/>
          </p:cNvSpPr>
          <p:nvPr/>
        </p:nvSpPr>
        <p:spPr bwMode="auto">
          <a:xfrm>
            <a:off x="4000500" y="3279329"/>
            <a:ext cx="0" cy="1905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 name="AutoShape 26"/>
          <p:cNvSpPr>
            <a:spLocks noChangeArrowheads="1"/>
          </p:cNvSpPr>
          <p:nvPr/>
        </p:nvSpPr>
        <p:spPr bwMode="auto">
          <a:xfrm>
            <a:off x="6743700" y="4687416"/>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1600" b="1">
                <a:latin typeface="宋体" charset="-122"/>
              </a:rPr>
              <a:t>60≤</a:t>
            </a:r>
            <a:r>
              <a:rPr lang="en-US" altLang="zh-CN" sz="1600" b="1">
                <a:latin typeface="Times New Roman" pitchFamily="18" charset="0"/>
              </a:rPr>
              <a:t>Score&lt;70?</a:t>
            </a:r>
          </a:p>
        </p:txBody>
      </p:sp>
      <p:sp>
        <p:nvSpPr>
          <p:cNvPr id="111" name="Line 27"/>
          <p:cNvSpPr>
            <a:spLocks noChangeShapeType="1"/>
          </p:cNvSpPr>
          <p:nvPr/>
        </p:nvSpPr>
        <p:spPr bwMode="auto">
          <a:xfrm>
            <a:off x="9182100" y="5068416"/>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 name="Rectangle 28"/>
          <p:cNvSpPr>
            <a:spLocks noChangeArrowheads="1"/>
          </p:cNvSpPr>
          <p:nvPr/>
        </p:nvSpPr>
        <p:spPr bwMode="auto">
          <a:xfrm>
            <a:off x="1562100" y="4067225"/>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grade=‘C’</a:t>
            </a:r>
          </a:p>
        </p:txBody>
      </p:sp>
      <p:sp>
        <p:nvSpPr>
          <p:cNvPr id="113" name="Line 29"/>
          <p:cNvSpPr>
            <a:spLocks noChangeShapeType="1"/>
          </p:cNvSpPr>
          <p:nvPr/>
        </p:nvSpPr>
        <p:spPr bwMode="auto">
          <a:xfrm>
            <a:off x="2247900" y="3835896"/>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30"/>
          <p:cNvSpPr>
            <a:spLocks noChangeShapeType="1"/>
          </p:cNvSpPr>
          <p:nvPr/>
        </p:nvSpPr>
        <p:spPr bwMode="auto">
          <a:xfrm>
            <a:off x="2247900" y="3838625"/>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AutoShape 31"/>
          <p:cNvSpPr>
            <a:spLocks noChangeArrowheads="1"/>
          </p:cNvSpPr>
          <p:nvPr/>
        </p:nvSpPr>
        <p:spPr bwMode="auto">
          <a:xfrm>
            <a:off x="3101280" y="3466009"/>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1600" b="1" dirty="0">
                <a:latin typeface="宋体" charset="-122"/>
              </a:rPr>
              <a:t>70≤</a:t>
            </a:r>
            <a:r>
              <a:rPr lang="en-US" altLang="zh-CN" sz="1600" b="1" dirty="0">
                <a:latin typeface="Times New Roman" pitchFamily="18" charset="0"/>
              </a:rPr>
              <a:t>Score&lt;80?</a:t>
            </a:r>
            <a:r>
              <a:rPr lang="en-US" altLang="zh-CN" sz="2400" dirty="0"/>
              <a:t> </a:t>
            </a:r>
          </a:p>
        </p:txBody>
      </p:sp>
      <p:sp>
        <p:nvSpPr>
          <p:cNvPr id="116" name="Rectangle 32"/>
          <p:cNvSpPr>
            <a:spLocks noChangeArrowheads="1"/>
          </p:cNvSpPr>
          <p:nvPr/>
        </p:nvSpPr>
        <p:spPr bwMode="auto">
          <a:xfrm>
            <a:off x="2857500" y="353109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Y</a:t>
            </a:r>
          </a:p>
        </p:txBody>
      </p:sp>
      <p:sp>
        <p:nvSpPr>
          <p:cNvPr id="117" name="Line 33"/>
          <p:cNvSpPr>
            <a:spLocks noChangeShapeType="1"/>
          </p:cNvSpPr>
          <p:nvPr/>
        </p:nvSpPr>
        <p:spPr bwMode="auto">
          <a:xfrm>
            <a:off x="4914900" y="3835896"/>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34"/>
          <p:cNvSpPr>
            <a:spLocks noChangeShapeType="1"/>
          </p:cNvSpPr>
          <p:nvPr/>
        </p:nvSpPr>
        <p:spPr bwMode="auto">
          <a:xfrm>
            <a:off x="5753100" y="3838626"/>
            <a:ext cx="0" cy="23080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AutoShape 35"/>
          <p:cNvSpPr>
            <a:spLocks noChangeArrowheads="1"/>
          </p:cNvSpPr>
          <p:nvPr/>
        </p:nvSpPr>
        <p:spPr bwMode="auto">
          <a:xfrm>
            <a:off x="4838700" y="4069432"/>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1600" b="1">
                <a:latin typeface="宋体" charset="-122"/>
              </a:rPr>
              <a:t>80≤</a:t>
            </a:r>
            <a:r>
              <a:rPr lang="en-US" altLang="zh-CN" sz="1600" b="1">
                <a:latin typeface="Times New Roman" pitchFamily="18" charset="0"/>
              </a:rPr>
              <a:t>Score&lt;90?</a:t>
            </a:r>
          </a:p>
        </p:txBody>
      </p:sp>
      <p:sp>
        <p:nvSpPr>
          <p:cNvPr id="120" name="Rectangle 36"/>
          <p:cNvSpPr>
            <a:spLocks noChangeArrowheads="1"/>
          </p:cNvSpPr>
          <p:nvPr/>
        </p:nvSpPr>
        <p:spPr bwMode="auto">
          <a:xfrm>
            <a:off x="3314700" y="4676825"/>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grade=‘B’</a:t>
            </a:r>
          </a:p>
        </p:txBody>
      </p:sp>
      <p:sp>
        <p:nvSpPr>
          <p:cNvPr id="121" name="Rectangle 37"/>
          <p:cNvSpPr>
            <a:spLocks noChangeArrowheads="1"/>
          </p:cNvSpPr>
          <p:nvPr/>
        </p:nvSpPr>
        <p:spPr bwMode="auto">
          <a:xfrm>
            <a:off x="4868534" y="3838625"/>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N</a:t>
            </a:r>
          </a:p>
        </p:txBody>
      </p:sp>
      <p:sp>
        <p:nvSpPr>
          <p:cNvPr id="122" name="Line 38"/>
          <p:cNvSpPr>
            <a:spLocks noChangeShapeType="1"/>
          </p:cNvSpPr>
          <p:nvPr/>
        </p:nvSpPr>
        <p:spPr bwMode="auto">
          <a:xfrm>
            <a:off x="6667500" y="4448225"/>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Line 39"/>
          <p:cNvSpPr>
            <a:spLocks noChangeShapeType="1"/>
          </p:cNvSpPr>
          <p:nvPr/>
        </p:nvSpPr>
        <p:spPr bwMode="auto">
          <a:xfrm>
            <a:off x="7658100" y="4448225"/>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 name="AutoShape 40"/>
          <p:cNvSpPr>
            <a:spLocks noChangeArrowheads="1"/>
          </p:cNvSpPr>
          <p:nvPr/>
        </p:nvSpPr>
        <p:spPr bwMode="auto">
          <a:xfrm>
            <a:off x="4991100" y="5373216"/>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1600" b="1">
                <a:latin typeface="Times New Roman" pitchFamily="18" charset="0"/>
              </a:rPr>
              <a:t>Score&lt;60?</a:t>
            </a:r>
            <a:r>
              <a:rPr lang="en-US" altLang="zh-CN" sz="2400"/>
              <a:t> </a:t>
            </a:r>
          </a:p>
        </p:txBody>
      </p:sp>
      <p:sp>
        <p:nvSpPr>
          <p:cNvPr id="125" name="Rectangle 41"/>
          <p:cNvSpPr>
            <a:spLocks noChangeArrowheads="1"/>
          </p:cNvSpPr>
          <p:nvPr/>
        </p:nvSpPr>
        <p:spPr bwMode="auto">
          <a:xfrm>
            <a:off x="6972300" y="5996136"/>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grade=‘A’</a:t>
            </a:r>
          </a:p>
        </p:txBody>
      </p:sp>
      <p:sp>
        <p:nvSpPr>
          <p:cNvPr id="126" name="Rectangle 42"/>
          <p:cNvSpPr>
            <a:spLocks noChangeArrowheads="1"/>
          </p:cNvSpPr>
          <p:nvPr/>
        </p:nvSpPr>
        <p:spPr bwMode="auto">
          <a:xfrm>
            <a:off x="6591300" y="4143425"/>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N</a:t>
            </a:r>
          </a:p>
        </p:txBody>
      </p:sp>
      <p:sp>
        <p:nvSpPr>
          <p:cNvPr id="127" name="Rectangle 43"/>
          <p:cNvSpPr>
            <a:spLocks noChangeArrowheads="1"/>
          </p:cNvSpPr>
          <p:nvPr/>
        </p:nvSpPr>
        <p:spPr bwMode="auto">
          <a:xfrm>
            <a:off x="8572500" y="5754216"/>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grade=‘D’</a:t>
            </a:r>
          </a:p>
        </p:txBody>
      </p:sp>
      <p:sp>
        <p:nvSpPr>
          <p:cNvPr id="128" name="Line 44"/>
          <p:cNvSpPr>
            <a:spLocks noChangeShapeType="1"/>
          </p:cNvSpPr>
          <p:nvPr/>
        </p:nvSpPr>
        <p:spPr bwMode="auto">
          <a:xfrm>
            <a:off x="8572500" y="5068416"/>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 name="Rectangle 45"/>
          <p:cNvSpPr>
            <a:spLocks noChangeArrowheads="1"/>
          </p:cNvSpPr>
          <p:nvPr/>
        </p:nvSpPr>
        <p:spPr bwMode="auto">
          <a:xfrm>
            <a:off x="8496300" y="476361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Y</a:t>
            </a:r>
          </a:p>
        </p:txBody>
      </p:sp>
      <p:sp>
        <p:nvSpPr>
          <p:cNvPr id="130" name="Rectangle 46"/>
          <p:cNvSpPr>
            <a:spLocks noChangeArrowheads="1"/>
          </p:cNvSpPr>
          <p:nvPr/>
        </p:nvSpPr>
        <p:spPr bwMode="auto">
          <a:xfrm>
            <a:off x="6515100" y="476361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N</a:t>
            </a:r>
          </a:p>
        </p:txBody>
      </p:sp>
      <p:sp>
        <p:nvSpPr>
          <p:cNvPr id="131" name="Rectangle 47"/>
          <p:cNvSpPr>
            <a:spLocks noChangeArrowheads="1"/>
          </p:cNvSpPr>
          <p:nvPr/>
        </p:nvSpPr>
        <p:spPr bwMode="auto">
          <a:xfrm>
            <a:off x="3467100" y="5996136"/>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grade=‘F’</a:t>
            </a:r>
          </a:p>
        </p:txBody>
      </p:sp>
      <p:sp>
        <p:nvSpPr>
          <p:cNvPr id="132" name="Line 48"/>
          <p:cNvSpPr>
            <a:spLocks noChangeShapeType="1"/>
          </p:cNvSpPr>
          <p:nvPr/>
        </p:nvSpPr>
        <p:spPr bwMode="auto">
          <a:xfrm>
            <a:off x="4000500" y="4448225"/>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 name="Line 49"/>
          <p:cNvSpPr>
            <a:spLocks noChangeShapeType="1"/>
          </p:cNvSpPr>
          <p:nvPr/>
        </p:nvSpPr>
        <p:spPr bwMode="auto">
          <a:xfrm>
            <a:off x="4000500" y="4448225"/>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 name="Rectangle 50"/>
          <p:cNvSpPr>
            <a:spLocks noChangeArrowheads="1"/>
          </p:cNvSpPr>
          <p:nvPr/>
        </p:nvSpPr>
        <p:spPr bwMode="auto">
          <a:xfrm>
            <a:off x="4610100" y="4143425"/>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Y</a:t>
            </a:r>
          </a:p>
        </p:txBody>
      </p:sp>
      <p:sp>
        <p:nvSpPr>
          <p:cNvPr id="135" name="Line 51"/>
          <p:cNvSpPr>
            <a:spLocks noChangeShapeType="1"/>
          </p:cNvSpPr>
          <p:nvPr/>
        </p:nvSpPr>
        <p:spPr bwMode="auto">
          <a:xfrm>
            <a:off x="5905500" y="5068416"/>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Line 52"/>
          <p:cNvSpPr>
            <a:spLocks noChangeShapeType="1"/>
          </p:cNvSpPr>
          <p:nvPr/>
        </p:nvSpPr>
        <p:spPr bwMode="auto">
          <a:xfrm>
            <a:off x="5905500" y="5068416"/>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 name="Line 53"/>
          <p:cNvSpPr>
            <a:spLocks noChangeShapeType="1"/>
          </p:cNvSpPr>
          <p:nvPr/>
        </p:nvSpPr>
        <p:spPr bwMode="auto">
          <a:xfrm>
            <a:off x="4152900" y="5754216"/>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 name="Line 54"/>
          <p:cNvSpPr>
            <a:spLocks noChangeShapeType="1"/>
          </p:cNvSpPr>
          <p:nvPr/>
        </p:nvSpPr>
        <p:spPr bwMode="auto">
          <a:xfrm>
            <a:off x="4152900" y="5767536"/>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 name="Line 55"/>
          <p:cNvSpPr>
            <a:spLocks noChangeShapeType="1"/>
          </p:cNvSpPr>
          <p:nvPr/>
        </p:nvSpPr>
        <p:spPr bwMode="auto">
          <a:xfrm>
            <a:off x="6819900" y="5754216"/>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Line 56"/>
          <p:cNvSpPr>
            <a:spLocks noChangeShapeType="1"/>
          </p:cNvSpPr>
          <p:nvPr/>
        </p:nvSpPr>
        <p:spPr bwMode="auto">
          <a:xfrm>
            <a:off x="7658100" y="5767536"/>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 name="Rectangle 57"/>
          <p:cNvSpPr>
            <a:spLocks noChangeArrowheads="1"/>
          </p:cNvSpPr>
          <p:nvPr/>
        </p:nvSpPr>
        <p:spPr bwMode="auto">
          <a:xfrm>
            <a:off x="6743700" y="544941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N</a:t>
            </a:r>
          </a:p>
        </p:txBody>
      </p:sp>
      <p:sp>
        <p:nvSpPr>
          <p:cNvPr id="142" name="Rectangle 58"/>
          <p:cNvSpPr>
            <a:spLocks noChangeArrowheads="1"/>
          </p:cNvSpPr>
          <p:nvPr/>
        </p:nvSpPr>
        <p:spPr bwMode="auto">
          <a:xfrm>
            <a:off x="4686300" y="544941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Y</a:t>
            </a:r>
          </a:p>
        </p:txBody>
      </p:sp>
      <p:sp>
        <p:nvSpPr>
          <p:cNvPr id="61" name="矩形 60"/>
          <p:cNvSpPr/>
          <p:nvPr/>
        </p:nvSpPr>
        <p:spPr>
          <a:xfrm>
            <a:off x="2668619" y="1923665"/>
            <a:ext cx="2185214" cy="461665"/>
          </a:xfrm>
          <a:prstGeom prst="rect">
            <a:avLst/>
          </a:prstGeom>
        </p:spPr>
        <p:txBody>
          <a:bodyPr wrap="none">
            <a:spAutoFit/>
          </a:bodyPr>
          <a:lstStyle/>
          <a:p>
            <a:r>
              <a:rPr kumimoji="1" lang="en-US" altLang="zh-CN" sz="2400" dirty="0">
                <a:latin typeface="黑体" pitchFamily="2" charset="-122"/>
                <a:ea typeface="黑体" pitchFamily="2" charset="-122"/>
              </a:rPr>
              <a:t>1</a:t>
            </a:r>
            <a:r>
              <a:rPr kumimoji="1" lang="zh-CN" altLang="en-US" sz="2400" dirty="0">
                <a:latin typeface="黑体" pitchFamily="2" charset="-122"/>
                <a:ea typeface="黑体" pitchFamily="2" charset="-122"/>
              </a:rPr>
              <a:t>、最优二叉树</a:t>
            </a:r>
          </a:p>
        </p:txBody>
      </p:sp>
      <p:cxnSp>
        <p:nvCxnSpPr>
          <p:cNvPr id="2" name="直接连接符 1">
            <a:extLst>
              <a:ext uri="{FF2B5EF4-FFF2-40B4-BE49-F238E27FC236}">
                <a16:creationId xmlns:a16="http://schemas.microsoft.com/office/drawing/2014/main" xmlns="" id="{84254CF8-D1F2-377E-DF9F-D46A976ECBCF}"/>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D9BF195B-3783-BF76-BE93-6368E8DC40EB}"/>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10677314-7094-F221-F3AA-7FAA1F28E07E}"/>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7.8.1 </a:t>
            </a:r>
            <a:r>
              <a:rPr lang="zh-CN" altLang="en-US" dirty="0"/>
              <a:t>哈夫曼树的定义</a:t>
            </a:r>
          </a:p>
        </p:txBody>
      </p:sp>
    </p:spTree>
    <p:extLst>
      <p:ext uri="{BB962C8B-B14F-4D97-AF65-F5344CB8AC3E}">
        <p14:creationId xmlns:p14="http://schemas.microsoft.com/office/powerpoint/2010/main" val="3728180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slide(fromRight)">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slide(fromTop)">
                                      <p:cBhvr>
                                        <p:cTn id="12" dur="500"/>
                                        <p:tgtEl>
                                          <p:spTgt spid="9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3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3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3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utoUpdateAnimBg="0"/>
      <p:bldP spid="57" grpId="0" animBg="1"/>
      <p:bldP spid="110" grpId="0" animBg="1"/>
      <p:bldP spid="111" grpId="0" animBg="1"/>
      <p:bldP spid="112" grpId="0" animBg="1"/>
      <p:bldP spid="113" grpId="0" animBg="1"/>
      <p:bldP spid="114" grpId="0" animBg="1"/>
      <p:bldP spid="115" grpId="0" animBg="1"/>
      <p:bldP spid="116" grpId="0"/>
      <p:bldP spid="117" grpId="0" animBg="1"/>
      <p:bldP spid="118" grpId="0" animBg="1"/>
      <p:bldP spid="119" grpId="0" animBg="1"/>
      <p:bldP spid="120" grpId="0" animBg="1"/>
      <p:bldP spid="121" grpId="0"/>
      <p:bldP spid="122" grpId="0" animBg="1"/>
      <p:bldP spid="123" grpId="0" animBg="1"/>
      <p:bldP spid="124" grpId="0" animBg="1"/>
      <p:bldP spid="125" grpId="0" animBg="1"/>
      <p:bldP spid="126" grpId="0"/>
      <p:bldP spid="127" grpId="0" animBg="1"/>
      <p:bldP spid="128" grpId="0" animBg="1"/>
      <p:bldP spid="129" grpId="0"/>
      <p:bldP spid="130" grpId="0"/>
      <p:bldP spid="131" grpId="0" animBg="1"/>
      <p:bldP spid="132" grpId="0" animBg="1"/>
      <p:bldP spid="133" grpId="0" animBg="1"/>
      <p:bldP spid="134" grpId="0"/>
      <p:bldP spid="135" grpId="0" animBg="1"/>
      <p:bldP spid="136" grpId="0" animBg="1"/>
      <p:bldP spid="137" grpId="0" animBg="1"/>
      <p:bldP spid="138" grpId="0" animBg="1"/>
      <p:bldP spid="139" grpId="0" animBg="1"/>
      <p:bldP spid="140" grpId="0" animBg="1"/>
      <p:bldP spid="141" grpId="0"/>
      <p:bldP spid="142"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3"/>
          <p:cNvSpPr txBox="1">
            <a:spLocks noChangeArrowheads="1"/>
          </p:cNvSpPr>
          <p:nvPr/>
        </p:nvSpPr>
        <p:spPr>
          <a:xfrm>
            <a:off x="2057400" y="2348534"/>
            <a:ext cx="8503096" cy="79243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zh-CN" altLang="en-US" sz="2000" dirty="0">
                <a:latin typeface="黑体" pitchFamily="2" charset="-122"/>
                <a:ea typeface="黑体" pitchFamily="2" charset="-122"/>
              </a:rPr>
              <a:t>最优二叉树（也称哈夫曼树，</a:t>
            </a:r>
            <a:r>
              <a:rPr lang="en-US" altLang="zh-CN" sz="2000" dirty="0">
                <a:latin typeface="Times New Roman" pitchFamily="18" charset="0"/>
              </a:rPr>
              <a:t>Huffman Tree</a:t>
            </a:r>
            <a:r>
              <a:rPr kumimoji="1" lang="zh-CN" altLang="en-US" sz="2000" dirty="0">
                <a:latin typeface="黑体" pitchFamily="2" charset="-122"/>
                <a:ea typeface="黑体" pitchFamily="2" charset="-122"/>
              </a:rPr>
              <a:t>）是一类带权路径长度最短的树。</a:t>
            </a:r>
          </a:p>
        </p:txBody>
      </p:sp>
      <p:sp>
        <p:nvSpPr>
          <p:cNvPr id="57" name="Rectangle 3"/>
          <p:cNvSpPr txBox="1">
            <a:spLocks noChangeArrowheads="1"/>
          </p:cNvSpPr>
          <p:nvPr/>
        </p:nvSpPr>
        <p:spPr>
          <a:xfrm>
            <a:off x="2063552" y="4797152"/>
            <a:ext cx="8064896" cy="136815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30000"/>
              </a:spcBef>
              <a:buNone/>
            </a:pPr>
            <a:r>
              <a:rPr kumimoji="1" lang="zh-CN" altLang="en-US" sz="2000" dirty="0">
                <a:latin typeface="黑体" pitchFamily="2" charset="-122"/>
                <a:ea typeface="黑体" pitchFamily="2" charset="-122"/>
              </a:rPr>
              <a:t>结点的带权路径长度</a:t>
            </a:r>
          </a:p>
          <a:p>
            <a:pPr marL="990600" lvl="1" indent="-533400">
              <a:spcBef>
                <a:spcPct val="30000"/>
              </a:spcBef>
              <a:buClr>
                <a:schemeClr val="folHlink"/>
              </a:buClr>
              <a:buFont typeface="Wingdings" pitchFamily="2" charset="2"/>
              <a:buChar char="Ø"/>
            </a:pPr>
            <a:r>
              <a:rPr kumimoji="1" lang="zh-CN" altLang="en-US" sz="2000" dirty="0">
                <a:latin typeface="黑体" pitchFamily="2" charset="-122"/>
                <a:ea typeface="黑体" pitchFamily="2" charset="-122"/>
              </a:rPr>
              <a:t>从根到该结点的路径长度与该结点权的乘积称为结点的带权路径长度。</a:t>
            </a:r>
          </a:p>
        </p:txBody>
      </p:sp>
      <p:sp>
        <p:nvSpPr>
          <p:cNvPr id="9" name="矩形 8"/>
          <p:cNvSpPr/>
          <p:nvPr/>
        </p:nvSpPr>
        <p:spPr>
          <a:xfrm>
            <a:off x="2668619" y="1923665"/>
            <a:ext cx="2185214" cy="461665"/>
          </a:xfrm>
          <a:prstGeom prst="rect">
            <a:avLst/>
          </a:prstGeom>
        </p:spPr>
        <p:txBody>
          <a:bodyPr wrap="none">
            <a:spAutoFit/>
          </a:bodyPr>
          <a:lstStyle/>
          <a:p>
            <a:r>
              <a:rPr kumimoji="1" lang="en-US" altLang="zh-CN" sz="2400" dirty="0">
                <a:latin typeface="黑体" pitchFamily="2" charset="-122"/>
                <a:ea typeface="黑体" pitchFamily="2" charset="-122"/>
              </a:rPr>
              <a:t>1</a:t>
            </a:r>
            <a:r>
              <a:rPr kumimoji="1" lang="zh-CN" altLang="en-US" sz="2400" dirty="0">
                <a:latin typeface="黑体" pitchFamily="2" charset="-122"/>
                <a:ea typeface="黑体" pitchFamily="2" charset="-122"/>
              </a:rPr>
              <a:t>、最优二叉树</a:t>
            </a:r>
          </a:p>
        </p:txBody>
      </p:sp>
      <p:sp>
        <p:nvSpPr>
          <p:cNvPr id="2" name="矩形 1"/>
          <p:cNvSpPr/>
          <p:nvPr/>
        </p:nvSpPr>
        <p:spPr>
          <a:xfrm>
            <a:off x="2646222" y="2886033"/>
            <a:ext cx="6762146" cy="1815882"/>
          </a:xfrm>
          <a:prstGeom prst="rect">
            <a:avLst/>
          </a:prstGeom>
        </p:spPr>
        <p:txBody>
          <a:bodyPr wrap="square">
            <a:spAutoFit/>
          </a:bodyPr>
          <a:lstStyle/>
          <a:p>
            <a:r>
              <a:rPr kumimoji="1" lang="zh-CN" altLang="en-US" sz="2000" dirty="0">
                <a:latin typeface="黑体" pitchFamily="2" charset="-122"/>
                <a:ea typeface="黑体" pitchFamily="2" charset="-122"/>
              </a:rPr>
              <a:t>路径和路径长度</a:t>
            </a:r>
          </a:p>
          <a:p>
            <a:pPr lvl="1">
              <a:buClr>
                <a:schemeClr val="folHlink"/>
              </a:buClr>
              <a:buSzPct val="75000"/>
              <a:buFont typeface="Wingdings" pitchFamily="2" charset="2"/>
              <a:buChar char="Ø"/>
            </a:pPr>
            <a:r>
              <a:rPr kumimoji="1" lang="zh-CN" altLang="en-US" sz="2000" dirty="0">
                <a:latin typeface="黑体" pitchFamily="2" charset="-122"/>
                <a:ea typeface="黑体" pitchFamily="2" charset="-122"/>
              </a:rPr>
              <a:t>从树中的一个结点到另一个结点之间的分支构成这两个结点之间的路径，路径上的分支数目称作</a:t>
            </a:r>
            <a:r>
              <a:rPr kumimoji="1" lang="zh-CN" altLang="en-US" sz="2000" dirty="0">
                <a:solidFill>
                  <a:srgbClr val="FF0000"/>
                </a:solidFill>
                <a:latin typeface="黑体" pitchFamily="2" charset="-122"/>
                <a:ea typeface="黑体" pitchFamily="2" charset="-122"/>
              </a:rPr>
              <a:t>路径长度</a:t>
            </a:r>
            <a:r>
              <a:rPr kumimoji="1" lang="zh-CN" altLang="en-US" sz="2000" dirty="0">
                <a:latin typeface="黑体" pitchFamily="2" charset="-122"/>
                <a:ea typeface="黑体" pitchFamily="2" charset="-122"/>
              </a:rPr>
              <a:t>。</a:t>
            </a:r>
          </a:p>
          <a:p>
            <a:pPr>
              <a:spcBef>
                <a:spcPct val="30000"/>
              </a:spcBef>
            </a:pPr>
            <a:r>
              <a:rPr kumimoji="1" lang="zh-CN" altLang="en-US" sz="2000" dirty="0">
                <a:latin typeface="黑体" pitchFamily="2" charset="-122"/>
                <a:ea typeface="黑体" pitchFamily="2" charset="-122"/>
              </a:rPr>
              <a:t>结点的权</a:t>
            </a:r>
          </a:p>
          <a:p>
            <a:pPr lvl="1">
              <a:spcBef>
                <a:spcPct val="30000"/>
              </a:spcBef>
              <a:buClr>
                <a:schemeClr val="folHlink"/>
              </a:buClr>
              <a:buSzPct val="75000"/>
              <a:buFont typeface="Wingdings" pitchFamily="2" charset="2"/>
              <a:buChar char="Ø"/>
            </a:pPr>
            <a:r>
              <a:rPr kumimoji="1" lang="zh-CN" altLang="en-US" sz="2000" dirty="0">
                <a:latin typeface="黑体" pitchFamily="2" charset="-122"/>
                <a:ea typeface="黑体" pitchFamily="2" charset="-122"/>
              </a:rPr>
              <a:t>根据应用的需要可以给树的结点赋权值</a:t>
            </a:r>
          </a:p>
        </p:txBody>
      </p:sp>
      <p:cxnSp>
        <p:nvCxnSpPr>
          <p:cNvPr id="3" name="直接连接符 2">
            <a:extLst>
              <a:ext uri="{FF2B5EF4-FFF2-40B4-BE49-F238E27FC236}">
                <a16:creationId xmlns:a16="http://schemas.microsoft.com/office/drawing/2014/main" xmlns="" id="{9E6D95AB-BC28-3117-C69E-66DBF5746757}"/>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xmlns="" id="{5AB30C57-1500-4F37-9FFA-A906F8F9C723}"/>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5" name="Rectangle 2">
            <a:extLst>
              <a:ext uri="{FF2B5EF4-FFF2-40B4-BE49-F238E27FC236}">
                <a16:creationId xmlns:a16="http://schemas.microsoft.com/office/drawing/2014/main" xmlns="" id="{7597923B-F7D2-0820-7D65-EFF4CA636CF7}"/>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7.8.1 </a:t>
            </a:r>
            <a:r>
              <a:rPr lang="zh-CN" altLang="en-US" dirty="0"/>
              <a:t>哈夫曼树的定义</a:t>
            </a:r>
          </a:p>
        </p:txBody>
      </p:sp>
    </p:spTree>
    <p:extLst>
      <p:ext uri="{BB962C8B-B14F-4D97-AF65-F5344CB8AC3E}">
        <p14:creationId xmlns:p14="http://schemas.microsoft.com/office/powerpoint/2010/main" val="38449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2"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3"/>
          <p:cNvSpPr txBox="1">
            <a:spLocks noChangeArrowheads="1"/>
          </p:cNvSpPr>
          <p:nvPr/>
        </p:nvSpPr>
        <p:spPr>
          <a:xfrm>
            <a:off x="2057400" y="2456720"/>
            <a:ext cx="8503096" cy="4682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zh-CN" altLang="en-US" sz="2000" dirty="0">
                <a:latin typeface="黑体" pitchFamily="2" charset="-122"/>
                <a:ea typeface="黑体" pitchFamily="2" charset="-122"/>
              </a:rPr>
              <a:t>最优二叉树（也称赫夫曼树，</a:t>
            </a:r>
            <a:r>
              <a:rPr lang="en-US" altLang="zh-CN" sz="2000" dirty="0">
                <a:latin typeface="Times New Roman" pitchFamily="18" charset="0"/>
              </a:rPr>
              <a:t>Huffman Tree</a:t>
            </a:r>
            <a:r>
              <a:rPr kumimoji="1" lang="zh-CN" altLang="en-US" sz="2000" dirty="0">
                <a:latin typeface="黑体" pitchFamily="2" charset="-122"/>
                <a:ea typeface="黑体" pitchFamily="2" charset="-122"/>
              </a:rPr>
              <a:t>）是一类带权路径长度最短的树。</a:t>
            </a:r>
          </a:p>
        </p:txBody>
      </p:sp>
      <p:sp>
        <p:nvSpPr>
          <p:cNvPr id="2" name="矩形 1"/>
          <p:cNvSpPr/>
          <p:nvPr/>
        </p:nvSpPr>
        <p:spPr>
          <a:xfrm>
            <a:off x="2652746" y="2941311"/>
            <a:ext cx="7272808" cy="1015663"/>
          </a:xfrm>
          <a:prstGeom prst="rect">
            <a:avLst/>
          </a:prstGeom>
        </p:spPr>
        <p:txBody>
          <a:bodyPr wrap="square">
            <a:spAutoFit/>
          </a:bodyPr>
          <a:lstStyle/>
          <a:p>
            <a:r>
              <a:rPr kumimoji="1" lang="zh-CN" altLang="en-US" sz="2000" dirty="0">
                <a:latin typeface="黑体" pitchFamily="2" charset="-122"/>
                <a:ea typeface="黑体" pitchFamily="2" charset="-122"/>
              </a:rPr>
              <a:t>树的带权路径长度</a:t>
            </a:r>
          </a:p>
          <a:p>
            <a:pPr marL="990600" lvl="1" indent="-533400">
              <a:buClr>
                <a:schemeClr val="folHlink"/>
              </a:buClr>
              <a:buFont typeface="Wingdings" pitchFamily="2" charset="2"/>
              <a:buChar char="Ø"/>
            </a:pPr>
            <a:r>
              <a:rPr kumimoji="1" lang="zh-CN" altLang="en-US" sz="2000" dirty="0">
                <a:latin typeface="黑体" pitchFamily="2" charset="-122"/>
                <a:ea typeface="黑体" pitchFamily="2" charset="-122"/>
              </a:rPr>
              <a:t>树中所有叶子的带权路径长度之和称为树的带权路径长度，记作：</a:t>
            </a:r>
          </a:p>
        </p:txBody>
      </p:sp>
      <p:graphicFrame>
        <p:nvGraphicFramePr>
          <p:cNvPr id="3" name="对象 2"/>
          <p:cNvGraphicFramePr>
            <a:graphicFrameLocks noChangeAspect="1"/>
          </p:cNvGraphicFramePr>
          <p:nvPr>
            <p:extLst>
              <p:ext uri="{D42A27DB-BD31-4B8C-83A1-F6EECF244321}">
                <p14:modId xmlns:p14="http://schemas.microsoft.com/office/powerpoint/2010/main" val="3295271401"/>
              </p:ext>
            </p:extLst>
          </p:nvPr>
        </p:nvGraphicFramePr>
        <p:xfrm>
          <a:off x="4968875" y="3935909"/>
          <a:ext cx="2254250" cy="871537"/>
        </p:xfrm>
        <a:graphic>
          <a:graphicData uri="http://schemas.openxmlformats.org/presentationml/2006/ole">
            <mc:AlternateContent xmlns:mc="http://schemas.openxmlformats.org/markup-compatibility/2006">
              <mc:Choice xmlns:v="urn:schemas-microsoft-com:vml" Requires="v">
                <p:oleObj spid="_x0000_s4098" name="Equation" r:id="rId3" imgW="901309" imgH="368140" progId="Equation.3">
                  <p:embed/>
                </p:oleObj>
              </mc:Choice>
              <mc:Fallback>
                <p:oleObj name="Equation" r:id="rId3" imgW="901309" imgH="3681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8875" y="3935909"/>
                        <a:ext cx="2254250" cy="8715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Oval 6"/>
          <p:cNvSpPr>
            <a:spLocks noChangeArrowheads="1"/>
          </p:cNvSpPr>
          <p:nvPr/>
        </p:nvSpPr>
        <p:spPr bwMode="auto">
          <a:xfrm>
            <a:off x="2245296" y="314096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endParaRPr lang="zh-CN" altLang="zh-CN" sz="2400"/>
          </a:p>
        </p:txBody>
      </p:sp>
      <p:sp>
        <p:nvSpPr>
          <p:cNvPr id="11" name="Line 7"/>
          <p:cNvSpPr>
            <a:spLocks noChangeShapeType="1"/>
          </p:cNvSpPr>
          <p:nvPr/>
        </p:nvSpPr>
        <p:spPr bwMode="auto">
          <a:xfrm>
            <a:off x="2473896" y="3598168"/>
            <a:ext cx="38100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 name="Oval 8"/>
          <p:cNvSpPr>
            <a:spLocks noChangeArrowheads="1"/>
          </p:cNvSpPr>
          <p:nvPr/>
        </p:nvSpPr>
        <p:spPr bwMode="auto">
          <a:xfrm>
            <a:off x="2702496" y="382676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endParaRPr lang="zh-CN" altLang="zh-CN" sz="2400"/>
          </a:p>
        </p:txBody>
      </p:sp>
      <p:sp>
        <p:nvSpPr>
          <p:cNvPr id="13" name="Text Box 9"/>
          <p:cNvSpPr txBox="1">
            <a:spLocks noChangeArrowheads="1"/>
          </p:cNvSpPr>
          <p:nvPr/>
        </p:nvSpPr>
        <p:spPr bwMode="auto">
          <a:xfrm>
            <a:off x="1559496" y="3979169"/>
            <a:ext cx="304800"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14" name="Text Box 10"/>
          <p:cNvSpPr txBox="1">
            <a:spLocks noChangeArrowheads="1"/>
          </p:cNvSpPr>
          <p:nvPr/>
        </p:nvSpPr>
        <p:spPr bwMode="auto">
          <a:xfrm>
            <a:off x="2016696" y="4664969"/>
            <a:ext cx="304800"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000">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5</a:t>
            </a:r>
          </a:p>
        </p:txBody>
      </p:sp>
      <p:sp>
        <p:nvSpPr>
          <p:cNvPr id="15" name="Oval 11"/>
          <p:cNvSpPr>
            <a:spLocks noChangeArrowheads="1"/>
          </p:cNvSpPr>
          <p:nvPr/>
        </p:nvSpPr>
        <p:spPr bwMode="auto">
          <a:xfrm>
            <a:off x="3312096" y="443636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endParaRPr lang="zh-CN" altLang="zh-CN" sz="2400"/>
          </a:p>
        </p:txBody>
      </p:sp>
      <p:sp>
        <p:nvSpPr>
          <p:cNvPr id="16" name="Line 12"/>
          <p:cNvSpPr>
            <a:spLocks noChangeShapeType="1"/>
          </p:cNvSpPr>
          <p:nvPr/>
        </p:nvSpPr>
        <p:spPr bwMode="auto">
          <a:xfrm>
            <a:off x="3540696" y="4893568"/>
            <a:ext cx="38100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 name="Oval 13"/>
          <p:cNvSpPr>
            <a:spLocks noChangeArrowheads="1"/>
          </p:cNvSpPr>
          <p:nvPr/>
        </p:nvSpPr>
        <p:spPr bwMode="auto">
          <a:xfrm>
            <a:off x="3769296" y="512216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r>
              <a:rPr lang="en-US" altLang="zh-CN" sz="2400"/>
              <a:t>d</a:t>
            </a:r>
          </a:p>
        </p:txBody>
      </p:sp>
      <p:sp>
        <p:nvSpPr>
          <p:cNvPr id="18" name="Line 14"/>
          <p:cNvSpPr>
            <a:spLocks noChangeShapeType="1"/>
          </p:cNvSpPr>
          <p:nvPr/>
        </p:nvSpPr>
        <p:spPr bwMode="auto">
          <a:xfrm>
            <a:off x="3007296" y="4283968"/>
            <a:ext cx="457200" cy="152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 name="Line 15"/>
          <p:cNvSpPr>
            <a:spLocks noChangeShapeType="1"/>
          </p:cNvSpPr>
          <p:nvPr/>
        </p:nvSpPr>
        <p:spPr bwMode="auto">
          <a:xfrm flipH="1">
            <a:off x="2092896" y="3598168"/>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 name="Oval 16"/>
          <p:cNvSpPr>
            <a:spLocks noChangeArrowheads="1"/>
          </p:cNvSpPr>
          <p:nvPr/>
        </p:nvSpPr>
        <p:spPr bwMode="auto">
          <a:xfrm>
            <a:off x="1864296" y="390296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r>
              <a:rPr lang="en-US" altLang="zh-CN" sz="2400"/>
              <a:t>a</a:t>
            </a:r>
          </a:p>
        </p:txBody>
      </p:sp>
      <p:sp>
        <p:nvSpPr>
          <p:cNvPr id="21" name="Line 17"/>
          <p:cNvSpPr>
            <a:spLocks noChangeShapeType="1"/>
          </p:cNvSpPr>
          <p:nvPr/>
        </p:nvSpPr>
        <p:spPr bwMode="auto">
          <a:xfrm flipH="1">
            <a:off x="2550096" y="4283968"/>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Oval 18"/>
          <p:cNvSpPr>
            <a:spLocks noChangeArrowheads="1"/>
          </p:cNvSpPr>
          <p:nvPr/>
        </p:nvSpPr>
        <p:spPr bwMode="auto">
          <a:xfrm>
            <a:off x="2321496" y="458876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r>
              <a:rPr lang="en-US" altLang="zh-CN" sz="2400"/>
              <a:t>b</a:t>
            </a:r>
          </a:p>
        </p:txBody>
      </p:sp>
      <p:sp>
        <p:nvSpPr>
          <p:cNvPr id="23" name="Line 19"/>
          <p:cNvSpPr>
            <a:spLocks noChangeShapeType="1"/>
          </p:cNvSpPr>
          <p:nvPr/>
        </p:nvSpPr>
        <p:spPr bwMode="auto">
          <a:xfrm flipH="1">
            <a:off x="3159696" y="4893568"/>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 name="Oval 20"/>
          <p:cNvSpPr>
            <a:spLocks noChangeArrowheads="1"/>
          </p:cNvSpPr>
          <p:nvPr/>
        </p:nvSpPr>
        <p:spPr bwMode="auto">
          <a:xfrm>
            <a:off x="2931096" y="519836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r>
              <a:rPr lang="en-US" altLang="zh-CN" sz="2400"/>
              <a:t>c</a:t>
            </a:r>
          </a:p>
        </p:txBody>
      </p:sp>
      <p:sp>
        <p:nvSpPr>
          <p:cNvPr id="25" name="Text Box 21"/>
          <p:cNvSpPr txBox="1">
            <a:spLocks noChangeArrowheads="1"/>
          </p:cNvSpPr>
          <p:nvPr/>
        </p:nvSpPr>
        <p:spPr bwMode="auto">
          <a:xfrm>
            <a:off x="3007296" y="5639694"/>
            <a:ext cx="304800"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000">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2</a:t>
            </a:r>
          </a:p>
        </p:txBody>
      </p:sp>
      <p:sp>
        <p:nvSpPr>
          <p:cNvPr id="26" name="Text Box 22"/>
          <p:cNvSpPr txBox="1">
            <a:spLocks noChangeArrowheads="1"/>
          </p:cNvSpPr>
          <p:nvPr/>
        </p:nvSpPr>
        <p:spPr bwMode="auto">
          <a:xfrm>
            <a:off x="3845496" y="5655569"/>
            <a:ext cx="304800"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000">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4</a:t>
            </a:r>
          </a:p>
        </p:txBody>
      </p:sp>
      <p:sp>
        <p:nvSpPr>
          <p:cNvPr id="4" name="矩形 3"/>
          <p:cNvSpPr/>
          <p:nvPr/>
        </p:nvSpPr>
        <p:spPr>
          <a:xfrm>
            <a:off x="4690456" y="4769858"/>
            <a:ext cx="5726025" cy="1323439"/>
          </a:xfrm>
          <a:prstGeom prst="rect">
            <a:avLst/>
          </a:prstGeom>
        </p:spPr>
        <p:txBody>
          <a:bodyPr wrap="square">
            <a:spAutoFit/>
          </a:bodyPr>
          <a:lstStyle/>
          <a:p>
            <a:r>
              <a:rPr kumimoji="1" lang="zh-CN" altLang="en-US" sz="2000" dirty="0">
                <a:latin typeface="黑体" pitchFamily="2" charset="-122"/>
                <a:ea typeface="黑体" pitchFamily="2" charset="-122"/>
              </a:rPr>
              <a:t>赫夫曼树（</a:t>
            </a:r>
            <a:r>
              <a:rPr lang="en-US" altLang="zh-CN" sz="2000" dirty="0" err="1">
                <a:latin typeface="Times New Roman" pitchFamily="18" charset="0"/>
              </a:rPr>
              <a:t>huffman</a:t>
            </a:r>
            <a:r>
              <a:rPr kumimoji="1" lang="zh-CN" altLang="en-US" sz="2000" dirty="0">
                <a:latin typeface="黑体" pitchFamily="2" charset="-122"/>
                <a:ea typeface="黑体" pitchFamily="2" charset="-122"/>
              </a:rPr>
              <a:t>树）</a:t>
            </a:r>
            <a:endParaRPr kumimoji="1" lang="en-US" altLang="zh-CN" sz="2000" dirty="0">
              <a:latin typeface="黑体" pitchFamily="2" charset="-122"/>
              <a:ea typeface="黑体" pitchFamily="2" charset="-122"/>
            </a:endParaRPr>
          </a:p>
          <a:p>
            <a:r>
              <a:rPr kumimoji="1" lang="zh-CN" altLang="en-US" sz="2000" dirty="0">
                <a:latin typeface="黑体" pitchFamily="2" charset="-122"/>
                <a:ea typeface="黑体" pitchFamily="2" charset="-122"/>
              </a:rPr>
              <a:t>    在权为</a:t>
            </a:r>
            <a:r>
              <a:rPr lang="en-US" altLang="zh-CN" sz="2000" dirty="0">
                <a:latin typeface="Times New Roman" pitchFamily="18" charset="0"/>
              </a:rPr>
              <a:t>w</a:t>
            </a:r>
            <a:r>
              <a:rPr lang="en-US" altLang="zh-CN" sz="2000" baseline="-25000" dirty="0">
                <a:latin typeface="Times New Roman" pitchFamily="18" charset="0"/>
              </a:rPr>
              <a:t>1</a:t>
            </a:r>
            <a:r>
              <a:rPr lang="en-US" altLang="zh-CN" sz="2000" dirty="0">
                <a:latin typeface="Times New Roman" pitchFamily="18" charset="0"/>
              </a:rPr>
              <a:t>,w</a:t>
            </a:r>
            <a:r>
              <a:rPr lang="en-US" altLang="zh-CN" sz="2000" baseline="-25000" dirty="0">
                <a:latin typeface="Times New Roman" pitchFamily="18" charset="0"/>
              </a:rPr>
              <a:t>2</a:t>
            </a:r>
            <a:r>
              <a:rPr lang="en-US" altLang="zh-CN" sz="2000" dirty="0">
                <a:latin typeface="Times New Roman" pitchFamily="18" charset="0"/>
              </a:rPr>
              <a:t>,…,</a:t>
            </a:r>
            <a:r>
              <a:rPr lang="en-US" altLang="zh-CN" sz="2000" dirty="0" err="1">
                <a:latin typeface="Times New Roman" pitchFamily="18" charset="0"/>
              </a:rPr>
              <a:t>w</a:t>
            </a:r>
            <a:r>
              <a:rPr lang="en-US" altLang="zh-CN" sz="2000" baseline="-25000" dirty="0" err="1">
                <a:latin typeface="Times New Roman" pitchFamily="18" charset="0"/>
              </a:rPr>
              <a:t>n</a:t>
            </a:r>
            <a:r>
              <a:rPr kumimoji="1" lang="zh-CN" altLang="en-US" sz="2000" dirty="0">
                <a:latin typeface="黑体" pitchFamily="2" charset="-122"/>
                <a:ea typeface="黑体" pitchFamily="2" charset="-122"/>
              </a:rPr>
              <a:t>的</a:t>
            </a:r>
            <a:r>
              <a:rPr kumimoji="1" lang="en-US" altLang="zh-CN" sz="2000" dirty="0">
                <a:latin typeface="黑体" pitchFamily="2" charset="-122"/>
                <a:ea typeface="黑体" pitchFamily="2" charset="-122"/>
              </a:rPr>
              <a:t>n</a:t>
            </a:r>
            <a:r>
              <a:rPr kumimoji="1" lang="zh-CN" altLang="en-US" sz="2000" dirty="0">
                <a:latin typeface="黑体" pitchFamily="2" charset="-122"/>
                <a:ea typeface="黑体" pitchFamily="2" charset="-122"/>
              </a:rPr>
              <a:t>个叶子结点的所有二叉树中，带权路径长度</a:t>
            </a:r>
            <a:r>
              <a:rPr kumimoji="1" lang="en-US" altLang="zh-CN" sz="2000" dirty="0">
                <a:latin typeface="黑体" pitchFamily="2" charset="-122"/>
                <a:ea typeface="黑体" pitchFamily="2" charset="-122"/>
              </a:rPr>
              <a:t>WPL</a:t>
            </a:r>
            <a:r>
              <a:rPr kumimoji="1" lang="zh-CN" altLang="en-US" sz="2000" dirty="0">
                <a:latin typeface="黑体" pitchFamily="2" charset="-122"/>
                <a:ea typeface="黑体" pitchFamily="2" charset="-122"/>
              </a:rPr>
              <a:t>最小的二叉树称为赫夫曼树或最优二叉树。</a:t>
            </a:r>
          </a:p>
        </p:txBody>
      </p:sp>
      <p:sp>
        <p:nvSpPr>
          <p:cNvPr id="30" name="矩形 29"/>
          <p:cNvSpPr/>
          <p:nvPr/>
        </p:nvSpPr>
        <p:spPr>
          <a:xfrm>
            <a:off x="2668619" y="1923665"/>
            <a:ext cx="2185214" cy="461665"/>
          </a:xfrm>
          <a:prstGeom prst="rect">
            <a:avLst/>
          </a:prstGeom>
        </p:spPr>
        <p:txBody>
          <a:bodyPr wrap="none">
            <a:spAutoFit/>
          </a:bodyPr>
          <a:lstStyle/>
          <a:p>
            <a:r>
              <a:rPr kumimoji="1" lang="en-US" altLang="zh-CN" sz="2400" dirty="0">
                <a:latin typeface="黑体" pitchFamily="2" charset="-122"/>
                <a:ea typeface="黑体" pitchFamily="2" charset="-122"/>
              </a:rPr>
              <a:t>1</a:t>
            </a:r>
            <a:r>
              <a:rPr kumimoji="1" lang="zh-CN" altLang="en-US" sz="2400" dirty="0">
                <a:latin typeface="黑体" pitchFamily="2" charset="-122"/>
                <a:ea typeface="黑体" pitchFamily="2" charset="-122"/>
              </a:rPr>
              <a:t>、最优二叉树</a:t>
            </a:r>
          </a:p>
        </p:txBody>
      </p:sp>
      <p:cxnSp>
        <p:nvCxnSpPr>
          <p:cNvPr id="8" name="直接连接符 7">
            <a:extLst>
              <a:ext uri="{FF2B5EF4-FFF2-40B4-BE49-F238E27FC236}">
                <a16:creationId xmlns:a16="http://schemas.microsoft.com/office/drawing/2014/main" xmlns="" id="{049942FE-10F0-5A6C-EF46-2BFF5111AAA2}"/>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xmlns="" id="{326778AF-77A1-BD8F-6A34-1E1278C7CE0E}"/>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28" name="Rectangle 2">
            <a:extLst>
              <a:ext uri="{FF2B5EF4-FFF2-40B4-BE49-F238E27FC236}">
                <a16:creationId xmlns:a16="http://schemas.microsoft.com/office/drawing/2014/main" xmlns="" id="{ED38867C-944D-4CB3-D8B3-99B4A0F7162D}"/>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7.8.1 </a:t>
            </a:r>
            <a:r>
              <a:rPr lang="zh-CN" altLang="en-US" dirty="0"/>
              <a:t>哈夫曼树的定义</a:t>
            </a:r>
          </a:p>
        </p:txBody>
      </p:sp>
    </p:spTree>
    <p:extLst>
      <p:ext uri="{BB962C8B-B14F-4D97-AF65-F5344CB8AC3E}">
        <p14:creationId xmlns:p14="http://schemas.microsoft.com/office/powerpoint/2010/main" val="378476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p:bldP spid="14" grpId="0"/>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6" grpId="0"/>
      <p:bldP spid="4"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txBox="1">
            <a:spLocks noChangeArrowheads="1"/>
          </p:cNvSpPr>
          <p:nvPr/>
        </p:nvSpPr>
        <p:spPr>
          <a:xfrm>
            <a:off x="2785336" y="2289066"/>
            <a:ext cx="7487377" cy="707886"/>
          </a:xfrm>
          <a:prstGeom prst="rect">
            <a:avLst/>
          </a:prstGeo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50000"/>
              </a:spcBef>
              <a:buNone/>
            </a:pPr>
            <a:r>
              <a:rPr kumimoji="1" lang="zh-CN" altLang="en-US" sz="2000" dirty="0">
                <a:latin typeface="黑体" pitchFamily="2" charset="-122"/>
                <a:ea typeface="黑体" pitchFamily="2" charset="-122"/>
              </a:rPr>
              <a:t>例如，有</a:t>
            </a:r>
            <a:r>
              <a:rPr kumimoji="1" lang="en-US" altLang="zh-CN" sz="2000" dirty="0">
                <a:latin typeface="黑体" pitchFamily="2" charset="-122"/>
                <a:ea typeface="黑体" pitchFamily="2" charset="-122"/>
              </a:rPr>
              <a:t>4</a:t>
            </a:r>
            <a:r>
              <a:rPr kumimoji="1" lang="zh-CN" altLang="en-US" sz="2000" dirty="0">
                <a:latin typeface="黑体" pitchFamily="2" charset="-122"/>
                <a:ea typeface="黑体" pitchFamily="2" charset="-122"/>
              </a:rPr>
              <a:t>个结点</a:t>
            </a:r>
            <a:r>
              <a:rPr kumimoji="1" lang="en-US" altLang="zh-CN" sz="2000" dirty="0" err="1">
                <a:latin typeface="黑体" pitchFamily="2" charset="-122"/>
                <a:ea typeface="黑体" pitchFamily="2" charset="-122"/>
              </a:rPr>
              <a:t>a,b,c,d</a:t>
            </a:r>
            <a:r>
              <a:rPr kumimoji="1" lang="zh-CN" altLang="en-US" sz="2000" dirty="0">
                <a:latin typeface="黑体" pitchFamily="2" charset="-122"/>
                <a:ea typeface="黑体" pitchFamily="2" charset="-122"/>
              </a:rPr>
              <a:t>，分别带权</a:t>
            </a:r>
            <a:r>
              <a:rPr kumimoji="1" lang="en-US" altLang="zh-CN" sz="2000" dirty="0">
                <a:latin typeface="黑体" pitchFamily="2" charset="-122"/>
                <a:ea typeface="黑体" pitchFamily="2" charset="-122"/>
              </a:rPr>
              <a:t>7,5,2,4</a:t>
            </a:r>
            <a:r>
              <a:rPr kumimoji="1" lang="zh-CN" altLang="en-US" sz="2000" dirty="0">
                <a:latin typeface="黑体" pitchFamily="2" charset="-122"/>
                <a:ea typeface="黑体" pitchFamily="2" charset="-122"/>
              </a:rPr>
              <a:t>，由它们作为叶子结点，可以构造下列三棵不同的二叉树</a:t>
            </a:r>
          </a:p>
        </p:txBody>
      </p:sp>
      <p:sp>
        <p:nvSpPr>
          <p:cNvPr id="29" name="Oval 4"/>
          <p:cNvSpPr>
            <a:spLocks noChangeArrowheads="1"/>
          </p:cNvSpPr>
          <p:nvPr/>
        </p:nvSpPr>
        <p:spPr bwMode="auto">
          <a:xfrm>
            <a:off x="2041975" y="4117029"/>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a</a:t>
            </a:r>
          </a:p>
        </p:txBody>
      </p:sp>
      <p:sp>
        <p:nvSpPr>
          <p:cNvPr id="30" name="Oval 5"/>
          <p:cNvSpPr>
            <a:spLocks noChangeArrowheads="1"/>
          </p:cNvSpPr>
          <p:nvPr/>
        </p:nvSpPr>
        <p:spPr bwMode="auto">
          <a:xfrm>
            <a:off x="2857764" y="4117029"/>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b</a:t>
            </a:r>
          </a:p>
        </p:txBody>
      </p:sp>
      <p:sp>
        <p:nvSpPr>
          <p:cNvPr id="31" name="Oval 6"/>
          <p:cNvSpPr>
            <a:spLocks noChangeArrowheads="1"/>
          </p:cNvSpPr>
          <p:nvPr/>
        </p:nvSpPr>
        <p:spPr bwMode="auto">
          <a:xfrm>
            <a:off x="5114528" y="4117029"/>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d</a:t>
            </a:r>
          </a:p>
        </p:txBody>
      </p:sp>
      <p:sp>
        <p:nvSpPr>
          <p:cNvPr id="32" name="Oval 7"/>
          <p:cNvSpPr>
            <a:spLocks noChangeArrowheads="1"/>
          </p:cNvSpPr>
          <p:nvPr/>
        </p:nvSpPr>
        <p:spPr bwMode="auto">
          <a:xfrm>
            <a:off x="4010925" y="4117029"/>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c</a:t>
            </a:r>
          </a:p>
        </p:txBody>
      </p:sp>
      <p:sp>
        <p:nvSpPr>
          <p:cNvPr id="34" name="Oval 8"/>
          <p:cNvSpPr>
            <a:spLocks noChangeArrowheads="1"/>
          </p:cNvSpPr>
          <p:nvPr/>
        </p:nvSpPr>
        <p:spPr bwMode="auto">
          <a:xfrm>
            <a:off x="2474648" y="3446758"/>
            <a:ext cx="383116"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35" name="Oval 9"/>
          <p:cNvSpPr>
            <a:spLocks noChangeArrowheads="1"/>
          </p:cNvSpPr>
          <p:nvPr/>
        </p:nvSpPr>
        <p:spPr bwMode="auto">
          <a:xfrm>
            <a:off x="4538901" y="3446758"/>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36" name="Oval 10"/>
          <p:cNvSpPr>
            <a:spLocks noChangeArrowheads="1"/>
          </p:cNvSpPr>
          <p:nvPr/>
        </p:nvSpPr>
        <p:spPr bwMode="auto">
          <a:xfrm>
            <a:off x="3449110" y="2980940"/>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37" name="Line 11"/>
          <p:cNvSpPr>
            <a:spLocks noChangeShapeType="1"/>
          </p:cNvSpPr>
          <p:nvPr/>
        </p:nvSpPr>
        <p:spPr bwMode="auto">
          <a:xfrm>
            <a:off x="3834133" y="3239142"/>
            <a:ext cx="775293" cy="258202"/>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Line 12"/>
          <p:cNvSpPr>
            <a:spLocks noChangeShapeType="1"/>
          </p:cNvSpPr>
          <p:nvPr/>
        </p:nvSpPr>
        <p:spPr bwMode="auto">
          <a:xfrm flipH="1">
            <a:off x="4251087" y="3756601"/>
            <a:ext cx="287814" cy="360429"/>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Line 13"/>
          <p:cNvSpPr>
            <a:spLocks noChangeShapeType="1"/>
          </p:cNvSpPr>
          <p:nvPr/>
        </p:nvSpPr>
        <p:spPr bwMode="auto">
          <a:xfrm>
            <a:off x="4923923" y="3703906"/>
            <a:ext cx="383116" cy="413124"/>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Line 14"/>
          <p:cNvSpPr>
            <a:spLocks noChangeShapeType="1"/>
          </p:cNvSpPr>
          <p:nvPr/>
        </p:nvSpPr>
        <p:spPr bwMode="auto">
          <a:xfrm flipH="1">
            <a:off x="2785335" y="3239142"/>
            <a:ext cx="663775" cy="258202"/>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Line 15"/>
          <p:cNvSpPr>
            <a:spLocks noChangeShapeType="1"/>
          </p:cNvSpPr>
          <p:nvPr/>
        </p:nvSpPr>
        <p:spPr bwMode="auto">
          <a:xfrm>
            <a:off x="2810114" y="3807188"/>
            <a:ext cx="192511" cy="309843"/>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Line 16"/>
          <p:cNvSpPr>
            <a:spLocks noChangeShapeType="1"/>
          </p:cNvSpPr>
          <p:nvPr/>
        </p:nvSpPr>
        <p:spPr bwMode="auto">
          <a:xfrm flipH="1">
            <a:off x="2282137" y="3807188"/>
            <a:ext cx="240162" cy="309843"/>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3" name="Group 17"/>
          <p:cNvGrpSpPr>
            <a:grpSpLocks/>
          </p:cNvGrpSpPr>
          <p:nvPr/>
        </p:nvGrpSpPr>
        <p:grpSpPr bwMode="auto">
          <a:xfrm>
            <a:off x="7680326" y="2998193"/>
            <a:ext cx="2592387" cy="2062163"/>
            <a:chOff x="3061" y="1434"/>
            <a:chExt cx="1285" cy="1163"/>
          </a:xfrm>
        </p:grpSpPr>
        <p:sp>
          <p:nvSpPr>
            <p:cNvPr id="44" name="Oval 18"/>
            <p:cNvSpPr>
              <a:spLocks noChangeArrowheads="1"/>
            </p:cNvSpPr>
            <p:nvPr/>
          </p:nvSpPr>
          <p:spPr bwMode="auto">
            <a:xfrm>
              <a:off x="3061" y="2071"/>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d</a:t>
              </a:r>
            </a:p>
          </p:txBody>
        </p:sp>
        <p:sp>
          <p:nvSpPr>
            <p:cNvPr id="45" name="Oval 19"/>
            <p:cNvSpPr>
              <a:spLocks noChangeArrowheads="1"/>
            </p:cNvSpPr>
            <p:nvPr/>
          </p:nvSpPr>
          <p:spPr bwMode="auto">
            <a:xfrm>
              <a:off x="3425" y="2071"/>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46" name="Oval 20"/>
            <p:cNvSpPr>
              <a:spLocks noChangeArrowheads="1"/>
            </p:cNvSpPr>
            <p:nvPr/>
          </p:nvSpPr>
          <p:spPr bwMode="auto">
            <a:xfrm>
              <a:off x="3254" y="1753"/>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47" name="Oval 21"/>
            <p:cNvSpPr>
              <a:spLocks noChangeArrowheads="1"/>
            </p:cNvSpPr>
            <p:nvPr/>
          </p:nvSpPr>
          <p:spPr bwMode="auto">
            <a:xfrm>
              <a:off x="4175" y="1753"/>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c</a:t>
              </a:r>
            </a:p>
          </p:txBody>
        </p:sp>
        <p:sp>
          <p:nvSpPr>
            <p:cNvPr id="48" name="Oval 22"/>
            <p:cNvSpPr>
              <a:spLocks noChangeArrowheads="1"/>
            </p:cNvSpPr>
            <p:nvPr/>
          </p:nvSpPr>
          <p:spPr bwMode="auto">
            <a:xfrm>
              <a:off x="3682" y="1434"/>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49" name="Line 23"/>
            <p:cNvSpPr>
              <a:spLocks noChangeShapeType="1"/>
            </p:cNvSpPr>
            <p:nvPr/>
          </p:nvSpPr>
          <p:spPr bwMode="auto">
            <a:xfrm>
              <a:off x="3853" y="1532"/>
              <a:ext cx="353" cy="245"/>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50" name="Group 24"/>
            <p:cNvGrpSpPr>
              <a:grpSpLocks/>
            </p:cNvGrpSpPr>
            <p:nvPr/>
          </p:nvGrpSpPr>
          <p:grpSpPr bwMode="auto">
            <a:xfrm>
              <a:off x="3198" y="2205"/>
              <a:ext cx="664" cy="392"/>
              <a:chOff x="3198" y="2267"/>
              <a:chExt cx="664" cy="392"/>
            </a:xfrm>
          </p:grpSpPr>
          <p:sp>
            <p:nvSpPr>
              <p:cNvPr id="54" name="Oval 25"/>
              <p:cNvSpPr>
                <a:spLocks noChangeArrowheads="1"/>
              </p:cNvSpPr>
              <p:nvPr/>
            </p:nvSpPr>
            <p:spPr bwMode="auto">
              <a:xfrm>
                <a:off x="3691" y="2463"/>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b</a:t>
                </a:r>
              </a:p>
            </p:txBody>
          </p:sp>
          <p:sp>
            <p:nvSpPr>
              <p:cNvPr id="55" name="Oval 26"/>
              <p:cNvSpPr>
                <a:spLocks noChangeArrowheads="1"/>
              </p:cNvSpPr>
              <p:nvPr/>
            </p:nvSpPr>
            <p:spPr bwMode="auto">
              <a:xfrm>
                <a:off x="3198" y="2463"/>
                <a:ext cx="172"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a</a:t>
                </a:r>
              </a:p>
            </p:txBody>
          </p:sp>
          <p:sp>
            <p:nvSpPr>
              <p:cNvPr id="57" name="Line 27"/>
              <p:cNvSpPr>
                <a:spLocks noChangeShapeType="1"/>
              </p:cNvSpPr>
              <p:nvPr/>
            </p:nvSpPr>
            <p:spPr bwMode="auto">
              <a:xfrm flipH="1">
                <a:off x="3305" y="2292"/>
                <a:ext cx="129" cy="171"/>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 name="Line 28"/>
              <p:cNvSpPr>
                <a:spLocks noChangeShapeType="1"/>
              </p:cNvSpPr>
              <p:nvPr/>
            </p:nvSpPr>
            <p:spPr bwMode="auto">
              <a:xfrm>
                <a:off x="3605" y="2267"/>
                <a:ext cx="171" cy="196"/>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51" name="Line 29"/>
            <p:cNvSpPr>
              <a:spLocks noChangeShapeType="1"/>
            </p:cNvSpPr>
            <p:nvPr/>
          </p:nvSpPr>
          <p:spPr bwMode="auto">
            <a:xfrm flipH="1">
              <a:off x="3393" y="1532"/>
              <a:ext cx="289" cy="245"/>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 name="Line 30"/>
            <p:cNvSpPr>
              <a:spLocks noChangeShapeType="1"/>
            </p:cNvSpPr>
            <p:nvPr/>
          </p:nvSpPr>
          <p:spPr bwMode="auto">
            <a:xfrm>
              <a:off x="3404" y="1924"/>
              <a:ext cx="85" cy="14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 name="Line 31"/>
            <p:cNvSpPr>
              <a:spLocks noChangeShapeType="1"/>
            </p:cNvSpPr>
            <p:nvPr/>
          </p:nvSpPr>
          <p:spPr bwMode="auto">
            <a:xfrm flipH="1">
              <a:off x="3168" y="1924"/>
              <a:ext cx="107" cy="14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9" name="Group 32"/>
          <p:cNvGrpSpPr>
            <a:grpSpLocks/>
          </p:cNvGrpSpPr>
          <p:nvPr/>
        </p:nvGrpSpPr>
        <p:grpSpPr bwMode="auto">
          <a:xfrm>
            <a:off x="5234013" y="4172876"/>
            <a:ext cx="3165475" cy="2263775"/>
            <a:chOff x="2336" y="2568"/>
            <a:chExt cx="1994" cy="1426"/>
          </a:xfrm>
        </p:grpSpPr>
        <p:sp>
          <p:nvSpPr>
            <p:cNvPr id="60" name="Oval 33"/>
            <p:cNvSpPr>
              <a:spLocks noChangeArrowheads="1"/>
            </p:cNvSpPr>
            <p:nvPr/>
          </p:nvSpPr>
          <p:spPr bwMode="auto">
            <a:xfrm>
              <a:off x="2336" y="2931"/>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a</a:t>
              </a:r>
            </a:p>
          </p:txBody>
        </p:sp>
        <p:sp>
          <p:nvSpPr>
            <p:cNvPr id="61" name="Oval 34"/>
            <p:cNvSpPr>
              <a:spLocks noChangeArrowheads="1"/>
            </p:cNvSpPr>
            <p:nvPr/>
          </p:nvSpPr>
          <p:spPr bwMode="auto">
            <a:xfrm>
              <a:off x="2803" y="2568"/>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62" name="Line 35"/>
            <p:cNvSpPr>
              <a:spLocks noChangeShapeType="1"/>
            </p:cNvSpPr>
            <p:nvPr/>
          </p:nvSpPr>
          <p:spPr bwMode="auto">
            <a:xfrm>
              <a:off x="3046" y="2698"/>
              <a:ext cx="333" cy="233"/>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63" name="Group 36"/>
            <p:cNvGrpSpPr>
              <a:grpSpLocks/>
            </p:cNvGrpSpPr>
            <p:nvPr/>
          </p:nvGrpSpPr>
          <p:grpSpPr bwMode="auto">
            <a:xfrm>
              <a:off x="3031" y="2886"/>
              <a:ext cx="938" cy="682"/>
              <a:chOff x="3167" y="2992"/>
              <a:chExt cx="938" cy="682"/>
            </a:xfrm>
          </p:grpSpPr>
          <p:sp>
            <p:nvSpPr>
              <p:cNvPr id="71" name="Oval 37"/>
              <p:cNvSpPr>
                <a:spLocks noChangeArrowheads="1"/>
              </p:cNvSpPr>
              <p:nvPr/>
            </p:nvSpPr>
            <p:spPr bwMode="auto">
              <a:xfrm>
                <a:off x="3862" y="3414"/>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d</a:t>
                </a:r>
              </a:p>
            </p:txBody>
          </p:sp>
          <p:sp>
            <p:nvSpPr>
              <p:cNvPr id="72" name="Oval 38"/>
              <p:cNvSpPr>
                <a:spLocks noChangeArrowheads="1"/>
              </p:cNvSpPr>
              <p:nvPr/>
            </p:nvSpPr>
            <p:spPr bwMode="auto">
              <a:xfrm>
                <a:off x="3167" y="3414"/>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b</a:t>
                </a:r>
              </a:p>
            </p:txBody>
          </p:sp>
          <p:sp>
            <p:nvSpPr>
              <p:cNvPr id="73" name="Oval 39"/>
              <p:cNvSpPr>
                <a:spLocks noChangeArrowheads="1"/>
              </p:cNvSpPr>
              <p:nvPr/>
            </p:nvSpPr>
            <p:spPr bwMode="auto">
              <a:xfrm>
                <a:off x="3500" y="2992"/>
                <a:ext cx="242"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74" name="Line 40"/>
              <p:cNvSpPr>
                <a:spLocks noChangeShapeType="1"/>
              </p:cNvSpPr>
              <p:nvPr/>
            </p:nvSpPr>
            <p:spPr bwMode="auto">
              <a:xfrm flipH="1">
                <a:off x="3319" y="3187"/>
                <a:ext cx="181" cy="22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 name="Line 41"/>
              <p:cNvSpPr>
                <a:spLocks noChangeShapeType="1"/>
              </p:cNvSpPr>
              <p:nvPr/>
            </p:nvSpPr>
            <p:spPr bwMode="auto">
              <a:xfrm>
                <a:off x="3742" y="3154"/>
                <a:ext cx="242" cy="26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4" name="Line 42"/>
            <p:cNvSpPr>
              <a:spLocks noChangeShapeType="1"/>
            </p:cNvSpPr>
            <p:nvPr/>
          </p:nvSpPr>
          <p:spPr bwMode="auto">
            <a:xfrm flipH="1">
              <a:off x="2517" y="2698"/>
              <a:ext cx="286" cy="233"/>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65" name="Group 43"/>
            <p:cNvGrpSpPr>
              <a:grpSpLocks/>
            </p:cNvGrpSpPr>
            <p:nvPr/>
          </p:nvGrpSpPr>
          <p:grpSpPr bwMode="auto">
            <a:xfrm>
              <a:off x="3392" y="3312"/>
              <a:ext cx="938" cy="682"/>
              <a:chOff x="3167" y="2992"/>
              <a:chExt cx="938" cy="682"/>
            </a:xfrm>
          </p:grpSpPr>
          <p:sp>
            <p:nvSpPr>
              <p:cNvPr id="66" name="Oval 44"/>
              <p:cNvSpPr>
                <a:spLocks noChangeArrowheads="1"/>
              </p:cNvSpPr>
              <p:nvPr/>
            </p:nvSpPr>
            <p:spPr bwMode="auto">
              <a:xfrm>
                <a:off x="3862" y="3414"/>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d</a:t>
                </a:r>
              </a:p>
            </p:txBody>
          </p:sp>
          <p:sp>
            <p:nvSpPr>
              <p:cNvPr id="67" name="Oval 45"/>
              <p:cNvSpPr>
                <a:spLocks noChangeArrowheads="1"/>
              </p:cNvSpPr>
              <p:nvPr/>
            </p:nvSpPr>
            <p:spPr bwMode="auto">
              <a:xfrm>
                <a:off x="3167" y="3414"/>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c</a:t>
                </a:r>
              </a:p>
            </p:txBody>
          </p:sp>
          <p:sp>
            <p:nvSpPr>
              <p:cNvPr id="68" name="Oval 46"/>
              <p:cNvSpPr>
                <a:spLocks noChangeArrowheads="1"/>
              </p:cNvSpPr>
              <p:nvPr/>
            </p:nvSpPr>
            <p:spPr bwMode="auto">
              <a:xfrm>
                <a:off x="3500" y="2992"/>
                <a:ext cx="242"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69" name="Line 47"/>
              <p:cNvSpPr>
                <a:spLocks noChangeShapeType="1"/>
              </p:cNvSpPr>
              <p:nvPr/>
            </p:nvSpPr>
            <p:spPr bwMode="auto">
              <a:xfrm flipH="1">
                <a:off x="3319" y="3187"/>
                <a:ext cx="181" cy="22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0" name="Line 48"/>
              <p:cNvSpPr>
                <a:spLocks noChangeShapeType="1"/>
              </p:cNvSpPr>
              <p:nvPr/>
            </p:nvSpPr>
            <p:spPr bwMode="auto">
              <a:xfrm>
                <a:off x="3742" y="3154"/>
                <a:ext cx="242" cy="26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76" name="Text Box 49"/>
          <p:cNvSpPr txBox="1">
            <a:spLocks noChangeArrowheads="1"/>
          </p:cNvSpPr>
          <p:nvPr/>
        </p:nvSpPr>
        <p:spPr bwMode="auto">
          <a:xfrm>
            <a:off x="1583188" y="418315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dirty="0">
                <a:latin typeface="Comic Sans MS" pitchFamily="66" charset="0"/>
              </a:rPr>
              <a:t>7</a:t>
            </a:r>
          </a:p>
        </p:txBody>
      </p:sp>
      <p:sp>
        <p:nvSpPr>
          <p:cNvPr id="77" name="Text Box 50"/>
          <p:cNvSpPr txBox="1">
            <a:spLocks noChangeArrowheads="1"/>
          </p:cNvSpPr>
          <p:nvPr/>
        </p:nvSpPr>
        <p:spPr bwMode="auto">
          <a:xfrm>
            <a:off x="2448375" y="4267944"/>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5</a:t>
            </a:r>
          </a:p>
        </p:txBody>
      </p:sp>
      <p:sp>
        <p:nvSpPr>
          <p:cNvPr id="78" name="Text Box 51"/>
          <p:cNvSpPr txBox="1">
            <a:spLocks noChangeArrowheads="1"/>
          </p:cNvSpPr>
          <p:nvPr/>
        </p:nvSpPr>
        <p:spPr bwMode="auto">
          <a:xfrm>
            <a:off x="3527875" y="4267944"/>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2</a:t>
            </a:r>
          </a:p>
        </p:txBody>
      </p:sp>
      <p:sp>
        <p:nvSpPr>
          <p:cNvPr id="79" name="Text Box 52"/>
          <p:cNvSpPr txBox="1">
            <a:spLocks noChangeArrowheads="1"/>
          </p:cNvSpPr>
          <p:nvPr/>
        </p:nvSpPr>
        <p:spPr bwMode="auto">
          <a:xfrm>
            <a:off x="4607375" y="4267944"/>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4</a:t>
            </a:r>
          </a:p>
        </p:txBody>
      </p:sp>
      <p:sp>
        <p:nvSpPr>
          <p:cNvPr id="80" name="Text Box 53"/>
          <p:cNvSpPr txBox="1">
            <a:spLocks noChangeArrowheads="1"/>
          </p:cNvSpPr>
          <p:nvPr/>
        </p:nvSpPr>
        <p:spPr bwMode="auto">
          <a:xfrm>
            <a:off x="7537450" y="4699992"/>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7</a:t>
            </a:r>
          </a:p>
        </p:txBody>
      </p:sp>
      <p:sp>
        <p:nvSpPr>
          <p:cNvPr id="81" name="Text Box 54"/>
          <p:cNvSpPr txBox="1">
            <a:spLocks noChangeArrowheads="1"/>
          </p:cNvSpPr>
          <p:nvPr/>
        </p:nvSpPr>
        <p:spPr bwMode="auto">
          <a:xfrm>
            <a:off x="4799037" y="4749137"/>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dirty="0">
                <a:latin typeface="Comic Sans MS" pitchFamily="66" charset="0"/>
              </a:rPr>
              <a:t>7</a:t>
            </a:r>
          </a:p>
        </p:txBody>
      </p:sp>
      <p:sp>
        <p:nvSpPr>
          <p:cNvPr id="82" name="Text Box 55"/>
          <p:cNvSpPr txBox="1">
            <a:spLocks noChangeArrowheads="1"/>
          </p:cNvSpPr>
          <p:nvPr/>
        </p:nvSpPr>
        <p:spPr bwMode="auto">
          <a:xfrm>
            <a:off x="9193213" y="4653955"/>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5</a:t>
            </a:r>
          </a:p>
        </p:txBody>
      </p:sp>
      <p:sp>
        <p:nvSpPr>
          <p:cNvPr id="83" name="Text Box 56"/>
          <p:cNvSpPr txBox="1">
            <a:spLocks noChangeArrowheads="1"/>
          </p:cNvSpPr>
          <p:nvPr/>
        </p:nvSpPr>
        <p:spPr bwMode="auto">
          <a:xfrm>
            <a:off x="5878537" y="5323812"/>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5</a:t>
            </a:r>
          </a:p>
        </p:txBody>
      </p:sp>
      <p:sp>
        <p:nvSpPr>
          <p:cNvPr id="84" name="Text Box 57"/>
          <p:cNvSpPr txBox="1">
            <a:spLocks noChangeArrowheads="1"/>
          </p:cNvSpPr>
          <p:nvPr/>
        </p:nvSpPr>
        <p:spPr bwMode="auto">
          <a:xfrm>
            <a:off x="10128251" y="3501430"/>
            <a:ext cx="53974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buClrTx/>
              <a:buSzTx/>
              <a:buFontTx/>
              <a:buNone/>
            </a:pPr>
            <a:r>
              <a:rPr lang="en-US" altLang="zh-CN" sz="2400" dirty="0">
                <a:latin typeface="Comic Sans MS" pitchFamily="66" charset="0"/>
              </a:rPr>
              <a:t>2</a:t>
            </a:r>
          </a:p>
        </p:txBody>
      </p:sp>
      <p:sp>
        <p:nvSpPr>
          <p:cNvPr id="85" name="Text Box 58"/>
          <p:cNvSpPr txBox="1">
            <a:spLocks noChangeArrowheads="1"/>
          </p:cNvSpPr>
          <p:nvPr/>
        </p:nvSpPr>
        <p:spPr bwMode="auto">
          <a:xfrm>
            <a:off x="6454800" y="6044537"/>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2</a:t>
            </a:r>
          </a:p>
        </p:txBody>
      </p:sp>
      <p:sp>
        <p:nvSpPr>
          <p:cNvPr id="86" name="Text Box 59"/>
          <p:cNvSpPr txBox="1">
            <a:spLocks noChangeArrowheads="1"/>
          </p:cNvSpPr>
          <p:nvPr/>
        </p:nvSpPr>
        <p:spPr bwMode="auto">
          <a:xfrm>
            <a:off x="7248525" y="4077692"/>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4</a:t>
            </a:r>
          </a:p>
        </p:txBody>
      </p:sp>
      <p:sp>
        <p:nvSpPr>
          <p:cNvPr id="87" name="Text Box 60"/>
          <p:cNvSpPr txBox="1">
            <a:spLocks noChangeArrowheads="1"/>
          </p:cNvSpPr>
          <p:nvPr/>
        </p:nvSpPr>
        <p:spPr bwMode="auto">
          <a:xfrm>
            <a:off x="8328050" y="6019137"/>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4</a:t>
            </a:r>
          </a:p>
        </p:txBody>
      </p:sp>
      <p:sp>
        <p:nvSpPr>
          <p:cNvPr id="88" name="Text Box 61"/>
          <p:cNvSpPr txBox="1">
            <a:spLocks noChangeArrowheads="1"/>
          </p:cNvSpPr>
          <p:nvPr/>
        </p:nvSpPr>
        <p:spPr bwMode="auto">
          <a:xfrm>
            <a:off x="3353490" y="3699121"/>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dirty="0">
                <a:latin typeface="Comic Sans MS" pitchFamily="66" charset="0"/>
              </a:rPr>
              <a:t>Ⅰ</a:t>
            </a:r>
          </a:p>
        </p:txBody>
      </p:sp>
      <p:sp>
        <p:nvSpPr>
          <p:cNvPr id="89" name="Text Box 62"/>
          <p:cNvSpPr txBox="1">
            <a:spLocks noChangeArrowheads="1"/>
          </p:cNvSpPr>
          <p:nvPr/>
        </p:nvSpPr>
        <p:spPr bwMode="auto">
          <a:xfrm>
            <a:off x="8989992" y="372833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dirty="0">
                <a:latin typeface="Comic Sans MS" pitchFamily="66" charset="0"/>
              </a:rPr>
              <a:t>Ⅱ</a:t>
            </a:r>
          </a:p>
        </p:txBody>
      </p:sp>
      <p:sp>
        <p:nvSpPr>
          <p:cNvPr id="90" name="Text Box 63"/>
          <p:cNvSpPr txBox="1">
            <a:spLocks noChangeArrowheads="1"/>
          </p:cNvSpPr>
          <p:nvPr/>
        </p:nvSpPr>
        <p:spPr bwMode="auto">
          <a:xfrm>
            <a:off x="5880125" y="5922300"/>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dirty="0">
                <a:latin typeface="Comic Sans MS" pitchFamily="66" charset="0"/>
              </a:rPr>
              <a:t>Ⅲ</a:t>
            </a:r>
          </a:p>
        </p:txBody>
      </p:sp>
      <p:sp>
        <p:nvSpPr>
          <p:cNvPr id="5" name="矩形 4"/>
          <p:cNvSpPr/>
          <p:nvPr/>
        </p:nvSpPr>
        <p:spPr>
          <a:xfrm>
            <a:off x="1545926" y="4725144"/>
            <a:ext cx="3185487" cy="369332"/>
          </a:xfrm>
          <a:prstGeom prst="rect">
            <a:avLst/>
          </a:prstGeom>
        </p:spPr>
        <p:txBody>
          <a:bodyPr wrap="none">
            <a:spAutoFit/>
          </a:bodyPr>
          <a:lstStyle/>
          <a:p>
            <a:pPr>
              <a:spcBef>
                <a:spcPct val="50000"/>
              </a:spcBef>
              <a:buClrTx/>
              <a:buSzTx/>
              <a:buFontTx/>
              <a:buNone/>
            </a:pPr>
            <a:r>
              <a:rPr kumimoji="1" lang="zh-CN" altLang="en-US" dirty="0">
                <a:latin typeface="黑体" pitchFamily="2" charset="-122"/>
                <a:ea typeface="黑体" pitchFamily="2" charset="-122"/>
              </a:rPr>
              <a:t>它们的带权路径长度分别为：</a:t>
            </a:r>
          </a:p>
        </p:txBody>
      </p:sp>
      <p:sp>
        <p:nvSpPr>
          <p:cNvPr id="6" name="矩形 5"/>
          <p:cNvSpPr/>
          <p:nvPr/>
        </p:nvSpPr>
        <p:spPr>
          <a:xfrm>
            <a:off x="1574840" y="5164237"/>
            <a:ext cx="3288875" cy="1200329"/>
          </a:xfrm>
          <a:prstGeom prst="rect">
            <a:avLst/>
          </a:prstGeom>
        </p:spPr>
        <p:txBody>
          <a:bodyPr wrap="square">
            <a:spAutoFit/>
          </a:bodyPr>
          <a:lstStyle/>
          <a:p>
            <a:pPr>
              <a:spcBef>
                <a:spcPct val="50000"/>
              </a:spcBef>
              <a:buClrTx/>
              <a:buSzTx/>
              <a:buFontTx/>
              <a:buNone/>
            </a:pPr>
            <a:r>
              <a:rPr kumimoji="1" lang="en-US" altLang="zh-CN" dirty="0">
                <a:latin typeface="黑体" pitchFamily="2" charset="-122"/>
                <a:ea typeface="黑体" pitchFamily="2" charset="-122"/>
              </a:rPr>
              <a:t>WPL (Ⅰ)=7*2+5*2+2*2+4*2=36   </a:t>
            </a:r>
          </a:p>
          <a:p>
            <a:pPr>
              <a:spcBef>
                <a:spcPct val="50000"/>
              </a:spcBef>
              <a:buClrTx/>
              <a:buSzTx/>
              <a:buFontTx/>
              <a:buNone/>
            </a:pPr>
            <a:r>
              <a:rPr kumimoji="1" lang="en-US" altLang="zh-CN" dirty="0">
                <a:latin typeface="黑体" pitchFamily="2" charset="-122"/>
                <a:ea typeface="黑体" pitchFamily="2" charset="-122"/>
              </a:rPr>
              <a:t>WPL (Ⅱ)=7*3+5*3+2*1+4*2=46  </a:t>
            </a:r>
          </a:p>
          <a:p>
            <a:pPr>
              <a:spcBef>
                <a:spcPct val="50000"/>
              </a:spcBef>
              <a:buClrTx/>
              <a:buSzTx/>
              <a:buFontTx/>
              <a:buNone/>
            </a:pPr>
            <a:r>
              <a:rPr kumimoji="1" lang="en-US" altLang="zh-CN" dirty="0">
                <a:latin typeface="黑体" pitchFamily="2" charset="-122"/>
                <a:ea typeface="黑体" pitchFamily="2" charset="-122"/>
              </a:rPr>
              <a:t>WPL (Ⅲ)=7*1+5*2+2*3+4*3=35</a:t>
            </a:r>
          </a:p>
        </p:txBody>
      </p:sp>
      <p:sp>
        <p:nvSpPr>
          <p:cNvPr id="94" name="矩形 93"/>
          <p:cNvSpPr/>
          <p:nvPr/>
        </p:nvSpPr>
        <p:spPr>
          <a:xfrm>
            <a:off x="2668619" y="1923665"/>
            <a:ext cx="2185214" cy="461665"/>
          </a:xfrm>
          <a:prstGeom prst="rect">
            <a:avLst/>
          </a:prstGeom>
        </p:spPr>
        <p:txBody>
          <a:bodyPr wrap="none">
            <a:spAutoFit/>
          </a:bodyPr>
          <a:lstStyle/>
          <a:p>
            <a:r>
              <a:rPr kumimoji="1" lang="en-US" altLang="zh-CN" sz="2400" dirty="0">
                <a:latin typeface="黑体" pitchFamily="2" charset="-122"/>
                <a:ea typeface="黑体" pitchFamily="2" charset="-122"/>
              </a:rPr>
              <a:t>1</a:t>
            </a:r>
            <a:r>
              <a:rPr kumimoji="1" lang="zh-CN" altLang="en-US" sz="2400" dirty="0">
                <a:latin typeface="黑体" pitchFamily="2" charset="-122"/>
                <a:ea typeface="黑体" pitchFamily="2" charset="-122"/>
              </a:rPr>
              <a:t>、最优二叉树</a:t>
            </a:r>
          </a:p>
        </p:txBody>
      </p:sp>
      <p:cxnSp>
        <p:nvCxnSpPr>
          <p:cNvPr id="2" name="直接连接符 1">
            <a:extLst>
              <a:ext uri="{FF2B5EF4-FFF2-40B4-BE49-F238E27FC236}">
                <a16:creationId xmlns:a16="http://schemas.microsoft.com/office/drawing/2014/main" xmlns="" id="{93349C05-B106-6384-8D5D-5F4B757C7C97}"/>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5D4807F2-F162-BA6D-F708-5BBC4B740F86}"/>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2FC6FFF1-99F4-DFCC-F060-124E5D2D3C16}"/>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7.8.1 </a:t>
            </a:r>
            <a:r>
              <a:rPr lang="zh-CN" altLang="en-US" dirty="0"/>
              <a:t>哈夫曼树的定义</a:t>
            </a:r>
          </a:p>
        </p:txBody>
      </p:sp>
    </p:spTree>
    <p:extLst>
      <p:ext uri="{BB962C8B-B14F-4D97-AF65-F5344CB8AC3E}">
        <p14:creationId xmlns:p14="http://schemas.microsoft.com/office/powerpoint/2010/main" val="233918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81" grpId="0"/>
      <p:bldP spid="82" grpId="0"/>
      <p:bldP spid="83" grpId="0"/>
      <p:bldP spid="84" grpId="0"/>
      <p:bldP spid="85" grpId="0"/>
      <p:bldP spid="86" grpId="0"/>
      <p:bldP spid="87" grpId="0"/>
      <p:bldP spid="89" grpId="0"/>
      <p:bldP spid="90" grpId="0"/>
      <p:bldP spid="5" grpId="0"/>
      <p:bldP spid="6"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
          <p:cNvSpPr txBox="1">
            <a:spLocks noChangeArrowheads="1"/>
          </p:cNvSpPr>
          <p:nvPr/>
        </p:nvSpPr>
        <p:spPr>
          <a:xfrm>
            <a:off x="2785336" y="2289066"/>
            <a:ext cx="7487377" cy="707886"/>
          </a:xfrm>
          <a:prstGeom prst="rect">
            <a:avLst/>
          </a:prstGeo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50000"/>
              </a:spcBef>
              <a:buNone/>
            </a:pPr>
            <a:r>
              <a:rPr kumimoji="1" lang="zh-CN" altLang="en-US" sz="2000" dirty="0">
                <a:latin typeface="黑体" pitchFamily="2" charset="-122"/>
                <a:ea typeface="黑体" pitchFamily="2" charset="-122"/>
              </a:rPr>
              <a:t>例如，有</a:t>
            </a:r>
            <a:r>
              <a:rPr kumimoji="1" lang="en-US" altLang="zh-CN" sz="2000" dirty="0">
                <a:latin typeface="黑体" pitchFamily="2" charset="-122"/>
                <a:ea typeface="黑体" pitchFamily="2" charset="-122"/>
              </a:rPr>
              <a:t>4</a:t>
            </a:r>
            <a:r>
              <a:rPr kumimoji="1" lang="zh-CN" altLang="en-US" sz="2000" dirty="0">
                <a:latin typeface="黑体" pitchFamily="2" charset="-122"/>
                <a:ea typeface="黑体" pitchFamily="2" charset="-122"/>
              </a:rPr>
              <a:t>个结点</a:t>
            </a:r>
            <a:r>
              <a:rPr kumimoji="1" lang="en-US" altLang="zh-CN" sz="2000" dirty="0" err="1">
                <a:latin typeface="黑体" pitchFamily="2" charset="-122"/>
                <a:ea typeface="黑体" pitchFamily="2" charset="-122"/>
              </a:rPr>
              <a:t>a,b,c,d</a:t>
            </a:r>
            <a:r>
              <a:rPr kumimoji="1" lang="zh-CN" altLang="en-US" sz="2000" dirty="0">
                <a:latin typeface="黑体" pitchFamily="2" charset="-122"/>
                <a:ea typeface="黑体" pitchFamily="2" charset="-122"/>
              </a:rPr>
              <a:t>，分别带权</a:t>
            </a:r>
            <a:r>
              <a:rPr kumimoji="1" lang="en-US" altLang="zh-CN" sz="2000" dirty="0">
                <a:latin typeface="黑体" pitchFamily="2" charset="-122"/>
                <a:ea typeface="黑体" pitchFamily="2" charset="-122"/>
              </a:rPr>
              <a:t>7,5,2,4</a:t>
            </a:r>
            <a:r>
              <a:rPr kumimoji="1" lang="zh-CN" altLang="en-US" sz="2000" dirty="0">
                <a:latin typeface="黑体" pitchFamily="2" charset="-122"/>
                <a:ea typeface="黑体" pitchFamily="2" charset="-122"/>
              </a:rPr>
              <a:t>，由它们作为叶子结点，可以构造下列三棵不同的二叉树</a:t>
            </a:r>
          </a:p>
        </p:txBody>
      </p:sp>
      <p:sp>
        <p:nvSpPr>
          <p:cNvPr id="29" name="Oval 4"/>
          <p:cNvSpPr>
            <a:spLocks noChangeArrowheads="1"/>
          </p:cNvSpPr>
          <p:nvPr/>
        </p:nvSpPr>
        <p:spPr bwMode="auto">
          <a:xfrm>
            <a:off x="2041975" y="4117029"/>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a</a:t>
            </a:r>
          </a:p>
        </p:txBody>
      </p:sp>
      <p:sp>
        <p:nvSpPr>
          <p:cNvPr id="30" name="Oval 5"/>
          <p:cNvSpPr>
            <a:spLocks noChangeArrowheads="1"/>
          </p:cNvSpPr>
          <p:nvPr/>
        </p:nvSpPr>
        <p:spPr bwMode="auto">
          <a:xfrm>
            <a:off x="2857764" y="4117029"/>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b</a:t>
            </a:r>
          </a:p>
        </p:txBody>
      </p:sp>
      <p:sp>
        <p:nvSpPr>
          <p:cNvPr id="31" name="Oval 6"/>
          <p:cNvSpPr>
            <a:spLocks noChangeArrowheads="1"/>
          </p:cNvSpPr>
          <p:nvPr/>
        </p:nvSpPr>
        <p:spPr bwMode="auto">
          <a:xfrm>
            <a:off x="5114528" y="4117029"/>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d</a:t>
            </a:r>
          </a:p>
        </p:txBody>
      </p:sp>
      <p:sp>
        <p:nvSpPr>
          <p:cNvPr id="32" name="Oval 7"/>
          <p:cNvSpPr>
            <a:spLocks noChangeArrowheads="1"/>
          </p:cNvSpPr>
          <p:nvPr/>
        </p:nvSpPr>
        <p:spPr bwMode="auto">
          <a:xfrm>
            <a:off x="4010925" y="4117029"/>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c</a:t>
            </a:r>
          </a:p>
        </p:txBody>
      </p:sp>
      <p:sp>
        <p:nvSpPr>
          <p:cNvPr id="34" name="Oval 8"/>
          <p:cNvSpPr>
            <a:spLocks noChangeArrowheads="1"/>
          </p:cNvSpPr>
          <p:nvPr/>
        </p:nvSpPr>
        <p:spPr bwMode="auto">
          <a:xfrm>
            <a:off x="2474648" y="3446758"/>
            <a:ext cx="383116"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35" name="Oval 9"/>
          <p:cNvSpPr>
            <a:spLocks noChangeArrowheads="1"/>
          </p:cNvSpPr>
          <p:nvPr/>
        </p:nvSpPr>
        <p:spPr bwMode="auto">
          <a:xfrm>
            <a:off x="4538901" y="3446758"/>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36" name="Oval 10"/>
          <p:cNvSpPr>
            <a:spLocks noChangeArrowheads="1"/>
          </p:cNvSpPr>
          <p:nvPr/>
        </p:nvSpPr>
        <p:spPr bwMode="auto">
          <a:xfrm>
            <a:off x="3449110" y="2980940"/>
            <a:ext cx="385022" cy="413124"/>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37" name="Line 11"/>
          <p:cNvSpPr>
            <a:spLocks noChangeShapeType="1"/>
          </p:cNvSpPr>
          <p:nvPr/>
        </p:nvSpPr>
        <p:spPr bwMode="auto">
          <a:xfrm>
            <a:off x="3834133" y="3239142"/>
            <a:ext cx="775293" cy="258202"/>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Line 12"/>
          <p:cNvSpPr>
            <a:spLocks noChangeShapeType="1"/>
          </p:cNvSpPr>
          <p:nvPr/>
        </p:nvSpPr>
        <p:spPr bwMode="auto">
          <a:xfrm flipH="1">
            <a:off x="4251087" y="3756601"/>
            <a:ext cx="287814" cy="360429"/>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Line 13"/>
          <p:cNvSpPr>
            <a:spLocks noChangeShapeType="1"/>
          </p:cNvSpPr>
          <p:nvPr/>
        </p:nvSpPr>
        <p:spPr bwMode="auto">
          <a:xfrm>
            <a:off x="4923923" y="3703906"/>
            <a:ext cx="383116" cy="413124"/>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Line 14"/>
          <p:cNvSpPr>
            <a:spLocks noChangeShapeType="1"/>
          </p:cNvSpPr>
          <p:nvPr/>
        </p:nvSpPr>
        <p:spPr bwMode="auto">
          <a:xfrm flipH="1">
            <a:off x="2785335" y="3239142"/>
            <a:ext cx="663775" cy="258202"/>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Line 15"/>
          <p:cNvSpPr>
            <a:spLocks noChangeShapeType="1"/>
          </p:cNvSpPr>
          <p:nvPr/>
        </p:nvSpPr>
        <p:spPr bwMode="auto">
          <a:xfrm>
            <a:off x="2810114" y="3807188"/>
            <a:ext cx="192511" cy="309843"/>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Line 16"/>
          <p:cNvSpPr>
            <a:spLocks noChangeShapeType="1"/>
          </p:cNvSpPr>
          <p:nvPr/>
        </p:nvSpPr>
        <p:spPr bwMode="auto">
          <a:xfrm flipH="1">
            <a:off x="2282137" y="3807188"/>
            <a:ext cx="240162" cy="309843"/>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3" name="Group 17"/>
          <p:cNvGrpSpPr>
            <a:grpSpLocks/>
          </p:cNvGrpSpPr>
          <p:nvPr/>
        </p:nvGrpSpPr>
        <p:grpSpPr bwMode="auto">
          <a:xfrm>
            <a:off x="7680326" y="2998193"/>
            <a:ext cx="2592387" cy="2062163"/>
            <a:chOff x="3061" y="1434"/>
            <a:chExt cx="1285" cy="1163"/>
          </a:xfrm>
        </p:grpSpPr>
        <p:sp>
          <p:nvSpPr>
            <p:cNvPr id="44" name="Oval 18"/>
            <p:cNvSpPr>
              <a:spLocks noChangeArrowheads="1"/>
            </p:cNvSpPr>
            <p:nvPr/>
          </p:nvSpPr>
          <p:spPr bwMode="auto">
            <a:xfrm>
              <a:off x="3061" y="2071"/>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d</a:t>
              </a:r>
            </a:p>
          </p:txBody>
        </p:sp>
        <p:sp>
          <p:nvSpPr>
            <p:cNvPr id="45" name="Oval 19"/>
            <p:cNvSpPr>
              <a:spLocks noChangeArrowheads="1"/>
            </p:cNvSpPr>
            <p:nvPr/>
          </p:nvSpPr>
          <p:spPr bwMode="auto">
            <a:xfrm>
              <a:off x="3425" y="2071"/>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46" name="Oval 20"/>
            <p:cNvSpPr>
              <a:spLocks noChangeArrowheads="1"/>
            </p:cNvSpPr>
            <p:nvPr/>
          </p:nvSpPr>
          <p:spPr bwMode="auto">
            <a:xfrm>
              <a:off x="3254" y="1753"/>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47" name="Oval 21"/>
            <p:cNvSpPr>
              <a:spLocks noChangeArrowheads="1"/>
            </p:cNvSpPr>
            <p:nvPr/>
          </p:nvSpPr>
          <p:spPr bwMode="auto">
            <a:xfrm>
              <a:off x="4175" y="1753"/>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c</a:t>
              </a:r>
            </a:p>
          </p:txBody>
        </p:sp>
        <p:sp>
          <p:nvSpPr>
            <p:cNvPr id="48" name="Oval 22"/>
            <p:cNvSpPr>
              <a:spLocks noChangeArrowheads="1"/>
            </p:cNvSpPr>
            <p:nvPr/>
          </p:nvSpPr>
          <p:spPr bwMode="auto">
            <a:xfrm>
              <a:off x="3682" y="1434"/>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49" name="Line 23"/>
            <p:cNvSpPr>
              <a:spLocks noChangeShapeType="1"/>
            </p:cNvSpPr>
            <p:nvPr/>
          </p:nvSpPr>
          <p:spPr bwMode="auto">
            <a:xfrm>
              <a:off x="3853" y="1532"/>
              <a:ext cx="353" cy="245"/>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50" name="Group 24"/>
            <p:cNvGrpSpPr>
              <a:grpSpLocks/>
            </p:cNvGrpSpPr>
            <p:nvPr/>
          </p:nvGrpSpPr>
          <p:grpSpPr bwMode="auto">
            <a:xfrm>
              <a:off x="3198" y="2205"/>
              <a:ext cx="664" cy="392"/>
              <a:chOff x="3198" y="2267"/>
              <a:chExt cx="664" cy="392"/>
            </a:xfrm>
          </p:grpSpPr>
          <p:sp>
            <p:nvSpPr>
              <p:cNvPr id="54" name="Oval 25"/>
              <p:cNvSpPr>
                <a:spLocks noChangeArrowheads="1"/>
              </p:cNvSpPr>
              <p:nvPr/>
            </p:nvSpPr>
            <p:spPr bwMode="auto">
              <a:xfrm>
                <a:off x="3691" y="2463"/>
                <a:ext cx="171"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b</a:t>
                </a:r>
              </a:p>
            </p:txBody>
          </p:sp>
          <p:sp>
            <p:nvSpPr>
              <p:cNvPr id="55" name="Oval 26"/>
              <p:cNvSpPr>
                <a:spLocks noChangeArrowheads="1"/>
              </p:cNvSpPr>
              <p:nvPr/>
            </p:nvSpPr>
            <p:spPr bwMode="auto">
              <a:xfrm>
                <a:off x="3198" y="2463"/>
                <a:ext cx="172" cy="196"/>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a</a:t>
                </a:r>
              </a:p>
            </p:txBody>
          </p:sp>
          <p:sp>
            <p:nvSpPr>
              <p:cNvPr id="57" name="Line 27"/>
              <p:cNvSpPr>
                <a:spLocks noChangeShapeType="1"/>
              </p:cNvSpPr>
              <p:nvPr/>
            </p:nvSpPr>
            <p:spPr bwMode="auto">
              <a:xfrm flipH="1">
                <a:off x="3305" y="2292"/>
                <a:ext cx="129" cy="171"/>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 name="Line 28"/>
              <p:cNvSpPr>
                <a:spLocks noChangeShapeType="1"/>
              </p:cNvSpPr>
              <p:nvPr/>
            </p:nvSpPr>
            <p:spPr bwMode="auto">
              <a:xfrm>
                <a:off x="3605" y="2267"/>
                <a:ext cx="171" cy="196"/>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51" name="Line 29"/>
            <p:cNvSpPr>
              <a:spLocks noChangeShapeType="1"/>
            </p:cNvSpPr>
            <p:nvPr/>
          </p:nvSpPr>
          <p:spPr bwMode="auto">
            <a:xfrm flipH="1">
              <a:off x="3393" y="1532"/>
              <a:ext cx="289" cy="245"/>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 name="Line 30"/>
            <p:cNvSpPr>
              <a:spLocks noChangeShapeType="1"/>
            </p:cNvSpPr>
            <p:nvPr/>
          </p:nvSpPr>
          <p:spPr bwMode="auto">
            <a:xfrm>
              <a:off x="3404" y="1924"/>
              <a:ext cx="85" cy="14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 name="Line 31"/>
            <p:cNvSpPr>
              <a:spLocks noChangeShapeType="1"/>
            </p:cNvSpPr>
            <p:nvPr/>
          </p:nvSpPr>
          <p:spPr bwMode="auto">
            <a:xfrm flipH="1">
              <a:off x="3168" y="1924"/>
              <a:ext cx="107" cy="14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9" name="Group 32"/>
          <p:cNvGrpSpPr>
            <a:grpSpLocks/>
          </p:cNvGrpSpPr>
          <p:nvPr/>
        </p:nvGrpSpPr>
        <p:grpSpPr bwMode="auto">
          <a:xfrm>
            <a:off x="5306021" y="4052467"/>
            <a:ext cx="3165475" cy="2263775"/>
            <a:chOff x="2336" y="2568"/>
            <a:chExt cx="1994" cy="1426"/>
          </a:xfrm>
        </p:grpSpPr>
        <p:sp>
          <p:nvSpPr>
            <p:cNvPr id="60" name="Oval 33"/>
            <p:cNvSpPr>
              <a:spLocks noChangeArrowheads="1"/>
            </p:cNvSpPr>
            <p:nvPr/>
          </p:nvSpPr>
          <p:spPr bwMode="auto">
            <a:xfrm>
              <a:off x="2336" y="2931"/>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a</a:t>
              </a:r>
            </a:p>
          </p:txBody>
        </p:sp>
        <p:sp>
          <p:nvSpPr>
            <p:cNvPr id="61" name="Oval 34"/>
            <p:cNvSpPr>
              <a:spLocks noChangeArrowheads="1"/>
            </p:cNvSpPr>
            <p:nvPr/>
          </p:nvSpPr>
          <p:spPr bwMode="auto">
            <a:xfrm>
              <a:off x="2803" y="2568"/>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62" name="Line 35"/>
            <p:cNvSpPr>
              <a:spLocks noChangeShapeType="1"/>
            </p:cNvSpPr>
            <p:nvPr/>
          </p:nvSpPr>
          <p:spPr bwMode="auto">
            <a:xfrm>
              <a:off x="3046" y="2698"/>
              <a:ext cx="333" cy="233"/>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63" name="Group 36"/>
            <p:cNvGrpSpPr>
              <a:grpSpLocks/>
            </p:cNvGrpSpPr>
            <p:nvPr/>
          </p:nvGrpSpPr>
          <p:grpSpPr bwMode="auto">
            <a:xfrm>
              <a:off x="3031" y="2886"/>
              <a:ext cx="938" cy="682"/>
              <a:chOff x="3167" y="2992"/>
              <a:chExt cx="938" cy="682"/>
            </a:xfrm>
          </p:grpSpPr>
          <p:sp>
            <p:nvSpPr>
              <p:cNvPr id="71" name="Oval 37"/>
              <p:cNvSpPr>
                <a:spLocks noChangeArrowheads="1"/>
              </p:cNvSpPr>
              <p:nvPr/>
            </p:nvSpPr>
            <p:spPr bwMode="auto">
              <a:xfrm>
                <a:off x="3862" y="3414"/>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d</a:t>
                </a:r>
              </a:p>
            </p:txBody>
          </p:sp>
          <p:sp>
            <p:nvSpPr>
              <p:cNvPr id="72" name="Oval 38"/>
              <p:cNvSpPr>
                <a:spLocks noChangeArrowheads="1"/>
              </p:cNvSpPr>
              <p:nvPr/>
            </p:nvSpPr>
            <p:spPr bwMode="auto">
              <a:xfrm>
                <a:off x="3167" y="3414"/>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b</a:t>
                </a:r>
              </a:p>
            </p:txBody>
          </p:sp>
          <p:sp>
            <p:nvSpPr>
              <p:cNvPr id="73" name="Oval 39"/>
              <p:cNvSpPr>
                <a:spLocks noChangeArrowheads="1"/>
              </p:cNvSpPr>
              <p:nvPr/>
            </p:nvSpPr>
            <p:spPr bwMode="auto">
              <a:xfrm>
                <a:off x="3500" y="2992"/>
                <a:ext cx="242"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74" name="Line 40"/>
              <p:cNvSpPr>
                <a:spLocks noChangeShapeType="1"/>
              </p:cNvSpPr>
              <p:nvPr/>
            </p:nvSpPr>
            <p:spPr bwMode="auto">
              <a:xfrm flipH="1">
                <a:off x="3319" y="3187"/>
                <a:ext cx="181" cy="22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 name="Line 41"/>
              <p:cNvSpPr>
                <a:spLocks noChangeShapeType="1"/>
              </p:cNvSpPr>
              <p:nvPr/>
            </p:nvSpPr>
            <p:spPr bwMode="auto">
              <a:xfrm>
                <a:off x="3742" y="3154"/>
                <a:ext cx="242" cy="26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4" name="Line 42"/>
            <p:cNvSpPr>
              <a:spLocks noChangeShapeType="1"/>
            </p:cNvSpPr>
            <p:nvPr/>
          </p:nvSpPr>
          <p:spPr bwMode="auto">
            <a:xfrm flipH="1">
              <a:off x="2517" y="2698"/>
              <a:ext cx="286" cy="233"/>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65" name="Group 43"/>
            <p:cNvGrpSpPr>
              <a:grpSpLocks/>
            </p:cNvGrpSpPr>
            <p:nvPr/>
          </p:nvGrpSpPr>
          <p:grpSpPr bwMode="auto">
            <a:xfrm>
              <a:off x="3392" y="3312"/>
              <a:ext cx="938" cy="682"/>
              <a:chOff x="3167" y="2992"/>
              <a:chExt cx="938" cy="682"/>
            </a:xfrm>
          </p:grpSpPr>
          <p:sp>
            <p:nvSpPr>
              <p:cNvPr id="66" name="Oval 44"/>
              <p:cNvSpPr>
                <a:spLocks noChangeArrowheads="1"/>
              </p:cNvSpPr>
              <p:nvPr/>
            </p:nvSpPr>
            <p:spPr bwMode="auto">
              <a:xfrm>
                <a:off x="3862" y="3414"/>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d</a:t>
                </a:r>
              </a:p>
            </p:txBody>
          </p:sp>
          <p:sp>
            <p:nvSpPr>
              <p:cNvPr id="67" name="Oval 45"/>
              <p:cNvSpPr>
                <a:spLocks noChangeArrowheads="1"/>
              </p:cNvSpPr>
              <p:nvPr/>
            </p:nvSpPr>
            <p:spPr bwMode="auto">
              <a:xfrm>
                <a:off x="3167" y="3414"/>
                <a:ext cx="243"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400">
                    <a:latin typeface="Comic Sans MS" pitchFamily="66" charset="0"/>
                  </a:rPr>
                  <a:t>c</a:t>
                </a:r>
              </a:p>
            </p:txBody>
          </p:sp>
          <p:sp>
            <p:nvSpPr>
              <p:cNvPr id="68" name="Oval 46"/>
              <p:cNvSpPr>
                <a:spLocks noChangeArrowheads="1"/>
              </p:cNvSpPr>
              <p:nvPr/>
            </p:nvSpPr>
            <p:spPr bwMode="auto">
              <a:xfrm>
                <a:off x="3500" y="2992"/>
                <a:ext cx="242" cy="260"/>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endParaRPr lang="zh-CN" altLang="en-US" sz="2400">
                  <a:latin typeface="Comic Sans MS" pitchFamily="66" charset="0"/>
                </a:endParaRPr>
              </a:p>
            </p:txBody>
          </p:sp>
          <p:sp>
            <p:nvSpPr>
              <p:cNvPr id="69" name="Line 47"/>
              <p:cNvSpPr>
                <a:spLocks noChangeShapeType="1"/>
              </p:cNvSpPr>
              <p:nvPr/>
            </p:nvSpPr>
            <p:spPr bwMode="auto">
              <a:xfrm flipH="1">
                <a:off x="3319" y="3187"/>
                <a:ext cx="181" cy="227"/>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0" name="Line 48"/>
              <p:cNvSpPr>
                <a:spLocks noChangeShapeType="1"/>
              </p:cNvSpPr>
              <p:nvPr/>
            </p:nvSpPr>
            <p:spPr bwMode="auto">
              <a:xfrm>
                <a:off x="3742" y="3154"/>
                <a:ext cx="242" cy="260"/>
              </a:xfrm>
              <a:prstGeom prst="line">
                <a:avLst/>
              </a:prstGeom>
              <a:noFill/>
              <a:ln w="28575" cap="sq">
                <a:solidFill>
                  <a:srgbClr val="006666"/>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76" name="Text Box 49"/>
          <p:cNvSpPr txBox="1">
            <a:spLocks noChangeArrowheads="1"/>
          </p:cNvSpPr>
          <p:nvPr/>
        </p:nvSpPr>
        <p:spPr bwMode="auto">
          <a:xfrm>
            <a:off x="1583188" y="418315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dirty="0">
                <a:latin typeface="Comic Sans MS" pitchFamily="66" charset="0"/>
              </a:rPr>
              <a:t>7</a:t>
            </a:r>
          </a:p>
        </p:txBody>
      </p:sp>
      <p:sp>
        <p:nvSpPr>
          <p:cNvPr id="77" name="Text Box 50"/>
          <p:cNvSpPr txBox="1">
            <a:spLocks noChangeArrowheads="1"/>
          </p:cNvSpPr>
          <p:nvPr/>
        </p:nvSpPr>
        <p:spPr bwMode="auto">
          <a:xfrm>
            <a:off x="2448375" y="4267944"/>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5</a:t>
            </a:r>
          </a:p>
        </p:txBody>
      </p:sp>
      <p:sp>
        <p:nvSpPr>
          <p:cNvPr id="78" name="Text Box 51"/>
          <p:cNvSpPr txBox="1">
            <a:spLocks noChangeArrowheads="1"/>
          </p:cNvSpPr>
          <p:nvPr/>
        </p:nvSpPr>
        <p:spPr bwMode="auto">
          <a:xfrm>
            <a:off x="3527875" y="4267944"/>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2</a:t>
            </a:r>
          </a:p>
        </p:txBody>
      </p:sp>
      <p:sp>
        <p:nvSpPr>
          <p:cNvPr id="79" name="Text Box 52"/>
          <p:cNvSpPr txBox="1">
            <a:spLocks noChangeArrowheads="1"/>
          </p:cNvSpPr>
          <p:nvPr/>
        </p:nvSpPr>
        <p:spPr bwMode="auto">
          <a:xfrm>
            <a:off x="4607375" y="4267944"/>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4</a:t>
            </a:r>
          </a:p>
        </p:txBody>
      </p:sp>
      <p:sp>
        <p:nvSpPr>
          <p:cNvPr id="80" name="Text Box 53"/>
          <p:cNvSpPr txBox="1">
            <a:spLocks noChangeArrowheads="1"/>
          </p:cNvSpPr>
          <p:nvPr/>
        </p:nvSpPr>
        <p:spPr bwMode="auto">
          <a:xfrm>
            <a:off x="7537450" y="4699992"/>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7</a:t>
            </a:r>
          </a:p>
        </p:txBody>
      </p:sp>
      <p:sp>
        <p:nvSpPr>
          <p:cNvPr id="81" name="Text Box 54"/>
          <p:cNvSpPr txBox="1">
            <a:spLocks noChangeArrowheads="1"/>
          </p:cNvSpPr>
          <p:nvPr/>
        </p:nvSpPr>
        <p:spPr bwMode="auto">
          <a:xfrm>
            <a:off x="4871045" y="462872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dirty="0">
                <a:latin typeface="Comic Sans MS" pitchFamily="66" charset="0"/>
              </a:rPr>
              <a:t>7</a:t>
            </a:r>
          </a:p>
        </p:txBody>
      </p:sp>
      <p:sp>
        <p:nvSpPr>
          <p:cNvPr id="82" name="Text Box 55"/>
          <p:cNvSpPr txBox="1">
            <a:spLocks noChangeArrowheads="1"/>
          </p:cNvSpPr>
          <p:nvPr/>
        </p:nvSpPr>
        <p:spPr bwMode="auto">
          <a:xfrm>
            <a:off x="9193213" y="4653955"/>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5</a:t>
            </a:r>
          </a:p>
        </p:txBody>
      </p:sp>
      <p:sp>
        <p:nvSpPr>
          <p:cNvPr id="83" name="Text Box 56"/>
          <p:cNvSpPr txBox="1">
            <a:spLocks noChangeArrowheads="1"/>
          </p:cNvSpPr>
          <p:nvPr/>
        </p:nvSpPr>
        <p:spPr bwMode="auto">
          <a:xfrm>
            <a:off x="5950545" y="5203403"/>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5</a:t>
            </a:r>
          </a:p>
        </p:txBody>
      </p:sp>
      <p:sp>
        <p:nvSpPr>
          <p:cNvPr id="84" name="Text Box 57"/>
          <p:cNvSpPr txBox="1">
            <a:spLocks noChangeArrowheads="1"/>
          </p:cNvSpPr>
          <p:nvPr/>
        </p:nvSpPr>
        <p:spPr bwMode="auto">
          <a:xfrm>
            <a:off x="10128251" y="3501430"/>
            <a:ext cx="53974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buClrTx/>
              <a:buSzTx/>
              <a:buFontTx/>
              <a:buNone/>
            </a:pPr>
            <a:r>
              <a:rPr lang="en-US" altLang="zh-CN" sz="2400" dirty="0">
                <a:latin typeface="Comic Sans MS" pitchFamily="66" charset="0"/>
              </a:rPr>
              <a:t>2</a:t>
            </a:r>
          </a:p>
        </p:txBody>
      </p:sp>
      <p:sp>
        <p:nvSpPr>
          <p:cNvPr id="85" name="Text Box 58"/>
          <p:cNvSpPr txBox="1">
            <a:spLocks noChangeArrowheads="1"/>
          </p:cNvSpPr>
          <p:nvPr/>
        </p:nvSpPr>
        <p:spPr bwMode="auto">
          <a:xfrm>
            <a:off x="6526808" y="592412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2</a:t>
            </a:r>
          </a:p>
        </p:txBody>
      </p:sp>
      <p:sp>
        <p:nvSpPr>
          <p:cNvPr id="86" name="Text Box 59"/>
          <p:cNvSpPr txBox="1">
            <a:spLocks noChangeArrowheads="1"/>
          </p:cNvSpPr>
          <p:nvPr/>
        </p:nvSpPr>
        <p:spPr bwMode="auto">
          <a:xfrm>
            <a:off x="7248525" y="4077692"/>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4</a:t>
            </a:r>
          </a:p>
        </p:txBody>
      </p:sp>
      <p:sp>
        <p:nvSpPr>
          <p:cNvPr id="87" name="Text Box 60"/>
          <p:cNvSpPr txBox="1">
            <a:spLocks noChangeArrowheads="1"/>
          </p:cNvSpPr>
          <p:nvPr/>
        </p:nvSpPr>
        <p:spPr bwMode="auto">
          <a:xfrm>
            <a:off x="8400058" y="589872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a:latin typeface="Comic Sans MS" pitchFamily="66" charset="0"/>
              </a:rPr>
              <a:t>4</a:t>
            </a:r>
          </a:p>
        </p:txBody>
      </p:sp>
      <p:sp>
        <p:nvSpPr>
          <p:cNvPr id="88" name="Text Box 61"/>
          <p:cNvSpPr txBox="1">
            <a:spLocks noChangeArrowheads="1"/>
          </p:cNvSpPr>
          <p:nvPr/>
        </p:nvSpPr>
        <p:spPr bwMode="auto">
          <a:xfrm>
            <a:off x="3353490" y="3699121"/>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dirty="0">
                <a:latin typeface="Comic Sans MS" pitchFamily="66" charset="0"/>
              </a:rPr>
              <a:t>Ⅰ</a:t>
            </a:r>
          </a:p>
        </p:txBody>
      </p:sp>
      <p:sp>
        <p:nvSpPr>
          <p:cNvPr id="89" name="Text Box 62"/>
          <p:cNvSpPr txBox="1">
            <a:spLocks noChangeArrowheads="1"/>
          </p:cNvSpPr>
          <p:nvPr/>
        </p:nvSpPr>
        <p:spPr bwMode="auto">
          <a:xfrm>
            <a:off x="8989992" y="372833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dirty="0">
                <a:latin typeface="Comic Sans MS" pitchFamily="66" charset="0"/>
              </a:rPr>
              <a:t>Ⅱ</a:t>
            </a:r>
          </a:p>
        </p:txBody>
      </p:sp>
      <p:sp>
        <p:nvSpPr>
          <p:cNvPr id="90" name="Text Box 63"/>
          <p:cNvSpPr txBox="1">
            <a:spLocks noChangeArrowheads="1"/>
          </p:cNvSpPr>
          <p:nvPr/>
        </p:nvSpPr>
        <p:spPr bwMode="auto">
          <a:xfrm>
            <a:off x="5952133" y="5801891"/>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Tx/>
              <a:buSzTx/>
              <a:buFontTx/>
              <a:buNone/>
            </a:pPr>
            <a:r>
              <a:rPr lang="en-US" altLang="zh-CN" sz="2400" dirty="0">
                <a:latin typeface="Comic Sans MS" pitchFamily="66" charset="0"/>
              </a:rPr>
              <a:t>Ⅲ</a:t>
            </a:r>
          </a:p>
        </p:txBody>
      </p:sp>
      <p:sp>
        <p:nvSpPr>
          <p:cNvPr id="94" name="矩形 93"/>
          <p:cNvSpPr/>
          <p:nvPr/>
        </p:nvSpPr>
        <p:spPr>
          <a:xfrm>
            <a:off x="2668619" y="1923665"/>
            <a:ext cx="2185214" cy="461665"/>
          </a:xfrm>
          <a:prstGeom prst="rect">
            <a:avLst/>
          </a:prstGeom>
        </p:spPr>
        <p:txBody>
          <a:bodyPr wrap="none">
            <a:spAutoFit/>
          </a:bodyPr>
          <a:lstStyle/>
          <a:p>
            <a:r>
              <a:rPr kumimoji="1" lang="en-US" altLang="zh-CN" sz="2400" dirty="0">
                <a:latin typeface="黑体" pitchFamily="2" charset="-122"/>
                <a:ea typeface="黑体" pitchFamily="2" charset="-122"/>
              </a:rPr>
              <a:t>1</a:t>
            </a:r>
            <a:r>
              <a:rPr kumimoji="1" lang="zh-CN" altLang="en-US" sz="2400" dirty="0">
                <a:latin typeface="黑体" pitchFamily="2" charset="-122"/>
                <a:ea typeface="黑体" pitchFamily="2" charset="-122"/>
              </a:rPr>
              <a:t>、最优二叉树</a:t>
            </a:r>
          </a:p>
        </p:txBody>
      </p:sp>
      <p:sp>
        <p:nvSpPr>
          <p:cNvPr id="95" name="矩形 94"/>
          <p:cNvSpPr/>
          <p:nvPr/>
        </p:nvSpPr>
        <p:spPr>
          <a:xfrm>
            <a:off x="1694255" y="4908466"/>
            <a:ext cx="4279754" cy="1015663"/>
          </a:xfrm>
          <a:prstGeom prst="rect">
            <a:avLst/>
          </a:prstGeom>
        </p:spPr>
        <p:txBody>
          <a:bodyPr wrap="square">
            <a:spAutoFit/>
          </a:bodyPr>
          <a:lstStyle/>
          <a:p>
            <a:pPr>
              <a:spcBef>
                <a:spcPct val="50000"/>
              </a:spcBef>
            </a:pPr>
            <a:r>
              <a:rPr kumimoji="1" lang="zh-CN" altLang="en-US" sz="2000" dirty="0">
                <a:latin typeface="黑体" pitchFamily="2" charset="-122"/>
                <a:ea typeface="黑体" pitchFamily="2" charset="-122"/>
              </a:rPr>
              <a:t>    假设给定</a:t>
            </a:r>
            <a:r>
              <a:rPr kumimoji="1" lang="en-US" altLang="zh-CN" sz="2000" dirty="0">
                <a:latin typeface="黑体" pitchFamily="2" charset="-122"/>
                <a:ea typeface="黑体" pitchFamily="2" charset="-122"/>
              </a:rPr>
              <a:t>n</a:t>
            </a:r>
            <a:r>
              <a:rPr kumimoji="1" lang="zh-CN" altLang="en-US" sz="2000" dirty="0">
                <a:latin typeface="黑体" pitchFamily="2" charset="-122"/>
                <a:ea typeface="黑体" pitchFamily="2" charset="-122"/>
              </a:rPr>
              <a:t>个权值</a:t>
            </a:r>
            <a:r>
              <a:rPr lang="zh-CN" altLang="en-US" sz="2000" dirty="0">
                <a:latin typeface="Times New Roman" pitchFamily="18" charset="0"/>
              </a:rPr>
              <a:t>｛ </a:t>
            </a:r>
            <a:r>
              <a:rPr lang="en-US" altLang="zh-CN" sz="2000" dirty="0">
                <a:latin typeface="Times New Roman" pitchFamily="18" charset="0"/>
              </a:rPr>
              <a:t>w</a:t>
            </a:r>
            <a:r>
              <a:rPr lang="en-US" altLang="zh-CN" sz="2000" baseline="-25000" dirty="0">
                <a:latin typeface="Times New Roman" pitchFamily="18" charset="0"/>
              </a:rPr>
              <a:t>1</a:t>
            </a:r>
            <a:r>
              <a:rPr lang="en-US" altLang="zh-CN" sz="2000" dirty="0">
                <a:latin typeface="Times New Roman" pitchFamily="18" charset="0"/>
              </a:rPr>
              <a:t>,w</a:t>
            </a:r>
            <a:r>
              <a:rPr lang="en-US" altLang="zh-CN" sz="2000" baseline="-25000" dirty="0">
                <a:latin typeface="Times New Roman" pitchFamily="18" charset="0"/>
              </a:rPr>
              <a:t>2</a:t>
            </a:r>
            <a:r>
              <a:rPr lang="en-US" altLang="zh-CN" sz="2000" dirty="0">
                <a:latin typeface="Times New Roman" pitchFamily="18" charset="0"/>
              </a:rPr>
              <a:t>,…,</a:t>
            </a:r>
            <a:r>
              <a:rPr lang="en-US" altLang="zh-CN" sz="2000" dirty="0" err="1">
                <a:latin typeface="Times New Roman" pitchFamily="18" charset="0"/>
              </a:rPr>
              <a:t>w</a:t>
            </a:r>
            <a:r>
              <a:rPr lang="en-US" altLang="zh-CN" sz="2000" baseline="-25000" dirty="0" err="1">
                <a:latin typeface="Times New Roman" pitchFamily="18" charset="0"/>
              </a:rPr>
              <a:t>n</a:t>
            </a:r>
            <a:r>
              <a:rPr lang="en-US" altLang="zh-CN" sz="2000" dirty="0">
                <a:latin typeface="Times New Roman" pitchFamily="18" charset="0"/>
              </a:rPr>
              <a:t> </a:t>
            </a:r>
            <a:r>
              <a:rPr lang="zh-CN" altLang="en-US" sz="2000" dirty="0">
                <a:latin typeface="Times New Roman" pitchFamily="18" charset="0"/>
              </a:rPr>
              <a:t>｝，</a:t>
            </a:r>
            <a:r>
              <a:rPr kumimoji="1" lang="zh-CN" altLang="en-US" sz="2000" dirty="0">
                <a:latin typeface="黑体" pitchFamily="2" charset="-122"/>
                <a:ea typeface="黑体" pitchFamily="2" charset="-122"/>
              </a:rPr>
              <a:t>如何构造一棵</a:t>
            </a:r>
            <a:r>
              <a:rPr kumimoji="1" lang="en-US" altLang="zh-CN" sz="2000" dirty="0">
                <a:latin typeface="黑体" pitchFamily="2" charset="-122"/>
                <a:ea typeface="黑体" pitchFamily="2" charset="-122"/>
              </a:rPr>
              <a:t>n</a:t>
            </a:r>
            <a:r>
              <a:rPr kumimoji="1" lang="zh-CN" altLang="en-US" sz="2000" dirty="0">
                <a:latin typeface="黑体" pitchFamily="2" charset="-122"/>
                <a:ea typeface="黑体" pitchFamily="2" charset="-122"/>
              </a:rPr>
              <a:t>个结点的二叉树，使其为最优二叉树？</a:t>
            </a:r>
          </a:p>
        </p:txBody>
      </p:sp>
      <p:cxnSp>
        <p:nvCxnSpPr>
          <p:cNvPr id="2" name="直接连接符 1">
            <a:extLst>
              <a:ext uri="{FF2B5EF4-FFF2-40B4-BE49-F238E27FC236}">
                <a16:creationId xmlns:a16="http://schemas.microsoft.com/office/drawing/2014/main" xmlns="" id="{E2E6E108-DB68-C07D-D061-74DBAA3FDC71}"/>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5A511D84-9DD2-1037-8A9E-C032315AFFF7}"/>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7A54896A-43BD-0A09-0701-279D8FE7A6DA}"/>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7.8.1 </a:t>
            </a:r>
            <a:r>
              <a:rPr lang="zh-CN" altLang="en-US" dirty="0"/>
              <a:t>哈夫曼树的定义</a:t>
            </a:r>
          </a:p>
        </p:txBody>
      </p:sp>
    </p:spTree>
    <p:extLst>
      <p:ext uri="{BB962C8B-B14F-4D97-AF65-F5344CB8AC3E}">
        <p14:creationId xmlns:p14="http://schemas.microsoft.com/office/powerpoint/2010/main" val="270439426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7982ED8-B557-B9D5-CA4E-C6441408BEC2}"/>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xmlns="" id="{0DC7947D-2416-D213-8126-1E7B9BE98AC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33517029-D6B2-FE22-BD36-8E4BF011A1E7}"/>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CA33C425-56BC-9C33-9FD9-0208B7E7BC61}"/>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7.8.1 </a:t>
            </a:r>
            <a:r>
              <a:rPr lang="zh-CN" altLang="en-US" dirty="0"/>
              <a:t>哈夫曼树的定义</a:t>
            </a:r>
          </a:p>
        </p:txBody>
      </p:sp>
      <p:sp>
        <p:nvSpPr>
          <p:cNvPr id="5" name="Text Box 3">
            <a:extLst>
              <a:ext uri="{FF2B5EF4-FFF2-40B4-BE49-F238E27FC236}">
                <a16:creationId xmlns:a16="http://schemas.microsoft.com/office/drawing/2014/main" xmlns="" id="{A4FB62FD-356A-59BF-9EB3-D2BDA251D48D}"/>
              </a:ext>
            </a:extLst>
          </p:cNvPr>
          <p:cNvSpPr txBox="1">
            <a:spLocks noChangeArrowheads="1"/>
          </p:cNvSpPr>
          <p:nvPr/>
        </p:nvSpPr>
        <p:spPr bwMode="auto">
          <a:xfrm>
            <a:off x="1415480" y="1916832"/>
            <a:ext cx="10081120" cy="1135054"/>
          </a:xfrm>
          <a:prstGeom prst="rect">
            <a:avLst/>
          </a:prstGeom>
          <a:noFill/>
          <a:ln w="9525">
            <a:noFill/>
            <a:miter lim="800000"/>
            <a:headEnd/>
            <a:tailEnd/>
          </a:ln>
          <a:effectLst/>
        </p:spPr>
        <p:txBody>
          <a:bodyPr wrap="square">
            <a:spAutoFit/>
          </a:bodyPr>
          <a:lstStyle/>
          <a:p>
            <a:pPr algn="just">
              <a:lnSpc>
                <a:spcPct val="150000"/>
              </a:lnSpc>
              <a:spcBef>
                <a:spcPct val="50000"/>
              </a:spcBef>
            </a:pPr>
            <a:r>
              <a:rPr kumimoji="1" lang="zh-CN" altLang="en-US" sz="2000" dirty="0">
                <a:latin typeface="Consolas" pitchFamily="49" charset="0"/>
                <a:ea typeface="楷体" pitchFamily="49" charset="-122"/>
                <a:cs typeface="Consolas" pitchFamily="49" charset="0"/>
              </a:rPr>
              <a:t>　　</a:t>
            </a:r>
            <a:r>
              <a:rPr kumimoji="1" lang="zh-CN" altLang="en-US" sz="2400" dirty="0">
                <a:latin typeface="微软雅黑" pitchFamily="34" charset="-122"/>
                <a:ea typeface="微软雅黑" pitchFamily="34" charset="-122"/>
                <a:cs typeface="经典粗黑简" pitchFamily="49" charset="-122"/>
              </a:rPr>
              <a:t>设二叉树具有</a:t>
            </a:r>
            <a:r>
              <a:rPr kumimoji="1" lang="en-US" altLang="zh-CN" sz="2400" dirty="0">
                <a:latin typeface="微软雅黑" pitchFamily="34" charset="-122"/>
                <a:ea typeface="微软雅黑" pitchFamily="34" charset="-122"/>
                <a:cs typeface="经典粗黑简" pitchFamily="49" charset="-122"/>
              </a:rPr>
              <a:t>n</a:t>
            </a:r>
            <a:r>
              <a:rPr kumimoji="1" lang="en-US" altLang="zh-CN" sz="2400" baseline="-25000" dirty="0">
                <a:latin typeface="微软雅黑" pitchFamily="34" charset="-122"/>
                <a:ea typeface="微软雅黑" pitchFamily="34" charset="-122"/>
                <a:cs typeface="经典粗黑简" pitchFamily="49" charset="-122"/>
              </a:rPr>
              <a:t>0</a:t>
            </a:r>
            <a:r>
              <a:rPr kumimoji="1" lang="zh-CN" altLang="en-US" sz="2400" dirty="0">
                <a:latin typeface="微软雅黑" pitchFamily="34" charset="-122"/>
                <a:ea typeface="微软雅黑" pitchFamily="34" charset="-122"/>
                <a:cs typeface="经典粗黑简" pitchFamily="49" charset="-122"/>
              </a:rPr>
              <a:t>个带权值的叶结点，那么从根结点到各个叶结点的路径长度与相应结点权值的乘积的和，叫做二叉树的</a:t>
            </a:r>
            <a:r>
              <a:rPr kumimoji="1" lang="zh-CN" altLang="en-US" sz="2400" dirty="0">
                <a:solidFill>
                  <a:srgbClr val="FF0000"/>
                </a:solidFill>
                <a:latin typeface="微软雅黑" pitchFamily="34" charset="-122"/>
                <a:ea typeface="微软雅黑" pitchFamily="34" charset="-122"/>
                <a:cs typeface="经典粗黑简" pitchFamily="49" charset="-122"/>
              </a:rPr>
              <a:t>带权路径长度</a:t>
            </a:r>
            <a:r>
              <a:rPr kumimoji="1" lang="en-US" altLang="zh-CN" sz="2400" dirty="0">
                <a:solidFill>
                  <a:srgbClr val="FF0000"/>
                </a:solidFill>
                <a:latin typeface="微软雅黑" pitchFamily="34" charset="-122"/>
                <a:ea typeface="微软雅黑" pitchFamily="34" charset="-122"/>
                <a:cs typeface="经典粗黑简" pitchFamily="49" charset="-122"/>
              </a:rPr>
              <a:t>WPL</a:t>
            </a:r>
            <a:r>
              <a:rPr kumimoji="1" lang="zh-CN" altLang="en-US" sz="2400" dirty="0">
                <a:latin typeface="微软雅黑" pitchFamily="34" charset="-122"/>
                <a:ea typeface="微软雅黑" pitchFamily="34" charset="-122"/>
                <a:cs typeface="经典粗黑简" pitchFamily="49" charset="-122"/>
              </a:rPr>
              <a:t>。       </a:t>
            </a:r>
          </a:p>
        </p:txBody>
      </p:sp>
      <p:pic>
        <p:nvPicPr>
          <p:cNvPr id="10" name="Picture 6">
            <a:extLst>
              <a:ext uri="{FF2B5EF4-FFF2-40B4-BE49-F238E27FC236}">
                <a16:creationId xmlns:a16="http://schemas.microsoft.com/office/drawing/2014/main" xmlns="" id="{350B6138-DF9F-6F84-060A-555BCCCAD991}"/>
              </a:ext>
            </a:extLst>
          </p:cNvPr>
          <p:cNvPicPr>
            <a:picLocks noChangeAspect="1" noChangeArrowheads="1"/>
          </p:cNvPicPr>
          <p:nvPr/>
        </p:nvPicPr>
        <p:blipFill>
          <a:blip r:embed="rId2" cstate="print"/>
          <a:srcRect/>
          <a:stretch>
            <a:fillRect/>
          </a:stretch>
        </p:blipFill>
        <p:spPr bwMode="auto">
          <a:xfrm>
            <a:off x="4338214" y="3038320"/>
            <a:ext cx="2952328" cy="1761332"/>
          </a:xfrm>
          <a:prstGeom prst="rect">
            <a:avLst/>
          </a:prstGeom>
          <a:noFill/>
          <a:ln w="9525">
            <a:noFill/>
            <a:miter lim="800000"/>
            <a:headEnd/>
            <a:tailEnd/>
          </a:ln>
        </p:spPr>
      </p:pic>
    </p:spTree>
    <p:extLst>
      <p:ext uri="{BB962C8B-B14F-4D97-AF65-F5344CB8AC3E}">
        <p14:creationId xmlns:p14="http://schemas.microsoft.com/office/powerpoint/2010/main" val="98665226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xmlns="" id="{850941AD-CFFB-775C-7F75-F87E10F2D279}"/>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876F9B32-5581-2125-F8AF-D491AC47E87E}"/>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21538C52-3348-C2F4-637D-4F99B7B40710}"/>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7.8.2 </a:t>
            </a:r>
            <a:r>
              <a:rPr lang="zh-CN" altLang="en-US" dirty="0"/>
              <a:t>构造哈夫曼树</a:t>
            </a:r>
          </a:p>
        </p:txBody>
      </p:sp>
      <p:sp>
        <p:nvSpPr>
          <p:cNvPr id="5" name="Text Box 2">
            <a:extLst>
              <a:ext uri="{FF2B5EF4-FFF2-40B4-BE49-F238E27FC236}">
                <a16:creationId xmlns:a16="http://schemas.microsoft.com/office/drawing/2014/main" xmlns="" id="{F0CFCBFA-FA79-359B-4445-AD88F9A0F5B3}"/>
              </a:ext>
            </a:extLst>
          </p:cNvPr>
          <p:cNvSpPr txBox="1">
            <a:spLocks noChangeArrowheads="1"/>
          </p:cNvSpPr>
          <p:nvPr/>
        </p:nvSpPr>
        <p:spPr bwMode="auto">
          <a:xfrm>
            <a:off x="1846958" y="4730274"/>
            <a:ext cx="3786214" cy="426335"/>
          </a:xfrm>
          <a:prstGeom prst="rect">
            <a:avLst/>
          </a:prstGeom>
          <a:noFill/>
          <a:ln w="9525">
            <a:noFill/>
            <a:miter lim="800000"/>
            <a:headEnd/>
            <a:tailEnd/>
          </a:ln>
          <a:effectLst/>
          <a:scene3d>
            <a:camera prst="perspectiveRight"/>
            <a:lightRig rig="threePt" dir="t"/>
          </a:scene3d>
        </p:spPr>
        <p:txBody>
          <a:bodyPr wrap="square">
            <a:spAutoFit/>
          </a:bodyPr>
          <a:lstStyle/>
          <a:p>
            <a:pPr algn="just">
              <a:lnSpc>
                <a:spcPct val="120000"/>
              </a:lnSpc>
              <a:spcBef>
                <a:spcPct val="50000"/>
              </a:spcBef>
            </a:pPr>
            <a:r>
              <a:rPr kumimoji="1" lang="zh-CN" altLang="en-US" sz="2000" dirty="0">
                <a:ea typeface="楷体" pitchFamily="49" charset="-122"/>
                <a:cs typeface="Times New Roman" pitchFamily="18" charset="0"/>
              </a:rPr>
              <a:t>构造哈夫曼树的</a:t>
            </a:r>
            <a:r>
              <a:rPr kumimoji="1" lang="zh-CN" altLang="en-US" sz="2000" dirty="0">
                <a:solidFill>
                  <a:srgbClr val="FF0000"/>
                </a:solidFill>
                <a:ea typeface="楷体" pitchFamily="49" charset="-122"/>
                <a:cs typeface="Times New Roman" pitchFamily="18" charset="0"/>
              </a:rPr>
              <a:t>原则</a:t>
            </a:r>
            <a:r>
              <a:rPr kumimoji="1" lang="zh-CN" altLang="en-US" sz="2000" dirty="0">
                <a:ea typeface="楷体" pitchFamily="49" charset="-122"/>
                <a:cs typeface="Times New Roman" pitchFamily="18" charset="0"/>
              </a:rPr>
              <a:t>：</a:t>
            </a:r>
            <a:endParaRPr kumimoji="1" lang="en-US" altLang="zh-CN" sz="2000" dirty="0">
              <a:ea typeface="楷体" pitchFamily="49" charset="-122"/>
              <a:cs typeface="Times New Roman" pitchFamily="18" charset="0"/>
            </a:endParaRPr>
          </a:p>
        </p:txBody>
      </p:sp>
      <p:sp>
        <p:nvSpPr>
          <p:cNvPr id="10" name="TextBox 3">
            <a:extLst>
              <a:ext uri="{FF2B5EF4-FFF2-40B4-BE49-F238E27FC236}">
                <a16:creationId xmlns:a16="http://schemas.microsoft.com/office/drawing/2014/main" xmlns="" id="{84C282DC-AFE0-7CC9-7175-D46A71A2BA86}"/>
              </a:ext>
            </a:extLst>
          </p:cNvPr>
          <p:cNvSpPr txBox="1"/>
          <p:nvPr/>
        </p:nvSpPr>
        <p:spPr>
          <a:xfrm>
            <a:off x="1775520" y="5373216"/>
            <a:ext cx="5572164" cy="11056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44000" rtlCol="0">
            <a:spAutoFit/>
          </a:bodyPr>
          <a:lstStyle/>
          <a:p>
            <a:pPr marL="457200" indent="-457200" algn="l">
              <a:lnSpc>
                <a:spcPct val="150000"/>
              </a:lnSpc>
              <a:buBlip>
                <a:blip r:embed="rId2"/>
              </a:buBlip>
            </a:pPr>
            <a:r>
              <a:rPr kumimoji="1" lang="zh-CN" altLang="en-US" sz="2000" dirty="0">
                <a:latin typeface="仿宋" pitchFamily="49" charset="-122"/>
                <a:ea typeface="仿宋" pitchFamily="49" charset="-122"/>
                <a:cs typeface="Times New Roman" pitchFamily="18" charset="0"/>
              </a:rPr>
              <a:t>权值越大</a:t>
            </a:r>
            <a:r>
              <a:rPr kumimoji="1" lang="zh-CN" altLang="en-US" sz="2000">
                <a:latin typeface="仿宋" pitchFamily="49" charset="-122"/>
                <a:ea typeface="仿宋" pitchFamily="49" charset="-122"/>
                <a:cs typeface="Times New Roman" pitchFamily="18" charset="0"/>
              </a:rPr>
              <a:t>的叶结点越靠近根结点。</a:t>
            </a:r>
            <a:endParaRPr kumimoji="1" lang="en-US" altLang="zh-CN" sz="2000" dirty="0">
              <a:latin typeface="仿宋" pitchFamily="49" charset="-122"/>
              <a:ea typeface="仿宋" pitchFamily="49" charset="-122"/>
              <a:cs typeface="Times New Roman" pitchFamily="18" charset="0"/>
            </a:endParaRPr>
          </a:p>
          <a:p>
            <a:pPr marL="457200" indent="-457200" algn="l">
              <a:lnSpc>
                <a:spcPct val="150000"/>
              </a:lnSpc>
              <a:buBlip>
                <a:blip r:embed="rId2"/>
              </a:buBlip>
            </a:pPr>
            <a:r>
              <a:rPr kumimoji="1" lang="zh-CN" altLang="en-US" sz="2000" dirty="0">
                <a:latin typeface="仿宋" pitchFamily="49" charset="-122"/>
                <a:ea typeface="仿宋" pitchFamily="49" charset="-122"/>
                <a:cs typeface="Times New Roman" pitchFamily="18" charset="0"/>
              </a:rPr>
              <a:t>权值越小</a:t>
            </a:r>
            <a:r>
              <a:rPr kumimoji="1" lang="zh-CN" altLang="en-US" sz="2000">
                <a:latin typeface="仿宋" pitchFamily="49" charset="-122"/>
                <a:ea typeface="仿宋" pitchFamily="49" charset="-122"/>
                <a:cs typeface="Times New Roman" pitchFamily="18" charset="0"/>
              </a:rPr>
              <a:t>的叶结点越远离根结点。</a:t>
            </a:r>
            <a:endParaRPr lang="zh-CN" altLang="en-US" sz="2000" dirty="0">
              <a:latin typeface="仿宋" pitchFamily="49" charset="-122"/>
              <a:ea typeface="仿宋" pitchFamily="49" charset="-122"/>
              <a:cs typeface="Times New Roman" pitchFamily="18" charset="0"/>
            </a:endParaRPr>
          </a:p>
        </p:txBody>
      </p:sp>
      <p:sp>
        <p:nvSpPr>
          <p:cNvPr id="17" name="Text Box 3">
            <a:extLst>
              <a:ext uri="{FF2B5EF4-FFF2-40B4-BE49-F238E27FC236}">
                <a16:creationId xmlns:a16="http://schemas.microsoft.com/office/drawing/2014/main" xmlns="" id="{A91D8EEB-786C-CFD4-C77D-A792F29ADA1B}"/>
              </a:ext>
            </a:extLst>
          </p:cNvPr>
          <p:cNvSpPr txBox="1">
            <a:spLocks noChangeArrowheads="1"/>
          </p:cNvSpPr>
          <p:nvPr/>
        </p:nvSpPr>
        <p:spPr bwMode="auto">
          <a:xfrm>
            <a:off x="1415480" y="1916832"/>
            <a:ext cx="10081120" cy="1135054"/>
          </a:xfrm>
          <a:prstGeom prst="rect">
            <a:avLst/>
          </a:prstGeom>
          <a:noFill/>
          <a:ln w="9525">
            <a:noFill/>
            <a:miter lim="800000"/>
            <a:headEnd/>
            <a:tailEnd/>
          </a:ln>
          <a:effectLst/>
        </p:spPr>
        <p:txBody>
          <a:bodyPr wrap="square">
            <a:spAutoFit/>
          </a:bodyPr>
          <a:lstStyle/>
          <a:p>
            <a:pPr algn="just">
              <a:lnSpc>
                <a:spcPct val="150000"/>
              </a:lnSpc>
              <a:spcBef>
                <a:spcPct val="50000"/>
              </a:spcBef>
            </a:pPr>
            <a:r>
              <a:rPr kumimoji="1" lang="zh-CN" altLang="en-US" sz="2000" dirty="0">
                <a:latin typeface="Consolas" pitchFamily="49" charset="0"/>
                <a:ea typeface="楷体" pitchFamily="49" charset="-122"/>
                <a:cs typeface="Consolas" pitchFamily="49" charset="0"/>
              </a:rPr>
              <a:t>　　</a:t>
            </a:r>
            <a:r>
              <a:rPr kumimoji="1" lang="zh-CN" altLang="en-US" sz="2400" dirty="0">
                <a:latin typeface="微软雅黑" pitchFamily="34" charset="-122"/>
                <a:ea typeface="微软雅黑" pitchFamily="34" charset="-122"/>
                <a:cs typeface="经典粗黑简" pitchFamily="49" charset="-122"/>
              </a:rPr>
              <a:t>设二叉树具有</a:t>
            </a:r>
            <a:r>
              <a:rPr kumimoji="1" lang="en-US" altLang="zh-CN" sz="2400" dirty="0">
                <a:latin typeface="微软雅黑" pitchFamily="34" charset="-122"/>
                <a:ea typeface="微软雅黑" pitchFamily="34" charset="-122"/>
                <a:cs typeface="经典粗黑简" pitchFamily="49" charset="-122"/>
              </a:rPr>
              <a:t>n</a:t>
            </a:r>
            <a:r>
              <a:rPr kumimoji="1" lang="en-US" altLang="zh-CN" sz="2400" baseline="-25000" dirty="0">
                <a:latin typeface="微软雅黑" pitchFamily="34" charset="-122"/>
                <a:ea typeface="微软雅黑" pitchFamily="34" charset="-122"/>
                <a:cs typeface="经典粗黑简" pitchFamily="49" charset="-122"/>
              </a:rPr>
              <a:t>0</a:t>
            </a:r>
            <a:r>
              <a:rPr kumimoji="1" lang="zh-CN" altLang="en-US" sz="2400" dirty="0">
                <a:latin typeface="微软雅黑" pitchFamily="34" charset="-122"/>
                <a:ea typeface="微软雅黑" pitchFamily="34" charset="-122"/>
                <a:cs typeface="经典粗黑简" pitchFamily="49" charset="-122"/>
              </a:rPr>
              <a:t>个带权值的叶结点，那么从根结点到各个叶结点的路径长度与相应结点权值的乘积的和，叫做二叉树的</a:t>
            </a:r>
            <a:r>
              <a:rPr kumimoji="1" lang="zh-CN" altLang="en-US" sz="2400" dirty="0">
                <a:solidFill>
                  <a:srgbClr val="FF0000"/>
                </a:solidFill>
                <a:latin typeface="微软雅黑" pitchFamily="34" charset="-122"/>
                <a:ea typeface="微软雅黑" pitchFamily="34" charset="-122"/>
                <a:cs typeface="经典粗黑简" pitchFamily="49" charset="-122"/>
              </a:rPr>
              <a:t>带权路径长度</a:t>
            </a:r>
            <a:r>
              <a:rPr kumimoji="1" lang="en-US" altLang="zh-CN" sz="2400" dirty="0">
                <a:solidFill>
                  <a:srgbClr val="FF0000"/>
                </a:solidFill>
                <a:latin typeface="微软雅黑" pitchFamily="34" charset="-122"/>
                <a:ea typeface="微软雅黑" pitchFamily="34" charset="-122"/>
                <a:cs typeface="经典粗黑简" pitchFamily="49" charset="-122"/>
              </a:rPr>
              <a:t>WPL</a:t>
            </a:r>
            <a:r>
              <a:rPr kumimoji="1" lang="zh-CN" altLang="en-US" sz="2400" dirty="0">
                <a:latin typeface="微软雅黑" pitchFamily="34" charset="-122"/>
                <a:ea typeface="微软雅黑" pitchFamily="34" charset="-122"/>
                <a:cs typeface="经典粗黑简" pitchFamily="49" charset="-122"/>
              </a:rPr>
              <a:t>。       </a:t>
            </a:r>
          </a:p>
        </p:txBody>
      </p:sp>
      <p:pic>
        <p:nvPicPr>
          <p:cNvPr id="18" name="Picture 6">
            <a:extLst>
              <a:ext uri="{FF2B5EF4-FFF2-40B4-BE49-F238E27FC236}">
                <a16:creationId xmlns:a16="http://schemas.microsoft.com/office/drawing/2014/main" xmlns="" id="{F414EFB7-EB1F-B099-0FB6-C74627581C88}"/>
              </a:ext>
            </a:extLst>
          </p:cNvPr>
          <p:cNvPicPr>
            <a:picLocks noChangeAspect="1" noChangeArrowheads="1"/>
          </p:cNvPicPr>
          <p:nvPr/>
        </p:nvPicPr>
        <p:blipFill>
          <a:blip r:embed="rId3" cstate="print"/>
          <a:srcRect/>
          <a:stretch>
            <a:fillRect/>
          </a:stretch>
        </p:blipFill>
        <p:spPr bwMode="auto">
          <a:xfrm>
            <a:off x="4338214" y="3038320"/>
            <a:ext cx="2952328" cy="1761332"/>
          </a:xfrm>
          <a:prstGeom prst="rect">
            <a:avLst/>
          </a:prstGeom>
          <a:noFill/>
          <a:ln w="9525">
            <a:noFill/>
            <a:miter lim="800000"/>
            <a:headEnd/>
            <a:tailEnd/>
          </a:ln>
        </p:spPr>
      </p:pic>
    </p:spTree>
    <p:extLst>
      <p:ext uri="{BB962C8B-B14F-4D97-AF65-F5344CB8AC3E}">
        <p14:creationId xmlns:p14="http://schemas.microsoft.com/office/powerpoint/2010/main" val="317165784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4B1DB1-1CF9-5823-C9FB-E36E7157D2FF}"/>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xmlns="" id="{F8CCB0BE-1C2E-0FE1-76C4-F05A20F752B3}"/>
              </a:ext>
            </a:extLst>
          </p:cNvPr>
          <p:cNvSpPr/>
          <p:nvPr/>
        </p:nvSpPr>
        <p:spPr>
          <a:xfrm>
            <a:off x="2668619" y="2452826"/>
            <a:ext cx="2900346" cy="400110"/>
          </a:xfrm>
          <a:prstGeom prst="rect">
            <a:avLst/>
          </a:prstGeom>
        </p:spPr>
        <p:txBody>
          <a:bodyPr wrap="none">
            <a:spAutoFit/>
          </a:bodyPr>
          <a:lstStyle/>
          <a:p>
            <a:r>
              <a:rPr kumimoji="1" lang="zh-CN" altLang="en-US" sz="2000" dirty="0">
                <a:latin typeface="黑体" pitchFamily="2" charset="-122"/>
                <a:ea typeface="黑体" pitchFamily="2" charset="-122"/>
              </a:rPr>
              <a:t>构造</a:t>
            </a:r>
            <a:r>
              <a:rPr lang="en-US" altLang="zh-CN" sz="2000" dirty="0">
                <a:latin typeface="Times New Roman" pitchFamily="18" charset="0"/>
              </a:rPr>
              <a:t>Huffman</a:t>
            </a:r>
            <a:r>
              <a:rPr kumimoji="1" lang="zh-CN" altLang="zh-CN" sz="2000" dirty="0">
                <a:latin typeface="黑体" pitchFamily="2" charset="-122"/>
                <a:ea typeface="黑体" pitchFamily="2" charset="-122"/>
              </a:rPr>
              <a:t>树</a:t>
            </a:r>
            <a:r>
              <a:rPr kumimoji="1" lang="zh-CN" altLang="en-US" sz="2000" dirty="0">
                <a:latin typeface="黑体" pitchFamily="2" charset="-122"/>
                <a:ea typeface="黑体" pitchFamily="2" charset="-122"/>
              </a:rPr>
              <a:t>的步骤：</a:t>
            </a:r>
          </a:p>
        </p:txBody>
      </p:sp>
      <p:sp>
        <p:nvSpPr>
          <p:cNvPr id="7" name="矩形 6">
            <a:extLst>
              <a:ext uri="{FF2B5EF4-FFF2-40B4-BE49-F238E27FC236}">
                <a16:creationId xmlns:a16="http://schemas.microsoft.com/office/drawing/2014/main" xmlns="" id="{57B8CD33-5EE8-4DC1-0F74-6BBF90FDC14F}"/>
              </a:ext>
            </a:extLst>
          </p:cNvPr>
          <p:cNvSpPr/>
          <p:nvPr/>
        </p:nvSpPr>
        <p:spPr>
          <a:xfrm>
            <a:off x="2999657" y="2844079"/>
            <a:ext cx="6969097" cy="707886"/>
          </a:xfrm>
          <a:prstGeom prst="rect">
            <a:avLst/>
          </a:prstGeom>
        </p:spPr>
        <p:txBody>
          <a:bodyPr wrap="square">
            <a:spAutoFit/>
          </a:bodyPr>
          <a:lstStyle/>
          <a:p>
            <a:r>
              <a:rPr kumimoji="1" lang="en-US" altLang="zh-CN" sz="2000" dirty="0">
                <a:latin typeface="黑体" pitchFamily="2" charset="-122"/>
                <a:ea typeface="黑体" pitchFamily="2" charset="-122"/>
              </a:rPr>
              <a:t>1</a:t>
            </a:r>
            <a:r>
              <a:rPr kumimoji="1" lang="zh-CN" altLang="en-US" sz="2000" dirty="0">
                <a:latin typeface="黑体" pitchFamily="2" charset="-122"/>
                <a:ea typeface="黑体" pitchFamily="2" charset="-122"/>
              </a:rPr>
              <a:t>、根据给定的</a:t>
            </a:r>
            <a:r>
              <a:rPr kumimoji="1" lang="en-US" altLang="zh-CN" sz="2000" dirty="0">
                <a:latin typeface="黑体" pitchFamily="2" charset="-122"/>
                <a:ea typeface="黑体" pitchFamily="2" charset="-122"/>
              </a:rPr>
              <a:t>n</a:t>
            </a:r>
            <a:r>
              <a:rPr kumimoji="1" lang="zh-CN" altLang="zh-CN" sz="2000" dirty="0">
                <a:latin typeface="黑体" pitchFamily="2" charset="-122"/>
                <a:ea typeface="黑体" pitchFamily="2" charset="-122"/>
              </a:rPr>
              <a:t>个权值</a:t>
            </a:r>
            <a:r>
              <a:rPr lang="zh-CN" altLang="zh-CN" sz="2000" dirty="0">
                <a:latin typeface="Times New Roman" pitchFamily="18" charset="0"/>
              </a:rPr>
              <a:t>{</a:t>
            </a:r>
            <a:r>
              <a:rPr lang="en-US" altLang="zh-CN" sz="2000" dirty="0">
                <a:latin typeface="Times New Roman" pitchFamily="18" charset="0"/>
              </a:rPr>
              <a:t>w</a:t>
            </a:r>
            <a:r>
              <a:rPr lang="en-US" altLang="zh-CN" sz="2000" baseline="-25000" dirty="0">
                <a:latin typeface="Times New Roman" pitchFamily="18" charset="0"/>
              </a:rPr>
              <a:t>1</a:t>
            </a:r>
            <a:r>
              <a:rPr lang="en-US" altLang="zh-CN" sz="2000" dirty="0">
                <a:latin typeface="Times New Roman" pitchFamily="18" charset="0"/>
              </a:rPr>
              <a:t>,w</a:t>
            </a:r>
            <a:r>
              <a:rPr lang="en-US" altLang="zh-CN" sz="2000" baseline="-25000" dirty="0">
                <a:latin typeface="Times New Roman" pitchFamily="18" charset="0"/>
              </a:rPr>
              <a:t>2</a:t>
            </a:r>
            <a:r>
              <a:rPr lang="en-US" altLang="zh-CN" sz="2000" dirty="0">
                <a:latin typeface="Times New Roman" pitchFamily="18" charset="0"/>
              </a:rPr>
              <a:t>,……</a:t>
            </a:r>
            <a:r>
              <a:rPr lang="en-US" altLang="zh-CN" sz="2000" dirty="0" err="1">
                <a:latin typeface="Times New Roman" pitchFamily="18" charset="0"/>
              </a:rPr>
              <a:t>w</a:t>
            </a:r>
            <a:r>
              <a:rPr lang="en-US" altLang="zh-CN" sz="2000" baseline="-25000" dirty="0" err="1">
                <a:latin typeface="Times New Roman" pitchFamily="18" charset="0"/>
              </a:rPr>
              <a:t>n</a:t>
            </a:r>
            <a:r>
              <a:rPr lang="en-US" altLang="zh-CN" sz="2000" dirty="0">
                <a:latin typeface="Times New Roman" pitchFamily="18" charset="0"/>
              </a:rPr>
              <a:t>}</a:t>
            </a:r>
            <a:r>
              <a:rPr kumimoji="1" lang="zh-CN" altLang="en-US" sz="2000" dirty="0">
                <a:latin typeface="黑体" pitchFamily="2" charset="-122"/>
                <a:ea typeface="黑体" pitchFamily="2" charset="-122"/>
              </a:rPr>
              <a:t>，</a:t>
            </a:r>
            <a:r>
              <a:rPr kumimoji="1" lang="zh-CN" altLang="zh-CN" sz="2000" dirty="0">
                <a:latin typeface="黑体" pitchFamily="2" charset="-122"/>
                <a:ea typeface="黑体" pitchFamily="2" charset="-122"/>
              </a:rPr>
              <a:t>构造</a:t>
            </a:r>
            <a:r>
              <a:rPr kumimoji="1" lang="en-US" altLang="zh-CN" sz="2000" dirty="0">
                <a:latin typeface="黑体" pitchFamily="2" charset="-122"/>
                <a:ea typeface="黑体" pitchFamily="2" charset="-122"/>
              </a:rPr>
              <a:t>n</a:t>
            </a:r>
            <a:r>
              <a:rPr kumimoji="1" lang="zh-CN" altLang="zh-CN" sz="2000" dirty="0">
                <a:latin typeface="黑体" pitchFamily="2" charset="-122"/>
                <a:ea typeface="黑体" pitchFamily="2" charset="-122"/>
              </a:rPr>
              <a:t>棵只有根结点的二叉树，令</a:t>
            </a:r>
            <a:r>
              <a:rPr kumimoji="1" lang="zh-CN" altLang="en-US" sz="2000" dirty="0">
                <a:latin typeface="黑体" pitchFamily="2" charset="-122"/>
                <a:ea typeface="黑体" pitchFamily="2" charset="-122"/>
              </a:rPr>
              <a:t>其</a:t>
            </a:r>
            <a:r>
              <a:rPr kumimoji="1" lang="zh-CN" altLang="zh-CN" sz="2000" dirty="0">
                <a:latin typeface="黑体" pitchFamily="2" charset="-122"/>
                <a:ea typeface="黑体" pitchFamily="2" charset="-122"/>
              </a:rPr>
              <a:t>权值为</a:t>
            </a:r>
            <a:r>
              <a:rPr lang="en-US" altLang="zh-CN" sz="2000" dirty="0" err="1">
                <a:latin typeface="Times New Roman" pitchFamily="18" charset="0"/>
              </a:rPr>
              <a:t>w</a:t>
            </a:r>
            <a:r>
              <a:rPr lang="en-US" altLang="zh-CN" sz="2000" baseline="-25000" dirty="0" err="1">
                <a:latin typeface="Times New Roman" pitchFamily="18" charset="0"/>
              </a:rPr>
              <a:t>j</a:t>
            </a:r>
            <a:r>
              <a:rPr kumimoji="1" lang="zh-CN" altLang="en-US" sz="2000" dirty="0">
                <a:latin typeface="黑体" pitchFamily="2" charset="-122"/>
                <a:ea typeface="黑体" pitchFamily="2" charset="-122"/>
              </a:rPr>
              <a:t>；</a:t>
            </a:r>
          </a:p>
        </p:txBody>
      </p:sp>
      <p:sp>
        <p:nvSpPr>
          <p:cNvPr id="8" name="矩形 7">
            <a:extLst>
              <a:ext uri="{FF2B5EF4-FFF2-40B4-BE49-F238E27FC236}">
                <a16:creationId xmlns:a16="http://schemas.microsoft.com/office/drawing/2014/main" xmlns="" id="{C495856A-E048-B7B2-88D2-4BCF2AA1C8F6}"/>
              </a:ext>
            </a:extLst>
          </p:cNvPr>
          <p:cNvSpPr/>
          <p:nvPr/>
        </p:nvSpPr>
        <p:spPr>
          <a:xfrm>
            <a:off x="2999656" y="3543109"/>
            <a:ext cx="6908046" cy="1015663"/>
          </a:xfrm>
          <a:prstGeom prst="rect">
            <a:avLst/>
          </a:prstGeom>
        </p:spPr>
        <p:txBody>
          <a:bodyPr wrap="square">
            <a:spAutoFit/>
          </a:bodyPr>
          <a:lstStyle/>
          <a:p>
            <a:r>
              <a:rPr kumimoji="1" lang="zh-CN" altLang="en-US" sz="2000" dirty="0">
                <a:latin typeface="黑体" pitchFamily="2" charset="-122"/>
                <a:ea typeface="黑体" pitchFamily="2" charset="-122"/>
              </a:rPr>
              <a:t>2、</a:t>
            </a:r>
            <a:r>
              <a:rPr kumimoji="1" lang="zh-CN" altLang="zh-CN" sz="2000" dirty="0">
                <a:latin typeface="黑体" pitchFamily="2" charset="-122"/>
                <a:ea typeface="黑体" pitchFamily="2" charset="-122"/>
              </a:rPr>
              <a:t>在森林中选取两棵根结点权值最小的树作左右子树，构造一棵新的二叉树，置新二叉树根结点权值为其左右子树根结点权值之</a:t>
            </a:r>
            <a:r>
              <a:rPr kumimoji="1" lang="zh-CN" altLang="en-US" sz="2000" dirty="0">
                <a:latin typeface="黑体" pitchFamily="2" charset="-122"/>
                <a:ea typeface="黑体" pitchFamily="2" charset="-122"/>
              </a:rPr>
              <a:t>和；</a:t>
            </a:r>
          </a:p>
        </p:txBody>
      </p:sp>
      <p:sp>
        <p:nvSpPr>
          <p:cNvPr id="9" name="矩形 8">
            <a:extLst>
              <a:ext uri="{FF2B5EF4-FFF2-40B4-BE49-F238E27FC236}">
                <a16:creationId xmlns:a16="http://schemas.microsoft.com/office/drawing/2014/main" xmlns="" id="{F6D62482-58BE-273E-F045-015E2D8002E7}"/>
              </a:ext>
            </a:extLst>
          </p:cNvPr>
          <p:cNvSpPr/>
          <p:nvPr/>
        </p:nvSpPr>
        <p:spPr>
          <a:xfrm>
            <a:off x="2999656" y="4549914"/>
            <a:ext cx="7272808" cy="400110"/>
          </a:xfrm>
          <a:prstGeom prst="rect">
            <a:avLst/>
          </a:prstGeom>
        </p:spPr>
        <p:txBody>
          <a:bodyPr wrap="square">
            <a:spAutoFit/>
          </a:bodyPr>
          <a:lstStyle/>
          <a:p>
            <a:r>
              <a:rPr kumimoji="1" lang="zh-CN" altLang="en-US" sz="2000" dirty="0">
                <a:latin typeface="黑体" pitchFamily="2" charset="-122"/>
                <a:ea typeface="黑体" pitchFamily="2" charset="-122"/>
              </a:rPr>
              <a:t>3、</a:t>
            </a:r>
            <a:r>
              <a:rPr kumimoji="1" lang="zh-CN" altLang="zh-CN" sz="2000" dirty="0">
                <a:latin typeface="黑体" pitchFamily="2" charset="-122"/>
                <a:ea typeface="黑体" pitchFamily="2" charset="-122"/>
              </a:rPr>
              <a:t>在森林中删除这两棵树，同时将新得到的二叉树加入森林</a:t>
            </a:r>
            <a:r>
              <a:rPr kumimoji="1" lang="zh-CN" altLang="en-US" sz="2000" dirty="0">
                <a:latin typeface="黑体" pitchFamily="2" charset="-122"/>
                <a:ea typeface="黑体" pitchFamily="2" charset="-122"/>
              </a:rPr>
              <a:t>中；</a:t>
            </a:r>
          </a:p>
        </p:txBody>
      </p:sp>
      <p:sp>
        <p:nvSpPr>
          <p:cNvPr id="11" name="矩形 10">
            <a:extLst>
              <a:ext uri="{FF2B5EF4-FFF2-40B4-BE49-F238E27FC236}">
                <a16:creationId xmlns:a16="http://schemas.microsoft.com/office/drawing/2014/main" xmlns="" id="{A66B801E-6883-A5E6-F544-050AD4C032B4}"/>
              </a:ext>
            </a:extLst>
          </p:cNvPr>
          <p:cNvSpPr/>
          <p:nvPr/>
        </p:nvSpPr>
        <p:spPr>
          <a:xfrm>
            <a:off x="2999656" y="4941168"/>
            <a:ext cx="7128792" cy="707886"/>
          </a:xfrm>
          <a:prstGeom prst="rect">
            <a:avLst/>
          </a:prstGeom>
        </p:spPr>
        <p:txBody>
          <a:bodyPr wrap="square">
            <a:spAutoFit/>
          </a:bodyPr>
          <a:lstStyle/>
          <a:p>
            <a:r>
              <a:rPr kumimoji="1" lang="zh-CN" altLang="en-US" sz="2000" dirty="0">
                <a:latin typeface="黑体" pitchFamily="2" charset="-122"/>
                <a:ea typeface="黑体" pitchFamily="2" charset="-122"/>
              </a:rPr>
              <a:t>4、</a:t>
            </a:r>
            <a:r>
              <a:rPr kumimoji="1" lang="zh-CN" altLang="zh-CN" sz="2000" dirty="0">
                <a:latin typeface="黑体" pitchFamily="2" charset="-122"/>
                <a:ea typeface="黑体" pitchFamily="2" charset="-122"/>
              </a:rPr>
              <a:t>重复上述两步，直到</a:t>
            </a:r>
            <a:r>
              <a:rPr kumimoji="1" lang="zh-CN" altLang="en-US" sz="2000" dirty="0">
                <a:latin typeface="黑体" pitchFamily="2" charset="-122"/>
                <a:ea typeface="黑体" pitchFamily="2" charset="-122"/>
              </a:rPr>
              <a:t>森林中</a:t>
            </a:r>
            <a:r>
              <a:rPr kumimoji="1" lang="zh-CN" altLang="zh-CN" sz="2000" dirty="0">
                <a:latin typeface="黑体" pitchFamily="2" charset="-122"/>
                <a:ea typeface="黑体" pitchFamily="2" charset="-122"/>
              </a:rPr>
              <a:t>只含一棵树为止，这棵树即哈夫曼</a:t>
            </a:r>
            <a:r>
              <a:rPr kumimoji="1" lang="zh-CN" altLang="en-US" sz="2000" dirty="0">
                <a:latin typeface="黑体" pitchFamily="2" charset="-122"/>
                <a:ea typeface="黑体" pitchFamily="2" charset="-122"/>
              </a:rPr>
              <a:t>树。</a:t>
            </a:r>
          </a:p>
        </p:txBody>
      </p:sp>
      <p:sp>
        <p:nvSpPr>
          <p:cNvPr id="15" name="矩形 14">
            <a:extLst>
              <a:ext uri="{FF2B5EF4-FFF2-40B4-BE49-F238E27FC236}">
                <a16:creationId xmlns:a16="http://schemas.microsoft.com/office/drawing/2014/main" xmlns="" id="{3A2A2389-A797-078A-DFBE-67612F322748}"/>
              </a:ext>
            </a:extLst>
          </p:cNvPr>
          <p:cNvSpPr/>
          <p:nvPr/>
        </p:nvSpPr>
        <p:spPr>
          <a:xfrm>
            <a:off x="2668619" y="1923665"/>
            <a:ext cx="5473037" cy="461665"/>
          </a:xfrm>
          <a:prstGeom prst="rect">
            <a:avLst/>
          </a:prstGeom>
        </p:spPr>
        <p:txBody>
          <a:bodyPr wrap="none">
            <a:spAutoFit/>
          </a:bodyPr>
          <a:lstStyle/>
          <a:p>
            <a:r>
              <a:rPr kumimoji="1" lang="zh-CN" altLang="en-US" sz="2400" dirty="0">
                <a:latin typeface="黑体" pitchFamily="2" charset="-122"/>
                <a:ea typeface="黑体" pitchFamily="2" charset="-122"/>
              </a:rPr>
              <a:t>构造</a:t>
            </a:r>
            <a:r>
              <a:rPr lang="en-US" altLang="zh-CN" sz="2400" dirty="0">
                <a:latin typeface="Times New Roman" pitchFamily="18" charset="0"/>
              </a:rPr>
              <a:t>Huffman</a:t>
            </a:r>
            <a:r>
              <a:rPr kumimoji="1" lang="zh-CN" altLang="zh-CN" sz="2400" dirty="0">
                <a:latin typeface="黑体" pitchFamily="2" charset="-122"/>
                <a:ea typeface="黑体" pitchFamily="2" charset="-122"/>
              </a:rPr>
              <a:t>树的方法——</a:t>
            </a:r>
            <a:r>
              <a:rPr lang="en-US" altLang="zh-CN" sz="2400" dirty="0">
                <a:latin typeface="Times New Roman" pitchFamily="18" charset="0"/>
              </a:rPr>
              <a:t>Huffman</a:t>
            </a:r>
            <a:r>
              <a:rPr kumimoji="1" lang="zh-CN" altLang="zh-CN" sz="2400" dirty="0">
                <a:latin typeface="黑体" pitchFamily="2" charset="-122"/>
                <a:ea typeface="黑体" pitchFamily="2" charset="-122"/>
              </a:rPr>
              <a:t>算法</a:t>
            </a:r>
          </a:p>
        </p:txBody>
      </p:sp>
      <p:cxnSp>
        <p:nvCxnSpPr>
          <p:cNvPr id="2" name="直接连接符 1">
            <a:extLst>
              <a:ext uri="{FF2B5EF4-FFF2-40B4-BE49-F238E27FC236}">
                <a16:creationId xmlns:a16="http://schemas.microsoft.com/office/drawing/2014/main" xmlns="" id="{9B135B25-5E51-A5D2-2B90-CAC7BCF42A80}"/>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7826167E-4503-4162-2191-BEFE02D6A5EA}"/>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A9EB1288-56BA-552B-5329-D158489B4674}"/>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7.8.2 </a:t>
            </a:r>
            <a:r>
              <a:rPr lang="zh-CN" altLang="en-US" dirty="0"/>
              <a:t>构造哈夫曼树</a:t>
            </a:r>
          </a:p>
        </p:txBody>
      </p:sp>
    </p:spTree>
    <p:extLst>
      <p:ext uri="{BB962C8B-B14F-4D97-AF65-F5344CB8AC3E}">
        <p14:creationId xmlns:p14="http://schemas.microsoft.com/office/powerpoint/2010/main" val="63038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2"/>
          <p:cNvSpPr>
            <a:spLocks noChangeArrowheads="1"/>
          </p:cNvSpPr>
          <p:nvPr/>
        </p:nvSpPr>
        <p:spPr bwMode="auto">
          <a:xfrm>
            <a:off x="7104857" y="11247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a:t>
            </a:r>
          </a:p>
        </p:txBody>
      </p:sp>
      <p:sp>
        <p:nvSpPr>
          <p:cNvPr id="13" name="Oval 3"/>
          <p:cNvSpPr>
            <a:spLocks noChangeArrowheads="1"/>
          </p:cNvSpPr>
          <p:nvPr/>
        </p:nvSpPr>
        <p:spPr bwMode="auto">
          <a:xfrm>
            <a:off x="5520532" y="11247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a:t>
            </a:r>
          </a:p>
        </p:txBody>
      </p:sp>
      <p:sp>
        <p:nvSpPr>
          <p:cNvPr id="14" name="Oval 4"/>
          <p:cNvSpPr>
            <a:spLocks noChangeArrowheads="1"/>
          </p:cNvSpPr>
          <p:nvPr/>
        </p:nvSpPr>
        <p:spPr bwMode="auto">
          <a:xfrm>
            <a:off x="8760620" y="1124745"/>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10</a:t>
            </a:r>
          </a:p>
        </p:txBody>
      </p:sp>
      <p:sp>
        <p:nvSpPr>
          <p:cNvPr id="15" name="Oval 5"/>
          <p:cNvSpPr>
            <a:spLocks noChangeArrowheads="1"/>
          </p:cNvSpPr>
          <p:nvPr/>
        </p:nvSpPr>
        <p:spPr bwMode="auto">
          <a:xfrm>
            <a:off x="6312695" y="1124745"/>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32</a:t>
            </a:r>
          </a:p>
        </p:txBody>
      </p:sp>
      <p:sp>
        <p:nvSpPr>
          <p:cNvPr id="16" name="Oval 6"/>
          <p:cNvSpPr>
            <a:spLocks noChangeArrowheads="1"/>
          </p:cNvSpPr>
          <p:nvPr/>
        </p:nvSpPr>
        <p:spPr bwMode="auto">
          <a:xfrm>
            <a:off x="3936207" y="11247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19</a:t>
            </a:r>
          </a:p>
        </p:txBody>
      </p:sp>
      <p:sp>
        <p:nvSpPr>
          <p:cNvPr id="17" name="Oval 7"/>
          <p:cNvSpPr>
            <a:spLocks noChangeArrowheads="1"/>
          </p:cNvSpPr>
          <p:nvPr/>
        </p:nvSpPr>
        <p:spPr bwMode="auto">
          <a:xfrm>
            <a:off x="4728370" y="1124745"/>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a:t>
            </a:r>
          </a:p>
        </p:txBody>
      </p:sp>
      <p:sp>
        <p:nvSpPr>
          <p:cNvPr id="18" name="Oval 8"/>
          <p:cNvSpPr>
            <a:spLocks noChangeArrowheads="1"/>
          </p:cNvSpPr>
          <p:nvPr/>
        </p:nvSpPr>
        <p:spPr bwMode="auto">
          <a:xfrm>
            <a:off x="3144045" y="1124745"/>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7</a:t>
            </a:r>
          </a:p>
        </p:txBody>
      </p:sp>
      <p:sp>
        <p:nvSpPr>
          <p:cNvPr id="19" name="Oval 9"/>
          <p:cNvSpPr>
            <a:spLocks noChangeArrowheads="1"/>
          </p:cNvSpPr>
          <p:nvPr/>
        </p:nvSpPr>
        <p:spPr bwMode="auto">
          <a:xfrm>
            <a:off x="7968457" y="11247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21</a:t>
            </a:r>
          </a:p>
        </p:txBody>
      </p:sp>
      <p:sp>
        <p:nvSpPr>
          <p:cNvPr id="20" name="Oval 10"/>
          <p:cNvSpPr>
            <a:spLocks noChangeArrowheads="1"/>
          </p:cNvSpPr>
          <p:nvPr/>
        </p:nvSpPr>
        <p:spPr bwMode="auto">
          <a:xfrm>
            <a:off x="8546307" y="32837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a:t>
            </a:r>
          </a:p>
        </p:txBody>
      </p:sp>
      <p:sp>
        <p:nvSpPr>
          <p:cNvPr id="21" name="Oval 11"/>
          <p:cNvSpPr>
            <a:spLocks noChangeArrowheads="1"/>
          </p:cNvSpPr>
          <p:nvPr/>
        </p:nvSpPr>
        <p:spPr bwMode="auto">
          <a:xfrm>
            <a:off x="7465220" y="3283745"/>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a:t>
            </a:r>
          </a:p>
        </p:txBody>
      </p:sp>
      <p:sp>
        <p:nvSpPr>
          <p:cNvPr id="22" name="Oval 12"/>
          <p:cNvSpPr>
            <a:spLocks noChangeArrowheads="1"/>
          </p:cNvSpPr>
          <p:nvPr/>
        </p:nvSpPr>
        <p:spPr bwMode="auto">
          <a:xfrm>
            <a:off x="8041482" y="22042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5</a:t>
            </a:r>
          </a:p>
        </p:txBody>
      </p:sp>
      <p:sp>
        <p:nvSpPr>
          <p:cNvPr id="23" name="Line 13"/>
          <p:cNvSpPr>
            <a:spLocks noChangeShapeType="1"/>
          </p:cNvSpPr>
          <p:nvPr/>
        </p:nvSpPr>
        <p:spPr bwMode="auto">
          <a:xfrm flipH="1">
            <a:off x="7754145" y="2707482"/>
            <a:ext cx="358775" cy="576262"/>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4" name="Line 14"/>
          <p:cNvSpPr>
            <a:spLocks noChangeShapeType="1"/>
          </p:cNvSpPr>
          <p:nvPr/>
        </p:nvSpPr>
        <p:spPr bwMode="auto">
          <a:xfrm>
            <a:off x="8546308" y="2707482"/>
            <a:ext cx="287337" cy="576262"/>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25" name="Oval 15"/>
          <p:cNvSpPr>
            <a:spLocks noChangeArrowheads="1"/>
          </p:cNvSpPr>
          <p:nvPr/>
        </p:nvSpPr>
        <p:spPr bwMode="auto">
          <a:xfrm>
            <a:off x="4728370" y="1124745"/>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5</a:t>
            </a:r>
          </a:p>
        </p:txBody>
      </p:sp>
      <p:grpSp>
        <p:nvGrpSpPr>
          <p:cNvPr id="26" name="Group 16"/>
          <p:cNvGrpSpPr>
            <a:grpSpLocks/>
          </p:cNvGrpSpPr>
          <p:nvPr/>
        </p:nvGrpSpPr>
        <p:grpSpPr bwMode="auto">
          <a:xfrm>
            <a:off x="4152107" y="1627983"/>
            <a:ext cx="1657350" cy="1152525"/>
            <a:chOff x="1519" y="1343"/>
            <a:chExt cx="1044" cy="726"/>
          </a:xfrm>
        </p:grpSpPr>
        <p:sp>
          <p:nvSpPr>
            <p:cNvPr id="27" name="Oval 17"/>
            <p:cNvSpPr>
              <a:spLocks noChangeArrowheads="1"/>
            </p:cNvSpPr>
            <p:nvPr/>
          </p:nvSpPr>
          <p:spPr bwMode="auto">
            <a:xfrm>
              <a:off x="2200" y="1706"/>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a:t>
              </a:r>
            </a:p>
          </p:txBody>
        </p:sp>
        <p:sp>
          <p:nvSpPr>
            <p:cNvPr id="28" name="Oval 18"/>
            <p:cNvSpPr>
              <a:spLocks noChangeArrowheads="1"/>
            </p:cNvSpPr>
            <p:nvPr/>
          </p:nvSpPr>
          <p:spPr bwMode="auto">
            <a:xfrm>
              <a:off x="1519" y="1706"/>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a:t>
              </a:r>
            </a:p>
          </p:txBody>
        </p:sp>
        <p:sp>
          <p:nvSpPr>
            <p:cNvPr id="29" name="Line 19"/>
            <p:cNvSpPr>
              <a:spLocks noChangeShapeType="1"/>
            </p:cNvSpPr>
            <p:nvPr/>
          </p:nvSpPr>
          <p:spPr bwMode="auto">
            <a:xfrm flipH="1">
              <a:off x="1701" y="1343"/>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0" name="Line 20"/>
            <p:cNvSpPr>
              <a:spLocks noChangeShapeType="1"/>
            </p:cNvSpPr>
            <p:nvPr/>
          </p:nvSpPr>
          <p:spPr bwMode="auto">
            <a:xfrm>
              <a:off x="2200" y="1343"/>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nvGrpSpPr>
          <p:cNvPr id="31" name="Group 21"/>
          <p:cNvGrpSpPr>
            <a:grpSpLocks/>
          </p:cNvGrpSpPr>
          <p:nvPr/>
        </p:nvGrpSpPr>
        <p:grpSpPr bwMode="auto">
          <a:xfrm>
            <a:off x="6888957" y="3283745"/>
            <a:ext cx="1657350" cy="1655763"/>
            <a:chOff x="2018" y="2523"/>
            <a:chExt cx="1044" cy="1043"/>
          </a:xfrm>
        </p:grpSpPr>
        <p:sp>
          <p:nvSpPr>
            <p:cNvPr id="32" name="Oval 22"/>
            <p:cNvSpPr>
              <a:spLocks noChangeArrowheads="1"/>
            </p:cNvSpPr>
            <p:nvPr/>
          </p:nvSpPr>
          <p:spPr bwMode="auto">
            <a:xfrm>
              <a:off x="2699"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a:t>
              </a:r>
            </a:p>
          </p:txBody>
        </p:sp>
        <p:sp>
          <p:nvSpPr>
            <p:cNvPr id="34" name="Oval 23"/>
            <p:cNvSpPr>
              <a:spLocks noChangeArrowheads="1"/>
            </p:cNvSpPr>
            <p:nvPr/>
          </p:nvSpPr>
          <p:spPr bwMode="auto">
            <a:xfrm>
              <a:off x="2018"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a:t>
              </a:r>
            </a:p>
          </p:txBody>
        </p:sp>
        <p:sp>
          <p:nvSpPr>
            <p:cNvPr id="35" name="Oval 24"/>
            <p:cNvSpPr>
              <a:spLocks noChangeArrowheads="1"/>
            </p:cNvSpPr>
            <p:nvPr/>
          </p:nvSpPr>
          <p:spPr bwMode="auto">
            <a:xfrm>
              <a:off x="2381" y="252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5</a:t>
              </a:r>
            </a:p>
          </p:txBody>
        </p:sp>
        <p:sp>
          <p:nvSpPr>
            <p:cNvPr id="36" name="Line 25"/>
            <p:cNvSpPr>
              <a:spLocks noChangeShapeType="1"/>
            </p:cNvSpPr>
            <p:nvPr/>
          </p:nvSpPr>
          <p:spPr bwMode="auto">
            <a:xfrm flipH="1">
              <a:off x="2200" y="2840"/>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7" name="Line 26"/>
            <p:cNvSpPr>
              <a:spLocks noChangeShapeType="1"/>
            </p:cNvSpPr>
            <p:nvPr/>
          </p:nvSpPr>
          <p:spPr bwMode="auto">
            <a:xfrm>
              <a:off x="2699" y="2840"/>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38" name="Oval 27"/>
          <p:cNvSpPr>
            <a:spLocks noChangeArrowheads="1"/>
          </p:cNvSpPr>
          <p:nvPr/>
        </p:nvSpPr>
        <p:spPr bwMode="auto">
          <a:xfrm>
            <a:off x="8544720" y="3285332"/>
            <a:ext cx="576263"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a:t>
            </a:r>
          </a:p>
        </p:txBody>
      </p:sp>
      <p:sp>
        <p:nvSpPr>
          <p:cNvPr id="39" name="Line 28"/>
          <p:cNvSpPr>
            <a:spLocks noChangeShapeType="1"/>
          </p:cNvSpPr>
          <p:nvPr/>
        </p:nvSpPr>
        <p:spPr bwMode="auto">
          <a:xfrm flipH="1">
            <a:off x="7752558" y="2709070"/>
            <a:ext cx="358775" cy="5762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0" name="Line 29"/>
          <p:cNvSpPr>
            <a:spLocks noChangeShapeType="1"/>
          </p:cNvSpPr>
          <p:nvPr/>
        </p:nvSpPr>
        <p:spPr bwMode="auto">
          <a:xfrm>
            <a:off x="8546308" y="2709070"/>
            <a:ext cx="287337" cy="5762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41" name="Oval 30"/>
          <p:cNvSpPr>
            <a:spLocks noChangeArrowheads="1"/>
          </p:cNvSpPr>
          <p:nvPr/>
        </p:nvSpPr>
        <p:spPr bwMode="auto">
          <a:xfrm>
            <a:off x="8041482" y="22042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11</a:t>
            </a:r>
          </a:p>
        </p:txBody>
      </p:sp>
      <p:grpSp>
        <p:nvGrpSpPr>
          <p:cNvPr id="42" name="Group 31"/>
          <p:cNvGrpSpPr>
            <a:grpSpLocks/>
          </p:cNvGrpSpPr>
          <p:nvPr/>
        </p:nvGrpSpPr>
        <p:grpSpPr bwMode="auto">
          <a:xfrm>
            <a:off x="4368008" y="1629570"/>
            <a:ext cx="2232025" cy="2232025"/>
            <a:chOff x="3606" y="2296"/>
            <a:chExt cx="1406" cy="1406"/>
          </a:xfrm>
        </p:grpSpPr>
        <p:grpSp>
          <p:nvGrpSpPr>
            <p:cNvPr id="43" name="Group 32"/>
            <p:cNvGrpSpPr>
              <a:grpSpLocks/>
            </p:cNvGrpSpPr>
            <p:nvPr/>
          </p:nvGrpSpPr>
          <p:grpSpPr bwMode="auto">
            <a:xfrm>
              <a:off x="3606" y="2659"/>
              <a:ext cx="1044" cy="1043"/>
              <a:chOff x="2018" y="2523"/>
              <a:chExt cx="1044" cy="1043"/>
            </a:xfrm>
          </p:grpSpPr>
          <p:sp>
            <p:nvSpPr>
              <p:cNvPr id="47" name="Oval 33"/>
              <p:cNvSpPr>
                <a:spLocks noChangeArrowheads="1"/>
              </p:cNvSpPr>
              <p:nvPr/>
            </p:nvSpPr>
            <p:spPr bwMode="auto">
              <a:xfrm>
                <a:off x="2699"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a:t>
                </a:r>
              </a:p>
            </p:txBody>
          </p:sp>
          <p:sp>
            <p:nvSpPr>
              <p:cNvPr id="48" name="Oval 34"/>
              <p:cNvSpPr>
                <a:spLocks noChangeArrowheads="1"/>
              </p:cNvSpPr>
              <p:nvPr/>
            </p:nvSpPr>
            <p:spPr bwMode="auto">
              <a:xfrm>
                <a:off x="2018"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a:t>
                </a:r>
              </a:p>
            </p:txBody>
          </p:sp>
          <p:sp>
            <p:nvSpPr>
              <p:cNvPr id="49" name="Oval 35"/>
              <p:cNvSpPr>
                <a:spLocks noChangeArrowheads="1"/>
              </p:cNvSpPr>
              <p:nvPr/>
            </p:nvSpPr>
            <p:spPr bwMode="auto">
              <a:xfrm>
                <a:off x="2381" y="252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5</a:t>
                </a:r>
              </a:p>
            </p:txBody>
          </p:sp>
          <p:sp>
            <p:nvSpPr>
              <p:cNvPr id="50" name="Line 36"/>
              <p:cNvSpPr>
                <a:spLocks noChangeShapeType="1"/>
              </p:cNvSpPr>
              <p:nvPr/>
            </p:nvSpPr>
            <p:spPr bwMode="auto">
              <a:xfrm flipH="1">
                <a:off x="2200" y="2840"/>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1" name="Line 37"/>
              <p:cNvSpPr>
                <a:spLocks noChangeShapeType="1"/>
              </p:cNvSpPr>
              <p:nvPr/>
            </p:nvSpPr>
            <p:spPr bwMode="auto">
              <a:xfrm>
                <a:off x="2699" y="2840"/>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44" name="Oval 38"/>
            <p:cNvSpPr>
              <a:spLocks noChangeArrowheads="1"/>
            </p:cNvSpPr>
            <p:nvPr/>
          </p:nvSpPr>
          <p:spPr bwMode="auto">
            <a:xfrm>
              <a:off x="4649" y="265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a:t>
              </a:r>
            </a:p>
          </p:txBody>
        </p:sp>
        <p:sp>
          <p:nvSpPr>
            <p:cNvPr id="45" name="Line 39"/>
            <p:cNvSpPr>
              <a:spLocks noChangeShapeType="1"/>
            </p:cNvSpPr>
            <p:nvPr/>
          </p:nvSpPr>
          <p:spPr bwMode="auto">
            <a:xfrm flipH="1">
              <a:off x="4150" y="2296"/>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6" name="Line 40"/>
            <p:cNvSpPr>
              <a:spLocks noChangeShapeType="1"/>
            </p:cNvSpPr>
            <p:nvPr/>
          </p:nvSpPr>
          <p:spPr bwMode="auto">
            <a:xfrm>
              <a:off x="4650" y="2296"/>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52" name="Oval 41"/>
          <p:cNvSpPr>
            <a:spLocks noChangeArrowheads="1"/>
          </p:cNvSpPr>
          <p:nvPr/>
        </p:nvSpPr>
        <p:spPr bwMode="auto">
          <a:xfrm>
            <a:off x="5520532" y="11247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11</a:t>
            </a:r>
          </a:p>
        </p:txBody>
      </p:sp>
      <p:sp>
        <p:nvSpPr>
          <p:cNvPr id="53" name="Oval 42"/>
          <p:cNvSpPr>
            <a:spLocks noChangeArrowheads="1"/>
          </p:cNvSpPr>
          <p:nvPr/>
        </p:nvSpPr>
        <p:spPr bwMode="auto">
          <a:xfrm>
            <a:off x="8544720" y="3283745"/>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10</a:t>
            </a:r>
          </a:p>
        </p:txBody>
      </p:sp>
      <p:sp>
        <p:nvSpPr>
          <p:cNvPr id="54" name="Oval 43"/>
          <p:cNvSpPr>
            <a:spLocks noChangeArrowheads="1"/>
          </p:cNvSpPr>
          <p:nvPr/>
        </p:nvSpPr>
        <p:spPr bwMode="auto">
          <a:xfrm>
            <a:off x="7463632" y="32837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7</a:t>
            </a:r>
          </a:p>
        </p:txBody>
      </p:sp>
      <p:sp>
        <p:nvSpPr>
          <p:cNvPr id="55" name="Oval 44"/>
          <p:cNvSpPr>
            <a:spLocks noChangeArrowheads="1"/>
          </p:cNvSpPr>
          <p:nvPr/>
        </p:nvSpPr>
        <p:spPr bwMode="auto">
          <a:xfrm>
            <a:off x="8039895" y="2204245"/>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17</a:t>
            </a:r>
          </a:p>
        </p:txBody>
      </p:sp>
      <p:sp>
        <p:nvSpPr>
          <p:cNvPr id="56" name="Line 45"/>
          <p:cNvSpPr>
            <a:spLocks noChangeShapeType="1"/>
          </p:cNvSpPr>
          <p:nvPr/>
        </p:nvSpPr>
        <p:spPr bwMode="auto">
          <a:xfrm flipH="1">
            <a:off x="7752558" y="2707482"/>
            <a:ext cx="358775" cy="576262"/>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 name="Line 46"/>
          <p:cNvSpPr>
            <a:spLocks noChangeShapeType="1"/>
          </p:cNvSpPr>
          <p:nvPr/>
        </p:nvSpPr>
        <p:spPr bwMode="auto">
          <a:xfrm>
            <a:off x="8544719" y="2707482"/>
            <a:ext cx="287338" cy="576262"/>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58" name="Oval 47"/>
          <p:cNvSpPr>
            <a:spLocks noChangeArrowheads="1"/>
          </p:cNvSpPr>
          <p:nvPr/>
        </p:nvSpPr>
        <p:spPr bwMode="auto">
          <a:xfrm>
            <a:off x="3144045" y="1124745"/>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17</a:t>
            </a:r>
          </a:p>
        </p:txBody>
      </p:sp>
      <p:grpSp>
        <p:nvGrpSpPr>
          <p:cNvPr id="59" name="Group 48"/>
          <p:cNvGrpSpPr>
            <a:grpSpLocks/>
          </p:cNvGrpSpPr>
          <p:nvPr/>
        </p:nvGrpSpPr>
        <p:grpSpPr bwMode="auto">
          <a:xfrm>
            <a:off x="2567782" y="1627983"/>
            <a:ext cx="1657350" cy="1152525"/>
            <a:chOff x="521" y="527"/>
            <a:chExt cx="1044" cy="726"/>
          </a:xfrm>
        </p:grpSpPr>
        <p:sp>
          <p:nvSpPr>
            <p:cNvPr id="60" name="Oval 49"/>
            <p:cNvSpPr>
              <a:spLocks noChangeArrowheads="1"/>
            </p:cNvSpPr>
            <p:nvPr/>
          </p:nvSpPr>
          <p:spPr bwMode="auto">
            <a:xfrm>
              <a:off x="1202"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10</a:t>
              </a:r>
            </a:p>
          </p:txBody>
        </p:sp>
        <p:sp>
          <p:nvSpPr>
            <p:cNvPr id="61" name="Oval 50"/>
            <p:cNvSpPr>
              <a:spLocks noChangeArrowheads="1"/>
            </p:cNvSpPr>
            <p:nvPr/>
          </p:nvSpPr>
          <p:spPr bwMode="auto">
            <a:xfrm>
              <a:off x="521"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7</a:t>
              </a:r>
            </a:p>
          </p:txBody>
        </p:sp>
        <p:sp>
          <p:nvSpPr>
            <p:cNvPr id="62" name="Line 51"/>
            <p:cNvSpPr>
              <a:spLocks noChangeShapeType="1"/>
            </p:cNvSpPr>
            <p:nvPr/>
          </p:nvSpPr>
          <p:spPr bwMode="auto">
            <a:xfrm flipH="1">
              <a:off x="703" y="527"/>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3" name="Line 52"/>
            <p:cNvSpPr>
              <a:spLocks noChangeShapeType="1"/>
            </p:cNvSpPr>
            <p:nvPr/>
          </p:nvSpPr>
          <p:spPr bwMode="auto">
            <a:xfrm>
              <a:off x="1202" y="527"/>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nvGrpSpPr>
          <p:cNvPr id="64" name="Group 53"/>
          <p:cNvGrpSpPr>
            <a:grpSpLocks/>
          </p:cNvGrpSpPr>
          <p:nvPr/>
        </p:nvGrpSpPr>
        <p:grpSpPr bwMode="auto">
          <a:xfrm>
            <a:off x="5880895" y="3501233"/>
            <a:ext cx="2232025" cy="2232025"/>
            <a:chOff x="3606" y="2296"/>
            <a:chExt cx="1406" cy="1406"/>
          </a:xfrm>
        </p:grpSpPr>
        <p:grpSp>
          <p:nvGrpSpPr>
            <p:cNvPr id="65" name="Group 54"/>
            <p:cNvGrpSpPr>
              <a:grpSpLocks/>
            </p:cNvGrpSpPr>
            <p:nvPr/>
          </p:nvGrpSpPr>
          <p:grpSpPr bwMode="auto">
            <a:xfrm>
              <a:off x="3606" y="2659"/>
              <a:ext cx="1044" cy="1043"/>
              <a:chOff x="2018" y="2523"/>
              <a:chExt cx="1044" cy="1043"/>
            </a:xfrm>
          </p:grpSpPr>
          <p:sp>
            <p:nvSpPr>
              <p:cNvPr id="69" name="Oval 55"/>
              <p:cNvSpPr>
                <a:spLocks noChangeArrowheads="1"/>
              </p:cNvSpPr>
              <p:nvPr/>
            </p:nvSpPr>
            <p:spPr bwMode="auto">
              <a:xfrm>
                <a:off x="2699"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a:t>
                </a:r>
              </a:p>
            </p:txBody>
          </p:sp>
          <p:sp>
            <p:nvSpPr>
              <p:cNvPr id="70" name="Oval 56"/>
              <p:cNvSpPr>
                <a:spLocks noChangeArrowheads="1"/>
              </p:cNvSpPr>
              <p:nvPr/>
            </p:nvSpPr>
            <p:spPr bwMode="auto">
              <a:xfrm>
                <a:off x="2018"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a:t>
                </a:r>
              </a:p>
            </p:txBody>
          </p:sp>
          <p:sp>
            <p:nvSpPr>
              <p:cNvPr id="71" name="Oval 57"/>
              <p:cNvSpPr>
                <a:spLocks noChangeArrowheads="1"/>
              </p:cNvSpPr>
              <p:nvPr/>
            </p:nvSpPr>
            <p:spPr bwMode="auto">
              <a:xfrm>
                <a:off x="2381" y="252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5</a:t>
                </a:r>
              </a:p>
            </p:txBody>
          </p:sp>
          <p:sp>
            <p:nvSpPr>
              <p:cNvPr id="72" name="Line 58"/>
              <p:cNvSpPr>
                <a:spLocks noChangeShapeType="1"/>
              </p:cNvSpPr>
              <p:nvPr/>
            </p:nvSpPr>
            <p:spPr bwMode="auto">
              <a:xfrm flipH="1">
                <a:off x="2200" y="2840"/>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3" name="Line 59"/>
              <p:cNvSpPr>
                <a:spLocks noChangeShapeType="1"/>
              </p:cNvSpPr>
              <p:nvPr/>
            </p:nvSpPr>
            <p:spPr bwMode="auto">
              <a:xfrm>
                <a:off x="2699" y="2840"/>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66" name="Oval 60"/>
            <p:cNvSpPr>
              <a:spLocks noChangeArrowheads="1"/>
            </p:cNvSpPr>
            <p:nvPr/>
          </p:nvSpPr>
          <p:spPr bwMode="auto">
            <a:xfrm>
              <a:off x="4649" y="265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a:t>
              </a:r>
            </a:p>
          </p:txBody>
        </p:sp>
        <p:sp>
          <p:nvSpPr>
            <p:cNvPr id="67" name="Line 61"/>
            <p:cNvSpPr>
              <a:spLocks noChangeShapeType="1"/>
            </p:cNvSpPr>
            <p:nvPr/>
          </p:nvSpPr>
          <p:spPr bwMode="auto">
            <a:xfrm flipH="1">
              <a:off x="4150" y="2296"/>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8" name="Line 62"/>
            <p:cNvSpPr>
              <a:spLocks noChangeShapeType="1"/>
            </p:cNvSpPr>
            <p:nvPr/>
          </p:nvSpPr>
          <p:spPr bwMode="auto">
            <a:xfrm>
              <a:off x="4650" y="2296"/>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74" name="Oval 63"/>
          <p:cNvSpPr>
            <a:spLocks noChangeArrowheads="1"/>
          </p:cNvSpPr>
          <p:nvPr/>
        </p:nvSpPr>
        <p:spPr bwMode="auto">
          <a:xfrm>
            <a:off x="7033420" y="2996407"/>
            <a:ext cx="576263"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11</a:t>
            </a:r>
          </a:p>
        </p:txBody>
      </p:sp>
      <p:sp>
        <p:nvSpPr>
          <p:cNvPr id="75" name="Oval 64"/>
          <p:cNvSpPr>
            <a:spLocks noChangeArrowheads="1"/>
          </p:cNvSpPr>
          <p:nvPr/>
        </p:nvSpPr>
        <p:spPr bwMode="auto">
          <a:xfrm>
            <a:off x="8903495" y="2996407"/>
            <a:ext cx="576263"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17</a:t>
            </a:r>
          </a:p>
        </p:txBody>
      </p:sp>
      <p:grpSp>
        <p:nvGrpSpPr>
          <p:cNvPr id="76" name="Group 65"/>
          <p:cNvGrpSpPr>
            <a:grpSpLocks/>
          </p:cNvGrpSpPr>
          <p:nvPr/>
        </p:nvGrpSpPr>
        <p:grpSpPr bwMode="auto">
          <a:xfrm>
            <a:off x="8327232" y="3499645"/>
            <a:ext cx="1657350" cy="1152525"/>
            <a:chOff x="521" y="527"/>
            <a:chExt cx="1044" cy="726"/>
          </a:xfrm>
        </p:grpSpPr>
        <p:sp>
          <p:nvSpPr>
            <p:cNvPr id="77" name="Oval 66"/>
            <p:cNvSpPr>
              <a:spLocks noChangeArrowheads="1"/>
            </p:cNvSpPr>
            <p:nvPr/>
          </p:nvSpPr>
          <p:spPr bwMode="auto">
            <a:xfrm>
              <a:off x="1202"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10</a:t>
              </a:r>
            </a:p>
          </p:txBody>
        </p:sp>
        <p:sp>
          <p:nvSpPr>
            <p:cNvPr id="78" name="Oval 67"/>
            <p:cNvSpPr>
              <a:spLocks noChangeArrowheads="1"/>
            </p:cNvSpPr>
            <p:nvPr/>
          </p:nvSpPr>
          <p:spPr bwMode="auto">
            <a:xfrm>
              <a:off x="521"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7</a:t>
              </a:r>
            </a:p>
          </p:txBody>
        </p:sp>
        <p:sp>
          <p:nvSpPr>
            <p:cNvPr id="79" name="Line 68"/>
            <p:cNvSpPr>
              <a:spLocks noChangeShapeType="1"/>
            </p:cNvSpPr>
            <p:nvPr/>
          </p:nvSpPr>
          <p:spPr bwMode="auto">
            <a:xfrm flipH="1">
              <a:off x="703" y="527"/>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0" name="Line 69"/>
            <p:cNvSpPr>
              <a:spLocks noChangeShapeType="1"/>
            </p:cNvSpPr>
            <p:nvPr/>
          </p:nvSpPr>
          <p:spPr bwMode="auto">
            <a:xfrm>
              <a:off x="1202" y="527"/>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81" name="Oval 70"/>
          <p:cNvSpPr>
            <a:spLocks noChangeArrowheads="1"/>
          </p:cNvSpPr>
          <p:nvPr/>
        </p:nvSpPr>
        <p:spPr bwMode="auto">
          <a:xfrm>
            <a:off x="8041482" y="22042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28</a:t>
            </a:r>
          </a:p>
        </p:txBody>
      </p:sp>
      <p:sp>
        <p:nvSpPr>
          <p:cNvPr id="82" name="Line 71"/>
          <p:cNvSpPr>
            <a:spLocks noChangeShapeType="1"/>
          </p:cNvSpPr>
          <p:nvPr/>
        </p:nvSpPr>
        <p:spPr bwMode="auto">
          <a:xfrm flipH="1">
            <a:off x="7465220" y="2564608"/>
            <a:ext cx="576263" cy="433387"/>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3" name="Line 72"/>
          <p:cNvSpPr>
            <a:spLocks noChangeShapeType="1"/>
          </p:cNvSpPr>
          <p:nvPr/>
        </p:nvSpPr>
        <p:spPr bwMode="auto">
          <a:xfrm>
            <a:off x="8617744" y="2636045"/>
            <a:ext cx="503238" cy="360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84" name="Oval 73"/>
          <p:cNvSpPr>
            <a:spLocks noChangeArrowheads="1"/>
          </p:cNvSpPr>
          <p:nvPr/>
        </p:nvSpPr>
        <p:spPr bwMode="auto">
          <a:xfrm>
            <a:off x="5520532" y="11247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28</a:t>
            </a:r>
          </a:p>
        </p:txBody>
      </p:sp>
      <p:grpSp>
        <p:nvGrpSpPr>
          <p:cNvPr id="85" name="Group 74"/>
          <p:cNvGrpSpPr>
            <a:grpSpLocks/>
          </p:cNvGrpSpPr>
          <p:nvPr/>
        </p:nvGrpSpPr>
        <p:grpSpPr bwMode="auto">
          <a:xfrm>
            <a:off x="3361533" y="1485107"/>
            <a:ext cx="4103687" cy="3168650"/>
            <a:chOff x="1021" y="437"/>
            <a:chExt cx="2585" cy="1996"/>
          </a:xfrm>
        </p:grpSpPr>
        <p:grpSp>
          <p:nvGrpSpPr>
            <p:cNvPr id="86" name="Group 75"/>
            <p:cNvGrpSpPr>
              <a:grpSpLocks/>
            </p:cNvGrpSpPr>
            <p:nvPr/>
          </p:nvGrpSpPr>
          <p:grpSpPr bwMode="auto">
            <a:xfrm>
              <a:off x="1021" y="1027"/>
              <a:ext cx="1406" cy="1406"/>
              <a:chOff x="3606" y="2296"/>
              <a:chExt cx="1406" cy="1406"/>
            </a:xfrm>
          </p:grpSpPr>
          <p:grpSp>
            <p:nvGrpSpPr>
              <p:cNvPr id="96" name="Group 76"/>
              <p:cNvGrpSpPr>
                <a:grpSpLocks/>
              </p:cNvGrpSpPr>
              <p:nvPr/>
            </p:nvGrpSpPr>
            <p:grpSpPr bwMode="auto">
              <a:xfrm>
                <a:off x="3606" y="2659"/>
                <a:ext cx="1044" cy="1043"/>
                <a:chOff x="2018" y="2523"/>
                <a:chExt cx="1044" cy="1043"/>
              </a:xfrm>
            </p:grpSpPr>
            <p:sp>
              <p:nvSpPr>
                <p:cNvPr id="100" name="Oval 77"/>
                <p:cNvSpPr>
                  <a:spLocks noChangeArrowheads="1"/>
                </p:cNvSpPr>
                <p:nvPr/>
              </p:nvSpPr>
              <p:spPr bwMode="auto">
                <a:xfrm>
                  <a:off x="2699"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a:t>
                  </a:r>
                </a:p>
              </p:txBody>
            </p:sp>
            <p:sp>
              <p:nvSpPr>
                <p:cNvPr id="101" name="Oval 78"/>
                <p:cNvSpPr>
                  <a:spLocks noChangeArrowheads="1"/>
                </p:cNvSpPr>
                <p:nvPr/>
              </p:nvSpPr>
              <p:spPr bwMode="auto">
                <a:xfrm>
                  <a:off x="2018"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a:t>
                  </a:r>
                </a:p>
              </p:txBody>
            </p:sp>
            <p:sp>
              <p:nvSpPr>
                <p:cNvPr id="102" name="Oval 79"/>
                <p:cNvSpPr>
                  <a:spLocks noChangeArrowheads="1"/>
                </p:cNvSpPr>
                <p:nvPr/>
              </p:nvSpPr>
              <p:spPr bwMode="auto">
                <a:xfrm>
                  <a:off x="2381" y="252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5</a:t>
                  </a:r>
                </a:p>
              </p:txBody>
            </p:sp>
            <p:sp>
              <p:nvSpPr>
                <p:cNvPr id="103" name="Line 80"/>
                <p:cNvSpPr>
                  <a:spLocks noChangeShapeType="1"/>
                </p:cNvSpPr>
                <p:nvPr/>
              </p:nvSpPr>
              <p:spPr bwMode="auto">
                <a:xfrm flipH="1">
                  <a:off x="2200" y="2840"/>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4" name="Line 81"/>
                <p:cNvSpPr>
                  <a:spLocks noChangeShapeType="1"/>
                </p:cNvSpPr>
                <p:nvPr/>
              </p:nvSpPr>
              <p:spPr bwMode="auto">
                <a:xfrm>
                  <a:off x="2699" y="2840"/>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97" name="Oval 82"/>
              <p:cNvSpPr>
                <a:spLocks noChangeArrowheads="1"/>
              </p:cNvSpPr>
              <p:nvPr/>
            </p:nvSpPr>
            <p:spPr bwMode="auto">
              <a:xfrm>
                <a:off x="4649" y="265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a:t>
                </a:r>
              </a:p>
            </p:txBody>
          </p:sp>
          <p:sp>
            <p:nvSpPr>
              <p:cNvPr id="98" name="Line 83"/>
              <p:cNvSpPr>
                <a:spLocks noChangeShapeType="1"/>
              </p:cNvSpPr>
              <p:nvPr/>
            </p:nvSpPr>
            <p:spPr bwMode="auto">
              <a:xfrm flipH="1">
                <a:off x="4150" y="2296"/>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9" name="Line 84"/>
              <p:cNvSpPr>
                <a:spLocks noChangeShapeType="1"/>
              </p:cNvSpPr>
              <p:nvPr/>
            </p:nvSpPr>
            <p:spPr bwMode="auto">
              <a:xfrm>
                <a:off x="4650" y="2296"/>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87" name="Oval 85"/>
            <p:cNvSpPr>
              <a:spLocks noChangeArrowheads="1"/>
            </p:cNvSpPr>
            <p:nvPr/>
          </p:nvSpPr>
          <p:spPr bwMode="auto">
            <a:xfrm>
              <a:off x="1747" y="70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11</a:t>
              </a:r>
            </a:p>
          </p:txBody>
        </p:sp>
        <p:sp>
          <p:nvSpPr>
            <p:cNvPr id="88" name="Oval 86"/>
            <p:cNvSpPr>
              <a:spLocks noChangeArrowheads="1"/>
            </p:cNvSpPr>
            <p:nvPr/>
          </p:nvSpPr>
          <p:spPr bwMode="auto">
            <a:xfrm>
              <a:off x="2925" y="70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17</a:t>
              </a:r>
            </a:p>
          </p:txBody>
        </p:sp>
        <p:grpSp>
          <p:nvGrpSpPr>
            <p:cNvPr id="89" name="Group 87"/>
            <p:cNvGrpSpPr>
              <a:grpSpLocks/>
            </p:cNvGrpSpPr>
            <p:nvPr/>
          </p:nvGrpSpPr>
          <p:grpSpPr bwMode="auto">
            <a:xfrm>
              <a:off x="2562" y="1026"/>
              <a:ext cx="1044" cy="726"/>
              <a:chOff x="521" y="527"/>
              <a:chExt cx="1044" cy="726"/>
            </a:xfrm>
          </p:grpSpPr>
          <p:sp>
            <p:nvSpPr>
              <p:cNvPr id="92" name="Oval 88"/>
              <p:cNvSpPr>
                <a:spLocks noChangeArrowheads="1"/>
              </p:cNvSpPr>
              <p:nvPr/>
            </p:nvSpPr>
            <p:spPr bwMode="auto">
              <a:xfrm>
                <a:off x="1202"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10</a:t>
                </a:r>
              </a:p>
            </p:txBody>
          </p:sp>
          <p:sp>
            <p:nvSpPr>
              <p:cNvPr id="93" name="Oval 89"/>
              <p:cNvSpPr>
                <a:spLocks noChangeArrowheads="1"/>
              </p:cNvSpPr>
              <p:nvPr/>
            </p:nvSpPr>
            <p:spPr bwMode="auto">
              <a:xfrm>
                <a:off x="521"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7</a:t>
                </a:r>
              </a:p>
            </p:txBody>
          </p:sp>
          <p:sp>
            <p:nvSpPr>
              <p:cNvPr id="94" name="Line 90"/>
              <p:cNvSpPr>
                <a:spLocks noChangeShapeType="1"/>
              </p:cNvSpPr>
              <p:nvPr/>
            </p:nvSpPr>
            <p:spPr bwMode="auto">
              <a:xfrm flipH="1">
                <a:off x="703" y="527"/>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5" name="Line 91"/>
              <p:cNvSpPr>
                <a:spLocks noChangeShapeType="1"/>
              </p:cNvSpPr>
              <p:nvPr/>
            </p:nvSpPr>
            <p:spPr bwMode="auto">
              <a:xfrm>
                <a:off x="1202" y="527"/>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90" name="Line 92"/>
            <p:cNvSpPr>
              <a:spLocks noChangeShapeType="1"/>
            </p:cNvSpPr>
            <p:nvPr/>
          </p:nvSpPr>
          <p:spPr bwMode="auto">
            <a:xfrm flipH="1">
              <a:off x="2019" y="437"/>
              <a:ext cx="363" cy="27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1" name="Line 93"/>
            <p:cNvSpPr>
              <a:spLocks noChangeShapeType="1"/>
            </p:cNvSpPr>
            <p:nvPr/>
          </p:nvSpPr>
          <p:spPr bwMode="auto">
            <a:xfrm>
              <a:off x="2745" y="482"/>
              <a:ext cx="317" cy="227"/>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05" name="Oval 94"/>
          <p:cNvSpPr>
            <a:spLocks noChangeArrowheads="1"/>
          </p:cNvSpPr>
          <p:nvPr/>
        </p:nvSpPr>
        <p:spPr bwMode="auto">
          <a:xfrm>
            <a:off x="9336882" y="32837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21</a:t>
            </a:r>
          </a:p>
        </p:txBody>
      </p:sp>
      <p:sp>
        <p:nvSpPr>
          <p:cNvPr id="106" name="Oval 95"/>
          <p:cNvSpPr>
            <a:spLocks noChangeArrowheads="1"/>
          </p:cNvSpPr>
          <p:nvPr/>
        </p:nvSpPr>
        <p:spPr bwMode="auto">
          <a:xfrm>
            <a:off x="8255795" y="3283745"/>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19</a:t>
            </a:r>
          </a:p>
        </p:txBody>
      </p:sp>
      <p:grpSp>
        <p:nvGrpSpPr>
          <p:cNvPr id="107" name="Group 96"/>
          <p:cNvGrpSpPr>
            <a:grpSpLocks/>
          </p:cNvGrpSpPr>
          <p:nvPr/>
        </p:nvGrpSpPr>
        <p:grpSpPr bwMode="auto">
          <a:xfrm>
            <a:off x="8544719" y="2204244"/>
            <a:ext cx="1079500" cy="1079500"/>
            <a:chOff x="1520" y="2795"/>
            <a:chExt cx="680" cy="680"/>
          </a:xfrm>
        </p:grpSpPr>
        <p:sp>
          <p:nvSpPr>
            <p:cNvPr id="108" name="Oval 97"/>
            <p:cNvSpPr>
              <a:spLocks noChangeArrowheads="1"/>
            </p:cNvSpPr>
            <p:nvPr/>
          </p:nvSpPr>
          <p:spPr bwMode="auto">
            <a:xfrm>
              <a:off x="1701" y="2795"/>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40</a:t>
              </a:r>
            </a:p>
          </p:txBody>
        </p:sp>
        <p:sp>
          <p:nvSpPr>
            <p:cNvPr id="109" name="Line 98"/>
            <p:cNvSpPr>
              <a:spLocks noChangeShapeType="1"/>
            </p:cNvSpPr>
            <p:nvPr/>
          </p:nvSpPr>
          <p:spPr bwMode="auto">
            <a:xfrm flipH="1">
              <a:off x="1520" y="3112"/>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0" name="Line 99"/>
            <p:cNvSpPr>
              <a:spLocks noChangeShapeType="1"/>
            </p:cNvSpPr>
            <p:nvPr/>
          </p:nvSpPr>
          <p:spPr bwMode="auto">
            <a:xfrm>
              <a:off x="2019" y="3112"/>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11" name="Oval 100"/>
          <p:cNvSpPr>
            <a:spLocks noChangeArrowheads="1"/>
          </p:cNvSpPr>
          <p:nvPr/>
        </p:nvSpPr>
        <p:spPr bwMode="auto">
          <a:xfrm>
            <a:off x="3144045" y="1124745"/>
            <a:ext cx="576263"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40</a:t>
            </a:r>
          </a:p>
        </p:txBody>
      </p:sp>
      <p:grpSp>
        <p:nvGrpSpPr>
          <p:cNvPr id="112" name="Group 101"/>
          <p:cNvGrpSpPr>
            <a:grpSpLocks/>
          </p:cNvGrpSpPr>
          <p:nvPr/>
        </p:nvGrpSpPr>
        <p:grpSpPr bwMode="auto">
          <a:xfrm>
            <a:off x="2567782" y="1627983"/>
            <a:ext cx="1657350" cy="1152525"/>
            <a:chOff x="521" y="527"/>
            <a:chExt cx="1044" cy="726"/>
          </a:xfrm>
        </p:grpSpPr>
        <p:sp>
          <p:nvSpPr>
            <p:cNvPr id="113" name="Oval 102"/>
            <p:cNvSpPr>
              <a:spLocks noChangeArrowheads="1"/>
            </p:cNvSpPr>
            <p:nvPr/>
          </p:nvSpPr>
          <p:spPr bwMode="auto">
            <a:xfrm>
              <a:off x="1202"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21</a:t>
              </a:r>
            </a:p>
          </p:txBody>
        </p:sp>
        <p:sp>
          <p:nvSpPr>
            <p:cNvPr id="114" name="Oval 103"/>
            <p:cNvSpPr>
              <a:spLocks noChangeArrowheads="1"/>
            </p:cNvSpPr>
            <p:nvPr/>
          </p:nvSpPr>
          <p:spPr bwMode="auto">
            <a:xfrm>
              <a:off x="521"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19</a:t>
              </a:r>
            </a:p>
          </p:txBody>
        </p:sp>
        <p:sp>
          <p:nvSpPr>
            <p:cNvPr id="115" name="Line 104"/>
            <p:cNvSpPr>
              <a:spLocks noChangeShapeType="1"/>
            </p:cNvSpPr>
            <p:nvPr/>
          </p:nvSpPr>
          <p:spPr bwMode="auto">
            <a:xfrm flipH="1">
              <a:off x="703" y="527"/>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16" name="Line 105"/>
            <p:cNvSpPr>
              <a:spLocks noChangeShapeType="1"/>
            </p:cNvSpPr>
            <p:nvPr/>
          </p:nvSpPr>
          <p:spPr bwMode="auto">
            <a:xfrm>
              <a:off x="1202" y="527"/>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nvGrpSpPr>
          <p:cNvPr id="117" name="Group 106"/>
          <p:cNvGrpSpPr>
            <a:grpSpLocks/>
          </p:cNvGrpSpPr>
          <p:nvPr/>
        </p:nvGrpSpPr>
        <p:grpSpPr bwMode="auto">
          <a:xfrm>
            <a:off x="5880894" y="3212307"/>
            <a:ext cx="4103688" cy="3529012"/>
            <a:chOff x="1020" y="1525"/>
            <a:chExt cx="2585" cy="2223"/>
          </a:xfrm>
        </p:grpSpPr>
        <p:sp>
          <p:nvSpPr>
            <p:cNvPr id="118" name="Oval 107"/>
            <p:cNvSpPr>
              <a:spLocks noChangeArrowheads="1"/>
            </p:cNvSpPr>
            <p:nvPr/>
          </p:nvSpPr>
          <p:spPr bwMode="auto">
            <a:xfrm>
              <a:off x="2381" y="1525"/>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28</a:t>
              </a:r>
            </a:p>
          </p:txBody>
        </p:sp>
        <p:grpSp>
          <p:nvGrpSpPr>
            <p:cNvPr id="119" name="Group 108"/>
            <p:cNvGrpSpPr>
              <a:grpSpLocks/>
            </p:cNvGrpSpPr>
            <p:nvPr/>
          </p:nvGrpSpPr>
          <p:grpSpPr bwMode="auto">
            <a:xfrm>
              <a:off x="1020" y="1752"/>
              <a:ext cx="2585" cy="1996"/>
              <a:chOff x="1021" y="437"/>
              <a:chExt cx="2585" cy="1996"/>
            </a:xfrm>
          </p:grpSpPr>
          <p:grpSp>
            <p:nvGrpSpPr>
              <p:cNvPr id="120" name="Group 109"/>
              <p:cNvGrpSpPr>
                <a:grpSpLocks/>
              </p:cNvGrpSpPr>
              <p:nvPr/>
            </p:nvGrpSpPr>
            <p:grpSpPr bwMode="auto">
              <a:xfrm>
                <a:off x="1021" y="1027"/>
                <a:ext cx="1406" cy="1406"/>
                <a:chOff x="3606" y="2296"/>
                <a:chExt cx="1406" cy="1406"/>
              </a:xfrm>
            </p:grpSpPr>
            <p:grpSp>
              <p:nvGrpSpPr>
                <p:cNvPr id="130" name="Group 110"/>
                <p:cNvGrpSpPr>
                  <a:grpSpLocks/>
                </p:cNvGrpSpPr>
                <p:nvPr/>
              </p:nvGrpSpPr>
              <p:grpSpPr bwMode="auto">
                <a:xfrm>
                  <a:off x="3606" y="2659"/>
                  <a:ext cx="1044" cy="1043"/>
                  <a:chOff x="2018" y="2523"/>
                  <a:chExt cx="1044" cy="1043"/>
                </a:xfrm>
              </p:grpSpPr>
              <p:sp>
                <p:nvSpPr>
                  <p:cNvPr id="134" name="Oval 111"/>
                  <p:cNvSpPr>
                    <a:spLocks noChangeArrowheads="1"/>
                  </p:cNvSpPr>
                  <p:nvPr/>
                </p:nvSpPr>
                <p:spPr bwMode="auto">
                  <a:xfrm>
                    <a:off x="2699"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a:t>
                    </a:r>
                  </a:p>
                </p:txBody>
              </p:sp>
              <p:sp>
                <p:nvSpPr>
                  <p:cNvPr id="135" name="Oval 112"/>
                  <p:cNvSpPr>
                    <a:spLocks noChangeArrowheads="1"/>
                  </p:cNvSpPr>
                  <p:nvPr/>
                </p:nvSpPr>
                <p:spPr bwMode="auto">
                  <a:xfrm>
                    <a:off x="2018"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a:t>
                    </a:r>
                  </a:p>
                </p:txBody>
              </p:sp>
              <p:sp>
                <p:nvSpPr>
                  <p:cNvPr id="136" name="Oval 113"/>
                  <p:cNvSpPr>
                    <a:spLocks noChangeArrowheads="1"/>
                  </p:cNvSpPr>
                  <p:nvPr/>
                </p:nvSpPr>
                <p:spPr bwMode="auto">
                  <a:xfrm>
                    <a:off x="2381" y="252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5</a:t>
                    </a:r>
                  </a:p>
                </p:txBody>
              </p:sp>
              <p:sp>
                <p:nvSpPr>
                  <p:cNvPr id="137" name="Line 114"/>
                  <p:cNvSpPr>
                    <a:spLocks noChangeShapeType="1"/>
                  </p:cNvSpPr>
                  <p:nvPr/>
                </p:nvSpPr>
                <p:spPr bwMode="auto">
                  <a:xfrm flipH="1">
                    <a:off x="2200" y="2840"/>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8" name="Line 115"/>
                  <p:cNvSpPr>
                    <a:spLocks noChangeShapeType="1"/>
                  </p:cNvSpPr>
                  <p:nvPr/>
                </p:nvSpPr>
                <p:spPr bwMode="auto">
                  <a:xfrm>
                    <a:off x="2699" y="2840"/>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31" name="Oval 116"/>
                <p:cNvSpPr>
                  <a:spLocks noChangeArrowheads="1"/>
                </p:cNvSpPr>
                <p:nvPr/>
              </p:nvSpPr>
              <p:spPr bwMode="auto">
                <a:xfrm>
                  <a:off x="4649" y="265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a:t>
                  </a:r>
                </a:p>
              </p:txBody>
            </p:sp>
            <p:sp>
              <p:nvSpPr>
                <p:cNvPr id="132" name="Line 117"/>
                <p:cNvSpPr>
                  <a:spLocks noChangeShapeType="1"/>
                </p:cNvSpPr>
                <p:nvPr/>
              </p:nvSpPr>
              <p:spPr bwMode="auto">
                <a:xfrm flipH="1">
                  <a:off x="4150" y="2296"/>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3" name="Line 118"/>
                <p:cNvSpPr>
                  <a:spLocks noChangeShapeType="1"/>
                </p:cNvSpPr>
                <p:nvPr/>
              </p:nvSpPr>
              <p:spPr bwMode="auto">
                <a:xfrm>
                  <a:off x="4650" y="2296"/>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21" name="Oval 119"/>
              <p:cNvSpPr>
                <a:spLocks noChangeArrowheads="1"/>
              </p:cNvSpPr>
              <p:nvPr/>
            </p:nvSpPr>
            <p:spPr bwMode="auto">
              <a:xfrm>
                <a:off x="1747" y="70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11</a:t>
                </a:r>
              </a:p>
            </p:txBody>
          </p:sp>
          <p:sp>
            <p:nvSpPr>
              <p:cNvPr id="122" name="Oval 120"/>
              <p:cNvSpPr>
                <a:spLocks noChangeArrowheads="1"/>
              </p:cNvSpPr>
              <p:nvPr/>
            </p:nvSpPr>
            <p:spPr bwMode="auto">
              <a:xfrm>
                <a:off x="2925" y="70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17</a:t>
                </a:r>
              </a:p>
            </p:txBody>
          </p:sp>
          <p:grpSp>
            <p:nvGrpSpPr>
              <p:cNvPr id="123" name="Group 121"/>
              <p:cNvGrpSpPr>
                <a:grpSpLocks/>
              </p:cNvGrpSpPr>
              <p:nvPr/>
            </p:nvGrpSpPr>
            <p:grpSpPr bwMode="auto">
              <a:xfrm>
                <a:off x="2562" y="1026"/>
                <a:ext cx="1044" cy="726"/>
                <a:chOff x="521" y="527"/>
                <a:chExt cx="1044" cy="726"/>
              </a:xfrm>
            </p:grpSpPr>
            <p:sp>
              <p:nvSpPr>
                <p:cNvPr id="126" name="Oval 122"/>
                <p:cNvSpPr>
                  <a:spLocks noChangeArrowheads="1"/>
                </p:cNvSpPr>
                <p:nvPr/>
              </p:nvSpPr>
              <p:spPr bwMode="auto">
                <a:xfrm>
                  <a:off x="1202"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10</a:t>
                  </a:r>
                </a:p>
              </p:txBody>
            </p:sp>
            <p:sp>
              <p:nvSpPr>
                <p:cNvPr id="127" name="Oval 123"/>
                <p:cNvSpPr>
                  <a:spLocks noChangeArrowheads="1"/>
                </p:cNvSpPr>
                <p:nvPr/>
              </p:nvSpPr>
              <p:spPr bwMode="auto">
                <a:xfrm>
                  <a:off x="521"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7</a:t>
                  </a:r>
                </a:p>
              </p:txBody>
            </p:sp>
            <p:sp>
              <p:nvSpPr>
                <p:cNvPr id="128" name="Line 124"/>
                <p:cNvSpPr>
                  <a:spLocks noChangeShapeType="1"/>
                </p:cNvSpPr>
                <p:nvPr/>
              </p:nvSpPr>
              <p:spPr bwMode="auto">
                <a:xfrm flipH="1">
                  <a:off x="703" y="527"/>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9" name="Line 125"/>
                <p:cNvSpPr>
                  <a:spLocks noChangeShapeType="1"/>
                </p:cNvSpPr>
                <p:nvPr/>
              </p:nvSpPr>
              <p:spPr bwMode="auto">
                <a:xfrm>
                  <a:off x="1202" y="527"/>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24" name="Line 126"/>
              <p:cNvSpPr>
                <a:spLocks noChangeShapeType="1"/>
              </p:cNvSpPr>
              <p:nvPr/>
            </p:nvSpPr>
            <p:spPr bwMode="auto">
              <a:xfrm flipH="1">
                <a:off x="2019" y="437"/>
                <a:ext cx="363" cy="27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25" name="Line 127"/>
              <p:cNvSpPr>
                <a:spLocks noChangeShapeType="1"/>
              </p:cNvSpPr>
              <p:nvPr/>
            </p:nvSpPr>
            <p:spPr bwMode="auto">
              <a:xfrm>
                <a:off x="2745" y="482"/>
                <a:ext cx="317" cy="227"/>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sp>
        <p:nvSpPr>
          <p:cNvPr id="139" name="Oval 128"/>
          <p:cNvSpPr>
            <a:spLocks noChangeArrowheads="1"/>
          </p:cNvSpPr>
          <p:nvPr/>
        </p:nvSpPr>
        <p:spPr bwMode="auto">
          <a:xfrm>
            <a:off x="9552782" y="3212307"/>
            <a:ext cx="576262" cy="576262"/>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32</a:t>
            </a:r>
          </a:p>
        </p:txBody>
      </p:sp>
      <p:grpSp>
        <p:nvGrpSpPr>
          <p:cNvPr id="140" name="Group 129"/>
          <p:cNvGrpSpPr>
            <a:grpSpLocks/>
          </p:cNvGrpSpPr>
          <p:nvPr/>
        </p:nvGrpSpPr>
        <p:grpSpPr bwMode="auto">
          <a:xfrm>
            <a:off x="8473283" y="2204245"/>
            <a:ext cx="1368425" cy="1008063"/>
            <a:chOff x="2653" y="890"/>
            <a:chExt cx="862" cy="635"/>
          </a:xfrm>
        </p:grpSpPr>
        <p:sp>
          <p:nvSpPr>
            <p:cNvPr id="141" name="Oval 130"/>
            <p:cNvSpPr>
              <a:spLocks noChangeArrowheads="1"/>
            </p:cNvSpPr>
            <p:nvPr/>
          </p:nvSpPr>
          <p:spPr bwMode="auto">
            <a:xfrm>
              <a:off x="2880"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60</a:t>
              </a:r>
            </a:p>
          </p:txBody>
        </p:sp>
        <p:sp>
          <p:nvSpPr>
            <p:cNvPr id="142" name="Line 131"/>
            <p:cNvSpPr>
              <a:spLocks noChangeShapeType="1"/>
            </p:cNvSpPr>
            <p:nvPr/>
          </p:nvSpPr>
          <p:spPr bwMode="auto">
            <a:xfrm flipH="1">
              <a:off x="2653" y="1207"/>
              <a:ext cx="272" cy="318"/>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43" name="Line 132"/>
            <p:cNvSpPr>
              <a:spLocks noChangeShapeType="1"/>
            </p:cNvSpPr>
            <p:nvPr/>
          </p:nvSpPr>
          <p:spPr bwMode="auto">
            <a:xfrm>
              <a:off x="3198" y="1162"/>
              <a:ext cx="317"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44" name="Oval 133"/>
          <p:cNvSpPr>
            <a:spLocks noChangeArrowheads="1"/>
          </p:cNvSpPr>
          <p:nvPr/>
        </p:nvSpPr>
        <p:spPr bwMode="auto">
          <a:xfrm>
            <a:off x="5520532" y="1124745"/>
            <a:ext cx="576262" cy="5762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60</a:t>
            </a:r>
          </a:p>
        </p:txBody>
      </p:sp>
      <p:grpSp>
        <p:nvGrpSpPr>
          <p:cNvPr id="145" name="Group 134"/>
          <p:cNvGrpSpPr>
            <a:grpSpLocks/>
          </p:cNvGrpSpPr>
          <p:nvPr/>
        </p:nvGrpSpPr>
        <p:grpSpPr bwMode="auto">
          <a:xfrm>
            <a:off x="2567782" y="1556545"/>
            <a:ext cx="4248150" cy="4105275"/>
            <a:chOff x="1020" y="1162"/>
            <a:chExt cx="2676" cy="2586"/>
          </a:xfrm>
        </p:grpSpPr>
        <p:sp>
          <p:nvSpPr>
            <p:cNvPr id="146" name="Oval 135"/>
            <p:cNvSpPr>
              <a:spLocks noChangeArrowheads="1"/>
            </p:cNvSpPr>
            <p:nvPr/>
          </p:nvSpPr>
          <p:spPr bwMode="auto">
            <a:xfrm>
              <a:off x="3333" y="1525"/>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32</a:t>
              </a:r>
            </a:p>
          </p:txBody>
        </p:sp>
        <p:grpSp>
          <p:nvGrpSpPr>
            <p:cNvPr id="147" name="Group 136"/>
            <p:cNvGrpSpPr>
              <a:grpSpLocks/>
            </p:cNvGrpSpPr>
            <p:nvPr/>
          </p:nvGrpSpPr>
          <p:grpSpPr bwMode="auto">
            <a:xfrm>
              <a:off x="1020" y="1162"/>
              <a:ext cx="2585" cy="2586"/>
              <a:chOff x="1020" y="1162"/>
              <a:chExt cx="2585" cy="2586"/>
            </a:xfrm>
          </p:grpSpPr>
          <p:grpSp>
            <p:nvGrpSpPr>
              <p:cNvPr id="148" name="Group 137"/>
              <p:cNvGrpSpPr>
                <a:grpSpLocks/>
              </p:cNvGrpSpPr>
              <p:nvPr/>
            </p:nvGrpSpPr>
            <p:grpSpPr bwMode="auto">
              <a:xfrm>
                <a:off x="1020" y="1525"/>
                <a:ext cx="2585" cy="2223"/>
                <a:chOff x="1020" y="1525"/>
                <a:chExt cx="2585" cy="2223"/>
              </a:xfrm>
            </p:grpSpPr>
            <p:sp>
              <p:nvSpPr>
                <p:cNvPr id="151" name="Oval 138"/>
                <p:cNvSpPr>
                  <a:spLocks noChangeArrowheads="1"/>
                </p:cNvSpPr>
                <p:nvPr/>
              </p:nvSpPr>
              <p:spPr bwMode="auto">
                <a:xfrm>
                  <a:off x="2381" y="1525"/>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28</a:t>
                  </a:r>
                </a:p>
              </p:txBody>
            </p:sp>
            <p:grpSp>
              <p:nvGrpSpPr>
                <p:cNvPr id="152" name="Group 139"/>
                <p:cNvGrpSpPr>
                  <a:grpSpLocks/>
                </p:cNvGrpSpPr>
                <p:nvPr/>
              </p:nvGrpSpPr>
              <p:grpSpPr bwMode="auto">
                <a:xfrm>
                  <a:off x="1020" y="1752"/>
                  <a:ext cx="2585" cy="1996"/>
                  <a:chOff x="1021" y="437"/>
                  <a:chExt cx="2585" cy="1996"/>
                </a:xfrm>
              </p:grpSpPr>
              <p:grpSp>
                <p:nvGrpSpPr>
                  <p:cNvPr id="153" name="Group 140"/>
                  <p:cNvGrpSpPr>
                    <a:grpSpLocks/>
                  </p:cNvGrpSpPr>
                  <p:nvPr/>
                </p:nvGrpSpPr>
                <p:grpSpPr bwMode="auto">
                  <a:xfrm>
                    <a:off x="1021" y="1027"/>
                    <a:ext cx="1406" cy="1406"/>
                    <a:chOff x="3606" y="2296"/>
                    <a:chExt cx="1406" cy="1406"/>
                  </a:xfrm>
                </p:grpSpPr>
                <p:grpSp>
                  <p:nvGrpSpPr>
                    <p:cNvPr id="163" name="Group 141"/>
                    <p:cNvGrpSpPr>
                      <a:grpSpLocks/>
                    </p:cNvGrpSpPr>
                    <p:nvPr/>
                  </p:nvGrpSpPr>
                  <p:grpSpPr bwMode="auto">
                    <a:xfrm>
                      <a:off x="3606" y="2659"/>
                      <a:ext cx="1044" cy="1043"/>
                      <a:chOff x="2018" y="2523"/>
                      <a:chExt cx="1044" cy="1043"/>
                    </a:xfrm>
                  </p:grpSpPr>
                  <p:sp>
                    <p:nvSpPr>
                      <p:cNvPr id="167" name="Oval 142"/>
                      <p:cNvSpPr>
                        <a:spLocks noChangeArrowheads="1"/>
                      </p:cNvSpPr>
                      <p:nvPr/>
                    </p:nvSpPr>
                    <p:spPr bwMode="auto">
                      <a:xfrm>
                        <a:off x="2699"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a:t>
                        </a:r>
                      </a:p>
                    </p:txBody>
                  </p:sp>
                  <p:sp>
                    <p:nvSpPr>
                      <p:cNvPr id="168" name="Oval 143"/>
                      <p:cNvSpPr>
                        <a:spLocks noChangeArrowheads="1"/>
                      </p:cNvSpPr>
                      <p:nvPr/>
                    </p:nvSpPr>
                    <p:spPr bwMode="auto">
                      <a:xfrm>
                        <a:off x="2018"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a:t>
                        </a:r>
                      </a:p>
                    </p:txBody>
                  </p:sp>
                  <p:sp>
                    <p:nvSpPr>
                      <p:cNvPr id="169" name="Oval 144"/>
                      <p:cNvSpPr>
                        <a:spLocks noChangeArrowheads="1"/>
                      </p:cNvSpPr>
                      <p:nvPr/>
                    </p:nvSpPr>
                    <p:spPr bwMode="auto">
                      <a:xfrm>
                        <a:off x="2381" y="252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5</a:t>
                        </a:r>
                      </a:p>
                    </p:txBody>
                  </p:sp>
                  <p:sp>
                    <p:nvSpPr>
                      <p:cNvPr id="170" name="Line 145"/>
                      <p:cNvSpPr>
                        <a:spLocks noChangeShapeType="1"/>
                      </p:cNvSpPr>
                      <p:nvPr/>
                    </p:nvSpPr>
                    <p:spPr bwMode="auto">
                      <a:xfrm flipH="1">
                        <a:off x="2200" y="2840"/>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71" name="Line 146"/>
                      <p:cNvSpPr>
                        <a:spLocks noChangeShapeType="1"/>
                      </p:cNvSpPr>
                      <p:nvPr/>
                    </p:nvSpPr>
                    <p:spPr bwMode="auto">
                      <a:xfrm>
                        <a:off x="2699" y="2840"/>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64" name="Oval 147"/>
                    <p:cNvSpPr>
                      <a:spLocks noChangeArrowheads="1"/>
                    </p:cNvSpPr>
                    <p:nvPr/>
                  </p:nvSpPr>
                  <p:spPr bwMode="auto">
                    <a:xfrm>
                      <a:off x="4649" y="265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a:t>
                      </a:r>
                    </a:p>
                  </p:txBody>
                </p:sp>
                <p:sp>
                  <p:nvSpPr>
                    <p:cNvPr id="165" name="Line 148"/>
                    <p:cNvSpPr>
                      <a:spLocks noChangeShapeType="1"/>
                    </p:cNvSpPr>
                    <p:nvPr/>
                  </p:nvSpPr>
                  <p:spPr bwMode="auto">
                    <a:xfrm flipH="1">
                      <a:off x="4150" y="2296"/>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6" name="Line 149"/>
                    <p:cNvSpPr>
                      <a:spLocks noChangeShapeType="1"/>
                    </p:cNvSpPr>
                    <p:nvPr/>
                  </p:nvSpPr>
                  <p:spPr bwMode="auto">
                    <a:xfrm>
                      <a:off x="4650" y="2296"/>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54" name="Oval 150"/>
                  <p:cNvSpPr>
                    <a:spLocks noChangeArrowheads="1"/>
                  </p:cNvSpPr>
                  <p:nvPr/>
                </p:nvSpPr>
                <p:spPr bwMode="auto">
                  <a:xfrm>
                    <a:off x="1747" y="70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11</a:t>
                    </a:r>
                  </a:p>
                </p:txBody>
              </p:sp>
              <p:sp>
                <p:nvSpPr>
                  <p:cNvPr id="155" name="Oval 151"/>
                  <p:cNvSpPr>
                    <a:spLocks noChangeArrowheads="1"/>
                  </p:cNvSpPr>
                  <p:nvPr/>
                </p:nvSpPr>
                <p:spPr bwMode="auto">
                  <a:xfrm>
                    <a:off x="2925" y="70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17</a:t>
                    </a:r>
                  </a:p>
                </p:txBody>
              </p:sp>
              <p:grpSp>
                <p:nvGrpSpPr>
                  <p:cNvPr id="156" name="Group 152"/>
                  <p:cNvGrpSpPr>
                    <a:grpSpLocks/>
                  </p:cNvGrpSpPr>
                  <p:nvPr/>
                </p:nvGrpSpPr>
                <p:grpSpPr bwMode="auto">
                  <a:xfrm>
                    <a:off x="2562" y="1026"/>
                    <a:ext cx="1044" cy="726"/>
                    <a:chOff x="521" y="527"/>
                    <a:chExt cx="1044" cy="726"/>
                  </a:xfrm>
                </p:grpSpPr>
                <p:sp>
                  <p:nvSpPr>
                    <p:cNvPr id="159" name="Oval 153"/>
                    <p:cNvSpPr>
                      <a:spLocks noChangeArrowheads="1"/>
                    </p:cNvSpPr>
                    <p:nvPr/>
                  </p:nvSpPr>
                  <p:spPr bwMode="auto">
                    <a:xfrm>
                      <a:off x="1202"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10</a:t>
                      </a:r>
                    </a:p>
                  </p:txBody>
                </p:sp>
                <p:sp>
                  <p:nvSpPr>
                    <p:cNvPr id="160" name="Oval 154"/>
                    <p:cNvSpPr>
                      <a:spLocks noChangeArrowheads="1"/>
                    </p:cNvSpPr>
                    <p:nvPr/>
                  </p:nvSpPr>
                  <p:spPr bwMode="auto">
                    <a:xfrm>
                      <a:off x="521"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7</a:t>
                      </a:r>
                    </a:p>
                  </p:txBody>
                </p:sp>
                <p:sp>
                  <p:nvSpPr>
                    <p:cNvPr id="161" name="Line 155"/>
                    <p:cNvSpPr>
                      <a:spLocks noChangeShapeType="1"/>
                    </p:cNvSpPr>
                    <p:nvPr/>
                  </p:nvSpPr>
                  <p:spPr bwMode="auto">
                    <a:xfrm flipH="1">
                      <a:off x="703" y="527"/>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2" name="Line 156"/>
                    <p:cNvSpPr>
                      <a:spLocks noChangeShapeType="1"/>
                    </p:cNvSpPr>
                    <p:nvPr/>
                  </p:nvSpPr>
                  <p:spPr bwMode="auto">
                    <a:xfrm>
                      <a:off x="1202" y="527"/>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57" name="Line 157"/>
                  <p:cNvSpPr>
                    <a:spLocks noChangeShapeType="1"/>
                  </p:cNvSpPr>
                  <p:nvPr/>
                </p:nvSpPr>
                <p:spPr bwMode="auto">
                  <a:xfrm flipH="1">
                    <a:off x="2019" y="437"/>
                    <a:ext cx="363" cy="27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58" name="Line 158"/>
                  <p:cNvSpPr>
                    <a:spLocks noChangeShapeType="1"/>
                  </p:cNvSpPr>
                  <p:nvPr/>
                </p:nvSpPr>
                <p:spPr bwMode="auto">
                  <a:xfrm>
                    <a:off x="2745" y="482"/>
                    <a:ext cx="317" cy="227"/>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sp>
            <p:nvSpPr>
              <p:cNvPr id="149" name="Line 159"/>
              <p:cNvSpPr>
                <a:spLocks noChangeShapeType="1"/>
              </p:cNvSpPr>
              <p:nvPr/>
            </p:nvSpPr>
            <p:spPr bwMode="auto">
              <a:xfrm flipH="1">
                <a:off x="2653" y="1207"/>
                <a:ext cx="272" cy="318"/>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50" name="Line 160"/>
              <p:cNvSpPr>
                <a:spLocks noChangeShapeType="1"/>
              </p:cNvSpPr>
              <p:nvPr/>
            </p:nvSpPr>
            <p:spPr bwMode="auto">
              <a:xfrm>
                <a:off x="3198" y="1162"/>
                <a:ext cx="317"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cxnSp>
        <p:nvCxnSpPr>
          <p:cNvPr id="2" name="直接连接符 1">
            <a:extLst>
              <a:ext uri="{FF2B5EF4-FFF2-40B4-BE49-F238E27FC236}">
                <a16:creationId xmlns:a16="http://schemas.microsoft.com/office/drawing/2014/main" xmlns="" id="{C33B2FC3-0777-85D9-B56B-ADE811F05FEA}"/>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71E70594-24C8-A5B8-AC64-79592AB2F4E4}"/>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2496384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7"/>
                                        </p:tgtEl>
                                        <p:attrNameLst>
                                          <p:attrName>fillcolor</p:attrName>
                                        </p:attrNameLst>
                                      </p:cBhvr>
                                      <p:to>
                                        <a:srgbClr val="DE580E"/>
                                      </p:to>
                                    </p:animClr>
                                    <p:set>
                                      <p:cBhvr>
                                        <p:cTn id="7" dur="2000" fill="hold"/>
                                        <p:tgtEl>
                                          <p:spTgt spid="17"/>
                                        </p:tgtEl>
                                        <p:attrNameLst>
                                          <p:attrName>fill.type</p:attrName>
                                        </p:attrNameLst>
                                      </p:cBhvr>
                                      <p:to>
                                        <p:strVal val="solid"/>
                                      </p:to>
                                    </p:set>
                                    <p:set>
                                      <p:cBhvr>
                                        <p:cTn id="8" dur="2000" fill="hold"/>
                                        <p:tgtEl>
                                          <p:spTgt spid="17"/>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nodeType="clickEffect">
                                  <p:stCondLst>
                                    <p:cond delay="0"/>
                                  </p:stCondLst>
                                  <p:childTnLst>
                                    <p:animClr clrSpc="rgb" dir="cw">
                                      <p:cBhvr>
                                        <p:cTn id="12" dur="2000" fill="hold"/>
                                        <p:tgtEl>
                                          <p:spTgt spid="12"/>
                                        </p:tgtEl>
                                        <p:attrNameLst>
                                          <p:attrName>fillcolor</p:attrName>
                                        </p:attrNameLst>
                                      </p:cBhvr>
                                      <p:to>
                                        <a:srgbClr val="DE580E"/>
                                      </p:to>
                                    </p:animClr>
                                    <p:set>
                                      <p:cBhvr>
                                        <p:cTn id="13" dur="2000" fill="hold"/>
                                        <p:tgtEl>
                                          <p:spTgt spid="12"/>
                                        </p:tgtEl>
                                        <p:attrNameLst>
                                          <p:attrName>fill.type</p:attrName>
                                        </p:attrNameLst>
                                      </p:cBhvr>
                                      <p:to>
                                        <p:strVal val="solid"/>
                                      </p:to>
                                    </p:set>
                                    <p:set>
                                      <p:cBhvr>
                                        <p:cTn id="14" dur="2000" fill="hold"/>
                                        <p:tgtEl>
                                          <p:spTgt spid="12"/>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20"/>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21"/>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2"/>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23"/>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24"/>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xit" presetSubtype="0" fill="hold" grpId="1" nodeType="withEffect">
                                  <p:stCondLst>
                                    <p:cond delay="0"/>
                                  </p:stCondLst>
                                  <p:childTnLst>
                                    <p:set>
                                      <p:cBhvr>
                                        <p:cTn id="54" dur="1" fill="hold">
                                          <p:stCondLst>
                                            <p:cond delay="0"/>
                                          </p:stCondLst>
                                        </p:cTn>
                                        <p:tgtEl>
                                          <p:spTgt spid="41"/>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mph" presetSubtype="2" fill="hold" nodeType="clickEffect">
                                  <p:stCondLst>
                                    <p:cond delay="0"/>
                                  </p:stCondLst>
                                  <p:childTnLst>
                                    <p:animClr clrSpc="rgb" dir="cw">
                                      <p:cBhvr>
                                        <p:cTn id="58" dur="2000" fill="hold"/>
                                        <p:tgtEl>
                                          <p:spTgt spid="25"/>
                                        </p:tgtEl>
                                        <p:attrNameLst>
                                          <p:attrName>fillcolor</p:attrName>
                                        </p:attrNameLst>
                                      </p:cBhvr>
                                      <p:to>
                                        <a:srgbClr val="DE580E"/>
                                      </p:to>
                                    </p:animClr>
                                    <p:set>
                                      <p:cBhvr>
                                        <p:cTn id="59" dur="2000" fill="hold"/>
                                        <p:tgtEl>
                                          <p:spTgt spid="25"/>
                                        </p:tgtEl>
                                        <p:attrNameLst>
                                          <p:attrName>fill.type</p:attrName>
                                        </p:attrNameLst>
                                      </p:cBhvr>
                                      <p:to>
                                        <p:strVal val="solid"/>
                                      </p:to>
                                    </p:set>
                                    <p:set>
                                      <p:cBhvr>
                                        <p:cTn id="60" dur="2000" fill="hold"/>
                                        <p:tgtEl>
                                          <p:spTgt spid="25"/>
                                        </p:tgtEl>
                                        <p:attrNameLst>
                                          <p:attrName>fill.on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1" presetClass="emph" presetSubtype="2" fill="hold" nodeType="clickEffect">
                                  <p:stCondLst>
                                    <p:cond delay="0"/>
                                  </p:stCondLst>
                                  <p:childTnLst>
                                    <p:animClr clrSpc="rgb" dir="cw">
                                      <p:cBhvr>
                                        <p:cTn id="64" dur="2000" fill="hold"/>
                                        <p:tgtEl>
                                          <p:spTgt spid="13"/>
                                        </p:tgtEl>
                                        <p:attrNameLst>
                                          <p:attrName>fillcolor</p:attrName>
                                        </p:attrNameLst>
                                      </p:cBhvr>
                                      <p:to>
                                        <a:srgbClr val="DE580E"/>
                                      </p:to>
                                    </p:animClr>
                                    <p:set>
                                      <p:cBhvr>
                                        <p:cTn id="65" dur="2000" fill="hold"/>
                                        <p:tgtEl>
                                          <p:spTgt spid="13"/>
                                        </p:tgtEl>
                                        <p:attrNameLst>
                                          <p:attrName>fill.type</p:attrName>
                                        </p:attrNameLst>
                                      </p:cBhvr>
                                      <p:to>
                                        <p:strVal val="solid"/>
                                      </p:to>
                                    </p:set>
                                    <p:set>
                                      <p:cBhvr>
                                        <p:cTn id="66" dur="2000" fill="hold"/>
                                        <p:tgtEl>
                                          <p:spTgt spid="13"/>
                                        </p:tgtEl>
                                        <p:attrNameLst>
                                          <p:attrName>fill.on</p:attrName>
                                        </p:attrNameLst>
                                      </p:cBhvr>
                                      <p:to>
                                        <p:strVal val="tru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0"/>
                                        </p:tgtEl>
                                        <p:attrNameLst>
                                          <p:attrName>style.visibility</p:attrName>
                                        </p:attrNameLst>
                                      </p:cBhvr>
                                      <p:to>
                                        <p:strVal val="visible"/>
                                      </p:to>
                                    </p:set>
                                  </p:childTnLst>
                                </p:cTn>
                              </p:par>
                              <p:par>
                                <p:cTn id="79" presetID="1" presetClass="entr" presetSubtype="0" fill="hold" grpId="2" nodeType="withEffect">
                                  <p:stCondLst>
                                    <p:cond delay="0"/>
                                  </p:stCondLst>
                                  <p:childTnLst>
                                    <p:set>
                                      <p:cBhvr>
                                        <p:cTn id="80" dur="1" fill="hold">
                                          <p:stCondLst>
                                            <p:cond delay="0"/>
                                          </p:stCondLst>
                                        </p:cTn>
                                        <p:tgtEl>
                                          <p:spTgt spid="4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26"/>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25"/>
                                        </p:tgtEl>
                                        <p:attrNameLst>
                                          <p:attrName>style.visibility</p:attrName>
                                        </p:attrNameLst>
                                      </p:cBhvr>
                                      <p:to>
                                        <p:strVal val="hidden"/>
                                      </p:to>
                                    </p:set>
                                  </p:childTnLst>
                                </p:cTn>
                              </p:par>
                              <p:par>
                                <p:cTn id="87" presetID="1" presetClass="exit" presetSubtype="0" fill="hold" grpId="0" nodeType="withEffect">
                                  <p:stCondLst>
                                    <p:cond delay="0"/>
                                  </p:stCondLst>
                                  <p:childTnLst>
                                    <p:set>
                                      <p:cBhvr>
                                        <p:cTn id="88" dur="1" fill="hold">
                                          <p:stCondLst>
                                            <p:cond delay="0"/>
                                          </p:stCondLst>
                                        </p:cTn>
                                        <p:tgtEl>
                                          <p:spTgt spid="13"/>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4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2"/>
                                        </p:tgtEl>
                                        <p:attrNameLst>
                                          <p:attrName>style.visibility</p:attrName>
                                        </p:attrNameLst>
                                      </p:cBhvr>
                                      <p:to>
                                        <p:strVal val="visible"/>
                                      </p:to>
                                    </p:set>
                                  </p:childTnLst>
                                </p:cTn>
                              </p:par>
                              <p:par>
                                <p:cTn id="95" presetID="1" presetClass="exit" presetSubtype="0" fill="hold" grpId="3" nodeType="withEffect">
                                  <p:stCondLst>
                                    <p:cond delay="0"/>
                                  </p:stCondLst>
                                  <p:childTnLst>
                                    <p:set>
                                      <p:cBhvr>
                                        <p:cTn id="96" dur="1" fill="hold">
                                          <p:stCondLst>
                                            <p:cond delay="0"/>
                                          </p:stCondLst>
                                        </p:cTn>
                                        <p:tgtEl>
                                          <p:spTgt spid="41"/>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39"/>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40"/>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38"/>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31"/>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 presetClass="emph" presetSubtype="2" fill="hold" nodeType="clickEffect">
                                  <p:stCondLst>
                                    <p:cond delay="0"/>
                                  </p:stCondLst>
                                  <p:childTnLst>
                                    <p:animClr clrSpc="rgb" dir="cw">
                                      <p:cBhvr>
                                        <p:cTn id="108" dur="2000" fill="hold"/>
                                        <p:tgtEl>
                                          <p:spTgt spid="18"/>
                                        </p:tgtEl>
                                        <p:attrNameLst>
                                          <p:attrName>fillcolor</p:attrName>
                                        </p:attrNameLst>
                                      </p:cBhvr>
                                      <p:to>
                                        <a:srgbClr val="DE580E"/>
                                      </p:to>
                                    </p:animClr>
                                    <p:set>
                                      <p:cBhvr>
                                        <p:cTn id="109" dur="2000" fill="hold"/>
                                        <p:tgtEl>
                                          <p:spTgt spid="18"/>
                                        </p:tgtEl>
                                        <p:attrNameLst>
                                          <p:attrName>fill.type</p:attrName>
                                        </p:attrNameLst>
                                      </p:cBhvr>
                                      <p:to>
                                        <p:strVal val="solid"/>
                                      </p:to>
                                    </p:set>
                                    <p:set>
                                      <p:cBhvr>
                                        <p:cTn id="110" dur="2000" fill="hold"/>
                                        <p:tgtEl>
                                          <p:spTgt spid="18"/>
                                        </p:tgtEl>
                                        <p:attrNameLst>
                                          <p:attrName>fill.on</p:attrName>
                                        </p:attrNameLst>
                                      </p:cBhvr>
                                      <p:to>
                                        <p:strVal val="true"/>
                                      </p:to>
                                    </p:set>
                                  </p:childTnLst>
                                </p:cTn>
                              </p:par>
                            </p:childTnLst>
                          </p:cTn>
                        </p:par>
                      </p:childTnLst>
                    </p:cTn>
                  </p:par>
                  <p:par>
                    <p:cTn id="111" fill="hold">
                      <p:stCondLst>
                        <p:cond delay="indefinite"/>
                      </p:stCondLst>
                      <p:childTnLst>
                        <p:par>
                          <p:cTn id="112" fill="hold">
                            <p:stCondLst>
                              <p:cond delay="0"/>
                            </p:stCondLst>
                            <p:childTnLst>
                              <p:par>
                                <p:cTn id="113" presetID="1" presetClass="emph" presetSubtype="2" fill="hold" nodeType="clickEffect">
                                  <p:stCondLst>
                                    <p:cond delay="0"/>
                                  </p:stCondLst>
                                  <p:childTnLst>
                                    <p:animClr clrSpc="rgb" dir="cw">
                                      <p:cBhvr>
                                        <p:cTn id="114" dur="2000" fill="hold"/>
                                        <p:tgtEl>
                                          <p:spTgt spid="14"/>
                                        </p:tgtEl>
                                        <p:attrNameLst>
                                          <p:attrName>fillcolor</p:attrName>
                                        </p:attrNameLst>
                                      </p:cBhvr>
                                      <p:to>
                                        <a:srgbClr val="DE580E"/>
                                      </p:to>
                                    </p:animClr>
                                    <p:set>
                                      <p:cBhvr>
                                        <p:cTn id="115" dur="2000" fill="hold"/>
                                        <p:tgtEl>
                                          <p:spTgt spid="14"/>
                                        </p:tgtEl>
                                        <p:attrNameLst>
                                          <p:attrName>fill.type</p:attrName>
                                        </p:attrNameLst>
                                      </p:cBhvr>
                                      <p:to>
                                        <p:strVal val="solid"/>
                                      </p:to>
                                    </p:set>
                                    <p:set>
                                      <p:cBhvr>
                                        <p:cTn id="116" dur="2000" fill="hold"/>
                                        <p:tgtEl>
                                          <p:spTgt spid="14"/>
                                        </p:tgtEl>
                                        <p:attrNameLst>
                                          <p:attrName>fill.on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3"/>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5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55"/>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0" nodeType="clickEffect">
                                  <p:stCondLst>
                                    <p:cond delay="0"/>
                                  </p:stCondLst>
                                  <p:childTnLst>
                                    <p:set>
                                      <p:cBhvr>
                                        <p:cTn id="134" dur="1" fill="hold">
                                          <p:stCondLst>
                                            <p:cond delay="0"/>
                                          </p:stCondLst>
                                        </p:cTn>
                                        <p:tgtEl>
                                          <p:spTgt spid="18"/>
                                        </p:tgtEl>
                                        <p:attrNameLst>
                                          <p:attrName>style.visibility</p:attrName>
                                        </p:attrNameLst>
                                      </p:cBhvr>
                                      <p:to>
                                        <p:strVal val="hidden"/>
                                      </p:to>
                                    </p:set>
                                  </p:childTnLst>
                                </p:cTn>
                              </p:par>
                              <p:par>
                                <p:cTn id="135" presetID="1" presetClass="exit" presetSubtype="0" fill="hold" grpId="0" nodeType="withEffect">
                                  <p:stCondLst>
                                    <p:cond delay="0"/>
                                  </p:stCondLst>
                                  <p:childTnLst>
                                    <p:set>
                                      <p:cBhvr>
                                        <p:cTn id="136" dur="1" fill="hold">
                                          <p:stCondLst>
                                            <p:cond delay="0"/>
                                          </p:stCondLst>
                                        </p:cTn>
                                        <p:tgtEl>
                                          <p:spTgt spid="14"/>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59"/>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58"/>
                                        </p:tgtEl>
                                        <p:attrNameLst>
                                          <p:attrName>style.visibility</p:attrName>
                                        </p:attrNameLst>
                                      </p:cBhvr>
                                      <p:to>
                                        <p:strVal val="visible"/>
                                      </p:to>
                                    </p:set>
                                  </p:childTnLst>
                                </p:cTn>
                              </p:par>
                              <p:par>
                                <p:cTn id="143" presetID="1" presetClass="exit" presetSubtype="0" fill="hold" grpId="1" nodeType="withEffect">
                                  <p:stCondLst>
                                    <p:cond delay="0"/>
                                  </p:stCondLst>
                                  <p:childTnLst>
                                    <p:set>
                                      <p:cBhvr>
                                        <p:cTn id="144" dur="1" fill="hold">
                                          <p:stCondLst>
                                            <p:cond delay="0"/>
                                          </p:stCondLst>
                                        </p:cTn>
                                        <p:tgtEl>
                                          <p:spTgt spid="53"/>
                                        </p:tgtEl>
                                        <p:attrNameLst>
                                          <p:attrName>style.visibility</p:attrName>
                                        </p:attrNameLst>
                                      </p:cBhvr>
                                      <p:to>
                                        <p:strVal val="hidden"/>
                                      </p:to>
                                    </p:set>
                                  </p:childTnLst>
                                </p:cTn>
                              </p:par>
                              <p:par>
                                <p:cTn id="145" presetID="1" presetClass="exit" presetSubtype="0" fill="hold" grpId="1" nodeType="withEffect">
                                  <p:stCondLst>
                                    <p:cond delay="0"/>
                                  </p:stCondLst>
                                  <p:childTnLst>
                                    <p:set>
                                      <p:cBhvr>
                                        <p:cTn id="146" dur="1" fill="hold">
                                          <p:stCondLst>
                                            <p:cond delay="0"/>
                                          </p:stCondLst>
                                        </p:cTn>
                                        <p:tgtEl>
                                          <p:spTgt spid="54"/>
                                        </p:tgtEl>
                                        <p:attrNameLst>
                                          <p:attrName>style.visibility</p:attrName>
                                        </p:attrNameLst>
                                      </p:cBhvr>
                                      <p:to>
                                        <p:strVal val="hidden"/>
                                      </p:to>
                                    </p:set>
                                  </p:childTnLst>
                                </p:cTn>
                              </p:par>
                              <p:par>
                                <p:cTn id="147" presetID="1" presetClass="exit" presetSubtype="0" fill="hold" grpId="1" nodeType="withEffect">
                                  <p:stCondLst>
                                    <p:cond delay="0"/>
                                  </p:stCondLst>
                                  <p:childTnLst>
                                    <p:set>
                                      <p:cBhvr>
                                        <p:cTn id="148" dur="1" fill="hold">
                                          <p:stCondLst>
                                            <p:cond delay="0"/>
                                          </p:stCondLst>
                                        </p:cTn>
                                        <p:tgtEl>
                                          <p:spTgt spid="55"/>
                                        </p:tgtEl>
                                        <p:attrNameLst>
                                          <p:attrName>style.visibility</p:attrName>
                                        </p:attrNameLst>
                                      </p:cBhvr>
                                      <p:to>
                                        <p:strVal val="hidden"/>
                                      </p:to>
                                    </p:set>
                                  </p:childTnLst>
                                </p:cTn>
                              </p:par>
                              <p:par>
                                <p:cTn id="149" presetID="1" presetClass="exit" presetSubtype="0" fill="hold" grpId="1" nodeType="withEffect">
                                  <p:stCondLst>
                                    <p:cond delay="0"/>
                                  </p:stCondLst>
                                  <p:childTnLst>
                                    <p:set>
                                      <p:cBhvr>
                                        <p:cTn id="150" dur="1" fill="hold">
                                          <p:stCondLst>
                                            <p:cond delay="0"/>
                                          </p:stCondLst>
                                        </p:cTn>
                                        <p:tgtEl>
                                          <p:spTgt spid="56"/>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57"/>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mph" presetSubtype="2" fill="hold" nodeType="clickEffect">
                                  <p:stCondLst>
                                    <p:cond delay="0"/>
                                  </p:stCondLst>
                                  <p:childTnLst>
                                    <p:animClr clrSpc="rgb" dir="cw">
                                      <p:cBhvr>
                                        <p:cTn id="156" dur="2000" fill="hold"/>
                                        <p:tgtEl>
                                          <p:spTgt spid="52"/>
                                        </p:tgtEl>
                                        <p:attrNameLst>
                                          <p:attrName>fillcolor</p:attrName>
                                        </p:attrNameLst>
                                      </p:cBhvr>
                                      <p:to>
                                        <a:srgbClr val="DE580E"/>
                                      </p:to>
                                    </p:animClr>
                                    <p:set>
                                      <p:cBhvr>
                                        <p:cTn id="157" dur="2000" fill="hold"/>
                                        <p:tgtEl>
                                          <p:spTgt spid="52"/>
                                        </p:tgtEl>
                                        <p:attrNameLst>
                                          <p:attrName>fill.type</p:attrName>
                                        </p:attrNameLst>
                                      </p:cBhvr>
                                      <p:to>
                                        <p:strVal val="solid"/>
                                      </p:to>
                                    </p:set>
                                    <p:set>
                                      <p:cBhvr>
                                        <p:cTn id="158" dur="2000" fill="hold"/>
                                        <p:tgtEl>
                                          <p:spTgt spid="52"/>
                                        </p:tgtEl>
                                        <p:attrNameLst>
                                          <p:attrName>fill.on</p:attrName>
                                        </p:attrNameLst>
                                      </p:cBhvr>
                                      <p:to>
                                        <p:strVal val="true"/>
                                      </p:to>
                                    </p:set>
                                  </p:childTnLst>
                                </p:cTn>
                              </p:par>
                            </p:childTnLst>
                          </p:cTn>
                        </p:par>
                      </p:childTnLst>
                    </p:cTn>
                  </p:par>
                  <p:par>
                    <p:cTn id="159" fill="hold">
                      <p:stCondLst>
                        <p:cond delay="indefinite"/>
                      </p:stCondLst>
                      <p:childTnLst>
                        <p:par>
                          <p:cTn id="160" fill="hold">
                            <p:stCondLst>
                              <p:cond delay="0"/>
                            </p:stCondLst>
                            <p:childTnLst>
                              <p:par>
                                <p:cTn id="161" presetID="1" presetClass="emph" presetSubtype="2" fill="hold" nodeType="clickEffect">
                                  <p:stCondLst>
                                    <p:cond delay="0"/>
                                  </p:stCondLst>
                                  <p:childTnLst>
                                    <p:animClr clrSpc="rgb" dir="cw">
                                      <p:cBhvr>
                                        <p:cTn id="162" dur="2000" fill="hold"/>
                                        <p:tgtEl>
                                          <p:spTgt spid="58"/>
                                        </p:tgtEl>
                                        <p:attrNameLst>
                                          <p:attrName>fillcolor</p:attrName>
                                        </p:attrNameLst>
                                      </p:cBhvr>
                                      <p:to>
                                        <a:srgbClr val="DE580E"/>
                                      </p:to>
                                    </p:animClr>
                                    <p:set>
                                      <p:cBhvr>
                                        <p:cTn id="163" dur="2000" fill="hold"/>
                                        <p:tgtEl>
                                          <p:spTgt spid="58"/>
                                        </p:tgtEl>
                                        <p:attrNameLst>
                                          <p:attrName>fill.type</p:attrName>
                                        </p:attrNameLst>
                                      </p:cBhvr>
                                      <p:to>
                                        <p:strVal val="solid"/>
                                      </p:to>
                                    </p:set>
                                    <p:set>
                                      <p:cBhvr>
                                        <p:cTn id="164" dur="2000" fill="hold"/>
                                        <p:tgtEl>
                                          <p:spTgt spid="58"/>
                                        </p:tgtEl>
                                        <p:attrNameLst>
                                          <p:attrName>fill.on</p:attrName>
                                        </p:attrNameLst>
                                      </p:cBhvr>
                                      <p:to>
                                        <p:strVal val="tru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64"/>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74"/>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75"/>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76"/>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83"/>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82"/>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81"/>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xit" presetSubtype="0" fill="hold" grpId="1" nodeType="clickEffect">
                                  <p:stCondLst>
                                    <p:cond delay="0"/>
                                  </p:stCondLst>
                                  <p:childTnLst>
                                    <p:set>
                                      <p:cBhvr>
                                        <p:cTn id="186" dur="1" fill="hold">
                                          <p:stCondLst>
                                            <p:cond delay="0"/>
                                          </p:stCondLst>
                                        </p:cTn>
                                        <p:tgtEl>
                                          <p:spTgt spid="58"/>
                                        </p:tgtEl>
                                        <p:attrNameLst>
                                          <p:attrName>style.visibility</p:attrName>
                                        </p:attrNameLst>
                                      </p:cBhvr>
                                      <p:to>
                                        <p:strVal val="hidden"/>
                                      </p:to>
                                    </p:set>
                                  </p:childTnLst>
                                </p:cTn>
                              </p:par>
                              <p:par>
                                <p:cTn id="187" presetID="1" presetClass="exit" presetSubtype="0" fill="hold" nodeType="withEffect">
                                  <p:stCondLst>
                                    <p:cond delay="0"/>
                                  </p:stCondLst>
                                  <p:childTnLst>
                                    <p:set>
                                      <p:cBhvr>
                                        <p:cTn id="188" dur="1" fill="hold">
                                          <p:stCondLst>
                                            <p:cond delay="0"/>
                                          </p:stCondLst>
                                        </p:cTn>
                                        <p:tgtEl>
                                          <p:spTgt spid="59"/>
                                        </p:tgtEl>
                                        <p:attrNameLst>
                                          <p:attrName>style.visibility</p:attrName>
                                        </p:attrNameLst>
                                      </p:cBhvr>
                                      <p:to>
                                        <p:strVal val="hidden"/>
                                      </p:to>
                                    </p:set>
                                  </p:childTnLst>
                                </p:cTn>
                              </p:par>
                              <p:par>
                                <p:cTn id="189" presetID="1" presetClass="exit" presetSubtype="0" fill="hold" grpId="1" nodeType="withEffect">
                                  <p:stCondLst>
                                    <p:cond delay="0"/>
                                  </p:stCondLst>
                                  <p:childTnLst>
                                    <p:set>
                                      <p:cBhvr>
                                        <p:cTn id="190" dur="1" fill="hold">
                                          <p:stCondLst>
                                            <p:cond delay="0"/>
                                          </p:stCondLst>
                                        </p:cTn>
                                        <p:tgtEl>
                                          <p:spTgt spid="52"/>
                                        </p:tgtEl>
                                        <p:attrNameLst>
                                          <p:attrName>style.visibility</p:attrName>
                                        </p:attrNameLst>
                                      </p:cBhvr>
                                      <p:to>
                                        <p:strVal val="hidden"/>
                                      </p:to>
                                    </p:set>
                                  </p:childTnLst>
                                </p:cTn>
                              </p:par>
                              <p:par>
                                <p:cTn id="191" presetID="1" presetClass="exit" presetSubtype="0" fill="hold" nodeType="withEffect">
                                  <p:stCondLst>
                                    <p:cond delay="0"/>
                                  </p:stCondLst>
                                  <p:childTnLst>
                                    <p:set>
                                      <p:cBhvr>
                                        <p:cTn id="192" dur="1" fill="hold">
                                          <p:stCondLst>
                                            <p:cond delay="0"/>
                                          </p:stCondLst>
                                        </p:cTn>
                                        <p:tgtEl>
                                          <p:spTgt spid="42"/>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84"/>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85"/>
                                        </p:tgtEl>
                                        <p:attrNameLst>
                                          <p:attrName>style.visibility</p:attrName>
                                        </p:attrNameLst>
                                      </p:cBhvr>
                                      <p:to>
                                        <p:strVal val="visible"/>
                                      </p:to>
                                    </p:set>
                                  </p:childTnLst>
                                </p:cTn>
                              </p:par>
                              <p:par>
                                <p:cTn id="199" presetID="1" presetClass="exit" presetSubtype="0" fill="hold" grpId="1" nodeType="withEffect">
                                  <p:stCondLst>
                                    <p:cond delay="0"/>
                                  </p:stCondLst>
                                  <p:childTnLst>
                                    <p:set>
                                      <p:cBhvr>
                                        <p:cTn id="200" dur="1" fill="hold">
                                          <p:stCondLst>
                                            <p:cond delay="0"/>
                                          </p:stCondLst>
                                        </p:cTn>
                                        <p:tgtEl>
                                          <p:spTgt spid="81"/>
                                        </p:tgtEl>
                                        <p:attrNameLst>
                                          <p:attrName>style.visibility</p:attrName>
                                        </p:attrNameLst>
                                      </p:cBhvr>
                                      <p:to>
                                        <p:strVal val="hidden"/>
                                      </p:to>
                                    </p:set>
                                  </p:childTnLst>
                                </p:cTn>
                              </p:par>
                              <p:par>
                                <p:cTn id="201" presetID="1" presetClass="exit" presetSubtype="0" fill="hold" grpId="1" nodeType="withEffect">
                                  <p:stCondLst>
                                    <p:cond delay="0"/>
                                  </p:stCondLst>
                                  <p:childTnLst>
                                    <p:set>
                                      <p:cBhvr>
                                        <p:cTn id="202" dur="1" fill="hold">
                                          <p:stCondLst>
                                            <p:cond delay="0"/>
                                          </p:stCondLst>
                                        </p:cTn>
                                        <p:tgtEl>
                                          <p:spTgt spid="82"/>
                                        </p:tgtEl>
                                        <p:attrNameLst>
                                          <p:attrName>style.visibility</p:attrName>
                                        </p:attrNameLst>
                                      </p:cBhvr>
                                      <p:to>
                                        <p:strVal val="hidden"/>
                                      </p:to>
                                    </p:set>
                                  </p:childTnLst>
                                </p:cTn>
                              </p:par>
                              <p:par>
                                <p:cTn id="203" presetID="1" presetClass="exit" presetSubtype="0" fill="hold" grpId="1" nodeType="withEffect">
                                  <p:stCondLst>
                                    <p:cond delay="0"/>
                                  </p:stCondLst>
                                  <p:childTnLst>
                                    <p:set>
                                      <p:cBhvr>
                                        <p:cTn id="204" dur="1" fill="hold">
                                          <p:stCondLst>
                                            <p:cond delay="0"/>
                                          </p:stCondLst>
                                        </p:cTn>
                                        <p:tgtEl>
                                          <p:spTgt spid="83"/>
                                        </p:tgtEl>
                                        <p:attrNameLst>
                                          <p:attrName>style.visibility</p:attrName>
                                        </p:attrNameLst>
                                      </p:cBhvr>
                                      <p:to>
                                        <p:strVal val="hidden"/>
                                      </p:to>
                                    </p:set>
                                  </p:childTnLst>
                                </p:cTn>
                              </p:par>
                              <p:par>
                                <p:cTn id="205" presetID="1" presetClass="exit" presetSubtype="0" fill="hold" grpId="1" nodeType="withEffect">
                                  <p:stCondLst>
                                    <p:cond delay="0"/>
                                  </p:stCondLst>
                                  <p:childTnLst>
                                    <p:set>
                                      <p:cBhvr>
                                        <p:cTn id="206" dur="1" fill="hold">
                                          <p:stCondLst>
                                            <p:cond delay="0"/>
                                          </p:stCondLst>
                                        </p:cTn>
                                        <p:tgtEl>
                                          <p:spTgt spid="75"/>
                                        </p:tgtEl>
                                        <p:attrNameLst>
                                          <p:attrName>style.visibility</p:attrName>
                                        </p:attrNameLst>
                                      </p:cBhvr>
                                      <p:to>
                                        <p:strVal val="hidden"/>
                                      </p:to>
                                    </p:set>
                                  </p:childTnLst>
                                </p:cTn>
                              </p:par>
                              <p:par>
                                <p:cTn id="207" presetID="1" presetClass="exit" presetSubtype="0" fill="hold" nodeType="withEffect">
                                  <p:stCondLst>
                                    <p:cond delay="0"/>
                                  </p:stCondLst>
                                  <p:childTnLst>
                                    <p:set>
                                      <p:cBhvr>
                                        <p:cTn id="208" dur="1" fill="hold">
                                          <p:stCondLst>
                                            <p:cond delay="0"/>
                                          </p:stCondLst>
                                        </p:cTn>
                                        <p:tgtEl>
                                          <p:spTgt spid="76"/>
                                        </p:tgtEl>
                                        <p:attrNameLst>
                                          <p:attrName>style.visibility</p:attrName>
                                        </p:attrNameLst>
                                      </p:cBhvr>
                                      <p:to>
                                        <p:strVal val="hidden"/>
                                      </p:to>
                                    </p:set>
                                  </p:childTnLst>
                                </p:cTn>
                              </p:par>
                              <p:par>
                                <p:cTn id="209" presetID="1" presetClass="exit" presetSubtype="0" fill="hold" grpId="1" nodeType="withEffect">
                                  <p:stCondLst>
                                    <p:cond delay="0"/>
                                  </p:stCondLst>
                                  <p:childTnLst>
                                    <p:set>
                                      <p:cBhvr>
                                        <p:cTn id="210" dur="1" fill="hold">
                                          <p:stCondLst>
                                            <p:cond delay="0"/>
                                          </p:stCondLst>
                                        </p:cTn>
                                        <p:tgtEl>
                                          <p:spTgt spid="74"/>
                                        </p:tgtEl>
                                        <p:attrNameLst>
                                          <p:attrName>style.visibility</p:attrName>
                                        </p:attrNameLst>
                                      </p:cBhvr>
                                      <p:to>
                                        <p:strVal val="hidden"/>
                                      </p:to>
                                    </p:set>
                                  </p:childTnLst>
                                </p:cTn>
                              </p:par>
                              <p:par>
                                <p:cTn id="211" presetID="1" presetClass="exit" presetSubtype="0" fill="hold" nodeType="withEffect">
                                  <p:stCondLst>
                                    <p:cond delay="0"/>
                                  </p:stCondLst>
                                  <p:childTnLst>
                                    <p:set>
                                      <p:cBhvr>
                                        <p:cTn id="212" dur="1" fill="hold">
                                          <p:stCondLst>
                                            <p:cond delay="0"/>
                                          </p:stCondLst>
                                        </p:cTn>
                                        <p:tgtEl>
                                          <p:spTgt spid="64"/>
                                        </p:tgtEl>
                                        <p:attrNameLst>
                                          <p:attrName>style.visibility</p:attrName>
                                        </p:attrNameLst>
                                      </p:cBhvr>
                                      <p:to>
                                        <p:strVal val="hidden"/>
                                      </p:to>
                                    </p:set>
                                  </p:childTnLst>
                                </p:cTn>
                              </p:par>
                            </p:childTnLst>
                          </p:cTn>
                        </p:par>
                      </p:childTnLst>
                    </p:cTn>
                  </p:par>
                  <p:par>
                    <p:cTn id="213" fill="hold">
                      <p:stCondLst>
                        <p:cond delay="indefinite"/>
                      </p:stCondLst>
                      <p:childTnLst>
                        <p:par>
                          <p:cTn id="214" fill="hold">
                            <p:stCondLst>
                              <p:cond delay="0"/>
                            </p:stCondLst>
                            <p:childTnLst>
                              <p:par>
                                <p:cTn id="215" presetID="1" presetClass="emph" presetSubtype="2" fill="hold" nodeType="clickEffect">
                                  <p:stCondLst>
                                    <p:cond delay="0"/>
                                  </p:stCondLst>
                                  <p:childTnLst>
                                    <p:animClr clrSpc="rgb" dir="cw">
                                      <p:cBhvr>
                                        <p:cTn id="216" dur="2000" fill="hold"/>
                                        <p:tgtEl>
                                          <p:spTgt spid="16"/>
                                        </p:tgtEl>
                                        <p:attrNameLst>
                                          <p:attrName>fillcolor</p:attrName>
                                        </p:attrNameLst>
                                      </p:cBhvr>
                                      <p:to>
                                        <a:srgbClr val="DE580E"/>
                                      </p:to>
                                    </p:animClr>
                                    <p:set>
                                      <p:cBhvr>
                                        <p:cTn id="217" dur="2000" fill="hold"/>
                                        <p:tgtEl>
                                          <p:spTgt spid="16"/>
                                        </p:tgtEl>
                                        <p:attrNameLst>
                                          <p:attrName>fill.type</p:attrName>
                                        </p:attrNameLst>
                                      </p:cBhvr>
                                      <p:to>
                                        <p:strVal val="solid"/>
                                      </p:to>
                                    </p:set>
                                    <p:set>
                                      <p:cBhvr>
                                        <p:cTn id="218" dur="2000" fill="hold"/>
                                        <p:tgtEl>
                                          <p:spTgt spid="16"/>
                                        </p:tgtEl>
                                        <p:attrNameLst>
                                          <p:attrName>fill.on</p:attrName>
                                        </p:attrNameLst>
                                      </p:cBhvr>
                                      <p:to>
                                        <p:strVal val="true"/>
                                      </p:to>
                                    </p:set>
                                  </p:childTnLst>
                                </p:cTn>
                              </p:par>
                            </p:childTnLst>
                          </p:cTn>
                        </p:par>
                      </p:childTnLst>
                    </p:cTn>
                  </p:par>
                  <p:par>
                    <p:cTn id="219" fill="hold">
                      <p:stCondLst>
                        <p:cond delay="indefinite"/>
                      </p:stCondLst>
                      <p:childTnLst>
                        <p:par>
                          <p:cTn id="220" fill="hold">
                            <p:stCondLst>
                              <p:cond delay="0"/>
                            </p:stCondLst>
                            <p:childTnLst>
                              <p:par>
                                <p:cTn id="221" presetID="1" presetClass="emph" presetSubtype="2" fill="hold" nodeType="clickEffect">
                                  <p:stCondLst>
                                    <p:cond delay="0"/>
                                  </p:stCondLst>
                                  <p:childTnLst>
                                    <p:animClr clrSpc="rgb" dir="cw">
                                      <p:cBhvr>
                                        <p:cTn id="222" dur="2000" fill="hold"/>
                                        <p:tgtEl>
                                          <p:spTgt spid="19"/>
                                        </p:tgtEl>
                                        <p:attrNameLst>
                                          <p:attrName>fillcolor</p:attrName>
                                        </p:attrNameLst>
                                      </p:cBhvr>
                                      <p:to>
                                        <a:srgbClr val="DE580E"/>
                                      </p:to>
                                    </p:animClr>
                                    <p:set>
                                      <p:cBhvr>
                                        <p:cTn id="223" dur="2000" fill="hold"/>
                                        <p:tgtEl>
                                          <p:spTgt spid="19"/>
                                        </p:tgtEl>
                                        <p:attrNameLst>
                                          <p:attrName>fill.type</p:attrName>
                                        </p:attrNameLst>
                                      </p:cBhvr>
                                      <p:to>
                                        <p:strVal val="solid"/>
                                      </p:to>
                                    </p:set>
                                    <p:set>
                                      <p:cBhvr>
                                        <p:cTn id="224" dur="2000" fill="hold"/>
                                        <p:tgtEl>
                                          <p:spTgt spid="19"/>
                                        </p:tgtEl>
                                        <p:attrNameLst>
                                          <p:attrName>fill.on</p:attrName>
                                        </p:attrNameLst>
                                      </p:cBhvr>
                                      <p:to>
                                        <p:strVal val="true"/>
                                      </p:to>
                                    </p:set>
                                  </p:childTnLst>
                                </p:cTn>
                              </p:par>
                            </p:childTnLst>
                          </p:cTn>
                        </p:par>
                      </p:childTnLst>
                    </p:cTn>
                  </p:par>
                  <p:par>
                    <p:cTn id="225" fill="hold">
                      <p:stCondLst>
                        <p:cond delay="indefinite"/>
                      </p:stCondLst>
                      <p:childTnLst>
                        <p:par>
                          <p:cTn id="226" fill="hold">
                            <p:stCondLst>
                              <p:cond delay="0"/>
                            </p:stCondLst>
                            <p:childTnLst>
                              <p:par>
                                <p:cTn id="227" presetID="1" presetClass="entr" presetSubtype="0" fill="hold" grpId="0" nodeType="clickEffect">
                                  <p:stCondLst>
                                    <p:cond delay="0"/>
                                  </p:stCondLst>
                                  <p:childTnLst>
                                    <p:set>
                                      <p:cBhvr>
                                        <p:cTn id="228" dur="1" fill="hold">
                                          <p:stCondLst>
                                            <p:cond delay="0"/>
                                          </p:stCondLst>
                                        </p:cTn>
                                        <p:tgtEl>
                                          <p:spTgt spid="106"/>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105"/>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07"/>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xit" presetSubtype="0" fill="hold" grpId="0" nodeType="clickEffect">
                                  <p:stCondLst>
                                    <p:cond delay="0"/>
                                  </p:stCondLst>
                                  <p:childTnLst>
                                    <p:set>
                                      <p:cBhvr>
                                        <p:cTn id="238" dur="1" fill="hold">
                                          <p:stCondLst>
                                            <p:cond delay="0"/>
                                          </p:stCondLst>
                                        </p:cTn>
                                        <p:tgtEl>
                                          <p:spTgt spid="16"/>
                                        </p:tgtEl>
                                        <p:attrNameLst>
                                          <p:attrName>style.visibility</p:attrName>
                                        </p:attrNameLst>
                                      </p:cBhvr>
                                      <p:to>
                                        <p:strVal val="hidden"/>
                                      </p:to>
                                    </p:set>
                                  </p:childTnLst>
                                </p:cTn>
                              </p:par>
                              <p:par>
                                <p:cTn id="239" presetID="1" presetClass="exit" presetSubtype="0" fill="hold" grpId="0" nodeType="withEffect">
                                  <p:stCondLst>
                                    <p:cond delay="0"/>
                                  </p:stCondLst>
                                  <p:childTnLst>
                                    <p:set>
                                      <p:cBhvr>
                                        <p:cTn id="240" dur="1" fill="hold">
                                          <p:stCondLst>
                                            <p:cond delay="0"/>
                                          </p:stCondLst>
                                        </p:cTn>
                                        <p:tgtEl>
                                          <p:spTgt spid="19"/>
                                        </p:tgtEl>
                                        <p:attrNameLst>
                                          <p:attrName>style.visibility</p:attrName>
                                        </p:attrNameLst>
                                      </p:cBhvr>
                                      <p:to>
                                        <p:strVal val="hidden"/>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grpId="0" nodeType="clickEffect">
                                  <p:stCondLst>
                                    <p:cond delay="0"/>
                                  </p:stCondLst>
                                  <p:childTnLst>
                                    <p:set>
                                      <p:cBhvr>
                                        <p:cTn id="244" dur="1" fill="hold">
                                          <p:stCondLst>
                                            <p:cond delay="0"/>
                                          </p:stCondLst>
                                        </p:cTn>
                                        <p:tgtEl>
                                          <p:spTgt spid="111"/>
                                        </p:tgtEl>
                                        <p:attrNameLst>
                                          <p:attrName>style.visibility</p:attrName>
                                        </p:attrNameLst>
                                      </p:cBhvr>
                                      <p:to>
                                        <p:strVal val="visible"/>
                                      </p:to>
                                    </p:set>
                                  </p:childTnLst>
                                </p:cTn>
                              </p:par>
                              <p:par>
                                <p:cTn id="245" presetID="1" presetClass="entr" presetSubtype="0" fill="hold" nodeType="withEffect">
                                  <p:stCondLst>
                                    <p:cond delay="0"/>
                                  </p:stCondLst>
                                  <p:childTnLst>
                                    <p:set>
                                      <p:cBhvr>
                                        <p:cTn id="246" dur="1" fill="hold">
                                          <p:stCondLst>
                                            <p:cond delay="0"/>
                                          </p:stCondLst>
                                        </p:cTn>
                                        <p:tgtEl>
                                          <p:spTgt spid="112"/>
                                        </p:tgtEl>
                                        <p:attrNameLst>
                                          <p:attrName>style.visibility</p:attrName>
                                        </p:attrNameLst>
                                      </p:cBhvr>
                                      <p:to>
                                        <p:strVal val="visible"/>
                                      </p:to>
                                    </p:set>
                                  </p:childTnLst>
                                </p:cTn>
                              </p:par>
                              <p:par>
                                <p:cTn id="247" presetID="1" presetClass="exit" presetSubtype="0" fill="hold" nodeType="withEffect">
                                  <p:stCondLst>
                                    <p:cond delay="0"/>
                                  </p:stCondLst>
                                  <p:childTnLst>
                                    <p:set>
                                      <p:cBhvr>
                                        <p:cTn id="248" dur="1" fill="hold">
                                          <p:stCondLst>
                                            <p:cond delay="0"/>
                                          </p:stCondLst>
                                        </p:cTn>
                                        <p:tgtEl>
                                          <p:spTgt spid="107"/>
                                        </p:tgtEl>
                                        <p:attrNameLst>
                                          <p:attrName>style.visibility</p:attrName>
                                        </p:attrNameLst>
                                      </p:cBhvr>
                                      <p:to>
                                        <p:strVal val="hidden"/>
                                      </p:to>
                                    </p:set>
                                  </p:childTnLst>
                                </p:cTn>
                              </p:par>
                              <p:par>
                                <p:cTn id="249" presetID="1" presetClass="exit" presetSubtype="0" fill="hold" grpId="1" nodeType="withEffect">
                                  <p:stCondLst>
                                    <p:cond delay="0"/>
                                  </p:stCondLst>
                                  <p:childTnLst>
                                    <p:set>
                                      <p:cBhvr>
                                        <p:cTn id="250" dur="1" fill="hold">
                                          <p:stCondLst>
                                            <p:cond delay="0"/>
                                          </p:stCondLst>
                                        </p:cTn>
                                        <p:tgtEl>
                                          <p:spTgt spid="105"/>
                                        </p:tgtEl>
                                        <p:attrNameLst>
                                          <p:attrName>style.visibility</p:attrName>
                                        </p:attrNameLst>
                                      </p:cBhvr>
                                      <p:to>
                                        <p:strVal val="hidden"/>
                                      </p:to>
                                    </p:set>
                                  </p:childTnLst>
                                </p:cTn>
                              </p:par>
                              <p:par>
                                <p:cTn id="251" presetID="1" presetClass="exit" presetSubtype="0" fill="hold" grpId="1" nodeType="withEffect">
                                  <p:stCondLst>
                                    <p:cond delay="0"/>
                                  </p:stCondLst>
                                  <p:childTnLst>
                                    <p:set>
                                      <p:cBhvr>
                                        <p:cTn id="252" dur="1" fill="hold">
                                          <p:stCondLst>
                                            <p:cond delay="0"/>
                                          </p:stCondLst>
                                        </p:cTn>
                                        <p:tgtEl>
                                          <p:spTgt spid="106"/>
                                        </p:tgtEl>
                                        <p:attrNameLst>
                                          <p:attrName>style.visibility</p:attrName>
                                        </p:attrNameLst>
                                      </p:cBhvr>
                                      <p:to>
                                        <p:strVal val="hidden"/>
                                      </p:to>
                                    </p:set>
                                  </p:childTnLst>
                                </p:cTn>
                              </p:par>
                            </p:childTnLst>
                          </p:cTn>
                        </p:par>
                      </p:childTnLst>
                    </p:cTn>
                  </p:par>
                  <p:par>
                    <p:cTn id="253" fill="hold">
                      <p:stCondLst>
                        <p:cond delay="indefinite"/>
                      </p:stCondLst>
                      <p:childTnLst>
                        <p:par>
                          <p:cTn id="254" fill="hold">
                            <p:stCondLst>
                              <p:cond delay="0"/>
                            </p:stCondLst>
                            <p:childTnLst>
                              <p:par>
                                <p:cTn id="255" presetID="1" presetClass="emph" presetSubtype="2" fill="hold" nodeType="clickEffect">
                                  <p:stCondLst>
                                    <p:cond delay="0"/>
                                  </p:stCondLst>
                                  <p:childTnLst>
                                    <p:animClr clrSpc="rgb" dir="cw">
                                      <p:cBhvr>
                                        <p:cTn id="256" dur="2000" fill="hold"/>
                                        <p:tgtEl>
                                          <p:spTgt spid="84"/>
                                        </p:tgtEl>
                                        <p:attrNameLst>
                                          <p:attrName>fillcolor</p:attrName>
                                        </p:attrNameLst>
                                      </p:cBhvr>
                                      <p:to>
                                        <a:srgbClr val="DE580E"/>
                                      </p:to>
                                    </p:animClr>
                                    <p:set>
                                      <p:cBhvr>
                                        <p:cTn id="257" dur="2000" fill="hold"/>
                                        <p:tgtEl>
                                          <p:spTgt spid="84"/>
                                        </p:tgtEl>
                                        <p:attrNameLst>
                                          <p:attrName>fill.type</p:attrName>
                                        </p:attrNameLst>
                                      </p:cBhvr>
                                      <p:to>
                                        <p:strVal val="solid"/>
                                      </p:to>
                                    </p:set>
                                    <p:set>
                                      <p:cBhvr>
                                        <p:cTn id="258" dur="2000" fill="hold"/>
                                        <p:tgtEl>
                                          <p:spTgt spid="84"/>
                                        </p:tgtEl>
                                        <p:attrNameLst>
                                          <p:attrName>fill.on</p:attrName>
                                        </p:attrNameLst>
                                      </p:cBhvr>
                                      <p:to>
                                        <p:strVal val="true"/>
                                      </p:to>
                                    </p:set>
                                  </p:childTnLst>
                                </p:cTn>
                              </p:par>
                            </p:childTnLst>
                          </p:cTn>
                        </p:par>
                      </p:childTnLst>
                    </p:cTn>
                  </p:par>
                  <p:par>
                    <p:cTn id="259" fill="hold">
                      <p:stCondLst>
                        <p:cond delay="indefinite"/>
                      </p:stCondLst>
                      <p:childTnLst>
                        <p:par>
                          <p:cTn id="260" fill="hold">
                            <p:stCondLst>
                              <p:cond delay="0"/>
                            </p:stCondLst>
                            <p:childTnLst>
                              <p:par>
                                <p:cTn id="261" presetID="1" presetClass="emph" presetSubtype="2" fill="hold" nodeType="clickEffect">
                                  <p:stCondLst>
                                    <p:cond delay="0"/>
                                  </p:stCondLst>
                                  <p:childTnLst>
                                    <p:animClr clrSpc="rgb" dir="cw">
                                      <p:cBhvr>
                                        <p:cTn id="262" dur="2000" fill="hold"/>
                                        <p:tgtEl>
                                          <p:spTgt spid="15"/>
                                        </p:tgtEl>
                                        <p:attrNameLst>
                                          <p:attrName>fillcolor</p:attrName>
                                        </p:attrNameLst>
                                      </p:cBhvr>
                                      <p:to>
                                        <a:srgbClr val="DE580E"/>
                                      </p:to>
                                    </p:animClr>
                                    <p:set>
                                      <p:cBhvr>
                                        <p:cTn id="263" dur="2000" fill="hold"/>
                                        <p:tgtEl>
                                          <p:spTgt spid="15"/>
                                        </p:tgtEl>
                                        <p:attrNameLst>
                                          <p:attrName>fill.type</p:attrName>
                                        </p:attrNameLst>
                                      </p:cBhvr>
                                      <p:to>
                                        <p:strVal val="solid"/>
                                      </p:to>
                                    </p:set>
                                    <p:set>
                                      <p:cBhvr>
                                        <p:cTn id="264" dur="2000" fill="hold"/>
                                        <p:tgtEl>
                                          <p:spTgt spid="15"/>
                                        </p:tgtEl>
                                        <p:attrNameLst>
                                          <p:attrName>fill.on</p:attrName>
                                        </p:attrNameLst>
                                      </p:cBhvr>
                                      <p:to>
                                        <p:strVal val="true"/>
                                      </p:to>
                                    </p:set>
                                  </p:childTnLst>
                                </p:cTn>
                              </p:par>
                            </p:childTnLst>
                          </p:cTn>
                        </p:par>
                      </p:childTnLst>
                    </p:cTn>
                  </p:par>
                  <p:par>
                    <p:cTn id="265" fill="hold">
                      <p:stCondLst>
                        <p:cond delay="indefinite"/>
                      </p:stCondLst>
                      <p:childTnLst>
                        <p:par>
                          <p:cTn id="266" fill="hold">
                            <p:stCondLst>
                              <p:cond delay="0"/>
                            </p:stCondLst>
                            <p:childTnLst>
                              <p:par>
                                <p:cTn id="267" presetID="1" presetClass="entr" presetSubtype="0" fill="hold" grpId="0" nodeType="clickEffect">
                                  <p:stCondLst>
                                    <p:cond delay="0"/>
                                  </p:stCondLst>
                                  <p:childTnLst>
                                    <p:set>
                                      <p:cBhvr>
                                        <p:cTn id="268" dur="1" fill="hold">
                                          <p:stCondLst>
                                            <p:cond delay="0"/>
                                          </p:stCondLst>
                                        </p:cTn>
                                        <p:tgtEl>
                                          <p:spTgt spid="139"/>
                                        </p:tgtEl>
                                        <p:attrNameLst>
                                          <p:attrName>style.visibility</p:attrName>
                                        </p:attrNameLst>
                                      </p:cBhvr>
                                      <p:to>
                                        <p:strVal val="visible"/>
                                      </p:to>
                                    </p:set>
                                  </p:childTnLst>
                                </p:cTn>
                              </p:par>
                              <p:par>
                                <p:cTn id="269" presetID="1" presetClass="entr" presetSubtype="0" fill="hold" nodeType="withEffect">
                                  <p:stCondLst>
                                    <p:cond delay="0"/>
                                  </p:stCondLst>
                                  <p:childTnLst>
                                    <p:set>
                                      <p:cBhvr>
                                        <p:cTn id="270" dur="1" fill="hold">
                                          <p:stCondLst>
                                            <p:cond delay="0"/>
                                          </p:stCondLst>
                                        </p:cTn>
                                        <p:tgtEl>
                                          <p:spTgt spid="117"/>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nodeType="clickEffect">
                                  <p:stCondLst>
                                    <p:cond delay="0"/>
                                  </p:stCondLst>
                                  <p:childTnLst>
                                    <p:set>
                                      <p:cBhvr>
                                        <p:cTn id="274" dur="1" fill="hold">
                                          <p:stCondLst>
                                            <p:cond delay="0"/>
                                          </p:stCondLst>
                                        </p:cTn>
                                        <p:tgtEl>
                                          <p:spTgt spid="140"/>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xit" presetSubtype="0" fill="hold" grpId="1" nodeType="clickEffect">
                                  <p:stCondLst>
                                    <p:cond delay="0"/>
                                  </p:stCondLst>
                                  <p:childTnLst>
                                    <p:set>
                                      <p:cBhvr>
                                        <p:cTn id="278" dur="1" fill="hold">
                                          <p:stCondLst>
                                            <p:cond delay="0"/>
                                          </p:stCondLst>
                                        </p:cTn>
                                        <p:tgtEl>
                                          <p:spTgt spid="84"/>
                                        </p:tgtEl>
                                        <p:attrNameLst>
                                          <p:attrName>style.visibility</p:attrName>
                                        </p:attrNameLst>
                                      </p:cBhvr>
                                      <p:to>
                                        <p:strVal val="hidden"/>
                                      </p:to>
                                    </p:set>
                                  </p:childTnLst>
                                </p:cTn>
                              </p:par>
                              <p:par>
                                <p:cTn id="279" presetID="1" presetClass="exit" presetSubtype="0" fill="hold" nodeType="withEffect">
                                  <p:stCondLst>
                                    <p:cond delay="0"/>
                                  </p:stCondLst>
                                  <p:childTnLst>
                                    <p:set>
                                      <p:cBhvr>
                                        <p:cTn id="280" dur="1" fill="hold">
                                          <p:stCondLst>
                                            <p:cond delay="0"/>
                                          </p:stCondLst>
                                        </p:cTn>
                                        <p:tgtEl>
                                          <p:spTgt spid="85"/>
                                        </p:tgtEl>
                                        <p:attrNameLst>
                                          <p:attrName>style.visibility</p:attrName>
                                        </p:attrNameLst>
                                      </p:cBhvr>
                                      <p:to>
                                        <p:strVal val="hidden"/>
                                      </p:to>
                                    </p:set>
                                  </p:childTnLst>
                                </p:cTn>
                              </p:par>
                              <p:par>
                                <p:cTn id="281" presetID="1" presetClass="exit" presetSubtype="0" fill="hold" grpId="0" nodeType="withEffect">
                                  <p:stCondLst>
                                    <p:cond delay="0"/>
                                  </p:stCondLst>
                                  <p:childTnLst>
                                    <p:set>
                                      <p:cBhvr>
                                        <p:cTn id="282" dur="1" fill="hold">
                                          <p:stCondLst>
                                            <p:cond delay="0"/>
                                          </p:stCondLst>
                                        </p:cTn>
                                        <p:tgtEl>
                                          <p:spTgt spid="15"/>
                                        </p:tgtEl>
                                        <p:attrNameLst>
                                          <p:attrName>style.visibility</p:attrName>
                                        </p:attrNameLst>
                                      </p:cBhvr>
                                      <p:to>
                                        <p:strVal val="hidden"/>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grpId="0" nodeType="clickEffect">
                                  <p:stCondLst>
                                    <p:cond delay="0"/>
                                  </p:stCondLst>
                                  <p:childTnLst>
                                    <p:set>
                                      <p:cBhvr>
                                        <p:cTn id="286" dur="1" fill="hold">
                                          <p:stCondLst>
                                            <p:cond delay="0"/>
                                          </p:stCondLst>
                                        </p:cTn>
                                        <p:tgtEl>
                                          <p:spTgt spid="144"/>
                                        </p:tgtEl>
                                        <p:attrNameLst>
                                          <p:attrName>style.visibility</p:attrName>
                                        </p:attrNameLst>
                                      </p:cBhvr>
                                      <p:to>
                                        <p:strVal val="visible"/>
                                      </p:to>
                                    </p:set>
                                  </p:childTnLst>
                                </p:cTn>
                              </p:par>
                              <p:par>
                                <p:cTn id="287" presetID="1" presetClass="entr" presetSubtype="0" fill="hold" nodeType="withEffect">
                                  <p:stCondLst>
                                    <p:cond delay="0"/>
                                  </p:stCondLst>
                                  <p:childTnLst>
                                    <p:set>
                                      <p:cBhvr>
                                        <p:cTn id="288" dur="1" fill="hold">
                                          <p:stCondLst>
                                            <p:cond delay="0"/>
                                          </p:stCondLst>
                                        </p:cTn>
                                        <p:tgtEl>
                                          <p:spTgt spid="145"/>
                                        </p:tgtEl>
                                        <p:attrNameLst>
                                          <p:attrName>style.visibility</p:attrName>
                                        </p:attrNameLst>
                                      </p:cBhvr>
                                      <p:to>
                                        <p:strVal val="visible"/>
                                      </p:to>
                                    </p:set>
                                  </p:childTnLst>
                                </p:cTn>
                              </p:par>
                              <p:par>
                                <p:cTn id="289" presetID="1" presetClass="exit" presetSubtype="0" fill="hold" nodeType="withEffect">
                                  <p:stCondLst>
                                    <p:cond delay="0"/>
                                  </p:stCondLst>
                                  <p:childTnLst>
                                    <p:set>
                                      <p:cBhvr>
                                        <p:cTn id="290" dur="1" fill="hold">
                                          <p:stCondLst>
                                            <p:cond delay="0"/>
                                          </p:stCondLst>
                                        </p:cTn>
                                        <p:tgtEl>
                                          <p:spTgt spid="140"/>
                                        </p:tgtEl>
                                        <p:attrNameLst>
                                          <p:attrName>style.visibility</p:attrName>
                                        </p:attrNameLst>
                                      </p:cBhvr>
                                      <p:to>
                                        <p:strVal val="hidden"/>
                                      </p:to>
                                    </p:set>
                                  </p:childTnLst>
                                </p:cTn>
                              </p:par>
                              <p:par>
                                <p:cTn id="291" presetID="1" presetClass="exit" presetSubtype="0" fill="hold" grpId="1" nodeType="withEffect">
                                  <p:stCondLst>
                                    <p:cond delay="0"/>
                                  </p:stCondLst>
                                  <p:childTnLst>
                                    <p:set>
                                      <p:cBhvr>
                                        <p:cTn id="292" dur="1" fill="hold">
                                          <p:stCondLst>
                                            <p:cond delay="0"/>
                                          </p:stCondLst>
                                        </p:cTn>
                                        <p:tgtEl>
                                          <p:spTgt spid="139"/>
                                        </p:tgtEl>
                                        <p:attrNameLst>
                                          <p:attrName>style.visibility</p:attrName>
                                        </p:attrNameLst>
                                      </p:cBhvr>
                                      <p:to>
                                        <p:strVal val="hidden"/>
                                      </p:to>
                                    </p:set>
                                  </p:childTnLst>
                                </p:cTn>
                              </p:par>
                              <p:par>
                                <p:cTn id="293" presetID="1" presetClass="exit" presetSubtype="0" fill="hold" nodeType="withEffect">
                                  <p:stCondLst>
                                    <p:cond delay="0"/>
                                  </p:stCondLst>
                                  <p:childTnLst>
                                    <p:set>
                                      <p:cBhvr>
                                        <p:cTn id="294" dur="1" fill="hold">
                                          <p:stCondLst>
                                            <p:cond delay="0"/>
                                          </p:stCondLst>
                                        </p:cTn>
                                        <p:tgtEl>
                                          <p:spTgt spid="1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38" grpId="0" animBg="1"/>
      <p:bldP spid="38" grpId="1" animBg="1"/>
      <p:bldP spid="39" grpId="0" animBg="1"/>
      <p:bldP spid="39" grpId="1" animBg="1"/>
      <p:bldP spid="40" grpId="0" animBg="1"/>
      <p:bldP spid="40" grpId="1" animBg="1"/>
      <p:bldP spid="41" grpId="0" animBg="1"/>
      <p:bldP spid="41" grpId="1" animBg="1"/>
      <p:bldP spid="41" grpId="2" animBg="1"/>
      <p:bldP spid="41" grpId="3" animBg="1"/>
      <p:bldP spid="52" grpId="0" animBg="1"/>
      <p:bldP spid="52" grpId="1" animBg="1"/>
      <p:bldP spid="53" grpId="0" animBg="1"/>
      <p:bldP spid="53" grpId="1"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74" grpId="0" animBg="1"/>
      <p:bldP spid="74" grpId="1" animBg="1"/>
      <p:bldP spid="75" grpId="0" animBg="1"/>
      <p:bldP spid="75" grpId="1" animBg="1"/>
      <p:bldP spid="81" grpId="0" animBg="1"/>
      <p:bldP spid="81" grpId="1" animBg="1"/>
      <p:bldP spid="82" grpId="0" animBg="1"/>
      <p:bldP spid="82" grpId="1" animBg="1"/>
      <p:bldP spid="83" grpId="0" animBg="1"/>
      <p:bldP spid="83" grpId="1" animBg="1"/>
      <p:bldP spid="84" grpId="0" animBg="1"/>
      <p:bldP spid="84" grpId="1" animBg="1"/>
      <p:bldP spid="105" grpId="0" animBg="1"/>
      <p:bldP spid="105" grpId="1" animBg="1"/>
      <p:bldP spid="106" grpId="0" animBg="1"/>
      <p:bldP spid="106" grpId="1" animBg="1"/>
      <p:bldP spid="111" grpId="0" animBg="1"/>
      <p:bldP spid="139" grpId="0" animBg="1"/>
      <p:bldP spid="139" grpId="1" animBg="1"/>
      <p:bldP spid="144"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3" name="Group 2"/>
          <p:cNvGrpSpPr>
            <a:grpSpLocks/>
          </p:cNvGrpSpPr>
          <p:nvPr/>
        </p:nvGrpSpPr>
        <p:grpSpPr bwMode="auto">
          <a:xfrm>
            <a:off x="3467894" y="2217909"/>
            <a:ext cx="1657350" cy="1655762"/>
            <a:chOff x="1383" y="1071"/>
            <a:chExt cx="1044" cy="1043"/>
          </a:xfrm>
        </p:grpSpPr>
        <p:sp>
          <p:nvSpPr>
            <p:cNvPr id="174" name="Oval 3"/>
            <p:cNvSpPr>
              <a:spLocks noChangeArrowheads="1"/>
            </p:cNvSpPr>
            <p:nvPr/>
          </p:nvSpPr>
          <p:spPr bwMode="auto">
            <a:xfrm>
              <a:off x="1746" y="1071"/>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40</a:t>
              </a:r>
            </a:p>
          </p:txBody>
        </p:sp>
        <p:grpSp>
          <p:nvGrpSpPr>
            <p:cNvPr id="175" name="Group 4"/>
            <p:cNvGrpSpPr>
              <a:grpSpLocks/>
            </p:cNvGrpSpPr>
            <p:nvPr/>
          </p:nvGrpSpPr>
          <p:grpSpPr bwMode="auto">
            <a:xfrm>
              <a:off x="1383" y="1388"/>
              <a:ext cx="1044" cy="726"/>
              <a:chOff x="521" y="527"/>
              <a:chExt cx="1044" cy="726"/>
            </a:xfrm>
          </p:grpSpPr>
          <p:sp>
            <p:nvSpPr>
              <p:cNvPr id="176" name="Oval 5"/>
              <p:cNvSpPr>
                <a:spLocks noChangeArrowheads="1"/>
              </p:cNvSpPr>
              <p:nvPr/>
            </p:nvSpPr>
            <p:spPr bwMode="auto">
              <a:xfrm>
                <a:off x="1202"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21</a:t>
                </a:r>
              </a:p>
            </p:txBody>
          </p:sp>
          <p:sp>
            <p:nvSpPr>
              <p:cNvPr id="177" name="Oval 6"/>
              <p:cNvSpPr>
                <a:spLocks noChangeArrowheads="1"/>
              </p:cNvSpPr>
              <p:nvPr/>
            </p:nvSpPr>
            <p:spPr bwMode="auto">
              <a:xfrm>
                <a:off x="521"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19</a:t>
                </a:r>
              </a:p>
            </p:txBody>
          </p:sp>
          <p:sp>
            <p:nvSpPr>
              <p:cNvPr id="178" name="Line 7"/>
              <p:cNvSpPr>
                <a:spLocks noChangeShapeType="1"/>
              </p:cNvSpPr>
              <p:nvPr/>
            </p:nvSpPr>
            <p:spPr bwMode="auto">
              <a:xfrm flipH="1">
                <a:off x="703" y="527"/>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79" name="Line 8"/>
              <p:cNvSpPr>
                <a:spLocks noChangeShapeType="1"/>
              </p:cNvSpPr>
              <p:nvPr/>
            </p:nvSpPr>
            <p:spPr bwMode="auto">
              <a:xfrm>
                <a:off x="1202" y="527"/>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grpSp>
        <p:nvGrpSpPr>
          <p:cNvPr id="180" name="Group 9"/>
          <p:cNvGrpSpPr>
            <a:grpSpLocks/>
          </p:cNvGrpSpPr>
          <p:nvPr/>
        </p:nvGrpSpPr>
        <p:grpSpPr bwMode="auto">
          <a:xfrm>
            <a:off x="4147038" y="2048971"/>
            <a:ext cx="4248150" cy="4537075"/>
            <a:chOff x="1792" y="1071"/>
            <a:chExt cx="2676" cy="2858"/>
          </a:xfrm>
        </p:grpSpPr>
        <p:sp>
          <p:nvSpPr>
            <p:cNvPr id="181" name="Oval 10"/>
            <p:cNvSpPr>
              <a:spLocks noChangeArrowheads="1"/>
            </p:cNvSpPr>
            <p:nvPr/>
          </p:nvSpPr>
          <p:spPr bwMode="auto">
            <a:xfrm>
              <a:off x="3652" y="1071"/>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60</a:t>
              </a:r>
            </a:p>
          </p:txBody>
        </p:sp>
        <p:grpSp>
          <p:nvGrpSpPr>
            <p:cNvPr id="182" name="Group 11"/>
            <p:cNvGrpSpPr>
              <a:grpSpLocks/>
            </p:cNvGrpSpPr>
            <p:nvPr/>
          </p:nvGrpSpPr>
          <p:grpSpPr bwMode="auto">
            <a:xfrm>
              <a:off x="1792" y="1343"/>
              <a:ext cx="2676" cy="2586"/>
              <a:chOff x="1020" y="1162"/>
              <a:chExt cx="2676" cy="2586"/>
            </a:xfrm>
          </p:grpSpPr>
          <p:sp>
            <p:nvSpPr>
              <p:cNvPr id="183" name="Oval 12"/>
              <p:cNvSpPr>
                <a:spLocks noChangeArrowheads="1"/>
              </p:cNvSpPr>
              <p:nvPr/>
            </p:nvSpPr>
            <p:spPr bwMode="auto">
              <a:xfrm>
                <a:off x="3333" y="1525"/>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32</a:t>
                </a:r>
              </a:p>
            </p:txBody>
          </p:sp>
          <p:grpSp>
            <p:nvGrpSpPr>
              <p:cNvPr id="184" name="Group 13"/>
              <p:cNvGrpSpPr>
                <a:grpSpLocks/>
              </p:cNvGrpSpPr>
              <p:nvPr/>
            </p:nvGrpSpPr>
            <p:grpSpPr bwMode="auto">
              <a:xfrm>
                <a:off x="1020" y="1162"/>
                <a:ext cx="2585" cy="2586"/>
                <a:chOff x="1020" y="1162"/>
                <a:chExt cx="2585" cy="2586"/>
              </a:xfrm>
            </p:grpSpPr>
            <p:grpSp>
              <p:nvGrpSpPr>
                <p:cNvPr id="185" name="Group 14"/>
                <p:cNvGrpSpPr>
                  <a:grpSpLocks/>
                </p:cNvGrpSpPr>
                <p:nvPr/>
              </p:nvGrpSpPr>
              <p:grpSpPr bwMode="auto">
                <a:xfrm>
                  <a:off x="1020" y="1525"/>
                  <a:ext cx="2585" cy="2223"/>
                  <a:chOff x="1020" y="1525"/>
                  <a:chExt cx="2585" cy="2223"/>
                </a:xfrm>
              </p:grpSpPr>
              <p:sp>
                <p:nvSpPr>
                  <p:cNvPr id="188" name="Oval 15"/>
                  <p:cNvSpPr>
                    <a:spLocks noChangeArrowheads="1"/>
                  </p:cNvSpPr>
                  <p:nvPr/>
                </p:nvSpPr>
                <p:spPr bwMode="auto">
                  <a:xfrm>
                    <a:off x="2381" y="1525"/>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dirty="0">
                        <a:latin typeface="Comic Sans MS" pitchFamily="66" charset="0"/>
                      </a:rPr>
                      <a:t>28</a:t>
                    </a:r>
                  </a:p>
                </p:txBody>
              </p:sp>
              <p:grpSp>
                <p:nvGrpSpPr>
                  <p:cNvPr id="189" name="Group 16"/>
                  <p:cNvGrpSpPr>
                    <a:grpSpLocks/>
                  </p:cNvGrpSpPr>
                  <p:nvPr/>
                </p:nvGrpSpPr>
                <p:grpSpPr bwMode="auto">
                  <a:xfrm>
                    <a:off x="1020" y="1752"/>
                    <a:ext cx="2585" cy="1996"/>
                    <a:chOff x="1021" y="437"/>
                    <a:chExt cx="2585" cy="1996"/>
                  </a:xfrm>
                </p:grpSpPr>
                <p:grpSp>
                  <p:nvGrpSpPr>
                    <p:cNvPr id="190" name="Group 17"/>
                    <p:cNvGrpSpPr>
                      <a:grpSpLocks/>
                    </p:cNvGrpSpPr>
                    <p:nvPr/>
                  </p:nvGrpSpPr>
                  <p:grpSpPr bwMode="auto">
                    <a:xfrm>
                      <a:off x="1021" y="1027"/>
                      <a:ext cx="1406" cy="1406"/>
                      <a:chOff x="3606" y="2296"/>
                      <a:chExt cx="1406" cy="1406"/>
                    </a:xfrm>
                  </p:grpSpPr>
                  <p:grpSp>
                    <p:nvGrpSpPr>
                      <p:cNvPr id="200" name="Group 18"/>
                      <p:cNvGrpSpPr>
                        <a:grpSpLocks/>
                      </p:cNvGrpSpPr>
                      <p:nvPr/>
                    </p:nvGrpSpPr>
                    <p:grpSpPr bwMode="auto">
                      <a:xfrm>
                        <a:off x="3606" y="2659"/>
                        <a:ext cx="1044" cy="1043"/>
                        <a:chOff x="2018" y="2523"/>
                        <a:chExt cx="1044" cy="1043"/>
                      </a:xfrm>
                    </p:grpSpPr>
                    <p:sp>
                      <p:nvSpPr>
                        <p:cNvPr id="204" name="Oval 19"/>
                        <p:cNvSpPr>
                          <a:spLocks noChangeArrowheads="1"/>
                        </p:cNvSpPr>
                        <p:nvPr/>
                      </p:nvSpPr>
                      <p:spPr bwMode="auto">
                        <a:xfrm>
                          <a:off x="2699"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a:t>
                          </a:r>
                        </a:p>
                      </p:txBody>
                    </p:sp>
                    <p:sp>
                      <p:nvSpPr>
                        <p:cNvPr id="205" name="Oval 20"/>
                        <p:cNvSpPr>
                          <a:spLocks noChangeArrowheads="1"/>
                        </p:cNvSpPr>
                        <p:nvPr/>
                      </p:nvSpPr>
                      <p:spPr bwMode="auto">
                        <a:xfrm>
                          <a:off x="2018"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a:t>
                          </a:r>
                        </a:p>
                      </p:txBody>
                    </p:sp>
                    <p:sp>
                      <p:nvSpPr>
                        <p:cNvPr id="206" name="Oval 21"/>
                        <p:cNvSpPr>
                          <a:spLocks noChangeArrowheads="1"/>
                        </p:cNvSpPr>
                        <p:nvPr/>
                      </p:nvSpPr>
                      <p:spPr bwMode="auto">
                        <a:xfrm>
                          <a:off x="2381" y="252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5</a:t>
                          </a:r>
                        </a:p>
                      </p:txBody>
                    </p:sp>
                    <p:sp>
                      <p:nvSpPr>
                        <p:cNvPr id="207" name="Line 22"/>
                        <p:cNvSpPr>
                          <a:spLocks noChangeShapeType="1"/>
                        </p:cNvSpPr>
                        <p:nvPr/>
                      </p:nvSpPr>
                      <p:spPr bwMode="auto">
                        <a:xfrm flipH="1">
                          <a:off x="2200" y="2840"/>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8" name="Line 23"/>
                        <p:cNvSpPr>
                          <a:spLocks noChangeShapeType="1"/>
                        </p:cNvSpPr>
                        <p:nvPr/>
                      </p:nvSpPr>
                      <p:spPr bwMode="auto">
                        <a:xfrm>
                          <a:off x="2699" y="2840"/>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201" name="Oval 24"/>
                      <p:cNvSpPr>
                        <a:spLocks noChangeArrowheads="1"/>
                      </p:cNvSpPr>
                      <p:nvPr/>
                    </p:nvSpPr>
                    <p:spPr bwMode="auto">
                      <a:xfrm>
                        <a:off x="4649" y="265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a:t>
                        </a:r>
                      </a:p>
                    </p:txBody>
                  </p:sp>
                  <p:sp>
                    <p:nvSpPr>
                      <p:cNvPr id="202" name="Line 25"/>
                      <p:cNvSpPr>
                        <a:spLocks noChangeShapeType="1"/>
                      </p:cNvSpPr>
                      <p:nvPr/>
                    </p:nvSpPr>
                    <p:spPr bwMode="auto">
                      <a:xfrm flipH="1">
                        <a:off x="4150" y="2296"/>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3" name="Line 26"/>
                      <p:cNvSpPr>
                        <a:spLocks noChangeShapeType="1"/>
                      </p:cNvSpPr>
                      <p:nvPr/>
                    </p:nvSpPr>
                    <p:spPr bwMode="auto">
                      <a:xfrm>
                        <a:off x="4650" y="2296"/>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91" name="Oval 27"/>
                    <p:cNvSpPr>
                      <a:spLocks noChangeArrowheads="1"/>
                    </p:cNvSpPr>
                    <p:nvPr/>
                  </p:nvSpPr>
                  <p:spPr bwMode="auto">
                    <a:xfrm>
                      <a:off x="1747" y="70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11</a:t>
                      </a:r>
                    </a:p>
                  </p:txBody>
                </p:sp>
                <p:sp>
                  <p:nvSpPr>
                    <p:cNvPr id="192" name="Oval 28"/>
                    <p:cNvSpPr>
                      <a:spLocks noChangeArrowheads="1"/>
                    </p:cNvSpPr>
                    <p:nvPr/>
                  </p:nvSpPr>
                  <p:spPr bwMode="auto">
                    <a:xfrm>
                      <a:off x="2925" y="70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17</a:t>
                      </a:r>
                    </a:p>
                  </p:txBody>
                </p:sp>
                <p:grpSp>
                  <p:nvGrpSpPr>
                    <p:cNvPr id="193" name="Group 29"/>
                    <p:cNvGrpSpPr>
                      <a:grpSpLocks/>
                    </p:cNvGrpSpPr>
                    <p:nvPr/>
                  </p:nvGrpSpPr>
                  <p:grpSpPr bwMode="auto">
                    <a:xfrm>
                      <a:off x="2562" y="1026"/>
                      <a:ext cx="1044" cy="726"/>
                      <a:chOff x="521" y="527"/>
                      <a:chExt cx="1044" cy="726"/>
                    </a:xfrm>
                  </p:grpSpPr>
                  <p:sp>
                    <p:nvSpPr>
                      <p:cNvPr id="196" name="Oval 30"/>
                      <p:cNvSpPr>
                        <a:spLocks noChangeArrowheads="1"/>
                      </p:cNvSpPr>
                      <p:nvPr/>
                    </p:nvSpPr>
                    <p:spPr bwMode="auto">
                      <a:xfrm>
                        <a:off x="1202"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10</a:t>
                        </a:r>
                      </a:p>
                    </p:txBody>
                  </p:sp>
                  <p:sp>
                    <p:nvSpPr>
                      <p:cNvPr id="197" name="Oval 31"/>
                      <p:cNvSpPr>
                        <a:spLocks noChangeArrowheads="1"/>
                      </p:cNvSpPr>
                      <p:nvPr/>
                    </p:nvSpPr>
                    <p:spPr bwMode="auto">
                      <a:xfrm>
                        <a:off x="521"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7</a:t>
                        </a:r>
                      </a:p>
                    </p:txBody>
                  </p:sp>
                  <p:sp>
                    <p:nvSpPr>
                      <p:cNvPr id="198" name="Line 32"/>
                      <p:cNvSpPr>
                        <a:spLocks noChangeShapeType="1"/>
                      </p:cNvSpPr>
                      <p:nvPr/>
                    </p:nvSpPr>
                    <p:spPr bwMode="auto">
                      <a:xfrm flipH="1">
                        <a:off x="703" y="527"/>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99" name="Line 33"/>
                      <p:cNvSpPr>
                        <a:spLocks noChangeShapeType="1"/>
                      </p:cNvSpPr>
                      <p:nvPr/>
                    </p:nvSpPr>
                    <p:spPr bwMode="auto">
                      <a:xfrm>
                        <a:off x="1202" y="527"/>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94" name="Line 34"/>
                    <p:cNvSpPr>
                      <a:spLocks noChangeShapeType="1"/>
                    </p:cNvSpPr>
                    <p:nvPr/>
                  </p:nvSpPr>
                  <p:spPr bwMode="auto">
                    <a:xfrm flipH="1">
                      <a:off x="2019" y="437"/>
                      <a:ext cx="363" cy="27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95" name="Line 35"/>
                    <p:cNvSpPr>
                      <a:spLocks noChangeShapeType="1"/>
                    </p:cNvSpPr>
                    <p:nvPr/>
                  </p:nvSpPr>
                  <p:spPr bwMode="auto">
                    <a:xfrm>
                      <a:off x="2745" y="482"/>
                      <a:ext cx="317" cy="227"/>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sp>
              <p:nvSpPr>
                <p:cNvPr id="186" name="Line 36"/>
                <p:cNvSpPr>
                  <a:spLocks noChangeShapeType="1"/>
                </p:cNvSpPr>
                <p:nvPr/>
              </p:nvSpPr>
              <p:spPr bwMode="auto">
                <a:xfrm flipH="1">
                  <a:off x="2653" y="1207"/>
                  <a:ext cx="272" cy="318"/>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87" name="Line 37"/>
                <p:cNvSpPr>
                  <a:spLocks noChangeShapeType="1"/>
                </p:cNvSpPr>
                <p:nvPr/>
              </p:nvSpPr>
              <p:spPr bwMode="auto">
                <a:xfrm>
                  <a:off x="3198" y="1162"/>
                  <a:ext cx="317"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grpSp>
      <p:grpSp>
        <p:nvGrpSpPr>
          <p:cNvPr id="209" name="Group 38"/>
          <p:cNvGrpSpPr>
            <a:grpSpLocks/>
          </p:cNvGrpSpPr>
          <p:nvPr/>
        </p:nvGrpSpPr>
        <p:grpSpPr bwMode="auto">
          <a:xfrm>
            <a:off x="4440239" y="1112960"/>
            <a:ext cx="2663825" cy="1152653"/>
            <a:chOff x="2064" y="178"/>
            <a:chExt cx="1678" cy="984"/>
          </a:xfrm>
        </p:grpSpPr>
        <p:sp>
          <p:nvSpPr>
            <p:cNvPr id="210" name="Oval 39"/>
            <p:cNvSpPr>
              <a:spLocks noChangeArrowheads="1"/>
            </p:cNvSpPr>
            <p:nvPr/>
          </p:nvSpPr>
          <p:spPr bwMode="auto">
            <a:xfrm>
              <a:off x="2653" y="178"/>
              <a:ext cx="363" cy="395"/>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dirty="0">
                  <a:latin typeface="Comic Sans MS" pitchFamily="66" charset="0"/>
                </a:rPr>
                <a:t>100</a:t>
              </a:r>
            </a:p>
          </p:txBody>
        </p:sp>
        <p:sp>
          <p:nvSpPr>
            <p:cNvPr id="211" name="Line 40"/>
            <p:cNvSpPr>
              <a:spLocks noChangeShapeType="1"/>
            </p:cNvSpPr>
            <p:nvPr/>
          </p:nvSpPr>
          <p:spPr bwMode="auto">
            <a:xfrm flipH="1">
              <a:off x="2064" y="527"/>
              <a:ext cx="635" cy="635"/>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12" name="Line 41"/>
            <p:cNvSpPr>
              <a:spLocks noChangeShapeType="1"/>
            </p:cNvSpPr>
            <p:nvPr/>
          </p:nvSpPr>
          <p:spPr bwMode="auto">
            <a:xfrm>
              <a:off x="2971" y="482"/>
              <a:ext cx="771" cy="589"/>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cxnSp>
        <p:nvCxnSpPr>
          <p:cNvPr id="2" name="直接连接符 1">
            <a:extLst>
              <a:ext uri="{FF2B5EF4-FFF2-40B4-BE49-F238E27FC236}">
                <a16:creationId xmlns:a16="http://schemas.microsoft.com/office/drawing/2014/main" xmlns="" id="{EDF6D6E9-F175-3321-EFCA-E22C2894414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6C444B85-0CF5-E5E4-1A31-F823193BAE73}"/>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6A5B9AA1-920B-D9A2-7B09-55DC0ED8D885}"/>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7.8.2 </a:t>
            </a:r>
            <a:r>
              <a:rPr lang="zh-CN" altLang="en-US" dirty="0"/>
              <a:t>构造哈夫曼树</a:t>
            </a:r>
          </a:p>
        </p:txBody>
      </p:sp>
    </p:spTree>
    <p:extLst>
      <p:ext uri="{BB962C8B-B14F-4D97-AF65-F5344CB8AC3E}">
        <p14:creationId xmlns:p14="http://schemas.microsoft.com/office/powerpoint/2010/main" val="3244487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9E09FF-A18F-F866-7BFD-B0A46FE35DB9}"/>
            </a:ext>
          </a:extLst>
        </p:cNvPr>
        <p:cNvGrpSpPr/>
        <p:nvPr/>
      </p:nvGrpSpPr>
      <p:grpSpPr>
        <a:xfrm>
          <a:off x="0" y="0"/>
          <a:ext cx="0" cy="0"/>
          <a:chOff x="0" y="0"/>
          <a:chExt cx="0" cy="0"/>
        </a:xfrm>
      </p:grpSpPr>
      <p:grpSp>
        <p:nvGrpSpPr>
          <p:cNvPr id="173" name="Group 2">
            <a:extLst>
              <a:ext uri="{FF2B5EF4-FFF2-40B4-BE49-F238E27FC236}">
                <a16:creationId xmlns:a16="http://schemas.microsoft.com/office/drawing/2014/main" xmlns="" id="{DEF4BBBE-851F-8C6C-3639-DE72409260FC}"/>
              </a:ext>
            </a:extLst>
          </p:cNvPr>
          <p:cNvGrpSpPr>
            <a:grpSpLocks/>
          </p:cNvGrpSpPr>
          <p:nvPr/>
        </p:nvGrpSpPr>
        <p:grpSpPr bwMode="auto">
          <a:xfrm>
            <a:off x="2576331" y="2205835"/>
            <a:ext cx="1657350" cy="1655762"/>
            <a:chOff x="1383" y="1071"/>
            <a:chExt cx="1044" cy="1043"/>
          </a:xfrm>
        </p:grpSpPr>
        <p:sp>
          <p:nvSpPr>
            <p:cNvPr id="174" name="Oval 3">
              <a:extLst>
                <a:ext uri="{FF2B5EF4-FFF2-40B4-BE49-F238E27FC236}">
                  <a16:creationId xmlns:a16="http://schemas.microsoft.com/office/drawing/2014/main" xmlns="" id="{6E033252-3E90-C4D4-C55B-C6EA372DDE45}"/>
                </a:ext>
              </a:extLst>
            </p:cNvPr>
            <p:cNvSpPr>
              <a:spLocks noChangeArrowheads="1"/>
            </p:cNvSpPr>
            <p:nvPr/>
          </p:nvSpPr>
          <p:spPr bwMode="auto">
            <a:xfrm>
              <a:off x="1746" y="1071"/>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40</a:t>
              </a:r>
            </a:p>
          </p:txBody>
        </p:sp>
        <p:grpSp>
          <p:nvGrpSpPr>
            <p:cNvPr id="175" name="Group 4">
              <a:extLst>
                <a:ext uri="{FF2B5EF4-FFF2-40B4-BE49-F238E27FC236}">
                  <a16:creationId xmlns:a16="http://schemas.microsoft.com/office/drawing/2014/main" xmlns="" id="{735FD1D2-D472-BCA8-7AC9-A7DB70865571}"/>
                </a:ext>
              </a:extLst>
            </p:cNvPr>
            <p:cNvGrpSpPr>
              <a:grpSpLocks/>
            </p:cNvGrpSpPr>
            <p:nvPr/>
          </p:nvGrpSpPr>
          <p:grpSpPr bwMode="auto">
            <a:xfrm>
              <a:off x="1383" y="1388"/>
              <a:ext cx="1044" cy="726"/>
              <a:chOff x="521" y="527"/>
              <a:chExt cx="1044" cy="726"/>
            </a:xfrm>
          </p:grpSpPr>
          <p:sp>
            <p:nvSpPr>
              <p:cNvPr id="176" name="Oval 5">
                <a:extLst>
                  <a:ext uri="{FF2B5EF4-FFF2-40B4-BE49-F238E27FC236}">
                    <a16:creationId xmlns:a16="http://schemas.microsoft.com/office/drawing/2014/main" xmlns="" id="{F1CBDB16-5A0D-5693-C3EB-D7AF3961239A}"/>
                  </a:ext>
                </a:extLst>
              </p:cNvPr>
              <p:cNvSpPr>
                <a:spLocks noChangeArrowheads="1"/>
              </p:cNvSpPr>
              <p:nvPr/>
            </p:nvSpPr>
            <p:spPr bwMode="auto">
              <a:xfrm>
                <a:off x="1202"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21</a:t>
                </a:r>
              </a:p>
            </p:txBody>
          </p:sp>
          <p:sp>
            <p:nvSpPr>
              <p:cNvPr id="177" name="Oval 6">
                <a:extLst>
                  <a:ext uri="{FF2B5EF4-FFF2-40B4-BE49-F238E27FC236}">
                    <a16:creationId xmlns:a16="http://schemas.microsoft.com/office/drawing/2014/main" xmlns="" id="{BBB08180-842D-E5CE-B459-64EF5A754417}"/>
                  </a:ext>
                </a:extLst>
              </p:cNvPr>
              <p:cNvSpPr>
                <a:spLocks noChangeArrowheads="1"/>
              </p:cNvSpPr>
              <p:nvPr/>
            </p:nvSpPr>
            <p:spPr bwMode="auto">
              <a:xfrm>
                <a:off x="521"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19</a:t>
                </a:r>
              </a:p>
            </p:txBody>
          </p:sp>
          <p:sp>
            <p:nvSpPr>
              <p:cNvPr id="178" name="Line 7">
                <a:extLst>
                  <a:ext uri="{FF2B5EF4-FFF2-40B4-BE49-F238E27FC236}">
                    <a16:creationId xmlns:a16="http://schemas.microsoft.com/office/drawing/2014/main" xmlns="" id="{C8D2C377-CE29-CD07-AD00-343346E93C9F}"/>
                  </a:ext>
                </a:extLst>
              </p:cNvPr>
              <p:cNvSpPr>
                <a:spLocks noChangeShapeType="1"/>
              </p:cNvSpPr>
              <p:nvPr/>
            </p:nvSpPr>
            <p:spPr bwMode="auto">
              <a:xfrm flipH="1">
                <a:off x="703" y="527"/>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79" name="Line 8">
                <a:extLst>
                  <a:ext uri="{FF2B5EF4-FFF2-40B4-BE49-F238E27FC236}">
                    <a16:creationId xmlns:a16="http://schemas.microsoft.com/office/drawing/2014/main" xmlns="" id="{0EABF792-521B-8505-A549-144E80FD8B5D}"/>
                  </a:ext>
                </a:extLst>
              </p:cNvPr>
              <p:cNvSpPr>
                <a:spLocks noChangeShapeType="1"/>
              </p:cNvSpPr>
              <p:nvPr/>
            </p:nvSpPr>
            <p:spPr bwMode="auto">
              <a:xfrm>
                <a:off x="1202" y="527"/>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grpSp>
        <p:nvGrpSpPr>
          <p:cNvPr id="180" name="Group 9">
            <a:extLst>
              <a:ext uri="{FF2B5EF4-FFF2-40B4-BE49-F238E27FC236}">
                <a16:creationId xmlns:a16="http://schemas.microsoft.com/office/drawing/2014/main" xmlns="" id="{56A47849-530E-E20C-7C80-AAECE686B735}"/>
              </a:ext>
            </a:extLst>
          </p:cNvPr>
          <p:cNvGrpSpPr>
            <a:grpSpLocks/>
          </p:cNvGrpSpPr>
          <p:nvPr/>
        </p:nvGrpSpPr>
        <p:grpSpPr bwMode="auto">
          <a:xfrm>
            <a:off x="3255475" y="2036897"/>
            <a:ext cx="4248150" cy="4537075"/>
            <a:chOff x="1792" y="1071"/>
            <a:chExt cx="2676" cy="2858"/>
          </a:xfrm>
        </p:grpSpPr>
        <p:sp>
          <p:nvSpPr>
            <p:cNvPr id="181" name="Oval 10">
              <a:extLst>
                <a:ext uri="{FF2B5EF4-FFF2-40B4-BE49-F238E27FC236}">
                  <a16:creationId xmlns:a16="http://schemas.microsoft.com/office/drawing/2014/main" xmlns="" id="{72551B95-BE17-3DD7-0F0A-DEF00D4D97E5}"/>
                </a:ext>
              </a:extLst>
            </p:cNvPr>
            <p:cNvSpPr>
              <a:spLocks noChangeArrowheads="1"/>
            </p:cNvSpPr>
            <p:nvPr/>
          </p:nvSpPr>
          <p:spPr bwMode="auto">
            <a:xfrm>
              <a:off x="3652" y="1071"/>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60</a:t>
              </a:r>
            </a:p>
          </p:txBody>
        </p:sp>
        <p:grpSp>
          <p:nvGrpSpPr>
            <p:cNvPr id="182" name="Group 11">
              <a:extLst>
                <a:ext uri="{FF2B5EF4-FFF2-40B4-BE49-F238E27FC236}">
                  <a16:creationId xmlns:a16="http://schemas.microsoft.com/office/drawing/2014/main" xmlns="" id="{64A49B1D-829F-C340-3048-1C04314E3BAB}"/>
                </a:ext>
              </a:extLst>
            </p:cNvPr>
            <p:cNvGrpSpPr>
              <a:grpSpLocks/>
            </p:cNvGrpSpPr>
            <p:nvPr/>
          </p:nvGrpSpPr>
          <p:grpSpPr bwMode="auto">
            <a:xfrm>
              <a:off x="1792" y="1343"/>
              <a:ext cx="2676" cy="2586"/>
              <a:chOff x="1020" y="1162"/>
              <a:chExt cx="2676" cy="2586"/>
            </a:xfrm>
          </p:grpSpPr>
          <p:sp>
            <p:nvSpPr>
              <p:cNvPr id="183" name="Oval 12">
                <a:extLst>
                  <a:ext uri="{FF2B5EF4-FFF2-40B4-BE49-F238E27FC236}">
                    <a16:creationId xmlns:a16="http://schemas.microsoft.com/office/drawing/2014/main" xmlns="" id="{A5E685C0-D48F-43C2-30CE-2B619986A55E}"/>
                  </a:ext>
                </a:extLst>
              </p:cNvPr>
              <p:cNvSpPr>
                <a:spLocks noChangeArrowheads="1"/>
              </p:cNvSpPr>
              <p:nvPr/>
            </p:nvSpPr>
            <p:spPr bwMode="auto">
              <a:xfrm>
                <a:off x="3333" y="1525"/>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32</a:t>
                </a:r>
              </a:p>
            </p:txBody>
          </p:sp>
          <p:grpSp>
            <p:nvGrpSpPr>
              <p:cNvPr id="184" name="Group 13">
                <a:extLst>
                  <a:ext uri="{FF2B5EF4-FFF2-40B4-BE49-F238E27FC236}">
                    <a16:creationId xmlns:a16="http://schemas.microsoft.com/office/drawing/2014/main" xmlns="" id="{B9E39264-2BC4-61D6-5753-BEFD023AC5FF}"/>
                  </a:ext>
                </a:extLst>
              </p:cNvPr>
              <p:cNvGrpSpPr>
                <a:grpSpLocks/>
              </p:cNvGrpSpPr>
              <p:nvPr/>
            </p:nvGrpSpPr>
            <p:grpSpPr bwMode="auto">
              <a:xfrm>
                <a:off x="1020" y="1162"/>
                <a:ext cx="2585" cy="2586"/>
                <a:chOff x="1020" y="1162"/>
                <a:chExt cx="2585" cy="2586"/>
              </a:xfrm>
            </p:grpSpPr>
            <p:grpSp>
              <p:nvGrpSpPr>
                <p:cNvPr id="185" name="Group 14">
                  <a:extLst>
                    <a:ext uri="{FF2B5EF4-FFF2-40B4-BE49-F238E27FC236}">
                      <a16:creationId xmlns:a16="http://schemas.microsoft.com/office/drawing/2014/main" xmlns="" id="{21BE930B-828C-8171-09B2-B5E77EEBB6FE}"/>
                    </a:ext>
                  </a:extLst>
                </p:cNvPr>
                <p:cNvGrpSpPr>
                  <a:grpSpLocks/>
                </p:cNvGrpSpPr>
                <p:nvPr/>
              </p:nvGrpSpPr>
              <p:grpSpPr bwMode="auto">
                <a:xfrm>
                  <a:off x="1020" y="1525"/>
                  <a:ext cx="2585" cy="2223"/>
                  <a:chOff x="1020" y="1525"/>
                  <a:chExt cx="2585" cy="2223"/>
                </a:xfrm>
              </p:grpSpPr>
              <p:sp>
                <p:nvSpPr>
                  <p:cNvPr id="188" name="Oval 15">
                    <a:extLst>
                      <a:ext uri="{FF2B5EF4-FFF2-40B4-BE49-F238E27FC236}">
                        <a16:creationId xmlns:a16="http://schemas.microsoft.com/office/drawing/2014/main" xmlns="" id="{8EA6FFB1-8BEE-B6E3-7A0B-B5EEF781856F}"/>
                      </a:ext>
                    </a:extLst>
                  </p:cNvPr>
                  <p:cNvSpPr>
                    <a:spLocks noChangeArrowheads="1"/>
                  </p:cNvSpPr>
                  <p:nvPr/>
                </p:nvSpPr>
                <p:spPr bwMode="auto">
                  <a:xfrm>
                    <a:off x="2381" y="1525"/>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dirty="0">
                        <a:latin typeface="Comic Sans MS" pitchFamily="66" charset="0"/>
                      </a:rPr>
                      <a:t>28</a:t>
                    </a:r>
                  </a:p>
                </p:txBody>
              </p:sp>
              <p:grpSp>
                <p:nvGrpSpPr>
                  <p:cNvPr id="189" name="Group 16">
                    <a:extLst>
                      <a:ext uri="{FF2B5EF4-FFF2-40B4-BE49-F238E27FC236}">
                        <a16:creationId xmlns:a16="http://schemas.microsoft.com/office/drawing/2014/main" xmlns="" id="{DC16D0B1-EB9E-1876-2AA9-7FE929C723AE}"/>
                      </a:ext>
                    </a:extLst>
                  </p:cNvPr>
                  <p:cNvGrpSpPr>
                    <a:grpSpLocks/>
                  </p:cNvGrpSpPr>
                  <p:nvPr/>
                </p:nvGrpSpPr>
                <p:grpSpPr bwMode="auto">
                  <a:xfrm>
                    <a:off x="1020" y="1752"/>
                    <a:ext cx="2585" cy="1996"/>
                    <a:chOff x="1021" y="437"/>
                    <a:chExt cx="2585" cy="1996"/>
                  </a:xfrm>
                </p:grpSpPr>
                <p:grpSp>
                  <p:nvGrpSpPr>
                    <p:cNvPr id="190" name="Group 17">
                      <a:extLst>
                        <a:ext uri="{FF2B5EF4-FFF2-40B4-BE49-F238E27FC236}">
                          <a16:creationId xmlns:a16="http://schemas.microsoft.com/office/drawing/2014/main" xmlns="" id="{EA4ABC33-A544-599F-61FB-A6918AFF5407}"/>
                        </a:ext>
                      </a:extLst>
                    </p:cNvPr>
                    <p:cNvGrpSpPr>
                      <a:grpSpLocks/>
                    </p:cNvGrpSpPr>
                    <p:nvPr/>
                  </p:nvGrpSpPr>
                  <p:grpSpPr bwMode="auto">
                    <a:xfrm>
                      <a:off x="1021" y="1027"/>
                      <a:ext cx="1406" cy="1406"/>
                      <a:chOff x="3606" y="2296"/>
                      <a:chExt cx="1406" cy="1406"/>
                    </a:xfrm>
                  </p:grpSpPr>
                  <p:grpSp>
                    <p:nvGrpSpPr>
                      <p:cNvPr id="200" name="Group 18">
                        <a:extLst>
                          <a:ext uri="{FF2B5EF4-FFF2-40B4-BE49-F238E27FC236}">
                            <a16:creationId xmlns:a16="http://schemas.microsoft.com/office/drawing/2014/main" xmlns="" id="{E447FC37-AE56-20C4-E7B8-A2817551A47E}"/>
                          </a:ext>
                        </a:extLst>
                      </p:cNvPr>
                      <p:cNvGrpSpPr>
                        <a:grpSpLocks/>
                      </p:cNvGrpSpPr>
                      <p:nvPr/>
                    </p:nvGrpSpPr>
                    <p:grpSpPr bwMode="auto">
                      <a:xfrm>
                        <a:off x="3606" y="2659"/>
                        <a:ext cx="1044" cy="1043"/>
                        <a:chOff x="2018" y="2523"/>
                        <a:chExt cx="1044" cy="1043"/>
                      </a:xfrm>
                    </p:grpSpPr>
                    <p:sp>
                      <p:nvSpPr>
                        <p:cNvPr id="204" name="Oval 19">
                          <a:extLst>
                            <a:ext uri="{FF2B5EF4-FFF2-40B4-BE49-F238E27FC236}">
                              <a16:creationId xmlns:a16="http://schemas.microsoft.com/office/drawing/2014/main" xmlns="" id="{EEB6BD76-B548-EE19-8C11-36000E2951E4}"/>
                            </a:ext>
                          </a:extLst>
                        </p:cNvPr>
                        <p:cNvSpPr>
                          <a:spLocks noChangeArrowheads="1"/>
                        </p:cNvSpPr>
                        <p:nvPr/>
                      </p:nvSpPr>
                      <p:spPr bwMode="auto">
                        <a:xfrm>
                          <a:off x="2699"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3</a:t>
                          </a:r>
                        </a:p>
                      </p:txBody>
                    </p:sp>
                    <p:sp>
                      <p:nvSpPr>
                        <p:cNvPr id="205" name="Oval 20">
                          <a:extLst>
                            <a:ext uri="{FF2B5EF4-FFF2-40B4-BE49-F238E27FC236}">
                              <a16:creationId xmlns:a16="http://schemas.microsoft.com/office/drawing/2014/main" xmlns="" id="{C4D51A49-D748-12D1-6408-46176E1AD1A6}"/>
                            </a:ext>
                          </a:extLst>
                        </p:cNvPr>
                        <p:cNvSpPr>
                          <a:spLocks noChangeArrowheads="1"/>
                        </p:cNvSpPr>
                        <p:nvPr/>
                      </p:nvSpPr>
                      <p:spPr bwMode="auto">
                        <a:xfrm>
                          <a:off x="2018" y="320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2</a:t>
                          </a:r>
                        </a:p>
                      </p:txBody>
                    </p:sp>
                    <p:sp>
                      <p:nvSpPr>
                        <p:cNvPr id="206" name="Oval 21">
                          <a:extLst>
                            <a:ext uri="{FF2B5EF4-FFF2-40B4-BE49-F238E27FC236}">
                              <a16:creationId xmlns:a16="http://schemas.microsoft.com/office/drawing/2014/main" xmlns="" id="{B19E5EA4-2F95-9584-1C80-0D5C0300DBBF}"/>
                            </a:ext>
                          </a:extLst>
                        </p:cNvPr>
                        <p:cNvSpPr>
                          <a:spLocks noChangeArrowheads="1"/>
                        </p:cNvSpPr>
                        <p:nvPr/>
                      </p:nvSpPr>
                      <p:spPr bwMode="auto">
                        <a:xfrm>
                          <a:off x="2381" y="2523"/>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5</a:t>
                          </a:r>
                        </a:p>
                      </p:txBody>
                    </p:sp>
                    <p:sp>
                      <p:nvSpPr>
                        <p:cNvPr id="207" name="Line 22">
                          <a:extLst>
                            <a:ext uri="{FF2B5EF4-FFF2-40B4-BE49-F238E27FC236}">
                              <a16:creationId xmlns:a16="http://schemas.microsoft.com/office/drawing/2014/main" xmlns="" id="{7FAF6032-7B19-F146-9038-E927DE1B1A76}"/>
                            </a:ext>
                          </a:extLst>
                        </p:cNvPr>
                        <p:cNvSpPr>
                          <a:spLocks noChangeShapeType="1"/>
                        </p:cNvSpPr>
                        <p:nvPr/>
                      </p:nvSpPr>
                      <p:spPr bwMode="auto">
                        <a:xfrm flipH="1">
                          <a:off x="2200" y="2840"/>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8" name="Line 23">
                          <a:extLst>
                            <a:ext uri="{FF2B5EF4-FFF2-40B4-BE49-F238E27FC236}">
                              <a16:creationId xmlns:a16="http://schemas.microsoft.com/office/drawing/2014/main" xmlns="" id="{A6B4D4ED-84DF-BAA8-DDCB-BDDADDE2C78A}"/>
                            </a:ext>
                          </a:extLst>
                        </p:cNvPr>
                        <p:cNvSpPr>
                          <a:spLocks noChangeShapeType="1"/>
                        </p:cNvSpPr>
                        <p:nvPr/>
                      </p:nvSpPr>
                      <p:spPr bwMode="auto">
                        <a:xfrm>
                          <a:off x="2699" y="2840"/>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201" name="Oval 24">
                        <a:extLst>
                          <a:ext uri="{FF2B5EF4-FFF2-40B4-BE49-F238E27FC236}">
                            <a16:creationId xmlns:a16="http://schemas.microsoft.com/office/drawing/2014/main" xmlns="" id="{B01D8AEA-9242-4AA7-4E8A-8D61D8AEEAA2}"/>
                          </a:ext>
                        </a:extLst>
                      </p:cNvPr>
                      <p:cNvSpPr>
                        <a:spLocks noChangeArrowheads="1"/>
                      </p:cNvSpPr>
                      <p:nvPr/>
                    </p:nvSpPr>
                    <p:spPr bwMode="auto">
                      <a:xfrm>
                        <a:off x="4649" y="265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6</a:t>
                        </a:r>
                      </a:p>
                    </p:txBody>
                  </p:sp>
                  <p:sp>
                    <p:nvSpPr>
                      <p:cNvPr id="202" name="Line 25">
                        <a:extLst>
                          <a:ext uri="{FF2B5EF4-FFF2-40B4-BE49-F238E27FC236}">
                            <a16:creationId xmlns:a16="http://schemas.microsoft.com/office/drawing/2014/main" xmlns="" id="{E57236BC-7187-7839-2205-49BBC4CD82AA}"/>
                          </a:ext>
                        </a:extLst>
                      </p:cNvPr>
                      <p:cNvSpPr>
                        <a:spLocks noChangeShapeType="1"/>
                      </p:cNvSpPr>
                      <p:nvPr/>
                    </p:nvSpPr>
                    <p:spPr bwMode="auto">
                      <a:xfrm flipH="1">
                        <a:off x="4150" y="2296"/>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03" name="Line 26">
                        <a:extLst>
                          <a:ext uri="{FF2B5EF4-FFF2-40B4-BE49-F238E27FC236}">
                            <a16:creationId xmlns:a16="http://schemas.microsoft.com/office/drawing/2014/main" xmlns="" id="{C7957393-EBA8-9202-8D93-6BDAC7FFB42B}"/>
                          </a:ext>
                        </a:extLst>
                      </p:cNvPr>
                      <p:cNvSpPr>
                        <a:spLocks noChangeShapeType="1"/>
                      </p:cNvSpPr>
                      <p:nvPr/>
                    </p:nvSpPr>
                    <p:spPr bwMode="auto">
                      <a:xfrm>
                        <a:off x="4650" y="2296"/>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91" name="Oval 27">
                      <a:extLst>
                        <a:ext uri="{FF2B5EF4-FFF2-40B4-BE49-F238E27FC236}">
                          <a16:creationId xmlns:a16="http://schemas.microsoft.com/office/drawing/2014/main" xmlns="" id="{A017C3B1-69F2-4A61-04AE-80723E6BA217}"/>
                        </a:ext>
                      </a:extLst>
                    </p:cNvPr>
                    <p:cNvSpPr>
                      <a:spLocks noChangeArrowheads="1"/>
                    </p:cNvSpPr>
                    <p:nvPr/>
                  </p:nvSpPr>
                  <p:spPr bwMode="auto">
                    <a:xfrm>
                      <a:off x="1747" y="70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11</a:t>
                      </a:r>
                    </a:p>
                  </p:txBody>
                </p:sp>
                <p:sp>
                  <p:nvSpPr>
                    <p:cNvPr id="192" name="Oval 28">
                      <a:extLst>
                        <a:ext uri="{FF2B5EF4-FFF2-40B4-BE49-F238E27FC236}">
                          <a16:creationId xmlns:a16="http://schemas.microsoft.com/office/drawing/2014/main" xmlns="" id="{78C19A4D-7D44-7532-096E-255EBEF0ED02}"/>
                        </a:ext>
                      </a:extLst>
                    </p:cNvPr>
                    <p:cNvSpPr>
                      <a:spLocks noChangeArrowheads="1"/>
                    </p:cNvSpPr>
                    <p:nvPr/>
                  </p:nvSpPr>
                  <p:spPr bwMode="auto">
                    <a:xfrm>
                      <a:off x="2925" y="709"/>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17</a:t>
                      </a:r>
                    </a:p>
                  </p:txBody>
                </p:sp>
                <p:grpSp>
                  <p:nvGrpSpPr>
                    <p:cNvPr id="193" name="Group 29">
                      <a:extLst>
                        <a:ext uri="{FF2B5EF4-FFF2-40B4-BE49-F238E27FC236}">
                          <a16:creationId xmlns:a16="http://schemas.microsoft.com/office/drawing/2014/main" xmlns="" id="{9ADDE181-0AAE-096E-D5AD-6F043C5150E3}"/>
                        </a:ext>
                      </a:extLst>
                    </p:cNvPr>
                    <p:cNvGrpSpPr>
                      <a:grpSpLocks/>
                    </p:cNvGrpSpPr>
                    <p:nvPr/>
                  </p:nvGrpSpPr>
                  <p:grpSpPr bwMode="auto">
                    <a:xfrm>
                      <a:off x="2562" y="1026"/>
                      <a:ext cx="1044" cy="726"/>
                      <a:chOff x="521" y="527"/>
                      <a:chExt cx="1044" cy="726"/>
                    </a:xfrm>
                  </p:grpSpPr>
                  <p:sp>
                    <p:nvSpPr>
                      <p:cNvPr id="196" name="Oval 30">
                        <a:extLst>
                          <a:ext uri="{FF2B5EF4-FFF2-40B4-BE49-F238E27FC236}">
                            <a16:creationId xmlns:a16="http://schemas.microsoft.com/office/drawing/2014/main" xmlns="" id="{B2E08EE6-154A-839F-3E9E-BD742DBD987B}"/>
                          </a:ext>
                        </a:extLst>
                      </p:cNvPr>
                      <p:cNvSpPr>
                        <a:spLocks noChangeArrowheads="1"/>
                      </p:cNvSpPr>
                      <p:nvPr/>
                    </p:nvSpPr>
                    <p:spPr bwMode="auto">
                      <a:xfrm>
                        <a:off x="1202"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10</a:t>
                        </a:r>
                      </a:p>
                    </p:txBody>
                  </p:sp>
                  <p:sp>
                    <p:nvSpPr>
                      <p:cNvPr id="197" name="Oval 31">
                        <a:extLst>
                          <a:ext uri="{FF2B5EF4-FFF2-40B4-BE49-F238E27FC236}">
                            <a16:creationId xmlns:a16="http://schemas.microsoft.com/office/drawing/2014/main" xmlns="" id="{77A2BC8F-1EFD-E844-CE61-51FEA6558D74}"/>
                          </a:ext>
                        </a:extLst>
                      </p:cNvPr>
                      <p:cNvSpPr>
                        <a:spLocks noChangeArrowheads="1"/>
                      </p:cNvSpPr>
                      <p:nvPr/>
                    </p:nvSpPr>
                    <p:spPr bwMode="auto">
                      <a:xfrm>
                        <a:off x="521" y="890"/>
                        <a:ext cx="363" cy="363"/>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a:latin typeface="Comic Sans MS" pitchFamily="66" charset="0"/>
                          </a:rPr>
                          <a:t>7</a:t>
                        </a:r>
                      </a:p>
                    </p:txBody>
                  </p:sp>
                  <p:sp>
                    <p:nvSpPr>
                      <p:cNvPr id="198" name="Line 32">
                        <a:extLst>
                          <a:ext uri="{FF2B5EF4-FFF2-40B4-BE49-F238E27FC236}">
                            <a16:creationId xmlns:a16="http://schemas.microsoft.com/office/drawing/2014/main" xmlns="" id="{F93CFAFC-5A87-B9CC-2576-B79F8E98ADD2}"/>
                          </a:ext>
                        </a:extLst>
                      </p:cNvPr>
                      <p:cNvSpPr>
                        <a:spLocks noChangeShapeType="1"/>
                      </p:cNvSpPr>
                      <p:nvPr/>
                    </p:nvSpPr>
                    <p:spPr bwMode="auto">
                      <a:xfrm flipH="1">
                        <a:off x="703" y="527"/>
                        <a:ext cx="226"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99" name="Line 33">
                        <a:extLst>
                          <a:ext uri="{FF2B5EF4-FFF2-40B4-BE49-F238E27FC236}">
                            <a16:creationId xmlns:a16="http://schemas.microsoft.com/office/drawing/2014/main" xmlns="" id="{26680056-1BD5-C132-EB75-C641B5B378F9}"/>
                          </a:ext>
                        </a:extLst>
                      </p:cNvPr>
                      <p:cNvSpPr>
                        <a:spLocks noChangeShapeType="1"/>
                      </p:cNvSpPr>
                      <p:nvPr/>
                    </p:nvSpPr>
                    <p:spPr bwMode="auto">
                      <a:xfrm>
                        <a:off x="1202" y="527"/>
                        <a:ext cx="181"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94" name="Line 34">
                      <a:extLst>
                        <a:ext uri="{FF2B5EF4-FFF2-40B4-BE49-F238E27FC236}">
                          <a16:creationId xmlns:a16="http://schemas.microsoft.com/office/drawing/2014/main" xmlns="" id="{8D97F8F7-950F-4EA7-100C-73C22BA57965}"/>
                        </a:ext>
                      </a:extLst>
                    </p:cNvPr>
                    <p:cNvSpPr>
                      <a:spLocks noChangeShapeType="1"/>
                    </p:cNvSpPr>
                    <p:nvPr/>
                  </p:nvSpPr>
                  <p:spPr bwMode="auto">
                    <a:xfrm flipH="1">
                      <a:off x="2019" y="437"/>
                      <a:ext cx="363" cy="27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95" name="Line 35">
                      <a:extLst>
                        <a:ext uri="{FF2B5EF4-FFF2-40B4-BE49-F238E27FC236}">
                          <a16:creationId xmlns:a16="http://schemas.microsoft.com/office/drawing/2014/main" xmlns="" id="{3CCBBBD4-46A8-75C6-6308-429C231B0DD5}"/>
                        </a:ext>
                      </a:extLst>
                    </p:cNvPr>
                    <p:cNvSpPr>
                      <a:spLocks noChangeShapeType="1"/>
                    </p:cNvSpPr>
                    <p:nvPr/>
                  </p:nvSpPr>
                  <p:spPr bwMode="auto">
                    <a:xfrm>
                      <a:off x="2745" y="482"/>
                      <a:ext cx="317" cy="227"/>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sp>
              <p:nvSpPr>
                <p:cNvPr id="186" name="Line 36">
                  <a:extLst>
                    <a:ext uri="{FF2B5EF4-FFF2-40B4-BE49-F238E27FC236}">
                      <a16:creationId xmlns:a16="http://schemas.microsoft.com/office/drawing/2014/main" xmlns="" id="{D36707BE-A40B-3756-3511-3E0DE7F047EA}"/>
                    </a:ext>
                  </a:extLst>
                </p:cNvPr>
                <p:cNvSpPr>
                  <a:spLocks noChangeShapeType="1"/>
                </p:cNvSpPr>
                <p:nvPr/>
              </p:nvSpPr>
              <p:spPr bwMode="auto">
                <a:xfrm flipH="1">
                  <a:off x="2653" y="1207"/>
                  <a:ext cx="272" cy="318"/>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87" name="Line 37">
                  <a:extLst>
                    <a:ext uri="{FF2B5EF4-FFF2-40B4-BE49-F238E27FC236}">
                      <a16:creationId xmlns:a16="http://schemas.microsoft.com/office/drawing/2014/main" xmlns="" id="{3BF7B497-F215-315F-6116-BE09F9C9A7BD}"/>
                    </a:ext>
                  </a:extLst>
                </p:cNvPr>
                <p:cNvSpPr>
                  <a:spLocks noChangeShapeType="1"/>
                </p:cNvSpPr>
                <p:nvPr/>
              </p:nvSpPr>
              <p:spPr bwMode="auto">
                <a:xfrm>
                  <a:off x="3198" y="1162"/>
                  <a:ext cx="317" cy="363"/>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grpSp>
      </p:grpSp>
      <p:grpSp>
        <p:nvGrpSpPr>
          <p:cNvPr id="209" name="Group 38">
            <a:extLst>
              <a:ext uri="{FF2B5EF4-FFF2-40B4-BE49-F238E27FC236}">
                <a16:creationId xmlns:a16="http://schemas.microsoft.com/office/drawing/2014/main" xmlns="" id="{796211D0-62BE-4BD0-FA06-1339E9D5111C}"/>
              </a:ext>
            </a:extLst>
          </p:cNvPr>
          <p:cNvGrpSpPr>
            <a:grpSpLocks/>
          </p:cNvGrpSpPr>
          <p:nvPr/>
        </p:nvGrpSpPr>
        <p:grpSpPr bwMode="auto">
          <a:xfrm>
            <a:off x="3548676" y="1100886"/>
            <a:ext cx="2663825" cy="1152653"/>
            <a:chOff x="2064" y="178"/>
            <a:chExt cx="1678" cy="984"/>
          </a:xfrm>
        </p:grpSpPr>
        <p:sp>
          <p:nvSpPr>
            <p:cNvPr id="210" name="Oval 39">
              <a:extLst>
                <a:ext uri="{FF2B5EF4-FFF2-40B4-BE49-F238E27FC236}">
                  <a16:creationId xmlns:a16="http://schemas.microsoft.com/office/drawing/2014/main" xmlns="" id="{6FC20624-828B-FA7F-C0AF-BA556D4CA0A7}"/>
                </a:ext>
              </a:extLst>
            </p:cNvPr>
            <p:cNvSpPr>
              <a:spLocks noChangeArrowheads="1"/>
            </p:cNvSpPr>
            <p:nvPr/>
          </p:nvSpPr>
          <p:spPr bwMode="auto">
            <a:xfrm>
              <a:off x="2653" y="178"/>
              <a:ext cx="363" cy="395"/>
            </a:xfrm>
            <a:prstGeom prst="ellipse">
              <a:avLst/>
            </a:prstGeom>
            <a:solidFill>
              <a:schemeClr val="bg1"/>
            </a:solidFill>
            <a:ln w="28575" cap="sq">
              <a:solidFill>
                <a:srgbClr val="0066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SzTx/>
                <a:buFontTx/>
                <a:buNone/>
              </a:pPr>
              <a:r>
                <a:rPr lang="en-US" altLang="zh-CN" sz="2800" dirty="0">
                  <a:latin typeface="Comic Sans MS" pitchFamily="66" charset="0"/>
                </a:rPr>
                <a:t>100</a:t>
              </a:r>
            </a:p>
          </p:txBody>
        </p:sp>
        <p:sp>
          <p:nvSpPr>
            <p:cNvPr id="211" name="Line 40">
              <a:extLst>
                <a:ext uri="{FF2B5EF4-FFF2-40B4-BE49-F238E27FC236}">
                  <a16:creationId xmlns:a16="http://schemas.microsoft.com/office/drawing/2014/main" xmlns="" id="{A30DDAD3-5AA7-E0CB-AD3F-FA05939B7418}"/>
                </a:ext>
              </a:extLst>
            </p:cNvPr>
            <p:cNvSpPr>
              <a:spLocks noChangeShapeType="1"/>
            </p:cNvSpPr>
            <p:nvPr/>
          </p:nvSpPr>
          <p:spPr bwMode="auto">
            <a:xfrm flipH="1">
              <a:off x="2064" y="527"/>
              <a:ext cx="635" cy="635"/>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12" name="Line 41">
              <a:extLst>
                <a:ext uri="{FF2B5EF4-FFF2-40B4-BE49-F238E27FC236}">
                  <a16:creationId xmlns:a16="http://schemas.microsoft.com/office/drawing/2014/main" xmlns="" id="{359DCEE8-23CD-2C5C-D6A8-FB163218F3C5}"/>
                </a:ext>
              </a:extLst>
            </p:cNvPr>
            <p:cNvSpPr>
              <a:spLocks noChangeShapeType="1"/>
            </p:cNvSpPr>
            <p:nvPr/>
          </p:nvSpPr>
          <p:spPr bwMode="auto">
            <a:xfrm>
              <a:off x="2971" y="482"/>
              <a:ext cx="771" cy="589"/>
            </a:xfrm>
            <a:prstGeom prst="line">
              <a:avLst/>
            </a:prstGeom>
            <a:noFill/>
            <a:ln w="28575"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cxnSp>
        <p:nvCxnSpPr>
          <p:cNvPr id="2" name="直接连接符 1">
            <a:extLst>
              <a:ext uri="{FF2B5EF4-FFF2-40B4-BE49-F238E27FC236}">
                <a16:creationId xmlns:a16="http://schemas.microsoft.com/office/drawing/2014/main" xmlns="" id="{67A27C7F-F40F-2EBB-97D4-B7AB60E57602}"/>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D9FE979E-EE89-F23A-4EE7-E5DAE9CB9BC5}"/>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661BAD09-44BD-4BD7-B14D-A4468DC59FFB}"/>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7.8.2 </a:t>
            </a:r>
            <a:r>
              <a:rPr lang="zh-CN" altLang="en-US" dirty="0"/>
              <a:t>构造哈夫曼树</a:t>
            </a:r>
          </a:p>
        </p:txBody>
      </p:sp>
      <p:sp>
        <p:nvSpPr>
          <p:cNvPr id="5" name="Text Box 4">
            <a:extLst>
              <a:ext uri="{FF2B5EF4-FFF2-40B4-BE49-F238E27FC236}">
                <a16:creationId xmlns:a16="http://schemas.microsoft.com/office/drawing/2014/main" xmlns="" id="{CEA001CE-9F6A-E3E3-DFB2-D415924B484A}"/>
              </a:ext>
            </a:extLst>
          </p:cNvPr>
          <p:cNvSpPr txBox="1">
            <a:spLocks noChangeArrowheads="1"/>
          </p:cNvSpPr>
          <p:nvPr/>
        </p:nvSpPr>
        <p:spPr bwMode="auto">
          <a:xfrm>
            <a:off x="7824192" y="3133036"/>
            <a:ext cx="2214578" cy="400110"/>
          </a:xfrm>
          <a:prstGeom prst="rect">
            <a:avLst/>
          </a:prstGeom>
          <a:noFill/>
          <a:ln w="9525" algn="ctr">
            <a:noFill/>
            <a:miter lim="800000"/>
            <a:headEnd/>
            <a:tailEnd type="none" w="med" len="lg"/>
          </a:ln>
          <a:effectLst/>
        </p:spPr>
        <p:txBody>
          <a:bodyPr wrap="square">
            <a:spAutoFit/>
          </a:bodyPr>
          <a:lstStyle/>
          <a:p>
            <a:pPr algn="l">
              <a:spcBef>
                <a:spcPct val="50000"/>
              </a:spcBef>
            </a:pPr>
            <a:r>
              <a:rPr kumimoji="1" lang="zh-CN" altLang="en-US" sz="2000" dirty="0">
                <a:solidFill>
                  <a:srgbClr val="FF0000"/>
                </a:solidFill>
                <a:latin typeface="华文中宋" pitchFamily="2" charset="-122"/>
                <a:ea typeface="华文中宋" pitchFamily="2" charset="-122"/>
                <a:cs typeface="Times New Roman" pitchFamily="18" charset="0"/>
              </a:rPr>
              <a:t>哈夫曼树的特点</a:t>
            </a:r>
            <a:endParaRPr kumimoji="1" lang="en-US" altLang="zh-CN" sz="2000" dirty="0">
              <a:latin typeface="华文中宋" pitchFamily="2" charset="-122"/>
              <a:ea typeface="华文中宋" pitchFamily="2" charset="-122"/>
              <a:cs typeface="Times New Roman" pitchFamily="18" charset="0"/>
            </a:endParaRPr>
          </a:p>
        </p:txBody>
      </p:sp>
      <p:sp>
        <p:nvSpPr>
          <p:cNvPr id="6" name="TextBox 5">
            <a:extLst>
              <a:ext uri="{FF2B5EF4-FFF2-40B4-BE49-F238E27FC236}">
                <a16:creationId xmlns:a16="http://schemas.microsoft.com/office/drawing/2014/main" xmlns="" id="{2A6C00F0-DA53-25A6-7B69-E81827FC961E}"/>
              </a:ext>
            </a:extLst>
          </p:cNvPr>
          <p:cNvSpPr txBox="1"/>
          <p:nvPr/>
        </p:nvSpPr>
        <p:spPr>
          <a:xfrm>
            <a:off x="7932250" y="3664457"/>
            <a:ext cx="4015001" cy="175699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ct val="150000"/>
              </a:lnSpc>
              <a:spcBef>
                <a:spcPct val="50000"/>
              </a:spcBef>
              <a:buBlip>
                <a:blip r:embed="rId2"/>
              </a:buBlip>
            </a:pPr>
            <a:r>
              <a:rPr kumimoji="1" lang="en-US" altLang="zh-CN" sz="2000" i="1">
                <a:solidFill>
                  <a:srgbClr val="3333FF"/>
                </a:solidFill>
                <a:latin typeface="Consolas" pitchFamily="49" charset="0"/>
                <a:ea typeface="仿宋" pitchFamily="49" charset="-122"/>
                <a:cs typeface="Consolas" pitchFamily="49" charset="0"/>
              </a:rPr>
              <a:t>n</a:t>
            </a:r>
            <a:r>
              <a:rPr kumimoji="1" lang="en-US" altLang="zh-CN" sz="2000" baseline="-25000">
                <a:solidFill>
                  <a:srgbClr val="3333FF"/>
                </a:solidFill>
                <a:latin typeface="Consolas" pitchFamily="49" charset="0"/>
                <a:ea typeface="仿宋" pitchFamily="49" charset="-122"/>
                <a:cs typeface="Consolas" pitchFamily="49" charset="0"/>
              </a:rPr>
              <a:t>1 </a:t>
            </a:r>
            <a:r>
              <a:rPr kumimoji="1" lang="en-US" altLang="zh-CN" sz="2000">
                <a:solidFill>
                  <a:srgbClr val="3333FF"/>
                </a:solidFill>
                <a:latin typeface="Consolas" pitchFamily="49" charset="0"/>
                <a:ea typeface="仿宋" pitchFamily="49" charset="-122"/>
                <a:cs typeface="Consolas" pitchFamily="49" charset="0"/>
              </a:rPr>
              <a:t>= 0</a:t>
            </a:r>
            <a:r>
              <a:rPr kumimoji="1" lang="zh-CN" altLang="en-US" sz="2000">
                <a:solidFill>
                  <a:srgbClr val="3333FF"/>
                </a:solidFill>
                <a:latin typeface="Consolas" pitchFamily="49" charset="0"/>
                <a:ea typeface="仿宋" pitchFamily="49" charset="-122"/>
                <a:cs typeface="Consolas" pitchFamily="49" charset="0"/>
              </a:rPr>
              <a:t>：因为每次两棵树合并。</a:t>
            </a:r>
            <a:endParaRPr kumimoji="1" lang="en-US" altLang="zh-CN" sz="2000">
              <a:solidFill>
                <a:srgbClr val="3333FF"/>
              </a:solidFill>
              <a:latin typeface="Consolas" pitchFamily="49" charset="0"/>
              <a:ea typeface="仿宋" pitchFamily="49" charset="-122"/>
              <a:cs typeface="Consolas" pitchFamily="49" charset="0"/>
            </a:endParaRPr>
          </a:p>
          <a:p>
            <a:pPr marL="457200" indent="-457200" algn="l">
              <a:lnSpc>
                <a:spcPct val="150000"/>
              </a:lnSpc>
              <a:spcBef>
                <a:spcPct val="50000"/>
              </a:spcBef>
              <a:buBlip>
                <a:blip r:embed="rId2"/>
              </a:buBlip>
            </a:pPr>
            <a:r>
              <a:rPr kumimoji="1" lang="en-US" altLang="zh-CN" sz="2000" i="1">
                <a:solidFill>
                  <a:srgbClr val="3333FF"/>
                </a:solidFill>
                <a:latin typeface="Consolas" pitchFamily="49" charset="0"/>
                <a:ea typeface="仿宋" pitchFamily="49" charset="-122"/>
                <a:cs typeface="Consolas" pitchFamily="49" charset="0"/>
              </a:rPr>
              <a:t>n </a:t>
            </a:r>
            <a:r>
              <a:rPr kumimoji="1" lang="en-US" altLang="zh-CN" sz="2000">
                <a:solidFill>
                  <a:srgbClr val="3333FF"/>
                </a:solidFill>
                <a:latin typeface="Consolas" pitchFamily="49" charset="0"/>
                <a:ea typeface="仿宋" pitchFamily="49" charset="-122"/>
                <a:cs typeface="Consolas" pitchFamily="49" charset="0"/>
              </a:rPr>
              <a:t>= </a:t>
            </a:r>
            <a:r>
              <a:rPr kumimoji="1" lang="en-US" altLang="zh-CN" sz="2000" i="1">
                <a:solidFill>
                  <a:srgbClr val="3333FF"/>
                </a:solidFill>
                <a:latin typeface="Consolas" pitchFamily="49" charset="0"/>
                <a:ea typeface="仿宋" pitchFamily="49" charset="-122"/>
                <a:cs typeface="Consolas" pitchFamily="49" charset="0"/>
              </a:rPr>
              <a:t>n</a:t>
            </a:r>
            <a:r>
              <a:rPr kumimoji="1" lang="en-US" altLang="zh-CN" sz="2000" baseline="-25000">
                <a:solidFill>
                  <a:srgbClr val="3333FF"/>
                </a:solidFill>
                <a:latin typeface="Consolas" pitchFamily="49" charset="0"/>
                <a:ea typeface="仿宋" pitchFamily="49" charset="-122"/>
                <a:cs typeface="Consolas" pitchFamily="49" charset="0"/>
              </a:rPr>
              <a:t>0</a:t>
            </a:r>
            <a:r>
              <a:rPr kumimoji="1" lang="en-US" altLang="zh-CN" sz="2000">
                <a:solidFill>
                  <a:srgbClr val="3333FF"/>
                </a:solidFill>
                <a:latin typeface="Consolas" pitchFamily="49" charset="0"/>
                <a:ea typeface="仿宋" pitchFamily="49" charset="-122"/>
                <a:cs typeface="Consolas" pitchFamily="49" charset="0"/>
              </a:rPr>
              <a:t>+</a:t>
            </a:r>
            <a:r>
              <a:rPr kumimoji="1" lang="en-US" altLang="zh-CN" sz="2000" i="1">
                <a:solidFill>
                  <a:srgbClr val="3333FF"/>
                </a:solidFill>
                <a:latin typeface="Consolas" pitchFamily="49" charset="0"/>
                <a:ea typeface="仿宋" pitchFamily="49" charset="-122"/>
                <a:cs typeface="Consolas" pitchFamily="49" charset="0"/>
              </a:rPr>
              <a:t>n</a:t>
            </a:r>
            <a:r>
              <a:rPr kumimoji="1" lang="en-US" altLang="zh-CN" sz="2000" baseline="-25000">
                <a:solidFill>
                  <a:srgbClr val="3333FF"/>
                </a:solidFill>
                <a:latin typeface="Consolas" pitchFamily="49" charset="0"/>
                <a:ea typeface="仿宋" pitchFamily="49" charset="-122"/>
                <a:cs typeface="Consolas" pitchFamily="49" charset="0"/>
              </a:rPr>
              <a:t>1</a:t>
            </a:r>
            <a:r>
              <a:rPr kumimoji="1" lang="en-US" altLang="zh-CN" sz="2000">
                <a:solidFill>
                  <a:srgbClr val="3333FF"/>
                </a:solidFill>
                <a:latin typeface="Consolas" pitchFamily="49" charset="0"/>
                <a:ea typeface="仿宋" pitchFamily="49" charset="-122"/>
                <a:cs typeface="Consolas" pitchFamily="49" charset="0"/>
              </a:rPr>
              <a:t>+</a:t>
            </a:r>
            <a:r>
              <a:rPr kumimoji="1" lang="en-US" altLang="zh-CN" sz="2000" i="1">
                <a:solidFill>
                  <a:srgbClr val="3333FF"/>
                </a:solidFill>
                <a:latin typeface="Consolas" pitchFamily="49" charset="0"/>
                <a:ea typeface="仿宋" pitchFamily="49" charset="-122"/>
                <a:cs typeface="Consolas" pitchFamily="49" charset="0"/>
              </a:rPr>
              <a:t>n</a:t>
            </a:r>
            <a:r>
              <a:rPr kumimoji="1" lang="en-US" altLang="zh-CN" sz="2000" baseline="-25000">
                <a:solidFill>
                  <a:srgbClr val="3333FF"/>
                </a:solidFill>
                <a:latin typeface="Consolas" pitchFamily="49" charset="0"/>
                <a:ea typeface="仿宋" pitchFamily="49" charset="-122"/>
                <a:cs typeface="Consolas" pitchFamily="49" charset="0"/>
              </a:rPr>
              <a:t>2</a:t>
            </a:r>
            <a:r>
              <a:rPr kumimoji="1" lang="en-US" altLang="zh-CN" sz="2000">
                <a:solidFill>
                  <a:srgbClr val="3333FF"/>
                </a:solidFill>
                <a:latin typeface="Consolas" pitchFamily="49" charset="0"/>
                <a:ea typeface="仿宋" pitchFamily="49" charset="-122"/>
                <a:cs typeface="Consolas" pitchFamily="49" charset="0"/>
              </a:rPr>
              <a:t>  =  </a:t>
            </a:r>
            <a:r>
              <a:rPr kumimoji="1" lang="en-US" altLang="zh-CN" sz="2000" i="1">
                <a:solidFill>
                  <a:srgbClr val="3333FF"/>
                </a:solidFill>
                <a:latin typeface="Consolas" pitchFamily="49" charset="0"/>
                <a:ea typeface="仿宋" pitchFamily="49" charset="-122"/>
                <a:cs typeface="Consolas" pitchFamily="49" charset="0"/>
              </a:rPr>
              <a:t>n</a:t>
            </a:r>
            <a:r>
              <a:rPr kumimoji="1" lang="en-US" altLang="zh-CN" sz="2000" baseline="-25000">
                <a:solidFill>
                  <a:srgbClr val="3333FF"/>
                </a:solidFill>
                <a:latin typeface="Consolas" pitchFamily="49" charset="0"/>
                <a:ea typeface="仿宋" pitchFamily="49" charset="-122"/>
                <a:cs typeface="Consolas" pitchFamily="49" charset="0"/>
              </a:rPr>
              <a:t>0</a:t>
            </a:r>
            <a:r>
              <a:rPr kumimoji="1" lang="en-US" altLang="zh-CN" sz="2000">
                <a:solidFill>
                  <a:srgbClr val="3333FF"/>
                </a:solidFill>
                <a:latin typeface="Consolas" pitchFamily="49" charset="0"/>
                <a:ea typeface="仿宋" pitchFamily="49" charset="-122"/>
                <a:cs typeface="Consolas" pitchFamily="49" charset="0"/>
              </a:rPr>
              <a:t>+</a:t>
            </a:r>
            <a:r>
              <a:rPr kumimoji="1" lang="en-US" altLang="zh-CN" sz="2000" i="1">
                <a:solidFill>
                  <a:srgbClr val="3333FF"/>
                </a:solidFill>
                <a:latin typeface="Consolas" pitchFamily="49" charset="0"/>
                <a:ea typeface="仿宋" pitchFamily="49" charset="-122"/>
                <a:cs typeface="Consolas" pitchFamily="49" charset="0"/>
              </a:rPr>
              <a:t>n</a:t>
            </a:r>
            <a:r>
              <a:rPr kumimoji="1" lang="en-US" altLang="zh-CN" sz="2000" baseline="-25000">
                <a:solidFill>
                  <a:srgbClr val="3333FF"/>
                </a:solidFill>
                <a:latin typeface="Consolas" pitchFamily="49" charset="0"/>
                <a:ea typeface="仿宋" pitchFamily="49" charset="-122"/>
                <a:cs typeface="Consolas" pitchFamily="49" charset="0"/>
              </a:rPr>
              <a:t>2</a:t>
            </a:r>
          </a:p>
          <a:p>
            <a:pPr algn="l">
              <a:spcBef>
                <a:spcPct val="50000"/>
              </a:spcBef>
            </a:pPr>
            <a:r>
              <a:rPr kumimoji="1" lang="en-US" altLang="zh-CN" sz="2000">
                <a:solidFill>
                  <a:srgbClr val="3333FF"/>
                </a:solidFill>
                <a:latin typeface="Consolas" pitchFamily="49" charset="0"/>
                <a:ea typeface="仿宋" pitchFamily="49" charset="-122"/>
                <a:cs typeface="Consolas" pitchFamily="49" charset="0"/>
              </a:rPr>
              <a:t>                =  2</a:t>
            </a:r>
            <a:r>
              <a:rPr kumimoji="1" lang="en-US" altLang="zh-CN" sz="2000" i="1">
                <a:solidFill>
                  <a:srgbClr val="3333FF"/>
                </a:solidFill>
                <a:latin typeface="Consolas" pitchFamily="49" charset="0"/>
                <a:ea typeface="仿宋" pitchFamily="49" charset="-122"/>
                <a:cs typeface="Consolas" pitchFamily="49" charset="0"/>
              </a:rPr>
              <a:t>n</a:t>
            </a:r>
            <a:r>
              <a:rPr kumimoji="1" lang="en-US" altLang="zh-CN" sz="2000" baseline="-25000">
                <a:solidFill>
                  <a:srgbClr val="3333FF"/>
                </a:solidFill>
                <a:latin typeface="Consolas" pitchFamily="49" charset="0"/>
                <a:ea typeface="仿宋" pitchFamily="49" charset="-122"/>
                <a:cs typeface="Consolas" pitchFamily="49" charset="0"/>
              </a:rPr>
              <a:t>0</a:t>
            </a:r>
            <a:r>
              <a:rPr kumimoji="1" lang="en-US" altLang="zh-CN" sz="2000">
                <a:solidFill>
                  <a:srgbClr val="3333FF"/>
                </a:solidFill>
                <a:latin typeface="Consolas" pitchFamily="49" charset="0"/>
                <a:ea typeface="仿宋" pitchFamily="49" charset="-122"/>
                <a:cs typeface="Consolas" pitchFamily="49" charset="0"/>
              </a:rPr>
              <a:t>-1</a:t>
            </a:r>
            <a:r>
              <a:rPr kumimoji="1" lang="zh-CN" altLang="en-US" sz="2000">
                <a:solidFill>
                  <a:srgbClr val="3333FF"/>
                </a:solidFill>
                <a:latin typeface="Consolas" pitchFamily="49" charset="0"/>
                <a:ea typeface="仿宋" pitchFamily="49" charset="-122"/>
                <a:cs typeface="Consolas" pitchFamily="49" charset="0"/>
              </a:rPr>
              <a:t>。</a:t>
            </a:r>
            <a:endParaRPr kumimoji="1" lang="en-US" altLang="zh-CN" sz="2000">
              <a:solidFill>
                <a:srgbClr val="3333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60308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7" presetClass="entr" presetSubtype="0" fill="hold" nodeType="clickEffect">
                                  <p:stCondLst>
                                    <p:cond delay="0"/>
                                  </p:stCondLst>
                                  <p:iterate type="lt">
                                    <p:tmPct val="50000"/>
                                  </p:iterate>
                                  <p:childTnLst>
                                    <p:set>
                                      <p:cBhvr>
                                        <p:cTn id="16" dur="1" fill="hold">
                                          <p:stCondLst>
                                            <p:cond delay="0"/>
                                          </p:stCondLst>
                                        </p:cTn>
                                        <p:tgtEl>
                                          <p:spTgt spid="6">
                                            <p:txEl>
                                              <p:pRg st="0" end="0"/>
                                            </p:txEl>
                                          </p:spTgt>
                                        </p:tgtEl>
                                        <p:attrNameLst>
                                          <p:attrName>style.visibility</p:attrName>
                                        </p:attrNameLst>
                                      </p:cBhvr>
                                      <p:to>
                                        <p:strVal val="visible"/>
                                      </p:to>
                                    </p:set>
                                    <p:anim calcmode="discrete" valueType="clr">
                                      <p:cBhvr override="childStyle">
                                        <p:cTn id="17" dur="80"/>
                                        <p:tgtEl>
                                          <p:spTgt spid="6">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6">
                                            <p:txEl>
                                              <p:pRg st="0" end="0"/>
                                            </p:txEl>
                                          </p:spTgt>
                                        </p:tgtEl>
                                        <p:attrNameLst>
                                          <p:attrName>fillcolor</p:attrName>
                                        </p:attrNameLst>
                                      </p:cBhvr>
                                      <p:tavLst>
                                        <p:tav tm="0">
                                          <p:val>
                                            <p:clrVal>
                                              <a:schemeClr val="accent2"/>
                                            </p:clrVal>
                                          </p:val>
                                        </p:tav>
                                        <p:tav tm="50000">
                                          <p:val>
                                            <p:clrVal>
                                              <a:schemeClr val="hlink"/>
                                            </p:clrVal>
                                          </p:val>
                                        </p:tav>
                                      </p:tavLst>
                                    </p:anim>
                                    <p:set>
                                      <p:cBhvr>
                                        <p:cTn id="19" dur="80"/>
                                        <p:tgtEl>
                                          <p:spTgt spid="6">
                                            <p:txEl>
                                              <p:pRg st="0" end="0"/>
                                            </p:txEl>
                                          </p:spTgt>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nodeType="clickEffect">
                                  <p:stCondLst>
                                    <p:cond delay="0"/>
                                  </p:stCondLst>
                                  <p:iterate type="lt">
                                    <p:tmPct val="50000"/>
                                  </p:iterate>
                                  <p:childTnLst>
                                    <p:set>
                                      <p:cBhvr>
                                        <p:cTn id="23" dur="1" fill="hold">
                                          <p:stCondLst>
                                            <p:cond delay="0"/>
                                          </p:stCondLst>
                                        </p:cTn>
                                        <p:tgtEl>
                                          <p:spTgt spid="6">
                                            <p:txEl>
                                              <p:pRg st="1" end="1"/>
                                            </p:txEl>
                                          </p:spTgt>
                                        </p:tgtEl>
                                        <p:attrNameLst>
                                          <p:attrName>style.visibility</p:attrName>
                                        </p:attrNameLst>
                                      </p:cBhvr>
                                      <p:to>
                                        <p:strVal val="visible"/>
                                      </p:to>
                                    </p:set>
                                    <p:anim calcmode="discrete" valueType="clr">
                                      <p:cBhvr override="childStyle">
                                        <p:cTn id="24" dur="80"/>
                                        <p:tgtEl>
                                          <p:spTgt spid="6">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6">
                                            <p:txEl>
                                              <p:pRg st="1" end="1"/>
                                            </p:txEl>
                                          </p:spTgt>
                                        </p:tgtEl>
                                        <p:attrNameLst>
                                          <p:attrName>fillcolor</p:attrName>
                                        </p:attrNameLst>
                                      </p:cBhvr>
                                      <p:tavLst>
                                        <p:tav tm="0">
                                          <p:val>
                                            <p:clrVal>
                                              <a:schemeClr val="accent2"/>
                                            </p:clrVal>
                                          </p:val>
                                        </p:tav>
                                        <p:tav tm="50000">
                                          <p:val>
                                            <p:clrVal>
                                              <a:schemeClr val="hlink"/>
                                            </p:clrVal>
                                          </p:val>
                                        </p:tav>
                                      </p:tavLst>
                                    </p:anim>
                                    <p:set>
                                      <p:cBhvr>
                                        <p:cTn id="26" dur="80"/>
                                        <p:tgtEl>
                                          <p:spTgt spid="6">
                                            <p:txEl>
                                              <p:pRg st="1" end="1"/>
                                            </p:txEl>
                                          </p:spTgt>
                                        </p:tgtEl>
                                        <p:attrNameLst>
                                          <p:attrName>fill.type</p:attrName>
                                        </p:attrNameLst>
                                      </p:cBhvr>
                                      <p:to>
                                        <p:strVal val="solid"/>
                                      </p:to>
                                    </p:set>
                                  </p:childTnLst>
                                </p:cTn>
                              </p:par>
                              <p:par>
                                <p:cTn id="27" presetID="27" presetClass="entr" presetSubtype="0" fill="hold" nodeType="withEffect">
                                  <p:stCondLst>
                                    <p:cond delay="0"/>
                                  </p:stCondLst>
                                  <p:iterate type="lt">
                                    <p:tmPct val="50000"/>
                                  </p:iterate>
                                  <p:childTnLst>
                                    <p:set>
                                      <p:cBhvr>
                                        <p:cTn id="28" dur="1" fill="hold">
                                          <p:stCondLst>
                                            <p:cond delay="0"/>
                                          </p:stCondLst>
                                        </p:cTn>
                                        <p:tgtEl>
                                          <p:spTgt spid="6">
                                            <p:txEl>
                                              <p:pRg st="2" end="2"/>
                                            </p:txEl>
                                          </p:spTgt>
                                        </p:tgtEl>
                                        <p:attrNameLst>
                                          <p:attrName>style.visibility</p:attrName>
                                        </p:attrNameLst>
                                      </p:cBhvr>
                                      <p:to>
                                        <p:strVal val="visible"/>
                                      </p:to>
                                    </p:set>
                                    <p:anim calcmode="discrete" valueType="clr">
                                      <p:cBhvr override="childStyle">
                                        <p:cTn id="29" dur="80"/>
                                        <p:tgtEl>
                                          <p:spTgt spid="6">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0" dur="80"/>
                                        <p:tgtEl>
                                          <p:spTgt spid="6">
                                            <p:txEl>
                                              <p:pRg st="2" end="2"/>
                                            </p:txEl>
                                          </p:spTgt>
                                        </p:tgtEl>
                                        <p:attrNameLst>
                                          <p:attrName>fillcolor</p:attrName>
                                        </p:attrNameLst>
                                      </p:cBhvr>
                                      <p:tavLst>
                                        <p:tav tm="0">
                                          <p:val>
                                            <p:clrVal>
                                              <a:schemeClr val="accent2"/>
                                            </p:clrVal>
                                          </p:val>
                                        </p:tav>
                                        <p:tav tm="50000">
                                          <p:val>
                                            <p:clrVal>
                                              <a:schemeClr val="hlink"/>
                                            </p:clrVal>
                                          </p:val>
                                        </p:tav>
                                      </p:tavLst>
                                    </p:anim>
                                    <p:set>
                                      <p:cBhvr>
                                        <p:cTn id="31" dur="80"/>
                                        <p:tgtEl>
                                          <p:spTgt spid="6">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1B98BA-8D9C-E0FA-166A-0F8AF641A731}"/>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xmlns="" id="{AF6DD6E4-804D-8DC6-95CB-7C0454172A6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329D4799-BB61-C1AC-3763-DDBA2E0F5931}"/>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655D2CD0-DF1A-D631-1988-4EB8BB7C1345}"/>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7.8.2 </a:t>
            </a:r>
            <a:r>
              <a:rPr lang="zh-CN" altLang="en-US" dirty="0"/>
              <a:t>构造哈夫曼树</a:t>
            </a:r>
          </a:p>
        </p:txBody>
      </p:sp>
      <p:sp>
        <p:nvSpPr>
          <p:cNvPr id="7" name="TextBox 2">
            <a:extLst>
              <a:ext uri="{FF2B5EF4-FFF2-40B4-BE49-F238E27FC236}">
                <a16:creationId xmlns:a16="http://schemas.microsoft.com/office/drawing/2014/main" xmlns="" id="{42BC3AEA-D90E-6E27-7140-795B3E957DD5}"/>
              </a:ext>
            </a:extLst>
          </p:cNvPr>
          <p:cNvSpPr txBox="1"/>
          <p:nvPr/>
        </p:nvSpPr>
        <p:spPr>
          <a:xfrm>
            <a:off x="2711624" y="2348880"/>
            <a:ext cx="7572428" cy="966227"/>
          </a:xfrm>
          <a:prstGeom prst="rect">
            <a:avLst/>
          </a:prstGeom>
          <a:noFill/>
        </p:spPr>
        <p:txBody>
          <a:bodyPr wrap="square" rtlCol="0">
            <a:spAutoFit/>
          </a:bodyPr>
          <a:lstStyle/>
          <a:p>
            <a:pPr algn="l">
              <a:lnSpc>
                <a:spcPct val="150000"/>
              </a:lnSpc>
            </a:pPr>
            <a:r>
              <a:rPr lang="zh-CN" altLang="zh-CN" sz="2000">
                <a:latin typeface="Consolas" pitchFamily="49" charset="0"/>
                <a:ea typeface="楷体" pitchFamily="49" charset="-122"/>
                <a:cs typeface="Consolas" pitchFamily="49" charset="0"/>
              </a:rPr>
              <a:t>一棵哈夫曼树中共有</a:t>
            </a:r>
            <a:r>
              <a:rPr lang="en-US" altLang="zh-CN" sz="2000">
                <a:latin typeface="Consolas" pitchFamily="49" charset="0"/>
                <a:ea typeface="楷体" pitchFamily="49" charset="-122"/>
                <a:cs typeface="Consolas" pitchFamily="49" charset="0"/>
              </a:rPr>
              <a:t>199</a:t>
            </a:r>
            <a:r>
              <a:rPr lang="zh-CN" altLang="zh-CN" sz="2000">
                <a:latin typeface="Consolas" pitchFamily="49" charset="0"/>
                <a:ea typeface="楷体" pitchFamily="49" charset="-122"/>
                <a:cs typeface="Consolas" pitchFamily="49" charset="0"/>
              </a:rPr>
              <a:t>个结点，它用于</a:t>
            </a:r>
            <a:r>
              <a:rPr lang="zh-CN" altLang="en-US" sz="2000">
                <a:latin typeface="Consolas" pitchFamily="49" charset="0"/>
                <a:ea typeface="楷体" pitchFamily="49" charset="-122"/>
                <a:cs typeface="Consolas" pitchFamily="49" charset="0"/>
              </a:rPr>
              <a:t>（  ）</a:t>
            </a:r>
            <a:r>
              <a:rPr lang="zh-CN" altLang="zh-CN" sz="2000">
                <a:latin typeface="Consolas" pitchFamily="49" charset="0"/>
                <a:ea typeface="楷体" pitchFamily="49" charset="-122"/>
                <a:cs typeface="Consolas" pitchFamily="49" charset="0"/>
              </a:rPr>
              <a:t>个字符的编码。</a:t>
            </a:r>
          </a:p>
          <a:p>
            <a:pPr algn="l">
              <a:lnSpc>
                <a:spcPct val="150000"/>
              </a:lnSpc>
            </a:pPr>
            <a:r>
              <a:rPr lang="en-US" altLang="zh-CN" sz="2000">
                <a:latin typeface="Consolas" pitchFamily="49" charset="0"/>
                <a:ea typeface="楷体" pitchFamily="49" charset="-122"/>
                <a:cs typeface="Consolas" pitchFamily="49" charset="0"/>
              </a:rPr>
              <a:t>A.99	   B.100	C.101		D.199</a:t>
            </a:r>
            <a:endParaRPr lang="zh-CN" altLang="en-US" sz="2000">
              <a:latin typeface="Consolas" pitchFamily="49" charset="0"/>
              <a:ea typeface="楷体" pitchFamily="49" charset="-122"/>
              <a:cs typeface="Consolas" pitchFamily="49" charset="0"/>
            </a:endParaRPr>
          </a:p>
        </p:txBody>
      </p:sp>
      <p:grpSp>
        <p:nvGrpSpPr>
          <p:cNvPr id="8" name="组合 3">
            <a:extLst>
              <a:ext uri="{FF2B5EF4-FFF2-40B4-BE49-F238E27FC236}">
                <a16:creationId xmlns:a16="http://schemas.microsoft.com/office/drawing/2014/main" xmlns="" id="{699ED100-81BE-2532-D0C1-40E8126A391D}"/>
              </a:ext>
            </a:extLst>
          </p:cNvPr>
          <p:cNvGrpSpPr/>
          <p:nvPr/>
        </p:nvGrpSpPr>
        <p:grpSpPr>
          <a:xfrm>
            <a:off x="1925806" y="1743471"/>
            <a:ext cx="1000100" cy="785817"/>
            <a:chOff x="5691204" y="3835411"/>
            <a:chExt cx="1238250" cy="1236663"/>
          </a:xfrm>
        </p:grpSpPr>
        <p:grpSp>
          <p:nvGrpSpPr>
            <p:cNvPr id="9" name="Group 19">
              <a:extLst>
                <a:ext uri="{FF2B5EF4-FFF2-40B4-BE49-F238E27FC236}">
                  <a16:creationId xmlns:a16="http://schemas.microsoft.com/office/drawing/2014/main" xmlns="" id="{669DBD3A-311E-E15E-CE36-1BD482BAD3D4}"/>
                </a:ext>
              </a:extLst>
            </p:cNvPr>
            <p:cNvGrpSpPr>
              <a:grpSpLocks/>
            </p:cNvGrpSpPr>
            <p:nvPr/>
          </p:nvGrpSpPr>
          <p:grpSpPr bwMode="auto">
            <a:xfrm>
              <a:off x="5691204" y="3835411"/>
              <a:ext cx="1238250" cy="1236663"/>
              <a:chOff x="802" y="845"/>
              <a:chExt cx="827" cy="826"/>
            </a:xfrm>
          </p:grpSpPr>
          <p:sp>
            <p:nvSpPr>
              <p:cNvPr id="11" name="Oval 20">
                <a:extLst>
                  <a:ext uri="{FF2B5EF4-FFF2-40B4-BE49-F238E27FC236}">
                    <a16:creationId xmlns:a16="http://schemas.microsoft.com/office/drawing/2014/main" xmlns="" id="{67B0A2F2-13B7-D6FF-CB68-88577DF8F0F1}"/>
                  </a:ext>
                </a:extLst>
              </p:cNvPr>
              <p:cNvSpPr>
                <a:spLocks noChangeArrowheads="1"/>
              </p:cNvSpPr>
              <p:nvPr/>
            </p:nvSpPr>
            <p:spPr bwMode="gray">
              <a:xfrm>
                <a:off x="802" y="845"/>
                <a:ext cx="827" cy="826"/>
              </a:xfrm>
              <a:prstGeom prst="ellipse">
                <a:avLst/>
              </a:prstGeom>
              <a:solidFill>
                <a:srgbClr val="F8F8F8"/>
              </a:solidFill>
              <a:ln w="38100">
                <a:solidFill>
                  <a:schemeClr val="hlink"/>
                </a:solidFill>
                <a:round/>
                <a:headEnd/>
                <a:tailEnd/>
              </a:ln>
            </p:spPr>
            <p:txBody>
              <a:bodyPr wrap="none" anchor="ctr"/>
              <a:lstStyle/>
              <a:p>
                <a:endParaRPr lang="zh-CN" altLang="zh-CN">
                  <a:latin typeface="Calibri" pitchFamily="34" charset="0"/>
                  <a:cs typeface="Arial" pitchFamily="34" charset="0"/>
                </a:endParaRPr>
              </a:p>
            </p:txBody>
          </p:sp>
          <p:sp>
            <p:nvSpPr>
              <p:cNvPr id="12" name="Oval 21">
                <a:extLst>
                  <a:ext uri="{FF2B5EF4-FFF2-40B4-BE49-F238E27FC236}">
                    <a16:creationId xmlns:a16="http://schemas.microsoft.com/office/drawing/2014/main" xmlns="" id="{8EFEA58E-3989-25D9-D422-DE4C8486CB77}"/>
                  </a:ext>
                </a:extLst>
              </p:cNvPr>
              <p:cNvSpPr>
                <a:spLocks noChangeArrowheads="1"/>
              </p:cNvSpPr>
              <p:nvPr/>
            </p:nvSpPr>
            <p:spPr bwMode="gray">
              <a:xfrm>
                <a:off x="836" y="879"/>
                <a:ext cx="758" cy="758"/>
              </a:xfrm>
              <a:prstGeom prst="ellipse">
                <a:avLst/>
              </a:prstGeom>
              <a:noFill/>
              <a:ln w="38100">
                <a:solidFill>
                  <a:schemeClr val="hlink">
                    <a:alpha val="70195"/>
                  </a:schemeClr>
                </a:solidFill>
                <a:round/>
                <a:headEnd/>
                <a:tailEnd/>
              </a:ln>
            </p:spPr>
            <p:txBody>
              <a:bodyPr wrap="none" anchor="ctr"/>
              <a:lstStyle/>
              <a:p>
                <a:endParaRPr lang="zh-CN" altLang="zh-CN">
                  <a:latin typeface="Calibri" pitchFamily="34" charset="0"/>
                  <a:cs typeface="Arial" pitchFamily="34" charset="0"/>
                </a:endParaRPr>
              </a:p>
            </p:txBody>
          </p:sp>
          <p:sp>
            <p:nvSpPr>
              <p:cNvPr id="13" name="Oval 22">
                <a:extLst>
                  <a:ext uri="{FF2B5EF4-FFF2-40B4-BE49-F238E27FC236}">
                    <a16:creationId xmlns:a16="http://schemas.microsoft.com/office/drawing/2014/main" xmlns="" id="{1A4E1E19-E701-45C0-04A3-2D564F24C4CA}"/>
                  </a:ext>
                </a:extLst>
              </p:cNvPr>
              <p:cNvSpPr>
                <a:spLocks noChangeArrowheads="1"/>
              </p:cNvSpPr>
              <p:nvPr/>
            </p:nvSpPr>
            <p:spPr bwMode="gray">
              <a:xfrm>
                <a:off x="870" y="915"/>
                <a:ext cx="690" cy="690"/>
              </a:xfrm>
              <a:prstGeom prst="ellipse">
                <a:avLst/>
              </a:prstGeom>
              <a:noFill/>
              <a:ln w="38100">
                <a:solidFill>
                  <a:schemeClr val="hlink">
                    <a:alpha val="30196"/>
                  </a:schemeClr>
                </a:solidFill>
                <a:round/>
                <a:headEnd/>
                <a:tailEnd/>
              </a:ln>
            </p:spPr>
            <p:txBody>
              <a:bodyPr wrap="none" anchor="ctr"/>
              <a:lstStyle/>
              <a:p>
                <a:endParaRPr lang="zh-CN" altLang="zh-CN">
                  <a:latin typeface="Calibri" pitchFamily="34" charset="0"/>
                  <a:cs typeface="Arial" pitchFamily="34" charset="0"/>
                </a:endParaRPr>
              </a:p>
            </p:txBody>
          </p:sp>
        </p:grpSp>
        <p:sp>
          <p:nvSpPr>
            <p:cNvPr id="10" name="Text Box 23">
              <a:extLst>
                <a:ext uri="{FF2B5EF4-FFF2-40B4-BE49-F238E27FC236}">
                  <a16:creationId xmlns:a16="http://schemas.microsoft.com/office/drawing/2014/main" xmlns="" id="{601F3987-6386-29B2-72FB-00AE7F1839CB}"/>
                </a:ext>
              </a:extLst>
            </p:cNvPr>
            <p:cNvSpPr txBox="1">
              <a:spLocks noChangeArrowheads="1"/>
            </p:cNvSpPr>
            <p:nvPr/>
          </p:nvSpPr>
          <p:spPr bwMode="gray">
            <a:xfrm>
              <a:off x="5762641" y="4214818"/>
              <a:ext cx="1082674" cy="557010"/>
            </a:xfrm>
            <a:prstGeom prst="rect">
              <a:avLst/>
            </a:prstGeom>
            <a:noFill/>
            <a:ln w="9525" algn="ctr">
              <a:noFill/>
              <a:miter lim="800000"/>
              <a:headEnd/>
              <a:tailEnd/>
            </a:ln>
          </p:spPr>
          <p:txBody>
            <a:bodyPr>
              <a:spAutoFit/>
            </a:bodyPr>
            <a:lstStyle/>
            <a:p>
              <a:pPr algn="ctr">
                <a:spcBef>
                  <a:spcPct val="50000"/>
                </a:spcBef>
              </a:pPr>
              <a:r>
                <a:rPr lang="zh-CN" altLang="en-US" sz="2000" b="1">
                  <a:solidFill>
                    <a:srgbClr val="FF0000"/>
                  </a:solidFill>
                  <a:latin typeface="方正启体简体" pitchFamily="65" charset="-122"/>
                  <a:ea typeface="方正启体简体" pitchFamily="65" charset="-122"/>
                  <a:cs typeface="Consolas" pitchFamily="49" charset="0"/>
                </a:rPr>
                <a:t>示例</a:t>
              </a:r>
            </a:p>
          </p:txBody>
        </p:sp>
      </p:grpSp>
      <p:sp>
        <p:nvSpPr>
          <p:cNvPr id="14" name="TextBox 10">
            <a:extLst>
              <a:ext uri="{FF2B5EF4-FFF2-40B4-BE49-F238E27FC236}">
                <a16:creationId xmlns:a16="http://schemas.microsoft.com/office/drawing/2014/main" xmlns="" id="{49CA92E1-E1E0-D2EF-CE73-CDF9F61D6649}"/>
              </a:ext>
            </a:extLst>
          </p:cNvPr>
          <p:cNvSpPr txBox="1"/>
          <p:nvPr/>
        </p:nvSpPr>
        <p:spPr>
          <a:xfrm>
            <a:off x="2854500" y="3600859"/>
            <a:ext cx="4143404" cy="15219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spcBef>
                <a:spcPct val="50000"/>
              </a:spcBef>
              <a:buBlip>
                <a:blip r:embed="rId2"/>
              </a:buBlip>
            </a:pPr>
            <a:r>
              <a:rPr kumimoji="1" lang="en-US" altLang="zh-CN" sz="2000" i="1">
                <a:latin typeface="Consolas" pitchFamily="49" charset="0"/>
                <a:ea typeface="仿宋" pitchFamily="49" charset="-122"/>
                <a:cs typeface="Consolas" pitchFamily="49" charset="0"/>
              </a:rPr>
              <a:t>n </a:t>
            </a:r>
            <a:r>
              <a:rPr kumimoji="1" lang="en-US" altLang="zh-CN" sz="2000">
                <a:latin typeface="Consolas" pitchFamily="49" charset="0"/>
                <a:ea typeface="仿宋" pitchFamily="49" charset="-122"/>
                <a:cs typeface="Consolas" pitchFamily="49" charset="0"/>
              </a:rPr>
              <a:t>= 2</a:t>
            </a:r>
            <a:r>
              <a:rPr kumimoji="1" lang="en-US" altLang="zh-CN" sz="2000" i="1">
                <a:latin typeface="Consolas" pitchFamily="49" charset="0"/>
                <a:ea typeface="仿宋" pitchFamily="49" charset="-122"/>
                <a:cs typeface="Consolas" pitchFamily="49" charset="0"/>
              </a:rPr>
              <a:t>n</a:t>
            </a:r>
            <a:r>
              <a:rPr kumimoji="1" lang="en-US" altLang="zh-CN" sz="2000" baseline="-25000">
                <a:latin typeface="Consolas" pitchFamily="49" charset="0"/>
                <a:ea typeface="仿宋" pitchFamily="49" charset="-122"/>
                <a:cs typeface="Consolas" pitchFamily="49" charset="0"/>
              </a:rPr>
              <a:t>0</a:t>
            </a:r>
            <a:r>
              <a:rPr kumimoji="1" lang="en-US" altLang="zh-CN" sz="2000">
                <a:latin typeface="Consolas" pitchFamily="49" charset="0"/>
                <a:ea typeface="仿宋" pitchFamily="49" charset="-122"/>
                <a:cs typeface="Consolas" pitchFamily="49" charset="0"/>
              </a:rPr>
              <a:t>-1</a:t>
            </a:r>
            <a:r>
              <a:rPr kumimoji="1" lang="zh-CN" altLang="en-US" sz="2000">
                <a:latin typeface="Consolas" pitchFamily="49" charset="0"/>
                <a:ea typeface="仿宋" pitchFamily="49" charset="-122"/>
                <a:cs typeface="Consolas" pitchFamily="49" charset="0"/>
              </a:rPr>
              <a:t>。</a:t>
            </a:r>
            <a:endParaRPr kumimoji="1" lang="en-US" altLang="zh-CN" sz="2000">
              <a:latin typeface="Consolas" pitchFamily="49" charset="0"/>
              <a:ea typeface="仿宋" pitchFamily="49" charset="-122"/>
              <a:cs typeface="Consolas" pitchFamily="49" charset="0"/>
            </a:endParaRPr>
          </a:p>
          <a:p>
            <a:pPr marL="457200" indent="-457200" algn="l">
              <a:spcBef>
                <a:spcPct val="50000"/>
              </a:spcBef>
              <a:buBlip>
                <a:blip r:embed="rId2"/>
              </a:buBlip>
            </a:pPr>
            <a:r>
              <a:rPr kumimoji="1" lang="en-US" altLang="zh-CN" sz="2000" i="1">
                <a:latin typeface="Consolas" pitchFamily="49" charset="0"/>
                <a:ea typeface="仿宋" pitchFamily="49" charset="-122"/>
                <a:cs typeface="Consolas" pitchFamily="49" charset="0"/>
              </a:rPr>
              <a:t>n</a:t>
            </a:r>
            <a:r>
              <a:rPr kumimoji="1" lang="en-US" altLang="zh-CN" sz="2000" baseline="-25000">
                <a:latin typeface="Consolas" pitchFamily="49" charset="0"/>
                <a:ea typeface="仿宋" pitchFamily="49" charset="-122"/>
                <a:cs typeface="Consolas" pitchFamily="49" charset="0"/>
              </a:rPr>
              <a:t>0</a:t>
            </a:r>
            <a:r>
              <a:rPr kumimoji="1" lang="en-US" altLang="zh-CN" sz="2000">
                <a:latin typeface="Consolas" pitchFamily="49" charset="0"/>
                <a:ea typeface="仿宋" pitchFamily="49" charset="-122"/>
                <a:cs typeface="Consolas" pitchFamily="49" charset="0"/>
              </a:rPr>
              <a:t>=(</a:t>
            </a:r>
            <a:r>
              <a:rPr kumimoji="1" lang="en-US" altLang="zh-CN" sz="2000" i="1">
                <a:latin typeface="Consolas" pitchFamily="49" charset="0"/>
                <a:ea typeface="仿宋" pitchFamily="49" charset="-122"/>
                <a:cs typeface="Consolas" pitchFamily="49" charset="0"/>
              </a:rPr>
              <a:t>n</a:t>
            </a:r>
            <a:r>
              <a:rPr kumimoji="1" lang="en-US" altLang="zh-CN" sz="2000">
                <a:latin typeface="Consolas" pitchFamily="49" charset="0"/>
                <a:ea typeface="仿宋" pitchFamily="49" charset="-122"/>
                <a:cs typeface="Consolas" pitchFamily="49" charset="0"/>
              </a:rPr>
              <a:t>+1)/2=200/2=100</a:t>
            </a:r>
          </a:p>
          <a:p>
            <a:pPr marL="457200" indent="-457200" algn="l">
              <a:spcBef>
                <a:spcPct val="50000"/>
              </a:spcBef>
              <a:buBlip>
                <a:blip r:embed="rId2"/>
              </a:buBlip>
            </a:pPr>
            <a:r>
              <a:rPr lang="zh-CN" altLang="zh-CN" sz="2000">
                <a:latin typeface="Consolas" pitchFamily="49" charset="0"/>
                <a:ea typeface="仿宋" pitchFamily="49" charset="-122"/>
                <a:cs typeface="Consolas" pitchFamily="49" charset="0"/>
              </a:rPr>
              <a:t>答案</a:t>
            </a:r>
            <a:r>
              <a:rPr lang="zh-CN" altLang="en-US" sz="2000">
                <a:latin typeface="Consolas" pitchFamily="49" charset="0"/>
                <a:ea typeface="仿宋" pitchFamily="49" charset="-122"/>
                <a:cs typeface="Consolas" pitchFamily="49" charset="0"/>
              </a:rPr>
              <a:t>为</a:t>
            </a:r>
            <a:r>
              <a:rPr lang="en-US" altLang="zh-CN" sz="2000">
                <a:solidFill>
                  <a:srgbClr val="C00000"/>
                </a:solidFill>
                <a:latin typeface="Consolas" pitchFamily="49" charset="0"/>
                <a:ea typeface="仿宋" pitchFamily="49" charset="-122"/>
                <a:cs typeface="Consolas" pitchFamily="49" charset="0"/>
              </a:rPr>
              <a:t>B</a:t>
            </a:r>
            <a:r>
              <a:rPr lang="zh-CN" altLang="zh-CN" sz="2000">
                <a:latin typeface="Consolas" pitchFamily="49" charset="0"/>
                <a:ea typeface="仿宋" pitchFamily="49" charset="-122"/>
                <a:cs typeface="Consolas" pitchFamily="49" charset="0"/>
              </a:rPr>
              <a:t>。</a:t>
            </a:r>
            <a:endParaRPr lang="zh-CN" altLang="en-US" sz="2000">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3313629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 Box 35"/>
          <p:cNvSpPr txBox="1">
            <a:spLocks noChangeArrowheads="1"/>
          </p:cNvSpPr>
          <p:nvPr/>
        </p:nvSpPr>
        <p:spPr bwMode="auto">
          <a:xfrm>
            <a:off x="4930080" y="3399384"/>
            <a:ext cx="5257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zh-CN" altLang="en-US" sz="2400" dirty="0">
                <a:latin typeface="黑体" pitchFamily="2" charset="-122"/>
                <a:ea typeface="黑体" pitchFamily="2" charset="-122"/>
              </a:rPr>
              <a:t>转换</a:t>
            </a:r>
            <a:r>
              <a:rPr lang="en-US" altLang="zh-CN" sz="2400" dirty="0">
                <a:latin typeface="黑体" pitchFamily="2" charset="-122"/>
                <a:ea typeface="黑体" pitchFamily="2" charset="-122"/>
              </a:rPr>
              <a:t>n</a:t>
            </a:r>
            <a:r>
              <a:rPr lang="zh-CN" altLang="en-US" sz="2400" dirty="0">
                <a:latin typeface="黑体" pitchFamily="2" charset="-122"/>
                <a:ea typeface="黑体" pitchFamily="2" charset="-122"/>
              </a:rPr>
              <a:t>个成绩的平均比较次数：</a:t>
            </a:r>
            <a:r>
              <a:rPr lang="en-US" altLang="zh-CN" sz="2400" b="1" dirty="0">
                <a:latin typeface="Times New Roman" pitchFamily="18" charset="0"/>
                <a:ea typeface="宋体" pitchFamily="2" charset="-122"/>
              </a:rPr>
              <a:t>2.05*n</a:t>
            </a:r>
          </a:p>
        </p:txBody>
      </p:sp>
      <p:grpSp>
        <p:nvGrpSpPr>
          <p:cNvPr id="91" name="Group 36"/>
          <p:cNvGrpSpPr>
            <a:grpSpLocks/>
          </p:cNvGrpSpPr>
          <p:nvPr/>
        </p:nvGrpSpPr>
        <p:grpSpPr bwMode="auto">
          <a:xfrm>
            <a:off x="4701480" y="2463825"/>
            <a:ext cx="5715000" cy="914400"/>
            <a:chOff x="1824" y="528"/>
            <a:chExt cx="3600" cy="576"/>
          </a:xfrm>
        </p:grpSpPr>
        <p:sp>
          <p:nvSpPr>
            <p:cNvPr id="92" name="Rectangle 37"/>
            <p:cNvSpPr>
              <a:spLocks noChangeArrowheads="1"/>
            </p:cNvSpPr>
            <p:nvPr/>
          </p:nvSpPr>
          <p:spPr bwMode="auto">
            <a:xfrm>
              <a:off x="2400"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0 - 59</a:t>
              </a:r>
            </a:p>
          </p:txBody>
        </p:sp>
        <p:sp>
          <p:nvSpPr>
            <p:cNvPr id="93" name="Rectangle 38"/>
            <p:cNvSpPr>
              <a:spLocks noChangeArrowheads="1"/>
            </p:cNvSpPr>
            <p:nvPr/>
          </p:nvSpPr>
          <p:spPr bwMode="auto">
            <a:xfrm>
              <a:off x="2976"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60 - 69</a:t>
              </a:r>
            </a:p>
          </p:txBody>
        </p:sp>
        <p:sp>
          <p:nvSpPr>
            <p:cNvPr id="94" name="Rectangle 39"/>
            <p:cNvSpPr>
              <a:spLocks noChangeArrowheads="1"/>
            </p:cNvSpPr>
            <p:nvPr/>
          </p:nvSpPr>
          <p:spPr bwMode="auto">
            <a:xfrm>
              <a:off x="3600"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70 - 79</a:t>
              </a:r>
            </a:p>
          </p:txBody>
        </p:sp>
        <p:sp>
          <p:nvSpPr>
            <p:cNvPr id="95" name="Rectangle 40"/>
            <p:cNvSpPr>
              <a:spLocks noChangeArrowheads="1"/>
            </p:cNvSpPr>
            <p:nvPr/>
          </p:nvSpPr>
          <p:spPr bwMode="auto">
            <a:xfrm>
              <a:off x="4176"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80 - 89</a:t>
              </a:r>
            </a:p>
          </p:txBody>
        </p:sp>
        <p:sp>
          <p:nvSpPr>
            <p:cNvPr id="96" name="Rectangle 41"/>
            <p:cNvSpPr>
              <a:spLocks noChangeArrowheads="1"/>
            </p:cNvSpPr>
            <p:nvPr/>
          </p:nvSpPr>
          <p:spPr bwMode="auto">
            <a:xfrm>
              <a:off x="4800" y="720"/>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90 - 100</a:t>
              </a:r>
            </a:p>
          </p:txBody>
        </p:sp>
        <p:sp>
          <p:nvSpPr>
            <p:cNvPr id="97" name="Rectangle 42"/>
            <p:cNvSpPr>
              <a:spLocks noChangeArrowheads="1"/>
            </p:cNvSpPr>
            <p:nvPr/>
          </p:nvSpPr>
          <p:spPr bwMode="auto">
            <a:xfrm>
              <a:off x="2400"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0.05</a:t>
              </a:r>
            </a:p>
          </p:txBody>
        </p:sp>
        <p:sp>
          <p:nvSpPr>
            <p:cNvPr id="98" name="Rectangle 43"/>
            <p:cNvSpPr>
              <a:spLocks noChangeArrowheads="1"/>
            </p:cNvSpPr>
            <p:nvPr/>
          </p:nvSpPr>
          <p:spPr bwMode="auto">
            <a:xfrm>
              <a:off x="2976"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0.15</a:t>
              </a:r>
            </a:p>
          </p:txBody>
        </p:sp>
        <p:sp>
          <p:nvSpPr>
            <p:cNvPr id="99" name="Rectangle 44"/>
            <p:cNvSpPr>
              <a:spLocks noChangeArrowheads="1"/>
            </p:cNvSpPr>
            <p:nvPr/>
          </p:nvSpPr>
          <p:spPr bwMode="auto">
            <a:xfrm>
              <a:off x="3600"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0.40</a:t>
              </a:r>
            </a:p>
          </p:txBody>
        </p:sp>
        <p:sp>
          <p:nvSpPr>
            <p:cNvPr id="100" name="Rectangle 45"/>
            <p:cNvSpPr>
              <a:spLocks noChangeArrowheads="1"/>
            </p:cNvSpPr>
            <p:nvPr/>
          </p:nvSpPr>
          <p:spPr bwMode="auto">
            <a:xfrm>
              <a:off x="4176"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0.30</a:t>
              </a:r>
            </a:p>
          </p:txBody>
        </p:sp>
        <p:sp>
          <p:nvSpPr>
            <p:cNvPr id="101" name="Rectangle 46"/>
            <p:cNvSpPr>
              <a:spLocks noChangeArrowheads="1"/>
            </p:cNvSpPr>
            <p:nvPr/>
          </p:nvSpPr>
          <p:spPr bwMode="auto">
            <a:xfrm>
              <a:off x="4800" y="912"/>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0.10</a:t>
              </a:r>
            </a:p>
          </p:txBody>
        </p:sp>
        <p:sp>
          <p:nvSpPr>
            <p:cNvPr id="102" name="Rectangle 47"/>
            <p:cNvSpPr>
              <a:spLocks noChangeArrowheads="1"/>
            </p:cNvSpPr>
            <p:nvPr/>
          </p:nvSpPr>
          <p:spPr bwMode="auto">
            <a:xfrm>
              <a:off x="1824" y="720"/>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dirty="0">
                  <a:latin typeface="Times New Roman" pitchFamily="18" charset="0"/>
                </a:rPr>
                <a:t>分数</a:t>
              </a:r>
            </a:p>
          </p:txBody>
        </p:sp>
        <p:sp>
          <p:nvSpPr>
            <p:cNvPr id="103" name="Rectangle 48"/>
            <p:cNvSpPr>
              <a:spLocks noChangeArrowheads="1"/>
            </p:cNvSpPr>
            <p:nvPr/>
          </p:nvSpPr>
          <p:spPr bwMode="auto">
            <a:xfrm>
              <a:off x="1824" y="912"/>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a:latin typeface="Times New Roman" pitchFamily="18" charset="0"/>
                </a:rPr>
                <a:t>比例</a:t>
              </a:r>
            </a:p>
          </p:txBody>
        </p:sp>
        <p:sp>
          <p:nvSpPr>
            <p:cNvPr id="104" name="Rectangle 49"/>
            <p:cNvSpPr>
              <a:spLocks noChangeArrowheads="1"/>
            </p:cNvSpPr>
            <p:nvPr/>
          </p:nvSpPr>
          <p:spPr bwMode="auto">
            <a:xfrm>
              <a:off x="2400"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F</a:t>
              </a:r>
            </a:p>
          </p:txBody>
        </p:sp>
        <p:sp>
          <p:nvSpPr>
            <p:cNvPr id="105" name="Rectangle 50"/>
            <p:cNvSpPr>
              <a:spLocks noChangeArrowheads="1"/>
            </p:cNvSpPr>
            <p:nvPr/>
          </p:nvSpPr>
          <p:spPr bwMode="auto">
            <a:xfrm>
              <a:off x="2976"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dirty="0">
                  <a:latin typeface="Times New Roman" pitchFamily="18" charset="0"/>
                </a:rPr>
                <a:t>D</a:t>
              </a:r>
            </a:p>
          </p:txBody>
        </p:sp>
        <p:sp>
          <p:nvSpPr>
            <p:cNvPr id="106" name="Rectangle 51"/>
            <p:cNvSpPr>
              <a:spLocks noChangeArrowheads="1"/>
            </p:cNvSpPr>
            <p:nvPr/>
          </p:nvSpPr>
          <p:spPr bwMode="auto">
            <a:xfrm>
              <a:off x="3600"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dirty="0">
                  <a:latin typeface="Times New Roman" pitchFamily="18" charset="0"/>
                </a:rPr>
                <a:t>C</a:t>
              </a:r>
            </a:p>
          </p:txBody>
        </p:sp>
        <p:sp>
          <p:nvSpPr>
            <p:cNvPr id="107" name="Rectangle 52"/>
            <p:cNvSpPr>
              <a:spLocks noChangeArrowheads="1"/>
            </p:cNvSpPr>
            <p:nvPr/>
          </p:nvSpPr>
          <p:spPr bwMode="auto">
            <a:xfrm>
              <a:off x="4176"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B</a:t>
              </a:r>
            </a:p>
          </p:txBody>
        </p:sp>
        <p:sp>
          <p:nvSpPr>
            <p:cNvPr id="108" name="Rectangle 53"/>
            <p:cNvSpPr>
              <a:spLocks noChangeArrowheads="1"/>
            </p:cNvSpPr>
            <p:nvPr/>
          </p:nvSpPr>
          <p:spPr bwMode="auto">
            <a:xfrm>
              <a:off x="4800" y="528"/>
              <a:ext cx="624"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en-US" altLang="zh-CN" sz="2000">
                  <a:latin typeface="Times New Roman" pitchFamily="18" charset="0"/>
                </a:rPr>
                <a:t>A</a:t>
              </a:r>
            </a:p>
          </p:txBody>
        </p:sp>
        <p:sp>
          <p:nvSpPr>
            <p:cNvPr id="109" name="Rectangle 54"/>
            <p:cNvSpPr>
              <a:spLocks noChangeArrowheads="1"/>
            </p:cNvSpPr>
            <p:nvPr/>
          </p:nvSpPr>
          <p:spPr bwMode="auto">
            <a:xfrm>
              <a:off x="1824" y="528"/>
              <a:ext cx="576" cy="1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18000" rIns="18000" anchor="ctr"/>
            <a:lstStyle/>
            <a:p>
              <a:pPr algn="ctr">
                <a:spcBef>
                  <a:spcPct val="0"/>
                </a:spcBef>
                <a:buClrTx/>
                <a:buSzTx/>
                <a:buFontTx/>
                <a:buNone/>
              </a:pPr>
              <a:r>
                <a:rPr lang="zh-CN" altLang="en-US">
                  <a:latin typeface="Times New Roman" pitchFamily="18" charset="0"/>
                </a:rPr>
                <a:t>等级分</a:t>
              </a:r>
            </a:p>
          </p:txBody>
        </p:sp>
      </p:grpSp>
      <p:sp>
        <p:nvSpPr>
          <p:cNvPr id="57" name="Line 25"/>
          <p:cNvSpPr>
            <a:spLocks noChangeShapeType="1"/>
          </p:cNvSpPr>
          <p:nvPr/>
        </p:nvSpPr>
        <p:spPr bwMode="auto">
          <a:xfrm>
            <a:off x="4000500" y="3279329"/>
            <a:ext cx="0" cy="1905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 name="AutoShape 26"/>
          <p:cNvSpPr>
            <a:spLocks noChangeArrowheads="1"/>
          </p:cNvSpPr>
          <p:nvPr/>
        </p:nvSpPr>
        <p:spPr bwMode="auto">
          <a:xfrm>
            <a:off x="6743700" y="4687416"/>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1600" b="1">
                <a:latin typeface="宋体" charset="-122"/>
              </a:rPr>
              <a:t>60≤</a:t>
            </a:r>
            <a:r>
              <a:rPr lang="en-US" altLang="zh-CN" sz="1600" b="1">
                <a:latin typeface="Times New Roman" pitchFamily="18" charset="0"/>
              </a:rPr>
              <a:t>Score&lt;70?</a:t>
            </a:r>
          </a:p>
        </p:txBody>
      </p:sp>
      <p:sp>
        <p:nvSpPr>
          <p:cNvPr id="111" name="Line 27"/>
          <p:cNvSpPr>
            <a:spLocks noChangeShapeType="1"/>
          </p:cNvSpPr>
          <p:nvPr/>
        </p:nvSpPr>
        <p:spPr bwMode="auto">
          <a:xfrm>
            <a:off x="9182100" y="5068416"/>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 name="Rectangle 28"/>
          <p:cNvSpPr>
            <a:spLocks noChangeArrowheads="1"/>
          </p:cNvSpPr>
          <p:nvPr/>
        </p:nvSpPr>
        <p:spPr bwMode="auto">
          <a:xfrm>
            <a:off x="1562100" y="4067225"/>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grade=‘C’</a:t>
            </a:r>
          </a:p>
        </p:txBody>
      </p:sp>
      <p:sp>
        <p:nvSpPr>
          <p:cNvPr id="113" name="Line 29"/>
          <p:cNvSpPr>
            <a:spLocks noChangeShapeType="1"/>
          </p:cNvSpPr>
          <p:nvPr/>
        </p:nvSpPr>
        <p:spPr bwMode="auto">
          <a:xfrm>
            <a:off x="2247900" y="3835896"/>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30"/>
          <p:cNvSpPr>
            <a:spLocks noChangeShapeType="1"/>
          </p:cNvSpPr>
          <p:nvPr/>
        </p:nvSpPr>
        <p:spPr bwMode="auto">
          <a:xfrm>
            <a:off x="2247900" y="3838625"/>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AutoShape 31"/>
          <p:cNvSpPr>
            <a:spLocks noChangeArrowheads="1"/>
          </p:cNvSpPr>
          <p:nvPr/>
        </p:nvSpPr>
        <p:spPr bwMode="auto">
          <a:xfrm>
            <a:off x="3101280" y="3466009"/>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1600" b="1" dirty="0">
                <a:latin typeface="宋体" charset="-122"/>
              </a:rPr>
              <a:t>70≤</a:t>
            </a:r>
            <a:r>
              <a:rPr lang="en-US" altLang="zh-CN" sz="1600" b="1" dirty="0">
                <a:latin typeface="Times New Roman" pitchFamily="18" charset="0"/>
              </a:rPr>
              <a:t>Score&lt;80?</a:t>
            </a:r>
            <a:r>
              <a:rPr lang="en-US" altLang="zh-CN" sz="2400" dirty="0"/>
              <a:t> </a:t>
            </a:r>
          </a:p>
        </p:txBody>
      </p:sp>
      <p:sp>
        <p:nvSpPr>
          <p:cNvPr id="116" name="Rectangle 32"/>
          <p:cNvSpPr>
            <a:spLocks noChangeArrowheads="1"/>
          </p:cNvSpPr>
          <p:nvPr/>
        </p:nvSpPr>
        <p:spPr bwMode="auto">
          <a:xfrm>
            <a:off x="2857500" y="353109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Y</a:t>
            </a:r>
          </a:p>
        </p:txBody>
      </p:sp>
      <p:sp>
        <p:nvSpPr>
          <p:cNvPr id="117" name="Line 33"/>
          <p:cNvSpPr>
            <a:spLocks noChangeShapeType="1"/>
          </p:cNvSpPr>
          <p:nvPr/>
        </p:nvSpPr>
        <p:spPr bwMode="auto">
          <a:xfrm>
            <a:off x="4914900" y="3835896"/>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34"/>
          <p:cNvSpPr>
            <a:spLocks noChangeShapeType="1"/>
          </p:cNvSpPr>
          <p:nvPr/>
        </p:nvSpPr>
        <p:spPr bwMode="auto">
          <a:xfrm>
            <a:off x="5753100" y="3838626"/>
            <a:ext cx="0" cy="23080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AutoShape 35"/>
          <p:cNvSpPr>
            <a:spLocks noChangeArrowheads="1"/>
          </p:cNvSpPr>
          <p:nvPr/>
        </p:nvSpPr>
        <p:spPr bwMode="auto">
          <a:xfrm>
            <a:off x="4838700" y="4069432"/>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1600" b="1">
                <a:latin typeface="宋体" charset="-122"/>
              </a:rPr>
              <a:t>80≤</a:t>
            </a:r>
            <a:r>
              <a:rPr lang="en-US" altLang="zh-CN" sz="1600" b="1">
                <a:latin typeface="Times New Roman" pitchFamily="18" charset="0"/>
              </a:rPr>
              <a:t>Score&lt;90?</a:t>
            </a:r>
          </a:p>
        </p:txBody>
      </p:sp>
      <p:sp>
        <p:nvSpPr>
          <p:cNvPr id="120" name="Rectangle 36"/>
          <p:cNvSpPr>
            <a:spLocks noChangeArrowheads="1"/>
          </p:cNvSpPr>
          <p:nvPr/>
        </p:nvSpPr>
        <p:spPr bwMode="auto">
          <a:xfrm>
            <a:off x="3314700" y="4676825"/>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grade=‘B’</a:t>
            </a:r>
          </a:p>
        </p:txBody>
      </p:sp>
      <p:sp>
        <p:nvSpPr>
          <p:cNvPr id="121" name="Rectangle 37"/>
          <p:cNvSpPr>
            <a:spLocks noChangeArrowheads="1"/>
          </p:cNvSpPr>
          <p:nvPr/>
        </p:nvSpPr>
        <p:spPr bwMode="auto">
          <a:xfrm>
            <a:off x="4868534" y="3838625"/>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N</a:t>
            </a:r>
          </a:p>
        </p:txBody>
      </p:sp>
      <p:sp>
        <p:nvSpPr>
          <p:cNvPr id="122" name="Line 38"/>
          <p:cNvSpPr>
            <a:spLocks noChangeShapeType="1"/>
          </p:cNvSpPr>
          <p:nvPr/>
        </p:nvSpPr>
        <p:spPr bwMode="auto">
          <a:xfrm>
            <a:off x="6667500" y="4448225"/>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Line 39"/>
          <p:cNvSpPr>
            <a:spLocks noChangeShapeType="1"/>
          </p:cNvSpPr>
          <p:nvPr/>
        </p:nvSpPr>
        <p:spPr bwMode="auto">
          <a:xfrm>
            <a:off x="7658100" y="4448225"/>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 name="AutoShape 40"/>
          <p:cNvSpPr>
            <a:spLocks noChangeArrowheads="1"/>
          </p:cNvSpPr>
          <p:nvPr/>
        </p:nvSpPr>
        <p:spPr bwMode="auto">
          <a:xfrm>
            <a:off x="4991100" y="5373216"/>
            <a:ext cx="18288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rIns="0" anchor="ctr"/>
          <a:lstStyle/>
          <a:p>
            <a:pPr algn="ctr">
              <a:spcBef>
                <a:spcPct val="0"/>
              </a:spcBef>
              <a:buClrTx/>
              <a:buSzTx/>
              <a:buFontTx/>
              <a:buNone/>
            </a:pPr>
            <a:r>
              <a:rPr lang="en-US" altLang="zh-CN" sz="1600" b="1">
                <a:latin typeface="Times New Roman" pitchFamily="18" charset="0"/>
              </a:rPr>
              <a:t>Score&lt;60?</a:t>
            </a:r>
            <a:r>
              <a:rPr lang="en-US" altLang="zh-CN" sz="2400"/>
              <a:t> </a:t>
            </a:r>
          </a:p>
        </p:txBody>
      </p:sp>
      <p:sp>
        <p:nvSpPr>
          <p:cNvPr id="125" name="Rectangle 41"/>
          <p:cNvSpPr>
            <a:spLocks noChangeArrowheads="1"/>
          </p:cNvSpPr>
          <p:nvPr/>
        </p:nvSpPr>
        <p:spPr bwMode="auto">
          <a:xfrm>
            <a:off x="6972300" y="5996136"/>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grade=‘A’</a:t>
            </a:r>
          </a:p>
        </p:txBody>
      </p:sp>
      <p:sp>
        <p:nvSpPr>
          <p:cNvPr id="126" name="Rectangle 42"/>
          <p:cNvSpPr>
            <a:spLocks noChangeArrowheads="1"/>
          </p:cNvSpPr>
          <p:nvPr/>
        </p:nvSpPr>
        <p:spPr bwMode="auto">
          <a:xfrm>
            <a:off x="6591300" y="4143425"/>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N</a:t>
            </a:r>
          </a:p>
        </p:txBody>
      </p:sp>
      <p:sp>
        <p:nvSpPr>
          <p:cNvPr id="127" name="Rectangle 43"/>
          <p:cNvSpPr>
            <a:spLocks noChangeArrowheads="1"/>
          </p:cNvSpPr>
          <p:nvPr/>
        </p:nvSpPr>
        <p:spPr bwMode="auto">
          <a:xfrm>
            <a:off x="8572500" y="5754216"/>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grade=‘D’</a:t>
            </a:r>
          </a:p>
        </p:txBody>
      </p:sp>
      <p:sp>
        <p:nvSpPr>
          <p:cNvPr id="128" name="Line 44"/>
          <p:cNvSpPr>
            <a:spLocks noChangeShapeType="1"/>
          </p:cNvSpPr>
          <p:nvPr/>
        </p:nvSpPr>
        <p:spPr bwMode="auto">
          <a:xfrm>
            <a:off x="8572500" y="5068416"/>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 name="Rectangle 45"/>
          <p:cNvSpPr>
            <a:spLocks noChangeArrowheads="1"/>
          </p:cNvSpPr>
          <p:nvPr/>
        </p:nvSpPr>
        <p:spPr bwMode="auto">
          <a:xfrm>
            <a:off x="8496300" y="476361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Y</a:t>
            </a:r>
          </a:p>
        </p:txBody>
      </p:sp>
      <p:sp>
        <p:nvSpPr>
          <p:cNvPr id="130" name="Rectangle 46"/>
          <p:cNvSpPr>
            <a:spLocks noChangeArrowheads="1"/>
          </p:cNvSpPr>
          <p:nvPr/>
        </p:nvSpPr>
        <p:spPr bwMode="auto">
          <a:xfrm>
            <a:off x="6515100" y="476361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N</a:t>
            </a:r>
          </a:p>
        </p:txBody>
      </p:sp>
      <p:sp>
        <p:nvSpPr>
          <p:cNvPr id="131" name="Rectangle 47"/>
          <p:cNvSpPr>
            <a:spLocks noChangeArrowheads="1"/>
          </p:cNvSpPr>
          <p:nvPr/>
        </p:nvSpPr>
        <p:spPr bwMode="auto">
          <a:xfrm>
            <a:off x="3467100" y="5996136"/>
            <a:ext cx="1371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latin typeface="Times New Roman" pitchFamily="18" charset="0"/>
              </a:rPr>
              <a:t>grade=‘F’</a:t>
            </a:r>
          </a:p>
        </p:txBody>
      </p:sp>
      <p:sp>
        <p:nvSpPr>
          <p:cNvPr id="132" name="Line 48"/>
          <p:cNvSpPr>
            <a:spLocks noChangeShapeType="1"/>
          </p:cNvSpPr>
          <p:nvPr/>
        </p:nvSpPr>
        <p:spPr bwMode="auto">
          <a:xfrm>
            <a:off x="4000500" y="4448225"/>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 name="Line 49"/>
          <p:cNvSpPr>
            <a:spLocks noChangeShapeType="1"/>
          </p:cNvSpPr>
          <p:nvPr/>
        </p:nvSpPr>
        <p:spPr bwMode="auto">
          <a:xfrm>
            <a:off x="4000500" y="4448225"/>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 name="Rectangle 50"/>
          <p:cNvSpPr>
            <a:spLocks noChangeArrowheads="1"/>
          </p:cNvSpPr>
          <p:nvPr/>
        </p:nvSpPr>
        <p:spPr bwMode="auto">
          <a:xfrm>
            <a:off x="4610100" y="4143425"/>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dirty="0"/>
              <a:t>Y</a:t>
            </a:r>
          </a:p>
        </p:txBody>
      </p:sp>
      <p:sp>
        <p:nvSpPr>
          <p:cNvPr id="135" name="Line 51"/>
          <p:cNvSpPr>
            <a:spLocks noChangeShapeType="1"/>
          </p:cNvSpPr>
          <p:nvPr/>
        </p:nvSpPr>
        <p:spPr bwMode="auto">
          <a:xfrm>
            <a:off x="5905500" y="5068416"/>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Line 52"/>
          <p:cNvSpPr>
            <a:spLocks noChangeShapeType="1"/>
          </p:cNvSpPr>
          <p:nvPr/>
        </p:nvSpPr>
        <p:spPr bwMode="auto">
          <a:xfrm>
            <a:off x="5905500" y="5068416"/>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 name="Line 53"/>
          <p:cNvSpPr>
            <a:spLocks noChangeShapeType="1"/>
          </p:cNvSpPr>
          <p:nvPr/>
        </p:nvSpPr>
        <p:spPr bwMode="auto">
          <a:xfrm>
            <a:off x="4152900" y="5754216"/>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 name="Line 54"/>
          <p:cNvSpPr>
            <a:spLocks noChangeShapeType="1"/>
          </p:cNvSpPr>
          <p:nvPr/>
        </p:nvSpPr>
        <p:spPr bwMode="auto">
          <a:xfrm>
            <a:off x="4152900" y="5767536"/>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 name="Line 55"/>
          <p:cNvSpPr>
            <a:spLocks noChangeShapeType="1"/>
          </p:cNvSpPr>
          <p:nvPr/>
        </p:nvSpPr>
        <p:spPr bwMode="auto">
          <a:xfrm>
            <a:off x="6819900" y="5754216"/>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Line 56"/>
          <p:cNvSpPr>
            <a:spLocks noChangeShapeType="1"/>
          </p:cNvSpPr>
          <p:nvPr/>
        </p:nvSpPr>
        <p:spPr bwMode="auto">
          <a:xfrm>
            <a:off x="7658100" y="5767536"/>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 name="Rectangle 57"/>
          <p:cNvSpPr>
            <a:spLocks noChangeArrowheads="1"/>
          </p:cNvSpPr>
          <p:nvPr/>
        </p:nvSpPr>
        <p:spPr bwMode="auto">
          <a:xfrm>
            <a:off x="6743700" y="544941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N</a:t>
            </a:r>
          </a:p>
        </p:txBody>
      </p:sp>
      <p:sp>
        <p:nvSpPr>
          <p:cNvPr id="142" name="Rectangle 58"/>
          <p:cNvSpPr>
            <a:spLocks noChangeArrowheads="1"/>
          </p:cNvSpPr>
          <p:nvPr/>
        </p:nvSpPr>
        <p:spPr bwMode="auto">
          <a:xfrm>
            <a:off x="4686300" y="5449416"/>
            <a:ext cx="304800" cy="304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pPr>
            <a:r>
              <a:rPr lang="en-US" altLang="zh-CN" sz="2000"/>
              <a:t>Y</a:t>
            </a:r>
          </a:p>
        </p:txBody>
      </p:sp>
      <p:sp>
        <p:nvSpPr>
          <p:cNvPr id="61" name="矩形 60"/>
          <p:cNvSpPr/>
          <p:nvPr/>
        </p:nvSpPr>
        <p:spPr>
          <a:xfrm>
            <a:off x="992475" y="1549815"/>
            <a:ext cx="4339650" cy="461665"/>
          </a:xfrm>
          <a:prstGeom prst="rect">
            <a:avLst/>
          </a:prstGeom>
        </p:spPr>
        <p:txBody>
          <a:bodyPr wrap="none">
            <a:spAutoFit/>
          </a:bodyPr>
          <a:lstStyle/>
          <a:p>
            <a:r>
              <a:rPr kumimoji="1" lang="en-US" altLang="zh-CN" sz="2400" dirty="0">
                <a:latin typeface="黑体" pitchFamily="2" charset="-122"/>
                <a:ea typeface="黑体" pitchFamily="2" charset="-122"/>
              </a:rPr>
              <a:t>Huffman</a:t>
            </a:r>
            <a:r>
              <a:rPr kumimoji="1" lang="zh-CN" altLang="zh-CN" sz="2400" dirty="0">
                <a:latin typeface="黑体" pitchFamily="2" charset="-122"/>
                <a:ea typeface="黑体" pitchFamily="2" charset="-122"/>
              </a:rPr>
              <a:t>树应</a:t>
            </a:r>
            <a:r>
              <a:rPr kumimoji="1" lang="zh-CN" altLang="en-US" sz="2400" dirty="0">
                <a:latin typeface="黑体" pitchFamily="2" charset="-122"/>
                <a:ea typeface="黑体" pitchFamily="2" charset="-122"/>
              </a:rPr>
              <a:t>用</a:t>
            </a:r>
            <a:r>
              <a:rPr kumimoji="1" lang="en-US" altLang="zh-CN" sz="2400" dirty="0">
                <a:latin typeface="黑体" pitchFamily="2" charset="-122"/>
                <a:ea typeface="黑体" pitchFamily="2" charset="-122"/>
              </a:rPr>
              <a:t>——</a:t>
            </a:r>
            <a:r>
              <a:rPr kumimoji="1" lang="zh-CN" altLang="en-US" sz="2400" dirty="0">
                <a:latin typeface="黑体" pitchFamily="2" charset="-122"/>
                <a:ea typeface="黑体" pitchFamily="2" charset="-122"/>
              </a:rPr>
              <a:t>最佳判定树</a:t>
            </a:r>
          </a:p>
        </p:txBody>
      </p:sp>
      <p:cxnSp>
        <p:nvCxnSpPr>
          <p:cNvPr id="2" name="直接连接符 1">
            <a:extLst>
              <a:ext uri="{FF2B5EF4-FFF2-40B4-BE49-F238E27FC236}">
                <a16:creationId xmlns:a16="http://schemas.microsoft.com/office/drawing/2014/main" xmlns="" id="{07BC488B-5923-DEB4-06BE-4666B96C533F}"/>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C00A4C97-DB6B-D5AF-43A1-E9604958E77D}"/>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4" name="Rectangle 2">
            <a:extLst>
              <a:ext uri="{FF2B5EF4-FFF2-40B4-BE49-F238E27FC236}">
                <a16:creationId xmlns:a16="http://schemas.microsoft.com/office/drawing/2014/main" xmlns="" id="{E08B4CBC-248C-FF8B-37F0-15A20AB1713C}"/>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7.8.3 </a:t>
            </a:r>
            <a:r>
              <a:rPr lang="zh-CN" altLang="en-US" dirty="0"/>
              <a:t>哈夫曼编码</a:t>
            </a:r>
          </a:p>
        </p:txBody>
      </p:sp>
    </p:spTree>
    <p:extLst>
      <p:ext uri="{BB962C8B-B14F-4D97-AF65-F5344CB8AC3E}">
        <p14:creationId xmlns:p14="http://schemas.microsoft.com/office/powerpoint/2010/main" val="265933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slide(fromRight)">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slide(fromTop)">
                                      <p:cBhvr>
                                        <p:cTn id="12" dur="500"/>
                                        <p:tgtEl>
                                          <p:spTgt spid="9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3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3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3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utoUpdateAnimBg="0"/>
      <p:bldP spid="57" grpId="0" animBg="1"/>
      <p:bldP spid="110" grpId="0" animBg="1"/>
      <p:bldP spid="111" grpId="0" animBg="1"/>
      <p:bldP spid="112" grpId="0" animBg="1"/>
      <p:bldP spid="113" grpId="0" animBg="1"/>
      <p:bldP spid="114" grpId="0" animBg="1"/>
      <p:bldP spid="115" grpId="0" animBg="1"/>
      <p:bldP spid="116" grpId="0"/>
      <p:bldP spid="117" grpId="0" animBg="1"/>
      <p:bldP spid="118" grpId="0" animBg="1"/>
      <p:bldP spid="119" grpId="0" animBg="1"/>
      <p:bldP spid="120" grpId="0" animBg="1"/>
      <p:bldP spid="121" grpId="0"/>
      <p:bldP spid="122" grpId="0" animBg="1"/>
      <p:bldP spid="123" grpId="0" animBg="1"/>
      <p:bldP spid="124" grpId="0" animBg="1"/>
      <p:bldP spid="125" grpId="0" animBg="1"/>
      <p:bldP spid="126" grpId="0"/>
      <p:bldP spid="127" grpId="0" animBg="1"/>
      <p:bldP spid="128" grpId="0" animBg="1"/>
      <p:bldP spid="129" grpId="0"/>
      <p:bldP spid="130" grpId="0"/>
      <p:bldP spid="131" grpId="0" animBg="1"/>
      <p:bldP spid="132" grpId="0" animBg="1"/>
      <p:bldP spid="133" grpId="0" animBg="1"/>
      <p:bldP spid="134" grpId="0"/>
      <p:bldP spid="135" grpId="0" animBg="1"/>
      <p:bldP spid="136" grpId="0" animBg="1"/>
      <p:bldP spid="137" grpId="0" animBg="1"/>
      <p:bldP spid="138" grpId="0" animBg="1"/>
      <p:bldP spid="139" grpId="0" animBg="1"/>
      <p:bldP spid="140" grpId="0" animBg="1"/>
      <p:bldP spid="141" grpId="0"/>
      <p:bldP spid="142"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2291228" y="3429624"/>
            <a:ext cx="2536825" cy="553998"/>
          </a:xfrm>
          <a:prstGeom prst="rect">
            <a:avLst/>
          </a:prstGeom>
          <a:noFill/>
          <a:ln w="12700" cap="rnd">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10000"/>
              </a:spcBef>
              <a:buClrTx/>
              <a:buSzTx/>
              <a:buFont typeface="Wingdings" pitchFamily="2" charset="2"/>
              <a:buNone/>
            </a:pPr>
            <a:r>
              <a:rPr lang="zh-CN" altLang="en-US" sz="2800" b="1" dirty="0">
                <a:latin typeface="Times New Roman" pitchFamily="18" charset="0"/>
              </a:rPr>
              <a:t> </a:t>
            </a:r>
            <a:r>
              <a:rPr lang="zh-CN" altLang="en-US" sz="3000" b="1" dirty="0">
                <a:latin typeface="黑体" pitchFamily="49" charset="-122"/>
                <a:ea typeface="黑体" pitchFamily="49" charset="-122"/>
                <a:cs typeface="经典粗黑简" pitchFamily="49" charset="-122"/>
              </a:rPr>
              <a:t>例如发电报：</a:t>
            </a:r>
          </a:p>
        </p:txBody>
      </p:sp>
      <p:sp>
        <p:nvSpPr>
          <p:cNvPr id="8" name="Text Box 4"/>
          <p:cNvSpPr txBox="1">
            <a:spLocks noChangeArrowheads="1"/>
          </p:cNvSpPr>
          <p:nvPr/>
        </p:nvSpPr>
        <p:spPr bwMode="auto">
          <a:xfrm>
            <a:off x="3847206" y="4161042"/>
            <a:ext cx="1143000" cy="519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zh-CN" altLang="en-US" sz="2800"/>
              <a:t>原文</a:t>
            </a:r>
          </a:p>
        </p:txBody>
      </p:sp>
      <p:sp>
        <p:nvSpPr>
          <p:cNvPr id="9" name="Line 5"/>
          <p:cNvSpPr>
            <a:spLocks noChangeShapeType="1"/>
          </p:cNvSpPr>
          <p:nvPr/>
        </p:nvSpPr>
        <p:spPr bwMode="auto">
          <a:xfrm>
            <a:off x="4837806" y="4389642"/>
            <a:ext cx="838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Text Box 6"/>
          <p:cNvSpPr txBox="1">
            <a:spLocks noChangeArrowheads="1"/>
          </p:cNvSpPr>
          <p:nvPr/>
        </p:nvSpPr>
        <p:spPr bwMode="auto">
          <a:xfrm>
            <a:off x="5599806" y="4161042"/>
            <a:ext cx="1143000" cy="519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zh-CN" altLang="en-US" sz="2800"/>
              <a:t>电文</a:t>
            </a:r>
          </a:p>
        </p:txBody>
      </p:sp>
      <p:sp>
        <p:nvSpPr>
          <p:cNvPr id="12" name="Line 7"/>
          <p:cNvSpPr>
            <a:spLocks noChangeShapeType="1"/>
          </p:cNvSpPr>
          <p:nvPr/>
        </p:nvSpPr>
        <p:spPr bwMode="auto">
          <a:xfrm>
            <a:off x="6666606" y="4389642"/>
            <a:ext cx="838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8"/>
          <p:cNvSpPr txBox="1">
            <a:spLocks noChangeArrowheads="1"/>
          </p:cNvSpPr>
          <p:nvPr/>
        </p:nvSpPr>
        <p:spPr bwMode="auto">
          <a:xfrm>
            <a:off x="7504806" y="4161042"/>
            <a:ext cx="914400" cy="519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zh-CN" altLang="en-US" sz="2800"/>
              <a:t>原文</a:t>
            </a:r>
          </a:p>
        </p:txBody>
      </p:sp>
      <p:sp>
        <p:nvSpPr>
          <p:cNvPr id="14" name="Text Box 9"/>
          <p:cNvSpPr txBox="1">
            <a:spLocks noChangeArrowheads="1"/>
          </p:cNvSpPr>
          <p:nvPr/>
        </p:nvSpPr>
        <p:spPr bwMode="auto">
          <a:xfrm>
            <a:off x="4761606" y="4694443"/>
            <a:ext cx="1219200"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zh-CN" altLang="en-US" sz="2000"/>
              <a:t>发送方</a:t>
            </a:r>
          </a:p>
        </p:txBody>
      </p:sp>
      <p:sp>
        <p:nvSpPr>
          <p:cNvPr id="15" name="Text Box 10"/>
          <p:cNvSpPr txBox="1">
            <a:spLocks noChangeArrowheads="1"/>
          </p:cNvSpPr>
          <p:nvPr/>
        </p:nvSpPr>
        <p:spPr bwMode="auto">
          <a:xfrm>
            <a:off x="6285606" y="4678568"/>
            <a:ext cx="1447800"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zh-CN" altLang="en-US" sz="2000"/>
              <a:t>接受方</a:t>
            </a:r>
          </a:p>
        </p:txBody>
      </p:sp>
      <p:sp>
        <p:nvSpPr>
          <p:cNvPr id="3" name="矩形 2"/>
          <p:cNvSpPr/>
          <p:nvPr/>
        </p:nvSpPr>
        <p:spPr>
          <a:xfrm>
            <a:off x="1127449" y="2420888"/>
            <a:ext cx="9145016" cy="1015663"/>
          </a:xfrm>
          <a:prstGeom prst="rect">
            <a:avLst/>
          </a:prstGeom>
        </p:spPr>
        <p:txBody>
          <a:bodyPr wrap="square">
            <a:spAutoFit/>
          </a:bodyPr>
          <a:lstStyle/>
          <a:p>
            <a:r>
              <a:rPr kumimoji="1" lang="zh-CN" altLang="en-US" sz="2000" dirty="0">
                <a:latin typeface="黑体" pitchFamily="2" charset="-122"/>
                <a:ea typeface="黑体" pitchFamily="2" charset="-122"/>
              </a:rPr>
              <a:t>    在数据通信中，需要将传送的文字转换成由二进制字符‘</a:t>
            </a:r>
            <a:r>
              <a:rPr kumimoji="1" lang="en-US" altLang="zh-CN" sz="2000" dirty="0">
                <a:latin typeface="黑体" pitchFamily="2" charset="-122"/>
                <a:ea typeface="黑体" pitchFamily="2" charset="-122"/>
              </a:rPr>
              <a:t>0’</a:t>
            </a:r>
            <a:r>
              <a:rPr kumimoji="1" lang="zh-CN" altLang="en-US" sz="2000" dirty="0">
                <a:latin typeface="黑体" pitchFamily="2" charset="-122"/>
                <a:ea typeface="黑体" pitchFamily="2" charset="-122"/>
              </a:rPr>
              <a:t>和‘</a:t>
            </a:r>
            <a:r>
              <a:rPr kumimoji="1" lang="en-US" altLang="zh-CN" sz="2000" dirty="0">
                <a:latin typeface="黑体" pitchFamily="2" charset="-122"/>
                <a:ea typeface="黑体" pitchFamily="2" charset="-122"/>
              </a:rPr>
              <a:t>1’</a:t>
            </a:r>
            <a:r>
              <a:rPr kumimoji="1" lang="zh-CN" altLang="en-US" sz="2000" dirty="0">
                <a:latin typeface="黑体" pitchFamily="2" charset="-122"/>
                <a:ea typeface="黑体" pitchFamily="2" charset="-122"/>
              </a:rPr>
              <a:t>组成的二进制串，我们称之为</a:t>
            </a:r>
            <a:r>
              <a:rPr kumimoji="1" lang="zh-CN" altLang="en-US" sz="2000" dirty="0">
                <a:solidFill>
                  <a:srgbClr val="FF0000"/>
                </a:solidFill>
                <a:latin typeface="黑体" pitchFamily="2" charset="-122"/>
                <a:ea typeface="黑体" pitchFamily="2" charset="-122"/>
              </a:rPr>
              <a:t>编码</a:t>
            </a:r>
            <a:r>
              <a:rPr kumimoji="1" lang="zh-CN" altLang="en-US" sz="2000" dirty="0">
                <a:latin typeface="黑体" pitchFamily="2" charset="-122"/>
                <a:ea typeface="黑体" pitchFamily="2" charset="-122"/>
              </a:rPr>
              <a:t>。反之，收到电文后要将电文转换成原来的文字，称为</a:t>
            </a:r>
            <a:r>
              <a:rPr kumimoji="1" lang="zh-CN" altLang="en-US" sz="2000" dirty="0">
                <a:solidFill>
                  <a:srgbClr val="FF0000"/>
                </a:solidFill>
                <a:latin typeface="黑体" pitchFamily="2" charset="-122"/>
                <a:ea typeface="黑体" pitchFamily="2" charset="-122"/>
              </a:rPr>
              <a:t>译码</a:t>
            </a:r>
            <a:r>
              <a:rPr kumimoji="1" lang="zh-CN" altLang="en-US" sz="2000" dirty="0">
                <a:latin typeface="黑体" pitchFamily="2" charset="-122"/>
                <a:ea typeface="黑体" pitchFamily="2" charset="-122"/>
              </a:rPr>
              <a:t>。</a:t>
            </a:r>
            <a:endParaRPr lang="zh-CN" altLang="en-US" sz="2000" dirty="0"/>
          </a:p>
        </p:txBody>
      </p:sp>
      <p:sp>
        <p:nvSpPr>
          <p:cNvPr id="4" name="矩形 3"/>
          <p:cNvSpPr/>
          <p:nvPr/>
        </p:nvSpPr>
        <p:spPr>
          <a:xfrm>
            <a:off x="3027161" y="5241162"/>
            <a:ext cx="6752169" cy="553998"/>
          </a:xfrm>
          <a:prstGeom prst="rect">
            <a:avLst/>
          </a:prstGeom>
        </p:spPr>
        <p:txBody>
          <a:bodyPr wrap="none">
            <a:spAutoFit/>
          </a:bodyPr>
          <a:lstStyle/>
          <a:p>
            <a:r>
              <a:rPr kumimoji="1" lang="zh-CN" altLang="en-US" sz="3000" b="1" dirty="0">
                <a:latin typeface="黑体" pitchFamily="49" charset="-122"/>
                <a:ea typeface="黑体" pitchFamily="49" charset="-122"/>
                <a:cs typeface="经典粗黑简" pitchFamily="49" charset="-122"/>
              </a:rPr>
              <a:t>如何构造电文总长最短的二进制编码？</a:t>
            </a:r>
          </a:p>
        </p:txBody>
      </p:sp>
      <p:sp>
        <p:nvSpPr>
          <p:cNvPr id="2" name="矩形 1">
            <a:extLst>
              <a:ext uri="{FF2B5EF4-FFF2-40B4-BE49-F238E27FC236}">
                <a16:creationId xmlns:a16="http://schemas.microsoft.com/office/drawing/2014/main" xmlns="" id="{04647236-EE08-CE37-8B04-D4FCBEB7E64E}"/>
              </a:ext>
            </a:extLst>
          </p:cNvPr>
          <p:cNvSpPr/>
          <p:nvPr/>
        </p:nvSpPr>
        <p:spPr>
          <a:xfrm>
            <a:off x="992475" y="1549815"/>
            <a:ext cx="4339650" cy="461665"/>
          </a:xfrm>
          <a:prstGeom prst="rect">
            <a:avLst/>
          </a:prstGeom>
        </p:spPr>
        <p:txBody>
          <a:bodyPr wrap="none">
            <a:spAutoFit/>
          </a:bodyPr>
          <a:lstStyle/>
          <a:p>
            <a:r>
              <a:rPr kumimoji="1" lang="en-US" altLang="zh-CN" sz="2400" dirty="0">
                <a:latin typeface="黑体" pitchFamily="2" charset="-122"/>
                <a:ea typeface="黑体" pitchFamily="2" charset="-122"/>
              </a:rPr>
              <a:t>Huffman</a:t>
            </a:r>
            <a:r>
              <a:rPr kumimoji="1" lang="zh-CN" altLang="zh-CN" sz="2400" dirty="0">
                <a:latin typeface="黑体" pitchFamily="2" charset="-122"/>
                <a:ea typeface="黑体" pitchFamily="2" charset="-122"/>
              </a:rPr>
              <a:t>树应</a:t>
            </a:r>
            <a:r>
              <a:rPr kumimoji="1" lang="zh-CN" altLang="en-US" sz="2400" dirty="0">
                <a:latin typeface="黑体" pitchFamily="2" charset="-122"/>
                <a:ea typeface="黑体" pitchFamily="2" charset="-122"/>
              </a:rPr>
              <a:t>用</a:t>
            </a:r>
            <a:r>
              <a:rPr kumimoji="1" lang="en-US" altLang="zh-CN" sz="2400" dirty="0">
                <a:latin typeface="黑体" pitchFamily="2" charset="-122"/>
                <a:ea typeface="黑体" pitchFamily="2" charset="-122"/>
              </a:rPr>
              <a:t>——</a:t>
            </a:r>
            <a:r>
              <a:rPr kumimoji="1" lang="zh-CN" altLang="en-US" sz="2400" dirty="0">
                <a:latin typeface="黑体" pitchFamily="2" charset="-122"/>
                <a:ea typeface="黑体" pitchFamily="2" charset="-122"/>
              </a:rPr>
              <a:t>赫夫曼编码</a:t>
            </a:r>
          </a:p>
        </p:txBody>
      </p:sp>
      <p:cxnSp>
        <p:nvCxnSpPr>
          <p:cNvPr id="5" name="直接连接符 4">
            <a:extLst>
              <a:ext uri="{FF2B5EF4-FFF2-40B4-BE49-F238E27FC236}">
                <a16:creationId xmlns:a16="http://schemas.microsoft.com/office/drawing/2014/main" xmlns="" id="{454F74DB-B568-22C9-050D-DC9F0E01406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xmlns="" id="{1C1D21F1-D7C9-FFBD-B7AC-BB53B16E354B}"/>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10" name="Rectangle 2">
            <a:extLst>
              <a:ext uri="{FF2B5EF4-FFF2-40B4-BE49-F238E27FC236}">
                <a16:creationId xmlns:a16="http://schemas.microsoft.com/office/drawing/2014/main" xmlns="" id="{68ED9ED9-8408-B5C1-4BC9-59418F342EC1}"/>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7.8.3 </a:t>
            </a:r>
            <a:r>
              <a:rPr lang="zh-CN" altLang="en-US" dirty="0"/>
              <a:t>哈夫曼编码</a:t>
            </a:r>
          </a:p>
        </p:txBody>
      </p:sp>
    </p:spTree>
    <p:extLst>
      <p:ext uri="{BB962C8B-B14F-4D97-AF65-F5344CB8AC3E}">
        <p14:creationId xmlns:p14="http://schemas.microsoft.com/office/powerpoint/2010/main" val="149617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1" grpId="0" animBg="1"/>
      <p:bldP spid="12" grpId="0" animBg="1"/>
      <p:bldP spid="13" grpId="0" animBg="1"/>
      <p:bldP spid="14" grpId="0"/>
      <p:bldP spid="15" grpId="0"/>
      <p:bldP spid="4"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Line 2"/>
          <p:cNvSpPr>
            <a:spLocks noChangeShapeType="1"/>
          </p:cNvSpPr>
          <p:nvPr/>
        </p:nvSpPr>
        <p:spPr bwMode="auto">
          <a:xfrm>
            <a:off x="3049001" y="4697650"/>
            <a:ext cx="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Text Box 3"/>
          <p:cNvSpPr txBox="1">
            <a:spLocks noChangeArrowheads="1"/>
          </p:cNvSpPr>
          <p:nvPr/>
        </p:nvSpPr>
        <p:spPr bwMode="auto">
          <a:xfrm>
            <a:off x="2002935" y="2348881"/>
            <a:ext cx="848555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buClrTx/>
              <a:buSzTx/>
              <a:buFontTx/>
              <a:buNone/>
            </a:pPr>
            <a:r>
              <a:rPr kumimoji="1" lang="zh-CN" altLang="en-US" sz="2400" dirty="0">
                <a:latin typeface="黑体" pitchFamily="2" charset="-122"/>
                <a:ea typeface="黑体" pitchFamily="2" charset="-122"/>
              </a:rPr>
              <a:t>    例如：将文字“</a:t>
            </a:r>
            <a:r>
              <a:rPr kumimoji="1" lang="en-US" altLang="zh-CN" sz="2400" dirty="0">
                <a:latin typeface="黑体" pitchFamily="2" charset="-122"/>
                <a:ea typeface="黑体" pitchFamily="2" charset="-122"/>
              </a:rPr>
              <a:t>ABACCDA”</a:t>
            </a:r>
            <a:r>
              <a:rPr kumimoji="1" lang="zh-CN" altLang="en-US" sz="2400" dirty="0">
                <a:latin typeface="黑体" pitchFamily="2" charset="-122"/>
                <a:ea typeface="黑体" pitchFamily="2" charset="-122"/>
              </a:rPr>
              <a:t>转换成电文。文字中有四种字符，用</a:t>
            </a:r>
            <a:r>
              <a:rPr kumimoji="1" lang="en-US" altLang="zh-CN" sz="2400" dirty="0">
                <a:latin typeface="黑体" pitchFamily="2" charset="-122"/>
                <a:ea typeface="黑体" pitchFamily="2" charset="-122"/>
              </a:rPr>
              <a:t>2</a:t>
            </a:r>
            <a:r>
              <a:rPr kumimoji="1" lang="zh-CN" altLang="en-US" sz="2400" dirty="0">
                <a:latin typeface="黑体" pitchFamily="2" charset="-122"/>
                <a:ea typeface="黑体" pitchFamily="2" charset="-122"/>
              </a:rPr>
              <a:t>位二进制便可分辨。</a:t>
            </a:r>
          </a:p>
        </p:txBody>
      </p:sp>
      <p:grpSp>
        <p:nvGrpSpPr>
          <p:cNvPr id="18" name="Group 5"/>
          <p:cNvGrpSpPr>
            <a:grpSpLocks/>
          </p:cNvGrpSpPr>
          <p:nvPr/>
        </p:nvGrpSpPr>
        <p:grpSpPr bwMode="auto">
          <a:xfrm>
            <a:off x="6096000" y="2930029"/>
            <a:ext cx="4340225" cy="847725"/>
            <a:chOff x="1467" y="2144"/>
            <a:chExt cx="2734" cy="534"/>
          </a:xfrm>
        </p:grpSpPr>
        <p:sp>
          <p:nvSpPr>
            <p:cNvPr id="19" name="Rectangle 6"/>
            <p:cNvSpPr>
              <a:spLocks noChangeArrowheads="1"/>
            </p:cNvSpPr>
            <p:nvPr/>
          </p:nvSpPr>
          <p:spPr bwMode="auto">
            <a:xfrm>
              <a:off x="1467" y="2155"/>
              <a:ext cx="2734" cy="478"/>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endParaRPr lang="zh-CN" altLang="en-US" sz="2400">
                <a:solidFill>
                  <a:schemeClr val="bg1"/>
                </a:solidFill>
                <a:latin typeface="Times New Roman" pitchFamily="18" charset="0"/>
              </a:endParaRPr>
            </a:p>
          </p:txBody>
        </p:sp>
        <p:sp>
          <p:nvSpPr>
            <p:cNvPr id="20" name="Line 7"/>
            <p:cNvSpPr>
              <a:spLocks noChangeShapeType="1"/>
            </p:cNvSpPr>
            <p:nvPr/>
          </p:nvSpPr>
          <p:spPr bwMode="auto">
            <a:xfrm>
              <a:off x="1511" y="2389"/>
              <a:ext cx="269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21" name="Text Box 8"/>
            <p:cNvSpPr txBox="1">
              <a:spLocks noChangeArrowheads="1"/>
            </p:cNvSpPr>
            <p:nvPr/>
          </p:nvSpPr>
          <p:spPr bwMode="auto">
            <a:xfrm>
              <a:off x="1587" y="2144"/>
              <a:ext cx="24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SzTx/>
                <a:buFontTx/>
                <a:buNone/>
              </a:pPr>
              <a:r>
                <a:rPr lang="zh-CN" altLang="en-US" sz="2400">
                  <a:solidFill>
                    <a:schemeClr val="bg1"/>
                  </a:solidFill>
                  <a:latin typeface="Times New Roman" pitchFamily="18" charset="0"/>
                </a:rPr>
                <a:t>   </a:t>
              </a:r>
              <a:r>
                <a:rPr lang="en-US" altLang="zh-CN" sz="2400">
                  <a:solidFill>
                    <a:schemeClr val="bg1"/>
                  </a:solidFill>
                  <a:latin typeface="Comic Sans MS" pitchFamily="66" charset="0"/>
                </a:rPr>
                <a:t>A          B           C         D</a:t>
              </a:r>
            </a:p>
          </p:txBody>
        </p:sp>
        <p:sp>
          <p:nvSpPr>
            <p:cNvPr id="22" name="Text Box 9"/>
            <p:cNvSpPr txBox="1">
              <a:spLocks noChangeArrowheads="1"/>
            </p:cNvSpPr>
            <p:nvPr/>
          </p:nvSpPr>
          <p:spPr bwMode="auto">
            <a:xfrm>
              <a:off x="1745" y="2390"/>
              <a:ext cx="24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ClrTx/>
                <a:buSzTx/>
                <a:buFontTx/>
                <a:buNone/>
              </a:pPr>
              <a:r>
                <a:rPr lang="en-US" altLang="zh-CN" sz="2400">
                  <a:solidFill>
                    <a:schemeClr val="bg1"/>
                  </a:solidFill>
                  <a:latin typeface="Comic Sans MS" pitchFamily="66" charset="0"/>
                </a:rPr>
                <a:t>00       01          10        11</a:t>
              </a:r>
            </a:p>
          </p:txBody>
        </p:sp>
      </p:grpSp>
      <p:sp>
        <p:nvSpPr>
          <p:cNvPr id="23" name="Text Box 10"/>
          <p:cNvSpPr txBox="1">
            <a:spLocks noChangeArrowheads="1"/>
          </p:cNvSpPr>
          <p:nvPr/>
        </p:nvSpPr>
        <p:spPr bwMode="auto">
          <a:xfrm>
            <a:off x="2037859" y="3258641"/>
            <a:ext cx="369810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eaLnBrk="0" hangingPunct="0">
              <a:spcBef>
                <a:spcPct val="50000"/>
              </a:spcBef>
              <a:buClrTx/>
              <a:buSzTx/>
              <a:buFontTx/>
              <a:buNone/>
            </a:pPr>
            <a:r>
              <a:rPr lang="zh-CN" altLang="en-US" sz="2800" dirty="0">
                <a:latin typeface="Comic Sans MS" pitchFamily="66" charset="0"/>
                <a:ea typeface="隶书" pitchFamily="49" charset="-122"/>
              </a:rPr>
              <a:t>     </a:t>
            </a:r>
            <a:r>
              <a:rPr kumimoji="1" lang="zh-CN" altLang="en-US" sz="2400" dirty="0">
                <a:latin typeface="黑体" pitchFamily="2" charset="-122"/>
                <a:ea typeface="黑体" pitchFamily="2" charset="-122"/>
              </a:rPr>
              <a:t>方案</a:t>
            </a:r>
            <a:r>
              <a:rPr kumimoji="1" lang="en-US" altLang="zh-CN" sz="2400" dirty="0">
                <a:latin typeface="黑体" pitchFamily="2" charset="-122"/>
                <a:ea typeface="黑体" pitchFamily="2" charset="-122"/>
              </a:rPr>
              <a:t>1: </a:t>
            </a:r>
            <a:r>
              <a:rPr kumimoji="1" lang="zh-CN" altLang="en-US" sz="2400" dirty="0">
                <a:latin typeface="黑体" pitchFamily="2" charset="-122"/>
                <a:ea typeface="黑体" pitchFamily="2" charset="-122"/>
              </a:rPr>
              <a:t>等长编码方案</a:t>
            </a:r>
            <a:endParaRPr kumimoji="1" lang="en-US" altLang="zh-CN" sz="2400" dirty="0">
              <a:latin typeface="黑体" pitchFamily="2" charset="-122"/>
              <a:ea typeface="黑体" pitchFamily="2" charset="-122"/>
            </a:endParaRPr>
          </a:p>
        </p:txBody>
      </p:sp>
      <p:sp>
        <p:nvSpPr>
          <p:cNvPr id="24" name="Text Box 11"/>
          <p:cNvSpPr txBox="1">
            <a:spLocks noChangeArrowheads="1"/>
          </p:cNvSpPr>
          <p:nvPr/>
        </p:nvSpPr>
        <p:spPr bwMode="auto">
          <a:xfrm>
            <a:off x="2434431" y="3777754"/>
            <a:ext cx="77041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ClrTx/>
              <a:buSzTx/>
              <a:buFontTx/>
              <a:buNone/>
            </a:pPr>
            <a:r>
              <a:rPr kumimoji="1" lang="zh-CN" altLang="en-US" sz="2400" dirty="0">
                <a:latin typeface="黑体" pitchFamily="2" charset="-122"/>
                <a:ea typeface="黑体" pitchFamily="2" charset="-122"/>
              </a:rPr>
              <a:t>则上述文字的电文为：</a:t>
            </a:r>
            <a:r>
              <a:rPr kumimoji="1" lang="en-US" altLang="zh-CN" sz="2400" dirty="0">
                <a:latin typeface="黑体" pitchFamily="2" charset="-122"/>
                <a:ea typeface="黑体" pitchFamily="2" charset="-122"/>
              </a:rPr>
              <a:t>00010010101100</a:t>
            </a:r>
            <a:r>
              <a:rPr kumimoji="1" lang="zh-CN" altLang="en-US" sz="2400" dirty="0">
                <a:latin typeface="黑体" pitchFamily="2" charset="-122"/>
                <a:ea typeface="黑体" pitchFamily="2" charset="-122"/>
              </a:rPr>
              <a:t>，共</a:t>
            </a:r>
            <a:r>
              <a:rPr kumimoji="1" lang="en-US" altLang="zh-CN" sz="2400" dirty="0">
                <a:latin typeface="黑体" pitchFamily="2" charset="-122"/>
                <a:ea typeface="黑体" pitchFamily="2" charset="-122"/>
              </a:rPr>
              <a:t>14</a:t>
            </a:r>
            <a:r>
              <a:rPr kumimoji="1" lang="zh-CN" altLang="en-US" sz="2400" dirty="0">
                <a:latin typeface="黑体" pitchFamily="2" charset="-122"/>
                <a:ea typeface="黑体" pitchFamily="2" charset="-122"/>
              </a:rPr>
              <a:t>位。译码时，只需每</a:t>
            </a:r>
            <a:r>
              <a:rPr kumimoji="1" lang="en-US" altLang="zh-CN" sz="2400" dirty="0">
                <a:latin typeface="黑体" pitchFamily="2" charset="-122"/>
                <a:ea typeface="黑体" pitchFamily="2" charset="-122"/>
              </a:rPr>
              <a:t>2</a:t>
            </a:r>
            <a:r>
              <a:rPr kumimoji="1" lang="zh-CN" altLang="en-US" sz="2400" dirty="0">
                <a:latin typeface="黑体" pitchFamily="2" charset="-122"/>
                <a:ea typeface="黑体" pitchFamily="2" charset="-122"/>
              </a:rPr>
              <a:t>位一译即可。</a:t>
            </a:r>
          </a:p>
        </p:txBody>
      </p:sp>
      <p:sp>
        <p:nvSpPr>
          <p:cNvPr id="25" name="Text Box 5"/>
          <p:cNvSpPr txBox="1">
            <a:spLocks noChangeArrowheads="1"/>
          </p:cNvSpPr>
          <p:nvPr/>
        </p:nvSpPr>
        <p:spPr bwMode="auto">
          <a:xfrm>
            <a:off x="3085514" y="4608750"/>
            <a:ext cx="1878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10000"/>
              </a:spcBef>
              <a:buClrTx/>
              <a:buSzTx/>
              <a:buFontTx/>
              <a:buNone/>
            </a:pPr>
            <a:r>
              <a:rPr lang="en-US" altLang="zh-CN" sz="2400" b="1" dirty="0">
                <a:latin typeface="Times New Roman" pitchFamily="18" charset="0"/>
              </a:rPr>
              <a:t> </a:t>
            </a:r>
            <a:r>
              <a:rPr lang="zh-CN" altLang="en-US" sz="2400" b="1" dirty="0">
                <a:latin typeface="Times New Roman" pitchFamily="18" charset="0"/>
              </a:rPr>
              <a:t>发送方：</a:t>
            </a:r>
          </a:p>
        </p:txBody>
      </p:sp>
      <p:sp>
        <p:nvSpPr>
          <p:cNvPr id="26" name="Text Box 6"/>
          <p:cNvSpPr txBox="1">
            <a:spLocks noChangeArrowheads="1"/>
          </p:cNvSpPr>
          <p:nvPr/>
        </p:nvSpPr>
        <p:spPr bwMode="auto">
          <a:xfrm>
            <a:off x="3085514" y="5326475"/>
            <a:ext cx="2093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10000"/>
              </a:spcBef>
              <a:buClrTx/>
              <a:buSzTx/>
              <a:buFontTx/>
              <a:buNone/>
            </a:pPr>
            <a:r>
              <a:rPr lang="en-US" altLang="zh-CN" sz="2400" b="1">
                <a:latin typeface="Times New Roman" pitchFamily="18" charset="0"/>
              </a:rPr>
              <a:t> </a:t>
            </a:r>
            <a:r>
              <a:rPr lang="zh-CN" altLang="en-US" sz="2400" b="1">
                <a:latin typeface="Times New Roman" pitchFamily="18" charset="0"/>
              </a:rPr>
              <a:t>接收方：</a:t>
            </a:r>
          </a:p>
        </p:txBody>
      </p:sp>
      <p:sp>
        <p:nvSpPr>
          <p:cNvPr id="27" name="Text Box 7"/>
          <p:cNvSpPr txBox="1">
            <a:spLocks noChangeArrowheads="1"/>
          </p:cNvSpPr>
          <p:nvPr/>
        </p:nvSpPr>
        <p:spPr bwMode="auto">
          <a:xfrm>
            <a:off x="7124114" y="460875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10000"/>
              </a:spcBef>
              <a:buClrTx/>
              <a:buSzTx/>
              <a:buFontTx/>
              <a:buNone/>
            </a:pPr>
            <a:r>
              <a:rPr lang="en-US" altLang="zh-CN" sz="2400" b="1">
                <a:latin typeface="Times New Roman" pitchFamily="18" charset="0"/>
              </a:rPr>
              <a:t>00010010101100</a:t>
            </a:r>
          </a:p>
        </p:txBody>
      </p:sp>
      <p:sp>
        <p:nvSpPr>
          <p:cNvPr id="28" name="Text Box 8"/>
          <p:cNvSpPr txBox="1">
            <a:spLocks noChangeArrowheads="1"/>
          </p:cNvSpPr>
          <p:nvPr/>
        </p:nvSpPr>
        <p:spPr bwMode="auto">
          <a:xfrm>
            <a:off x="4457114" y="460875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10000"/>
              </a:spcBef>
              <a:buClrTx/>
              <a:buSzTx/>
              <a:buFontTx/>
              <a:buNone/>
            </a:pPr>
            <a:r>
              <a:rPr lang="en-US" altLang="zh-CN" sz="2400" b="1" dirty="0">
                <a:latin typeface="Times New Roman" pitchFamily="18" charset="0"/>
              </a:rPr>
              <a:t> ABACCDA</a:t>
            </a:r>
          </a:p>
        </p:txBody>
      </p:sp>
      <p:sp>
        <p:nvSpPr>
          <p:cNvPr id="29" name="AutoShape 9"/>
          <p:cNvSpPr>
            <a:spLocks noChangeArrowheads="1"/>
          </p:cNvSpPr>
          <p:nvPr/>
        </p:nvSpPr>
        <p:spPr bwMode="auto">
          <a:xfrm>
            <a:off x="6438314" y="4837350"/>
            <a:ext cx="609600" cy="76200"/>
          </a:xfrm>
          <a:prstGeom prst="rightArrow">
            <a:avLst>
              <a:gd name="adj1" fmla="val 50000"/>
              <a:gd name="adj2" fmla="val 200000"/>
            </a:avLst>
          </a:prstGeom>
          <a:solidFill>
            <a:srgbClr val="FFCC00"/>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30" name="Text Box 10"/>
          <p:cNvSpPr txBox="1">
            <a:spLocks noChangeArrowheads="1"/>
          </p:cNvSpPr>
          <p:nvPr/>
        </p:nvSpPr>
        <p:spPr bwMode="auto">
          <a:xfrm>
            <a:off x="4457114" y="5347112"/>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10000"/>
              </a:spcBef>
              <a:buClrTx/>
              <a:buSzTx/>
              <a:buFontTx/>
              <a:buNone/>
            </a:pPr>
            <a:r>
              <a:rPr lang="en-US" altLang="zh-CN" sz="2400" b="1">
                <a:latin typeface="Times New Roman" pitchFamily="18" charset="0"/>
              </a:rPr>
              <a:t>00010010101100</a:t>
            </a:r>
          </a:p>
        </p:txBody>
      </p:sp>
      <p:sp>
        <p:nvSpPr>
          <p:cNvPr id="31" name="Text Box 11"/>
          <p:cNvSpPr txBox="1">
            <a:spLocks noChangeArrowheads="1"/>
          </p:cNvSpPr>
          <p:nvPr/>
        </p:nvSpPr>
        <p:spPr bwMode="auto">
          <a:xfrm>
            <a:off x="7276514" y="5347112"/>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10000"/>
              </a:spcBef>
              <a:buClrTx/>
              <a:buSzTx/>
              <a:buFontTx/>
              <a:buNone/>
            </a:pPr>
            <a:r>
              <a:rPr lang="en-US" altLang="zh-CN" sz="2400" b="1">
                <a:latin typeface="Times New Roman" pitchFamily="18" charset="0"/>
              </a:rPr>
              <a:t> ABACCDA</a:t>
            </a:r>
          </a:p>
        </p:txBody>
      </p:sp>
      <p:sp>
        <p:nvSpPr>
          <p:cNvPr id="32" name="AutoShape 12"/>
          <p:cNvSpPr>
            <a:spLocks noChangeArrowheads="1"/>
          </p:cNvSpPr>
          <p:nvPr/>
        </p:nvSpPr>
        <p:spPr bwMode="auto">
          <a:xfrm>
            <a:off x="6743114" y="5499512"/>
            <a:ext cx="609600" cy="76200"/>
          </a:xfrm>
          <a:prstGeom prst="rightArrow">
            <a:avLst>
              <a:gd name="adj1" fmla="val 50000"/>
              <a:gd name="adj2" fmla="val 200000"/>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endParaRPr lang="zh-CN" altLang="en-US"/>
          </a:p>
        </p:txBody>
      </p:sp>
      <p:sp>
        <p:nvSpPr>
          <p:cNvPr id="34" name="Text Box 13"/>
          <p:cNvSpPr txBox="1">
            <a:spLocks noChangeArrowheads="1"/>
          </p:cNvSpPr>
          <p:nvPr/>
        </p:nvSpPr>
        <p:spPr bwMode="auto">
          <a:xfrm>
            <a:off x="6285914" y="445635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zh-CN" altLang="en-US" sz="2000"/>
              <a:t>编码</a:t>
            </a:r>
          </a:p>
        </p:txBody>
      </p:sp>
      <p:sp>
        <p:nvSpPr>
          <p:cNvPr id="35" name="Text Box 14"/>
          <p:cNvSpPr txBox="1">
            <a:spLocks noChangeArrowheads="1"/>
          </p:cNvSpPr>
          <p:nvPr/>
        </p:nvSpPr>
        <p:spPr bwMode="auto">
          <a:xfrm>
            <a:off x="6590714" y="5118513"/>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zh-CN" altLang="en-US" sz="2000"/>
              <a:t>译码</a:t>
            </a:r>
          </a:p>
        </p:txBody>
      </p:sp>
      <p:sp>
        <p:nvSpPr>
          <p:cNvPr id="36" name="Rectangle 22"/>
          <p:cNvSpPr>
            <a:spLocks noChangeArrowheads="1"/>
          </p:cNvSpPr>
          <p:nvPr/>
        </p:nvSpPr>
        <p:spPr bwMode="auto">
          <a:xfrm>
            <a:off x="2500595" y="5866075"/>
            <a:ext cx="798789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342900" indent="-342900" eaLnBrk="0" hangingPunct="0">
              <a:spcBef>
                <a:spcPct val="50000"/>
              </a:spcBef>
            </a:pPr>
            <a:r>
              <a:rPr kumimoji="1" lang="zh-CN" altLang="en-US" sz="2400" dirty="0">
                <a:latin typeface="黑体" pitchFamily="2" charset="-122"/>
                <a:ea typeface="黑体" pitchFamily="2" charset="-122"/>
              </a:rPr>
              <a:t>特点：等长等频率编码，译码容易，但电文不一定最短。</a:t>
            </a:r>
            <a:endParaRPr kumimoji="1" lang="en-US" altLang="zh-CN" sz="2400" dirty="0">
              <a:latin typeface="黑体" pitchFamily="2" charset="-122"/>
              <a:ea typeface="黑体" pitchFamily="2" charset="-122"/>
            </a:endParaRPr>
          </a:p>
        </p:txBody>
      </p:sp>
      <p:sp>
        <p:nvSpPr>
          <p:cNvPr id="2" name="矩形 1">
            <a:extLst>
              <a:ext uri="{FF2B5EF4-FFF2-40B4-BE49-F238E27FC236}">
                <a16:creationId xmlns:a16="http://schemas.microsoft.com/office/drawing/2014/main" xmlns="" id="{4B3D5B6D-CC73-D4C3-ED1D-727FEA24DD13}"/>
              </a:ext>
            </a:extLst>
          </p:cNvPr>
          <p:cNvSpPr/>
          <p:nvPr/>
        </p:nvSpPr>
        <p:spPr>
          <a:xfrm>
            <a:off x="992475" y="1549815"/>
            <a:ext cx="4339650" cy="461665"/>
          </a:xfrm>
          <a:prstGeom prst="rect">
            <a:avLst/>
          </a:prstGeom>
        </p:spPr>
        <p:txBody>
          <a:bodyPr wrap="none">
            <a:spAutoFit/>
          </a:bodyPr>
          <a:lstStyle/>
          <a:p>
            <a:r>
              <a:rPr kumimoji="1" lang="en-US" altLang="zh-CN" sz="2400" dirty="0">
                <a:latin typeface="黑体" pitchFamily="2" charset="-122"/>
                <a:ea typeface="黑体" pitchFamily="2" charset="-122"/>
              </a:rPr>
              <a:t>Huffman</a:t>
            </a:r>
            <a:r>
              <a:rPr kumimoji="1" lang="zh-CN" altLang="zh-CN" sz="2400" dirty="0">
                <a:latin typeface="黑体" pitchFamily="2" charset="-122"/>
                <a:ea typeface="黑体" pitchFamily="2" charset="-122"/>
              </a:rPr>
              <a:t>树应</a:t>
            </a:r>
            <a:r>
              <a:rPr kumimoji="1" lang="zh-CN" altLang="en-US" sz="2400" dirty="0">
                <a:latin typeface="黑体" pitchFamily="2" charset="-122"/>
                <a:ea typeface="黑体" pitchFamily="2" charset="-122"/>
              </a:rPr>
              <a:t>用</a:t>
            </a:r>
            <a:r>
              <a:rPr kumimoji="1" lang="en-US" altLang="zh-CN" sz="2400" dirty="0">
                <a:latin typeface="黑体" pitchFamily="2" charset="-122"/>
                <a:ea typeface="黑体" pitchFamily="2" charset="-122"/>
              </a:rPr>
              <a:t>——</a:t>
            </a:r>
            <a:r>
              <a:rPr kumimoji="1" lang="zh-CN" altLang="en-US" sz="2400" dirty="0">
                <a:latin typeface="黑体" pitchFamily="2" charset="-122"/>
                <a:ea typeface="黑体" pitchFamily="2" charset="-122"/>
              </a:rPr>
              <a:t>赫夫曼编码</a:t>
            </a:r>
          </a:p>
        </p:txBody>
      </p:sp>
      <p:cxnSp>
        <p:nvCxnSpPr>
          <p:cNvPr id="3" name="直接连接符 2">
            <a:extLst>
              <a:ext uri="{FF2B5EF4-FFF2-40B4-BE49-F238E27FC236}">
                <a16:creationId xmlns:a16="http://schemas.microsoft.com/office/drawing/2014/main" xmlns="" id="{8BC81700-48FF-B86C-BE80-84B100AB327A}"/>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xmlns="" id="{4B190C47-C1E9-9619-7E72-F80AA7AF57F2}"/>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5" name="Rectangle 2">
            <a:extLst>
              <a:ext uri="{FF2B5EF4-FFF2-40B4-BE49-F238E27FC236}">
                <a16:creationId xmlns:a16="http://schemas.microsoft.com/office/drawing/2014/main" xmlns="" id="{9F0AD857-20A7-047F-358E-0B243775CEE9}"/>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7.8.3 </a:t>
            </a:r>
            <a:r>
              <a:rPr lang="zh-CN" altLang="en-US" dirty="0"/>
              <a:t>哈夫曼编码</a:t>
            </a:r>
          </a:p>
        </p:txBody>
      </p:sp>
    </p:spTree>
    <p:extLst>
      <p:ext uri="{BB962C8B-B14F-4D97-AF65-F5344CB8AC3E}">
        <p14:creationId xmlns:p14="http://schemas.microsoft.com/office/powerpoint/2010/main" val="1847578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3" grpId="0"/>
      <p:bldP spid="24" grpId="0"/>
      <p:bldP spid="25" grpId="0"/>
      <p:bldP spid="26" grpId="0"/>
      <p:bldP spid="27" grpId="0"/>
      <p:bldP spid="28" grpId="0"/>
      <p:bldP spid="29" grpId="0" animBg="1"/>
      <p:bldP spid="30" grpId="0"/>
      <p:bldP spid="31" grpId="0"/>
      <p:bldP spid="32" grpId="0" animBg="1"/>
      <p:bldP spid="35" grpId="0"/>
      <p:bldP spid="36"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3"/>
          <p:cNvSpPr txBox="1">
            <a:spLocks noChangeArrowheads="1"/>
          </p:cNvSpPr>
          <p:nvPr/>
        </p:nvSpPr>
        <p:spPr bwMode="auto">
          <a:xfrm>
            <a:off x="2002935" y="2420889"/>
            <a:ext cx="848555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buClrTx/>
              <a:buSzTx/>
              <a:buFontTx/>
              <a:buNone/>
            </a:pPr>
            <a:r>
              <a:rPr kumimoji="1" lang="zh-CN" altLang="en-US" sz="2400" dirty="0">
                <a:latin typeface="黑体" pitchFamily="2" charset="-122"/>
                <a:ea typeface="黑体" pitchFamily="2" charset="-122"/>
              </a:rPr>
              <a:t>    例如：将文字“</a:t>
            </a:r>
            <a:r>
              <a:rPr kumimoji="1" lang="en-US" altLang="zh-CN" sz="2400" dirty="0">
                <a:latin typeface="黑体" pitchFamily="2" charset="-122"/>
                <a:ea typeface="黑体" pitchFamily="2" charset="-122"/>
              </a:rPr>
              <a:t>ABACCDA”</a:t>
            </a:r>
            <a:r>
              <a:rPr kumimoji="1" lang="zh-CN" altLang="en-US" sz="2400" dirty="0">
                <a:latin typeface="黑体" pitchFamily="2" charset="-122"/>
                <a:ea typeface="黑体" pitchFamily="2" charset="-122"/>
              </a:rPr>
              <a:t>转换成电文。文字中有四种字符，用</a:t>
            </a:r>
            <a:r>
              <a:rPr kumimoji="1" lang="en-US" altLang="zh-CN" sz="2400" dirty="0">
                <a:latin typeface="黑体" pitchFamily="2" charset="-122"/>
                <a:ea typeface="黑体" pitchFamily="2" charset="-122"/>
              </a:rPr>
              <a:t>2</a:t>
            </a:r>
            <a:r>
              <a:rPr kumimoji="1" lang="zh-CN" altLang="en-US" sz="2400" dirty="0">
                <a:latin typeface="黑体" pitchFamily="2" charset="-122"/>
                <a:ea typeface="黑体" pitchFamily="2" charset="-122"/>
              </a:rPr>
              <a:t>位二进制便可分辨。</a:t>
            </a:r>
          </a:p>
        </p:txBody>
      </p:sp>
      <p:sp>
        <p:nvSpPr>
          <p:cNvPr id="23" name="Text Box 10"/>
          <p:cNvSpPr txBox="1">
            <a:spLocks noChangeArrowheads="1"/>
          </p:cNvSpPr>
          <p:nvPr/>
        </p:nvSpPr>
        <p:spPr bwMode="auto">
          <a:xfrm>
            <a:off x="2037859" y="3330649"/>
            <a:ext cx="40581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eaLnBrk="0" hangingPunct="0">
              <a:spcBef>
                <a:spcPct val="50000"/>
              </a:spcBef>
              <a:buClrTx/>
              <a:buSzTx/>
              <a:buFontTx/>
              <a:buNone/>
            </a:pPr>
            <a:r>
              <a:rPr lang="zh-CN" altLang="en-US" sz="2800" dirty="0">
                <a:latin typeface="Comic Sans MS" pitchFamily="66" charset="0"/>
                <a:ea typeface="隶书" pitchFamily="49" charset="-122"/>
              </a:rPr>
              <a:t>     </a:t>
            </a:r>
            <a:r>
              <a:rPr kumimoji="1" lang="zh-CN" altLang="en-US" sz="2400" dirty="0">
                <a:latin typeface="黑体" pitchFamily="2" charset="-122"/>
                <a:ea typeface="黑体" pitchFamily="2" charset="-122"/>
              </a:rPr>
              <a:t>方案</a:t>
            </a:r>
            <a:r>
              <a:rPr kumimoji="1" lang="en-US" altLang="zh-CN" sz="2400" dirty="0">
                <a:latin typeface="黑体" pitchFamily="2" charset="-122"/>
                <a:ea typeface="黑体" pitchFamily="2" charset="-122"/>
              </a:rPr>
              <a:t>2: </a:t>
            </a:r>
            <a:r>
              <a:rPr kumimoji="1" lang="zh-CN" altLang="en-US" sz="2400" dirty="0">
                <a:latin typeface="黑体" pitchFamily="2" charset="-122"/>
                <a:ea typeface="黑体" pitchFamily="2" charset="-122"/>
              </a:rPr>
              <a:t>不等长编码方案</a:t>
            </a:r>
            <a:endParaRPr kumimoji="1" lang="en-US" altLang="zh-CN" sz="2400" dirty="0">
              <a:latin typeface="黑体" pitchFamily="2" charset="-122"/>
              <a:ea typeface="黑体" pitchFamily="2" charset="-122"/>
            </a:endParaRPr>
          </a:p>
        </p:txBody>
      </p:sp>
      <p:grpSp>
        <p:nvGrpSpPr>
          <p:cNvPr id="38" name="Group 4"/>
          <p:cNvGrpSpPr>
            <a:grpSpLocks/>
          </p:cNvGrpSpPr>
          <p:nvPr/>
        </p:nvGrpSpPr>
        <p:grpSpPr bwMode="auto">
          <a:xfrm>
            <a:off x="5997453" y="3251886"/>
            <a:ext cx="4491037" cy="847725"/>
            <a:chOff x="1467" y="2144"/>
            <a:chExt cx="2734" cy="534"/>
          </a:xfrm>
        </p:grpSpPr>
        <p:sp>
          <p:nvSpPr>
            <p:cNvPr id="39" name="Rectangle 5"/>
            <p:cNvSpPr>
              <a:spLocks noChangeArrowheads="1"/>
            </p:cNvSpPr>
            <p:nvPr/>
          </p:nvSpPr>
          <p:spPr bwMode="auto">
            <a:xfrm>
              <a:off x="1467" y="2155"/>
              <a:ext cx="2734" cy="478"/>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endParaRPr lang="zh-CN" altLang="en-US" sz="2400">
                <a:solidFill>
                  <a:schemeClr val="bg1"/>
                </a:solidFill>
                <a:latin typeface="Comic Sans MS" pitchFamily="66" charset="0"/>
              </a:endParaRPr>
            </a:p>
          </p:txBody>
        </p:sp>
        <p:sp>
          <p:nvSpPr>
            <p:cNvPr id="40" name="Line 6"/>
            <p:cNvSpPr>
              <a:spLocks noChangeShapeType="1"/>
            </p:cNvSpPr>
            <p:nvPr/>
          </p:nvSpPr>
          <p:spPr bwMode="auto">
            <a:xfrm>
              <a:off x="1511" y="2389"/>
              <a:ext cx="269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bg1"/>
                </a:solidFill>
              </a:endParaRPr>
            </a:p>
          </p:txBody>
        </p:sp>
        <p:sp>
          <p:nvSpPr>
            <p:cNvPr id="41" name="Text Box 7"/>
            <p:cNvSpPr txBox="1">
              <a:spLocks noChangeArrowheads="1"/>
            </p:cNvSpPr>
            <p:nvPr/>
          </p:nvSpPr>
          <p:spPr bwMode="auto">
            <a:xfrm>
              <a:off x="1587" y="2144"/>
              <a:ext cx="23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SzTx/>
                <a:buFontTx/>
                <a:buNone/>
              </a:pPr>
              <a:r>
                <a:rPr lang="zh-CN" altLang="en-US" sz="2400">
                  <a:solidFill>
                    <a:schemeClr val="bg1"/>
                  </a:solidFill>
                  <a:latin typeface="Comic Sans MS" pitchFamily="66" charset="0"/>
                </a:rPr>
                <a:t>   </a:t>
              </a:r>
              <a:r>
                <a:rPr lang="en-US" altLang="zh-CN" sz="2400">
                  <a:solidFill>
                    <a:schemeClr val="bg1"/>
                  </a:solidFill>
                  <a:latin typeface="Comic Sans MS" pitchFamily="66" charset="0"/>
                </a:rPr>
                <a:t>A         B          C          D</a:t>
              </a:r>
            </a:p>
          </p:txBody>
        </p:sp>
        <p:sp>
          <p:nvSpPr>
            <p:cNvPr id="42" name="Text Box 8"/>
            <p:cNvSpPr txBox="1">
              <a:spLocks noChangeArrowheads="1"/>
            </p:cNvSpPr>
            <p:nvPr/>
          </p:nvSpPr>
          <p:spPr bwMode="auto">
            <a:xfrm>
              <a:off x="1745" y="2390"/>
              <a:ext cx="24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ClrTx/>
                <a:buSzTx/>
                <a:buFontTx/>
                <a:buNone/>
              </a:pPr>
              <a:r>
                <a:rPr lang="en-US" altLang="zh-CN" sz="2400">
                  <a:solidFill>
                    <a:schemeClr val="bg1"/>
                  </a:solidFill>
                  <a:latin typeface="Comic Sans MS" pitchFamily="66" charset="0"/>
                </a:rPr>
                <a:t>0        00          1          01</a:t>
              </a:r>
            </a:p>
          </p:txBody>
        </p:sp>
      </p:grpSp>
      <p:sp>
        <p:nvSpPr>
          <p:cNvPr id="43" name="Text Box 10"/>
          <p:cNvSpPr txBox="1">
            <a:spLocks noChangeArrowheads="1"/>
          </p:cNvSpPr>
          <p:nvPr/>
        </p:nvSpPr>
        <p:spPr bwMode="auto">
          <a:xfrm>
            <a:off x="2309776" y="4398433"/>
            <a:ext cx="80867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ClrTx/>
              <a:buSzTx/>
              <a:buFontTx/>
              <a:buNone/>
            </a:pPr>
            <a:r>
              <a:rPr kumimoji="1" lang="zh-CN" altLang="en-US" sz="2400" dirty="0">
                <a:latin typeface="黑体" pitchFamily="2" charset="-122"/>
                <a:ea typeface="黑体" pitchFamily="2" charset="-122"/>
              </a:rPr>
              <a:t>采用不等长编码，让出现次数多的字符用短码。则</a:t>
            </a:r>
            <a:r>
              <a:rPr kumimoji="1" lang="en-US" altLang="zh-CN" sz="2400" dirty="0">
                <a:latin typeface="黑体" pitchFamily="2" charset="-122"/>
                <a:ea typeface="黑体" pitchFamily="2" charset="-122"/>
              </a:rPr>
              <a:t>ABACCDA</a:t>
            </a:r>
            <a:r>
              <a:rPr kumimoji="1" lang="zh-CN" altLang="en-US" sz="2400" dirty="0">
                <a:latin typeface="黑体" pitchFamily="2" charset="-122"/>
                <a:ea typeface="黑体" pitchFamily="2" charset="-122"/>
              </a:rPr>
              <a:t>文字的电文为：</a:t>
            </a:r>
            <a:r>
              <a:rPr kumimoji="1" lang="en-US" altLang="zh-CN" sz="2400" dirty="0">
                <a:latin typeface="黑体" pitchFamily="2" charset="-122"/>
                <a:ea typeface="黑体" pitchFamily="2" charset="-122"/>
              </a:rPr>
              <a:t>000011010</a:t>
            </a:r>
            <a:r>
              <a:rPr kumimoji="1" lang="zh-CN" altLang="en-US" sz="2400" dirty="0">
                <a:latin typeface="黑体" pitchFamily="2" charset="-122"/>
                <a:ea typeface="黑体" pitchFamily="2" charset="-122"/>
              </a:rPr>
              <a:t>共</a:t>
            </a:r>
            <a:r>
              <a:rPr kumimoji="1" lang="en-US" altLang="zh-CN" sz="2400" dirty="0">
                <a:latin typeface="黑体" pitchFamily="2" charset="-122"/>
                <a:ea typeface="黑体" pitchFamily="2" charset="-122"/>
              </a:rPr>
              <a:t>9</a:t>
            </a:r>
            <a:r>
              <a:rPr kumimoji="1" lang="zh-CN" altLang="en-US" sz="2400" dirty="0">
                <a:latin typeface="黑体" pitchFamily="2" charset="-122"/>
                <a:ea typeface="黑体" pitchFamily="2" charset="-122"/>
              </a:rPr>
              <a:t>位，但无法译码，它即可译为</a:t>
            </a:r>
            <a:r>
              <a:rPr kumimoji="1" lang="en-US" altLang="zh-CN" sz="2400" dirty="0">
                <a:latin typeface="黑体" pitchFamily="2" charset="-122"/>
                <a:ea typeface="黑体" pitchFamily="2" charset="-122"/>
              </a:rPr>
              <a:t>BBCCACA</a:t>
            </a:r>
            <a:r>
              <a:rPr kumimoji="1" lang="zh-CN" altLang="en-US" sz="2400" dirty="0">
                <a:latin typeface="黑体" pitchFamily="2" charset="-122"/>
                <a:ea typeface="黑体" pitchFamily="2" charset="-122"/>
              </a:rPr>
              <a:t>，也可译为</a:t>
            </a:r>
            <a:r>
              <a:rPr kumimoji="1" lang="en-US" altLang="zh-CN" sz="2400" dirty="0">
                <a:latin typeface="黑体" pitchFamily="2" charset="-122"/>
                <a:ea typeface="黑体" pitchFamily="2" charset="-122"/>
              </a:rPr>
              <a:t>AAAACCDA</a:t>
            </a:r>
            <a:r>
              <a:rPr kumimoji="1" lang="zh-CN" altLang="en-US" sz="2400" dirty="0">
                <a:latin typeface="黑体" pitchFamily="2" charset="-122"/>
                <a:ea typeface="黑体" pitchFamily="2" charset="-122"/>
              </a:rPr>
              <a:t>等。</a:t>
            </a:r>
          </a:p>
        </p:txBody>
      </p:sp>
      <p:sp>
        <p:nvSpPr>
          <p:cNvPr id="2" name="矩形 1">
            <a:extLst>
              <a:ext uri="{FF2B5EF4-FFF2-40B4-BE49-F238E27FC236}">
                <a16:creationId xmlns:a16="http://schemas.microsoft.com/office/drawing/2014/main" xmlns="" id="{952AA2C1-63D3-2E1A-63CE-9E3BD201CFA2}"/>
              </a:ext>
            </a:extLst>
          </p:cNvPr>
          <p:cNvSpPr/>
          <p:nvPr/>
        </p:nvSpPr>
        <p:spPr>
          <a:xfrm>
            <a:off x="992475" y="1549815"/>
            <a:ext cx="4339650" cy="461665"/>
          </a:xfrm>
          <a:prstGeom prst="rect">
            <a:avLst/>
          </a:prstGeom>
        </p:spPr>
        <p:txBody>
          <a:bodyPr wrap="none">
            <a:spAutoFit/>
          </a:bodyPr>
          <a:lstStyle/>
          <a:p>
            <a:r>
              <a:rPr kumimoji="1" lang="en-US" altLang="zh-CN" sz="2400" dirty="0">
                <a:latin typeface="黑体" pitchFamily="2" charset="-122"/>
                <a:ea typeface="黑体" pitchFamily="2" charset="-122"/>
              </a:rPr>
              <a:t>Huffman</a:t>
            </a:r>
            <a:r>
              <a:rPr kumimoji="1" lang="zh-CN" altLang="zh-CN" sz="2400" dirty="0">
                <a:latin typeface="黑体" pitchFamily="2" charset="-122"/>
                <a:ea typeface="黑体" pitchFamily="2" charset="-122"/>
              </a:rPr>
              <a:t>树应</a:t>
            </a:r>
            <a:r>
              <a:rPr kumimoji="1" lang="zh-CN" altLang="en-US" sz="2400" dirty="0">
                <a:latin typeface="黑体" pitchFamily="2" charset="-122"/>
                <a:ea typeface="黑体" pitchFamily="2" charset="-122"/>
              </a:rPr>
              <a:t>用</a:t>
            </a:r>
            <a:r>
              <a:rPr kumimoji="1" lang="en-US" altLang="zh-CN" sz="2400" dirty="0">
                <a:latin typeface="黑体" pitchFamily="2" charset="-122"/>
                <a:ea typeface="黑体" pitchFamily="2" charset="-122"/>
              </a:rPr>
              <a:t>——</a:t>
            </a:r>
            <a:r>
              <a:rPr kumimoji="1" lang="zh-CN" altLang="en-US" sz="2400" dirty="0">
                <a:latin typeface="黑体" pitchFamily="2" charset="-122"/>
                <a:ea typeface="黑体" pitchFamily="2" charset="-122"/>
              </a:rPr>
              <a:t>赫夫曼编码</a:t>
            </a:r>
          </a:p>
        </p:txBody>
      </p:sp>
      <p:cxnSp>
        <p:nvCxnSpPr>
          <p:cNvPr id="3" name="直接连接符 2">
            <a:extLst>
              <a:ext uri="{FF2B5EF4-FFF2-40B4-BE49-F238E27FC236}">
                <a16:creationId xmlns:a16="http://schemas.microsoft.com/office/drawing/2014/main" xmlns="" id="{EBBE029A-C0B2-DBBB-08CB-FD140194B4A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xmlns="" id="{1BC964A6-305E-87EF-FBD0-6AB19436DCDC}"/>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5" name="Rectangle 2">
            <a:extLst>
              <a:ext uri="{FF2B5EF4-FFF2-40B4-BE49-F238E27FC236}">
                <a16:creationId xmlns:a16="http://schemas.microsoft.com/office/drawing/2014/main" xmlns="" id="{C006E6D1-B9B6-FB77-427A-20201595C43F}"/>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7.8.3 </a:t>
            </a:r>
            <a:r>
              <a:rPr lang="zh-CN" altLang="en-US" dirty="0"/>
              <a:t>哈夫曼编码</a:t>
            </a:r>
          </a:p>
        </p:txBody>
      </p:sp>
    </p:spTree>
    <p:extLst>
      <p:ext uri="{BB962C8B-B14F-4D97-AF65-F5344CB8AC3E}">
        <p14:creationId xmlns:p14="http://schemas.microsoft.com/office/powerpoint/2010/main" val="211572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3"/>
          <p:cNvSpPr txBox="1">
            <a:spLocks noChangeArrowheads="1"/>
          </p:cNvSpPr>
          <p:nvPr/>
        </p:nvSpPr>
        <p:spPr bwMode="auto">
          <a:xfrm>
            <a:off x="2002935" y="2395989"/>
            <a:ext cx="848555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buClrTx/>
              <a:buSzTx/>
              <a:buFontTx/>
              <a:buNone/>
            </a:pPr>
            <a:r>
              <a:rPr kumimoji="1" lang="zh-CN" altLang="en-US" sz="2400" dirty="0">
                <a:latin typeface="黑体" pitchFamily="2" charset="-122"/>
                <a:ea typeface="黑体" pitchFamily="2" charset="-122"/>
              </a:rPr>
              <a:t>    例如：将文字“</a:t>
            </a:r>
            <a:r>
              <a:rPr kumimoji="1" lang="en-US" altLang="zh-CN" sz="2400" dirty="0">
                <a:latin typeface="黑体" pitchFamily="2" charset="-122"/>
                <a:ea typeface="黑体" pitchFamily="2" charset="-122"/>
              </a:rPr>
              <a:t>ABACCDA”</a:t>
            </a:r>
            <a:r>
              <a:rPr kumimoji="1" lang="zh-CN" altLang="en-US" sz="2400" dirty="0">
                <a:latin typeface="黑体" pitchFamily="2" charset="-122"/>
                <a:ea typeface="黑体" pitchFamily="2" charset="-122"/>
              </a:rPr>
              <a:t>转换成电文。文字中有四种字符，用</a:t>
            </a:r>
            <a:r>
              <a:rPr kumimoji="1" lang="en-US" altLang="zh-CN" sz="2400" dirty="0">
                <a:latin typeface="黑体" pitchFamily="2" charset="-122"/>
                <a:ea typeface="黑体" pitchFamily="2" charset="-122"/>
              </a:rPr>
              <a:t>2</a:t>
            </a:r>
            <a:r>
              <a:rPr kumimoji="1" lang="zh-CN" altLang="en-US" sz="2400" dirty="0">
                <a:latin typeface="黑体" pitchFamily="2" charset="-122"/>
                <a:ea typeface="黑体" pitchFamily="2" charset="-122"/>
              </a:rPr>
              <a:t>位二进制便可分辨。</a:t>
            </a:r>
          </a:p>
        </p:txBody>
      </p:sp>
      <p:sp>
        <p:nvSpPr>
          <p:cNvPr id="23" name="Text Box 10"/>
          <p:cNvSpPr txBox="1">
            <a:spLocks noChangeArrowheads="1"/>
          </p:cNvSpPr>
          <p:nvPr/>
        </p:nvSpPr>
        <p:spPr bwMode="auto">
          <a:xfrm>
            <a:off x="2037859" y="3305749"/>
            <a:ext cx="202907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eaLnBrk="0" hangingPunct="0">
              <a:spcBef>
                <a:spcPct val="50000"/>
              </a:spcBef>
              <a:buClrTx/>
              <a:buSzTx/>
              <a:buFontTx/>
              <a:buNone/>
            </a:pPr>
            <a:r>
              <a:rPr lang="zh-CN" altLang="en-US" sz="2800" dirty="0">
                <a:latin typeface="Comic Sans MS" pitchFamily="66" charset="0"/>
                <a:ea typeface="隶书" pitchFamily="49" charset="-122"/>
              </a:rPr>
              <a:t>     </a:t>
            </a:r>
            <a:r>
              <a:rPr kumimoji="1" lang="zh-CN" altLang="en-US" sz="2400" dirty="0">
                <a:latin typeface="黑体" pitchFamily="2" charset="-122"/>
                <a:ea typeface="黑体" pitchFamily="2" charset="-122"/>
              </a:rPr>
              <a:t>方案</a:t>
            </a:r>
            <a:r>
              <a:rPr kumimoji="1" lang="en-US" altLang="zh-CN" sz="2400" dirty="0">
                <a:latin typeface="黑体" pitchFamily="2" charset="-122"/>
                <a:ea typeface="黑体" pitchFamily="2" charset="-122"/>
              </a:rPr>
              <a:t>3:</a:t>
            </a:r>
          </a:p>
        </p:txBody>
      </p:sp>
      <p:grpSp>
        <p:nvGrpSpPr>
          <p:cNvPr id="15" name="Group 4"/>
          <p:cNvGrpSpPr>
            <a:grpSpLocks/>
          </p:cNvGrpSpPr>
          <p:nvPr/>
        </p:nvGrpSpPr>
        <p:grpSpPr bwMode="auto">
          <a:xfrm>
            <a:off x="5879977" y="3226985"/>
            <a:ext cx="4340225" cy="896938"/>
            <a:chOff x="1467" y="2113"/>
            <a:chExt cx="2734" cy="565"/>
          </a:xfrm>
        </p:grpSpPr>
        <p:sp>
          <p:nvSpPr>
            <p:cNvPr id="16" name="Rectangle 5"/>
            <p:cNvSpPr>
              <a:spLocks noChangeArrowheads="1"/>
            </p:cNvSpPr>
            <p:nvPr/>
          </p:nvSpPr>
          <p:spPr bwMode="auto">
            <a:xfrm>
              <a:off x="1467" y="2155"/>
              <a:ext cx="2734" cy="478"/>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endParaRPr lang="zh-CN" altLang="en-US" sz="2400">
                <a:latin typeface="Times New Roman" pitchFamily="18" charset="0"/>
              </a:endParaRPr>
            </a:p>
          </p:txBody>
        </p:sp>
        <p:sp>
          <p:nvSpPr>
            <p:cNvPr id="18" name="Line 6"/>
            <p:cNvSpPr>
              <a:spLocks noChangeShapeType="1"/>
            </p:cNvSpPr>
            <p:nvPr/>
          </p:nvSpPr>
          <p:spPr bwMode="auto">
            <a:xfrm>
              <a:off x="1511" y="2389"/>
              <a:ext cx="269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Text Box 7"/>
            <p:cNvSpPr txBox="1">
              <a:spLocks noChangeArrowheads="1"/>
            </p:cNvSpPr>
            <p:nvPr/>
          </p:nvSpPr>
          <p:spPr bwMode="auto">
            <a:xfrm>
              <a:off x="1587" y="2113"/>
              <a:ext cx="24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ClrTx/>
                <a:buSzTx/>
                <a:buFontTx/>
                <a:buNone/>
              </a:pPr>
              <a:r>
                <a:rPr lang="zh-CN" altLang="en-US" sz="2800" dirty="0">
                  <a:latin typeface="Comic Sans MS" pitchFamily="66" charset="0"/>
                </a:rPr>
                <a:t>  </a:t>
              </a:r>
              <a:r>
                <a:rPr lang="en-US" altLang="zh-CN" sz="2800" dirty="0">
                  <a:latin typeface="Comic Sans MS" pitchFamily="66" charset="0"/>
                </a:rPr>
                <a:t>A        B        C        D</a:t>
              </a:r>
            </a:p>
          </p:txBody>
        </p:sp>
        <p:sp>
          <p:nvSpPr>
            <p:cNvPr id="20" name="Text Box 8"/>
            <p:cNvSpPr txBox="1">
              <a:spLocks noChangeArrowheads="1"/>
            </p:cNvSpPr>
            <p:nvPr/>
          </p:nvSpPr>
          <p:spPr bwMode="auto">
            <a:xfrm>
              <a:off x="1745" y="2390"/>
              <a:ext cx="24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ClrTx/>
                <a:buSzTx/>
                <a:buFontTx/>
                <a:buNone/>
              </a:pPr>
              <a:r>
                <a:rPr lang="en-US" altLang="zh-CN" sz="2400">
                  <a:latin typeface="Comic Sans MS" pitchFamily="66" charset="0"/>
                </a:rPr>
                <a:t>0        110        10       111</a:t>
              </a:r>
            </a:p>
          </p:txBody>
        </p:sp>
      </p:grpSp>
      <p:sp>
        <p:nvSpPr>
          <p:cNvPr id="22" name="Text Box 10"/>
          <p:cNvSpPr txBox="1">
            <a:spLocks noChangeArrowheads="1"/>
          </p:cNvSpPr>
          <p:nvPr/>
        </p:nvSpPr>
        <p:spPr bwMode="auto">
          <a:xfrm>
            <a:off x="2568453" y="4422128"/>
            <a:ext cx="7651749"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110000"/>
              </a:lnSpc>
              <a:spcBef>
                <a:spcPct val="50000"/>
              </a:spcBef>
              <a:buClrTx/>
              <a:buSzTx/>
              <a:buFontTx/>
              <a:buNone/>
            </a:pPr>
            <a:r>
              <a:rPr kumimoji="1" lang="zh-CN" altLang="en-US" sz="2400" dirty="0">
                <a:latin typeface="黑体" pitchFamily="2" charset="-122"/>
                <a:ea typeface="黑体" pitchFamily="2" charset="-122"/>
              </a:rPr>
              <a:t>采用不等长编码，让出现次数多的字符用短码，且任一编码不能是另一编码的前缀，则</a:t>
            </a:r>
            <a:r>
              <a:rPr kumimoji="1" lang="en-US" altLang="zh-CN" sz="2400" dirty="0">
                <a:latin typeface="黑体" pitchFamily="2" charset="-122"/>
                <a:ea typeface="黑体" pitchFamily="2" charset="-122"/>
              </a:rPr>
              <a:t>ABACCDA</a:t>
            </a:r>
            <a:r>
              <a:rPr kumimoji="1" lang="zh-CN" altLang="en-US" sz="2400" dirty="0">
                <a:latin typeface="黑体" pitchFamily="2" charset="-122"/>
                <a:ea typeface="黑体" pitchFamily="2" charset="-122"/>
              </a:rPr>
              <a:t>文字的电文为：</a:t>
            </a:r>
            <a:r>
              <a:rPr kumimoji="1" lang="en-US" altLang="zh-CN" sz="2400" dirty="0">
                <a:latin typeface="黑体" pitchFamily="2" charset="-122"/>
                <a:ea typeface="黑体" pitchFamily="2" charset="-122"/>
              </a:rPr>
              <a:t>0110010101110</a:t>
            </a:r>
            <a:r>
              <a:rPr kumimoji="1" lang="zh-CN" altLang="en-US" sz="2400" dirty="0">
                <a:latin typeface="黑体" pitchFamily="2" charset="-122"/>
                <a:ea typeface="黑体" pitchFamily="2" charset="-122"/>
              </a:rPr>
              <a:t>共</a:t>
            </a:r>
            <a:r>
              <a:rPr kumimoji="1" lang="en-US" altLang="zh-CN" sz="2400" dirty="0">
                <a:latin typeface="黑体" pitchFamily="2" charset="-122"/>
                <a:ea typeface="黑体" pitchFamily="2" charset="-122"/>
              </a:rPr>
              <a:t>13</a:t>
            </a:r>
            <a:r>
              <a:rPr kumimoji="1" lang="zh-CN" altLang="en-US" sz="2400" dirty="0">
                <a:latin typeface="黑体" pitchFamily="2" charset="-122"/>
                <a:ea typeface="黑体" pitchFamily="2" charset="-122"/>
              </a:rPr>
              <a:t>位。</a:t>
            </a:r>
          </a:p>
        </p:txBody>
      </p:sp>
      <p:sp>
        <p:nvSpPr>
          <p:cNvPr id="2" name="矩形 1">
            <a:extLst>
              <a:ext uri="{FF2B5EF4-FFF2-40B4-BE49-F238E27FC236}">
                <a16:creationId xmlns:a16="http://schemas.microsoft.com/office/drawing/2014/main" xmlns="" id="{C9069CA6-729E-93B3-005A-EE0FACA25904}"/>
              </a:ext>
            </a:extLst>
          </p:cNvPr>
          <p:cNvSpPr/>
          <p:nvPr/>
        </p:nvSpPr>
        <p:spPr>
          <a:xfrm>
            <a:off x="992475" y="1549815"/>
            <a:ext cx="4339650" cy="461665"/>
          </a:xfrm>
          <a:prstGeom prst="rect">
            <a:avLst/>
          </a:prstGeom>
        </p:spPr>
        <p:txBody>
          <a:bodyPr wrap="none">
            <a:spAutoFit/>
          </a:bodyPr>
          <a:lstStyle/>
          <a:p>
            <a:r>
              <a:rPr kumimoji="1" lang="en-US" altLang="zh-CN" sz="2400" dirty="0">
                <a:latin typeface="黑体" pitchFamily="2" charset="-122"/>
                <a:ea typeface="黑体" pitchFamily="2" charset="-122"/>
              </a:rPr>
              <a:t>Huffman</a:t>
            </a:r>
            <a:r>
              <a:rPr kumimoji="1" lang="zh-CN" altLang="zh-CN" sz="2400" dirty="0">
                <a:latin typeface="黑体" pitchFamily="2" charset="-122"/>
                <a:ea typeface="黑体" pitchFamily="2" charset="-122"/>
              </a:rPr>
              <a:t>树应</a:t>
            </a:r>
            <a:r>
              <a:rPr kumimoji="1" lang="zh-CN" altLang="en-US" sz="2400" dirty="0">
                <a:latin typeface="黑体" pitchFamily="2" charset="-122"/>
                <a:ea typeface="黑体" pitchFamily="2" charset="-122"/>
              </a:rPr>
              <a:t>用</a:t>
            </a:r>
            <a:r>
              <a:rPr kumimoji="1" lang="en-US" altLang="zh-CN" sz="2400" dirty="0">
                <a:latin typeface="黑体" pitchFamily="2" charset="-122"/>
                <a:ea typeface="黑体" pitchFamily="2" charset="-122"/>
              </a:rPr>
              <a:t>——</a:t>
            </a:r>
            <a:r>
              <a:rPr kumimoji="1" lang="zh-CN" altLang="en-US" sz="2400" dirty="0">
                <a:latin typeface="黑体" pitchFamily="2" charset="-122"/>
                <a:ea typeface="黑体" pitchFamily="2" charset="-122"/>
              </a:rPr>
              <a:t>赫夫曼编码</a:t>
            </a:r>
          </a:p>
        </p:txBody>
      </p:sp>
      <p:cxnSp>
        <p:nvCxnSpPr>
          <p:cNvPr id="3" name="直接连接符 2">
            <a:extLst>
              <a:ext uri="{FF2B5EF4-FFF2-40B4-BE49-F238E27FC236}">
                <a16:creationId xmlns:a16="http://schemas.microsoft.com/office/drawing/2014/main" xmlns="" id="{E141F441-6870-A144-C1F0-C2B67BB62953}"/>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xmlns="" id="{47367266-110D-503E-8A53-B049D64BB1D9}"/>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5" name="Rectangle 2">
            <a:extLst>
              <a:ext uri="{FF2B5EF4-FFF2-40B4-BE49-F238E27FC236}">
                <a16:creationId xmlns:a16="http://schemas.microsoft.com/office/drawing/2014/main" xmlns="" id="{82515864-969F-38A9-719E-FF6AB9852412}"/>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7.8.3 </a:t>
            </a:r>
            <a:r>
              <a:rPr lang="zh-CN" altLang="en-US" dirty="0"/>
              <a:t>哈夫曼编码</a:t>
            </a:r>
          </a:p>
        </p:txBody>
      </p:sp>
    </p:spTree>
    <p:extLst>
      <p:ext uri="{BB962C8B-B14F-4D97-AF65-F5344CB8AC3E}">
        <p14:creationId xmlns:p14="http://schemas.microsoft.com/office/powerpoint/2010/main" val="275860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3"/>
          <p:cNvSpPr txBox="1">
            <a:spLocks noChangeArrowheads="1"/>
          </p:cNvSpPr>
          <p:nvPr/>
        </p:nvSpPr>
        <p:spPr bwMode="auto">
          <a:xfrm>
            <a:off x="2002935" y="2348880"/>
            <a:ext cx="848555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buClrTx/>
              <a:buSzTx/>
              <a:buFontTx/>
              <a:buNone/>
            </a:pPr>
            <a:r>
              <a:rPr kumimoji="1" lang="zh-CN" altLang="en-US" sz="2000" dirty="0">
                <a:latin typeface="黑体" pitchFamily="2" charset="-122"/>
                <a:ea typeface="黑体" pitchFamily="2" charset="-122"/>
              </a:rPr>
              <a:t>    例如：将文字“</a:t>
            </a:r>
            <a:r>
              <a:rPr kumimoji="1" lang="en-US" altLang="zh-CN" sz="2000" dirty="0">
                <a:latin typeface="黑体" pitchFamily="2" charset="-122"/>
                <a:ea typeface="黑体" pitchFamily="2" charset="-122"/>
              </a:rPr>
              <a:t>ABACCDA”</a:t>
            </a:r>
            <a:r>
              <a:rPr kumimoji="1" lang="zh-CN" altLang="en-US" sz="2000" dirty="0">
                <a:latin typeface="黑体" pitchFamily="2" charset="-122"/>
                <a:ea typeface="黑体" pitchFamily="2" charset="-122"/>
              </a:rPr>
              <a:t>转换成电文。文字中有四种字符，用</a:t>
            </a:r>
            <a:r>
              <a:rPr kumimoji="1" lang="en-US" altLang="zh-CN" sz="2000" dirty="0">
                <a:latin typeface="黑体" pitchFamily="2" charset="-122"/>
                <a:ea typeface="黑体" pitchFamily="2" charset="-122"/>
              </a:rPr>
              <a:t>2</a:t>
            </a:r>
            <a:r>
              <a:rPr kumimoji="1" lang="zh-CN" altLang="en-US" sz="2000" dirty="0">
                <a:latin typeface="黑体" pitchFamily="2" charset="-122"/>
                <a:ea typeface="黑体" pitchFamily="2" charset="-122"/>
              </a:rPr>
              <a:t>位二进制便可分辨。</a:t>
            </a:r>
          </a:p>
        </p:txBody>
      </p:sp>
      <p:sp>
        <p:nvSpPr>
          <p:cNvPr id="24" name="Text Box 4"/>
          <p:cNvSpPr txBox="1">
            <a:spLocks noChangeArrowheads="1"/>
          </p:cNvSpPr>
          <p:nvPr/>
        </p:nvSpPr>
        <p:spPr bwMode="auto">
          <a:xfrm>
            <a:off x="2614987" y="4160584"/>
            <a:ext cx="24384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10000"/>
              </a:spcBef>
              <a:buClrTx/>
              <a:buSzTx/>
              <a:buFontTx/>
              <a:buNone/>
            </a:pPr>
            <a:r>
              <a:rPr lang="zh-CN" altLang="en-US" sz="2000" dirty="0">
                <a:latin typeface="黑体" pitchFamily="2" charset="-122"/>
                <a:ea typeface="黑体" pitchFamily="2" charset="-122"/>
              </a:rPr>
              <a:t>不等长编码方案 </a:t>
            </a:r>
          </a:p>
          <a:p>
            <a:pPr algn="l" eaLnBrk="1" hangingPunct="1">
              <a:spcBef>
                <a:spcPct val="10000"/>
              </a:spcBef>
              <a:buClrTx/>
              <a:buSzTx/>
              <a:buFontTx/>
              <a:buNone/>
            </a:pPr>
            <a:r>
              <a:rPr lang="zh-CN" altLang="en-US" sz="2000" dirty="0">
                <a:latin typeface="黑体" pitchFamily="2" charset="-122"/>
                <a:ea typeface="黑体" pitchFamily="2" charset="-122"/>
              </a:rPr>
              <a:t>  </a:t>
            </a:r>
            <a:r>
              <a:rPr lang="en-US" altLang="zh-CN" sz="2000" dirty="0">
                <a:latin typeface="黑体" pitchFamily="2" charset="-122"/>
                <a:ea typeface="黑体" pitchFamily="2" charset="-122"/>
              </a:rPr>
              <a:t>A</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0     </a:t>
            </a:r>
          </a:p>
          <a:p>
            <a:pPr algn="l" eaLnBrk="1" hangingPunct="1">
              <a:spcBef>
                <a:spcPct val="10000"/>
              </a:spcBef>
              <a:buClrTx/>
              <a:buSzTx/>
              <a:buFontTx/>
              <a:buNone/>
            </a:pPr>
            <a:r>
              <a:rPr lang="en-US" altLang="zh-CN" sz="2000" dirty="0">
                <a:latin typeface="黑体" pitchFamily="2" charset="-122"/>
                <a:ea typeface="黑体" pitchFamily="2" charset="-122"/>
              </a:rPr>
              <a:t>  B</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110</a:t>
            </a:r>
          </a:p>
          <a:p>
            <a:pPr algn="l" eaLnBrk="1" hangingPunct="1">
              <a:spcBef>
                <a:spcPct val="10000"/>
              </a:spcBef>
              <a:buClrTx/>
              <a:buSzTx/>
              <a:buFontTx/>
              <a:buNone/>
            </a:pPr>
            <a:r>
              <a:rPr lang="en-US" altLang="zh-CN" sz="2000" dirty="0">
                <a:latin typeface="黑体" pitchFamily="2" charset="-122"/>
                <a:ea typeface="黑体" pitchFamily="2" charset="-122"/>
              </a:rPr>
              <a:t>  C</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10</a:t>
            </a:r>
          </a:p>
          <a:p>
            <a:pPr algn="l" eaLnBrk="1" hangingPunct="1">
              <a:spcBef>
                <a:spcPct val="10000"/>
              </a:spcBef>
              <a:buClrTx/>
              <a:buSzTx/>
              <a:buFontTx/>
              <a:buNone/>
            </a:pPr>
            <a:r>
              <a:rPr lang="en-US" altLang="zh-CN" sz="2000" dirty="0">
                <a:latin typeface="黑体" pitchFamily="2" charset="-122"/>
                <a:ea typeface="黑体" pitchFamily="2" charset="-122"/>
              </a:rPr>
              <a:t>  D</a:t>
            </a:r>
            <a:r>
              <a:rPr lang="zh-CN" altLang="en-US" sz="2000" dirty="0">
                <a:latin typeface="黑体" pitchFamily="2" charset="-122"/>
                <a:ea typeface="黑体" pitchFamily="2" charset="-122"/>
              </a:rPr>
              <a:t>：</a:t>
            </a:r>
            <a:r>
              <a:rPr lang="en-US" altLang="zh-CN" sz="2000" dirty="0">
                <a:latin typeface="黑体" pitchFamily="2" charset="-122"/>
                <a:ea typeface="黑体" pitchFamily="2" charset="-122"/>
              </a:rPr>
              <a:t>111</a:t>
            </a:r>
          </a:p>
        </p:txBody>
      </p:sp>
      <p:sp>
        <p:nvSpPr>
          <p:cNvPr id="25" name="Oval 6"/>
          <p:cNvSpPr>
            <a:spLocks noChangeArrowheads="1"/>
          </p:cNvSpPr>
          <p:nvPr/>
        </p:nvSpPr>
        <p:spPr bwMode="auto">
          <a:xfrm>
            <a:off x="7874156" y="3914219"/>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endParaRPr lang="zh-CN" altLang="zh-CN" sz="2400"/>
          </a:p>
        </p:txBody>
      </p:sp>
      <p:sp>
        <p:nvSpPr>
          <p:cNvPr id="26" name="Line 7"/>
          <p:cNvSpPr>
            <a:spLocks noChangeShapeType="1"/>
          </p:cNvSpPr>
          <p:nvPr/>
        </p:nvSpPr>
        <p:spPr bwMode="auto">
          <a:xfrm>
            <a:off x="8278364" y="4295218"/>
            <a:ext cx="190500" cy="1143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 name="Oval 8"/>
          <p:cNvSpPr>
            <a:spLocks noChangeArrowheads="1"/>
          </p:cNvSpPr>
          <p:nvPr/>
        </p:nvSpPr>
        <p:spPr bwMode="auto">
          <a:xfrm>
            <a:off x="8316464" y="440951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endParaRPr lang="zh-CN" altLang="zh-CN" sz="2400"/>
          </a:p>
        </p:txBody>
      </p:sp>
      <p:sp>
        <p:nvSpPr>
          <p:cNvPr id="28" name="Text Box 9"/>
          <p:cNvSpPr txBox="1">
            <a:spLocks noChangeArrowheads="1"/>
          </p:cNvSpPr>
          <p:nvPr/>
        </p:nvSpPr>
        <p:spPr bwMode="auto">
          <a:xfrm>
            <a:off x="7173464" y="4561919"/>
            <a:ext cx="304800"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29" name="Text Box 10"/>
          <p:cNvSpPr txBox="1">
            <a:spLocks noChangeArrowheads="1"/>
          </p:cNvSpPr>
          <p:nvPr/>
        </p:nvSpPr>
        <p:spPr bwMode="auto">
          <a:xfrm>
            <a:off x="7630664" y="5247719"/>
            <a:ext cx="304800"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000">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5</a:t>
            </a:r>
          </a:p>
        </p:txBody>
      </p:sp>
      <p:sp>
        <p:nvSpPr>
          <p:cNvPr id="30" name="Oval 11"/>
          <p:cNvSpPr>
            <a:spLocks noChangeArrowheads="1"/>
          </p:cNvSpPr>
          <p:nvPr/>
        </p:nvSpPr>
        <p:spPr bwMode="auto">
          <a:xfrm>
            <a:off x="8926064" y="501911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endParaRPr lang="zh-CN" altLang="zh-CN" sz="2400"/>
          </a:p>
        </p:txBody>
      </p:sp>
      <p:sp>
        <p:nvSpPr>
          <p:cNvPr id="31" name="Line 12"/>
          <p:cNvSpPr>
            <a:spLocks noChangeShapeType="1"/>
          </p:cNvSpPr>
          <p:nvPr/>
        </p:nvSpPr>
        <p:spPr bwMode="auto">
          <a:xfrm>
            <a:off x="9154664" y="5476318"/>
            <a:ext cx="38100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2" name="Oval 13"/>
          <p:cNvSpPr>
            <a:spLocks noChangeArrowheads="1"/>
          </p:cNvSpPr>
          <p:nvPr/>
        </p:nvSpPr>
        <p:spPr bwMode="auto">
          <a:xfrm>
            <a:off x="9383264" y="570491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r>
              <a:rPr lang="en-US" altLang="zh-CN" sz="2400"/>
              <a:t>d</a:t>
            </a:r>
          </a:p>
        </p:txBody>
      </p:sp>
      <p:sp>
        <p:nvSpPr>
          <p:cNvPr id="34" name="Line 14"/>
          <p:cNvSpPr>
            <a:spLocks noChangeShapeType="1"/>
          </p:cNvSpPr>
          <p:nvPr/>
        </p:nvSpPr>
        <p:spPr bwMode="auto">
          <a:xfrm>
            <a:off x="8621264" y="4866718"/>
            <a:ext cx="457200" cy="152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15"/>
          <p:cNvSpPr>
            <a:spLocks noChangeShapeType="1"/>
          </p:cNvSpPr>
          <p:nvPr/>
        </p:nvSpPr>
        <p:spPr bwMode="auto">
          <a:xfrm flipH="1">
            <a:off x="7706864" y="4333318"/>
            <a:ext cx="228600" cy="152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Oval 16"/>
          <p:cNvSpPr>
            <a:spLocks noChangeArrowheads="1"/>
          </p:cNvSpPr>
          <p:nvPr/>
        </p:nvSpPr>
        <p:spPr bwMode="auto">
          <a:xfrm>
            <a:off x="7478264" y="448571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r>
              <a:rPr lang="en-US" altLang="zh-CN" sz="2400"/>
              <a:t>a</a:t>
            </a:r>
          </a:p>
        </p:txBody>
      </p:sp>
      <p:sp>
        <p:nvSpPr>
          <p:cNvPr id="37" name="Line 17"/>
          <p:cNvSpPr>
            <a:spLocks noChangeShapeType="1"/>
          </p:cNvSpPr>
          <p:nvPr/>
        </p:nvSpPr>
        <p:spPr bwMode="auto">
          <a:xfrm flipH="1">
            <a:off x="8164064" y="4866718"/>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8" name="Oval 18"/>
          <p:cNvSpPr>
            <a:spLocks noChangeArrowheads="1"/>
          </p:cNvSpPr>
          <p:nvPr/>
        </p:nvSpPr>
        <p:spPr bwMode="auto">
          <a:xfrm>
            <a:off x="7935464" y="517151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r>
              <a:rPr lang="en-US" altLang="zh-CN" sz="2400"/>
              <a:t>c</a:t>
            </a:r>
          </a:p>
        </p:txBody>
      </p:sp>
      <p:sp>
        <p:nvSpPr>
          <p:cNvPr id="39" name="Line 19"/>
          <p:cNvSpPr>
            <a:spLocks noChangeShapeType="1"/>
          </p:cNvSpPr>
          <p:nvPr/>
        </p:nvSpPr>
        <p:spPr bwMode="auto">
          <a:xfrm flipH="1">
            <a:off x="8773664" y="5476318"/>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0" name="Oval 20"/>
          <p:cNvSpPr>
            <a:spLocks noChangeArrowheads="1"/>
          </p:cNvSpPr>
          <p:nvPr/>
        </p:nvSpPr>
        <p:spPr bwMode="auto">
          <a:xfrm>
            <a:off x="8545064" y="5781118"/>
            <a:ext cx="457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0"/>
              </a:spcBef>
              <a:buClrTx/>
              <a:buSzTx/>
              <a:buFontTx/>
              <a:buNone/>
            </a:pPr>
            <a:r>
              <a:rPr lang="en-US" altLang="zh-CN" sz="2400"/>
              <a:t>b</a:t>
            </a:r>
          </a:p>
        </p:txBody>
      </p:sp>
      <p:sp>
        <p:nvSpPr>
          <p:cNvPr id="41" name="Text Box 21"/>
          <p:cNvSpPr txBox="1">
            <a:spLocks noChangeArrowheads="1"/>
          </p:cNvSpPr>
          <p:nvPr/>
        </p:nvSpPr>
        <p:spPr bwMode="auto">
          <a:xfrm>
            <a:off x="8164064" y="5808058"/>
            <a:ext cx="304800"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000">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dirty="0"/>
              <a:t>2</a:t>
            </a:r>
          </a:p>
        </p:txBody>
      </p:sp>
      <p:sp>
        <p:nvSpPr>
          <p:cNvPr id="42" name="Text Box 22"/>
          <p:cNvSpPr txBox="1">
            <a:spLocks noChangeArrowheads="1"/>
          </p:cNvSpPr>
          <p:nvPr/>
        </p:nvSpPr>
        <p:spPr bwMode="auto">
          <a:xfrm>
            <a:off x="9967664" y="5768174"/>
            <a:ext cx="304800" cy="39687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spcBef>
                <a:spcPct val="50000"/>
              </a:spcBef>
              <a:buClrTx/>
              <a:buSzTx/>
              <a:buFontTx/>
              <a:buNone/>
              <a:defRPr kumimoji="1" sz="2000">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dirty="0"/>
              <a:t>4</a:t>
            </a:r>
          </a:p>
        </p:txBody>
      </p:sp>
      <p:sp>
        <p:nvSpPr>
          <p:cNvPr id="43" name="矩形 42"/>
          <p:cNvSpPr/>
          <p:nvPr/>
        </p:nvSpPr>
        <p:spPr>
          <a:xfrm>
            <a:off x="2495600" y="3056766"/>
            <a:ext cx="1210588" cy="400110"/>
          </a:xfrm>
          <a:prstGeom prst="rect">
            <a:avLst/>
          </a:prstGeom>
        </p:spPr>
        <p:txBody>
          <a:bodyPr wrap="none">
            <a:spAutoFit/>
          </a:bodyPr>
          <a:lstStyle/>
          <a:p>
            <a:r>
              <a:rPr kumimoji="1" lang="zh-CN" altLang="en-US" sz="2000" dirty="0">
                <a:latin typeface="黑体" pitchFamily="2" charset="-122"/>
                <a:ea typeface="黑体" pitchFamily="2" charset="-122"/>
              </a:rPr>
              <a:t>前缀编码</a:t>
            </a:r>
          </a:p>
        </p:txBody>
      </p:sp>
      <p:sp>
        <p:nvSpPr>
          <p:cNvPr id="3" name="矩形 2"/>
          <p:cNvSpPr/>
          <p:nvPr/>
        </p:nvSpPr>
        <p:spPr>
          <a:xfrm>
            <a:off x="2495600" y="3410163"/>
            <a:ext cx="7704856" cy="707886"/>
          </a:xfrm>
          <a:prstGeom prst="rect">
            <a:avLst/>
          </a:prstGeom>
        </p:spPr>
        <p:txBody>
          <a:bodyPr wrap="square">
            <a:spAutoFit/>
          </a:bodyPr>
          <a:lstStyle/>
          <a:p>
            <a:r>
              <a:rPr kumimoji="1" lang="zh-CN" altLang="en-US" sz="2000" dirty="0">
                <a:latin typeface="黑体" pitchFamily="2" charset="-122"/>
                <a:ea typeface="黑体" pitchFamily="2" charset="-122"/>
              </a:rPr>
              <a:t>为一个字符集合中的字符进行编码时，若每个字符的编码不是其他字符编码的前缀，则称这种编码为前缀编码。</a:t>
            </a:r>
          </a:p>
        </p:txBody>
      </p:sp>
      <p:sp>
        <p:nvSpPr>
          <p:cNvPr id="2" name="矩形 1">
            <a:extLst>
              <a:ext uri="{FF2B5EF4-FFF2-40B4-BE49-F238E27FC236}">
                <a16:creationId xmlns:a16="http://schemas.microsoft.com/office/drawing/2014/main" xmlns="" id="{CB74C819-F0B6-030A-39EA-1C527BD958D4}"/>
              </a:ext>
            </a:extLst>
          </p:cNvPr>
          <p:cNvSpPr/>
          <p:nvPr/>
        </p:nvSpPr>
        <p:spPr>
          <a:xfrm>
            <a:off x="992475" y="1549815"/>
            <a:ext cx="4339650" cy="461665"/>
          </a:xfrm>
          <a:prstGeom prst="rect">
            <a:avLst/>
          </a:prstGeom>
        </p:spPr>
        <p:txBody>
          <a:bodyPr wrap="none">
            <a:spAutoFit/>
          </a:bodyPr>
          <a:lstStyle/>
          <a:p>
            <a:r>
              <a:rPr kumimoji="1" lang="en-US" altLang="zh-CN" sz="2400" dirty="0">
                <a:latin typeface="黑体" pitchFamily="2" charset="-122"/>
                <a:ea typeface="黑体" pitchFamily="2" charset="-122"/>
              </a:rPr>
              <a:t>Huffman</a:t>
            </a:r>
            <a:r>
              <a:rPr kumimoji="1" lang="zh-CN" altLang="zh-CN" sz="2400" dirty="0">
                <a:latin typeface="黑体" pitchFamily="2" charset="-122"/>
                <a:ea typeface="黑体" pitchFamily="2" charset="-122"/>
              </a:rPr>
              <a:t>树应</a:t>
            </a:r>
            <a:r>
              <a:rPr kumimoji="1" lang="zh-CN" altLang="en-US" sz="2400" dirty="0">
                <a:latin typeface="黑体" pitchFamily="2" charset="-122"/>
                <a:ea typeface="黑体" pitchFamily="2" charset="-122"/>
              </a:rPr>
              <a:t>用</a:t>
            </a:r>
            <a:r>
              <a:rPr kumimoji="1" lang="en-US" altLang="zh-CN" sz="2400" dirty="0">
                <a:latin typeface="黑体" pitchFamily="2" charset="-122"/>
                <a:ea typeface="黑体" pitchFamily="2" charset="-122"/>
              </a:rPr>
              <a:t>——</a:t>
            </a:r>
            <a:r>
              <a:rPr kumimoji="1" lang="zh-CN" altLang="en-US" sz="2400" dirty="0">
                <a:latin typeface="黑体" pitchFamily="2" charset="-122"/>
                <a:ea typeface="黑体" pitchFamily="2" charset="-122"/>
              </a:rPr>
              <a:t>赫夫曼编码</a:t>
            </a:r>
          </a:p>
        </p:txBody>
      </p:sp>
      <p:cxnSp>
        <p:nvCxnSpPr>
          <p:cNvPr id="4" name="直接连接符 3">
            <a:extLst>
              <a:ext uri="{FF2B5EF4-FFF2-40B4-BE49-F238E27FC236}">
                <a16:creationId xmlns:a16="http://schemas.microsoft.com/office/drawing/2014/main" xmlns="" id="{43473502-C2D2-CE5A-2BD8-64E5E2A9E611}"/>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xmlns="" id="{519E3F80-E226-2AA7-22E6-D556AC53C8BB}"/>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6" name="Rectangle 2">
            <a:extLst>
              <a:ext uri="{FF2B5EF4-FFF2-40B4-BE49-F238E27FC236}">
                <a16:creationId xmlns:a16="http://schemas.microsoft.com/office/drawing/2014/main" xmlns="" id="{3950C377-CC35-1822-E644-C4E667D5755F}"/>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7.8.3 </a:t>
            </a:r>
            <a:r>
              <a:rPr lang="zh-CN" altLang="en-US" dirty="0"/>
              <a:t>哈夫曼编码</a:t>
            </a:r>
          </a:p>
        </p:txBody>
      </p:sp>
    </p:spTree>
    <p:extLst>
      <p:ext uri="{BB962C8B-B14F-4D97-AF65-F5344CB8AC3E}">
        <p14:creationId xmlns:p14="http://schemas.microsoft.com/office/powerpoint/2010/main" val="335978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animBg="1"/>
      <p:bldP spid="26" grpId="0" animBg="1"/>
      <p:bldP spid="27" grpId="0" animBg="1"/>
      <p:bldP spid="28" grpId="0"/>
      <p:bldP spid="29" grpId="0"/>
      <p:bldP spid="30" grpId="0" animBg="1"/>
      <p:bldP spid="31" grpId="0" animBg="1"/>
      <p:bldP spid="32" grpId="0" animBg="1"/>
      <p:bldP spid="34" grpId="0" animBg="1"/>
      <p:bldP spid="35" grpId="0" animBg="1"/>
      <p:bldP spid="36" grpId="0" animBg="1"/>
      <p:bldP spid="37" grpId="0" animBg="1"/>
      <p:bldP spid="38" grpId="0" animBg="1"/>
      <p:bldP spid="39" grpId="0" animBg="1"/>
      <p:bldP spid="40" grpId="0" animBg="1"/>
      <p:bldP spid="41" grpId="0"/>
      <p:bldP spid="42" grpId="0"/>
      <p:bldP spid="43" grpId="0"/>
      <p:bldP spid="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 Box 4"/>
          <p:cNvSpPr txBox="1">
            <a:spLocks noChangeArrowheads="1"/>
          </p:cNvSpPr>
          <p:nvPr/>
        </p:nvSpPr>
        <p:spPr bwMode="auto">
          <a:xfrm>
            <a:off x="1853090" y="2577098"/>
            <a:ext cx="870740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buClrTx/>
              <a:buSzTx/>
              <a:buFontTx/>
              <a:buNone/>
            </a:pPr>
            <a:r>
              <a:rPr kumimoji="1" lang="zh-CN" altLang="en-US" sz="2000" dirty="0">
                <a:latin typeface="黑体" pitchFamily="2" charset="-122"/>
                <a:ea typeface="黑体" pitchFamily="2" charset="-122"/>
              </a:rPr>
              <a:t>    设有</a:t>
            </a:r>
            <a:r>
              <a:rPr kumimoji="1" lang="en-US" altLang="zh-CN" sz="2000" dirty="0">
                <a:latin typeface="黑体" pitchFamily="2" charset="-122"/>
                <a:ea typeface="黑体" pitchFamily="2" charset="-122"/>
              </a:rPr>
              <a:t>n</a:t>
            </a:r>
            <a:r>
              <a:rPr kumimoji="1" lang="zh-CN" altLang="en-US" sz="2000" dirty="0">
                <a:latin typeface="黑体" pitchFamily="2" charset="-122"/>
                <a:ea typeface="黑体" pitchFamily="2" charset="-122"/>
              </a:rPr>
              <a:t>种字符，每种字符出现的次数为</a:t>
            </a:r>
            <a:r>
              <a:rPr lang="en-US" altLang="zh-CN" sz="2000" dirty="0">
                <a:latin typeface="Times New Roman" pitchFamily="18" charset="0"/>
              </a:rPr>
              <a:t>Wi</a:t>
            </a:r>
            <a:r>
              <a:rPr kumimoji="1" lang="en-US" altLang="zh-CN" sz="2000" dirty="0">
                <a:latin typeface="黑体" pitchFamily="2" charset="-122"/>
                <a:ea typeface="黑体" pitchFamily="2" charset="-122"/>
              </a:rPr>
              <a:t> ,</a:t>
            </a:r>
            <a:r>
              <a:rPr kumimoji="1" lang="zh-CN" altLang="en-US" sz="2000" dirty="0">
                <a:latin typeface="黑体" pitchFamily="2" charset="-122"/>
                <a:ea typeface="黑体" pitchFamily="2" charset="-122"/>
              </a:rPr>
              <a:t>其编码长度为</a:t>
            </a:r>
            <a:r>
              <a:rPr lang="en-US" altLang="zh-CN" sz="2000" dirty="0">
                <a:latin typeface="Times New Roman" pitchFamily="18" charset="0"/>
              </a:rPr>
              <a:t>Li (i=1,2,</a:t>
            </a:r>
            <a:r>
              <a:rPr lang="zh-CN" altLang="en-US" sz="2000" dirty="0">
                <a:latin typeface="Times New Roman" pitchFamily="18" charset="0"/>
              </a:rPr>
              <a:t>．．．</a:t>
            </a:r>
            <a:r>
              <a:rPr lang="en-US" altLang="zh-CN" sz="2000" dirty="0">
                <a:latin typeface="Times New Roman" pitchFamily="18" charset="0"/>
              </a:rPr>
              <a:t>n)</a:t>
            </a:r>
            <a:r>
              <a:rPr kumimoji="1" lang="zh-CN" altLang="en-US" sz="2000" dirty="0">
                <a:latin typeface="黑体" pitchFamily="2" charset="-122"/>
                <a:ea typeface="黑体" pitchFamily="2" charset="-122"/>
              </a:rPr>
              <a:t>，则整个电文总长度为</a:t>
            </a:r>
            <a:r>
              <a:rPr lang="zh-CN" altLang="en-US" sz="2000" dirty="0">
                <a:latin typeface="Times New Roman" pitchFamily="18" charset="0"/>
              </a:rPr>
              <a:t>∑</a:t>
            </a:r>
            <a:r>
              <a:rPr lang="en-US" altLang="zh-CN" sz="2000" dirty="0" err="1">
                <a:latin typeface="Times New Roman" pitchFamily="18" charset="0"/>
              </a:rPr>
              <a:t>WiLi</a:t>
            </a:r>
            <a:r>
              <a:rPr lang="en-US" altLang="zh-CN" sz="2000" dirty="0">
                <a:latin typeface="Times New Roman" pitchFamily="18" charset="0"/>
              </a:rPr>
              <a:t> </a:t>
            </a:r>
            <a:r>
              <a:rPr kumimoji="1" lang="zh-CN" altLang="en-US" sz="2000" dirty="0">
                <a:latin typeface="黑体" pitchFamily="2" charset="-122"/>
                <a:ea typeface="黑体" pitchFamily="2" charset="-122"/>
              </a:rPr>
              <a:t>，要得到最短的电文，即使得</a:t>
            </a:r>
            <a:r>
              <a:rPr lang="zh-CN" altLang="en-US" sz="2000" dirty="0">
                <a:latin typeface="Times New Roman" pitchFamily="18" charset="0"/>
              </a:rPr>
              <a:t>∑</a:t>
            </a:r>
            <a:r>
              <a:rPr lang="en-US" altLang="zh-CN" sz="2000" dirty="0" err="1">
                <a:latin typeface="Times New Roman" pitchFamily="18" charset="0"/>
              </a:rPr>
              <a:t>WiLi</a:t>
            </a:r>
            <a:r>
              <a:rPr kumimoji="1" lang="zh-CN" altLang="en-US" sz="2000" dirty="0">
                <a:latin typeface="黑体" pitchFamily="2" charset="-122"/>
                <a:ea typeface="黑体" pitchFamily="2" charset="-122"/>
              </a:rPr>
              <a:t>最小。</a:t>
            </a:r>
          </a:p>
        </p:txBody>
      </p:sp>
      <p:sp>
        <p:nvSpPr>
          <p:cNvPr id="4" name="矩形 3"/>
          <p:cNvSpPr/>
          <p:nvPr/>
        </p:nvSpPr>
        <p:spPr>
          <a:xfrm>
            <a:off x="1847528" y="3479783"/>
            <a:ext cx="8496944" cy="1107996"/>
          </a:xfrm>
          <a:prstGeom prst="rect">
            <a:avLst/>
          </a:prstGeom>
        </p:spPr>
        <p:txBody>
          <a:bodyPr wrap="square">
            <a:spAutoFit/>
          </a:bodyPr>
          <a:lstStyle/>
          <a:p>
            <a:pPr eaLnBrk="0" hangingPunct="0">
              <a:lnSpc>
                <a:spcPct val="110000"/>
              </a:lnSpc>
              <a:spcBef>
                <a:spcPct val="50000"/>
              </a:spcBef>
              <a:buClrTx/>
              <a:buSzTx/>
              <a:buFontTx/>
              <a:buNone/>
            </a:pPr>
            <a:r>
              <a:rPr kumimoji="1" lang="zh-CN" altLang="en-US" sz="2000" dirty="0">
                <a:latin typeface="黑体" pitchFamily="2" charset="-122"/>
                <a:ea typeface="黑体" pitchFamily="2" charset="-122"/>
              </a:rPr>
              <a:t>    也就是以字符出现的次数为权值，构造一棵 </a:t>
            </a:r>
            <a:r>
              <a:rPr kumimoji="1" lang="en-US" altLang="zh-CN" sz="2000" dirty="0">
                <a:latin typeface="黑体" pitchFamily="2" charset="-122"/>
                <a:ea typeface="黑体" pitchFamily="2" charset="-122"/>
              </a:rPr>
              <a:t>Huffman</a:t>
            </a:r>
            <a:r>
              <a:rPr kumimoji="1" lang="zh-CN" altLang="en-US" sz="2000" dirty="0">
                <a:latin typeface="黑体" pitchFamily="2" charset="-122"/>
                <a:ea typeface="黑体" pitchFamily="2" charset="-122"/>
              </a:rPr>
              <a:t>树，并规定左分支编码位</a:t>
            </a:r>
            <a:r>
              <a:rPr kumimoji="1" lang="en-US" altLang="zh-CN" sz="2000" dirty="0">
                <a:latin typeface="黑体" pitchFamily="2" charset="-122"/>
                <a:ea typeface="黑体" pitchFamily="2" charset="-122"/>
              </a:rPr>
              <a:t>0</a:t>
            </a:r>
            <a:r>
              <a:rPr kumimoji="1" lang="zh-CN" altLang="en-US" sz="2000" dirty="0">
                <a:latin typeface="黑体" pitchFamily="2" charset="-122"/>
                <a:ea typeface="黑体" pitchFamily="2" charset="-122"/>
              </a:rPr>
              <a:t>，右分支编码为</a:t>
            </a:r>
            <a:r>
              <a:rPr kumimoji="1" lang="en-US" altLang="zh-CN" sz="2000" dirty="0">
                <a:latin typeface="黑体" pitchFamily="2" charset="-122"/>
                <a:ea typeface="黑体" pitchFamily="2" charset="-122"/>
              </a:rPr>
              <a:t>1</a:t>
            </a:r>
            <a:r>
              <a:rPr kumimoji="1" lang="zh-CN" altLang="en-US" sz="2000" dirty="0">
                <a:latin typeface="黑体" pitchFamily="2" charset="-122"/>
                <a:ea typeface="黑体" pitchFamily="2" charset="-122"/>
              </a:rPr>
              <a:t>，则字符的编码就是从根到该字符所在的叶结点的路径上的分支编号序列，称为</a:t>
            </a:r>
            <a:r>
              <a:rPr kumimoji="1" lang="en-US" altLang="zh-CN" sz="2000" dirty="0">
                <a:latin typeface="黑体" pitchFamily="2" charset="-122"/>
                <a:ea typeface="黑体" pitchFamily="2" charset="-122"/>
              </a:rPr>
              <a:t>Huffman</a:t>
            </a:r>
            <a:r>
              <a:rPr kumimoji="1" lang="zh-CN" altLang="en-US" sz="2000" dirty="0">
                <a:latin typeface="黑体" pitchFamily="2" charset="-122"/>
                <a:ea typeface="黑体" pitchFamily="2" charset="-122"/>
              </a:rPr>
              <a:t>编码。</a:t>
            </a:r>
          </a:p>
        </p:txBody>
      </p:sp>
      <p:sp>
        <p:nvSpPr>
          <p:cNvPr id="2" name="矩形 1">
            <a:extLst>
              <a:ext uri="{FF2B5EF4-FFF2-40B4-BE49-F238E27FC236}">
                <a16:creationId xmlns:a16="http://schemas.microsoft.com/office/drawing/2014/main" xmlns="" id="{C529E378-C66F-880E-66F9-B85523E31041}"/>
              </a:ext>
            </a:extLst>
          </p:cNvPr>
          <p:cNvSpPr/>
          <p:nvPr/>
        </p:nvSpPr>
        <p:spPr>
          <a:xfrm>
            <a:off x="992475" y="1549815"/>
            <a:ext cx="4339650" cy="461665"/>
          </a:xfrm>
          <a:prstGeom prst="rect">
            <a:avLst/>
          </a:prstGeom>
        </p:spPr>
        <p:txBody>
          <a:bodyPr wrap="none">
            <a:spAutoFit/>
          </a:bodyPr>
          <a:lstStyle/>
          <a:p>
            <a:r>
              <a:rPr kumimoji="1" lang="en-US" altLang="zh-CN" sz="2400" dirty="0">
                <a:latin typeface="黑体" pitchFamily="2" charset="-122"/>
                <a:ea typeface="黑体" pitchFamily="2" charset="-122"/>
              </a:rPr>
              <a:t>Huffman</a:t>
            </a:r>
            <a:r>
              <a:rPr kumimoji="1" lang="zh-CN" altLang="zh-CN" sz="2400" dirty="0">
                <a:latin typeface="黑体" pitchFamily="2" charset="-122"/>
                <a:ea typeface="黑体" pitchFamily="2" charset="-122"/>
              </a:rPr>
              <a:t>树应</a:t>
            </a:r>
            <a:r>
              <a:rPr kumimoji="1" lang="zh-CN" altLang="en-US" sz="2400" dirty="0">
                <a:latin typeface="黑体" pitchFamily="2" charset="-122"/>
                <a:ea typeface="黑体" pitchFamily="2" charset="-122"/>
              </a:rPr>
              <a:t>用</a:t>
            </a:r>
            <a:r>
              <a:rPr kumimoji="1" lang="en-US" altLang="zh-CN" sz="2400" dirty="0">
                <a:latin typeface="黑体" pitchFamily="2" charset="-122"/>
                <a:ea typeface="黑体" pitchFamily="2" charset="-122"/>
              </a:rPr>
              <a:t>——</a:t>
            </a:r>
            <a:r>
              <a:rPr kumimoji="1" lang="zh-CN" altLang="en-US" sz="2400" dirty="0">
                <a:latin typeface="黑体" pitchFamily="2" charset="-122"/>
                <a:ea typeface="黑体" pitchFamily="2" charset="-122"/>
              </a:rPr>
              <a:t>赫夫曼编码</a:t>
            </a:r>
          </a:p>
        </p:txBody>
      </p:sp>
      <p:cxnSp>
        <p:nvCxnSpPr>
          <p:cNvPr id="3" name="直接连接符 2">
            <a:extLst>
              <a:ext uri="{FF2B5EF4-FFF2-40B4-BE49-F238E27FC236}">
                <a16:creationId xmlns:a16="http://schemas.microsoft.com/office/drawing/2014/main" xmlns="" id="{4AFB93ED-E00C-6999-91DE-8232DE135225}"/>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xmlns="" id="{44AE42AD-F7C7-96C3-9B22-DCAA7908542B}"/>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7" name="Rectangle 2">
            <a:extLst>
              <a:ext uri="{FF2B5EF4-FFF2-40B4-BE49-F238E27FC236}">
                <a16:creationId xmlns:a16="http://schemas.microsoft.com/office/drawing/2014/main" xmlns="" id="{CE2B803C-559F-1277-5BC8-A7BC0299B437}"/>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7.8.3 </a:t>
            </a:r>
            <a:r>
              <a:rPr lang="zh-CN" altLang="en-US" dirty="0"/>
              <a:t>哈夫曼编码</a:t>
            </a:r>
          </a:p>
        </p:txBody>
      </p:sp>
    </p:spTree>
    <p:extLst>
      <p:ext uri="{BB962C8B-B14F-4D97-AF65-F5344CB8AC3E}">
        <p14:creationId xmlns:p14="http://schemas.microsoft.com/office/powerpoint/2010/main" val="3671823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68619" y="2636913"/>
            <a:ext cx="7459829" cy="1015663"/>
          </a:xfrm>
          <a:prstGeom prst="rect">
            <a:avLst/>
          </a:prstGeom>
        </p:spPr>
        <p:txBody>
          <a:bodyPr wrap="square">
            <a:spAutoFit/>
          </a:bodyPr>
          <a:lstStyle/>
          <a:p>
            <a:r>
              <a:rPr kumimoji="1" lang="en-US" altLang="zh-CN" sz="2000" dirty="0">
                <a:latin typeface="黑体" pitchFamily="2" charset="-122"/>
                <a:ea typeface="黑体" pitchFamily="2" charset="-122"/>
              </a:rPr>
              <a:t>①</a:t>
            </a:r>
            <a:r>
              <a:rPr kumimoji="1" lang="zh-CN" altLang="en-US" sz="2000" dirty="0">
                <a:latin typeface="黑体" pitchFamily="2" charset="-122"/>
                <a:ea typeface="黑体" pitchFamily="2" charset="-122"/>
              </a:rPr>
              <a:t>、构造赫夫曼树：设需要编码的集合为</a:t>
            </a:r>
            <a:r>
              <a:rPr lang="en-US" altLang="zh-CN" sz="2000" dirty="0">
                <a:latin typeface="Times New Roman" pitchFamily="18" charset="0"/>
              </a:rPr>
              <a:t>{d</a:t>
            </a:r>
            <a:r>
              <a:rPr lang="en-US" altLang="zh-CN" sz="2000" baseline="-25000" dirty="0">
                <a:latin typeface="Times New Roman" pitchFamily="18" charset="0"/>
              </a:rPr>
              <a:t>1</a:t>
            </a:r>
            <a:r>
              <a:rPr lang="en-US" altLang="zh-CN" sz="2000" dirty="0">
                <a:latin typeface="Times New Roman" pitchFamily="18" charset="0"/>
              </a:rPr>
              <a:t>,d</a:t>
            </a:r>
            <a:r>
              <a:rPr lang="en-US" altLang="zh-CN" sz="2000" baseline="-25000" dirty="0">
                <a:latin typeface="Times New Roman" pitchFamily="18" charset="0"/>
              </a:rPr>
              <a:t>2</a:t>
            </a:r>
            <a:r>
              <a:rPr lang="en-US" altLang="zh-CN" sz="2000" dirty="0">
                <a:latin typeface="Times New Roman" pitchFamily="18" charset="0"/>
              </a:rPr>
              <a:t>,…,</a:t>
            </a:r>
            <a:r>
              <a:rPr lang="en-US" altLang="zh-CN" sz="2000" dirty="0" err="1">
                <a:latin typeface="Times New Roman" pitchFamily="18" charset="0"/>
              </a:rPr>
              <a:t>d</a:t>
            </a:r>
            <a:r>
              <a:rPr lang="en-US" altLang="zh-CN" sz="2000" baseline="-25000" dirty="0" err="1">
                <a:latin typeface="Times New Roman" pitchFamily="18" charset="0"/>
              </a:rPr>
              <a:t>n</a:t>
            </a:r>
            <a:r>
              <a:rPr lang="en-US" altLang="zh-CN" sz="2000" dirty="0">
                <a:latin typeface="Times New Roman" pitchFamily="18" charset="0"/>
              </a:rPr>
              <a:t>}</a:t>
            </a:r>
            <a:r>
              <a:rPr kumimoji="1" lang="zh-CN" altLang="en-US" sz="2000" dirty="0">
                <a:latin typeface="黑体" pitchFamily="2" charset="-122"/>
                <a:ea typeface="黑体" pitchFamily="2" charset="-122"/>
              </a:rPr>
              <a:t>，它们在电文中出现的次数或频率集合为</a:t>
            </a:r>
            <a:r>
              <a:rPr lang="en-US" altLang="zh-CN" sz="2000" dirty="0">
                <a:latin typeface="Times New Roman" pitchFamily="18" charset="0"/>
              </a:rPr>
              <a:t>{w</a:t>
            </a:r>
            <a:r>
              <a:rPr lang="en-US" altLang="zh-CN" sz="2000" baseline="-25000" dirty="0">
                <a:latin typeface="Times New Roman" pitchFamily="18" charset="0"/>
              </a:rPr>
              <a:t>1</a:t>
            </a:r>
            <a:r>
              <a:rPr lang="en-US" altLang="zh-CN" sz="2000" dirty="0">
                <a:latin typeface="Times New Roman" pitchFamily="18" charset="0"/>
              </a:rPr>
              <a:t>,w</a:t>
            </a:r>
            <a:r>
              <a:rPr lang="en-US" altLang="zh-CN" sz="2000" baseline="-25000" dirty="0">
                <a:latin typeface="Times New Roman" pitchFamily="18" charset="0"/>
              </a:rPr>
              <a:t>2</a:t>
            </a:r>
            <a:r>
              <a:rPr lang="en-US" altLang="zh-CN" sz="2000" dirty="0">
                <a:latin typeface="Times New Roman" pitchFamily="18" charset="0"/>
              </a:rPr>
              <a:t>,…,</a:t>
            </a:r>
            <a:r>
              <a:rPr lang="en-US" altLang="zh-CN" sz="2000" dirty="0" err="1">
                <a:latin typeface="Times New Roman" pitchFamily="18" charset="0"/>
              </a:rPr>
              <a:t>w</a:t>
            </a:r>
            <a:r>
              <a:rPr lang="en-US" altLang="zh-CN" sz="2000" baseline="-25000" dirty="0" err="1">
                <a:latin typeface="Times New Roman" pitchFamily="18" charset="0"/>
              </a:rPr>
              <a:t>n</a:t>
            </a:r>
            <a:r>
              <a:rPr lang="en-US" altLang="zh-CN" sz="2000" dirty="0">
                <a:latin typeface="Times New Roman" pitchFamily="18" charset="0"/>
              </a:rPr>
              <a:t>}</a:t>
            </a:r>
            <a:r>
              <a:rPr kumimoji="1" lang="zh-CN" altLang="en-US" sz="2000" dirty="0">
                <a:latin typeface="黑体" pitchFamily="2" charset="-122"/>
                <a:ea typeface="黑体" pitchFamily="2" charset="-122"/>
              </a:rPr>
              <a:t>，以</a:t>
            </a:r>
            <a:r>
              <a:rPr lang="en-US" altLang="zh-CN" sz="2000" dirty="0">
                <a:latin typeface="Times New Roman" pitchFamily="18" charset="0"/>
              </a:rPr>
              <a:t>d</a:t>
            </a:r>
            <a:r>
              <a:rPr lang="en-US" altLang="zh-CN" sz="2000" baseline="-25000" dirty="0">
                <a:latin typeface="Times New Roman" pitchFamily="18" charset="0"/>
              </a:rPr>
              <a:t>1</a:t>
            </a:r>
            <a:r>
              <a:rPr lang="en-US" altLang="zh-CN" sz="2000" dirty="0">
                <a:latin typeface="Times New Roman" pitchFamily="18" charset="0"/>
              </a:rPr>
              <a:t>,d</a:t>
            </a:r>
            <a:r>
              <a:rPr lang="en-US" altLang="zh-CN" sz="2000" baseline="-25000" dirty="0">
                <a:latin typeface="Times New Roman" pitchFamily="18" charset="0"/>
              </a:rPr>
              <a:t>2</a:t>
            </a:r>
            <a:r>
              <a:rPr lang="en-US" altLang="zh-CN" sz="2000" dirty="0">
                <a:latin typeface="Times New Roman" pitchFamily="18" charset="0"/>
              </a:rPr>
              <a:t>,…,</a:t>
            </a:r>
            <a:r>
              <a:rPr lang="en-US" altLang="zh-CN" sz="2000" dirty="0" err="1">
                <a:latin typeface="Times New Roman" pitchFamily="18" charset="0"/>
              </a:rPr>
              <a:t>d</a:t>
            </a:r>
            <a:r>
              <a:rPr lang="en-US" altLang="zh-CN" sz="2000" baseline="-25000" dirty="0" err="1">
                <a:latin typeface="Times New Roman" pitchFamily="18" charset="0"/>
              </a:rPr>
              <a:t>n</a:t>
            </a:r>
            <a:r>
              <a:rPr kumimoji="1" lang="zh-CN" altLang="en-US" sz="2000" dirty="0">
                <a:latin typeface="黑体" pitchFamily="2" charset="-122"/>
                <a:ea typeface="黑体" pitchFamily="2" charset="-122"/>
              </a:rPr>
              <a:t>作为叶子结点，以</a:t>
            </a:r>
            <a:r>
              <a:rPr lang="en-US" altLang="zh-CN" sz="2000" dirty="0">
                <a:latin typeface="Times New Roman" pitchFamily="18" charset="0"/>
              </a:rPr>
              <a:t>w</a:t>
            </a:r>
            <a:r>
              <a:rPr lang="en-US" altLang="zh-CN" sz="2000" baseline="-25000" dirty="0">
                <a:latin typeface="Times New Roman" pitchFamily="18" charset="0"/>
              </a:rPr>
              <a:t>1</a:t>
            </a:r>
            <a:r>
              <a:rPr lang="en-US" altLang="zh-CN" sz="2000" dirty="0">
                <a:latin typeface="Times New Roman" pitchFamily="18" charset="0"/>
              </a:rPr>
              <a:t>,w</a:t>
            </a:r>
            <a:r>
              <a:rPr lang="en-US" altLang="zh-CN" sz="2000" baseline="-25000" dirty="0">
                <a:latin typeface="Times New Roman" pitchFamily="18" charset="0"/>
              </a:rPr>
              <a:t>2</a:t>
            </a:r>
            <a:r>
              <a:rPr lang="en-US" altLang="zh-CN" sz="2000" dirty="0">
                <a:latin typeface="Times New Roman" pitchFamily="18" charset="0"/>
              </a:rPr>
              <a:t>,…,</a:t>
            </a:r>
            <a:r>
              <a:rPr lang="en-US" altLang="zh-CN" sz="2000" dirty="0" err="1">
                <a:latin typeface="Times New Roman" pitchFamily="18" charset="0"/>
              </a:rPr>
              <a:t>w</a:t>
            </a:r>
            <a:r>
              <a:rPr lang="en-US" altLang="zh-CN" sz="2000" baseline="-25000" dirty="0" err="1">
                <a:latin typeface="Times New Roman" pitchFamily="18" charset="0"/>
              </a:rPr>
              <a:t>n</a:t>
            </a:r>
            <a:r>
              <a:rPr kumimoji="1" lang="zh-CN" altLang="en-US" sz="2000" dirty="0">
                <a:latin typeface="黑体" pitchFamily="2" charset="-122"/>
                <a:ea typeface="黑体" pitchFamily="2" charset="-122"/>
              </a:rPr>
              <a:t>作为它们的权值，构造一个赫夫曼树。</a:t>
            </a:r>
          </a:p>
        </p:txBody>
      </p:sp>
      <p:sp>
        <p:nvSpPr>
          <p:cNvPr id="7" name="矩形 6"/>
          <p:cNvSpPr/>
          <p:nvPr/>
        </p:nvSpPr>
        <p:spPr>
          <a:xfrm>
            <a:off x="2668618" y="3739100"/>
            <a:ext cx="7243806" cy="1323439"/>
          </a:xfrm>
          <a:prstGeom prst="rect">
            <a:avLst/>
          </a:prstGeom>
        </p:spPr>
        <p:txBody>
          <a:bodyPr wrap="square">
            <a:spAutoFit/>
          </a:bodyPr>
          <a:lstStyle/>
          <a:p>
            <a:r>
              <a:rPr kumimoji="1" lang="en-US" altLang="zh-CN" sz="2000" dirty="0">
                <a:latin typeface="黑体" pitchFamily="2" charset="-122"/>
                <a:ea typeface="黑体" pitchFamily="2" charset="-122"/>
              </a:rPr>
              <a:t>②</a:t>
            </a:r>
            <a:r>
              <a:rPr kumimoji="1" lang="zh-CN" altLang="en-US" sz="2000" dirty="0">
                <a:latin typeface="黑体" pitchFamily="2" charset="-122"/>
                <a:ea typeface="黑体" pitchFamily="2" charset="-122"/>
              </a:rPr>
              <a:t>、设计赫夫曼编码：</a:t>
            </a:r>
            <a:r>
              <a:rPr kumimoji="1" lang="zh-CN" altLang="zh-CN" sz="2000" dirty="0">
                <a:latin typeface="黑体" pitchFamily="2" charset="-122"/>
                <a:ea typeface="黑体" pitchFamily="2" charset="-122"/>
              </a:rPr>
              <a:t>将树中结点引向其左孩子的分支标“0”，引向其右孩子的分支标“1”；</a:t>
            </a:r>
            <a:r>
              <a:rPr kumimoji="1" lang="zh-CN" altLang="en-US" sz="2000" dirty="0">
                <a:latin typeface="黑体" pitchFamily="2" charset="-122"/>
                <a:ea typeface="黑体" pitchFamily="2" charset="-122"/>
              </a:rPr>
              <a:t>则从根结点到每个叶子结点所经分支上的‘</a:t>
            </a:r>
            <a:r>
              <a:rPr kumimoji="1" lang="en-US" altLang="zh-CN" sz="2000" dirty="0">
                <a:latin typeface="黑体" pitchFamily="2" charset="-122"/>
                <a:ea typeface="黑体" pitchFamily="2" charset="-122"/>
              </a:rPr>
              <a:t>0’</a:t>
            </a:r>
            <a:r>
              <a:rPr kumimoji="1" lang="zh-CN" altLang="en-US" sz="2000" dirty="0">
                <a:latin typeface="黑体" pitchFamily="2" charset="-122"/>
                <a:ea typeface="黑体" pitchFamily="2" charset="-122"/>
              </a:rPr>
              <a:t>和‘</a:t>
            </a:r>
            <a:r>
              <a:rPr kumimoji="1" lang="en-US" altLang="zh-CN" sz="2000" dirty="0">
                <a:latin typeface="黑体" pitchFamily="2" charset="-122"/>
                <a:ea typeface="黑体" pitchFamily="2" charset="-122"/>
              </a:rPr>
              <a:t>1’</a:t>
            </a:r>
            <a:r>
              <a:rPr kumimoji="1" lang="zh-CN" altLang="en-US" sz="2000" dirty="0">
                <a:latin typeface="黑体" pitchFamily="2" charset="-122"/>
                <a:ea typeface="黑体" pitchFamily="2" charset="-122"/>
              </a:rPr>
              <a:t>的组合即为该字符所对应的编码，我们称之为赫夫曼编码。</a:t>
            </a:r>
          </a:p>
        </p:txBody>
      </p:sp>
      <p:sp>
        <p:nvSpPr>
          <p:cNvPr id="2" name="矩形 1">
            <a:extLst>
              <a:ext uri="{FF2B5EF4-FFF2-40B4-BE49-F238E27FC236}">
                <a16:creationId xmlns:a16="http://schemas.microsoft.com/office/drawing/2014/main" xmlns="" id="{EF2B8EB7-9EFE-DACA-DA21-CEF8B7A3EAB6}"/>
              </a:ext>
            </a:extLst>
          </p:cNvPr>
          <p:cNvSpPr/>
          <p:nvPr/>
        </p:nvSpPr>
        <p:spPr>
          <a:xfrm>
            <a:off x="992475" y="1549815"/>
            <a:ext cx="4339650" cy="461665"/>
          </a:xfrm>
          <a:prstGeom prst="rect">
            <a:avLst/>
          </a:prstGeom>
        </p:spPr>
        <p:txBody>
          <a:bodyPr wrap="none">
            <a:spAutoFit/>
          </a:bodyPr>
          <a:lstStyle/>
          <a:p>
            <a:r>
              <a:rPr kumimoji="1" lang="en-US" altLang="zh-CN" sz="2400" dirty="0">
                <a:latin typeface="黑体" pitchFamily="2" charset="-122"/>
                <a:ea typeface="黑体" pitchFamily="2" charset="-122"/>
              </a:rPr>
              <a:t>Huffman</a:t>
            </a:r>
            <a:r>
              <a:rPr kumimoji="1" lang="zh-CN" altLang="zh-CN" sz="2400" dirty="0">
                <a:latin typeface="黑体" pitchFamily="2" charset="-122"/>
                <a:ea typeface="黑体" pitchFamily="2" charset="-122"/>
              </a:rPr>
              <a:t>树应</a:t>
            </a:r>
            <a:r>
              <a:rPr kumimoji="1" lang="zh-CN" altLang="en-US" sz="2400" dirty="0">
                <a:latin typeface="黑体" pitchFamily="2" charset="-122"/>
                <a:ea typeface="黑体" pitchFamily="2" charset="-122"/>
              </a:rPr>
              <a:t>用</a:t>
            </a:r>
            <a:r>
              <a:rPr kumimoji="1" lang="en-US" altLang="zh-CN" sz="2400" dirty="0">
                <a:latin typeface="黑体" pitchFamily="2" charset="-122"/>
                <a:ea typeface="黑体" pitchFamily="2" charset="-122"/>
              </a:rPr>
              <a:t>——</a:t>
            </a:r>
            <a:r>
              <a:rPr kumimoji="1" lang="zh-CN" altLang="en-US" sz="2400" dirty="0">
                <a:latin typeface="黑体" pitchFamily="2" charset="-122"/>
                <a:ea typeface="黑体" pitchFamily="2" charset="-122"/>
              </a:rPr>
              <a:t>赫夫曼编码</a:t>
            </a:r>
          </a:p>
        </p:txBody>
      </p:sp>
      <p:cxnSp>
        <p:nvCxnSpPr>
          <p:cNvPr id="3" name="直接连接符 2">
            <a:extLst>
              <a:ext uri="{FF2B5EF4-FFF2-40B4-BE49-F238E27FC236}">
                <a16:creationId xmlns:a16="http://schemas.microsoft.com/office/drawing/2014/main" xmlns="" id="{CFFF3C5C-5C94-3EB2-4264-2063BE0EF85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xmlns="" id="{5583056D-625B-8552-B525-51375302478B}"/>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6" name="Rectangle 2">
            <a:extLst>
              <a:ext uri="{FF2B5EF4-FFF2-40B4-BE49-F238E27FC236}">
                <a16:creationId xmlns:a16="http://schemas.microsoft.com/office/drawing/2014/main" xmlns="" id="{A549BD5E-D7A0-997F-61B9-6D8DF98F64C8}"/>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7.8.3 </a:t>
            </a:r>
            <a:r>
              <a:rPr lang="zh-CN" altLang="en-US" dirty="0"/>
              <a:t>哈夫曼编码</a:t>
            </a:r>
          </a:p>
        </p:txBody>
      </p:sp>
    </p:spTree>
    <p:extLst>
      <p:ext uri="{BB962C8B-B14F-4D97-AF65-F5344CB8AC3E}">
        <p14:creationId xmlns:p14="http://schemas.microsoft.com/office/powerpoint/2010/main" val="2172713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2063552" y="2348992"/>
            <a:ext cx="7825176" cy="4319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zh-CN" altLang="en-US" sz="2000" dirty="0">
                <a:latin typeface="黑体" pitchFamily="2" charset="-122"/>
                <a:ea typeface="黑体" pitchFamily="2" charset="-122"/>
              </a:rPr>
              <a:t>已知某系统在通信联络中只可能出现</a:t>
            </a:r>
            <a:r>
              <a:rPr kumimoji="1" lang="en-US" altLang="zh-CN" sz="2000" dirty="0">
                <a:latin typeface="黑体" pitchFamily="2" charset="-122"/>
                <a:ea typeface="黑体" pitchFamily="2" charset="-122"/>
              </a:rPr>
              <a:t>8</a:t>
            </a:r>
            <a:r>
              <a:rPr kumimoji="1" lang="zh-CN" altLang="en-US" sz="2000" dirty="0">
                <a:latin typeface="黑体" pitchFamily="2" charset="-122"/>
                <a:ea typeface="黑体" pitchFamily="2" charset="-122"/>
              </a:rPr>
              <a:t>种字符，其概率如下表所示</a:t>
            </a:r>
            <a:r>
              <a:rPr kumimoji="1" lang="en-US" altLang="zh-CN" sz="2000" dirty="0">
                <a:latin typeface="黑体" pitchFamily="2" charset="-122"/>
                <a:ea typeface="黑体" pitchFamily="2" charset="-122"/>
              </a:rPr>
              <a:t>:</a:t>
            </a:r>
          </a:p>
        </p:txBody>
      </p:sp>
      <p:grpSp>
        <p:nvGrpSpPr>
          <p:cNvPr id="9" name="Group 4"/>
          <p:cNvGrpSpPr>
            <a:grpSpLocks/>
          </p:cNvGrpSpPr>
          <p:nvPr/>
        </p:nvGrpSpPr>
        <p:grpSpPr bwMode="auto">
          <a:xfrm>
            <a:off x="2133600" y="2821360"/>
            <a:ext cx="8280400" cy="895673"/>
            <a:chOff x="-3" y="-3"/>
            <a:chExt cx="2806" cy="774"/>
          </a:xfrm>
        </p:grpSpPr>
        <p:grpSp>
          <p:nvGrpSpPr>
            <p:cNvPr id="11" name="Group 5"/>
            <p:cNvGrpSpPr>
              <a:grpSpLocks/>
            </p:cNvGrpSpPr>
            <p:nvPr/>
          </p:nvGrpSpPr>
          <p:grpSpPr bwMode="auto">
            <a:xfrm>
              <a:off x="0" y="0"/>
              <a:ext cx="2800" cy="768"/>
              <a:chOff x="0" y="0"/>
              <a:chExt cx="2800" cy="768"/>
            </a:xfrm>
          </p:grpSpPr>
          <p:grpSp>
            <p:nvGrpSpPr>
              <p:cNvPr id="13" name="Group 6"/>
              <p:cNvGrpSpPr>
                <a:grpSpLocks/>
              </p:cNvGrpSpPr>
              <p:nvPr/>
            </p:nvGrpSpPr>
            <p:grpSpPr bwMode="auto">
              <a:xfrm>
                <a:off x="0" y="0"/>
                <a:ext cx="350" cy="384"/>
                <a:chOff x="0" y="0"/>
                <a:chExt cx="350" cy="384"/>
              </a:xfrm>
            </p:grpSpPr>
            <p:sp>
              <p:nvSpPr>
                <p:cNvPr id="60" name="Rectangle 7"/>
                <p:cNvSpPr>
                  <a:spLocks noChangeArrowheads="1"/>
                </p:cNvSpPr>
                <p:nvPr/>
              </p:nvSpPr>
              <p:spPr bwMode="auto">
                <a:xfrm>
                  <a:off x="43" y="0"/>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a</a:t>
                  </a:r>
                </a:p>
                <a:p>
                  <a:pPr algn="ctr" eaLnBrk="0" hangingPunct="0">
                    <a:spcBef>
                      <a:spcPct val="0"/>
                    </a:spcBef>
                    <a:buClrTx/>
                    <a:buSzTx/>
                    <a:buFontTx/>
                    <a:buNone/>
                  </a:pPr>
                  <a:endParaRPr lang="en-US" altLang="zh-CN" sz="2000" b="1">
                    <a:latin typeface="Times New Roman" pitchFamily="18" charset="0"/>
                  </a:endParaRPr>
                </a:p>
              </p:txBody>
            </p:sp>
            <p:sp>
              <p:nvSpPr>
                <p:cNvPr id="61" name="Rectangle 8"/>
                <p:cNvSpPr>
                  <a:spLocks noChangeArrowheads="1"/>
                </p:cNvSpPr>
                <p:nvPr/>
              </p:nvSpPr>
              <p:spPr bwMode="auto">
                <a:xfrm>
                  <a:off x="0" y="0"/>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14" name="Group 9"/>
              <p:cNvGrpSpPr>
                <a:grpSpLocks/>
              </p:cNvGrpSpPr>
              <p:nvPr/>
            </p:nvGrpSpPr>
            <p:grpSpPr bwMode="auto">
              <a:xfrm>
                <a:off x="350" y="0"/>
                <a:ext cx="350" cy="384"/>
                <a:chOff x="350" y="0"/>
                <a:chExt cx="350" cy="384"/>
              </a:xfrm>
            </p:grpSpPr>
            <p:sp>
              <p:nvSpPr>
                <p:cNvPr id="58" name="Rectangle 10"/>
                <p:cNvSpPr>
                  <a:spLocks noChangeArrowheads="1"/>
                </p:cNvSpPr>
                <p:nvPr/>
              </p:nvSpPr>
              <p:spPr bwMode="auto">
                <a:xfrm>
                  <a:off x="393" y="0"/>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b</a:t>
                  </a:r>
                </a:p>
                <a:p>
                  <a:pPr algn="ctr" eaLnBrk="0" hangingPunct="0">
                    <a:spcBef>
                      <a:spcPct val="0"/>
                    </a:spcBef>
                    <a:buClrTx/>
                    <a:buSzTx/>
                    <a:buFontTx/>
                    <a:buNone/>
                  </a:pPr>
                  <a:endParaRPr lang="en-US" altLang="zh-CN" sz="2000" b="1">
                    <a:latin typeface="Times New Roman" pitchFamily="18" charset="0"/>
                  </a:endParaRPr>
                </a:p>
              </p:txBody>
            </p:sp>
            <p:sp>
              <p:nvSpPr>
                <p:cNvPr id="59" name="Rectangle 11"/>
                <p:cNvSpPr>
                  <a:spLocks noChangeArrowheads="1"/>
                </p:cNvSpPr>
                <p:nvPr/>
              </p:nvSpPr>
              <p:spPr bwMode="auto">
                <a:xfrm>
                  <a:off x="350" y="0"/>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15" name="Group 12"/>
              <p:cNvGrpSpPr>
                <a:grpSpLocks/>
              </p:cNvGrpSpPr>
              <p:nvPr/>
            </p:nvGrpSpPr>
            <p:grpSpPr bwMode="auto">
              <a:xfrm>
                <a:off x="700" y="0"/>
                <a:ext cx="350" cy="384"/>
                <a:chOff x="700" y="0"/>
                <a:chExt cx="350" cy="384"/>
              </a:xfrm>
            </p:grpSpPr>
            <p:sp>
              <p:nvSpPr>
                <p:cNvPr id="56" name="Rectangle 13"/>
                <p:cNvSpPr>
                  <a:spLocks noChangeArrowheads="1"/>
                </p:cNvSpPr>
                <p:nvPr/>
              </p:nvSpPr>
              <p:spPr bwMode="auto">
                <a:xfrm>
                  <a:off x="743" y="0"/>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c</a:t>
                  </a:r>
                </a:p>
                <a:p>
                  <a:pPr algn="ctr" eaLnBrk="0" hangingPunct="0">
                    <a:spcBef>
                      <a:spcPct val="0"/>
                    </a:spcBef>
                    <a:buClrTx/>
                    <a:buSzTx/>
                    <a:buFontTx/>
                    <a:buNone/>
                  </a:pPr>
                  <a:endParaRPr lang="en-US" altLang="zh-CN" sz="2000" b="1">
                    <a:latin typeface="Times New Roman" pitchFamily="18" charset="0"/>
                  </a:endParaRPr>
                </a:p>
              </p:txBody>
            </p:sp>
            <p:sp>
              <p:nvSpPr>
                <p:cNvPr id="57" name="Rectangle 14"/>
                <p:cNvSpPr>
                  <a:spLocks noChangeArrowheads="1"/>
                </p:cNvSpPr>
                <p:nvPr/>
              </p:nvSpPr>
              <p:spPr bwMode="auto">
                <a:xfrm>
                  <a:off x="700" y="0"/>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16" name="Group 15"/>
              <p:cNvGrpSpPr>
                <a:grpSpLocks/>
              </p:cNvGrpSpPr>
              <p:nvPr/>
            </p:nvGrpSpPr>
            <p:grpSpPr bwMode="auto">
              <a:xfrm>
                <a:off x="1050" y="0"/>
                <a:ext cx="350" cy="384"/>
                <a:chOff x="1050" y="0"/>
                <a:chExt cx="350" cy="384"/>
              </a:xfrm>
            </p:grpSpPr>
            <p:sp>
              <p:nvSpPr>
                <p:cNvPr id="54" name="Rectangle 16"/>
                <p:cNvSpPr>
                  <a:spLocks noChangeArrowheads="1"/>
                </p:cNvSpPr>
                <p:nvPr/>
              </p:nvSpPr>
              <p:spPr bwMode="auto">
                <a:xfrm>
                  <a:off x="1093" y="0"/>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d</a:t>
                  </a:r>
                </a:p>
                <a:p>
                  <a:pPr algn="ctr" eaLnBrk="0" hangingPunct="0">
                    <a:spcBef>
                      <a:spcPct val="0"/>
                    </a:spcBef>
                    <a:buClrTx/>
                    <a:buSzTx/>
                    <a:buFontTx/>
                    <a:buNone/>
                  </a:pPr>
                  <a:endParaRPr lang="en-US" altLang="zh-CN" sz="2000" b="1">
                    <a:latin typeface="Times New Roman" pitchFamily="18" charset="0"/>
                  </a:endParaRPr>
                </a:p>
              </p:txBody>
            </p:sp>
            <p:sp>
              <p:nvSpPr>
                <p:cNvPr id="55" name="Rectangle 17"/>
                <p:cNvSpPr>
                  <a:spLocks noChangeArrowheads="1"/>
                </p:cNvSpPr>
                <p:nvPr/>
              </p:nvSpPr>
              <p:spPr bwMode="auto">
                <a:xfrm>
                  <a:off x="1050" y="0"/>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17" name="Group 18"/>
              <p:cNvGrpSpPr>
                <a:grpSpLocks/>
              </p:cNvGrpSpPr>
              <p:nvPr/>
            </p:nvGrpSpPr>
            <p:grpSpPr bwMode="auto">
              <a:xfrm>
                <a:off x="1400" y="0"/>
                <a:ext cx="350" cy="384"/>
                <a:chOff x="1400" y="0"/>
                <a:chExt cx="350" cy="384"/>
              </a:xfrm>
            </p:grpSpPr>
            <p:sp>
              <p:nvSpPr>
                <p:cNvPr id="52" name="Rectangle 19"/>
                <p:cNvSpPr>
                  <a:spLocks noChangeArrowheads="1"/>
                </p:cNvSpPr>
                <p:nvPr/>
              </p:nvSpPr>
              <p:spPr bwMode="auto">
                <a:xfrm>
                  <a:off x="1443" y="0"/>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e</a:t>
                  </a:r>
                </a:p>
                <a:p>
                  <a:pPr algn="ctr" eaLnBrk="0" hangingPunct="0">
                    <a:spcBef>
                      <a:spcPct val="0"/>
                    </a:spcBef>
                    <a:buClrTx/>
                    <a:buSzTx/>
                    <a:buFontTx/>
                    <a:buNone/>
                  </a:pPr>
                  <a:endParaRPr lang="en-US" altLang="zh-CN" sz="2000" b="1">
                    <a:latin typeface="Times New Roman" pitchFamily="18" charset="0"/>
                  </a:endParaRPr>
                </a:p>
              </p:txBody>
            </p:sp>
            <p:sp>
              <p:nvSpPr>
                <p:cNvPr id="53" name="Rectangle 20"/>
                <p:cNvSpPr>
                  <a:spLocks noChangeArrowheads="1"/>
                </p:cNvSpPr>
                <p:nvPr/>
              </p:nvSpPr>
              <p:spPr bwMode="auto">
                <a:xfrm>
                  <a:off x="1400" y="0"/>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18" name="Group 21"/>
              <p:cNvGrpSpPr>
                <a:grpSpLocks/>
              </p:cNvGrpSpPr>
              <p:nvPr/>
            </p:nvGrpSpPr>
            <p:grpSpPr bwMode="auto">
              <a:xfrm>
                <a:off x="1750" y="0"/>
                <a:ext cx="350" cy="384"/>
                <a:chOff x="1750" y="0"/>
                <a:chExt cx="350" cy="384"/>
              </a:xfrm>
            </p:grpSpPr>
            <p:sp>
              <p:nvSpPr>
                <p:cNvPr id="50" name="Rectangle 22"/>
                <p:cNvSpPr>
                  <a:spLocks noChangeArrowheads="1"/>
                </p:cNvSpPr>
                <p:nvPr/>
              </p:nvSpPr>
              <p:spPr bwMode="auto">
                <a:xfrm>
                  <a:off x="1793" y="0"/>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f</a:t>
                  </a:r>
                </a:p>
                <a:p>
                  <a:pPr algn="ctr" eaLnBrk="0" hangingPunct="0">
                    <a:spcBef>
                      <a:spcPct val="0"/>
                    </a:spcBef>
                    <a:buClrTx/>
                    <a:buSzTx/>
                    <a:buFontTx/>
                    <a:buNone/>
                  </a:pPr>
                  <a:endParaRPr lang="en-US" altLang="zh-CN" sz="2000" b="1">
                    <a:latin typeface="Times New Roman" pitchFamily="18" charset="0"/>
                  </a:endParaRPr>
                </a:p>
              </p:txBody>
            </p:sp>
            <p:sp>
              <p:nvSpPr>
                <p:cNvPr id="51" name="Rectangle 23"/>
                <p:cNvSpPr>
                  <a:spLocks noChangeArrowheads="1"/>
                </p:cNvSpPr>
                <p:nvPr/>
              </p:nvSpPr>
              <p:spPr bwMode="auto">
                <a:xfrm>
                  <a:off x="1750" y="0"/>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19" name="Group 24"/>
              <p:cNvGrpSpPr>
                <a:grpSpLocks/>
              </p:cNvGrpSpPr>
              <p:nvPr/>
            </p:nvGrpSpPr>
            <p:grpSpPr bwMode="auto">
              <a:xfrm>
                <a:off x="2100" y="0"/>
                <a:ext cx="350" cy="384"/>
                <a:chOff x="2100" y="0"/>
                <a:chExt cx="350" cy="384"/>
              </a:xfrm>
            </p:grpSpPr>
            <p:sp>
              <p:nvSpPr>
                <p:cNvPr id="48" name="Rectangle 25"/>
                <p:cNvSpPr>
                  <a:spLocks noChangeArrowheads="1"/>
                </p:cNvSpPr>
                <p:nvPr/>
              </p:nvSpPr>
              <p:spPr bwMode="auto">
                <a:xfrm>
                  <a:off x="2143" y="0"/>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g</a:t>
                  </a:r>
                </a:p>
                <a:p>
                  <a:pPr algn="ctr" eaLnBrk="0" hangingPunct="0">
                    <a:spcBef>
                      <a:spcPct val="0"/>
                    </a:spcBef>
                    <a:buClrTx/>
                    <a:buSzTx/>
                    <a:buFontTx/>
                    <a:buNone/>
                  </a:pPr>
                  <a:endParaRPr lang="en-US" altLang="zh-CN" sz="2000" b="1">
                    <a:latin typeface="Times New Roman" pitchFamily="18" charset="0"/>
                  </a:endParaRPr>
                </a:p>
              </p:txBody>
            </p:sp>
            <p:sp>
              <p:nvSpPr>
                <p:cNvPr id="49" name="Rectangle 26"/>
                <p:cNvSpPr>
                  <a:spLocks noChangeArrowheads="1"/>
                </p:cNvSpPr>
                <p:nvPr/>
              </p:nvSpPr>
              <p:spPr bwMode="auto">
                <a:xfrm>
                  <a:off x="2100" y="0"/>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20" name="Group 27"/>
              <p:cNvGrpSpPr>
                <a:grpSpLocks/>
              </p:cNvGrpSpPr>
              <p:nvPr/>
            </p:nvGrpSpPr>
            <p:grpSpPr bwMode="auto">
              <a:xfrm>
                <a:off x="2450" y="0"/>
                <a:ext cx="350" cy="384"/>
                <a:chOff x="2450" y="0"/>
                <a:chExt cx="350" cy="384"/>
              </a:xfrm>
            </p:grpSpPr>
            <p:sp>
              <p:nvSpPr>
                <p:cNvPr id="46" name="Rectangle 28"/>
                <p:cNvSpPr>
                  <a:spLocks noChangeArrowheads="1"/>
                </p:cNvSpPr>
                <p:nvPr/>
              </p:nvSpPr>
              <p:spPr bwMode="auto">
                <a:xfrm>
                  <a:off x="2493" y="0"/>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h</a:t>
                  </a:r>
                </a:p>
                <a:p>
                  <a:pPr algn="ctr" eaLnBrk="0" hangingPunct="0">
                    <a:spcBef>
                      <a:spcPct val="0"/>
                    </a:spcBef>
                    <a:buClrTx/>
                    <a:buSzTx/>
                    <a:buFontTx/>
                    <a:buNone/>
                  </a:pPr>
                  <a:endParaRPr lang="en-US" altLang="zh-CN" sz="2000" b="1">
                    <a:latin typeface="Times New Roman" pitchFamily="18" charset="0"/>
                  </a:endParaRPr>
                </a:p>
              </p:txBody>
            </p:sp>
            <p:sp>
              <p:nvSpPr>
                <p:cNvPr id="47" name="Rectangle 29"/>
                <p:cNvSpPr>
                  <a:spLocks noChangeArrowheads="1"/>
                </p:cNvSpPr>
                <p:nvPr/>
              </p:nvSpPr>
              <p:spPr bwMode="auto">
                <a:xfrm>
                  <a:off x="2450" y="0"/>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21" name="Group 30"/>
              <p:cNvGrpSpPr>
                <a:grpSpLocks/>
              </p:cNvGrpSpPr>
              <p:nvPr/>
            </p:nvGrpSpPr>
            <p:grpSpPr bwMode="auto">
              <a:xfrm>
                <a:off x="0" y="384"/>
                <a:ext cx="350" cy="384"/>
                <a:chOff x="0" y="384"/>
                <a:chExt cx="350" cy="384"/>
              </a:xfrm>
            </p:grpSpPr>
            <p:sp>
              <p:nvSpPr>
                <p:cNvPr id="44" name="Rectangle 31"/>
                <p:cNvSpPr>
                  <a:spLocks noChangeArrowheads="1"/>
                </p:cNvSpPr>
                <p:nvPr/>
              </p:nvSpPr>
              <p:spPr bwMode="auto">
                <a:xfrm>
                  <a:off x="43" y="384"/>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0.05</a:t>
                  </a:r>
                </a:p>
                <a:p>
                  <a:pPr algn="ctr" eaLnBrk="0" hangingPunct="0">
                    <a:spcBef>
                      <a:spcPct val="0"/>
                    </a:spcBef>
                    <a:buClrTx/>
                    <a:buSzTx/>
                    <a:buFontTx/>
                    <a:buNone/>
                  </a:pPr>
                  <a:endParaRPr lang="en-US" altLang="zh-CN" sz="2000" b="1">
                    <a:latin typeface="Times New Roman" pitchFamily="18" charset="0"/>
                  </a:endParaRPr>
                </a:p>
              </p:txBody>
            </p:sp>
            <p:sp>
              <p:nvSpPr>
                <p:cNvPr id="45" name="Rectangle 32"/>
                <p:cNvSpPr>
                  <a:spLocks noChangeArrowheads="1"/>
                </p:cNvSpPr>
                <p:nvPr/>
              </p:nvSpPr>
              <p:spPr bwMode="auto">
                <a:xfrm>
                  <a:off x="0" y="384"/>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22" name="Group 33"/>
              <p:cNvGrpSpPr>
                <a:grpSpLocks/>
              </p:cNvGrpSpPr>
              <p:nvPr/>
            </p:nvGrpSpPr>
            <p:grpSpPr bwMode="auto">
              <a:xfrm>
                <a:off x="350" y="384"/>
                <a:ext cx="350" cy="384"/>
                <a:chOff x="350" y="384"/>
                <a:chExt cx="350" cy="384"/>
              </a:xfrm>
            </p:grpSpPr>
            <p:sp>
              <p:nvSpPr>
                <p:cNvPr id="42" name="Rectangle 34"/>
                <p:cNvSpPr>
                  <a:spLocks noChangeArrowheads="1"/>
                </p:cNvSpPr>
                <p:nvPr/>
              </p:nvSpPr>
              <p:spPr bwMode="auto">
                <a:xfrm>
                  <a:off x="393" y="384"/>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0.29</a:t>
                  </a:r>
                </a:p>
                <a:p>
                  <a:pPr algn="ctr" eaLnBrk="0" hangingPunct="0">
                    <a:spcBef>
                      <a:spcPct val="0"/>
                    </a:spcBef>
                    <a:buClrTx/>
                    <a:buSzTx/>
                    <a:buFontTx/>
                    <a:buNone/>
                  </a:pPr>
                  <a:endParaRPr lang="en-US" altLang="zh-CN" sz="2000" b="1">
                    <a:latin typeface="Times New Roman" pitchFamily="18" charset="0"/>
                  </a:endParaRPr>
                </a:p>
              </p:txBody>
            </p:sp>
            <p:sp>
              <p:nvSpPr>
                <p:cNvPr id="43" name="Rectangle 35"/>
                <p:cNvSpPr>
                  <a:spLocks noChangeArrowheads="1"/>
                </p:cNvSpPr>
                <p:nvPr/>
              </p:nvSpPr>
              <p:spPr bwMode="auto">
                <a:xfrm>
                  <a:off x="350" y="384"/>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23" name="Group 36"/>
              <p:cNvGrpSpPr>
                <a:grpSpLocks/>
              </p:cNvGrpSpPr>
              <p:nvPr/>
            </p:nvGrpSpPr>
            <p:grpSpPr bwMode="auto">
              <a:xfrm>
                <a:off x="700" y="384"/>
                <a:ext cx="350" cy="384"/>
                <a:chOff x="700" y="384"/>
                <a:chExt cx="350" cy="384"/>
              </a:xfrm>
            </p:grpSpPr>
            <p:sp>
              <p:nvSpPr>
                <p:cNvPr id="40" name="Rectangle 37"/>
                <p:cNvSpPr>
                  <a:spLocks noChangeArrowheads="1"/>
                </p:cNvSpPr>
                <p:nvPr/>
              </p:nvSpPr>
              <p:spPr bwMode="auto">
                <a:xfrm>
                  <a:off x="743" y="384"/>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0.07</a:t>
                  </a:r>
                </a:p>
                <a:p>
                  <a:pPr algn="ctr" eaLnBrk="0" hangingPunct="0">
                    <a:spcBef>
                      <a:spcPct val="0"/>
                    </a:spcBef>
                    <a:buClrTx/>
                    <a:buSzTx/>
                    <a:buFontTx/>
                    <a:buNone/>
                  </a:pPr>
                  <a:endParaRPr lang="en-US" altLang="zh-CN" sz="2000" b="1">
                    <a:latin typeface="Times New Roman" pitchFamily="18" charset="0"/>
                  </a:endParaRPr>
                </a:p>
              </p:txBody>
            </p:sp>
            <p:sp>
              <p:nvSpPr>
                <p:cNvPr id="41" name="Rectangle 38"/>
                <p:cNvSpPr>
                  <a:spLocks noChangeArrowheads="1"/>
                </p:cNvSpPr>
                <p:nvPr/>
              </p:nvSpPr>
              <p:spPr bwMode="auto">
                <a:xfrm>
                  <a:off x="700" y="384"/>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24" name="Group 39"/>
              <p:cNvGrpSpPr>
                <a:grpSpLocks/>
              </p:cNvGrpSpPr>
              <p:nvPr/>
            </p:nvGrpSpPr>
            <p:grpSpPr bwMode="auto">
              <a:xfrm>
                <a:off x="1050" y="384"/>
                <a:ext cx="350" cy="384"/>
                <a:chOff x="1050" y="384"/>
                <a:chExt cx="350" cy="384"/>
              </a:xfrm>
            </p:grpSpPr>
            <p:sp>
              <p:nvSpPr>
                <p:cNvPr id="38" name="Rectangle 40"/>
                <p:cNvSpPr>
                  <a:spLocks noChangeArrowheads="1"/>
                </p:cNvSpPr>
                <p:nvPr/>
              </p:nvSpPr>
              <p:spPr bwMode="auto">
                <a:xfrm>
                  <a:off x="1093" y="384"/>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dirty="0">
                      <a:latin typeface="Times New Roman" pitchFamily="18" charset="0"/>
                    </a:rPr>
                    <a:t>0.08</a:t>
                  </a:r>
                </a:p>
                <a:p>
                  <a:pPr algn="ctr" eaLnBrk="0" hangingPunct="0">
                    <a:spcBef>
                      <a:spcPct val="0"/>
                    </a:spcBef>
                    <a:buClrTx/>
                    <a:buSzTx/>
                    <a:buFontTx/>
                    <a:buNone/>
                  </a:pPr>
                  <a:endParaRPr lang="en-US" altLang="zh-CN" sz="2000" b="1" dirty="0">
                    <a:latin typeface="Times New Roman" pitchFamily="18" charset="0"/>
                  </a:endParaRPr>
                </a:p>
              </p:txBody>
            </p:sp>
            <p:sp>
              <p:nvSpPr>
                <p:cNvPr id="39" name="Rectangle 41"/>
                <p:cNvSpPr>
                  <a:spLocks noChangeArrowheads="1"/>
                </p:cNvSpPr>
                <p:nvPr/>
              </p:nvSpPr>
              <p:spPr bwMode="auto">
                <a:xfrm>
                  <a:off x="1050" y="384"/>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25" name="Group 42"/>
              <p:cNvGrpSpPr>
                <a:grpSpLocks/>
              </p:cNvGrpSpPr>
              <p:nvPr/>
            </p:nvGrpSpPr>
            <p:grpSpPr bwMode="auto">
              <a:xfrm>
                <a:off x="1400" y="384"/>
                <a:ext cx="350" cy="384"/>
                <a:chOff x="1400" y="384"/>
                <a:chExt cx="350" cy="384"/>
              </a:xfrm>
            </p:grpSpPr>
            <p:sp>
              <p:nvSpPr>
                <p:cNvPr id="36" name="Rectangle 43"/>
                <p:cNvSpPr>
                  <a:spLocks noChangeArrowheads="1"/>
                </p:cNvSpPr>
                <p:nvPr/>
              </p:nvSpPr>
              <p:spPr bwMode="auto">
                <a:xfrm>
                  <a:off x="1443" y="384"/>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0.14</a:t>
                  </a:r>
                </a:p>
                <a:p>
                  <a:pPr algn="ctr" eaLnBrk="0" hangingPunct="0">
                    <a:spcBef>
                      <a:spcPct val="0"/>
                    </a:spcBef>
                    <a:buClrTx/>
                    <a:buSzTx/>
                    <a:buFontTx/>
                    <a:buNone/>
                  </a:pPr>
                  <a:endParaRPr lang="en-US" altLang="zh-CN" sz="2000" b="1">
                    <a:latin typeface="Times New Roman" pitchFamily="18" charset="0"/>
                  </a:endParaRPr>
                </a:p>
              </p:txBody>
            </p:sp>
            <p:sp>
              <p:nvSpPr>
                <p:cNvPr id="37" name="Rectangle 44"/>
                <p:cNvSpPr>
                  <a:spLocks noChangeArrowheads="1"/>
                </p:cNvSpPr>
                <p:nvPr/>
              </p:nvSpPr>
              <p:spPr bwMode="auto">
                <a:xfrm>
                  <a:off x="1400" y="384"/>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26" name="Group 45"/>
              <p:cNvGrpSpPr>
                <a:grpSpLocks/>
              </p:cNvGrpSpPr>
              <p:nvPr/>
            </p:nvGrpSpPr>
            <p:grpSpPr bwMode="auto">
              <a:xfrm>
                <a:off x="1750" y="384"/>
                <a:ext cx="350" cy="384"/>
                <a:chOff x="1750" y="384"/>
                <a:chExt cx="350" cy="384"/>
              </a:xfrm>
            </p:grpSpPr>
            <p:sp>
              <p:nvSpPr>
                <p:cNvPr id="34" name="Rectangle 46"/>
                <p:cNvSpPr>
                  <a:spLocks noChangeArrowheads="1"/>
                </p:cNvSpPr>
                <p:nvPr/>
              </p:nvSpPr>
              <p:spPr bwMode="auto">
                <a:xfrm>
                  <a:off x="1793" y="384"/>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0.23</a:t>
                  </a:r>
                </a:p>
                <a:p>
                  <a:pPr algn="ctr" eaLnBrk="0" hangingPunct="0">
                    <a:spcBef>
                      <a:spcPct val="0"/>
                    </a:spcBef>
                    <a:buClrTx/>
                    <a:buSzTx/>
                    <a:buFontTx/>
                    <a:buNone/>
                  </a:pPr>
                  <a:endParaRPr lang="en-US" altLang="zh-CN" sz="2000" b="1">
                    <a:latin typeface="Times New Roman" pitchFamily="18" charset="0"/>
                  </a:endParaRPr>
                </a:p>
              </p:txBody>
            </p:sp>
            <p:sp>
              <p:nvSpPr>
                <p:cNvPr id="35" name="Rectangle 47"/>
                <p:cNvSpPr>
                  <a:spLocks noChangeArrowheads="1"/>
                </p:cNvSpPr>
                <p:nvPr/>
              </p:nvSpPr>
              <p:spPr bwMode="auto">
                <a:xfrm>
                  <a:off x="1750" y="384"/>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27" name="Group 48"/>
              <p:cNvGrpSpPr>
                <a:grpSpLocks/>
              </p:cNvGrpSpPr>
              <p:nvPr/>
            </p:nvGrpSpPr>
            <p:grpSpPr bwMode="auto">
              <a:xfrm>
                <a:off x="2100" y="384"/>
                <a:ext cx="350" cy="384"/>
                <a:chOff x="2100" y="384"/>
                <a:chExt cx="350" cy="384"/>
              </a:xfrm>
            </p:grpSpPr>
            <p:sp>
              <p:nvSpPr>
                <p:cNvPr id="31" name="Rectangle 49"/>
                <p:cNvSpPr>
                  <a:spLocks noChangeArrowheads="1"/>
                </p:cNvSpPr>
                <p:nvPr/>
              </p:nvSpPr>
              <p:spPr bwMode="auto">
                <a:xfrm>
                  <a:off x="2143" y="384"/>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0.03</a:t>
                  </a:r>
                </a:p>
                <a:p>
                  <a:pPr algn="ctr" eaLnBrk="0" hangingPunct="0">
                    <a:spcBef>
                      <a:spcPct val="0"/>
                    </a:spcBef>
                    <a:buClrTx/>
                    <a:buSzTx/>
                    <a:buFontTx/>
                    <a:buNone/>
                  </a:pPr>
                  <a:endParaRPr lang="en-US" altLang="zh-CN" sz="2000" b="1">
                    <a:latin typeface="Times New Roman" pitchFamily="18" charset="0"/>
                  </a:endParaRPr>
                </a:p>
              </p:txBody>
            </p:sp>
            <p:sp>
              <p:nvSpPr>
                <p:cNvPr id="32" name="Rectangle 50"/>
                <p:cNvSpPr>
                  <a:spLocks noChangeArrowheads="1"/>
                </p:cNvSpPr>
                <p:nvPr/>
              </p:nvSpPr>
              <p:spPr bwMode="auto">
                <a:xfrm>
                  <a:off x="2100" y="384"/>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nvGrpSpPr>
              <p:cNvPr id="28" name="Group 51"/>
              <p:cNvGrpSpPr>
                <a:grpSpLocks/>
              </p:cNvGrpSpPr>
              <p:nvPr/>
            </p:nvGrpSpPr>
            <p:grpSpPr bwMode="auto">
              <a:xfrm>
                <a:off x="2450" y="384"/>
                <a:ext cx="350" cy="384"/>
                <a:chOff x="2450" y="384"/>
                <a:chExt cx="350" cy="384"/>
              </a:xfrm>
            </p:grpSpPr>
            <p:sp>
              <p:nvSpPr>
                <p:cNvPr id="29" name="Rectangle 52"/>
                <p:cNvSpPr>
                  <a:spLocks noChangeArrowheads="1"/>
                </p:cNvSpPr>
                <p:nvPr/>
              </p:nvSpPr>
              <p:spPr bwMode="auto">
                <a:xfrm>
                  <a:off x="2493" y="384"/>
                  <a:ext cx="26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spcBef>
                      <a:spcPct val="0"/>
                    </a:spcBef>
                    <a:buClrTx/>
                    <a:buSzTx/>
                    <a:buFontTx/>
                    <a:buNone/>
                  </a:pPr>
                  <a:r>
                    <a:rPr lang="en-US" altLang="zh-CN" sz="2000" b="1">
                      <a:latin typeface="Times New Roman" pitchFamily="18" charset="0"/>
                    </a:rPr>
                    <a:t>0.11</a:t>
                  </a:r>
                </a:p>
                <a:p>
                  <a:pPr algn="ctr" eaLnBrk="0" hangingPunct="0">
                    <a:spcBef>
                      <a:spcPct val="0"/>
                    </a:spcBef>
                    <a:buClrTx/>
                    <a:buSzTx/>
                    <a:buFontTx/>
                    <a:buNone/>
                  </a:pPr>
                  <a:endParaRPr lang="en-US" altLang="zh-CN" sz="2000" b="1">
                    <a:latin typeface="Times New Roman" pitchFamily="18" charset="0"/>
                  </a:endParaRPr>
                </a:p>
              </p:txBody>
            </p:sp>
            <p:sp>
              <p:nvSpPr>
                <p:cNvPr id="30" name="Rectangle 53"/>
                <p:cNvSpPr>
                  <a:spLocks noChangeArrowheads="1"/>
                </p:cNvSpPr>
                <p:nvPr/>
              </p:nvSpPr>
              <p:spPr bwMode="auto">
                <a:xfrm>
                  <a:off x="2450" y="384"/>
                  <a:ext cx="35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grpSp>
        <p:sp>
          <p:nvSpPr>
            <p:cNvPr id="12" name="Rectangle 54"/>
            <p:cNvSpPr>
              <a:spLocks noChangeArrowheads="1"/>
            </p:cNvSpPr>
            <p:nvPr/>
          </p:nvSpPr>
          <p:spPr bwMode="auto">
            <a:xfrm>
              <a:off x="-3" y="-3"/>
              <a:ext cx="2806" cy="774"/>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pPr algn="ctr">
                <a:spcBef>
                  <a:spcPct val="0"/>
                </a:spcBef>
                <a:buClrTx/>
                <a:buSzTx/>
                <a:buFontTx/>
                <a:buNone/>
              </a:pPr>
              <a:endParaRPr lang="zh-CN" altLang="en-US" sz="2000"/>
            </a:p>
          </p:txBody>
        </p:sp>
      </p:grpSp>
      <p:sp>
        <p:nvSpPr>
          <p:cNvPr id="62" name="Text Box 55"/>
          <p:cNvSpPr txBox="1">
            <a:spLocks noChangeArrowheads="1"/>
          </p:cNvSpPr>
          <p:nvPr/>
        </p:nvSpPr>
        <p:spPr bwMode="auto">
          <a:xfrm>
            <a:off x="2133601" y="3717032"/>
            <a:ext cx="29804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pPr>
            <a:r>
              <a:rPr lang="zh-CN" altLang="en-US" sz="2000" dirty="0">
                <a:latin typeface="黑体" pitchFamily="2" charset="-122"/>
                <a:ea typeface="黑体" pitchFamily="2" charset="-122"/>
              </a:rPr>
              <a:t>为字符建立赫夫曼编码  </a:t>
            </a:r>
          </a:p>
        </p:txBody>
      </p:sp>
      <p:sp>
        <p:nvSpPr>
          <p:cNvPr id="63" name="Rectangle 3"/>
          <p:cNvSpPr txBox="1">
            <a:spLocks noChangeArrowheads="1"/>
          </p:cNvSpPr>
          <p:nvPr/>
        </p:nvSpPr>
        <p:spPr>
          <a:xfrm>
            <a:off x="2403903" y="4725144"/>
            <a:ext cx="3996789" cy="1800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 typeface="Wingdings" pitchFamily="2" charset="2"/>
              <a:buNone/>
            </a:pPr>
            <a:r>
              <a:rPr lang="en-US" altLang="zh-CN" sz="1800" dirty="0" err="1">
                <a:latin typeface="Times New Roman" pitchFamily="18" charset="0"/>
              </a:rPr>
              <a:t>typedef</a:t>
            </a:r>
            <a:r>
              <a:rPr lang="en-US" altLang="zh-CN" sz="1800" dirty="0">
                <a:latin typeface="Times New Roman" pitchFamily="18" charset="0"/>
              </a:rPr>
              <a:t> </a:t>
            </a:r>
            <a:r>
              <a:rPr lang="en-US" altLang="zh-CN" sz="1800" dirty="0" err="1">
                <a:latin typeface="Times New Roman" pitchFamily="18" charset="0"/>
              </a:rPr>
              <a:t>struct</a:t>
            </a:r>
            <a:r>
              <a:rPr lang="en-US" altLang="zh-CN" sz="1800" dirty="0">
                <a:latin typeface="Times New Roman" pitchFamily="18" charset="0"/>
              </a:rPr>
              <a:t> {</a:t>
            </a:r>
          </a:p>
          <a:p>
            <a:pPr>
              <a:lnSpc>
                <a:spcPct val="90000"/>
              </a:lnSpc>
              <a:buFont typeface="Wingdings" pitchFamily="2" charset="2"/>
              <a:buNone/>
            </a:pPr>
            <a:r>
              <a:rPr lang="en-US" altLang="zh-CN" sz="1800" dirty="0">
                <a:latin typeface="Times New Roman" pitchFamily="18" charset="0"/>
              </a:rPr>
              <a:t>      char </a:t>
            </a:r>
            <a:r>
              <a:rPr lang="en-US" altLang="zh-CN" sz="1800" dirty="0" err="1">
                <a:latin typeface="Times New Roman" pitchFamily="18" charset="0"/>
              </a:rPr>
              <a:t>ch</a:t>
            </a:r>
            <a:r>
              <a:rPr lang="en-US" altLang="zh-CN" sz="1800" dirty="0">
                <a:latin typeface="Times New Roman" pitchFamily="18" charset="0"/>
              </a:rPr>
              <a:t>;</a:t>
            </a:r>
          </a:p>
          <a:p>
            <a:pPr>
              <a:lnSpc>
                <a:spcPct val="90000"/>
              </a:lnSpc>
              <a:buFont typeface="Wingdings" pitchFamily="2" charset="2"/>
              <a:buNone/>
            </a:pPr>
            <a:r>
              <a:rPr lang="en-US" altLang="zh-CN" sz="1800" dirty="0">
                <a:latin typeface="Times New Roman" pitchFamily="18" charset="0"/>
              </a:rPr>
              <a:t>      unsigned </a:t>
            </a:r>
            <a:r>
              <a:rPr lang="en-US" altLang="zh-CN" sz="1800" dirty="0" err="1">
                <a:latin typeface="Times New Roman" pitchFamily="18" charset="0"/>
              </a:rPr>
              <a:t>int</a:t>
            </a:r>
            <a:r>
              <a:rPr lang="en-US" altLang="zh-CN" sz="1800" dirty="0">
                <a:latin typeface="Times New Roman" pitchFamily="18" charset="0"/>
              </a:rPr>
              <a:t> weight;</a:t>
            </a:r>
          </a:p>
          <a:p>
            <a:pPr>
              <a:lnSpc>
                <a:spcPct val="90000"/>
              </a:lnSpc>
              <a:buFont typeface="Wingdings" pitchFamily="2" charset="2"/>
              <a:buNone/>
            </a:pPr>
            <a:r>
              <a:rPr lang="en-US" altLang="zh-CN" sz="1800" dirty="0">
                <a:latin typeface="Times New Roman" pitchFamily="18" charset="0"/>
              </a:rPr>
              <a:t>      unsigned </a:t>
            </a:r>
            <a:r>
              <a:rPr lang="en-US" altLang="zh-CN" sz="1800" dirty="0" err="1">
                <a:latin typeface="Times New Roman" pitchFamily="18" charset="0"/>
              </a:rPr>
              <a:t>int</a:t>
            </a:r>
            <a:r>
              <a:rPr lang="en-US" altLang="zh-CN" sz="1800" dirty="0">
                <a:latin typeface="Times New Roman" pitchFamily="18" charset="0"/>
              </a:rPr>
              <a:t> </a:t>
            </a:r>
            <a:r>
              <a:rPr lang="en-US" altLang="zh-CN" sz="1800" dirty="0" err="1">
                <a:latin typeface="Times New Roman" pitchFamily="18" charset="0"/>
              </a:rPr>
              <a:t>parent,lchild,rchild</a:t>
            </a:r>
            <a:r>
              <a:rPr lang="en-US" altLang="zh-CN" sz="1800" dirty="0">
                <a:latin typeface="Times New Roman" pitchFamily="18" charset="0"/>
              </a:rPr>
              <a:t>;</a:t>
            </a:r>
          </a:p>
          <a:p>
            <a:pPr>
              <a:lnSpc>
                <a:spcPct val="90000"/>
              </a:lnSpc>
              <a:buFont typeface="Wingdings" pitchFamily="2" charset="2"/>
              <a:buNone/>
            </a:pPr>
            <a:r>
              <a:rPr lang="en-US" altLang="zh-CN" sz="1800" dirty="0">
                <a:latin typeface="Times New Roman" pitchFamily="18" charset="0"/>
              </a:rPr>
              <a:t>}</a:t>
            </a:r>
            <a:r>
              <a:rPr lang="en-US" altLang="zh-CN" sz="1800" dirty="0" err="1">
                <a:latin typeface="Times New Roman" pitchFamily="18" charset="0"/>
              </a:rPr>
              <a:t>HTNode</a:t>
            </a:r>
            <a:r>
              <a:rPr lang="en-US" altLang="zh-CN" sz="1800" dirty="0">
                <a:latin typeface="Times New Roman" pitchFamily="18" charset="0"/>
              </a:rPr>
              <a:t>,*</a:t>
            </a:r>
            <a:r>
              <a:rPr lang="en-US" altLang="zh-CN" sz="1800" dirty="0" err="1">
                <a:latin typeface="Times New Roman" pitchFamily="18" charset="0"/>
              </a:rPr>
              <a:t>Huffmantree</a:t>
            </a:r>
            <a:r>
              <a:rPr lang="en-US" altLang="zh-CN" sz="1800" dirty="0">
                <a:latin typeface="Times New Roman" pitchFamily="18" charset="0"/>
              </a:rPr>
              <a:t>;  </a:t>
            </a:r>
          </a:p>
        </p:txBody>
      </p:sp>
      <p:sp>
        <p:nvSpPr>
          <p:cNvPr id="64" name="Rectangle 4"/>
          <p:cNvSpPr>
            <a:spLocks noChangeArrowheads="1"/>
          </p:cNvSpPr>
          <p:nvPr/>
        </p:nvSpPr>
        <p:spPr bwMode="auto">
          <a:xfrm>
            <a:off x="3004296" y="4149081"/>
            <a:ext cx="990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err="1"/>
              <a:t>ch</a:t>
            </a:r>
            <a:endParaRPr lang="en-US" altLang="zh-CN" sz="2400" dirty="0"/>
          </a:p>
        </p:txBody>
      </p:sp>
      <p:sp>
        <p:nvSpPr>
          <p:cNvPr id="65" name="Rectangle 5"/>
          <p:cNvSpPr>
            <a:spLocks noChangeArrowheads="1"/>
          </p:cNvSpPr>
          <p:nvPr/>
        </p:nvSpPr>
        <p:spPr bwMode="auto">
          <a:xfrm>
            <a:off x="3994896" y="4149081"/>
            <a:ext cx="990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weight</a:t>
            </a:r>
          </a:p>
        </p:txBody>
      </p:sp>
      <p:sp>
        <p:nvSpPr>
          <p:cNvPr id="66" name="Rectangle 6"/>
          <p:cNvSpPr>
            <a:spLocks noChangeArrowheads="1"/>
          </p:cNvSpPr>
          <p:nvPr/>
        </p:nvSpPr>
        <p:spPr bwMode="auto">
          <a:xfrm>
            <a:off x="4985496" y="4149081"/>
            <a:ext cx="990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parent</a:t>
            </a:r>
          </a:p>
        </p:txBody>
      </p:sp>
      <p:sp>
        <p:nvSpPr>
          <p:cNvPr id="67" name="Rectangle 7"/>
          <p:cNvSpPr>
            <a:spLocks noChangeArrowheads="1"/>
          </p:cNvSpPr>
          <p:nvPr/>
        </p:nvSpPr>
        <p:spPr bwMode="auto">
          <a:xfrm>
            <a:off x="5976096" y="4149081"/>
            <a:ext cx="990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lchild</a:t>
            </a:r>
          </a:p>
        </p:txBody>
      </p:sp>
      <p:sp>
        <p:nvSpPr>
          <p:cNvPr id="68" name="Rectangle 8"/>
          <p:cNvSpPr>
            <a:spLocks noChangeArrowheads="1"/>
          </p:cNvSpPr>
          <p:nvPr/>
        </p:nvSpPr>
        <p:spPr bwMode="auto">
          <a:xfrm>
            <a:off x="6966696" y="4149081"/>
            <a:ext cx="990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rchild</a:t>
            </a:r>
          </a:p>
        </p:txBody>
      </p:sp>
      <p:sp>
        <p:nvSpPr>
          <p:cNvPr id="3" name="矩形 2"/>
          <p:cNvSpPr/>
          <p:nvPr/>
        </p:nvSpPr>
        <p:spPr>
          <a:xfrm>
            <a:off x="6511693" y="5302080"/>
            <a:ext cx="3532984" cy="646331"/>
          </a:xfrm>
          <a:prstGeom prst="rect">
            <a:avLst/>
          </a:prstGeom>
        </p:spPr>
        <p:txBody>
          <a:bodyPr wrap="square">
            <a:spAutoFit/>
          </a:bodyPr>
          <a:lstStyle/>
          <a:p>
            <a:pPr>
              <a:lnSpc>
                <a:spcPct val="90000"/>
              </a:lnSpc>
              <a:buFont typeface="Wingdings" pitchFamily="2" charset="2"/>
              <a:buNone/>
            </a:pPr>
            <a:r>
              <a:rPr lang="en-US" altLang="zh-CN" sz="2000" dirty="0" err="1">
                <a:latin typeface="Times New Roman" pitchFamily="18" charset="0"/>
              </a:rPr>
              <a:t>Huffmantree</a:t>
            </a:r>
            <a:r>
              <a:rPr lang="en-US" altLang="zh-CN" sz="2000" dirty="0">
                <a:latin typeface="Times New Roman" pitchFamily="18" charset="0"/>
              </a:rPr>
              <a:t>  HT;  </a:t>
            </a:r>
          </a:p>
          <a:p>
            <a:pPr>
              <a:lnSpc>
                <a:spcPct val="90000"/>
              </a:lnSpc>
              <a:buFont typeface="Wingdings" pitchFamily="2" charset="2"/>
              <a:buNone/>
            </a:pPr>
            <a:r>
              <a:rPr lang="en-US" altLang="zh-CN" sz="2000" dirty="0">
                <a:latin typeface="Times New Roman" pitchFamily="18" charset="0"/>
              </a:rPr>
              <a:t>HT = new </a:t>
            </a:r>
            <a:r>
              <a:rPr lang="en-US" altLang="zh-CN" sz="2000" dirty="0" err="1">
                <a:latin typeface="Times New Roman" pitchFamily="18" charset="0"/>
              </a:rPr>
              <a:t>HTNode</a:t>
            </a:r>
            <a:r>
              <a:rPr lang="en-US" altLang="zh-CN" sz="2000" dirty="0">
                <a:latin typeface="Times New Roman" pitchFamily="18" charset="0"/>
              </a:rPr>
              <a:t>[2*n];  </a:t>
            </a:r>
            <a:endParaRPr kumimoji="1" lang="zh-CN" altLang="en-US" sz="2400" dirty="0">
              <a:latin typeface="黑体" pitchFamily="2" charset="-122"/>
              <a:ea typeface="黑体" pitchFamily="2" charset="-122"/>
            </a:endParaRPr>
          </a:p>
        </p:txBody>
      </p:sp>
      <p:sp>
        <p:nvSpPr>
          <p:cNvPr id="4" name="矩形 3"/>
          <p:cNvSpPr/>
          <p:nvPr/>
        </p:nvSpPr>
        <p:spPr>
          <a:xfrm>
            <a:off x="6471396" y="4869161"/>
            <a:ext cx="3262432" cy="424732"/>
          </a:xfrm>
          <a:prstGeom prst="rect">
            <a:avLst/>
          </a:prstGeom>
        </p:spPr>
        <p:txBody>
          <a:bodyPr wrap="none">
            <a:spAutoFit/>
          </a:bodyPr>
          <a:lstStyle/>
          <a:p>
            <a:pPr>
              <a:lnSpc>
                <a:spcPct val="90000"/>
              </a:lnSpc>
              <a:buFont typeface="Wingdings" pitchFamily="2" charset="2"/>
              <a:buNone/>
            </a:pPr>
            <a:r>
              <a:rPr kumimoji="1" lang="en-US" altLang="zh-CN" sz="2400" dirty="0">
                <a:latin typeface="黑体" pitchFamily="2" charset="-122"/>
                <a:ea typeface="黑体" pitchFamily="2" charset="-122"/>
              </a:rPr>
              <a:t>//</a:t>
            </a:r>
            <a:r>
              <a:rPr kumimoji="1" lang="zh-CN" altLang="en-US" sz="2400" dirty="0">
                <a:latin typeface="黑体" pitchFamily="2" charset="-122"/>
                <a:ea typeface="黑体" pitchFamily="2" charset="-122"/>
              </a:rPr>
              <a:t>赫夫曼树的存储结构</a:t>
            </a:r>
          </a:p>
        </p:txBody>
      </p:sp>
      <p:sp>
        <p:nvSpPr>
          <p:cNvPr id="2" name="矩形 1">
            <a:extLst>
              <a:ext uri="{FF2B5EF4-FFF2-40B4-BE49-F238E27FC236}">
                <a16:creationId xmlns:a16="http://schemas.microsoft.com/office/drawing/2014/main" xmlns="" id="{DABC52E5-F279-9894-AF5A-8CDBFAD73299}"/>
              </a:ext>
            </a:extLst>
          </p:cNvPr>
          <p:cNvSpPr/>
          <p:nvPr/>
        </p:nvSpPr>
        <p:spPr>
          <a:xfrm>
            <a:off x="992475" y="1549815"/>
            <a:ext cx="4339650" cy="461665"/>
          </a:xfrm>
          <a:prstGeom prst="rect">
            <a:avLst/>
          </a:prstGeom>
        </p:spPr>
        <p:txBody>
          <a:bodyPr wrap="none">
            <a:spAutoFit/>
          </a:bodyPr>
          <a:lstStyle/>
          <a:p>
            <a:r>
              <a:rPr kumimoji="1" lang="en-US" altLang="zh-CN" sz="2400" dirty="0">
                <a:latin typeface="黑体" pitchFamily="2" charset="-122"/>
                <a:ea typeface="黑体" pitchFamily="2" charset="-122"/>
              </a:rPr>
              <a:t>Huffman</a:t>
            </a:r>
            <a:r>
              <a:rPr kumimoji="1" lang="zh-CN" altLang="zh-CN" sz="2400" dirty="0">
                <a:latin typeface="黑体" pitchFamily="2" charset="-122"/>
                <a:ea typeface="黑体" pitchFamily="2" charset="-122"/>
              </a:rPr>
              <a:t>树应</a:t>
            </a:r>
            <a:r>
              <a:rPr kumimoji="1" lang="zh-CN" altLang="en-US" sz="2400" dirty="0">
                <a:latin typeface="黑体" pitchFamily="2" charset="-122"/>
                <a:ea typeface="黑体" pitchFamily="2" charset="-122"/>
              </a:rPr>
              <a:t>用</a:t>
            </a:r>
            <a:r>
              <a:rPr kumimoji="1" lang="en-US" altLang="zh-CN" sz="2400" dirty="0">
                <a:latin typeface="黑体" pitchFamily="2" charset="-122"/>
                <a:ea typeface="黑体" pitchFamily="2" charset="-122"/>
              </a:rPr>
              <a:t>——</a:t>
            </a:r>
            <a:r>
              <a:rPr kumimoji="1" lang="zh-CN" altLang="en-US" sz="2400" dirty="0">
                <a:latin typeface="黑体" pitchFamily="2" charset="-122"/>
                <a:ea typeface="黑体" pitchFamily="2" charset="-122"/>
              </a:rPr>
              <a:t>赫夫曼编码</a:t>
            </a:r>
          </a:p>
        </p:txBody>
      </p:sp>
      <p:cxnSp>
        <p:nvCxnSpPr>
          <p:cNvPr id="5" name="直接连接符 4">
            <a:extLst>
              <a:ext uri="{FF2B5EF4-FFF2-40B4-BE49-F238E27FC236}">
                <a16:creationId xmlns:a16="http://schemas.microsoft.com/office/drawing/2014/main" xmlns="" id="{EFE0CD44-5B27-48E6-1E42-1EA4B804017D}"/>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xmlns="" id="{AEEE23F5-EDBD-3549-9F85-4E63E61D16E6}"/>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7" name="Rectangle 2">
            <a:extLst>
              <a:ext uri="{FF2B5EF4-FFF2-40B4-BE49-F238E27FC236}">
                <a16:creationId xmlns:a16="http://schemas.microsoft.com/office/drawing/2014/main" xmlns="" id="{C165AE80-4155-60C0-966F-1E27A95BC3BB}"/>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7.8.3 </a:t>
            </a:r>
            <a:r>
              <a:rPr lang="zh-CN" altLang="en-US" dirty="0"/>
              <a:t>哈夫曼编码</a:t>
            </a:r>
          </a:p>
        </p:txBody>
      </p:sp>
    </p:spTree>
    <p:extLst>
      <p:ext uri="{BB962C8B-B14F-4D97-AF65-F5344CB8AC3E}">
        <p14:creationId xmlns:p14="http://schemas.microsoft.com/office/powerpoint/2010/main" val="3168572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P spid="64" grpId="0" animBg="1"/>
      <p:bldP spid="65" grpId="0" animBg="1"/>
      <p:bldP spid="66" grpId="0" animBg="1"/>
      <p:bldP spid="67" grpId="0" animBg="1"/>
      <p:bldP spid="68" grpId="0" animBg="1"/>
      <p:bldP spid="3" grpId="0"/>
      <p:bldP spid="4"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3"/>
          <p:cNvSpPr txBox="1">
            <a:spLocks noChangeArrowheads="1"/>
          </p:cNvSpPr>
          <p:nvPr/>
        </p:nvSpPr>
        <p:spPr>
          <a:xfrm>
            <a:off x="2670720" y="2385330"/>
            <a:ext cx="7313712" cy="420329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Font typeface="Wingdings" pitchFamily="2" charset="2"/>
              <a:buNone/>
            </a:pPr>
            <a:r>
              <a:rPr lang="en-US" altLang="zh-CN" sz="1800" dirty="0">
                <a:latin typeface="Times New Roman" pitchFamily="18" charset="0"/>
              </a:rPr>
              <a:t>void  </a:t>
            </a:r>
            <a:r>
              <a:rPr lang="en-US" altLang="zh-CN" sz="1800" dirty="0" err="1">
                <a:latin typeface="Times New Roman" pitchFamily="18" charset="0"/>
              </a:rPr>
              <a:t>HuffmanCoding</a:t>
            </a:r>
            <a:r>
              <a:rPr lang="en-US" altLang="zh-CN" sz="1800" dirty="0">
                <a:latin typeface="Times New Roman" pitchFamily="18" charset="0"/>
              </a:rPr>
              <a:t>(</a:t>
            </a:r>
            <a:r>
              <a:rPr lang="en-US" altLang="zh-CN" sz="1800" dirty="0" err="1">
                <a:latin typeface="Times New Roman" pitchFamily="18" charset="0"/>
              </a:rPr>
              <a:t>HuffmanTree</a:t>
            </a:r>
            <a:r>
              <a:rPr lang="en-US" altLang="zh-CN" sz="1800" dirty="0">
                <a:latin typeface="Times New Roman" pitchFamily="18" charset="0"/>
              </a:rPr>
              <a:t> &amp;</a:t>
            </a:r>
            <a:r>
              <a:rPr lang="en-US" altLang="zh-CN" sz="1800" dirty="0" err="1">
                <a:latin typeface="Times New Roman" pitchFamily="18" charset="0"/>
              </a:rPr>
              <a:t>HT,HuffmanCode</a:t>
            </a:r>
            <a:r>
              <a:rPr lang="en-US" altLang="zh-CN" sz="1800" dirty="0">
                <a:latin typeface="Times New Roman" pitchFamily="18" charset="0"/>
              </a:rPr>
              <a:t> &amp;</a:t>
            </a:r>
            <a:r>
              <a:rPr lang="en-US" altLang="zh-CN" sz="1800" dirty="0" err="1">
                <a:latin typeface="Times New Roman" pitchFamily="18" charset="0"/>
              </a:rPr>
              <a:t>HC,int</a:t>
            </a:r>
            <a:r>
              <a:rPr lang="en-US" altLang="zh-CN" sz="1800" dirty="0">
                <a:latin typeface="Times New Roman" pitchFamily="18" charset="0"/>
              </a:rPr>
              <a:t> *</a:t>
            </a:r>
            <a:r>
              <a:rPr lang="en-US" altLang="zh-CN" sz="1800" dirty="0" err="1">
                <a:latin typeface="Times New Roman" pitchFamily="18" charset="0"/>
              </a:rPr>
              <a:t>w,int</a:t>
            </a:r>
            <a:r>
              <a:rPr lang="en-US" altLang="zh-CN" sz="1800" dirty="0">
                <a:latin typeface="Times New Roman" pitchFamily="18" charset="0"/>
              </a:rPr>
              <a:t> n)</a:t>
            </a:r>
          </a:p>
          <a:p>
            <a:pPr>
              <a:lnSpc>
                <a:spcPct val="80000"/>
              </a:lnSpc>
              <a:buFont typeface="Wingdings" pitchFamily="2" charset="2"/>
              <a:buNone/>
            </a:pPr>
            <a:r>
              <a:rPr lang="en-US" altLang="zh-CN" sz="1800" dirty="0">
                <a:latin typeface="Times New Roman" pitchFamily="18" charset="0"/>
              </a:rPr>
              <a:t>{//w</a:t>
            </a:r>
            <a:r>
              <a:rPr lang="zh-CN" altLang="en-US" sz="1800" dirty="0">
                <a:latin typeface="Times New Roman" pitchFamily="18" charset="0"/>
              </a:rPr>
              <a:t>存放</a:t>
            </a:r>
            <a:r>
              <a:rPr lang="en-US" altLang="zh-CN" sz="1800" dirty="0">
                <a:latin typeface="Times New Roman" pitchFamily="18" charset="0"/>
              </a:rPr>
              <a:t>n</a:t>
            </a:r>
            <a:r>
              <a:rPr lang="zh-CN" altLang="en-US" sz="1800" dirty="0">
                <a:latin typeface="Times New Roman" pitchFamily="18" charset="0"/>
              </a:rPr>
              <a:t>个字符的权值，构造赫夫曼树</a:t>
            </a:r>
            <a:r>
              <a:rPr lang="en-US" altLang="zh-CN" sz="1800" dirty="0">
                <a:latin typeface="Times New Roman" pitchFamily="18" charset="0"/>
              </a:rPr>
              <a:t>HT</a:t>
            </a:r>
            <a:r>
              <a:rPr lang="zh-CN" altLang="en-US" sz="1800" dirty="0">
                <a:latin typeface="Times New Roman" pitchFamily="18" charset="0"/>
              </a:rPr>
              <a:t>，并求出</a:t>
            </a:r>
            <a:r>
              <a:rPr lang="en-US" altLang="zh-CN" sz="1800" dirty="0">
                <a:latin typeface="Times New Roman" pitchFamily="18" charset="0"/>
              </a:rPr>
              <a:t>n</a:t>
            </a:r>
            <a:r>
              <a:rPr lang="zh-CN" altLang="en-US" sz="1800" dirty="0">
                <a:latin typeface="Times New Roman" pitchFamily="18" charset="0"/>
              </a:rPr>
              <a:t>个字符的编码</a:t>
            </a:r>
          </a:p>
          <a:p>
            <a:pPr>
              <a:lnSpc>
                <a:spcPct val="80000"/>
              </a:lnSpc>
              <a:buFont typeface="Wingdings" pitchFamily="2" charset="2"/>
              <a:buNone/>
            </a:pPr>
            <a:r>
              <a:rPr lang="zh-CN" altLang="en-US" sz="1800" dirty="0">
                <a:latin typeface="Times New Roman" pitchFamily="18" charset="0"/>
              </a:rPr>
              <a:t>               </a:t>
            </a:r>
            <a:r>
              <a:rPr lang="en-US" altLang="zh-CN" sz="1800" dirty="0">
                <a:latin typeface="Times New Roman" pitchFamily="18" charset="0"/>
              </a:rPr>
              <a:t>if (n&lt;=1) return;  </a:t>
            </a:r>
          </a:p>
          <a:p>
            <a:pPr>
              <a:lnSpc>
                <a:spcPct val="80000"/>
              </a:lnSpc>
              <a:buFont typeface="Wingdings" pitchFamily="2" charset="2"/>
              <a:buNone/>
            </a:pPr>
            <a:r>
              <a:rPr lang="en-US" altLang="zh-CN" sz="1800" dirty="0">
                <a:latin typeface="Times New Roman" pitchFamily="18" charset="0"/>
              </a:rPr>
              <a:t>               m = 2*n-1;</a:t>
            </a:r>
          </a:p>
          <a:p>
            <a:pPr>
              <a:lnSpc>
                <a:spcPct val="80000"/>
              </a:lnSpc>
              <a:buFont typeface="Wingdings" pitchFamily="2" charset="2"/>
              <a:buNone/>
            </a:pPr>
            <a:r>
              <a:rPr lang="en-US" altLang="zh-CN" sz="1800" dirty="0">
                <a:latin typeface="Times New Roman" pitchFamily="18" charset="0"/>
              </a:rPr>
              <a:t>               HT = new </a:t>
            </a:r>
            <a:r>
              <a:rPr lang="en-US" altLang="zh-CN" sz="1800" dirty="0" err="1">
                <a:latin typeface="Times New Roman" pitchFamily="18" charset="0"/>
              </a:rPr>
              <a:t>HTNode</a:t>
            </a:r>
            <a:r>
              <a:rPr lang="en-US" altLang="zh-CN" sz="1800" dirty="0">
                <a:latin typeface="Times New Roman" pitchFamily="18" charset="0"/>
              </a:rPr>
              <a:t>[m+1];</a:t>
            </a:r>
          </a:p>
          <a:p>
            <a:pPr>
              <a:lnSpc>
                <a:spcPct val="80000"/>
              </a:lnSpc>
              <a:buFont typeface="Wingdings" pitchFamily="2" charset="2"/>
              <a:buNone/>
            </a:pPr>
            <a:r>
              <a:rPr lang="en-US" altLang="zh-CN" sz="1800" dirty="0">
                <a:latin typeface="Times New Roman" pitchFamily="18" charset="0"/>
              </a:rPr>
              <a:t>               for(i=1; i&lt;=n; i++) {</a:t>
            </a:r>
          </a:p>
          <a:p>
            <a:pPr>
              <a:lnSpc>
                <a:spcPct val="80000"/>
              </a:lnSpc>
              <a:buFont typeface="Wingdings" pitchFamily="2" charset="2"/>
              <a:buNone/>
            </a:pPr>
            <a:r>
              <a:rPr lang="en-US" altLang="zh-CN" sz="1800" dirty="0">
                <a:latin typeface="Times New Roman" pitchFamily="18" charset="0"/>
              </a:rPr>
              <a:t>                            HT[i].weight = w[i-1];</a:t>
            </a:r>
          </a:p>
          <a:p>
            <a:pPr>
              <a:lnSpc>
                <a:spcPct val="80000"/>
              </a:lnSpc>
              <a:buFont typeface="Wingdings" pitchFamily="2" charset="2"/>
              <a:buNone/>
            </a:pPr>
            <a:r>
              <a:rPr lang="en-US" altLang="zh-CN" sz="1800" dirty="0">
                <a:latin typeface="Times New Roman" pitchFamily="18" charset="0"/>
              </a:rPr>
              <a:t>                            HT[i].parent = 0;</a:t>
            </a:r>
          </a:p>
          <a:p>
            <a:pPr>
              <a:lnSpc>
                <a:spcPct val="80000"/>
              </a:lnSpc>
              <a:buFont typeface="Wingdings" pitchFamily="2" charset="2"/>
              <a:buNone/>
            </a:pPr>
            <a:r>
              <a:rPr lang="en-US" altLang="zh-CN" sz="1800" dirty="0">
                <a:latin typeface="Times New Roman" pitchFamily="18" charset="0"/>
              </a:rPr>
              <a:t>                            HT[i].</a:t>
            </a:r>
            <a:r>
              <a:rPr lang="en-US" altLang="zh-CN" sz="1800" dirty="0" err="1">
                <a:latin typeface="Times New Roman" pitchFamily="18" charset="0"/>
              </a:rPr>
              <a:t>lchild</a:t>
            </a:r>
            <a:r>
              <a:rPr lang="en-US" altLang="zh-CN" sz="1800" dirty="0">
                <a:latin typeface="Times New Roman" pitchFamily="18" charset="0"/>
              </a:rPr>
              <a:t> = HT[i].</a:t>
            </a:r>
            <a:r>
              <a:rPr lang="en-US" altLang="zh-CN" sz="1800" dirty="0" err="1">
                <a:latin typeface="Times New Roman" pitchFamily="18" charset="0"/>
              </a:rPr>
              <a:t>rchild</a:t>
            </a:r>
            <a:r>
              <a:rPr lang="en-US" altLang="zh-CN" sz="1800" dirty="0">
                <a:latin typeface="Times New Roman" pitchFamily="18" charset="0"/>
              </a:rPr>
              <a:t> = 0;</a:t>
            </a:r>
          </a:p>
          <a:p>
            <a:pPr>
              <a:lnSpc>
                <a:spcPct val="80000"/>
              </a:lnSpc>
              <a:buFont typeface="Wingdings" pitchFamily="2" charset="2"/>
              <a:buNone/>
            </a:pPr>
            <a:r>
              <a:rPr lang="en-US" altLang="zh-CN" sz="1800" dirty="0">
                <a:latin typeface="Times New Roman" pitchFamily="18" charset="0"/>
              </a:rPr>
              <a:t>               }</a:t>
            </a:r>
          </a:p>
          <a:p>
            <a:pPr>
              <a:lnSpc>
                <a:spcPct val="80000"/>
              </a:lnSpc>
              <a:buFont typeface="Wingdings" pitchFamily="2" charset="2"/>
              <a:buNone/>
            </a:pPr>
            <a:r>
              <a:rPr lang="en-US" altLang="zh-CN" sz="1800" dirty="0">
                <a:latin typeface="Times New Roman" pitchFamily="18" charset="0"/>
              </a:rPr>
              <a:t>              for(; i&lt;=m; ++i) {</a:t>
            </a:r>
          </a:p>
          <a:p>
            <a:pPr>
              <a:lnSpc>
                <a:spcPct val="80000"/>
              </a:lnSpc>
              <a:buFont typeface="Wingdings" pitchFamily="2" charset="2"/>
              <a:buNone/>
            </a:pPr>
            <a:r>
              <a:rPr lang="en-US" altLang="zh-CN" sz="1800" dirty="0">
                <a:latin typeface="Times New Roman" pitchFamily="18" charset="0"/>
              </a:rPr>
              <a:t>                       HT[i].parent = 0;</a:t>
            </a:r>
          </a:p>
          <a:p>
            <a:pPr>
              <a:lnSpc>
                <a:spcPct val="80000"/>
              </a:lnSpc>
              <a:buFont typeface="Wingdings" pitchFamily="2" charset="2"/>
              <a:buNone/>
            </a:pPr>
            <a:r>
              <a:rPr lang="en-US" altLang="zh-CN" sz="1800" dirty="0">
                <a:latin typeface="Times New Roman" pitchFamily="18" charset="0"/>
              </a:rPr>
              <a:t>                       HT[i].</a:t>
            </a:r>
            <a:r>
              <a:rPr lang="en-US" altLang="zh-CN" sz="1800" dirty="0" err="1">
                <a:latin typeface="Times New Roman" pitchFamily="18" charset="0"/>
              </a:rPr>
              <a:t>lchild</a:t>
            </a:r>
            <a:r>
              <a:rPr lang="en-US" altLang="zh-CN" sz="1800" dirty="0">
                <a:latin typeface="Times New Roman" pitchFamily="18" charset="0"/>
              </a:rPr>
              <a:t> = HT[i].</a:t>
            </a:r>
            <a:r>
              <a:rPr lang="en-US" altLang="zh-CN" sz="1800" dirty="0" err="1">
                <a:latin typeface="Times New Roman" pitchFamily="18" charset="0"/>
              </a:rPr>
              <a:t>rchild</a:t>
            </a:r>
            <a:r>
              <a:rPr lang="en-US" altLang="zh-CN" sz="1800" dirty="0">
                <a:latin typeface="Times New Roman" pitchFamily="18" charset="0"/>
              </a:rPr>
              <a:t> = 0;</a:t>
            </a:r>
          </a:p>
          <a:p>
            <a:pPr>
              <a:lnSpc>
                <a:spcPct val="80000"/>
              </a:lnSpc>
              <a:buFont typeface="Wingdings" pitchFamily="2" charset="2"/>
              <a:buNone/>
            </a:pPr>
            <a:r>
              <a:rPr lang="en-US" altLang="zh-CN" sz="1800" dirty="0">
                <a:latin typeface="Times New Roman" pitchFamily="18" charset="0"/>
              </a:rPr>
              <a:t>              }</a:t>
            </a:r>
          </a:p>
          <a:p>
            <a:pPr>
              <a:lnSpc>
                <a:spcPct val="80000"/>
              </a:lnSpc>
              <a:buFont typeface="Wingdings" pitchFamily="2" charset="2"/>
              <a:buNone/>
            </a:pPr>
            <a:r>
              <a:rPr lang="en-US" altLang="zh-CN" sz="1800" dirty="0">
                <a:latin typeface="Times New Roman" pitchFamily="18" charset="0"/>
              </a:rPr>
              <a:t>}</a:t>
            </a:r>
          </a:p>
        </p:txBody>
      </p:sp>
      <p:sp>
        <p:nvSpPr>
          <p:cNvPr id="2" name="矩形 1">
            <a:extLst>
              <a:ext uri="{FF2B5EF4-FFF2-40B4-BE49-F238E27FC236}">
                <a16:creationId xmlns:a16="http://schemas.microsoft.com/office/drawing/2014/main" xmlns="" id="{E3A293FD-A74E-5732-32F4-FD8929F37659}"/>
              </a:ext>
            </a:extLst>
          </p:cNvPr>
          <p:cNvSpPr/>
          <p:nvPr/>
        </p:nvSpPr>
        <p:spPr>
          <a:xfrm>
            <a:off x="992475" y="1549815"/>
            <a:ext cx="4339650" cy="461665"/>
          </a:xfrm>
          <a:prstGeom prst="rect">
            <a:avLst/>
          </a:prstGeom>
        </p:spPr>
        <p:txBody>
          <a:bodyPr wrap="none">
            <a:spAutoFit/>
          </a:bodyPr>
          <a:lstStyle/>
          <a:p>
            <a:r>
              <a:rPr kumimoji="1" lang="en-US" altLang="zh-CN" sz="2400" dirty="0">
                <a:latin typeface="黑体" pitchFamily="2" charset="-122"/>
                <a:ea typeface="黑体" pitchFamily="2" charset="-122"/>
              </a:rPr>
              <a:t>Huffman</a:t>
            </a:r>
            <a:r>
              <a:rPr kumimoji="1" lang="zh-CN" altLang="zh-CN" sz="2400" dirty="0">
                <a:latin typeface="黑体" pitchFamily="2" charset="-122"/>
                <a:ea typeface="黑体" pitchFamily="2" charset="-122"/>
              </a:rPr>
              <a:t>树应</a:t>
            </a:r>
            <a:r>
              <a:rPr kumimoji="1" lang="zh-CN" altLang="en-US" sz="2400" dirty="0">
                <a:latin typeface="黑体" pitchFamily="2" charset="-122"/>
                <a:ea typeface="黑体" pitchFamily="2" charset="-122"/>
              </a:rPr>
              <a:t>用</a:t>
            </a:r>
            <a:r>
              <a:rPr kumimoji="1" lang="en-US" altLang="zh-CN" sz="2400" dirty="0">
                <a:latin typeface="黑体" pitchFamily="2" charset="-122"/>
                <a:ea typeface="黑体" pitchFamily="2" charset="-122"/>
              </a:rPr>
              <a:t>——</a:t>
            </a:r>
            <a:r>
              <a:rPr kumimoji="1" lang="zh-CN" altLang="en-US" sz="2400" dirty="0">
                <a:latin typeface="黑体" pitchFamily="2" charset="-122"/>
                <a:ea typeface="黑体" pitchFamily="2" charset="-122"/>
              </a:rPr>
              <a:t>赫夫曼编码</a:t>
            </a:r>
          </a:p>
        </p:txBody>
      </p:sp>
      <p:cxnSp>
        <p:nvCxnSpPr>
          <p:cNvPr id="3" name="直接连接符 2">
            <a:extLst>
              <a:ext uri="{FF2B5EF4-FFF2-40B4-BE49-F238E27FC236}">
                <a16:creationId xmlns:a16="http://schemas.microsoft.com/office/drawing/2014/main" xmlns="" id="{E3735C4A-F784-68FE-8A99-CBC4B3DA2B50}"/>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xmlns="" id="{3CC74DEA-257E-1DE2-6F11-A3CE277788A9}"/>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
        <p:nvSpPr>
          <p:cNvPr id="6" name="Rectangle 2">
            <a:extLst>
              <a:ext uri="{FF2B5EF4-FFF2-40B4-BE49-F238E27FC236}">
                <a16:creationId xmlns:a16="http://schemas.microsoft.com/office/drawing/2014/main" xmlns="" id="{028F5309-C001-12B0-69A8-869613E15C41}"/>
              </a:ext>
            </a:extLst>
          </p:cNvPr>
          <p:cNvSpPr txBox="1">
            <a:spLocks noChangeArrowheads="1"/>
          </p:cNvSpPr>
          <p:nvPr/>
        </p:nvSpPr>
        <p:spPr>
          <a:xfrm>
            <a:off x="79920" y="836712"/>
            <a:ext cx="4287888"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defPPr>
              <a:defRPr lang="zh-CN"/>
            </a:defPPr>
            <a:lvl1pPr>
              <a:defRPr sz="2800" b="1">
                <a:solidFill>
                  <a:schemeClr val="bg1"/>
                </a:solidFill>
                <a:latin typeface="经典粗黑简" pitchFamily="49" charset="-122"/>
                <a:ea typeface="经典粗黑简" pitchFamily="49" charset="-122"/>
                <a:cs typeface="经典粗黑简" pitchFamily="49" charset="-122"/>
              </a:defRPr>
            </a:lvl1pPr>
            <a:lvl2pPr marL="0" lvl="1" algn="just">
              <a:defRPr sz="2800" b="1">
                <a:solidFill>
                  <a:schemeClr val="bg1"/>
                </a:solidFill>
                <a:latin typeface="经典粗黑简" pitchFamily="49" charset="-122"/>
                <a:ea typeface="经典粗黑简" pitchFamily="49" charset="-122"/>
                <a:cs typeface="经典粗黑简" pitchFamily="49" charset="-122"/>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7.8.3 </a:t>
            </a:r>
            <a:r>
              <a:rPr lang="zh-CN" altLang="en-US" dirty="0"/>
              <a:t>哈夫曼编码</a:t>
            </a:r>
          </a:p>
        </p:txBody>
      </p:sp>
    </p:spTree>
    <p:extLst>
      <p:ext uri="{BB962C8B-B14F-4D97-AF65-F5344CB8AC3E}">
        <p14:creationId xmlns:p14="http://schemas.microsoft.com/office/powerpoint/2010/main" val="2899658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9">
                                            <p:txEl>
                                              <p:pRg st="0" end="0"/>
                                            </p:txEl>
                                          </p:spTgt>
                                        </p:tgtEl>
                                        <p:attrNameLst>
                                          <p:attrName>style.visibility</p:attrName>
                                        </p:attrNameLst>
                                      </p:cBhvr>
                                      <p:to>
                                        <p:strVal val="visible"/>
                                      </p:to>
                                    </p:set>
                                    <p:animEffect transition="in" filter="wipe(left)">
                                      <p:cBhvr>
                                        <p:cTn id="7" dur="500"/>
                                        <p:tgtEl>
                                          <p:spTgt spid="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9">
                                            <p:txEl>
                                              <p:pRg st="1" end="1"/>
                                            </p:txEl>
                                          </p:spTgt>
                                        </p:tgtEl>
                                        <p:attrNameLst>
                                          <p:attrName>style.visibility</p:attrName>
                                        </p:attrNameLst>
                                      </p:cBhvr>
                                      <p:to>
                                        <p:strVal val="visible"/>
                                      </p:to>
                                    </p:set>
                                    <p:animEffect transition="in" filter="wipe(left)">
                                      <p:cBhvr>
                                        <p:cTn id="12" dur="500"/>
                                        <p:tgtEl>
                                          <p:spTgt spid="6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9">
                                            <p:txEl>
                                              <p:pRg st="2" end="2"/>
                                            </p:txEl>
                                          </p:spTgt>
                                        </p:tgtEl>
                                        <p:attrNameLst>
                                          <p:attrName>style.visibility</p:attrName>
                                        </p:attrNameLst>
                                      </p:cBhvr>
                                      <p:to>
                                        <p:strVal val="visible"/>
                                      </p:to>
                                    </p:set>
                                    <p:animEffect transition="in" filter="wipe(left)">
                                      <p:cBhvr>
                                        <p:cTn id="17" dur="500"/>
                                        <p:tgtEl>
                                          <p:spTgt spid="6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9">
                                            <p:txEl>
                                              <p:pRg st="3" end="3"/>
                                            </p:txEl>
                                          </p:spTgt>
                                        </p:tgtEl>
                                        <p:attrNameLst>
                                          <p:attrName>style.visibility</p:attrName>
                                        </p:attrNameLst>
                                      </p:cBhvr>
                                      <p:to>
                                        <p:strVal val="visible"/>
                                      </p:to>
                                    </p:set>
                                    <p:animEffect transition="in" filter="wipe(left)">
                                      <p:cBhvr>
                                        <p:cTn id="22" dur="500"/>
                                        <p:tgtEl>
                                          <p:spTgt spid="6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9">
                                            <p:txEl>
                                              <p:pRg st="4" end="4"/>
                                            </p:txEl>
                                          </p:spTgt>
                                        </p:tgtEl>
                                        <p:attrNameLst>
                                          <p:attrName>style.visibility</p:attrName>
                                        </p:attrNameLst>
                                      </p:cBhvr>
                                      <p:to>
                                        <p:strVal val="visible"/>
                                      </p:to>
                                    </p:set>
                                    <p:animEffect transition="in" filter="wipe(left)">
                                      <p:cBhvr>
                                        <p:cTn id="27" dur="500"/>
                                        <p:tgtEl>
                                          <p:spTgt spid="6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9">
                                            <p:txEl>
                                              <p:pRg st="5" end="5"/>
                                            </p:txEl>
                                          </p:spTgt>
                                        </p:tgtEl>
                                        <p:attrNameLst>
                                          <p:attrName>style.visibility</p:attrName>
                                        </p:attrNameLst>
                                      </p:cBhvr>
                                      <p:to>
                                        <p:strVal val="visible"/>
                                      </p:to>
                                    </p:set>
                                    <p:animEffect transition="in" filter="wipe(left)">
                                      <p:cBhvr>
                                        <p:cTn id="32" dur="500"/>
                                        <p:tgtEl>
                                          <p:spTgt spid="6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9">
                                            <p:txEl>
                                              <p:pRg st="6" end="6"/>
                                            </p:txEl>
                                          </p:spTgt>
                                        </p:tgtEl>
                                        <p:attrNameLst>
                                          <p:attrName>style.visibility</p:attrName>
                                        </p:attrNameLst>
                                      </p:cBhvr>
                                      <p:to>
                                        <p:strVal val="visible"/>
                                      </p:to>
                                    </p:set>
                                    <p:animEffect transition="in" filter="wipe(left)">
                                      <p:cBhvr>
                                        <p:cTn id="37" dur="500"/>
                                        <p:tgtEl>
                                          <p:spTgt spid="6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9">
                                            <p:txEl>
                                              <p:pRg st="7" end="7"/>
                                            </p:txEl>
                                          </p:spTgt>
                                        </p:tgtEl>
                                        <p:attrNameLst>
                                          <p:attrName>style.visibility</p:attrName>
                                        </p:attrNameLst>
                                      </p:cBhvr>
                                      <p:to>
                                        <p:strVal val="visible"/>
                                      </p:to>
                                    </p:set>
                                    <p:animEffect transition="in" filter="wipe(left)">
                                      <p:cBhvr>
                                        <p:cTn id="42" dur="500"/>
                                        <p:tgtEl>
                                          <p:spTgt spid="6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9">
                                            <p:txEl>
                                              <p:pRg st="8" end="8"/>
                                            </p:txEl>
                                          </p:spTgt>
                                        </p:tgtEl>
                                        <p:attrNameLst>
                                          <p:attrName>style.visibility</p:attrName>
                                        </p:attrNameLst>
                                      </p:cBhvr>
                                      <p:to>
                                        <p:strVal val="visible"/>
                                      </p:to>
                                    </p:set>
                                    <p:animEffect transition="in" filter="wipe(left)">
                                      <p:cBhvr>
                                        <p:cTn id="47" dur="500"/>
                                        <p:tgtEl>
                                          <p:spTgt spid="6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9">
                                            <p:txEl>
                                              <p:pRg st="9" end="9"/>
                                            </p:txEl>
                                          </p:spTgt>
                                        </p:tgtEl>
                                        <p:attrNameLst>
                                          <p:attrName>style.visibility</p:attrName>
                                        </p:attrNameLst>
                                      </p:cBhvr>
                                      <p:to>
                                        <p:strVal val="visible"/>
                                      </p:to>
                                    </p:set>
                                    <p:animEffect transition="in" filter="wipe(left)">
                                      <p:cBhvr>
                                        <p:cTn id="52" dur="500"/>
                                        <p:tgtEl>
                                          <p:spTgt spid="6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9">
                                            <p:txEl>
                                              <p:pRg st="10" end="10"/>
                                            </p:txEl>
                                          </p:spTgt>
                                        </p:tgtEl>
                                        <p:attrNameLst>
                                          <p:attrName>style.visibility</p:attrName>
                                        </p:attrNameLst>
                                      </p:cBhvr>
                                      <p:to>
                                        <p:strVal val="visible"/>
                                      </p:to>
                                    </p:set>
                                    <p:animEffect transition="in" filter="wipe(left)">
                                      <p:cBhvr>
                                        <p:cTn id="57" dur="500"/>
                                        <p:tgtEl>
                                          <p:spTgt spid="6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9">
                                            <p:txEl>
                                              <p:pRg st="11" end="11"/>
                                            </p:txEl>
                                          </p:spTgt>
                                        </p:tgtEl>
                                        <p:attrNameLst>
                                          <p:attrName>style.visibility</p:attrName>
                                        </p:attrNameLst>
                                      </p:cBhvr>
                                      <p:to>
                                        <p:strVal val="visible"/>
                                      </p:to>
                                    </p:set>
                                    <p:animEffect transition="in" filter="wipe(left)">
                                      <p:cBhvr>
                                        <p:cTn id="62" dur="500"/>
                                        <p:tgtEl>
                                          <p:spTgt spid="6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9">
                                            <p:txEl>
                                              <p:pRg st="12" end="12"/>
                                            </p:txEl>
                                          </p:spTgt>
                                        </p:tgtEl>
                                        <p:attrNameLst>
                                          <p:attrName>style.visibility</p:attrName>
                                        </p:attrNameLst>
                                      </p:cBhvr>
                                      <p:to>
                                        <p:strVal val="visible"/>
                                      </p:to>
                                    </p:set>
                                    <p:animEffect transition="in" filter="wipe(left)">
                                      <p:cBhvr>
                                        <p:cTn id="67" dur="500"/>
                                        <p:tgtEl>
                                          <p:spTgt spid="69">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9">
                                            <p:txEl>
                                              <p:pRg st="13" end="13"/>
                                            </p:txEl>
                                          </p:spTgt>
                                        </p:tgtEl>
                                        <p:attrNameLst>
                                          <p:attrName>style.visibility</p:attrName>
                                        </p:attrNameLst>
                                      </p:cBhvr>
                                      <p:to>
                                        <p:strVal val="visible"/>
                                      </p:to>
                                    </p:set>
                                    <p:animEffect transition="in" filter="wipe(left)">
                                      <p:cBhvr>
                                        <p:cTn id="72" dur="500"/>
                                        <p:tgtEl>
                                          <p:spTgt spid="69">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69">
                                            <p:txEl>
                                              <p:pRg st="14" end="14"/>
                                            </p:txEl>
                                          </p:spTgt>
                                        </p:tgtEl>
                                        <p:attrNameLst>
                                          <p:attrName>style.visibility</p:attrName>
                                        </p:attrNameLst>
                                      </p:cBhvr>
                                      <p:to>
                                        <p:strVal val="visible"/>
                                      </p:to>
                                    </p:set>
                                    <p:animEffect transition="in" filter="wipe(left)">
                                      <p:cBhvr>
                                        <p:cTn id="77" dur="500"/>
                                        <p:tgtEl>
                                          <p:spTgt spid="6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build="p" autoUpdateAnimBg="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361432"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217094"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074344"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4930007"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5785669"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361432"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217094"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0.05</a:t>
            </a:r>
          </a:p>
        </p:txBody>
      </p:sp>
      <p:sp>
        <p:nvSpPr>
          <p:cNvPr id="14" name="Rectangle 12"/>
          <p:cNvSpPr>
            <a:spLocks noChangeArrowheads="1"/>
          </p:cNvSpPr>
          <p:nvPr/>
        </p:nvSpPr>
        <p:spPr bwMode="auto">
          <a:xfrm>
            <a:off x="4074344"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5" name="Rectangle 13"/>
          <p:cNvSpPr>
            <a:spLocks noChangeArrowheads="1"/>
          </p:cNvSpPr>
          <p:nvPr/>
        </p:nvSpPr>
        <p:spPr bwMode="auto">
          <a:xfrm>
            <a:off x="4930007"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5785669"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361432"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217094"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0.29</a:t>
            </a:r>
          </a:p>
        </p:txBody>
      </p:sp>
      <p:sp>
        <p:nvSpPr>
          <p:cNvPr id="19" name="Rectangle 17"/>
          <p:cNvSpPr>
            <a:spLocks noChangeArrowheads="1"/>
          </p:cNvSpPr>
          <p:nvPr/>
        </p:nvSpPr>
        <p:spPr bwMode="auto">
          <a:xfrm>
            <a:off x="4074344"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0" name="Rectangle 18"/>
          <p:cNvSpPr>
            <a:spLocks noChangeArrowheads="1"/>
          </p:cNvSpPr>
          <p:nvPr/>
        </p:nvSpPr>
        <p:spPr bwMode="auto">
          <a:xfrm>
            <a:off x="4930007"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5785669"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361432"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217094"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0.07</a:t>
            </a:r>
          </a:p>
        </p:txBody>
      </p:sp>
      <p:sp>
        <p:nvSpPr>
          <p:cNvPr id="24" name="Rectangle 22"/>
          <p:cNvSpPr>
            <a:spLocks noChangeArrowheads="1"/>
          </p:cNvSpPr>
          <p:nvPr/>
        </p:nvSpPr>
        <p:spPr bwMode="auto">
          <a:xfrm>
            <a:off x="4074344"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5" name="Rectangle 23"/>
          <p:cNvSpPr>
            <a:spLocks noChangeArrowheads="1"/>
          </p:cNvSpPr>
          <p:nvPr/>
        </p:nvSpPr>
        <p:spPr bwMode="auto">
          <a:xfrm>
            <a:off x="4930007"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5785669"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361432"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217094"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0.08</a:t>
            </a:r>
          </a:p>
        </p:txBody>
      </p:sp>
      <p:sp>
        <p:nvSpPr>
          <p:cNvPr id="29" name="Rectangle 27"/>
          <p:cNvSpPr>
            <a:spLocks noChangeArrowheads="1"/>
          </p:cNvSpPr>
          <p:nvPr/>
        </p:nvSpPr>
        <p:spPr bwMode="auto">
          <a:xfrm>
            <a:off x="4074344"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0" name="Rectangle 28"/>
          <p:cNvSpPr>
            <a:spLocks noChangeArrowheads="1"/>
          </p:cNvSpPr>
          <p:nvPr/>
        </p:nvSpPr>
        <p:spPr bwMode="auto">
          <a:xfrm>
            <a:off x="4930007"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5785669"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361432"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217094"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0.14</a:t>
            </a:r>
          </a:p>
        </p:txBody>
      </p:sp>
      <p:sp>
        <p:nvSpPr>
          <p:cNvPr id="35" name="Rectangle 32"/>
          <p:cNvSpPr>
            <a:spLocks noChangeArrowheads="1"/>
          </p:cNvSpPr>
          <p:nvPr/>
        </p:nvSpPr>
        <p:spPr bwMode="auto">
          <a:xfrm>
            <a:off x="4074344"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6" name="Rectangle 33"/>
          <p:cNvSpPr>
            <a:spLocks noChangeArrowheads="1"/>
          </p:cNvSpPr>
          <p:nvPr/>
        </p:nvSpPr>
        <p:spPr bwMode="auto">
          <a:xfrm>
            <a:off x="4930007"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5785669"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361432"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217094"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0.23</a:t>
            </a:r>
          </a:p>
        </p:txBody>
      </p:sp>
      <p:sp>
        <p:nvSpPr>
          <p:cNvPr id="40" name="Rectangle 37"/>
          <p:cNvSpPr>
            <a:spLocks noChangeArrowheads="1"/>
          </p:cNvSpPr>
          <p:nvPr/>
        </p:nvSpPr>
        <p:spPr bwMode="auto">
          <a:xfrm>
            <a:off x="4074344"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1" name="Rectangle 38"/>
          <p:cNvSpPr>
            <a:spLocks noChangeArrowheads="1"/>
          </p:cNvSpPr>
          <p:nvPr/>
        </p:nvSpPr>
        <p:spPr bwMode="auto">
          <a:xfrm>
            <a:off x="4930007"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5785669"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361432"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217094"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0.03</a:t>
            </a:r>
          </a:p>
        </p:txBody>
      </p:sp>
      <p:sp>
        <p:nvSpPr>
          <p:cNvPr id="45" name="Rectangle 42"/>
          <p:cNvSpPr>
            <a:spLocks noChangeArrowheads="1"/>
          </p:cNvSpPr>
          <p:nvPr/>
        </p:nvSpPr>
        <p:spPr bwMode="auto">
          <a:xfrm>
            <a:off x="4074344"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6" name="Rectangle 43"/>
          <p:cNvSpPr>
            <a:spLocks noChangeArrowheads="1"/>
          </p:cNvSpPr>
          <p:nvPr/>
        </p:nvSpPr>
        <p:spPr bwMode="auto">
          <a:xfrm>
            <a:off x="4930007"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5785669"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361432"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217094"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0.11</a:t>
            </a:r>
          </a:p>
        </p:txBody>
      </p:sp>
      <p:sp>
        <p:nvSpPr>
          <p:cNvPr id="50" name="Rectangle 47"/>
          <p:cNvSpPr>
            <a:spLocks noChangeArrowheads="1"/>
          </p:cNvSpPr>
          <p:nvPr/>
        </p:nvSpPr>
        <p:spPr bwMode="auto">
          <a:xfrm>
            <a:off x="4074344"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1" name="Rectangle 48"/>
          <p:cNvSpPr>
            <a:spLocks noChangeArrowheads="1"/>
          </p:cNvSpPr>
          <p:nvPr/>
        </p:nvSpPr>
        <p:spPr bwMode="auto">
          <a:xfrm>
            <a:off x="4930007"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5785669"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1991544"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1991544"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1991544"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1991544"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1991544"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1991544"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1991544"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1991544"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361432"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217094"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074344"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4930007"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5785669"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1991544"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361432"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217094"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6" name="Rectangle 72"/>
          <p:cNvSpPr>
            <a:spLocks noChangeArrowheads="1"/>
          </p:cNvSpPr>
          <p:nvPr/>
        </p:nvSpPr>
        <p:spPr bwMode="auto">
          <a:xfrm>
            <a:off x="4074344"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77" name="Rectangle 73"/>
          <p:cNvSpPr>
            <a:spLocks noChangeArrowheads="1"/>
          </p:cNvSpPr>
          <p:nvPr/>
        </p:nvSpPr>
        <p:spPr bwMode="auto">
          <a:xfrm>
            <a:off x="4930007"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78" name="Rectangle 74"/>
          <p:cNvSpPr>
            <a:spLocks noChangeArrowheads="1"/>
          </p:cNvSpPr>
          <p:nvPr/>
        </p:nvSpPr>
        <p:spPr bwMode="auto">
          <a:xfrm>
            <a:off x="5785669"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79" name="Rectangle 70"/>
          <p:cNvSpPr>
            <a:spLocks noChangeArrowheads="1"/>
          </p:cNvSpPr>
          <p:nvPr/>
        </p:nvSpPr>
        <p:spPr bwMode="auto">
          <a:xfrm>
            <a:off x="2362875"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218537"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075787"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2" name="Rectangle 73"/>
          <p:cNvSpPr>
            <a:spLocks noChangeArrowheads="1"/>
          </p:cNvSpPr>
          <p:nvPr/>
        </p:nvSpPr>
        <p:spPr bwMode="auto">
          <a:xfrm>
            <a:off x="4931450"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3" name="Rectangle 74"/>
          <p:cNvSpPr>
            <a:spLocks noChangeArrowheads="1"/>
          </p:cNvSpPr>
          <p:nvPr/>
        </p:nvSpPr>
        <p:spPr bwMode="auto">
          <a:xfrm>
            <a:off x="5787112"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4" name="Text Box 69"/>
          <p:cNvSpPr txBox="1">
            <a:spLocks noChangeArrowheads="1"/>
          </p:cNvSpPr>
          <p:nvPr/>
        </p:nvSpPr>
        <p:spPr bwMode="auto">
          <a:xfrm>
            <a:off x="1847529"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1848972"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362875"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218537"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075787"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5" name="Rectangle 73"/>
          <p:cNvSpPr>
            <a:spLocks noChangeArrowheads="1"/>
          </p:cNvSpPr>
          <p:nvPr/>
        </p:nvSpPr>
        <p:spPr bwMode="auto">
          <a:xfrm>
            <a:off x="4931450"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6" name="Rectangle 74"/>
          <p:cNvSpPr>
            <a:spLocks noChangeArrowheads="1"/>
          </p:cNvSpPr>
          <p:nvPr/>
        </p:nvSpPr>
        <p:spPr bwMode="auto">
          <a:xfrm>
            <a:off x="5787112"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7" name="Text Box 69"/>
          <p:cNvSpPr txBox="1">
            <a:spLocks noChangeArrowheads="1"/>
          </p:cNvSpPr>
          <p:nvPr/>
        </p:nvSpPr>
        <p:spPr bwMode="auto">
          <a:xfrm>
            <a:off x="1848972"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362875"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218537"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075787"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1" name="Rectangle 73"/>
          <p:cNvSpPr>
            <a:spLocks noChangeArrowheads="1"/>
          </p:cNvSpPr>
          <p:nvPr/>
        </p:nvSpPr>
        <p:spPr bwMode="auto">
          <a:xfrm>
            <a:off x="4931450"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2" name="Rectangle 74"/>
          <p:cNvSpPr>
            <a:spLocks noChangeArrowheads="1"/>
          </p:cNvSpPr>
          <p:nvPr/>
        </p:nvSpPr>
        <p:spPr bwMode="auto">
          <a:xfrm>
            <a:off x="5787112"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3" name="Text Box 69"/>
          <p:cNvSpPr txBox="1">
            <a:spLocks noChangeArrowheads="1"/>
          </p:cNvSpPr>
          <p:nvPr/>
        </p:nvSpPr>
        <p:spPr bwMode="auto">
          <a:xfrm>
            <a:off x="1848972"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362875"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218537"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075787"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7" name="Rectangle 73"/>
          <p:cNvSpPr>
            <a:spLocks noChangeArrowheads="1"/>
          </p:cNvSpPr>
          <p:nvPr/>
        </p:nvSpPr>
        <p:spPr bwMode="auto">
          <a:xfrm>
            <a:off x="4931450"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8" name="Rectangle 74"/>
          <p:cNvSpPr>
            <a:spLocks noChangeArrowheads="1"/>
          </p:cNvSpPr>
          <p:nvPr/>
        </p:nvSpPr>
        <p:spPr bwMode="auto">
          <a:xfrm>
            <a:off x="5787112"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9" name="Text Box 69"/>
          <p:cNvSpPr txBox="1">
            <a:spLocks noChangeArrowheads="1"/>
          </p:cNvSpPr>
          <p:nvPr/>
        </p:nvSpPr>
        <p:spPr bwMode="auto">
          <a:xfrm>
            <a:off x="1848972"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1847528"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075787"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12" name="Rectangle 73"/>
          <p:cNvSpPr>
            <a:spLocks noChangeArrowheads="1"/>
          </p:cNvSpPr>
          <p:nvPr/>
        </p:nvSpPr>
        <p:spPr bwMode="auto">
          <a:xfrm>
            <a:off x="4931450"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13" name="Rectangle 74"/>
          <p:cNvSpPr>
            <a:spLocks noChangeArrowheads="1"/>
          </p:cNvSpPr>
          <p:nvPr/>
        </p:nvSpPr>
        <p:spPr bwMode="auto">
          <a:xfrm>
            <a:off x="5785669"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14" name="Rectangle 72"/>
          <p:cNvSpPr>
            <a:spLocks noChangeArrowheads="1"/>
          </p:cNvSpPr>
          <p:nvPr/>
        </p:nvSpPr>
        <p:spPr bwMode="auto">
          <a:xfrm>
            <a:off x="4074344"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15" name="Rectangle 73"/>
          <p:cNvSpPr>
            <a:spLocks noChangeArrowheads="1"/>
          </p:cNvSpPr>
          <p:nvPr/>
        </p:nvSpPr>
        <p:spPr bwMode="auto">
          <a:xfrm>
            <a:off x="4930007" y="596274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16" name="Rectangle 74"/>
          <p:cNvSpPr>
            <a:spLocks noChangeArrowheads="1"/>
          </p:cNvSpPr>
          <p:nvPr/>
        </p:nvSpPr>
        <p:spPr bwMode="auto">
          <a:xfrm>
            <a:off x="5785669"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cxnSp>
        <p:nvCxnSpPr>
          <p:cNvPr id="3" name="直接连接符 2">
            <a:extLst>
              <a:ext uri="{FF2B5EF4-FFF2-40B4-BE49-F238E27FC236}">
                <a16:creationId xmlns:a16="http://schemas.microsoft.com/office/drawing/2014/main" xmlns="" id="{6C88F558-17E4-9626-C4F7-F0A64E7B0704}"/>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xmlns="" id="{747595AB-A036-72A6-2F63-A81A861D0180}"/>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167494200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361432"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217094"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074344"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4930007"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5785669"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361432"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217094"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0.05</a:t>
            </a:r>
          </a:p>
        </p:txBody>
      </p:sp>
      <p:sp>
        <p:nvSpPr>
          <p:cNvPr id="14" name="Rectangle 12"/>
          <p:cNvSpPr>
            <a:spLocks noChangeArrowheads="1"/>
          </p:cNvSpPr>
          <p:nvPr/>
        </p:nvSpPr>
        <p:spPr bwMode="auto">
          <a:xfrm>
            <a:off x="4074344"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4930007"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5785669"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361432"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217094"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0.29</a:t>
            </a:r>
          </a:p>
        </p:txBody>
      </p:sp>
      <p:sp>
        <p:nvSpPr>
          <p:cNvPr id="19" name="Rectangle 17"/>
          <p:cNvSpPr>
            <a:spLocks noChangeArrowheads="1"/>
          </p:cNvSpPr>
          <p:nvPr/>
        </p:nvSpPr>
        <p:spPr bwMode="auto">
          <a:xfrm>
            <a:off x="4074344"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0" name="Rectangle 18"/>
          <p:cNvSpPr>
            <a:spLocks noChangeArrowheads="1"/>
          </p:cNvSpPr>
          <p:nvPr/>
        </p:nvSpPr>
        <p:spPr bwMode="auto">
          <a:xfrm>
            <a:off x="4930007"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5785669"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361432"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217094"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0.07</a:t>
            </a:r>
          </a:p>
        </p:txBody>
      </p:sp>
      <p:sp>
        <p:nvSpPr>
          <p:cNvPr id="24" name="Rectangle 22"/>
          <p:cNvSpPr>
            <a:spLocks noChangeArrowheads="1"/>
          </p:cNvSpPr>
          <p:nvPr/>
        </p:nvSpPr>
        <p:spPr bwMode="auto">
          <a:xfrm>
            <a:off x="4074344"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5" name="Rectangle 23"/>
          <p:cNvSpPr>
            <a:spLocks noChangeArrowheads="1"/>
          </p:cNvSpPr>
          <p:nvPr/>
        </p:nvSpPr>
        <p:spPr bwMode="auto">
          <a:xfrm>
            <a:off x="4930007"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5785669"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361432"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217094"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0.08</a:t>
            </a:r>
          </a:p>
        </p:txBody>
      </p:sp>
      <p:sp>
        <p:nvSpPr>
          <p:cNvPr id="29" name="Rectangle 27"/>
          <p:cNvSpPr>
            <a:spLocks noChangeArrowheads="1"/>
          </p:cNvSpPr>
          <p:nvPr/>
        </p:nvSpPr>
        <p:spPr bwMode="auto">
          <a:xfrm>
            <a:off x="4074344"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0" name="Rectangle 28"/>
          <p:cNvSpPr>
            <a:spLocks noChangeArrowheads="1"/>
          </p:cNvSpPr>
          <p:nvPr/>
        </p:nvSpPr>
        <p:spPr bwMode="auto">
          <a:xfrm>
            <a:off x="4930007"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5785669"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361432"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217094"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0.14</a:t>
            </a:r>
          </a:p>
        </p:txBody>
      </p:sp>
      <p:sp>
        <p:nvSpPr>
          <p:cNvPr id="35" name="Rectangle 32"/>
          <p:cNvSpPr>
            <a:spLocks noChangeArrowheads="1"/>
          </p:cNvSpPr>
          <p:nvPr/>
        </p:nvSpPr>
        <p:spPr bwMode="auto">
          <a:xfrm>
            <a:off x="4074344"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6" name="Rectangle 33"/>
          <p:cNvSpPr>
            <a:spLocks noChangeArrowheads="1"/>
          </p:cNvSpPr>
          <p:nvPr/>
        </p:nvSpPr>
        <p:spPr bwMode="auto">
          <a:xfrm>
            <a:off x="4930007"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5785669"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361432"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217094"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0.23</a:t>
            </a:r>
          </a:p>
        </p:txBody>
      </p:sp>
      <p:sp>
        <p:nvSpPr>
          <p:cNvPr id="40" name="Rectangle 37"/>
          <p:cNvSpPr>
            <a:spLocks noChangeArrowheads="1"/>
          </p:cNvSpPr>
          <p:nvPr/>
        </p:nvSpPr>
        <p:spPr bwMode="auto">
          <a:xfrm>
            <a:off x="4074344"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1" name="Rectangle 38"/>
          <p:cNvSpPr>
            <a:spLocks noChangeArrowheads="1"/>
          </p:cNvSpPr>
          <p:nvPr/>
        </p:nvSpPr>
        <p:spPr bwMode="auto">
          <a:xfrm>
            <a:off x="4930007"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5785669"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361432"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217094"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0.03</a:t>
            </a:r>
          </a:p>
        </p:txBody>
      </p:sp>
      <p:sp>
        <p:nvSpPr>
          <p:cNvPr id="45" name="Rectangle 42"/>
          <p:cNvSpPr>
            <a:spLocks noChangeArrowheads="1"/>
          </p:cNvSpPr>
          <p:nvPr/>
        </p:nvSpPr>
        <p:spPr bwMode="auto">
          <a:xfrm>
            <a:off x="4074344"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4930007"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5785669"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361432"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217094"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0.11</a:t>
            </a:r>
          </a:p>
        </p:txBody>
      </p:sp>
      <p:sp>
        <p:nvSpPr>
          <p:cNvPr id="50" name="Rectangle 47"/>
          <p:cNvSpPr>
            <a:spLocks noChangeArrowheads="1"/>
          </p:cNvSpPr>
          <p:nvPr/>
        </p:nvSpPr>
        <p:spPr bwMode="auto">
          <a:xfrm>
            <a:off x="4074344"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1" name="Rectangle 48"/>
          <p:cNvSpPr>
            <a:spLocks noChangeArrowheads="1"/>
          </p:cNvSpPr>
          <p:nvPr/>
        </p:nvSpPr>
        <p:spPr bwMode="auto">
          <a:xfrm>
            <a:off x="4930007"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5785669"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1991544"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1991544"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1991544"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1991544"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1991544"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1991544"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1991544"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1991544"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361432"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217094"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074344"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4930007"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5785669"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1991544"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361432"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217094"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0.08 </a:t>
            </a:r>
          </a:p>
        </p:txBody>
      </p:sp>
      <p:sp>
        <p:nvSpPr>
          <p:cNvPr id="76" name="Rectangle 72"/>
          <p:cNvSpPr>
            <a:spLocks noChangeArrowheads="1"/>
          </p:cNvSpPr>
          <p:nvPr/>
        </p:nvSpPr>
        <p:spPr bwMode="auto">
          <a:xfrm>
            <a:off x="4074344"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77" name="Rectangle 73"/>
          <p:cNvSpPr>
            <a:spLocks noChangeArrowheads="1"/>
          </p:cNvSpPr>
          <p:nvPr/>
        </p:nvSpPr>
        <p:spPr bwMode="auto">
          <a:xfrm>
            <a:off x="4930007"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5785669"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362875"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218537"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075787"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2" name="Rectangle 73"/>
          <p:cNvSpPr>
            <a:spLocks noChangeArrowheads="1"/>
          </p:cNvSpPr>
          <p:nvPr/>
        </p:nvSpPr>
        <p:spPr bwMode="auto">
          <a:xfrm>
            <a:off x="4931450"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3" name="Rectangle 74"/>
          <p:cNvSpPr>
            <a:spLocks noChangeArrowheads="1"/>
          </p:cNvSpPr>
          <p:nvPr/>
        </p:nvSpPr>
        <p:spPr bwMode="auto">
          <a:xfrm>
            <a:off x="5787112"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4" name="Text Box 69"/>
          <p:cNvSpPr txBox="1">
            <a:spLocks noChangeArrowheads="1"/>
          </p:cNvSpPr>
          <p:nvPr/>
        </p:nvSpPr>
        <p:spPr bwMode="auto">
          <a:xfrm>
            <a:off x="1847529"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1848972"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362875"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218537"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075787"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5" name="Rectangle 73"/>
          <p:cNvSpPr>
            <a:spLocks noChangeArrowheads="1"/>
          </p:cNvSpPr>
          <p:nvPr/>
        </p:nvSpPr>
        <p:spPr bwMode="auto">
          <a:xfrm>
            <a:off x="4931450"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6" name="Rectangle 74"/>
          <p:cNvSpPr>
            <a:spLocks noChangeArrowheads="1"/>
          </p:cNvSpPr>
          <p:nvPr/>
        </p:nvSpPr>
        <p:spPr bwMode="auto">
          <a:xfrm>
            <a:off x="5787112"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7" name="Text Box 69"/>
          <p:cNvSpPr txBox="1">
            <a:spLocks noChangeArrowheads="1"/>
          </p:cNvSpPr>
          <p:nvPr/>
        </p:nvSpPr>
        <p:spPr bwMode="auto">
          <a:xfrm>
            <a:off x="1848972"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362875"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218537"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075787"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1" name="Rectangle 73"/>
          <p:cNvSpPr>
            <a:spLocks noChangeArrowheads="1"/>
          </p:cNvSpPr>
          <p:nvPr/>
        </p:nvSpPr>
        <p:spPr bwMode="auto">
          <a:xfrm>
            <a:off x="4931450"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2" name="Rectangle 74"/>
          <p:cNvSpPr>
            <a:spLocks noChangeArrowheads="1"/>
          </p:cNvSpPr>
          <p:nvPr/>
        </p:nvSpPr>
        <p:spPr bwMode="auto">
          <a:xfrm>
            <a:off x="5787112"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3" name="Text Box 69"/>
          <p:cNvSpPr txBox="1">
            <a:spLocks noChangeArrowheads="1"/>
          </p:cNvSpPr>
          <p:nvPr/>
        </p:nvSpPr>
        <p:spPr bwMode="auto">
          <a:xfrm>
            <a:off x="1848972"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362875"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218537"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075787"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7" name="Rectangle 73"/>
          <p:cNvSpPr>
            <a:spLocks noChangeArrowheads="1"/>
          </p:cNvSpPr>
          <p:nvPr/>
        </p:nvSpPr>
        <p:spPr bwMode="auto">
          <a:xfrm>
            <a:off x="4931450"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8" name="Rectangle 74"/>
          <p:cNvSpPr>
            <a:spLocks noChangeArrowheads="1"/>
          </p:cNvSpPr>
          <p:nvPr/>
        </p:nvSpPr>
        <p:spPr bwMode="auto">
          <a:xfrm>
            <a:off x="5787112"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9" name="Text Box 69"/>
          <p:cNvSpPr txBox="1">
            <a:spLocks noChangeArrowheads="1"/>
          </p:cNvSpPr>
          <p:nvPr/>
        </p:nvSpPr>
        <p:spPr bwMode="auto">
          <a:xfrm>
            <a:off x="1848972"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1847528"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075787"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12" name="Rectangle 73"/>
          <p:cNvSpPr>
            <a:spLocks noChangeArrowheads="1"/>
          </p:cNvSpPr>
          <p:nvPr/>
        </p:nvSpPr>
        <p:spPr bwMode="auto">
          <a:xfrm>
            <a:off x="4931450"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13" name="Rectangle 74"/>
          <p:cNvSpPr>
            <a:spLocks noChangeArrowheads="1"/>
          </p:cNvSpPr>
          <p:nvPr/>
        </p:nvSpPr>
        <p:spPr bwMode="auto">
          <a:xfrm>
            <a:off x="5785669"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grpSp>
        <p:nvGrpSpPr>
          <p:cNvPr id="114" name="Group 69"/>
          <p:cNvGrpSpPr>
            <a:grpSpLocks/>
          </p:cNvGrpSpPr>
          <p:nvPr/>
        </p:nvGrpSpPr>
        <p:grpSpPr bwMode="auto">
          <a:xfrm>
            <a:off x="7060341" y="3825130"/>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0" name="Rectangle 72"/>
          <p:cNvSpPr>
            <a:spLocks noChangeArrowheads="1"/>
          </p:cNvSpPr>
          <p:nvPr/>
        </p:nvSpPr>
        <p:spPr bwMode="auto">
          <a:xfrm>
            <a:off x="4074344"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21" name="Rectangle 73"/>
          <p:cNvSpPr>
            <a:spLocks noChangeArrowheads="1"/>
          </p:cNvSpPr>
          <p:nvPr/>
        </p:nvSpPr>
        <p:spPr bwMode="auto">
          <a:xfrm>
            <a:off x="4930007" y="596274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22" name="Rectangle 74"/>
          <p:cNvSpPr>
            <a:spLocks noChangeArrowheads="1"/>
          </p:cNvSpPr>
          <p:nvPr/>
        </p:nvSpPr>
        <p:spPr bwMode="auto">
          <a:xfrm>
            <a:off x="5785669"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cxnSp>
        <p:nvCxnSpPr>
          <p:cNvPr id="2" name="直接连接符 1">
            <a:extLst>
              <a:ext uri="{FF2B5EF4-FFF2-40B4-BE49-F238E27FC236}">
                <a16:creationId xmlns:a16="http://schemas.microsoft.com/office/drawing/2014/main" xmlns="" id="{0232725C-D146-C907-26D0-67459C9B86B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522A92E1-9F53-48BC-8AC9-892E1A9BC35B}"/>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65312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wipe(up)">
                                      <p:cBhvr>
                                        <p:cTn id="7"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361432"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217094"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074344"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4930007"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5785669"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361432"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217094"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074344"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4930007"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5785669"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361432"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217094"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0.29</a:t>
            </a:r>
          </a:p>
        </p:txBody>
      </p:sp>
      <p:sp>
        <p:nvSpPr>
          <p:cNvPr id="19" name="Rectangle 17"/>
          <p:cNvSpPr>
            <a:spLocks noChangeArrowheads="1"/>
          </p:cNvSpPr>
          <p:nvPr/>
        </p:nvSpPr>
        <p:spPr bwMode="auto">
          <a:xfrm>
            <a:off x="4074344"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0" name="Rectangle 18"/>
          <p:cNvSpPr>
            <a:spLocks noChangeArrowheads="1"/>
          </p:cNvSpPr>
          <p:nvPr/>
        </p:nvSpPr>
        <p:spPr bwMode="auto">
          <a:xfrm>
            <a:off x="4930007"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5785669"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361432"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217094"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0.07</a:t>
            </a:r>
          </a:p>
        </p:txBody>
      </p:sp>
      <p:sp>
        <p:nvSpPr>
          <p:cNvPr id="24" name="Rectangle 22"/>
          <p:cNvSpPr>
            <a:spLocks noChangeArrowheads="1"/>
          </p:cNvSpPr>
          <p:nvPr/>
        </p:nvSpPr>
        <p:spPr bwMode="auto">
          <a:xfrm>
            <a:off x="4074344"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4930007"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5785669"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361432"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217094"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0.08</a:t>
            </a:r>
          </a:p>
        </p:txBody>
      </p:sp>
      <p:sp>
        <p:nvSpPr>
          <p:cNvPr id="29" name="Rectangle 27"/>
          <p:cNvSpPr>
            <a:spLocks noChangeArrowheads="1"/>
          </p:cNvSpPr>
          <p:nvPr/>
        </p:nvSpPr>
        <p:spPr bwMode="auto">
          <a:xfrm>
            <a:off x="4074344"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4930007"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5785669"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361432"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217094"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0.14</a:t>
            </a:r>
          </a:p>
        </p:txBody>
      </p:sp>
      <p:sp>
        <p:nvSpPr>
          <p:cNvPr id="35" name="Rectangle 32"/>
          <p:cNvSpPr>
            <a:spLocks noChangeArrowheads="1"/>
          </p:cNvSpPr>
          <p:nvPr/>
        </p:nvSpPr>
        <p:spPr bwMode="auto">
          <a:xfrm>
            <a:off x="4074344"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6" name="Rectangle 33"/>
          <p:cNvSpPr>
            <a:spLocks noChangeArrowheads="1"/>
          </p:cNvSpPr>
          <p:nvPr/>
        </p:nvSpPr>
        <p:spPr bwMode="auto">
          <a:xfrm>
            <a:off x="4930007"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5785669"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361432"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217094"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0.23</a:t>
            </a:r>
          </a:p>
        </p:txBody>
      </p:sp>
      <p:sp>
        <p:nvSpPr>
          <p:cNvPr id="40" name="Rectangle 37"/>
          <p:cNvSpPr>
            <a:spLocks noChangeArrowheads="1"/>
          </p:cNvSpPr>
          <p:nvPr/>
        </p:nvSpPr>
        <p:spPr bwMode="auto">
          <a:xfrm>
            <a:off x="4074344"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1" name="Rectangle 38"/>
          <p:cNvSpPr>
            <a:spLocks noChangeArrowheads="1"/>
          </p:cNvSpPr>
          <p:nvPr/>
        </p:nvSpPr>
        <p:spPr bwMode="auto">
          <a:xfrm>
            <a:off x="4930007"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5785669"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361432"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217094"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074344"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4930007"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5785669"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361432"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217094"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0.11</a:t>
            </a:r>
          </a:p>
        </p:txBody>
      </p:sp>
      <p:sp>
        <p:nvSpPr>
          <p:cNvPr id="50" name="Rectangle 47"/>
          <p:cNvSpPr>
            <a:spLocks noChangeArrowheads="1"/>
          </p:cNvSpPr>
          <p:nvPr/>
        </p:nvSpPr>
        <p:spPr bwMode="auto">
          <a:xfrm>
            <a:off x="4074344"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1" name="Rectangle 48"/>
          <p:cNvSpPr>
            <a:spLocks noChangeArrowheads="1"/>
          </p:cNvSpPr>
          <p:nvPr/>
        </p:nvSpPr>
        <p:spPr bwMode="auto">
          <a:xfrm>
            <a:off x="4930007"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5785669"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1991544"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1991544"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1991544"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1991544"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1991544"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1991544"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1991544"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1991544"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361432"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217094"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074344"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4930007"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5785669"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1991544"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361432"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217094"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0.08 </a:t>
            </a:r>
          </a:p>
        </p:txBody>
      </p:sp>
      <p:sp>
        <p:nvSpPr>
          <p:cNvPr id="76" name="Rectangle 72"/>
          <p:cNvSpPr>
            <a:spLocks noChangeArrowheads="1"/>
          </p:cNvSpPr>
          <p:nvPr/>
        </p:nvSpPr>
        <p:spPr bwMode="auto">
          <a:xfrm>
            <a:off x="4074344"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77" name="Rectangle 73"/>
          <p:cNvSpPr>
            <a:spLocks noChangeArrowheads="1"/>
          </p:cNvSpPr>
          <p:nvPr/>
        </p:nvSpPr>
        <p:spPr bwMode="auto">
          <a:xfrm>
            <a:off x="4930007"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5785669"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362875"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218537"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075787"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2" name="Rectangle 73"/>
          <p:cNvSpPr>
            <a:spLocks noChangeArrowheads="1"/>
          </p:cNvSpPr>
          <p:nvPr/>
        </p:nvSpPr>
        <p:spPr bwMode="auto">
          <a:xfrm>
            <a:off x="4931450"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3" name="Rectangle 74"/>
          <p:cNvSpPr>
            <a:spLocks noChangeArrowheads="1"/>
          </p:cNvSpPr>
          <p:nvPr/>
        </p:nvSpPr>
        <p:spPr bwMode="auto">
          <a:xfrm>
            <a:off x="5787112"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4" name="Text Box 69"/>
          <p:cNvSpPr txBox="1">
            <a:spLocks noChangeArrowheads="1"/>
          </p:cNvSpPr>
          <p:nvPr/>
        </p:nvSpPr>
        <p:spPr bwMode="auto">
          <a:xfrm>
            <a:off x="1847529"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1848972"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362875"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218537"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075787"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5" name="Rectangle 73"/>
          <p:cNvSpPr>
            <a:spLocks noChangeArrowheads="1"/>
          </p:cNvSpPr>
          <p:nvPr/>
        </p:nvSpPr>
        <p:spPr bwMode="auto">
          <a:xfrm>
            <a:off x="4931450"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6" name="Rectangle 74"/>
          <p:cNvSpPr>
            <a:spLocks noChangeArrowheads="1"/>
          </p:cNvSpPr>
          <p:nvPr/>
        </p:nvSpPr>
        <p:spPr bwMode="auto">
          <a:xfrm>
            <a:off x="5787112"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7" name="Text Box 69"/>
          <p:cNvSpPr txBox="1">
            <a:spLocks noChangeArrowheads="1"/>
          </p:cNvSpPr>
          <p:nvPr/>
        </p:nvSpPr>
        <p:spPr bwMode="auto">
          <a:xfrm>
            <a:off x="1848972"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362875"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218537"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075787"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1" name="Rectangle 73"/>
          <p:cNvSpPr>
            <a:spLocks noChangeArrowheads="1"/>
          </p:cNvSpPr>
          <p:nvPr/>
        </p:nvSpPr>
        <p:spPr bwMode="auto">
          <a:xfrm>
            <a:off x="4931450"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2" name="Rectangle 74"/>
          <p:cNvSpPr>
            <a:spLocks noChangeArrowheads="1"/>
          </p:cNvSpPr>
          <p:nvPr/>
        </p:nvSpPr>
        <p:spPr bwMode="auto">
          <a:xfrm>
            <a:off x="5787112"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3" name="Text Box 69"/>
          <p:cNvSpPr txBox="1">
            <a:spLocks noChangeArrowheads="1"/>
          </p:cNvSpPr>
          <p:nvPr/>
        </p:nvSpPr>
        <p:spPr bwMode="auto">
          <a:xfrm>
            <a:off x="1848972"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362875"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218537"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075787"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7" name="Rectangle 73"/>
          <p:cNvSpPr>
            <a:spLocks noChangeArrowheads="1"/>
          </p:cNvSpPr>
          <p:nvPr/>
        </p:nvSpPr>
        <p:spPr bwMode="auto">
          <a:xfrm>
            <a:off x="4931450"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8" name="Rectangle 74"/>
          <p:cNvSpPr>
            <a:spLocks noChangeArrowheads="1"/>
          </p:cNvSpPr>
          <p:nvPr/>
        </p:nvSpPr>
        <p:spPr bwMode="auto">
          <a:xfrm>
            <a:off x="5787112"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9" name="Text Box 69"/>
          <p:cNvSpPr txBox="1">
            <a:spLocks noChangeArrowheads="1"/>
          </p:cNvSpPr>
          <p:nvPr/>
        </p:nvSpPr>
        <p:spPr bwMode="auto">
          <a:xfrm>
            <a:off x="1848972"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1847528"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075787"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12" name="Rectangle 73"/>
          <p:cNvSpPr>
            <a:spLocks noChangeArrowheads="1"/>
          </p:cNvSpPr>
          <p:nvPr/>
        </p:nvSpPr>
        <p:spPr bwMode="auto">
          <a:xfrm>
            <a:off x="4931450"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5785669"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3825130"/>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8900746" y="3715022"/>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218537"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0.15 </a:t>
            </a:r>
          </a:p>
        </p:txBody>
      </p:sp>
      <p:sp>
        <p:nvSpPr>
          <p:cNvPr id="127" name="Rectangle 72"/>
          <p:cNvSpPr>
            <a:spLocks noChangeArrowheads="1"/>
          </p:cNvSpPr>
          <p:nvPr/>
        </p:nvSpPr>
        <p:spPr bwMode="auto">
          <a:xfrm>
            <a:off x="4074344"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28" name="Rectangle 73"/>
          <p:cNvSpPr>
            <a:spLocks noChangeArrowheads="1"/>
          </p:cNvSpPr>
          <p:nvPr/>
        </p:nvSpPr>
        <p:spPr bwMode="auto">
          <a:xfrm>
            <a:off x="4930007" y="596274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29" name="Rectangle 74"/>
          <p:cNvSpPr>
            <a:spLocks noChangeArrowheads="1"/>
          </p:cNvSpPr>
          <p:nvPr/>
        </p:nvSpPr>
        <p:spPr bwMode="auto">
          <a:xfrm>
            <a:off x="5785669"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cxnSp>
        <p:nvCxnSpPr>
          <p:cNvPr id="2" name="直接连接符 1">
            <a:extLst>
              <a:ext uri="{FF2B5EF4-FFF2-40B4-BE49-F238E27FC236}">
                <a16:creationId xmlns:a16="http://schemas.microsoft.com/office/drawing/2014/main" xmlns="" id="{4A0543C5-3349-9057-7B43-5F8E11A108AF}"/>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2D3AC74B-EB1D-2CB5-830B-3A9DF888349C}"/>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644926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wipe(up)">
                                      <p:cBhvr>
                                        <p:cTn id="7"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361432"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217094"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074344"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4930007"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5785669"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361432"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217094"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074344"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4930007"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5785669"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361432"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217094"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0.29</a:t>
            </a:r>
          </a:p>
        </p:txBody>
      </p:sp>
      <p:sp>
        <p:nvSpPr>
          <p:cNvPr id="19" name="Rectangle 17"/>
          <p:cNvSpPr>
            <a:spLocks noChangeArrowheads="1"/>
          </p:cNvSpPr>
          <p:nvPr/>
        </p:nvSpPr>
        <p:spPr bwMode="auto">
          <a:xfrm>
            <a:off x="4074344"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0" name="Rectangle 18"/>
          <p:cNvSpPr>
            <a:spLocks noChangeArrowheads="1"/>
          </p:cNvSpPr>
          <p:nvPr/>
        </p:nvSpPr>
        <p:spPr bwMode="auto">
          <a:xfrm>
            <a:off x="4930007"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5785669"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361432"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217094"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074344"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4930007"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5785669"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361432"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217094"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074344"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4930007"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5785669"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361432"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217094"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0.14</a:t>
            </a:r>
          </a:p>
        </p:txBody>
      </p:sp>
      <p:sp>
        <p:nvSpPr>
          <p:cNvPr id="35" name="Rectangle 32"/>
          <p:cNvSpPr>
            <a:spLocks noChangeArrowheads="1"/>
          </p:cNvSpPr>
          <p:nvPr/>
        </p:nvSpPr>
        <p:spPr bwMode="auto">
          <a:xfrm>
            <a:off x="4074344"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6" name="Rectangle 33"/>
          <p:cNvSpPr>
            <a:spLocks noChangeArrowheads="1"/>
          </p:cNvSpPr>
          <p:nvPr/>
        </p:nvSpPr>
        <p:spPr bwMode="auto">
          <a:xfrm>
            <a:off x="4930007"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5785669"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361432"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217094"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0.23</a:t>
            </a:r>
          </a:p>
        </p:txBody>
      </p:sp>
      <p:sp>
        <p:nvSpPr>
          <p:cNvPr id="40" name="Rectangle 37"/>
          <p:cNvSpPr>
            <a:spLocks noChangeArrowheads="1"/>
          </p:cNvSpPr>
          <p:nvPr/>
        </p:nvSpPr>
        <p:spPr bwMode="auto">
          <a:xfrm>
            <a:off x="4074344"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1" name="Rectangle 38"/>
          <p:cNvSpPr>
            <a:spLocks noChangeArrowheads="1"/>
          </p:cNvSpPr>
          <p:nvPr/>
        </p:nvSpPr>
        <p:spPr bwMode="auto">
          <a:xfrm>
            <a:off x="4930007"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5785669"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361432"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217094"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074344"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4930007"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5785669"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361432"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217094"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0.11</a:t>
            </a:r>
          </a:p>
        </p:txBody>
      </p:sp>
      <p:sp>
        <p:nvSpPr>
          <p:cNvPr id="50" name="Rectangle 47"/>
          <p:cNvSpPr>
            <a:spLocks noChangeArrowheads="1"/>
          </p:cNvSpPr>
          <p:nvPr/>
        </p:nvSpPr>
        <p:spPr bwMode="auto">
          <a:xfrm>
            <a:off x="4074344"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1" name="Rectangle 48"/>
          <p:cNvSpPr>
            <a:spLocks noChangeArrowheads="1"/>
          </p:cNvSpPr>
          <p:nvPr/>
        </p:nvSpPr>
        <p:spPr bwMode="auto">
          <a:xfrm>
            <a:off x="4930007"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5785669"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1991544"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1991544"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1991544"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1991544"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1991544"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1991544"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1991544"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1991544"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361432"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217094"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074344"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4930007"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5785669"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1991544"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361432"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217094"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0.08 </a:t>
            </a:r>
          </a:p>
        </p:txBody>
      </p:sp>
      <p:sp>
        <p:nvSpPr>
          <p:cNvPr id="76" name="Rectangle 72"/>
          <p:cNvSpPr>
            <a:spLocks noChangeArrowheads="1"/>
          </p:cNvSpPr>
          <p:nvPr/>
        </p:nvSpPr>
        <p:spPr bwMode="auto">
          <a:xfrm>
            <a:off x="4074344"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77" name="Rectangle 73"/>
          <p:cNvSpPr>
            <a:spLocks noChangeArrowheads="1"/>
          </p:cNvSpPr>
          <p:nvPr/>
        </p:nvSpPr>
        <p:spPr bwMode="auto">
          <a:xfrm>
            <a:off x="4930007"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5785669"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362875"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218537"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075787"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2" name="Rectangle 73"/>
          <p:cNvSpPr>
            <a:spLocks noChangeArrowheads="1"/>
          </p:cNvSpPr>
          <p:nvPr/>
        </p:nvSpPr>
        <p:spPr bwMode="auto">
          <a:xfrm>
            <a:off x="4931450"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3" name="Rectangle 74"/>
          <p:cNvSpPr>
            <a:spLocks noChangeArrowheads="1"/>
          </p:cNvSpPr>
          <p:nvPr/>
        </p:nvSpPr>
        <p:spPr bwMode="auto">
          <a:xfrm>
            <a:off x="5787112"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4" name="Text Box 69"/>
          <p:cNvSpPr txBox="1">
            <a:spLocks noChangeArrowheads="1"/>
          </p:cNvSpPr>
          <p:nvPr/>
        </p:nvSpPr>
        <p:spPr bwMode="auto">
          <a:xfrm>
            <a:off x="1847529"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1848972"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362875"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218537"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075787"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5" name="Rectangle 73"/>
          <p:cNvSpPr>
            <a:spLocks noChangeArrowheads="1"/>
          </p:cNvSpPr>
          <p:nvPr/>
        </p:nvSpPr>
        <p:spPr bwMode="auto">
          <a:xfrm>
            <a:off x="4931450"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6" name="Rectangle 74"/>
          <p:cNvSpPr>
            <a:spLocks noChangeArrowheads="1"/>
          </p:cNvSpPr>
          <p:nvPr/>
        </p:nvSpPr>
        <p:spPr bwMode="auto">
          <a:xfrm>
            <a:off x="5787112"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7" name="Text Box 69"/>
          <p:cNvSpPr txBox="1">
            <a:spLocks noChangeArrowheads="1"/>
          </p:cNvSpPr>
          <p:nvPr/>
        </p:nvSpPr>
        <p:spPr bwMode="auto">
          <a:xfrm>
            <a:off x="1848972"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362875"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218537"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075787"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1" name="Rectangle 73"/>
          <p:cNvSpPr>
            <a:spLocks noChangeArrowheads="1"/>
          </p:cNvSpPr>
          <p:nvPr/>
        </p:nvSpPr>
        <p:spPr bwMode="auto">
          <a:xfrm>
            <a:off x="4931450"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2" name="Rectangle 74"/>
          <p:cNvSpPr>
            <a:spLocks noChangeArrowheads="1"/>
          </p:cNvSpPr>
          <p:nvPr/>
        </p:nvSpPr>
        <p:spPr bwMode="auto">
          <a:xfrm>
            <a:off x="5787112"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3" name="Text Box 69"/>
          <p:cNvSpPr txBox="1">
            <a:spLocks noChangeArrowheads="1"/>
          </p:cNvSpPr>
          <p:nvPr/>
        </p:nvSpPr>
        <p:spPr bwMode="auto">
          <a:xfrm>
            <a:off x="1848972"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362875"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218537"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075787"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7" name="Rectangle 73"/>
          <p:cNvSpPr>
            <a:spLocks noChangeArrowheads="1"/>
          </p:cNvSpPr>
          <p:nvPr/>
        </p:nvSpPr>
        <p:spPr bwMode="auto">
          <a:xfrm>
            <a:off x="4931450"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8" name="Rectangle 74"/>
          <p:cNvSpPr>
            <a:spLocks noChangeArrowheads="1"/>
          </p:cNvSpPr>
          <p:nvPr/>
        </p:nvSpPr>
        <p:spPr bwMode="auto">
          <a:xfrm>
            <a:off x="5787112"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9" name="Text Box 69"/>
          <p:cNvSpPr txBox="1">
            <a:spLocks noChangeArrowheads="1"/>
          </p:cNvSpPr>
          <p:nvPr/>
        </p:nvSpPr>
        <p:spPr bwMode="auto">
          <a:xfrm>
            <a:off x="1848972"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1847528"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075787"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12" name="Rectangle 73"/>
          <p:cNvSpPr>
            <a:spLocks noChangeArrowheads="1"/>
          </p:cNvSpPr>
          <p:nvPr/>
        </p:nvSpPr>
        <p:spPr bwMode="auto">
          <a:xfrm>
            <a:off x="4931450"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5785669"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3825130"/>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8900746" y="3715022"/>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218537"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0.15 </a:t>
            </a:r>
          </a:p>
        </p:txBody>
      </p:sp>
      <p:sp>
        <p:nvSpPr>
          <p:cNvPr id="127" name="Rectangle 72"/>
          <p:cNvSpPr>
            <a:spLocks noChangeArrowheads="1"/>
          </p:cNvSpPr>
          <p:nvPr/>
        </p:nvSpPr>
        <p:spPr bwMode="auto">
          <a:xfrm>
            <a:off x="4074344"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28" name="Rectangle 73"/>
          <p:cNvSpPr>
            <a:spLocks noChangeArrowheads="1"/>
          </p:cNvSpPr>
          <p:nvPr/>
        </p:nvSpPr>
        <p:spPr bwMode="auto">
          <a:xfrm>
            <a:off x="4930007" y="596274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29" name="Rectangle 74"/>
          <p:cNvSpPr>
            <a:spLocks noChangeArrowheads="1"/>
          </p:cNvSpPr>
          <p:nvPr/>
        </p:nvSpPr>
        <p:spPr bwMode="auto">
          <a:xfrm>
            <a:off x="5785669"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cxnSp>
        <p:nvCxnSpPr>
          <p:cNvPr id="2" name="直接连接符 1">
            <a:extLst>
              <a:ext uri="{FF2B5EF4-FFF2-40B4-BE49-F238E27FC236}">
                <a16:creationId xmlns:a16="http://schemas.microsoft.com/office/drawing/2014/main" xmlns="" id="{B6B64CC9-F972-2592-BA7A-BDBFBCCCF6FE}"/>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93BCB321-8D4B-EEAB-F199-445461CE48A2}"/>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177052768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361432"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217094"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074344"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4930007"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5785669"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361432"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217094"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074344"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4930007"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5785669"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361432"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217094"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0.29</a:t>
            </a:r>
          </a:p>
        </p:txBody>
      </p:sp>
      <p:sp>
        <p:nvSpPr>
          <p:cNvPr id="19" name="Rectangle 17"/>
          <p:cNvSpPr>
            <a:spLocks noChangeArrowheads="1"/>
          </p:cNvSpPr>
          <p:nvPr/>
        </p:nvSpPr>
        <p:spPr bwMode="auto">
          <a:xfrm>
            <a:off x="4074344"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0" name="Rectangle 18"/>
          <p:cNvSpPr>
            <a:spLocks noChangeArrowheads="1"/>
          </p:cNvSpPr>
          <p:nvPr/>
        </p:nvSpPr>
        <p:spPr bwMode="auto">
          <a:xfrm>
            <a:off x="4930007"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5785669"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361432"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217094"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074344"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4930007"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5785669"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361432"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217094"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074344"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4930007"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5785669"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361432"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217094"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0.14</a:t>
            </a:r>
          </a:p>
        </p:txBody>
      </p:sp>
      <p:sp>
        <p:nvSpPr>
          <p:cNvPr id="35" name="Rectangle 32"/>
          <p:cNvSpPr>
            <a:spLocks noChangeArrowheads="1"/>
          </p:cNvSpPr>
          <p:nvPr/>
        </p:nvSpPr>
        <p:spPr bwMode="auto">
          <a:xfrm>
            <a:off x="4074344"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6" name="Rectangle 33"/>
          <p:cNvSpPr>
            <a:spLocks noChangeArrowheads="1"/>
          </p:cNvSpPr>
          <p:nvPr/>
        </p:nvSpPr>
        <p:spPr bwMode="auto">
          <a:xfrm>
            <a:off x="4930007"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5785669"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361432"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217094"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0.23</a:t>
            </a:r>
          </a:p>
        </p:txBody>
      </p:sp>
      <p:sp>
        <p:nvSpPr>
          <p:cNvPr id="40" name="Rectangle 37"/>
          <p:cNvSpPr>
            <a:spLocks noChangeArrowheads="1"/>
          </p:cNvSpPr>
          <p:nvPr/>
        </p:nvSpPr>
        <p:spPr bwMode="auto">
          <a:xfrm>
            <a:off x="4074344"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1" name="Rectangle 38"/>
          <p:cNvSpPr>
            <a:spLocks noChangeArrowheads="1"/>
          </p:cNvSpPr>
          <p:nvPr/>
        </p:nvSpPr>
        <p:spPr bwMode="auto">
          <a:xfrm>
            <a:off x="4930007"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5785669"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361432"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217094"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074344"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4930007"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5785669"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361432"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217094"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0.11</a:t>
            </a:r>
          </a:p>
        </p:txBody>
      </p:sp>
      <p:sp>
        <p:nvSpPr>
          <p:cNvPr id="50" name="Rectangle 47"/>
          <p:cNvSpPr>
            <a:spLocks noChangeArrowheads="1"/>
          </p:cNvSpPr>
          <p:nvPr/>
        </p:nvSpPr>
        <p:spPr bwMode="auto">
          <a:xfrm>
            <a:off x="4074344"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4930007"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5785669"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1991544"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1991544"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1991544"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1991544"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1991544"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1991544"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1991544"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1991544"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361432"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217094"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074344"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4930007"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5785669"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1991544"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361432"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217094"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0.08 </a:t>
            </a:r>
          </a:p>
        </p:txBody>
      </p:sp>
      <p:sp>
        <p:nvSpPr>
          <p:cNvPr id="76" name="Rectangle 72"/>
          <p:cNvSpPr>
            <a:spLocks noChangeArrowheads="1"/>
          </p:cNvSpPr>
          <p:nvPr/>
        </p:nvSpPr>
        <p:spPr bwMode="auto">
          <a:xfrm>
            <a:off x="4074344"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4930007"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5785669"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362875"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218537"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075787"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2" name="Rectangle 73"/>
          <p:cNvSpPr>
            <a:spLocks noChangeArrowheads="1"/>
          </p:cNvSpPr>
          <p:nvPr/>
        </p:nvSpPr>
        <p:spPr bwMode="auto">
          <a:xfrm>
            <a:off x="4931450"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5787112"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1847529"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1848972"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362875"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218537"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075787"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5" name="Rectangle 73"/>
          <p:cNvSpPr>
            <a:spLocks noChangeArrowheads="1"/>
          </p:cNvSpPr>
          <p:nvPr/>
        </p:nvSpPr>
        <p:spPr bwMode="auto">
          <a:xfrm>
            <a:off x="4931450"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6" name="Rectangle 74"/>
          <p:cNvSpPr>
            <a:spLocks noChangeArrowheads="1"/>
          </p:cNvSpPr>
          <p:nvPr/>
        </p:nvSpPr>
        <p:spPr bwMode="auto">
          <a:xfrm>
            <a:off x="5787112"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7" name="Text Box 69"/>
          <p:cNvSpPr txBox="1">
            <a:spLocks noChangeArrowheads="1"/>
          </p:cNvSpPr>
          <p:nvPr/>
        </p:nvSpPr>
        <p:spPr bwMode="auto">
          <a:xfrm>
            <a:off x="1848972"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362875"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218537"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075787"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1" name="Rectangle 73"/>
          <p:cNvSpPr>
            <a:spLocks noChangeArrowheads="1"/>
          </p:cNvSpPr>
          <p:nvPr/>
        </p:nvSpPr>
        <p:spPr bwMode="auto">
          <a:xfrm>
            <a:off x="4931450"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2" name="Rectangle 74"/>
          <p:cNvSpPr>
            <a:spLocks noChangeArrowheads="1"/>
          </p:cNvSpPr>
          <p:nvPr/>
        </p:nvSpPr>
        <p:spPr bwMode="auto">
          <a:xfrm>
            <a:off x="5787112"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3" name="Text Box 69"/>
          <p:cNvSpPr txBox="1">
            <a:spLocks noChangeArrowheads="1"/>
          </p:cNvSpPr>
          <p:nvPr/>
        </p:nvSpPr>
        <p:spPr bwMode="auto">
          <a:xfrm>
            <a:off x="1848972"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362875"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218537"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075787"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7" name="Rectangle 73"/>
          <p:cNvSpPr>
            <a:spLocks noChangeArrowheads="1"/>
          </p:cNvSpPr>
          <p:nvPr/>
        </p:nvSpPr>
        <p:spPr bwMode="auto">
          <a:xfrm>
            <a:off x="4931450"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8" name="Rectangle 74"/>
          <p:cNvSpPr>
            <a:spLocks noChangeArrowheads="1"/>
          </p:cNvSpPr>
          <p:nvPr/>
        </p:nvSpPr>
        <p:spPr bwMode="auto">
          <a:xfrm>
            <a:off x="5787112"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9" name="Text Box 69"/>
          <p:cNvSpPr txBox="1">
            <a:spLocks noChangeArrowheads="1"/>
          </p:cNvSpPr>
          <p:nvPr/>
        </p:nvSpPr>
        <p:spPr bwMode="auto">
          <a:xfrm>
            <a:off x="1848972"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1847528"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075787"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12" name="Rectangle 73"/>
          <p:cNvSpPr>
            <a:spLocks noChangeArrowheads="1"/>
          </p:cNvSpPr>
          <p:nvPr/>
        </p:nvSpPr>
        <p:spPr bwMode="auto">
          <a:xfrm>
            <a:off x="4931450"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5785669"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3825130"/>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8900746" y="3715022"/>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218537"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0.15 </a:t>
            </a:r>
          </a:p>
        </p:txBody>
      </p:sp>
      <p:grpSp>
        <p:nvGrpSpPr>
          <p:cNvPr id="127" name="Group 112"/>
          <p:cNvGrpSpPr>
            <a:grpSpLocks/>
          </p:cNvGrpSpPr>
          <p:nvPr/>
        </p:nvGrpSpPr>
        <p:grpSpPr bwMode="auto">
          <a:xfrm>
            <a:off x="7734300" y="3153568"/>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218537"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0.19 </a:t>
            </a:r>
          </a:p>
        </p:txBody>
      </p:sp>
      <p:sp>
        <p:nvSpPr>
          <p:cNvPr id="133" name="Rectangle 72"/>
          <p:cNvSpPr>
            <a:spLocks noChangeArrowheads="1"/>
          </p:cNvSpPr>
          <p:nvPr/>
        </p:nvSpPr>
        <p:spPr bwMode="auto">
          <a:xfrm>
            <a:off x="4074344"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34" name="Rectangle 73"/>
          <p:cNvSpPr>
            <a:spLocks noChangeArrowheads="1"/>
          </p:cNvSpPr>
          <p:nvPr/>
        </p:nvSpPr>
        <p:spPr bwMode="auto">
          <a:xfrm>
            <a:off x="4930007" y="596274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35" name="Rectangle 74"/>
          <p:cNvSpPr>
            <a:spLocks noChangeArrowheads="1"/>
          </p:cNvSpPr>
          <p:nvPr/>
        </p:nvSpPr>
        <p:spPr bwMode="auto">
          <a:xfrm>
            <a:off x="5785669"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cxnSp>
        <p:nvCxnSpPr>
          <p:cNvPr id="2" name="直接连接符 1">
            <a:extLst>
              <a:ext uri="{FF2B5EF4-FFF2-40B4-BE49-F238E27FC236}">
                <a16:creationId xmlns:a16="http://schemas.microsoft.com/office/drawing/2014/main" xmlns="" id="{D69254BF-3E87-9FEA-32EC-8B18BD9A0434}"/>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B474B38C-ACD3-2FA6-D25D-115B4C1A336A}"/>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149587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wipe(up)">
                                      <p:cBhvr>
                                        <p:cTn id="7"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361432"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217094"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074344"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4930007"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5785669"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361432"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217094"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074344"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4930007"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5785669"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361432"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217094"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0.29</a:t>
            </a:r>
          </a:p>
        </p:txBody>
      </p:sp>
      <p:sp>
        <p:nvSpPr>
          <p:cNvPr id="19" name="Rectangle 17"/>
          <p:cNvSpPr>
            <a:spLocks noChangeArrowheads="1"/>
          </p:cNvSpPr>
          <p:nvPr/>
        </p:nvSpPr>
        <p:spPr bwMode="auto">
          <a:xfrm>
            <a:off x="4074344"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0" name="Rectangle 18"/>
          <p:cNvSpPr>
            <a:spLocks noChangeArrowheads="1"/>
          </p:cNvSpPr>
          <p:nvPr/>
        </p:nvSpPr>
        <p:spPr bwMode="auto">
          <a:xfrm>
            <a:off x="4930007"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5785669"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361432"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217094"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074344"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4930007"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5785669"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361432"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217094"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074344"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4930007"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5785669"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361432"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217094"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0.14</a:t>
            </a:r>
          </a:p>
        </p:txBody>
      </p:sp>
      <p:sp>
        <p:nvSpPr>
          <p:cNvPr id="35" name="Rectangle 32"/>
          <p:cNvSpPr>
            <a:spLocks noChangeArrowheads="1"/>
          </p:cNvSpPr>
          <p:nvPr/>
        </p:nvSpPr>
        <p:spPr bwMode="auto">
          <a:xfrm>
            <a:off x="4074344"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36" name="Rectangle 33"/>
          <p:cNvSpPr>
            <a:spLocks noChangeArrowheads="1"/>
          </p:cNvSpPr>
          <p:nvPr/>
        </p:nvSpPr>
        <p:spPr bwMode="auto">
          <a:xfrm>
            <a:off x="4930007"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5785669"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361432"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217094"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0.23</a:t>
            </a:r>
          </a:p>
        </p:txBody>
      </p:sp>
      <p:sp>
        <p:nvSpPr>
          <p:cNvPr id="40" name="Rectangle 37"/>
          <p:cNvSpPr>
            <a:spLocks noChangeArrowheads="1"/>
          </p:cNvSpPr>
          <p:nvPr/>
        </p:nvSpPr>
        <p:spPr bwMode="auto">
          <a:xfrm>
            <a:off x="4074344"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1" name="Rectangle 38"/>
          <p:cNvSpPr>
            <a:spLocks noChangeArrowheads="1"/>
          </p:cNvSpPr>
          <p:nvPr/>
        </p:nvSpPr>
        <p:spPr bwMode="auto">
          <a:xfrm>
            <a:off x="4930007"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5785669"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361432"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217094"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074344"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4930007"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5785669"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361432"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217094"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0.11</a:t>
            </a:r>
          </a:p>
        </p:txBody>
      </p:sp>
      <p:sp>
        <p:nvSpPr>
          <p:cNvPr id="50" name="Rectangle 47"/>
          <p:cNvSpPr>
            <a:spLocks noChangeArrowheads="1"/>
          </p:cNvSpPr>
          <p:nvPr/>
        </p:nvSpPr>
        <p:spPr bwMode="auto">
          <a:xfrm>
            <a:off x="4074344"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4930007"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5785669"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1991544"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1991544"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1991544"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1991544"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1991544"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1991544"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1991544"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1991544"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361432"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217094"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074344"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4930007"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5785669"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1991544"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361432"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217094"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0.08 </a:t>
            </a:r>
          </a:p>
        </p:txBody>
      </p:sp>
      <p:sp>
        <p:nvSpPr>
          <p:cNvPr id="76" name="Rectangle 72"/>
          <p:cNvSpPr>
            <a:spLocks noChangeArrowheads="1"/>
          </p:cNvSpPr>
          <p:nvPr/>
        </p:nvSpPr>
        <p:spPr bwMode="auto">
          <a:xfrm>
            <a:off x="4074344"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4930007"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5785669"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362875"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218537"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075787"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82" name="Rectangle 73"/>
          <p:cNvSpPr>
            <a:spLocks noChangeArrowheads="1"/>
          </p:cNvSpPr>
          <p:nvPr/>
        </p:nvSpPr>
        <p:spPr bwMode="auto">
          <a:xfrm>
            <a:off x="4931450"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5787112"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1847529"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1848972"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362875"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218537"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075787"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5" name="Rectangle 73"/>
          <p:cNvSpPr>
            <a:spLocks noChangeArrowheads="1"/>
          </p:cNvSpPr>
          <p:nvPr/>
        </p:nvSpPr>
        <p:spPr bwMode="auto">
          <a:xfrm>
            <a:off x="4931450"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5</a:t>
            </a:r>
          </a:p>
        </p:txBody>
      </p:sp>
      <p:sp>
        <p:nvSpPr>
          <p:cNvPr id="96" name="Rectangle 74"/>
          <p:cNvSpPr>
            <a:spLocks noChangeArrowheads="1"/>
          </p:cNvSpPr>
          <p:nvPr/>
        </p:nvSpPr>
        <p:spPr bwMode="auto">
          <a:xfrm>
            <a:off x="5787112"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97" name="Text Box 69"/>
          <p:cNvSpPr txBox="1">
            <a:spLocks noChangeArrowheads="1"/>
          </p:cNvSpPr>
          <p:nvPr/>
        </p:nvSpPr>
        <p:spPr bwMode="auto">
          <a:xfrm>
            <a:off x="1848972"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362875"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218537"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075787"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1" name="Rectangle 73"/>
          <p:cNvSpPr>
            <a:spLocks noChangeArrowheads="1"/>
          </p:cNvSpPr>
          <p:nvPr/>
        </p:nvSpPr>
        <p:spPr bwMode="auto">
          <a:xfrm>
            <a:off x="4931450"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2" name="Rectangle 74"/>
          <p:cNvSpPr>
            <a:spLocks noChangeArrowheads="1"/>
          </p:cNvSpPr>
          <p:nvPr/>
        </p:nvSpPr>
        <p:spPr bwMode="auto">
          <a:xfrm>
            <a:off x="5787112"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3" name="Text Box 69"/>
          <p:cNvSpPr txBox="1">
            <a:spLocks noChangeArrowheads="1"/>
          </p:cNvSpPr>
          <p:nvPr/>
        </p:nvSpPr>
        <p:spPr bwMode="auto">
          <a:xfrm>
            <a:off x="1848972"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362875"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218537"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075787"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07" name="Rectangle 73"/>
          <p:cNvSpPr>
            <a:spLocks noChangeArrowheads="1"/>
          </p:cNvSpPr>
          <p:nvPr/>
        </p:nvSpPr>
        <p:spPr bwMode="auto">
          <a:xfrm>
            <a:off x="4931450"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8" name="Rectangle 74"/>
          <p:cNvSpPr>
            <a:spLocks noChangeArrowheads="1"/>
          </p:cNvSpPr>
          <p:nvPr/>
        </p:nvSpPr>
        <p:spPr bwMode="auto">
          <a:xfrm>
            <a:off x="5787112"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9" name="Text Box 69"/>
          <p:cNvSpPr txBox="1">
            <a:spLocks noChangeArrowheads="1"/>
          </p:cNvSpPr>
          <p:nvPr/>
        </p:nvSpPr>
        <p:spPr bwMode="auto">
          <a:xfrm>
            <a:off x="1848972"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1847528"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075787"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12" name="Rectangle 73"/>
          <p:cNvSpPr>
            <a:spLocks noChangeArrowheads="1"/>
          </p:cNvSpPr>
          <p:nvPr/>
        </p:nvSpPr>
        <p:spPr bwMode="auto">
          <a:xfrm>
            <a:off x="4931450"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5785669"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3825130"/>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9434146" y="3820427"/>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218537"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0.15 </a:t>
            </a:r>
          </a:p>
        </p:txBody>
      </p:sp>
      <p:grpSp>
        <p:nvGrpSpPr>
          <p:cNvPr id="127" name="Group 112"/>
          <p:cNvGrpSpPr>
            <a:grpSpLocks/>
          </p:cNvGrpSpPr>
          <p:nvPr/>
        </p:nvGrpSpPr>
        <p:grpSpPr bwMode="auto">
          <a:xfrm>
            <a:off x="7734300" y="3153568"/>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218537"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0.19 </a:t>
            </a:r>
          </a:p>
        </p:txBody>
      </p:sp>
      <p:sp>
        <p:nvSpPr>
          <p:cNvPr id="133" name="Rectangle 71"/>
          <p:cNvSpPr>
            <a:spLocks noChangeArrowheads="1"/>
          </p:cNvSpPr>
          <p:nvPr/>
        </p:nvSpPr>
        <p:spPr bwMode="auto">
          <a:xfrm>
            <a:off x="3218537" y="5034527"/>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0.29 </a:t>
            </a:r>
          </a:p>
        </p:txBody>
      </p:sp>
      <p:sp>
        <p:nvSpPr>
          <p:cNvPr id="134" name="Oval 98"/>
          <p:cNvSpPr>
            <a:spLocks noChangeArrowheads="1"/>
          </p:cNvSpPr>
          <p:nvPr/>
        </p:nvSpPr>
        <p:spPr bwMode="auto">
          <a:xfrm>
            <a:off x="9091246" y="383936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135" name="Oval 99"/>
          <p:cNvSpPr>
            <a:spLocks noChangeArrowheads="1"/>
          </p:cNvSpPr>
          <p:nvPr/>
        </p:nvSpPr>
        <p:spPr bwMode="auto">
          <a:xfrm>
            <a:off x="9472246" y="315356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136" name="Line 100"/>
          <p:cNvSpPr>
            <a:spLocks noChangeShapeType="1"/>
          </p:cNvSpPr>
          <p:nvPr/>
        </p:nvSpPr>
        <p:spPr bwMode="auto">
          <a:xfrm flipH="1">
            <a:off x="9243646" y="353456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1"/>
          <p:cNvSpPr>
            <a:spLocks noChangeShapeType="1"/>
          </p:cNvSpPr>
          <p:nvPr/>
        </p:nvSpPr>
        <p:spPr bwMode="auto">
          <a:xfrm>
            <a:off x="9671538" y="3537843"/>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Rectangle 72"/>
          <p:cNvSpPr>
            <a:spLocks noChangeArrowheads="1"/>
          </p:cNvSpPr>
          <p:nvPr/>
        </p:nvSpPr>
        <p:spPr bwMode="auto">
          <a:xfrm>
            <a:off x="4074344"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39" name="Rectangle 73"/>
          <p:cNvSpPr>
            <a:spLocks noChangeArrowheads="1"/>
          </p:cNvSpPr>
          <p:nvPr/>
        </p:nvSpPr>
        <p:spPr bwMode="auto">
          <a:xfrm>
            <a:off x="4930007" y="596274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40" name="Rectangle 74"/>
          <p:cNvSpPr>
            <a:spLocks noChangeArrowheads="1"/>
          </p:cNvSpPr>
          <p:nvPr/>
        </p:nvSpPr>
        <p:spPr bwMode="auto">
          <a:xfrm>
            <a:off x="5785669"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cxnSp>
        <p:nvCxnSpPr>
          <p:cNvPr id="2" name="直接连接符 1">
            <a:extLst>
              <a:ext uri="{FF2B5EF4-FFF2-40B4-BE49-F238E27FC236}">
                <a16:creationId xmlns:a16="http://schemas.microsoft.com/office/drawing/2014/main" xmlns="" id="{AD6AAE48-C7BC-AF6A-84C8-C455557DABE2}"/>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C24528D7-485A-8210-0ACE-F59825B83FDA}"/>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334311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wipe(up)">
                                      <p:cBhvr>
                                        <p:cTn id="7" dur="500"/>
                                        <p:tgtEl>
                                          <p:spTgt spid="1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wipe(up)">
                                      <p:cBhvr>
                                        <p:cTn id="12" dur="500"/>
                                        <p:tgtEl>
                                          <p:spTgt spid="134"/>
                                        </p:tgtEl>
                                      </p:cBhvr>
                                    </p:animEffect>
                                  </p:childTnLst>
                                </p:cTn>
                              </p:par>
                            </p:childTnLst>
                          </p:cTn>
                        </p:par>
                        <p:par>
                          <p:cTn id="13" fill="hold">
                            <p:stCondLst>
                              <p:cond delay="500"/>
                            </p:stCondLst>
                            <p:childTnLst>
                              <p:par>
                                <p:cTn id="14" presetID="22" presetClass="entr" presetSubtype="4" fill="hold" grpId="0" nodeType="afterEffect">
                                  <p:stCondLst>
                                    <p:cond delay="2000"/>
                                  </p:stCondLst>
                                  <p:childTnLst>
                                    <p:set>
                                      <p:cBhvr>
                                        <p:cTn id="15" dur="1" fill="hold">
                                          <p:stCondLst>
                                            <p:cond delay="0"/>
                                          </p:stCondLst>
                                        </p:cTn>
                                        <p:tgtEl>
                                          <p:spTgt spid="136"/>
                                        </p:tgtEl>
                                        <p:attrNameLst>
                                          <p:attrName>style.visibility</p:attrName>
                                        </p:attrNameLst>
                                      </p:cBhvr>
                                      <p:to>
                                        <p:strVal val="visible"/>
                                      </p:to>
                                    </p:set>
                                    <p:animEffect transition="in" filter="wipe(down)">
                                      <p:cBhvr>
                                        <p:cTn id="16" dur="500"/>
                                        <p:tgtEl>
                                          <p:spTgt spid="136"/>
                                        </p:tgtEl>
                                      </p:cBhvr>
                                    </p:animEffect>
                                  </p:childTnLst>
                                </p:cTn>
                              </p:par>
                            </p:childTnLst>
                          </p:cTn>
                        </p:par>
                        <p:par>
                          <p:cTn id="17" fill="hold">
                            <p:stCondLst>
                              <p:cond delay="3000"/>
                            </p:stCondLst>
                            <p:childTnLst>
                              <p:par>
                                <p:cTn id="18" presetID="22" presetClass="entr" presetSubtype="1" fill="hold" grpId="0" nodeType="afterEffect">
                                  <p:stCondLst>
                                    <p:cond delay="2000"/>
                                  </p:stCondLst>
                                  <p:childTnLst>
                                    <p:set>
                                      <p:cBhvr>
                                        <p:cTn id="19" dur="1" fill="hold">
                                          <p:stCondLst>
                                            <p:cond delay="0"/>
                                          </p:stCondLst>
                                        </p:cTn>
                                        <p:tgtEl>
                                          <p:spTgt spid="135"/>
                                        </p:tgtEl>
                                        <p:attrNameLst>
                                          <p:attrName>style.visibility</p:attrName>
                                        </p:attrNameLst>
                                      </p:cBhvr>
                                      <p:to>
                                        <p:strVal val="visible"/>
                                      </p:to>
                                    </p:set>
                                    <p:animEffect transition="in" filter="wipe(up)">
                                      <p:cBhvr>
                                        <p:cTn id="20" dur="500"/>
                                        <p:tgtEl>
                                          <p:spTgt spid="135"/>
                                        </p:tgtEl>
                                      </p:cBhvr>
                                    </p:animEffect>
                                  </p:childTnLst>
                                </p:cTn>
                              </p:par>
                            </p:childTnLst>
                          </p:cTn>
                        </p:par>
                        <p:par>
                          <p:cTn id="21" fill="hold">
                            <p:stCondLst>
                              <p:cond delay="5500"/>
                            </p:stCondLst>
                            <p:childTnLst>
                              <p:par>
                                <p:cTn id="22" presetID="22" presetClass="entr" presetSubtype="4" fill="hold" grpId="0" nodeType="afterEffect">
                                  <p:stCondLst>
                                    <p:cond delay="2000"/>
                                  </p:stCondLst>
                                  <p:childTnLst>
                                    <p:set>
                                      <p:cBhvr>
                                        <p:cTn id="23" dur="1" fill="hold">
                                          <p:stCondLst>
                                            <p:cond delay="0"/>
                                          </p:stCondLst>
                                        </p:cTn>
                                        <p:tgtEl>
                                          <p:spTgt spid="137"/>
                                        </p:tgtEl>
                                        <p:attrNameLst>
                                          <p:attrName>style.visibility</p:attrName>
                                        </p:attrNameLst>
                                      </p:cBhvr>
                                      <p:to>
                                        <p:strVal val="visible"/>
                                      </p:to>
                                    </p:set>
                                    <p:animEffect transition="in" filter="wipe(down)">
                                      <p:cBhvr>
                                        <p:cTn id="24"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autoUpdateAnimBg="0"/>
      <p:bldP spid="135" grpId="0" animBg="1" autoUpdateAnimBg="0"/>
      <p:bldP spid="136" grpId="0" animBg="1"/>
      <p:bldP spid="137"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361432"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217094"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074344"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4930007"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5785669"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361432"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217094"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074344"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4930007"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5785669"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361432"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217094"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0.29</a:t>
            </a:r>
          </a:p>
        </p:txBody>
      </p:sp>
      <p:sp>
        <p:nvSpPr>
          <p:cNvPr id="19" name="Rectangle 17"/>
          <p:cNvSpPr>
            <a:spLocks noChangeArrowheads="1"/>
          </p:cNvSpPr>
          <p:nvPr/>
        </p:nvSpPr>
        <p:spPr bwMode="auto">
          <a:xfrm>
            <a:off x="4074344"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20" name="Rectangle 18"/>
          <p:cNvSpPr>
            <a:spLocks noChangeArrowheads="1"/>
          </p:cNvSpPr>
          <p:nvPr/>
        </p:nvSpPr>
        <p:spPr bwMode="auto">
          <a:xfrm>
            <a:off x="4930007"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5785669"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361432"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217094"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074344"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4930007"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5785669"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361432"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217094"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074344"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4930007"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5785669"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361432"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217094"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0.14</a:t>
            </a:r>
          </a:p>
        </p:txBody>
      </p:sp>
      <p:sp>
        <p:nvSpPr>
          <p:cNvPr id="35" name="Rectangle 32"/>
          <p:cNvSpPr>
            <a:spLocks noChangeArrowheads="1"/>
          </p:cNvSpPr>
          <p:nvPr/>
        </p:nvSpPr>
        <p:spPr bwMode="auto">
          <a:xfrm>
            <a:off x="4074344"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36" name="Rectangle 33"/>
          <p:cNvSpPr>
            <a:spLocks noChangeArrowheads="1"/>
          </p:cNvSpPr>
          <p:nvPr/>
        </p:nvSpPr>
        <p:spPr bwMode="auto">
          <a:xfrm>
            <a:off x="4930007"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5785669"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361432"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217094"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0.23</a:t>
            </a:r>
          </a:p>
        </p:txBody>
      </p:sp>
      <p:sp>
        <p:nvSpPr>
          <p:cNvPr id="40" name="Rectangle 37"/>
          <p:cNvSpPr>
            <a:spLocks noChangeArrowheads="1"/>
          </p:cNvSpPr>
          <p:nvPr/>
        </p:nvSpPr>
        <p:spPr bwMode="auto">
          <a:xfrm>
            <a:off x="4074344"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41" name="Rectangle 38"/>
          <p:cNvSpPr>
            <a:spLocks noChangeArrowheads="1"/>
          </p:cNvSpPr>
          <p:nvPr/>
        </p:nvSpPr>
        <p:spPr bwMode="auto">
          <a:xfrm>
            <a:off x="4930007"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5785669"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361432"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217094"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074344"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4930007"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5785669"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361432"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217094"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0.11</a:t>
            </a:r>
          </a:p>
        </p:txBody>
      </p:sp>
      <p:sp>
        <p:nvSpPr>
          <p:cNvPr id="50" name="Rectangle 47"/>
          <p:cNvSpPr>
            <a:spLocks noChangeArrowheads="1"/>
          </p:cNvSpPr>
          <p:nvPr/>
        </p:nvSpPr>
        <p:spPr bwMode="auto">
          <a:xfrm>
            <a:off x="4074344"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4930007"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5785669"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1991544"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1991544"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1991544"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1991544"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1991544"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1991544"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1991544"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1991544"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361432"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217094"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074344"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4930007"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5785669"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1991544"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361432"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217094"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0.08 </a:t>
            </a:r>
          </a:p>
        </p:txBody>
      </p:sp>
      <p:sp>
        <p:nvSpPr>
          <p:cNvPr id="76" name="Rectangle 72"/>
          <p:cNvSpPr>
            <a:spLocks noChangeArrowheads="1"/>
          </p:cNvSpPr>
          <p:nvPr/>
        </p:nvSpPr>
        <p:spPr bwMode="auto">
          <a:xfrm>
            <a:off x="4074344"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4930007"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5785669"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362875"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218537"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075787"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82" name="Rectangle 73"/>
          <p:cNvSpPr>
            <a:spLocks noChangeArrowheads="1"/>
          </p:cNvSpPr>
          <p:nvPr/>
        </p:nvSpPr>
        <p:spPr bwMode="auto">
          <a:xfrm>
            <a:off x="4931450"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5787112"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1847529"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1848972"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362875"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218537"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075787"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95" name="Rectangle 73"/>
          <p:cNvSpPr>
            <a:spLocks noChangeArrowheads="1"/>
          </p:cNvSpPr>
          <p:nvPr/>
        </p:nvSpPr>
        <p:spPr bwMode="auto">
          <a:xfrm>
            <a:off x="4931450"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5</a:t>
            </a:r>
          </a:p>
        </p:txBody>
      </p:sp>
      <p:sp>
        <p:nvSpPr>
          <p:cNvPr id="96" name="Rectangle 74"/>
          <p:cNvSpPr>
            <a:spLocks noChangeArrowheads="1"/>
          </p:cNvSpPr>
          <p:nvPr/>
        </p:nvSpPr>
        <p:spPr bwMode="auto">
          <a:xfrm>
            <a:off x="5787112"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97" name="Text Box 69"/>
          <p:cNvSpPr txBox="1">
            <a:spLocks noChangeArrowheads="1"/>
          </p:cNvSpPr>
          <p:nvPr/>
        </p:nvSpPr>
        <p:spPr bwMode="auto">
          <a:xfrm>
            <a:off x="1848972"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362875"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218537"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075787"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1" name="Rectangle 73"/>
          <p:cNvSpPr>
            <a:spLocks noChangeArrowheads="1"/>
          </p:cNvSpPr>
          <p:nvPr/>
        </p:nvSpPr>
        <p:spPr bwMode="auto">
          <a:xfrm>
            <a:off x="4931450"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102" name="Rectangle 74"/>
          <p:cNvSpPr>
            <a:spLocks noChangeArrowheads="1"/>
          </p:cNvSpPr>
          <p:nvPr/>
        </p:nvSpPr>
        <p:spPr bwMode="auto">
          <a:xfrm>
            <a:off x="5787112"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6</a:t>
            </a:r>
          </a:p>
        </p:txBody>
      </p:sp>
      <p:sp>
        <p:nvSpPr>
          <p:cNvPr id="103" name="Text Box 69"/>
          <p:cNvSpPr txBox="1">
            <a:spLocks noChangeArrowheads="1"/>
          </p:cNvSpPr>
          <p:nvPr/>
        </p:nvSpPr>
        <p:spPr bwMode="auto">
          <a:xfrm>
            <a:off x="1848972"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362875"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218537"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075787"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7" name="Rectangle 73"/>
          <p:cNvSpPr>
            <a:spLocks noChangeArrowheads="1"/>
          </p:cNvSpPr>
          <p:nvPr/>
        </p:nvSpPr>
        <p:spPr bwMode="auto">
          <a:xfrm>
            <a:off x="4931450"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8" name="Rectangle 74"/>
          <p:cNvSpPr>
            <a:spLocks noChangeArrowheads="1"/>
          </p:cNvSpPr>
          <p:nvPr/>
        </p:nvSpPr>
        <p:spPr bwMode="auto">
          <a:xfrm>
            <a:off x="5787112"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9" name="Text Box 69"/>
          <p:cNvSpPr txBox="1">
            <a:spLocks noChangeArrowheads="1"/>
          </p:cNvSpPr>
          <p:nvPr/>
        </p:nvSpPr>
        <p:spPr bwMode="auto">
          <a:xfrm>
            <a:off x="1848972"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1847528"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075787"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12" name="Rectangle 73"/>
          <p:cNvSpPr>
            <a:spLocks noChangeArrowheads="1"/>
          </p:cNvSpPr>
          <p:nvPr/>
        </p:nvSpPr>
        <p:spPr bwMode="auto">
          <a:xfrm>
            <a:off x="4931450"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5785669"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3825130"/>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9434146" y="3820427"/>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218537"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0.15 </a:t>
            </a:r>
          </a:p>
        </p:txBody>
      </p:sp>
      <p:grpSp>
        <p:nvGrpSpPr>
          <p:cNvPr id="127" name="Group 112"/>
          <p:cNvGrpSpPr>
            <a:grpSpLocks/>
          </p:cNvGrpSpPr>
          <p:nvPr/>
        </p:nvGrpSpPr>
        <p:grpSpPr bwMode="auto">
          <a:xfrm>
            <a:off x="7734300" y="3153568"/>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218537"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0.19 </a:t>
            </a:r>
          </a:p>
        </p:txBody>
      </p:sp>
      <p:sp>
        <p:nvSpPr>
          <p:cNvPr id="133" name="Rectangle 71"/>
          <p:cNvSpPr>
            <a:spLocks noChangeArrowheads="1"/>
          </p:cNvSpPr>
          <p:nvPr/>
        </p:nvSpPr>
        <p:spPr bwMode="auto">
          <a:xfrm>
            <a:off x="3218537" y="5034527"/>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0.29 </a:t>
            </a:r>
          </a:p>
        </p:txBody>
      </p:sp>
      <p:sp>
        <p:nvSpPr>
          <p:cNvPr id="134" name="Oval 98"/>
          <p:cNvSpPr>
            <a:spLocks noChangeArrowheads="1"/>
          </p:cNvSpPr>
          <p:nvPr/>
        </p:nvSpPr>
        <p:spPr bwMode="auto">
          <a:xfrm>
            <a:off x="9091246" y="383936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135" name="Oval 99"/>
          <p:cNvSpPr>
            <a:spLocks noChangeArrowheads="1"/>
          </p:cNvSpPr>
          <p:nvPr/>
        </p:nvSpPr>
        <p:spPr bwMode="auto">
          <a:xfrm>
            <a:off x="9472246" y="315356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136" name="Line 100"/>
          <p:cNvSpPr>
            <a:spLocks noChangeShapeType="1"/>
          </p:cNvSpPr>
          <p:nvPr/>
        </p:nvSpPr>
        <p:spPr bwMode="auto">
          <a:xfrm flipH="1">
            <a:off x="9243646" y="353456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1"/>
          <p:cNvSpPr>
            <a:spLocks noChangeShapeType="1"/>
          </p:cNvSpPr>
          <p:nvPr/>
        </p:nvSpPr>
        <p:spPr bwMode="auto">
          <a:xfrm>
            <a:off x="9671538" y="3537843"/>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Rectangle 71"/>
          <p:cNvSpPr>
            <a:spLocks noChangeArrowheads="1"/>
          </p:cNvSpPr>
          <p:nvPr/>
        </p:nvSpPr>
        <p:spPr bwMode="auto">
          <a:xfrm>
            <a:off x="3230442"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39" name="Rectangle 71"/>
          <p:cNvSpPr>
            <a:spLocks noChangeArrowheads="1"/>
          </p:cNvSpPr>
          <p:nvPr/>
        </p:nvSpPr>
        <p:spPr bwMode="auto">
          <a:xfrm>
            <a:off x="3230442" y="5337739"/>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0.42 </a:t>
            </a:r>
          </a:p>
        </p:txBody>
      </p:sp>
      <p:sp>
        <p:nvSpPr>
          <p:cNvPr id="140" name="Oval 96"/>
          <p:cNvSpPr>
            <a:spLocks noChangeArrowheads="1"/>
          </p:cNvSpPr>
          <p:nvPr/>
        </p:nvSpPr>
        <p:spPr bwMode="auto">
          <a:xfrm>
            <a:off x="8572500" y="3169047"/>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6</a:t>
            </a:r>
          </a:p>
        </p:txBody>
      </p:sp>
      <p:sp>
        <p:nvSpPr>
          <p:cNvPr id="141" name="Line 97"/>
          <p:cNvSpPr>
            <a:spLocks noChangeShapeType="1"/>
          </p:cNvSpPr>
          <p:nvPr/>
        </p:nvSpPr>
        <p:spPr bwMode="auto">
          <a:xfrm flipH="1">
            <a:off x="7962900" y="2864247"/>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 name="Line 98"/>
          <p:cNvSpPr>
            <a:spLocks noChangeShapeType="1"/>
          </p:cNvSpPr>
          <p:nvPr/>
        </p:nvSpPr>
        <p:spPr bwMode="auto">
          <a:xfrm>
            <a:off x="8496300" y="2864247"/>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3" name="Oval 99"/>
          <p:cNvSpPr>
            <a:spLocks noChangeArrowheads="1"/>
          </p:cNvSpPr>
          <p:nvPr/>
        </p:nvSpPr>
        <p:spPr bwMode="auto">
          <a:xfrm>
            <a:off x="8191500" y="2483247"/>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13</a:t>
            </a:r>
          </a:p>
        </p:txBody>
      </p:sp>
      <p:sp>
        <p:nvSpPr>
          <p:cNvPr id="144" name="Rectangle 72"/>
          <p:cNvSpPr>
            <a:spLocks noChangeArrowheads="1"/>
          </p:cNvSpPr>
          <p:nvPr/>
        </p:nvSpPr>
        <p:spPr bwMode="auto">
          <a:xfrm>
            <a:off x="4074344"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45" name="Rectangle 73"/>
          <p:cNvSpPr>
            <a:spLocks noChangeArrowheads="1"/>
          </p:cNvSpPr>
          <p:nvPr/>
        </p:nvSpPr>
        <p:spPr bwMode="auto">
          <a:xfrm>
            <a:off x="4930007" y="596274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46" name="Rectangle 74"/>
          <p:cNvSpPr>
            <a:spLocks noChangeArrowheads="1"/>
          </p:cNvSpPr>
          <p:nvPr/>
        </p:nvSpPr>
        <p:spPr bwMode="auto">
          <a:xfrm>
            <a:off x="5785669"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cxnSp>
        <p:nvCxnSpPr>
          <p:cNvPr id="2" name="直接连接符 1">
            <a:extLst>
              <a:ext uri="{FF2B5EF4-FFF2-40B4-BE49-F238E27FC236}">
                <a16:creationId xmlns:a16="http://schemas.microsoft.com/office/drawing/2014/main" xmlns="" id="{C31C0CCA-465B-858D-252D-99C47A2E9AD3}"/>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68DF78A4-F3CF-D2BD-D885-7A2920778973}"/>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630715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wipe(up)">
                                      <p:cBhvr>
                                        <p:cTn id="7" dur="500"/>
                                        <p:tgtEl>
                                          <p:spTgt spid="127"/>
                                        </p:tgtEl>
                                      </p:cBhvr>
                                    </p:animEffect>
                                  </p:childTnLst>
                                </p:cTn>
                              </p:par>
                            </p:childTnLst>
                          </p:cTn>
                        </p:par>
                        <p:par>
                          <p:cTn id="8" fill="hold">
                            <p:stCondLst>
                              <p:cond delay="500"/>
                            </p:stCondLst>
                            <p:childTnLst>
                              <p:par>
                                <p:cTn id="9" presetID="22" presetClass="entr" presetSubtype="1" fill="hold" grpId="0" nodeType="afterEffect">
                                  <p:stCondLst>
                                    <p:cond delay="1000"/>
                                  </p:stCondLst>
                                  <p:childTnLst>
                                    <p:set>
                                      <p:cBhvr>
                                        <p:cTn id="10" dur="1" fill="hold">
                                          <p:stCondLst>
                                            <p:cond delay="0"/>
                                          </p:stCondLst>
                                        </p:cTn>
                                        <p:tgtEl>
                                          <p:spTgt spid="140"/>
                                        </p:tgtEl>
                                        <p:attrNameLst>
                                          <p:attrName>style.visibility</p:attrName>
                                        </p:attrNameLst>
                                      </p:cBhvr>
                                      <p:to>
                                        <p:strVal val="visible"/>
                                      </p:to>
                                    </p:set>
                                    <p:animEffect transition="in" filter="wipe(up)">
                                      <p:cBhvr>
                                        <p:cTn id="11" dur="500"/>
                                        <p:tgtEl>
                                          <p:spTgt spid="140"/>
                                        </p:tgtEl>
                                      </p:cBhvr>
                                    </p:animEffect>
                                  </p:childTnLst>
                                </p:cTn>
                              </p:par>
                            </p:childTnLst>
                          </p:cTn>
                        </p:par>
                        <p:par>
                          <p:cTn id="12" fill="hold">
                            <p:stCondLst>
                              <p:cond delay="2000"/>
                            </p:stCondLst>
                            <p:childTnLst>
                              <p:par>
                                <p:cTn id="13" presetID="22" presetClass="entr" presetSubtype="4" fill="hold" grpId="0" nodeType="afterEffect">
                                  <p:stCondLst>
                                    <p:cond delay="2000"/>
                                  </p:stCondLst>
                                  <p:childTnLst>
                                    <p:set>
                                      <p:cBhvr>
                                        <p:cTn id="14" dur="1" fill="hold">
                                          <p:stCondLst>
                                            <p:cond delay="0"/>
                                          </p:stCondLst>
                                        </p:cTn>
                                        <p:tgtEl>
                                          <p:spTgt spid="141"/>
                                        </p:tgtEl>
                                        <p:attrNameLst>
                                          <p:attrName>style.visibility</p:attrName>
                                        </p:attrNameLst>
                                      </p:cBhvr>
                                      <p:to>
                                        <p:strVal val="visible"/>
                                      </p:to>
                                    </p:set>
                                    <p:animEffect transition="in" filter="wipe(down)">
                                      <p:cBhvr>
                                        <p:cTn id="15" dur="500"/>
                                        <p:tgtEl>
                                          <p:spTgt spid="141"/>
                                        </p:tgtEl>
                                      </p:cBhvr>
                                    </p:animEffect>
                                  </p:childTnLst>
                                </p:cTn>
                              </p:par>
                            </p:childTnLst>
                          </p:cTn>
                        </p:par>
                        <p:par>
                          <p:cTn id="16" fill="hold">
                            <p:stCondLst>
                              <p:cond delay="4500"/>
                            </p:stCondLst>
                            <p:childTnLst>
                              <p:par>
                                <p:cTn id="17" presetID="22" presetClass="entr" presetSubtype="4" fill="hold" grpId="0" nodeType="afterEffect">
                                  <p:stCondLst>
                                    <p:cond delay="2000"/>
                                  </p:stCondLst>
                                  <p:childTnLst>
                                    <p:set>
                                      <p:cBhvr>
                                        <p:cTn id="18" dur="1" fill="hold">
                                          <p:stCondLst>
                                            <p:cond delay="0"/>
                                          </p:stCondLst>
                                        </p:cTn>
                                        <p:tgtEl>
                                          <p:spTgt spid="142"/>
                                        </p:tgtEl>
                                        <p:attrNameLst>
                                          <p:attrName>style.visibility</p:attrName>
                                        </p:attrNameLst>
                                      </p:cBhvr>
                                      <p:to>
                                        <p:strVal val="visible"/>
                                      </p:to>
                                    </p:set>
                                    <p:animEffect transition="in" filter="wipe(down)">
                                      <p:cBhvr>
                                        <p:cTn id="19" dur="500"/>
                                        <p:tgtEl>
                                          <p:spTgt spid="142"/>
                                        </p:tgtEl>
                                      </p:cBhvr>
                                    </p:animEffect>
                                  </p:childTnLst>
                                </p:cTn>
                              </p:par>
                            </p:childTnLst>
                          </p:cTn>
                        </p:par>
                        <p:par>
                          <p:cTn id="20" fill="hold">
                            <p:stCondLst>
                              <p:cond delay="7000"/>
                            </p:stCondLst>
                            <p:childTnLst>
                              <p:par>
                                <p:cTn id="21" presetID="22" presetClass="entr" presetSubtype="1" fill="hold" grpId="0" nodeType="afterEffect">
                                  <p:stCondLst>
                                    <p:cond delay="2000"/>
                                  </p:stCondLst>
                                  <p:childTnLst>
                                    <p:set>
                                      <p:cBhvr>
                                        <p:cTn id="22" dur="1" fill="hold">
                                          <p:stCondLst>
                                            <p:cond delay="0"/>
                                          </p:stCondLst>
                                        </p:cTn>
                                        <p:tgtEl>
                                          <p:spTgt spid="143"/>
                                        </p:tgtEl>
                                        <p:attrNameLst>
                                          <p:attrName>style.visibility</p:attrName>
                                        </p:attrNameLst>
                                      </p:cBhvr>
                                      <p:to>
                                        <p:strVal val="visible"/>
                                      </p:to>
                                    </p:set>
                                    <p:animEffect transition="in" filter="wipe(up)">
                                      <p:cBhvr>
                                        <p:cTn id="23"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autoUpdateAnimBg="0"/>
      <p:bldP spid="141" grpId="0" animBg="1"/>
      <p:bldP spid="142" grpId="0" animBg="1"/>
      <p:bldP spid="143" grpId="0" animBg="1" autoUpdateAnimBg="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361432"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217094"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074344"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4930007"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5785669"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361432"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217094"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074344"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4930007"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5785669"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361432"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217094"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0.29</a:t>
            </a:r>
          </a:p>
        </p:txBody>
      </p:sp>
      <p:sp>
        <p:nvSpPr>
          <p:cNvPr id="19" name="Rectangle 17"/>
          <p:cNvSpPr>
            <a:spLocks noChangeArrowheads="1"/>
          </p:cNvSpPr>
          <p:nvPr/>
        </p:nvSpPr>
        <p:spPr bwMode="auto">
          <a:xfrm>
            <a:off x="4074344"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20" name="Rectangle 18"/>
          <p:cNvSpPr>
            <a:spLocks noChangeArrowheads="1"/>
          </p:cNvSpPr>
          <p:nvPr/>
        </p:nvSpPr>
        <p:spPr bwMode="auto">
          <a:xfrm>
            <a:off x="4930007"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5785669"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361432"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217094"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074344"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4930007"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5785669"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361432"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217094"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074344"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4930007"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5785669"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361432"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217094"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0.14</a:t>
            </a:r>
          </a:p>
        </p:txBody>
      </p:sp>
      <p:sp>
        <p:nvSpPr>
          <p:cNvPr id="35" name="Rectangle 32"/>
          <p:cNvSpPr>
            <a:spLocks noChangeArrowheads="1"/>
          </p:cNvSpPr>
          <p:nvPr/>
        </p:nvSpPr>
        <p:spPr bwMode="auto">
          <a:xfrm>
            <a:off x="4074344"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36" name="Rectangle 33"/>
          <p:cNvSpPr>
            <a:spLocks noChangeArrowheads="1"/>
          </p:cNvSpPr>
          <p:nvPr/>
        </p:nvSpPr>
        <p:spPr bwMode="auto">
          <a:xfrm>
            <a:off x="4930007"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5785669"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361432"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217094"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0.23</a:t>
            </a:r>
          </a:p>
        </p:txBody>
      </p:sp>
      <p:sp>
        <p:nvSpPr>
          <p:cNvPr id="40" name="Rectangle 37"/>
          <p:cNvSpPr>
            <a:spLocks noChangeArrowheads="1"/>
          </p:cNvSpPr>
          <p:nvPr/>
        </p:nvSpPr>
        <p:spPr bwMode="auto">
          <a:xfrm>
            <a:off x="4074344"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41" name="Rectangle 38"/>
          <p:cNvSpPr>
            <a:spLocks noChangeArrowheads="1"/>
          </p:cNvSpPr>
          <p:nvPr/>
        </p:nvSpPr>
        <p:spPr bwMode="auto">
          <a:xfrm>
            <a:off x="4930007"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5785669"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361432"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217094"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074344"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4930007"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5785669"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361432"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217094"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0.11</a:t>
            </a:r>
          </a:p>
        </p:txBody>
      </p:sp>
      <p:sp>
        <p:nvSpPr>
          <p:cNvPr id="50" name="Rectangle 47"/>
          <p:cNvSpPr>
            <a:spLocks noChangeArrowheads="1"/>
          </p:cNvSpPr>
          <p:nvPr/>
        </p:nvSpPr>
        <p:spPr bwMode="auto">
          <a:xfrm>
            <a:off x="4074344"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4930007"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5785669"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1991544"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1991544"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1991544"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1991544"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1991544"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1991544"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1991544"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1991544"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361432"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217094"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074344"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4930007"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5785669"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1991544"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361432"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217094"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0.08 </a:t>
            </a:r>
          </a:p>
        </p:txBody>
      </p:sp>
      <p:sp>
        <p:nvSpPr>
          <p:cNvPr id="76" name="Rectangle 72"/>
          <p:cNvSpPr>
            <a:spLocks noChangeArrowheads="1"/>
          </p:cNvSpPr>
          <p:nvPr/>
        </p:nvSpPr>
        <p:spPr bwMode="auto">
          <a:xfrm>
            <a:off x="4074344"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4930007"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5785669"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362875"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218537"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075787"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82" name="Rectangle 73"/>
          <p:cNvSpPr>
            <a:spLocks noChangeArrowheads="1"/>
          </p:cNvSpPr>
          <p:nvPr/>
        </p:nvSpPr>
        <p:spPr bwMode="auto">
          <a:xfrm>
            <a:off x="4931450"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5787112"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1847529"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1848972"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362875"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218537"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075787"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95" name="Rectangle 73"/>
          <p:cNvSpPr>
            <a:spLocks noChangeArrowheads="1"/>
          </p:cNvSpPr>
          <p:nvPr/>
        </p:nvSpPr>
        <p:spPr bwMode="auto">
          <a:xfrm>
            <a:off x="4931450"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5</a:t>
            </a:r>
          </a:p>
        </p:txBody>
      </p:sp>
      <p:sp>
        <p:nvSpPr>
          <p:cNvPr id="96" name="Rectangle 74"/>
          <p:cNvSpPr>
            <a:spLocks noChangeArrowheads="1"/>
          </p:cNvSpPr>
          <p:nvPr/>
        </p:nvSpPr>
        <p:spPr bwMode="auto">
          <a:xfrm>
            <a:off x="5787112"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97" name="Text Box 69"/>
          <p:cNvSpPr txBox="1">
            <a:spLocks noChangeArrowheads="1"/>
          </p:cNvSpPr>
          <p:nvPr/>
        </p:nvSpPr>
        <p:spPr bwMode="auto">
          <a:xfrm>
            <a:off x="1848972"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362875"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218537"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075787"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1" name="Rectangle 73"/>
          <p:cNvSpPr>
            <a:spLocks noChangeArrowheads="1"/>
          </p:cNvSpPr>
          <p:nvPr/>
        </p:nvSpPr>
        <p:spPr bwMode="auto">
          <a:xfrm>
            <a:off x="4931450"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102" name="Rectangle 74"/>
          <p:cNvSpPr>
            <a:spLocks noChangeArrowheads="1"/>
          </p:cNvSpPr>
          <p:nvPr/>
        </p:nvSpPr>
        <p:spPr bwMode="auto">
          <a:xfrm>
            <a:off x="5787112"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6</a:t>
            </a:r>
          </a:p>
        </p:txBody>
      </p:sp>
      <p:sp>
        <p:nvSpPr>
          <p:cNvPr id="103" name="Text Box 69"/>
          <p:cNvSpPr txBox="1">
            <a:spLocks noChangeArrowheads="1"/>
          </p:cNvSpPr>
          <p:nvPr/>
        </p:nvSpPr>
        <p:spPr bwMode="auto">
          <a:xfrm>
            <a:off x="1848972"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362875"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218537"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075787"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07" name="Rectangle 73"/>
          <p:cNvSpPr>
            <a:spLocks noChangeArrowheads="1"/>
          </p:cNvSpPr>
          <p:nvPr/>
        </p:nvSpPr>
        <p:spPr bwMode="auto">
          <a:xfrm>
            <a:off x="4931450"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08" name="Rectangle 74"/>
          <p:cNvSpPr>
            <a:spLocks noChangeArrowheads="1"/>
          </p:cNvSpPr>
          <p:nvPr/>
        </p:nvSpPr>
        <p:spPr bwMode="auto">
          <a:xfrm>
            <a:off x="5787112"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2</a:t>
            </a:r>
          </a:p>
        </p:txBody>
      </p:sp>
      <p:sp>
        <p:nvSpPr>
          <p:cNvPr id="109" name="Text Box 69"/>
          <p:cNvSpPr txBox="1">
            <a:spLocks noChangeArrowheads="1"/>
          </p:cNvSpPr>
          <p:nvPr/>
        </p:nvSpPr>
        <p:spPr bwMode="auto">
          <a:xfrm>
            <a:off x="1848972"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1847528"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075787"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12" name="Rectangle 73"/>
          <p:cNvSpPr>
            <a:spLocks noChangeArrowheads="1"/>
          </p:cNvSpPr>
          <p:nvPr/>
        </p:nvSpPr>
        <p:spPr bwMode="auto">
          <a:xfrm>
            <a:off x="4931450"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5785669"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3825130"/>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9434146" y="3820427"/>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218537"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0.15 </a:t>
            </a:r>
          </a:p>
        </p:txBody>
      </p:sp>
      <p:grpSp>
        <p:nvGrpSpPr>
          <p:cNvPr id="127" name="Group 112"/>
          <p:cNvGrpSpPr>
            <a:grpSpLocks/>
          </p:cNvGrpSpPr>
          <p:nvPr/>
        </p:nvGrpSpPr>
        <p:grpSpPr bwMode="auto">
          <a:xfrm>
            <a:off x="7734300" y="3153568"/>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218537"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0.19 </a:t>
            </a:r>
          </a:p>
        </p:txBody>
      </p:sp>
      <p:sp>
        <p:nvSpPr>
          <p:cNvPr id="133" name="Rectangle 71"/>
          <p:cNvSpPr>
            <a:spLocks noChangeArrowheads="1"/>
          </p:cNvSpPr>
          <p:nvPr/>
        </p:nvSpPr>
        <p:spPr bwMode="auto">
          <a:xfrm>
            <a:off x="3218537" y="5034527"/>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0.29 </a:t>
            </a:r>
          </a:p>
        </p:txBody>
      </p:sp>
      <p:sp>
        <p:nvSpPr>
          <p:cNvPr id="134" name="Oval 98"/>
          <p:cNvSpPr>
            <a:spLocks noChangeArrowheads="1"/>
          </p:cNvSpPr>
          <p:nvPr/>
        </p:nvSpPr>
        <p:spPr bwMode="auto">
          <a:xfrm>
            <a:off x="9091246" y="383936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135" name="Oval 99"/>
          <p:cNvSpPr>
            <a:spLocks noChangeArrowheads="1"/>
          </p:cNvSpPr>
          <p:nvPr/>
        </p:nvSpPr>
        <p:spPr bwMode="auto">
          <a:xfrm>
            <a:off x="9472246" y="315356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136" name="Line 100"/>
          <p:cNvSpPr>
            <a:spLocks noChangeShapeType="1"/>
          </p:cNvSpPr>
          <p:nvPr/>
        </p:nvSpPr>
        <p:spPr bwMode="auto">
          <a:xfrm flipH="1">
            <a:off x="9243646" y="353456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1"/>
          <p:cNvSpPr>
            <a:spLocks noChangeShapeType="1"/>
          </p:cNvSpPr>
          <p:nvPr/>
        </p:nvSpPr>
        <p:spPr bwMode="auto">
          <a:xfrm>
            <a:off x="9671538" y="3537843"/>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Rectangle 71"/>
          <p:cNvSpPr>
            <a:spLocks noChangeArrowheads="1"/>
          </p:cNvSpPr>
          <p:nvPr/>
        </p:nvSpPr>
        <p:spPr bwMode="auto">
          <a:xfrm>
            <a:off x="3230442"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39" name="Rectangle 71"/>
          <p:cNvSpPr>
            <a:spLocks noChangeArrowheads="1"/>
          </p:cNvSpPr>
          <p:nvPr/>
        </p:nvSpPr>
        <p:spPr bwMode="auto">
          <a:xfrm>
            <a:off x="3230442" y="5337739"/>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0.42 </a:t>
            </a:r>
          </a:p>
        </p:txBody>
      </p:sp>
      <p:sp>
        <p:nvSpPr>
          <p:cNvPr id="140" name="Oval 96"/>
          <p:cNvSpPr>
            <a:spLocks noChangeArrowheads="1"/>
          </p:cNvSpPr>
          <p:nvPr/>
        </p:nvSpPr>
        <p:spPr bwMode="auto">
          <a:xfrm>
            <a:off x="8572500" y="3169047"/>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6</a:t>
            </a:r>
          </a:p>
        </p:txBody>
      </p:sp>
      <p:sp>
        <p:nvSpPr>
          <p:cNvPr id="141" name="Line 97"/>
          <p:cNvSpPr>
            <a:spLocks noChangeShapeType="1"/>
          </p:cNvSpPr>
          <p:nvPr/>
        </p:nvSpPr>
        <p:spPr bwMode="auto">
          <a:xfrm flipH="1">
            <a:off x="7962900" y="2864247"/>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 name="Line 98"/>
          <p:cNvSpPr>
            <a:spLocks noChangeShapeType="1"/>
          </p:cNvSpPr>
          <p:nvPr/>
        </p:nvSpPr>
        <p:spPr bwMode="auto">
          <a:xfrm>
            <a:off x="8496300" y="2864247"/>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3" name="Oval 99"/>
          <p:cNvSpPr>
            <a:spLocks noChangeArrowheads="1"/>
          </p:cNvSpPr>
          <p:nvPr/>
        </p:nvSpPr>
        <p:spPr bwMode="auto">
          <a:xfrm>
            <a:off x="8191500" y="2483247"/>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13</a:t>
            </a:r>
          </a:p>
        </p:txBody>
      </p:sp>
      <p:sp>
        <p:nvSpPr>
          <p:cNvPr id="144" name="Rectangle 71"/>
          <p:cNvSpPr>
            <a:spLocks noChangeArrowheads="1"/>
          </p:cNvSpPr>
          <p:nvPr/>
        </p:nvSpPr>
        <p:spPr bwMode="auto">
          <a:xfrm>
            <a:off x="3218537"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0.58 </a:t>
            </a:r>
          </a:p>
        </p:txBody>
      </p:sp>
      <p:sp>
        <p:nvSpPr>
          <p:cNvPr id="145" name="Line 139"/>
          <p:cNvSpPr>
            <a:spLocks noChangeShapeType="1"/>
          </p:cNvSpPr>
          <p:nvPr/>
        </p:nvSpPr>
        <p:spPr bwMode="auto">
          <a:xfrm flipH="1">
            <a:off x="9548446" y="2864247"/>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 name="Line 140"/>
          <p:cNvSpPr>
            <a:spLocks noChangeShapeType="1"/>
          </p:cNvSpPr>
          <p:nvPr/>
        </p:nvSpPr>
        <p:spPr bwMode="auto">
          <a:xfrm>
            <a:off x="10081846" y="2864247"/>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 name="Oval 141"/>
          <p:cNvSpPr>
            <a:spLocks noChangeArrowheads="1"/>
          </p:cNvSpPr>
          <p:nvPr/>
        </p:nvSpPr>
        <p:spPr bwMode="auto">
          <a:xfrm>
            <a:off x="9777046" y="2483247"/>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14</a:t>
            </a:r>
          </a:p>
        </p:txBody>
      </p:sp>
      <p:sp>
        <p:nvSpPr>
          <p:cNvPr id="148" name="Oval 138"/>
          <p:cNvSpPr>
            <a:spLocks noChangeArrowheads="1"/>
          </p:cNvSpPr>
          <p:nvPr/>
        </p:nvSpPr>
        <p:spPr bwMode="auto">
          <a:xfrm>
            <a:off x="10200456" y="31940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2</a:t>
            </a:r>
          </a:p>
        </p:txBody>
      </p:sp>
      <p:sp>
        <p:nvSpPr>
          <p:cNvPr id="149" name="Rectangle 72"/>
          <p:cNvSpPr>
            <a:spLocks noChangeArrowheads="1"/>
          </p:cNvSpPr>
          <p:nvPr/>
        </p:nvSpPr>
        <p:spPr bwMode="auto">
          <a:xfrm>
            <a:off x="4074344"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50" name="Rectangle 73"/>
          <p:cNvSpPr>
            <a:spLocks noChangeArrowheads="1"/>
          </p:cNvSpPr>
          <p:nvPr/>
        </p:nvSpPr>
        <p:spPr bwMode="auto">
          <a:xfrm>
            <a:off x="4930007" y="596274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51" name="Rectangle 74"/>
          <p:cNvSpPr>
            <a:spLocks noChangeArrowheads="1"/>
          </p:cNvSpPr>
          <p:nvPr/>
        </p:nvSpPr>
        <p:spPr bwMode="auto">
          <a:xfrm>
            <a:off x="5785669" y="596274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cxnSp>
        <p:nvCxnSpPr>
          <p:cNvPr id="2" name="直接连接符 1">
            <a:extLst>
              <a:ext uri="{FF2B5EF4-FFF2-40B4-BE49-F238E27FC236}">
                <a16:creationId xmlns:a16="http://schemas.microsoft.com/office/drawing/2014/main" xmlns="" id="{A3E828FB-15B0-AD10-2AFB-DAA72B8A9704}"/>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6734FC31-8DC4-85F7-E31A-162B92D660FA}"/>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150953895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361432"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217094"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074344"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4930007"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5785669"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361432"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217094"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074344"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4930007"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5785669"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361432"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217094"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0.29</a:t>
            </a:r>
          </a:p>
        </p:txBody>
      </p:sp>
      <p:sp>
        <p:nvSpPr>
          <p:cNvPr id="19" name="Rectangle 17"/>
          <p:cNvSpPr>
            <a:spLocks noChangeArrowheads="1"/>
          </p:cNvSpPr>
          <p:nvPr/>
        </p:nvSpPr>
        <p:spPr bwMode="auto">
          <a:xfrm>
            <a:off x="4074344"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20" name="Rectangle 18"/>
          <p:cNvSpPr>
            <a:spLocks noChangeArrowheads="1"/>
          </p:cNvSpPr>
          <p:nvPr/>
        </p:nvSpPr>
        <p:spPr bwMode="auto">
          <a:xfrm>
            <a:off x="4930007"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5785669"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361432"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217094"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074344"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4930007"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5785669"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361432"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217094"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074344"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4930007"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5785669"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361432"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217094"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0.14</a:t>
            </a:r>
          </a:p>
        </p:txBody>
      </p:sp>
      <p:sp>
        <p:nvSpPr>
          <p:cNvPr id="35" name="Rectangle 32"/>
          <p:cNvSpPr>
            <a:spLocks noChangeArrowheads="1"/>
          </p:cNvSpPr>
          <p:nvPr/>
        </p:nvSpPr>
        <p:spPr bwMode="auto">
          <a:xfrm>
            <a:off x="4074344"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36" name="Rectangle 33"/>
          <p:cNvSpPr>
            <a:spLocks noChangeArrowheads="1"/>
          </p:cNvSpPr>
          <p:nvPr/>
        </p:nvSpPr>
        <p:spPr bwMode="auto">
          <a:xfrm>
            <a:off x="4930007"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5785669"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361432"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217094"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0.23</a:t>
            </a:r>
          </a:p>
        </p:txBody>
      </p:sp>
      <p:sp>
        <p:nvSpPr>
          <p:cNvPr id="40" name="Rectangle 37"/>
          <p:cNvSpPr>
            <a:spLocks noChangeArrowheads="1"/>
          </p:cNvSpPr>
          <p:nvPr/>
        </p:nvSpPr>
        <p:spPr bwMode="auto">
          <a:xfrm>
            <a:off x="4074344"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41" name="Rectangle 38"/>
          <p:cNvSpPr>
            <a:spLocks noChangeArrowheads="1"/>
          </p:cNvSpPr>
          <p:nvPr/>
        </p:nvSpPr>
        <p:spPr bwMode="auto">
          <a:xfrm>
            <a:off x="4930007"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5785669"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361432"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217094"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074344"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4930007"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5785669"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361432"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217094"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0.11</a:t>
            </a:r>
          </a:p>
        </p:txBody>
      </p:sp>
      <p:sp>
        <p:nvSpPr>
          <p:cNvPr id="50" name="Rectangle 47"/>
          <p:cNvSpPr>
            <a:spLocks noChangeArrowheads="1"/>
          </p:cNvSpPr>
          <p:nvPr/>
        </p:nvSpPr>
        <p:spPr bwMode="auto">
          <a:xfrm>
            <a:off x="4074344"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4930007"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5785669"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1991544"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1991544"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1991544"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1991544"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1991544"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1991544"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1991544"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1991544"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361432"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217094"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074344"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4930007"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5785669"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1991544"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361432"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217094"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0.08 </a:t>
            </a:r>
          </a:p>
        </p:txBody>
      </p:sp>
      <p:sp>
        <p:nvSpPr>
          <p:cNvPr id="76" name="Rectangle 72"/>
          <p:cNvSpPr>
            <a:spLocks noChangeArrowheads="1"/>
          </p:cNvSpPr>
          <p:nvPr/>
        </p:nvSpPr>
        <p:spPr bwMode="auto">
          <a:xfrm>
            <a:off x="4074344"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4930007"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5785669"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362875"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218537"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075787"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82" name="Rectangle 73"/>
          <p:cNvSpPr>
            <a:spLocks noChangeArrowheads="1"/>
          </p:cNvSpPr>
          <p:nvPr/>
        </p:nvSpPr>
        <p:spPr bwMode="auto">
          <a:xfrm>
            <a:off x="4931450"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5787112"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1847529"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1848972"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362875"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218537"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075787"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95" name="Rectangle 73"/>
          <p:cNvSpPr>
            <a:spLocks noChangeArrowheads="1"/>
          </p:cNvSpPr>
          <p:nvPr/>
        </p:nvSpPr>
        <p:spPr bwMode="auto">
          <a:xfrm>
            <a:off x="4931450"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5</a:t>
            </a:r>
          </a:p>
        </p:txBody>
      </p:sp>
      <p:sp>
        <p:nvSpPr>
          <p:cNvPr id="96" name="Rectangle 74"/>
          <p:cNvSpPr>
            <a:spLocks noChangeArrowheads="1"/>
          </p:cNvSpPr>
          <p:nvPr/>
        </p:nvSpPr>
        <p:spPr bwMode="auto">
          <a:xfrm>
            <a:off x="5787112"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97" name="Text Box 69"/>
          <p:cNvSpPr txBox="1">
            <a:spLocks noChangeArrowheads="1"/>
          </p:cNvSpPr>
          <p:nvPr/>
        </p:nvSpPr>
        <p:spPr bwMode="auto">
          <a:xfrm>
            <a:off x="1848972"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362875"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218537"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075787"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1" name="Rectangle 73"/>
          <p:cNvSpPr>
            <a:spLocks noChangeArrowheads="1"/>
          </p:cNvSpPr>
          <p:nvPr/>
        </p:nvSpPr>
        <p:spPr bwMode="auto">
          <a:xfrm>
            <a:off x="4931450"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102" name="Rectangle 74"/>
          <p:cNvSpPr>
            <a:spLocks noChangeArrowheads="1"/>
          </p:cNvSpPr>
          <p:nvPr/>
        </p:nvSpPr>
        <p:spPr bwMode="auto">
          <a:xfrm>
            <a:off x="5787112"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6</a:t>
            </a:r>
          </a:p>
        </p:txBody>
      </p:sp>
      <p:sp>
        <p:nvSpPr>
          <p:cNvPr id="103" name="Text Box 69"/>
          <p:cNvSpPr txBox="1">
            <a:spLocks noChangeArrowheads="1"/>
          </p:cNvSpPr>
          <p:nvPr/>
        </p:nvSpPr>
        <p:spPr bwMode="auto">
          <a:xfrm>
            <a:off x="1848972"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362875"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218537"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075787"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7" name="Rectangle 73"/>
          <p:cNvSpPr>
            <a:spLocks noChangeArrowheads="1"/>
          </p:cNvSpPr>
          <p:nvPr/>
        </p:nvSpPr>
        <p:spPr bwMode="auto">
          <a:xfrm>
            <a:off x="4931450"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08" name="Rectangle 74"/>
          <p:cNvSpPr>
            <a:spLocks noChangeArrowheads="1"/>
          </p:cNvSpPr>
          <p:nvPr/>
        </p:nvSpPr>
        <p:spPr bwMode="auto">
          <a:xfrm>
            <a:off x="5787112"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2</a:t>
            </a:r>
          </a:p>
        </p:txBody>
      </p:sp>
      <p:sp>
        <p:nvSpPr>
          <p:cNvPr id="109" name="Text Box 69"/>
          <p:cNvSpPr txBox="1">
            <a:spLocks noChangeArrowheads="1"/>
          </p:cNvSpPr>
          <p:nvPr/>
        </p:nvSpPr>
        <p:spPr bwMode="auto">
          <a:xfrm>
            <a:off x="1848972"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1847528"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075787"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12" name="Rectangle 73"/>
          <p:cNvSpPr>
            <a:spLocks noChangeArrowheads="1"/>
          </p:cNvSpPr>
          <p:nvPr/>
        </p:nvSpPr>
        <p:spPr bwMode="auto">
          <a:xfrm>
            <a:off x="4931450"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5785669"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3825130"/>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9434146" y="3820427"/>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218537"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0.15 </a:t>
            </a:r>
          </a:p>
        </p:txBody>
      </p:sp>
      <p:grpSp>
        <p:nvGrpSpPr>
          <p:cNvPr id="127" name="Group 112"/>
          <p:cNvGrpSpPr>
            <a:grpSpLocks/>
          </p:cNvGrpSpPr>
          <p:nvPr/>
        </p:nvGrpSpPr>
        <p:grpSpPr bwMode="auto">
          <a:xfrm>
            <a:off x="7734300" y="3153568"/>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218537"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0.19 </a:t>
            </a:r>
          </a:p>
        </p:txBody>
      </p:sp>
      <p:sp>
        <p:nvSpPr>
          <p:cNvPr id="133" name="Rectangle 71"/>
          <p:cNvSpPr>
            <a:spLocks noChangeArrowheads="1"/>
          </p:cNvSpPr>
          <p:nvPr/>
        </p:nvSpPr>
        <p:spPr bwMode="auto">
          <a:xfrm>
            <a:off x="3218537" y="5034527"/>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0.29 </a:t>
            </a:r>
          </a:p>
        </p:txBody>
      </p:sp>
      <p:sp>
        <p:nvSpPr>
          <p:cNvPr id="134" name="Oval 98"/>
          <p:cNvSpPr>
            <a:spLocks noChangeArrowheads="1"/>
          </p:cNvSpPr>
          <p:nvPr/>
        </p:nvSpPr>
        <p:spPr bwMode="auto">
          <a:xfrm>
            <a:off x="9091246" y="383936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135" name="Oval 99"/>
          <p:cNvSpPr>
            <a:spLocks noChangeArrowheads="1"/>
          </p:cNvSpPr>
          <p:nvPr/>
        </p:nvSpPr>
        <p:spPr bwMode="auto">
          <a:xfrm>
            <a:off x="9472246" y="315356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136" name="Line 100"/>
          <p:cNvSpPr>
            <a:spLocks noChangeShapeType="1"/>
          </p:cNvSpPr>
          <p:nvPr/>
        </p:nvSpPr>
        <p:spPr bwMode="auto">
          <a:xfrm flipH="1">
            <a:off x="9243646" y="353456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1"/>
          <p:cNvSpPr>
            <a:spLocks noChangeShapeType="1"/>
          </p:cNvSpPr>
          <p:nvPr/>
        </p:nvSpPr>
        <p:spPr bwMode="auto">
          <a:xfrm>
            <a:off x="9671538" y="3537843"/>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Rectangle 71"/>
          <p:cNvSpPr>
            <a:spLocks noChangeArrowheads="1"/>
          </p:cNvSpPr>
          <p:nvPr/>
        </p:nvSpPr>
        <p:spPr bwMode="auto">
          <a:xfrm>
            <a:off x="3230442"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39" name="Rectangle 71"/>
          <p:cNvSpPr>
            <a:spLocks noChangeArrowheads="1"/>
          </p:cNvSpPr>
          <p:nvPr/>
        </p:nvSpPr>
        <p:spPr bwMode="auto">
          <a:xfrm>
            <a:off x="3230442" y="5337739"/>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0.42 </a:t>
            </a:r>
          </a:p>
        </p:txBody>
      </p:sp>
      <p:sp>
        <p:nvSpPr>
          <p:cNvPr id="140" name="Oval 96"/>
          <p:cNvSpPr>
            <a:spLocks noChangeArrowheads="1"/>
          </p:cNvSpPr>
          <p:nvPr/>
        </p:nvSpPr>
        <p:spPr bwMode="auto">
          <a:xfrm>
            <a:off x="8572500" y="3169047"/>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6</a:t>
            </a:r>
          </a:p>
        </p:txBody>
      </p:sp>
      <p:sp>
        <p:nvSpPr>
          <p:cNvPr id="141" name="Line 97"/>
          <p:cNvSpPr>
            <a:spLocks noChangeShapeType="1"/>
          </p:cNvSpPr>
          <p:nvPr/>
        </p:nvSpPr>
        <p:spPr bwMode="auto">
          <a:xfrm flipH="1">
            <a:off x="7962900" y="2864247"/>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 name="Line 98"/>
          <p:cNvSpPr>
            <a:spLocks noChangeShapeType="1"/>
          </p:cNvSpPr>
          <p:nvPr/>
        </p:nvSpPr>
        <p:spPr bwMode="auto">
          <a:xfrm>
            <a:off x="8496300" y="2864247"/>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3" name="Oval 99"/>
          <p:cNvSpPr>
            <a:spLocks noChangeArrowheads="1"/>
          </p:cNvSpPr>
          <p:nvPr/>
        </p:nvSpPr>
        <p:spPr bwMode="auto">
          <a:xfrm>
            <a:off x="8191500" y="2483247"/>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13</a:t>
            </a:r>
          </a:p>
        </p:txBody>
      </p:sp>
      <p:sp>
        <p:nvSpPr>
          <p:cNvPr id="144" name="Rectangle 71"/>
          <p:cNvSpPr>
            <a:spLocks noChangeArrowheads="1"/>
          </p:cNvSpPr>
          <p:nvPr/>
        </p:nvSpPr>
        <p:spPr bwMode="auto">
          <a:xfrm>
            <a:off x="3218537"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0.58</a:t>
            </a:r>
            <a:r>
              <a:rPr lang="en-US" altLang="zh-CN" sz="2000" dirty="0"/>
              <a:t> </a:t>
            </a:r>
          </a:p>
        </p:txBody>
      </p:sp>
      <p:sp>
        <p:nvSpPr>
          <p:cNvPr id="145" name="Line 139"/>
          <p:cNvSpPr>
            <a:spLocks noChangeShapeType="1"/>
          </p:cNvSpPr>
          <p:nvPr/>
        </p:nvSpPr>
        <p:spPr bwMode="auto">
          <a:xfrm flipH="1">
            <a:off x="9548446" y="2864247"/>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 name="Line 140"/>
          <p:cNvSpPr>
            <a:spLocks noChangeShapeType="1"/>
          </p:cNvSpPr>
          <p:nvPr/>
        </p:nvSpPr>
        <p:spPr bwMode="auto">
          <a:xfrm>
            <a:off x="10081846" y="2864247"/>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 name="Oval 141"/>
          <p:cNvSpPr>
            <a:spLocks noChangeArrowheads="1"/>
          </p:cNvSpPr>
          <p:nvPr/>
        </p:nvSpPr>
        <p:spPr bwMode="auto">
          <a:xfrm>
            <a:off x="9777046" y="2483247"/>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14</a:t>
            </a:r>
          </a:p>
        </p:txBody>
      </p:sp>
      <p:sp>
        <p:nvSpPr>
          <p:cNvPr id="148" name="Oval 138"/>
          <p:cNvSpPr>
            <a:spLocks noChangeArrowheads="1"/>
          </p:cNvSpPr>
          <p:nvPr/>
        </p:nvSpPr>
        <p:spPr bwMode="auto">
          <a:xfrm>
            <a:off x="10200456" y="31940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2</a:t>
            </a:r>
          </a:p>
        </p:txBody>
      </p:sp>
      <p:sp>
        <p:nvSpPr>
          <p:cNvPr id="149" name="Rectangle 71"/>
          <p:cNvSpPr>
            <a:spLocks noChangeArrowheads="1"/>
          </p:cNvSpPr>
          <p:nvPr/>
        </p:nvSpPr>
        <p:spPr bwMode="auto">
          <a:xfrm>
            <a:off x="3218537" y="5953952"/>
            <a:ext cx="857250"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1.00</a:t>
            </a:r>
          </a:p>
        </p:txBody>
      </p:sp>
      <p:sp>
        <p:nvSpPr>
          <p:cNvPr id="150" name="Rectangle 72"/>
          <p:cNvSpPr>
            <a:spLocks noChangeArrowheads="1"/>
          </p:cNvSpPr>
          <p:nvPr/>
        </p:nvSpPr>
        <p:spPr bwMode="auto">
          <a:xfrm>
            <a:off x="4087692" y="5953951"/>
            <a:ext cx="855662" cy="35537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51" name="Rectangle 73"/>
          <p:cNvSpPr>
            <a:spLocks noChangeArrowheads="1"/>
          </p:cNvSpPr>
          <p:nvPr/>
        </p:nvSpPr>
        <p:spPr bwMode="auto">
          <a:xfrm>
            <a:off x="4937792" y="5953173"/>
            <a:ext cx="855663" cy="3561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152" name="Rectangle 74"/>
          <p:cNvSpPr>
            <a:spLocks noChangeArrowheads="1"/>
          </p:cNvSpPr>
          <p:nvPr/>
        </p:nvSpPr>
        <p:spPr bwMode="auto">
          <a:xfrm>
            <a:off x="5793454" y="5953952"/>
            <a:ext cx="855662"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153" name="Line 125"/>
          <p:cNvSpPr>
            <a:spLocks noChangeShapeType="1"/>
          </p:cNvSpPr>
          <p:nvPr/>
        </p:nvSpPr>
        <p:spPr bwMode="auto">
          <a:xfrm flipV="1">
            <a:off x="8323385" y="1722437"/>
            <a:ext cx="6096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126"/>
          <p:cNvSpPr>
            <a:spLocks noChangeShapeType="1"/>
          </p:cNvSpPr>
          <p:nvPr/>
        </p:nvSpPr>
        <p:spPr bwMode="auto">
          <a:xfrm flipH="1" flipV="1">
            <a:off x="9161585" y="1722437"/>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Oval 127"/>
          <p:cNvSpPr>
            <a:spLocks noChangeArrowheads="1"/>
          </p:cNvSpPr>
          <p:nvPr/>
        </p:nvSpPr>
        <p:spPr bwMode="auto">
          <a:xfrm>
            <a:off x="8856785" y="1341437"/>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15</a:t>
            </a:r>
          </a:p>
        </p:txBody>
      </p:sp>
      <p:cxnSp>
        <p:nvCxnSpPr>
          <p:cNvPr id="2" name="直接连接符 1">
            <a:extLst>
              <a:ext uri="{FF2B5EF4-FFF2-40B4-BE49-F238E27FC236}">
                <a16:creationId xmlns:a16="http://schemas.microsoft.com/office/drawing/2014/main" xmlns="" id="{E5E89799-4003-2005-5D04-7DBB45419FDC}"/>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5EF6E9B7-DE05-504D-E238-81DC66889671}"/>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93837282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3"/>
          <p:cNvSpPr txBox="1">
            <a:spLocks noChangeArrowheads="1"/>
          </p:cNvSpPr>
          <p:nvPr/>
        </p:nvSpPr>
        <p:spPr>
          <a:xfrm>
            <a:off x="1703388" y="1052514"/>
            <a:ext cx="6768876" cy="252050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Font typeface="Wingdings" pitchFamily="2" charset="2"/>
              <a:buNone/>
            </a:pPr>
            <a:r>
              <a:rPr lang="en-US" altLang="zh-CN" sz="2000" dirty="0">
                <a:latin typeface="Times New Roman" pitchFamily="18" charset="0"/>
              </a:rPr>
              <a:t>for(i=n+1; i&lt;=m; i++) {//</a:t>
            </a:r>
            <a:r>
              <a:rPr lang="zh-CN" altLang="en-US" sz="2000" dirty="0">
                <a:latin typeface="Times New Roman" pitchFamily="18" charset="0"/>
              </a:rPr>
              <a:t>构造赫夫曼树</a:t>
            </a:r>
          </a:p>
          <a:p>
            <a:pPr>
              <a:lnSpc>
                <a:spcPct val="80000"/>
              </a:lnSpc>
              <a:buFont typeface="Wingdings" pitchFamily="2" charset="2"/>
              <a:buNone/>
            </a:pPr>
            <a:r>
              <a:rPr lang="zh-CN" altLang="en-US" sz="2000" dirty="0">
                <a:latin typeface="Times New Roman" pitchFamily="18" charset="0"/>
              </a:rPr>
              <a:t>         </a:t>
            </a:r>
            <a:r>
              <a:rPr lang="en-US" altLang="zh-CN" sz="2000" dirty="0">
                <a:latin typeface="Times New Roman" pitchFamily="18" charset="0"/>
              </a:rPr>
              <a:t>//</a:t>
            </a:r>
            <a:r>
              <a:rPr lang="zh-CN" altLang="en-US" sz="2000" dirty="0">
                <a:latin typeface="Times New Roman" pitchFamily="18" charset="0"/>
              </a:rPr>
              <a:t>从</a:t>
            </a:r>
            <a:r>
              <a:rPr lang="en-US" altLang="zh-CN" sz="2000" dirty="0">
                <a:latin typeface="Times New Roman" pitchFamily="18" charset="0"/>
              </a:rPr>
              <a:t>HT[1..i-1]</a:t>
            </a:r>
            <a:r>
              <a:rPr lang="zh-CN" altLang="en-US" sz="2000" dirty="0">
                <a:latin typeface="Times New Roman" pitchFamily="18" charset="0"/>
              </a:rPr>
              <a:t>中选择</a:t>
            </a:r>
            <a:r>
              <a:rPr lang="en-US" altLang="zh-CN" sz="2000" dirty="0">
                <a:latin typeface="Times New Roman" pitchFamily="18" charset="0"/>
              </a:rPr>
              <a:t>parent</a:t>
            </a:r>
            <a:r>
              <a:rPr lang="zh-CN" altLang="en-US" sz="2000" dirty="0">
                <a:latin typeface="Times New Roman" pitchFamily="18" charset="0"/>
              </a:rPr>
              <a:t>为</a:t>
            </a:r>
            <a:r>
              <a:rPr lang="en-US" altLang="zh-CN" sz="2000" dirty="0">
                <a:latin typeface="Times New Roman" pitchFamily="18" charset="0"/>
              </a:rPr>
              <a:t>0</a:t>
            </a:r>
            <a:r>
              <a:rPr lang="zh-CN" altLang="en-US" sz="2000" dirty="0">
                <a:latin typeface="Times New Roman" pitchFamily="18" charset="0"/>
              </a:rPr>
              <a:t>且</a:t>
            </a:r>
            <a:r>
              <a:rPr lang="en-US" altLang="zh-CN" sz="2000" dirty="0">
                <a:latin typeface="Times New Roman" pitchFamily="18" charset="0"/>
              </a:rPr>
              <a:t>weight</a:t>
            </a:r>
            <a:r>
              <a:rPr lang="zh-CN" altLang="en-US" sz="2000" dirty="0">
                <a:latin typeface="Times New Roman" pitchFamily="18" charset="0"/>
              </a:rPr>
              <a:t>最小的两个结点，</a:t>
            </a:r>
          </a:p>
          <a:p>
            <a:pPr>
              <a:lnSpc>
                <a:spcPct val="80000"/>
              </a:lnSpc>
              <a:buFont typeface="Wingdings" pitchFamily="2" charset="2"/>
              <a:buNone/>
            </a:pPr>
            <a:r>
              <a:rPr lang="zh-CN" altLang="en-US" sz="2000" dirty="0">
                <a:latin typeface="Times New Roman" pitchFamily="18" charset="0"/>
              </a:rPr>
              <a:t>         </a:t>
            </a:r>
            <a:r>
              <a:rPr lang="en-US" altLang="zh-CN" sz="2000" dirty="0">
                <a:latin typeface="Times New Roman" pitchFamily="18" charset="0"/>
              </a:rPr>
              <a:t>//</a:t>
            </a:r>
            <a:r>
              <a:rPr lang="zh-CN" altLang="en-US" sz="2000" dirty="0">
                <a:latin typeface="Times New Roman" pitchFamily="18" charset="0"/>
              </a:rPr>
              <a:t>其序号为</a:t>
            </a:r>
            <a:r>
              <a:rPr lang="en-US" altLang="zh-CN" sz="2000" dirty="0">
                <a:latin typeface="Times New Roman" pitchFamily="18" charset="0"/>
              </a:rPr>
              <a:t>s1</a:t>
            </a:r>
            <a:r>
              <a:rPr lang="zh-CN" altLang="en-US" sz="2000" dirty="0">
                <a:latin typeface="Times New Roman" pitchFamily="18" charset="0"/>
              </a:rPr>
              <a:t>和</a:t>
            </a:r>
            <a:r>
              <a:rPr lang="en-US" altLang="zh-CN" sz="2000" dirty="0">
                <a:latin typeface="Times New Roman" pitchFamily="18" charset="0"/>
              </a:rPr>
              <a:t>s2</a:t>
            </a:r>
          </a:p>
          <a:p>
            <a:pPr>
              <a:lnSpc>
                <a:spcPct val="80000"/>
              </a:lnSpc>
              <a:buFont typeface="Wingdings" pitchFamily="2" charset="2"/>
              <a:buNone/>
            </a:pPr>
            <a:r>
              <a:rPr lang="en-US" altLang="zh-CN" sz="2000" dirty="0">
                <a:latin typeface="Times New Roman" pitchFamily="18" charset="0"/>
              </a:rPr>
              <a:t>        select(HT,i-1,s1,s2);</a:t>
            </a:r>
          </a:p>
          <a:p>
            <a:pPr>
              <a:lnSpc>
                <a:spcPct val="80000"/>
              </a:lnSpc>
              <a:buFont typeface="Wingdings" pitchFamily="2" charset="2"/>
              <a:buNone/>
            </a:pPr>
            <a:r>
              <a:rPr lang="en-US" altLang="zh-CN" sz="2000" dirty="0">
                <a:latin typeface="Times New Roman" pitchFamily="18" charset="0"/>
              </a:rPr>
              <a:t>        HT[s1].parent = i;     HT[s2].parent = i; </a:t>
            </a:r>
          </a:p>
          <a:p>
            <a:pPr>
              <a:lnSpc>
                <a:spcPct val="80000"/>
              </a:lnSpc>
              <a:buFont typeface="Wingdings" pitchFamily="2" charset="2"/>
              <a:buNone/>
            </a:pPr>
            <a:r>
              <a:rPr lang="en-US" altLang="zh-CN" sz="2000" dirty="0">
                <a:latin typeface="Times New Roman" pitchFamily="18" charset="0"/>
              </a:rPr>
              <a:t>        HT[i].</a:t>
            </a:r>
            <a:r>
              <a:rPr lang="en-US" altLang="zh-CN" sz="2000" dirty="0" err="1">
                <a:latin typeface="Times New Roman" pitchFamily="18" charset="0"/>
              </a:rPr>
              <a:t>lchild</a:t>
            </a:r>
            <a:r>
              <a:rPr lang="en-US" altLang="zh-CN" sz="2000" dirty="0">
                <a:latin typeface="Times New Roman" pitchFamily="18" charset="0"/>
              </a:rPr>
              <a:t> = s1;       HT[i].</a:t>
            </a:r>
            <a:r>
              <a:rPr lang="en-US" altLang="zh-CN" sz="2000" dirty="0" err="1">
                <a:latin typeface="Times New Roman" pitchFamily="18" charset="0"/>
              </a:rPr>
              <a:t>rchild</a:t>
            </a:r>
            <a:r>
              <a:rPr lang="en-US" altLang="zh-CN" sz="2000" dirty="0">
                <a:latin typeface="Times New Roman" pitchFamily="18" charset="0"/>
              </a:rPr>
              <a:t> = s2;</a:t>
            </a:r>
          </a:p>
          <a:p>
            <a:pPr>
              <a:lnSpc>
                <a:spcPct val="80000"/>
              </a:lnSpc>
              <a:buFont typeface="Wingdings" pitchFamily="2" charset="2"/>
              <a:buNone/>
            </a:pPr>
            <a:r>
              <a:rPr lang="en-US" altLang="zh-CN" sz="2000" dirty="0">
                <a:latin typeface="Times New Roman" pitchFamily="18" charset="0"/>
              </a:rPr>
              <a:t>        HT[i].weight = HT[s1].weight + HT[s2].weight;</a:t>
            </a:r>
          </a:p>
          <a:p>
            <a:pPr>
              <a:lnSpc>
                <a:spcPct val="80000"/>
              </a:lnSpc>
              <a:buFont typeface="Wingdings" pitchFamily="2" charset="2"/>
              <a:buNone/>
            </a:pPr>
            <a:r>
              <a:rPr lang="en-US" altLang="zh-CN" sz="2000" dirty="0">
                <a:latin typeface="Times New Roman" pitchFamily="18" charset="0"/>
              </a:rPr>
              <a:t>}</a:t>
            </a:r>
          </a:p>
        </p:txBody>
      </p:sp>
      <p:grpSp>
        <p:nvGrpSpPr>
          <p:cNvPr id="37" name="Group 69"/>
          <p:cNvGrpSpPr>
            <a:grpSpLocks/>
          </p:cNvGrpSpPr>
          <p:nvPr/>
        </p:nvGrpSpPr>
        <p:grpSpPr bwMode="auto">
          <a:xfrm>
            <a:off x="6441949" y="4891516"/>
            <a:ext cx="1066800" cy="1066800"/>
            <a:chOff x="4896" y="1872"/>
            <a:chExt cx="672" cy="672"/>
          </a:xfrm>
        </p:grpSpPr>
        <p:sp>
          <p:nvSpPr>
            <p:cNvPr id="38"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39"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1</a:t>
              </a:r>
            </a:p>
          </p:txBody>
        </p:sp>
        <p:sp>
          <p:nvSpPr>
            <p:cNvPr id="40"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41"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3" name="Group 86"/>
          <p:cNvGrpSpPr>
            <a:grpSpLocks/>
          </p:cNvGrpSpPr>
          <p:nvPr/>
        </p:nvGrpSpPr>
        <p:grpSpPr bwMode="auto">
          <a:xfrm>
            <a:off x="8815754" y="4886813"/>
            <a:ext cx="1066800" cy="1066800"/>
            <a:chOff x="3648" y="1872"/>
            <a:chExt cx="672" cy="672"/>
          </a:xfrm>
        </p:grpSpPr>
        <p:sp>
          <p:nvSpPr>
            <p:cNvPr id="44"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45"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46"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47"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8"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9" name="Group 112"/>
          <p:cNvGrpSpPr>
            <a:grpSpLocks/>
          </p:cNvGrpSpPr>
          <p:nvPr/>
        </p:nvGrpSpPr>
        <p:grpSpPr bwMode="auto">
          <a:xfrm>
            <a:off x="7115908" y="4219954"/>
            <a:ext cx="990600" cy="1066800"/>
            <a:chOff x="3984" y="1440"/>
            <a:chExt cx="624" cy="672"/>
          </a:xfrm>
        </p:grpSpPr>
        <p:sp>
          <p:nvSpPr>
            <p:cNvPr id="50"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51"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52"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3"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54" name="Oval 98"/>
          <p:cNvSpPr>
            <a:spLocks noChangeArrowheads="1"/>
          </p:cNvSpPr>
          <p:nvPr/>
        </p:nvSpPr>
        <p:spPr bwMode="auto">
          <a:xfrm>
            <a:off x="8472854" y="4905754"/>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55" name="Oval 99"/>
          <p:cNvSpPr>
            <a:spLocks noChangeArrowheads="1"/>
          </p:cNvSpPr>
          <p:nvPr/>
        </p:nvSpPr>
        <p:spPr bwMode="auto">
          <a:xfrm>
            <a:off x="8853854" y="4219954"/>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56" name="Line 100"/>
          <p:cNvSpPr>
            <a:spLocks noChangeShapeType="1"/>
          </p:cNvSpPr>
          <p:nvPr/>
        </p:nvSpPr>
        <p:spPr bwMode="auto">
          <a:xfrm flipH="1">
            <a:off x="8625254" y="4600954"/>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 name="Line 101"/>
          <p:cNvSpPr>
            <a:spLocks noChangeShapeType="1"/>
          </p:cNvSpPr>
          <p:nvPr/>
        </p:nvSpPr>
        <p:spPr bwMode="auto">
          <a:xfrm>
            <a:off x="9053146" y="4604229"/>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 name="Oval 96"/>
          <p:cNvSpPr>
            <a:spLocks noChangeArrowheads="1"/>
          </p:cNvSpPr>
          <p:nvPr/>
        </p:nvSpPr>
        <p:spPr bwMode="auto">
          <a:xfrm>
            <a:off x="7954108" y="423543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6</a:t>
            </a:r>
          </a:p>
        </p:txBody>
      </p:sp>
      <p:sp>
        <p:nvSpPr>
          <p:cNvPr id="59" name="Line 97"/>
          <p:cNvSpPr>
            <a:spLocks noChangeShapeType="1"/>
          </p:cNvSpPr>
          <p:nvPr/>
        </p:nvSpPr>
        <p:spPr bwMode="auto">
          <a:xfrm flipH="1">
            <a:off x="7344508" y="3930633"/>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 name="Line 98"/>
          <p:cNvSpPr>
            <a:spLocks noChangeShapeType="1"/>
          </p:cNvSpPr>
          <p:nvPr/>
        </p:nvSpPr>
        <p:spPr bwMode="auto">
          <a:xfrm>
            <a:off x="7877908" y="3930633"/>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 name="Oval 99"/>
          <p:cNvSpPr>
            <a:spLocks noChangeArrowheads="1"/>
          </p:cNvSpPr>
          <p:nvPr/>
        </p:nvSpPr>
        <p:spPr bwMode="auto">
          <a:xfrm>
            <a:off x="7573108" y="354963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13</a:t>
            </a:r>
          </a:p>
        </p:txBody>
      </p:sp>
      <p:sp>
        <p:nvSpPr>
          <p:cNvPr id="62" name="Line 139"/>
          <p:cNvSpPr>
            <a:spLocks noChangeShapeType="1"/>
          </p:cNvSpPr>
          <p:nvPr/>
        </p:nvSpPr>
        <p:spPr bwMode="auto">
          <a:xfrm flipH="1">
            <a:off x="8930054" y="3930633"/>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 name="Line 140"/>
          <p:cNvSpPr>
            <a:spLocks noChangeShapeType="1"/>
          </p:cNvSpPr>
          <p:nvPr/>
        </p:nvSpPr>
        <p:spPr bwMode="auto">
          <a:xfrm>
            <a:off x="9463454" y="3930633"/>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4" name="Oval 141"/>
          <p:cNvSpPr>
            <a:spLocks noChangeArrowheads="1"/>
          </p:cNvSpPr>
          <p:nvPr/>
        </p:nvSpPr>
        <p:spPr bwMode="auto">
          <a:xfrm>
            <a:off x="9158654" y="354963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14</a:t>
            </a:r>
          </a:p>
        </p:txBody>
      </p:sp>
      <p:sp>
        <p:nvSpPr>
          <p:cNvPr id="65" name="Oval 138"/>
          <p:cNvSpPr>
            <a:spLocks noChangeArrowheads="1"/>
          </p:cNvSpPr>
          <p:nvPr/>
        </p:nvSpPr>
        <p:spPr bwMode="auto">
          <a:xfrm>
            <a:off x="9582064" y="4260435"/>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2</a:t>
            </a:r>
          </a:p>
        </p:txBody>
      </p:sp>
      <p:sp>
        <p:nvSpPr>
          <p:cNvPr id="66" name="Line 125"/>
          <p:cNvSpPr>
            <a:spLocks noChangeShapeType="1"/>
          </p:cNvSpPr>
          <p:nvPr/>
        </p:nvSpPr>
        <p:spPr bwMode="auto">
          <a:xfrm flipV="1">
            <a:off x="7877909" y="3370760"/>
            <a:ext cx="457199" cy="180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126"/>
          <p:cNvSpPr>
            <a:spLocks noChangeShapeType="1"/>
          </p:cNvSpPr>
          <p:nvPr/>
        </p:nvSpPr>
        <p:spPr bwMode="auto">
          <a:xfrm flipH="1" flipV="1">
            <a:off x="8716107" y="3391549"/>
            <a:ext cx="527536" cy="190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Oval 127"/>
          <p:cNvSpPr>
            <a:spLocks noChangeArrowheads="1"/>
          </p:cNvSpPr>
          <p:nvPr/>
        </p:nvSpPr>
        <p:spPr bwMode="auto">
          <a:xfrm>
            <a:off x="8335108" y="32010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15</a:t>
            </a:r>
          </a:p>
        </p:txBody>
      </p:sp>
      <p:sp>
        <p:nvSpPr>
          <p:cNvPr id="69" name="Oval 55"/>
          <p:cNvSpPr>
            <a:spLocks noChangeArrowheads="1"/>
          </p:cNvSpPr>
          <p:nvPr/>
        </p:nvSpPr>
        <p:spPr bwMode="auto">
          <a:xfrm>
            <a:off x="7262057" y="5958316"/>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a</a:t>
            </a:r>
          </a:p>
        </p:txBody>
      </p:sp>
      <p:sp>
        <p:nvSpPr>
          <p:cNvPr id="70" name="Oval 55"/>
          <p:cNvSpPr>
            <a:spLocks noChangeArrowheads="1"/>
          </p:cNvSpPr>
          <p:nvPr/>
        </p:nvSpPr>
        <p:spPr bwMode="auto">
          <a:xfrm>
            <a:off x="9653954" y="4657084"/>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b</a:t>
            </a:r>
          </a:p>
        </p:txBody>
      </p:sp>
      <p:sp>
        <p:nvSpPr>
          <p:cNvPr id="71" name="Oval 55"/>
          <p:cNvSpPr>
            <a:spLocks noChangeArrowheads="1"/>
          </p:cNvSpPr>
          <p:nvPr/>
        </p:nvSpPr>
        <p:spPr bwMode="auto">
          <a:xfrm>
            <a:off x="8789375" y="5970814"/>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c</a:t>
            </a:r>
          </a:p>
        </p:txBody>
      </p:sp>
      <p:sp>
        <p:nvSpPr>
          <p:cNvPr id="72" name="Oval 55"/>
          <p:cNvSpPr>
            <a:spLocks noChangeArrowheads="1"/>
          </p:cNvSpPr>
          <p:nvPr/>
        </p:nvSpPr>
        <p:spPr bwMode="auto">
          <a:xfrm>
            <a:off x="9501554" y="5970814"/>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d</a:t>
            </a:r>
          </a:p>
        </p:txBody>
      </p:sp>
      <p:sp>
        <p:nvSpPr>
          <p:cNvPr id="73" name="Oval 55"/>
          <p:cNvSpPr>
            <a:spLocks noChangeArrowheads="1"/>
          </p:cNvSpPr>
          <p:nvPr/>
        </p:nvSpPr>
        <p:spPr bwMode="auto">
          <a:xfrm>
            <a:off x="8333555" y="5275347"/>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e</a:t>
            </a:r>
          </a:p>
        </p:txBody>
      </p:sp>
      <p:sp>
        <p:nvSpPr>
          <p:cNvPr id="74" name="Oval 55"/>
          <p:cNvSpPr>
            <a:spLocks noChangeArrowheads="1"/>
          </p:cNvSpPr>
          <p:nvPr/>
        </p:nvSpPr>
        <p:spPr bwMode="auto">
          <a:xfrm>
            <a:off x="8030308" y="4625830"/>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f</a:t>
            </a:r>
          </a:p>
        </p:txBody>
      </p:sp>
      <p:sp>
        <p:nvSpPr>
          <p:cNvPr id="75" name="Oval 55"/>
          <p:cNvSpPr>
            <a:spLocks noChangeArrowheads="1"/>
          </p:cNvSpPr>
          <p:nvPr/>
        </p:nvSpPr>
        <p:spPr bwMode="auto">
          <a:xfrm>
            <a:off x="6437465" y="5987111"/>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g</a:t>
            </a:r>
          </a:p>
        </p:txBody>
      </p:sp>
      <p:sp>
        <p:nvSpPr>
          <p:cNvPr id="76" name="Oval 55"/>
          <p:cNvSpPr>
            <a:spLocks noChangeArrowheads="1"/>
          </p:cNvSpPr>
          <p:nvPr/>
        </p:nvSpPr>
        <p:spPr bwMode="auto">
          <a:xfrm>
            <a:off x="7746141" y="5318484"/>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h</a:t>
            </a:r>
          </a:p>
        </p:txBody>
      </p:sp>
      <p:cxnSp>
        <p:nvCxnSpPr>
          <p:cNvPr id="2" name="直接连接符 1">
            <a:extLst>
              <a:ext uri="{FF2B5EF4-FFF2-40B4-BE49-F238E27FC236}">
                <a16:creationId xmlns:a16="http://schemas.microsoft.com/office/drawing/2014/main" xmlns="" id="{BD63A493-5818-58EF-0EA5-B2CF14D078FB}"/>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C778CFE5-4C1D-7E74-203E-D9D563FBF2A1}"/>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117844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
                                            <p:txEl>
                                              <p:pRg st="0" end="0"/>
                                            </p:txEl>
                                          </p:spTgt>
                                        </p:tgtEl>
                                        <p:attrNameLst>
                                          <p:attrName>style.visibility</p:attrName>
                                        </p:attrNameLst>
                                      </p:cBhvr>
                                      <p:to>
                                        <p:strVal val="visible"/>
                                      </p:to>
                                    </p:set>
                                    <p:animEffect transition="in" filter="wipe(left)">
                                      <p:cBhvr>
                                        <p:cTn id="7" dur="500"/>
                                        <p:tgtEl>
                                          <p:spTgt spid="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
                                            <p:txEl>
                                              <p:pRg st="1" end="1"/>
                                            </p:txEl>
                                          </p:spTgt>
                                        </p:tgtEl>
                                        <p:attrNameLst>
                                          <p:attrName>style.visibility</p:attrName>
                                        </p:attrNameLst>
                                      </p:cBhvr>
                                      <p:to>
                                        <p:strVal val="visible"/>
                                      </p:to>
                                    </p:set>
                                    <p:animEffect transition="in" filter="wipe(left)">
                                      <p:cBhvr>
                                        <p:cTn id="12" dur="500"/>
                                        <p:tgtEl>
                                          <p:spTgt spid="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9">
                                            <p:txEl>
                                              <p:pRg st="2" end="2"/>
                                            </p:txEl>
                                          </p:spTgt>
                                        </p:tgtEl>
                                        <p:attrNameLst>
                                          <p:attrName>style.visibility</p:attrName>
                                        </p:attrNameLst>
                                      </p:cBhvr>
                                      <p:to>
                                        <p:strVal val="visible"/>
                                      </p:to>
                                    </p:set>
                                    <p:animEffect transition="in" filter="wipe(left)">
                                      <p:cBhvr>
                                        <p:cTn id="17" dur="500"/>
                                        <p:tgtEl>
                                          <p:spTgt spid="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9">
                                            <p:txEl>
                                              <p:pRg st="3" end="3"/>
                                            </p:txEl>
                                          </p:spTgt>
                                        </p:tgtEl>
                                        <p:attrNameLst>
                                          <p:attrName>style.visibility</p:attrName>
                                        </p:attrNameLst>
                                      </p:cBhvr>
                                      <p:to>
                                        <p:strVal val="visible"/>
                                      </p:to>
                                    </p:set>
                                    <p:animEffect transition="in" filter="wipe(left)">
                                      <p:cBhvr>
                                        <p:cTn id="22" dur="500"/>
                                        <p:tgtEl>
                                          <p:spTgt spid="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9">
                                            <p:txEl>
                                              <p:pRg st="4" end="4"/>
                                            </p:txEl>
                                          </p:spTgt>
                                        </p:tgtEl>
                                        <p:attrNameLst>
                                          <p:attrName>style.visibility</p:attrName>
                                        </p:attrNameLst>
                                      </p:cBhvr>
                                      <p:to>
                                        <p:strVal val="visible"/>
                                      </p:to>
                                    </p:set>
                                    <p:animEffect transition="in" filter="wipe(left)">
                                      <p:cBhvr>
                                        <p:cTn id="27" dur="500"/>
                                        <p:tgtEl>
                                          <p:spTgt spid="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9">
                                            <p:txEl>
                                              <p:pRg st="5" end="5"/>
                                            </p:txEl>
                                          </p:spTgt>
                                        </p:tgtEl>
                                        <p:attrNameLst>
                                          <p:attrName>style.visibility</p:attrName>
                                        </p:attrNameLst>
                                      </p:cBhvr>
                                      <p:to>
                                        <p:strVal val="visible"/>
                                      </p:to>
                                    </p:set>
                                    <p:animEffect transition="in" filter="wipe(left)">
                                      <p:cBhvr>
                                        <p:cTn id="32" dur="500"/>
                                        <p:tgtEl>
                                          <p:spTgt spid="7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9">
                                            <p:txEl>
                                              <p:pRg st="6" end="6"/>
                                            </p:txEl>
                                          </p:spTgt>
                                        </p:tgtEl>
                                        <p:attrNameLst>
                                          <p:attrName>style.visibility</p:attrName>
                                        </p:attrNameLst>
                                      </p:cBhvr>
                                      <p:to>
                                        <p:strVal val="visible"/>
                                      </p:to>
                                    </p:set>
                                    <p:animEffect transition="in" filter="wipe(left)">
                                      <p:cBhvr>
                                        <p:cTn id="37" dur="500"/>
                                        <p:tgtEl>
                                          <p:spTgt spid="7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9">
                                            <p:txEl>
                                              <p:pRg st="7" end="7"/>
                                            </p:txEl>
                                          </p:spTgt>
                                        </p:tgtEl>
                                        <p:attrNameLst>
                                          <p:attrName>style.visibility</p:attrName>
                                        </p:attrNameLst>
                                      </p:cBhvr>
                                      <p:to>
                                        <p:strVal val="visible"/>
                                      </p:to>
                                    </p:set>
                                    <p:animEffect transition="in" filter="wipe(left)">
                                      <p:cBhvr>
                                        <p:cTn id="42" dur="500"/>
                                        <p:tgtEl>
                                          <p:spTgt spid="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build="p"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Oval 3"/>
          <p:cNvSpPr>
            <a:spLocks noChangeArrowheads="1"/>
          </p:cNvSpPr>
          <p:nvPr/>
        </p:nvSpPr>
        <p:spPr bwMode="auto">
          <a:xfrm>
            <a:off x="2057400" y="44688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a</a:t>
            </a:r>
          </a:p>
        </p:txBody>
      </p:sp>
      <p:sp>
        <p:nvSpPr>
          <p:cNvPr id="157" name="Oval 4"/>
          <p:cNvSpPr>
            <a:spLocks noChangeArrowheads="1"/>
          </p:cNvSpPr>
          <p:nvPr/>
        </p:nvSpPr>
        <p:spPr bwMode="auto">
          <a:xfrm>
            <a:off x="3124200" y="44688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g</a:t>
            </a:r>
          </a:p>
        </p:txBody>
      </p:sp>
      <p:sp>
        <p:nvSpPr>
          <p:cNvPr id="158" name="Oval 5"/>
          <p:cNvSpPr>
            <a:spLocks noChangeArrowheads="1"/>
          </p:cNvSpPr>
          <p:nvPr/>
        </p:nvSpPr>
        <p:spPr bwMode="auto">
          <a:xfrm>
            <a:off x="2590800" y="37830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159" name="Line 6"/>
          <p:cNvSpPr>
            <a:spLocks noChangeShapeType="1"/>
          </p:cNvSpPr>
          <p:nvPr/>
        </p:nvSpPr>
        <p:spPr bwMode="auto">
          <a:xfrm flipH="1">
            <a:off x="2362200" y="4164013"/>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0" name="Line 7"/>
          <p:cNvSpPr>
            <a:spLocks noChangeShapeType="1"/>
          </p:cNvSpPr>
          <p:nvPr/>
        </p:nvSpPr>
        <p:spPr bwMode="auto">
          <a:xfrm>
            <a:off x="2895600" y="4164013"/>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1" name="Oval 8"/>
          <p:cNvSpPr>
            <a:spLocks noChangeArrowheads="1"/>
          </p:cNvSpPr>
          <p:nvPr/>
        </p:nvSpPr>
        <p:spPr bwMode="auto">
          <a:xfrm>
            <a:off x="4876800" y="44688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c</a:t>
            </a:r>
          </a:p>
        </p:txBody>
      </p:sp>
      <p:sp>
        <p:nvSpPr>
          <p:cNvPr id="162" name="Oval 9"/>
          <p:cNvSpPr>
            <a:spLocks noChangeArrowheads="1"/>
          </p:cNvSpPr>
          <p:nvPr/>
        </p:nvSpPr>
        <p:spPr bwMode="auto">
          <a:xfrm>
            <a:off x="5943600" y="44688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d</a:t>
            </a:r>
          </a:p>
        </p:txBody>
      </p:sp>
      <p:sp>
        <p:nvSpPr>
          <p:cNvPr id="163" name="Oval 10"/>
          <p:cNvSpPr>
            <a:spLocks noChangeArrowheads="1"/>
          </p:cNvSpPr>
          <p:nvPr/>
        </p:nvSpPr>
        <p:spPr bwMode="auto">
          <a:xfrm>
            <a:off x="5410200" y="37830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164" name="Line 11"/>
          <p:cNvSpPr>
            <a:spLocks noChangeShapeType="1"/>
          </p:cNvSpPr>
          <p:nvPr/>
        </p:nvSpPr>
        <p:spPr bwMode="auto">
          <a:xfrm flipH="1">
            <a:off x="5181600" y="4164013"/>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5" name="Line 12"/>
          <p:cNvSpPr>
            <a:spLocks noChangeShapeType="1"/>
          </p:cNvSpPr>
          <p:nvPr/>
        </p:nvSpPr>
        <p:spPr bwMode="auto">
          <a:xfrm>
            <a:off x="5715000" y="4164013"/>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6" name="Oval 13"/>
          <p:cNvSpPr>
            <a:spLocks noChangeArrowheads="1"/>
          </p:cNvSpPr>
          <p:nvPr/>
        </p:nvSpPr>
        <p:spPr bwMode="auto">
          <a:xfrm>
            <a:off x="1752600" y="37830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h</a:t>
            </a:r>
          </a:p>
        </p:txBody>
      </p:sp>
      <p:sp>
        <p:nvSpPr>
          <p:cNvPr id="167" name="Oval 14"/>
          <p:cNvSpPr>
            <a:spLocks noChangeArrowheads="1"/>
          </p:cNvSpPr>
          <p:nvPr/>
        </p:nvSpPr>
        <p:spPr bwMode="auto">
          <a:xfrm>
            <a:off x="2133600" y="30972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168" name="Line 15"/>
          <p:cNvSpPr>
            <a:spLocks noChangeShapeType="1"/>
          </p:cNvSpPr>
          <p:nvPr/>
        </p:nvSpPr>
        <p:spPr bwMode="auto">
          <a:xfrm flipH="1">
            <a:off x="1905000" y="3478213"/>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9" name="Line 16"/>
          <p:cNvSpPr>
            <a:spLocks noChangeShapeType="1"/>
          </p:cNvSpPr>
          <p:nvPr/>
        </p:nvSpPr>
        <p:spPr bwMode="auto">
          <a:xfrm>
            <a:off x="2438400" y="3478213"/>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0" name="Oval 17"/>
          <p:cNvSpPr>
            <a:spLocks noChangeArrowheads="1"/>
          </p:cNvSpPr>
          <p:nvPr/>
        </p:nvSpPr>
        <p:spPr bwMode="auto">
          <a:xfrm>
            <a:off x="4572000" y="37830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e</a:t>
            </a:r>
          </a:p>
        </p:txBody>
      </p:sp>
      <p:sp>
        <p:nvSpPr>
          <p:cNvPr id="171" name="Oval 18"/>
          <p:cNvSpPr>
            <a:spLocks noChangeArrowheads="1"/>
          </p:cNvSpPr>
          <p:nvPr/>
        </p:nvSpPr>
        <p:spPr bwMode="auto">
          <a:xfrm>
            <a:off x="4953000" y="30972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172" name="Line 19"/>
          <p:cNvSpPr>
            <a:spLocks noChangeShapeType="1"/>
          </p:cNvSpPr>
          <p:nvPr/>
        </p:nvSpPr>
        <p:spPr bwMode="auto">
          <a:xfrm flipH="1">
            <a:off x="4724400" y="3478213"/>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3" name="Line 20"/>
          <p:cNvSpPr>
            <a:spLocks noChangeShapeType="1"/>
          </p:cNvSpPr>
          <p:nvPr/>
        </p:nvSpPr>
        <p:spPr bwMode="auto">
          <a:xfrm>
            <a:off x="5257800" y="3478213"/>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 name="Oval 21"/>
          <p:cNvSpPr>
            <a:spLocks noChangeArrowheads="1"/>
          </p:cNvSpPr>
          <p:nvPr/>
        </p:nvSpPr>
        <p:spPr bwMode="auto">
          <a:xfrm>
            <a:off x="3733800" y="30972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f</a:t>
            </a:r>
          </a:p>
        </p:txBody>
      </p:sp>
      <p:sp>
        <p:nvSpPr>
          <p:cNvPr id="175" name="Line 22"/>
          <p:cNvSpPr>
            <a:spLocks noChangeShapeType="1"/>
          </p:cNvSpPr>
          <p:nvPr/>
        </p:nvSpPr>
        <p:spPr bwMode="auto">
          <a:xfrm flipH="1">
            <a:off x="2438400" y="2792413"/>
            <a:ext cx="68580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6" name="Line 23"/>
          <p:cNvSpPr>
            <a:spLocks noChangeShapeType="1"/>
          </p:cNvSpPr>
          <p:nvPr/>
        </p:nvSpPr>
        <p:spPr bwMode="auto">
          <a:xfrm>
            <a:off x="3352800" y="2792413"/>
            <a:ext cx="5334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7" name="Oval 24"/>
          <p:cNvSpPr>
            <a:spLocks noChangeArrowheads="1"/>
          </p:cNvSpPr>
          <p:nvPr/>
        </p:nvSpPr>
        <p:spPr bwMode="auto">
          <a:xfrm>
            <a:off x="3048000" y="24114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178" name="Oval 25"/>
          <p:cNvSpPr>
            <a:spLocks noChangeArrowheads="1"/>
          </p:cNvSpPr>
          <p:nvPr/>
        </p:nvSpPr>
        <p:spPr bwMode="auto">
          <a:xfrm>
            <a:off x="6781800" y="30972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b</a:t>
            </a:r>
          </a:p>
        </p:txBody>
      </p:sp>
      <p:sp>
        <p:nvSpPr>
          <p:cNvPr id="179" name="Line 26"/>
          <p:cNvSpPr>
            <a:spLocks noChangeShapeType="1"/>
          </p:cNvSpPr>
          <p:nvPr/>
        </p:nvSpPr>
        <p:spPr bwMode="auto">
          <a:xfrm flipH="1">
            <a:off x="5181600" y="2792413"/>
            <a:ext cx="685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0" name="Line 27"/>
          <p:cNvSpPr>
            <a:spLocks noChangeShapeType="1"/>
          </p:cNvSpPr>
          <p:nvPr/>
        </p:nvSpPr>
        <p:spPr bwMode="auto">
          <a:xfrm>
            <a:off x="6096000" y="2792413"/>
            <a:ext cx="9144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1" name="Oval 28"/>
          <p:cNvSpPr>
            <a:spLocks noChangeArrowheads="1"/>
          </p:cNvSpPr>
          <p:nvPr/>
        </p:nvSpPr>
        <p:spPr bwMode="auto">
          <a:xfrm>
            <a:off x="5791200" y="24114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182" name="Line 29"/>
          <p:cNvSpPr>
            <a:spLocks noChangeShapeType="1"/>
          </p:cNvSpPr>
          <p:nvPr/>
        </p:nvSpPr>
        <p:spPr bwMode="auto">
          <a:xfrm flipV="1">
            <a:off x="3276600" y="1649413"/>
            <a:ext cx="11430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3" name="Line 30"/>
          <p:cNvSpPr>
            <a:spLocks noChangeShapeType="1"/>
          </p:cNvSpPr>
          <p:nvPr/>
        </p:nvSpPr>
        <p:spPr bwMode="auto">
          <a:xfrm flipH="1" flipV="1">
            <a:off x="4648200" y="1649413"/>
            <a:ext cx="1295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 name="Oval 31"/>
          <p:cNvSpPr>
            <a:spLocks noChangeArrowheads="1"/>
          </p:cNvSpPr>
          <p:nvPr/>
        </p:nvSpPr>
        <p:spPr bwMode="auto">
          <a:xfrm>
            <a:off x="4343400" y="12684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185" name="Text Box 32"/>
          <p:cNvSpPr txBox="1">
            <a:spLocks noChangeArrowheads="1"/>
          </p:cNvSpPr>
          <p:nvPr/>
        </p:nvSpPr>
        <p:spPr bwMode="auto">
          <a:xfrm>
            <a:off x="3733800" y="5230813"/>
            <a:ext cx="1905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zh-CN" altLang="en-US"/>
              <a:t>最优二叉树</a:t>
            </a:r>
          </a:p>
        </p:txBody>
      </p:sp>
      <p:sp>
        <p:nvSpPr>
          <p:cNvPr id="186" name="Text Box 33"/>
          <p:cNvSpPr txBox="1">
            <a:spLocks noChangeArrowheads="1"/>
          </p:cNvSpPr>
          <p:nvPr/>
        </p:nvSpPr>
        <p:spPr bwMode="auto">
          <a:xfrm>
            <a:off x="3575050" y="1557338"/>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a:t>0</a:t>
            </a:r>
          </a:p>
        </p:txBody>
      </p:sp>
      <p:sp>
        <p:nvSpPr>
          <p:cNvPr id="187" name="Text Box 34"/>
          <p:cNvSpPr txBox="1">
            <a:spLocks noChangeArrowheads="1"/>
          </p:cNvSpPr>
          <p:nvPr/>
        </p:nvSpPr>
        <p:spPr bwMode="auto">
          <a:xfrm>
            <a:off x="5181600" y="1649413"/>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1</a:t>
            </a:r>
          </a:p>
        </p:txBody>
      </p:sp>
      <p:sp>
        <p:nvSpPr>
          <p:cNvPr id="188" name="Text Box 35"/>
          <p:cNvSpPr txBox="1">
            <a:spLocks noChangeArrowheads="1"/>
          </p:cNvSpPr>
          <p:nvPr/>
        </p:nvSpPr>
        <p:spPr bwMode="auto">
          <a:xfrm>
            <a:off x="2514600" y="2563813"/>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0</a:t>
            </a:r>
          </a:p>
        </p:txBody>
      </p:sp>
      <p:sp>
        <p:nvSpPr>
          <p:cNvPr id="189" name="Text Box 36"/>
          <p:cNvSpPr txBox="1">
            <a:spLocks noChangeArrowheads="1"/>
          </p:cNvSpPr>
          <p:nvPr/>
        </p:nvSpPr>
        <p:spPr bwMode="auto">
          <a:xfrm>
            <a:off x="1631950" y="321310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0</a:t>
            </a:r>
          </a:p>
        </p:txBody>
      </p:sp>
      <p:sp>
        <p:nvSpPr>
          <p:cNvPr id="190" name="Text Box 37"/>
          <p:cNvSpPr txBox="1">
            <a:spLocks noChangeArrowheads="1"/>
          </p:cNvSpPr>
          <p:nvPr/>
        </p:nvSpPr>
        <p:spPr bwMode="auto">
          <a:xfrm>
            <a:off x="2135188" y="4005263"/>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0</a:t>
            </a:r>
          </a:p>
        </p:txBody>
      </p:sp>
      <p:sp>
        <p:nvSpPr>
          <p:cNvPr id="191" name="Text Box 38"/>
          <p:cNvSpPr txBox="1">
            <a:spLocks noChangeArrowheads="1"/>
          </p:cNvSpPr>
          <p:nvPr/>
        </p:nvSpPr>
        <p:spPr bwMode="auto">
          <a:xfrm>
            <a:off x="4511675" y="321310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0</a:t>
            </a:r>
          </a:p>
        </p:txBody>
      </p:sp>
      <p:sp>
        <p:nvSpPr>
          <p:cNvPr id="192" name="Text Box 39"/>
          <p:cNvSpPr txBox="1">
            <a:spLocks noChangeArrowheads="1"/>
          </p:cNvSpPr>
          <p:nvPr/>
        </p:nvSpPr>
        <p:spPr bwMode="auto">
          <a:xfrm>
            <a:off x="5016500" y="3933825"/>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0</a:t>
            </a:r>
          </a:p>
        </p:txBody>
      </p:sp>
      <p:sp>
        <p:nvSpPr>
          <p:cNvPr id="193" name="Text Box 42"/>
          <p:cNvSpPr txBox="1">
            <a:spLocks noChangeArrowheads="1"/>
          </p:cNvSpPr>
          <p:nvPr/>
        </p:nvSpPr>
        <p:spPr bwMode="auto">
          <a:xfrm>
            <a:off x="3627438" y="2420938"/>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1</a:t>
            </a:r>
          </a:p>
        </p:txBody>
      </p:sp>
      <p:sp>
        <p:nvSpPr>
          <p:cNvPr id="194" name="Text Box 43"/>
          <p:cNvSpPr txBox="1">
            <a:spLocks noChangeArrowheads="1"/>
          </p:cNvSpPr>
          <p:nvPr/>
        </p:nvSpPr>
        <p:spPr bwMode="auto">
          <a:xfrm>
            <a:off x="2590800" y="3325813"/>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1</a:t>
            </a:r>
          </a:p>
        </p:txBody>
      </p:sp>
      <p:sp>
        <p:nvSpPr>
          <p:cNvPr id="195" name="Text Box 44"/>
          <p:cNvSpPr txBox="1">
            <a:spLocks noChangeArrowheads="1"/>
          </p:cNvSpPr>
          <p:nvPr/>
        </p:nvSpPr>
        <p:spPr bwMode="auto">
          <a:xfrm>
            <a:off x="5519738" y="321310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1</a:t>
            </a:r>
          </a:p>
        </p:txBody>
      </p:sp>
      <p:sp>
        <p:nvSpPr>
          <p:cNvPr id="196" name="Text Box 45"/>
          <p:cNvSpPr txBox="1">
            <a:spLocks noChangeArrowheads="1"/>
          </p:cNvSpPr>
          <p:nvPr/>
        </p:nvSpPr>
        <p:spPr bwMode="auto">
          <a:xfrm>
            <a:off x="5791200" y="386080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1</a:t>
            </a:r>
          </a:p>
        </p:txBody>
      </p:sp>
      <p:sp>
        <p:nvSpPr>
          <p:cNvPr id="197" name="Text Box 46"/>
          <p:cNvSpPr txBox="1">
            <a:spLocks noChangeArrowheads="1"/>
          </p:cNvSpPr>
          <p:nvPr/>
        </p:nvSpPr>
        <p:spPr bwMode="auto">
          <a:xfrm>
            <a:off x="3048000" y="4011613"/>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1</a:t>
            </a:r>
          </a:p>
        </p:txBody>
      </p:sp>
      <p:sp>
        <p:nvSpPr>
          <p:cNvPr id="198" name="Text Box 47"/>
          <p:cNvSpPr txBox="1">
            <a:spLocks noChangeArrowheads="1"/>
          </p:cNvSpPr>
          <p:nvPr/>
        </p:nvSpPr>
        <p:spPr bwMode="auto">
          <a:xfrm>
            <a:off x="7543800" y="1420813"/>
            <a:ext cx="22098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a:t>a:    0010</a:t>
            </a:r>
          </a:p>
        </p:txBody>
      </p:sp>
      <p:sp>
        <p:nvSpPr>
          <p:cNvPr id="199" name="Text Box 48"/>
          <p:cNvSpPr txBox="1">
            <a:spLocks noChangeArrowheads="1"/>
          </p:cNvSpPr>
          <p:nvPr/>
        </p:nvSpPr>
        <p:spPr bwMode="auto">
          <a:xfrm>
            <a:off x="7467600" y="1954213"/>
            <a:ext cx="20574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a:t>b:    11</a:t>
            </a:r>
          </a:p>
        </p:txBody>
      </p:sp>
      <p:sp>
        <p:nvSpPr>
          <p:cNvPr id="200" name="Text Box 49"/>
          <p:cNvSpPr txBox="1">
            <a:spLocks noChangeArrowheads="1"/>
          </p:cNvSpPr>
          <p:nvPr/>
        </p:nvSpPr>
        <p:spPr bwMode="auto">
          <a:xfrm>
            <a:off x="7620000" y="2411413"/>
            <a:ext cx="20574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a:t>c:    1010</a:t>
            </a:r>
          </a:p>
        </p:txBody>
      </p:sp>
      <p:sp>
        <p:nvSpPr>
          <p:cNvPr id="201" name="Text Box 50"/>
          <p:cNvSpPr txBox="1">
            <a:spLocks noChangeArrowheads="1"/>
          </p:cNvSpPr>
          <p:nvPr/>
        </p:nvSpPr>
        <p:spPr bwMode="auto">
          <a:xfrm>
            <a:off x="7620000" y="2868613"/>
            <a:ext cx="20574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a:t>d:    1011</a:t>
            </a:r>
          </a:p>
        </p:txBody>
      </p:sp>
      <p:sp>
        <p:nvSpPr>
          <p:cNvPr id="202" name="Text Box 51"/>
          <p:cNvSpPr txBox="1">
            <a:spLocks noChangeArrowheads="1"/>
          </p:cNvSpPr>
          <p:nvPr/>
        </p:nvSpPr>
        <p:spPr bwMode="auto">
          <a:xfrm>
            <a:off x="7620000" y="3402013"/>
            <a:ext cx="18288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a:t>e:    100</a:t>
            </a:r>
          </a:p>
        </p:txBody>
      </p:sp>
      <p:sp>
        <p:nvSpPr>
          <p:cNvPr id="203" name="Text Box 52"/>
          <p:cNvSpPr txBox="1">
            <a:spLocks noChangeArrowheads="1"/>
          </p:cNvSpPr>
          <p:nvPr/>
        </p:nvSpPr>
        <p:spPr bwMode="auto">
          <a:xfrm>
            <a:off x="7696200" y="4011613"/>
            <a:ext cx="16002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a:t>f:     01</a:t>
            </a:r>
          </a:p>
        </p:txBody>
      </p:sp>
      <p:sp>
        <p:nvSpPr>
          <p:cNvPr id="204" name="Text Box 53"/>
          <p:cNvSpPr txBox="1">
            <a:spLocks noChangeArrowheads="1"/>
          </p:cNvSpPr>
          <p:nvPr/>
        </p:nvSpPr>
        <p:spPr bwMode="auto">
          <a:xfrm>
            <a:off x="7620000" y="4545013"/>
            <a:ext cx="19812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a:t> g:     0011</a:t>
            </a:r>
          </a:p>
        </p:txBody>
      </p:sp>
      <p:sp>
        <p:nvSpPr>
          <p:cNvPr id="205" name="Text Box 54"/>
          <p:cNvSpPr txBox="1">
            <a:spLocks noChangeArrowheads="1"/>
          </p:cNvSpPr>
          <p:nvPr/>
        </p:nvSpPr>
        <p:spPr bwMode="auto">
          <a:xfrm>
            <a:off x="7620000" y="5078413"/>
            <a:ext cx="19812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a:t>h:     000</a:t>
            </a:r>
          </a:p>
        </p:txBody>
      </p:sp>
      <p:sp>
        <p:nvSpPr>
          <p:cNvPr id="206" name="Oval 55"/>
          <p:cNvSpPr>
            <a:spLocks noChangeArrowheads="1"/>
          </p:cNvSpPr>
          <p:nvPr/>
        </p:nvSpPr>
        <p:spPr bwMode="auto">
          <a:xfrm>
            <a:off x="2057400" y="4468813"/>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a:t>a</a:t>
            </a:r>
          </a:p>
        </p:txBody>
      </p:sp>
      <p:sp>
        <p:nvSpPr>
          <p:cNvPr id="207" name="Oval 56"/>
          <p:cNvSpPr>
            <a:spLocks noChangeArrowheads="1"/>
          </p:cNvSpPr>
          <p:nvPr/>
        </p:nvSpPr>
        <p:spPr bwMode="auto">
          <a:xfrm>
            <a:off x="6781800" y="3097213"/>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a:t>b</a:t>
            </a:r>
          </a:p>
        </p:txBody>
      </p:sp>
      <p:sp>
        <p:nvSpPr>
          <p:cNvPr id="208" name="Oval 57"/>
          <p:cNvSpPr>
            <a:spLocks noChangeArrowheads="1"/>
          </p:cNvSpPr>
          <p:nvPr/>
        </p:nvSpPr>
        <p:spPr bwMode="auto">
          <a:xfrm>
            <a:off x="4876800" y="4468813"/>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a:t>c</a:t>
            </a:r>
          </a:p>
        </p:txBody>
      </p:sp>
      <p:sp>
        <p:nvSpPr>
          <p:cNvPr id="209" name="Oval 58"/>
          <p:cNvSpPr>
            <a:spLocks noChangeArrowheads="1"/>
          </p:cNvSpPr>
          <p:nvPr/>
        </p:nvSpPr>
        <p:spPr bwMode="auto">
          <a:xfrm>
            <a:off x="5943600" y="4468813"/>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a:t>d</a:t>
            </a:r>
          </a:p>
        </p:txBody>
      </p:sp>
      <p:sp>
        <p:nvSpPr>
          <p:cNvPr id="210" name="Oval 59"/>
          <p:cNvSpPr>
            <a:spLocks noChangeArrowheads="1"/>
          </p:cNvSpPr>
          <p:nvPr/>
        </p:nvSpPr>
        <p:spPr bwMode="auto">
          <a:xfrm>
            <a:off x="4572000" y="3783013"/>
            <a:ext cx="381000" cy="381000"/>
          </a:xfrm>
          <a:prstGeom prst="ellipse">
            <a:avLst/>
          </a:prstGeom>
          <a:solidFill>
            <a:srgbClr val="99CCFF"/>
          </a:solidFill>
          <a:ln w="9525">
            <a:solidFill>
              <a:schemeClr val="tx1"/>
            </a:solidFill>
            <a:miter lim="800000"/>
            <a:headEnd/>
            <a:tailEnd/>
          </a:ln>
        </p:spPr>
        <p:txBody>
          <a:bodyPr wrap="none" anchor="ctr"/>
          <a:lstStyle/>
          <a:p>
            <a:pPr algn="ctr">
              <a:spcBef>
                <a:spcPct val="0"/>
              </a:spcBef>
              <a:buClrTx/>
              <a:buSzTx/>
              <a:buFontTx/>
              <a:buNone/>
            </a:pPr>
            <a:r>
              <a:rPr lang="en-US" altLang="zh-CN" sz="2400"/>
              <a:t>e</a:t>
            </a:r>
          </a:p>
        </p:txBody>
      </p:sp>
      <p:sp>
        <p:nvSpPr>
          <p:cNvPr id="211" name="Oval 60"/>
          <p:cNvSpPr>
            <a:spLocks noChangeArrowheads="1"/>
          </p:cNvSpPr>
          <p:nvPr/>
        </p:nvSpPr>
        <p:spPr bwMode="auto">
          <a:xfrm>
            <a:off x="3733800" y="3097213"/>
            <a:ext cx="381000" cy="381000"/>
          </a:xfrm>
          <a:prstGeom prst="ellipse">
            <a:avLst/>
          </a:prstGeom>
          <a:solidFill>
            <a:srgbClr val="99CCFF"/>
          </a:solidFill>
          <a:ln w="9525">
            <a:solidFill>
              <a:schemeClr val="tx1"/>
            </a:solidFill>
            <a:miter lim="800000"/>
            <a:headEnd/>
            <a:tailEnd/>
          </a:ln>
        </p:spPr>
        <p:txBody>
          <a:bodyPr wrap="none" anchor="ctr"/>
          <a:lstStyle/>
          <a:p>
            <a:pPr algn="ctr">
              <a:spcBef>
                <a:spcPct val="0"/>
              </a:spcBef>
              <a:buClrTx/>
              <a:buSzTx/>
              <a:buFontTx/>
              <a:buNone/>
            </a:pPr>
            <a:r>
              <a:rPr lang="en-US" altLang="zh-CN" sz="2400"/>
              <a:t>f</a:t>
            </a:r>
          </a:p>
        </p:txBody>
      </p:sp>
      <p:sp>
        <p:nvSpPr>
          <p:cNvPr id="212" name="Oval 61"/>
          <p:cNvSpPr>
            <a:spLocks noChangeArrowheads="1"/>
          </p:cNvSpPr>
          <p:nvPr/>
        </p:nvSpPr>
        <p:spPr bwMode="auto">
          <a:xfrm>
            <a:off x="3124200" y="4468813"/>
            <a:ext cx="381000" cy="381000"/>
          </a:xfrm>
          <a:prstGeom prst="ellipse">
            <a:avLst/>
          </a:prstGeom>
          <a:solidFill>
            <a:srgbClr val="99CCFF"/>
          </a:solidFill>
          <a:ln w="9525">
            <a:solidFill>
              <a:schemeClr val="tx1"/>
            </a:solidFill>
            <a:miter lim="800000"/>
            <a:headEnd/>
            <a:tailEnd/>
          </a:ln>
        </p:spPr>
        <p:txBody>
          <a:bodyPr wrap="none" anchor="ctr"/>
          <a:lstStyle/>
          <a:p>
            <a:pPr algn="ctr">
              <a:spcBef>
                <a:spcPct val="0"/>
              </a:spcBef>
              <a:buClrTx/>
              <a:buSzTx/>
              <a:buFontTx/>
              <a:buNone/>
            </a:pPr>
            <a:r>
              <a:rPr lang="en-US" altLang="zh-CN" sz="2400"/>
              <a:t>g</a:t>
            </a:r>
          </a:p>
        </p:txBody>
      </p:sp>
      <p:sp>
        <p:nvSpPr>
          <p:cNvPr id="213" name="Oval 62"/>
          <p:cNvSpPr>
            <a:spLocks noChangeArrowheads="1"/>
          </p:cNvSpPr>
          <p:nvPr/>
        </p:nvSpPr>
        <p:spPr bwMode="auto">
          <a:xfrm>
            <a:off x="1752600" y="3783013"/>
            <a:ext cx="381000" cy="381000"/>
          </a:xfrm>
          <a:prstGeom prst="ellipse">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0"/>
              </a:spcBef>
              <a:buClrTx/>
              <a:buSzTx/>
              <a:buFontTx/>
              <a:buNone/>
            </a:pPr>
            <a:r>
              <a:rPr lang="en-US" altLang="zh-CN" sz="2400"/>
              <a:t>h</a:t>
            </a:r>
          </a:p>
        </p:txBody>
      </p:sp>
      <p:sp>
        <p:nvSpPr>
          <p:cNvPr id="214" name="Text Box 33"/>
          <p:cNvSpPr txBox="1">
            <a:spLocks noChangeArrowheads="1"/>
          </p:cNvSpPr>
          <p:nvPr/>
        </p:nvSpPr>
        <p:spPr bwMode="auto">
          <a:xfrm>
            <a:off x="5087938" y="2420938"/>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0</a:t>
            </a:r>
          </a:p>
        </p:txBody>
      </p:sp>
      <p:sp>
        <p:nvSpPr>
          <p:cNvPr id="215" name="Text Box 34"/>
          <p:cNvSpPr txBox="1">
            <a:spLocks noChangeArrowheads="1"/>
          </p:cNvSpPr>
          <p:nvPr/>
        </p:nvSpPr>
        <p:spPr bwMode="auto">
          <a:xfrm>
            <a:off x="6456363" y="2349500"/>
            <a:ext cx="381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zh-CN"/>
            </a:defPPr>
            <a:lvl1pPr algn="ctr">
              <a:spcBef>
                <a:spcPct val="50000"/>
              </a:spcBef>
              <a:buClrTx/>
              <a:buSzTx/>
              <a:buFontTx/>
              <a:buNone/>
              <a:defRPr kumimoji="1" sz="2400" b="1">
                <a:latin typeface="Tahoma" pitchFamily="34" charset="0"/>
                <a:ea typeface="宋体" charset="-122"/>
              </a:defRPr>
            </a:lvl1pPr>
            <a:lvl2pPr marL="742950" indent="-285750" algn="ctr" eaLnBrk="0" hangingPunct="0">
              <a:spcBef>
                <a:spcPct val="0"/>
              </a:spcBef>
              <a:defRPr kumimoji="1" sz="3200">
                <a:latin typeface="Tahoma" pitchFamily="34" charset="0"/>
                <a:ea typeface="宋体" charset="-122"/>
              </a:defRPr>
            </a:lvl2pPr>
            <a:lvl3pPr marL="1143000" indent="-228600" algn="ctr" eaLnBrk="0" hangingPunct="0">
              <a:spcBef>
                <a:spcPct val="0"/>
              </a:spcBef>
              <a:defRPr kumimoji="1" sz="3200">
                <a:latin typeface="Tahoma" pitchFamily="34" charset="0"/>
                <a:ea typeface="宋体" charset="-122"/>
              </a:defRPr>
            </a:lvl3pPr>
            <a:lvl4pPr marL="1600200" indent="-228600" algn="ctr" eaLnBrk="0" hangingPunct="0">
              <a:spcBef>
                <a:spcPct val="0"/>
              </a:spcBef>
              <a:defRPr kumimoji="1" sz="3200">
                <a:latin typeface="Tahoma" pitchFamily="34" charset="0"/>
                <a:ea typeface="宋体" charset="-122"/>
              </a:defRPr>
            </a:lvl4pPr>
            <a:lvl5pPr marL="2057400" indent="-228600" algn="ctr" eaLnBrk="0" hangingPunct="0">
              <a:spcBef>
                <a:spcPct val="0"/>
              </a:spcBef>
              <a:defRPr kumimoji="1" sz="3200">
                <a:latin typeface="Tahoma" pitchFamily="34" charset="0"/>
                <a:ea typeface="宋体" charset="-122"/>
              </a:defRPr>
            </a:lvl5pPr>
            <a:lvl6pPr marL="2514600" indent="-228600" algn="ctr" eaLnBrk="0" fontAlgn="base" hangingPunct="0">
              <a:spcBef>
                <a:spcPct val="0"/>
              </a:spcBef>
              <a:spcAft>
                <a:spcPct val="0"/>
              </a:spcAft>
              <a:defRPr kumimoji="1" sz="3200">
                <a:latin typeface="Tahoma" pitchFamily="34" charset="0"/>
                <a:ea typeface="宋体" charset="-122"/>
              </a:defRPr>
            </a:lvl6pPr>
            <a:lvl7pPr marL="2971800" indent="-228600" algn="ctr" eaLnBrk="0" fontAlgn="base" hangingPunct="0">
              <a:spcBef>
                <a:spcPct val="0"/>
              </a:spcBef>
              <a:spcAft>
                <a:spcPct val="0"/>
              </a:spcAft>
              <a:defRPr kumimoji="1" sz="3200">
                <a:latin typeface="Tahoma" pitchFamily="34" charset="0"/>
                <a:ea typeface="宋体" charset="-122"/>
              </a:defRPr>
            </a:lvl7pPr>
            <a:lvl8pPr marL="3429000" indent="-228600" algn="ctr" eaLnBrk="0" fontAlgn="base" hangingPunct="0">
              <a:spcBef>
                <a:spcPct val="0"/>
              </a:spcBef>
              <a:spcAft>
                <a:spcPct val="0"/>
              </a:spcAft>
              <a:defRPr kumimoji="1" sz="3200">
                <a:latin typeface="Tahoma" pitchFamily="34" charset="0"/>
                <a:ea typeface="宋体" charset="-122"/>
              </a:defRPr>
            </a:lvl8pPr>
            <a:lvl9pPr marL="3886200" indent="-228600" algn="ctr" eaLnBrk="0" fontAlgn="base" hangingPunct="0">
              <a:spcBef>
                <a:spcPct val="0"/>
              </a:spcBef>
              <a:spcAft>
                <a:spcPct val="0"/>
              </a:spcAft>
              <a:defRPr kumimoji="1" sz="3200">
                <a:latin typeface="Tahoma" pitchFamily="34" charset="0"/>
                <a:ea typeface="宋体" charset="-122"/>
              </a:defRPr>
            </a:lvl9pPr>
          </a:lstStyle>
          <a:p>
            <a:r>
              <a:rPr lang="en-US" altLang="zh-CN"/>
              <a:t>1</a:t>
            </a:r>
          </a:p>
        </p:txBody>
      </p:sp>
      <p:cxnSp>
        <p:nvCxnSpPr>
          <p:cNvPr id="2" name="直接连接符 1">
            <a:extLst>
              <a:ext uri="{FF2B5EF4-FFF2-40B4-BE49-F238E27FC236}">
                <a16:creationId xmlns:a16="http://schemas.microsoft.com/office/drawing/2014/main" xmlns="" id="{F4A5521B-56DB-13F4-AF6D-7D122366504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738825F9-4960-454F-5F4A-7CB130047A3E}"/>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3493974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206"/>
                                        </p:tgtEl>
                                        <p:attrNameLst>
                                          <p:attrName>style.visibility</p:attrName>
                                        </p:attrNameLst>
                                      </p:cBhvr>
                                      <p:to>
                                        <p:strVal val="visible"/>
                                      </p:to>
                                    </p:set>
                                    <p:anim calcmode="lin" valueType="num">
                                      <p:cBhvr>
                                        <p:cTn id="7" dur="5000" fill="hold"/>
                                        <p:tgtEl>
                                          <p:spTgt spid="206"/>
                                        </p:tgtEl>
                                        <p:attrNameLst>
                                          <p:attrName>ppt_w</p:attrName>
                                        </p:attrNameLst>
                                      </p:cBhvr>
                                      <p:tavLst>
                                        <p:tav tm="0" fmla="#ppt_w*sin(2.5*pi*$)">
                                          <p:val>
                                            <p:fltVal val="0"/>
                                          </p:val>
                                        </p:tav>
                                        <p:tav tm="100000">
                                          <p:val>
                                            <p:fltVal val="1"/>
                                          </p:val>
                                        </p:tav>
                                      </p:tavLst>
                                    </p:anim>
                                    <p:anim calcmode="lin" valueType="num">
                                      <p:cBhvr>
                                        <p:cTn id="8" dur="5000" fill="hold"/>
                                        <p:tgtEl>
                                          <p:spTgt spid="206"/>
                                        </p:tgtEl>
                                        <p:attrNameLst>
                                          <p:attrName>ppt_h</p:attrName>
                                        </p:attrNameLst>
                                      </p:cBhvr>
                                      <p:tavLst>
                                        <p:tav tm="0">
                                          <p:val>
                                            <p:strVal val="#ppt_h"/>
                                          </p:val>
                                        </p:tav>
                                        <p:tav tm="100000">
                                          <p:val>
                                            <p:strVal val="#ppt_h"/>
                                          </p:val>
                                        </p:tav>
                                      </p:tavLst>
                                    </p:anim>
                                  </p:childTnLst>
                                </p:cTn>
                              </p:par>
                            </p:childTnLst>
                          </p:cTn>
                        </p:par>
                        <p:par>
                          <p:cTn id="9" fill="hold">
                            <p:stCondLst>
                              <p:cond delay="5000"/>
                            </p:stCondLst>
                            <p:childTnLst>
                              <p:par>
                                <p:cTn id="10" presetID="2" presetClass="entr" presetSubtype="2" fill="hold" grpId="0" nodeType="afterEffect">
                                  <p:stCondLst>
                                    <p:cond delay="4000"/>
                                  </p:stCondLst>
                                  <p:childTnLst>
                                    <p:set>
                                      <p:cBhvr>
                                        <p:cTn id="11" dur="1" fill="hold">
                                          <p:stCondLst>
                                            <p:cond delay="0"/>
                                          </p:stCondLst>
                                        </p:cTn>
                                        <p:tgtEl>
                                          <p:spTgt spid="198"/>
                                        </p:tgtEl>
                                        <p:attrNameLst>
                                          <p:attrName>style.visibility</p:attrName>
                                        </p:attrNameLst>
                                      </p:cBhvr>
                                      <p:to>
                                        <p:strVal val="visible"/>
                                      </p:to>
                                    </p:set>
                                    <p:anim calcmode="lin" valueType="num">
                                      <p:cBhvr additive="base">
                                        <p:cTn id="12" dur="500" fill="hold"/>
                                        <p:tgtEl>
                                          <p:spTgt spid="198"/>
                                        </p:tgtEl>
                                        <p:attrNameLst>
                                          <p:attrName>ppt_x</p:attrName>
                                        </p:attrNameLst>
                                      </p:cBhvr>
                                      <p:tavLst>
                                        <p:tav tm="0">
                                          <p:val>
                                            <p:strVal val="1+#ppt_w/2"/>
                                          </p:val>
                                        </p:tav>
                                        <p:tav tm="100000">
                                          <p:val>
                                            <p:strVal val="#ppt_x"/>
                                          </p:val>
                                        </p:tav>
                                      </p:tavLst>
                                    </p:anim>
                                    <p:anim calcmode="lin" valueType="num">
                                      <p:cBhvr additive="base">
                                        <p:cTn id="13" dur="500" fill="hold"/>
                                        <p:tgtEl>
                                          <p:spTgt spid="198"/>
                                        </p:tgtEl>
                                        <p:attrNameLst>
                                          <p:attrName>ppt_y</p:attrName>
                                        </p:attrNameLst>
                                      </p:cBhvr>
                                      <p:tavLst>
                                        <p:tav tm="0">
                                          <p:val>
                                            <p:strVal val="#ppt_y"/>
                                          </p:val>
                                        </p:tav>
                                        <p:tav tm="100000">
                                          <p:val>
                                            <p:strVal val="#ppt_y"/>
                                          </p:val>
                                        </p:tav>
                                      </p:tavLst>
                                    </p:anim>
                                  </p:childTnLst>
                                </p:cTn>
                              </p:par>
                            </p:childTnLst>
                          </p:cTn>
                        </p:par>
                        <p:par>
                          <p:cTn id="14" fill="hold">
                            <p:stCondLst>
                              <p:cond delay="9500"/>
                            </p:stCondLst>
                            <p:childTnLst>
                              <p:par>
                                <p:cTn id="15" presetID="19" presetClass="entr" presetSubtype="10" fill="hold" grpId="0" nodeType="afterEffect">
                                  <p:stCondLst>
                                    <p:cond delay="4000"/>
                                  </p:stCondLst>
                                  <p:childTnLst>
                                    <p:set>
                                      <p:cBhvr>
                                        <p:cTn id="16" dur="1" fill="hold">
                                          <p:stCondLst>
                                            <p:cond delay="0"/>
                                          </p:stCondLst>
                                        </p:cTn>
                                        <p:tgtEl>
                                          <p:spTgt spid="207"/>
                                        </p:tgtEl>
                                        <p:attrNameLst>
                                          <p:attrName>style.visibility</p:attrName>
                                        </p:attrNameLst>
                                      </p:cBhvr>
                                      <p:to>
                                        <p:strVal val="visible"/>
                                      </p:to>
                                    </p:set>
                                    <p:anim calcmode="lin" valueType="num">
                                      <p:cBhvr>
                                        <p:cTn id="17" dur="5000" fill="hold"/>
                                        <p:tgtEl>
                                          <p:spTgt spid="207"/>
                                        </p:tgtEl>
                                        <p:attrNameLst>
                                          <p:attrName>ppt_w</p:attrName>
                                        </p:attrNameLst>
                                      </p:cBhvr>
                                      <p:tavLst>
                                        <p:tav tm="0" fmla="#ppt_w*sin(2.5*pi*$)">
                                          <p:val>
                                            <p:fltVal val="0"/>
                                          </p:val>
                                        </p:tav>
                                        <p:tav tm="100000">
                                          <p:val>
                                            <p:fltVal val="1"/>
                                          </p:val>
                                        </p:tav>
                                      </p:tavLst>
                                    </p:anim>
                                    <p:anim calcmode="lin" valueType="num">
                                      <p:cBhvr>
                                        <p:cTn id="18" dur="5000" fill="hold"/>
                                        <p:tgtEl>
                                          <p:spTgt spid="207"/>
                                        </p:tgtEl>
                                        <p:attrNameLst>
                                          <p:attrName>ppt_h</p:attrName>
                                        </p:attrNameLst>
                                      </p:cBhvr>
                                      <p:tavLst>
                                        <p:tav tm="0">
                                          <p:val>
                                            <p:strVal val="#ppt_h"/>
                                          </p:val>
                                        </p:tav>
                                        <p:tav tm="100000">
                                          <p:val>
                                            <p:strVal val="#ppt_h"/>
                                          </p:val>
                                        </p:tav>
                                      </p:tavLst>
                                    </p:anim>
                                  </p:childTnLst>
                                </p:cTn>
                              </p:par>
                            </p:childTnLst>
                          </p:cTn>
                        </p:par>
                        <p:par>
                          <p:cTn id="19" fill="hold">
                            <p:stCondLst>
                              <p:cond delay="18500"/>
                            </p:stCondLst>
                            <p:childTnLst>
                              <p:par>
                                <p:cTn id="20" presetID="2" presetClass="entr" presetSubtype="2" fill="hold" grpId="0" nodeType="afterEffect">
                                  <p:stCondLst>
                                    <p:cond delay="5000"/>
                                  </p:stCondLst>
                                  <p:childTnLst>
                                    <p:set>
                                      <p:cBhvr>
                                        <p:cTn id="21" dur="1" fill="hold">
                                          <p:stCondLst>
                                            <p:cond delay="0"/>
                                          </p:stCondLst>
                                        </p:cTn>
                                        <p:tgtEl>
                                          <p:spTgt spid="199"/>
                                        </p:tgtEl>
                                        <p:attrNameLst>
                                          <p:attrName>style.visibility</p:attrName>
                                        </p:attrNameLst>
                                      </p:cBhvr>
                                      <p:to>
                                        <p:strVal val="visible"/>
                                      </p:to>
                                    </p:set>
                                    <p:anim calcmode="lin" valueType="num">
                                      <p:cBhvr additive="base">
                                        <p:cTn id="22" dur="500" fill="hold"/>
                                        <p:tgtEl>
                                          <p:spTgt spid="199"/>
                                        </p:tgtEl>
                                        <p:attrNameLst>
                                          <p:attrName>ppt_x</p:attrName>
                                        </p:attrNameLst>
                                      </p:cBhvr>
                                      <p:tavLst>
                                        <p:tav tm="0">
                                          <p:val>
                                            <p:strVal val="1+#ppt_w/2"/>
                                          </p:val>
                                        </p:tav>
                                        <p:tav tm="100000">
                                          <p:val>
                                            <p:strVal val="#ppt_x"/>
                                          </p:val>
                                        </p:tav>
                                      </p:tavLst>
                                    </p:anim>
                                    <p:anim calcmode="lin" valueType="num">
                                      <p:cBhvr additive="base">
                                        <p:cTn id="23" dur="500" fill="hold"/>
                                        <p:tgtEl>
                                          <p:spTgt spid="199"/>
                                        </p:tgtEl>
                                        <p:attrNameLst>
                                          <p:attrName>ppt_y</p:attrName>
                                        </p:attrNameLst>
                                      </p:cBhvr>
                                      <p:tavLst>
                                        <p:tav tm="0">
                                          <p:val>
                                            <p:strVal val="#ppt_y"/>
                                          </p:val>
                                        </p:tav>
                                        <p:tav tm="100000">
                                          <p:val>
                                            <p:strVal val="#ppt_y"/>
                                          </p:val>
                                        </p:tav>
                                      </p:tavLst>
                                    </p:anim>
                                  </p:childTnLst>
                                </p:cTn>
                              </p:par>
                            </p:childTnLst>
                          </p:cTn>
                        </p:par>
                        <p:par>
                          <p:cTn id="24" fill="hold">
                            <p:stCondLst>
                              <p:cond delay="24000"/>
                            </p:stCondLst>
                            <p:childTnLst>
                              <p:par>
                                <p:cTn id="25" presetID="19" presetClass="entr" presetSubtype="10" fill="hold" grpId="0" nodeType="afterEffect">
                                  <p:stCondLst>
                                    <p:cond delay="4000"/>
                                  </p:stCondLst>
                                  <p:childTnLst>
                                    <p:set>
                                      <p:cBhvr>
                                        <p:cTn id="26" dur="1" fill="hold">
                                          <p:stCondLst>
                                            <p:cond delay="0"/>
                                          </p:stCondLst>
                                        </p:cTn>
                                        <p:tgtEl>
                                          <p:spTgt spid="208"/>
                                        </p:tgtEl>
                                        <p:attrNameLst>
                                          <p:attrName>style.visibility</p:attrName>
                                        </p:attrNameLst>
                                      </p:cBhvr>
                                      <p:to>
                                        <p:strVal val="visible"/>
                                      </p:to>
                                    </p:set>
                                    <p:anim calcmode="lin" valueType="num">
                                      <p:cBhvr>
                                        <p:cTn id="27" dur="5000" fill="hold"/>
                                        <p:tgtEl>
                                          <p:spTgt spid="208"/>
                                        </p:tgtEl>
                                        <p:attrNameLst>
                                          <p:attrName>ppt_w</p:attrName>
                                        </p:attrNameLst>
                                      </p:cBhvr>
                                      <p:tavLst>
                                        <p:tav tm="0" fmla="#ppt_w*sin(2.5*pi*$)">
                                          <p:val>
                                            <p:fltVal val="0"/>
                                          </p:val>
                                        </p:tav>
                                        <p:tav tm="100000">
                                          <p:val>
                                            <p:fltVal val="1"/>
                                          </p:val>
                                        </p:tav>
                                      </p:tavLst>
                                    </p:anim>
                                    <p:anim calcmode="lin" valueType="num">
                                      <p:cBhvr>
                                        <p:cTn id="28" dur="5000" fill="hold"/>
                                        <p:tgtEl>
                                          <p:spTgt spid="208"/>
                                        </p:tgtEl>
                                        <p:attrNameLst>
                                          <p:attrName>ppt_h</p:attrName>
                                        </p:attrNameLst>
                                      </p:cBhvr>
                                      <p:tavLst>
                                        <p:tav tm="0">
                                          <p:val>
                                            <p:strVal val="#ppt_h"/>
                                          </p:val>
                                        </p:tav>
                                        <p:tav tm="100000">
                                          <p:val>
                                            <p:strVal val="#ppt_h"/>
                                          </p:val>
                                        </p:tav>
                                      </p:tavLst>
                                    </p:anim>
                                  </p:childTnLst>
                                </p:cTn>
                              </p:par>
                            </p:childTnLst>
                          </p:cTn>
                        </p:par>
                        <p:par>
                          <p:cTn id="29" fill="hold">
                            <p:stCondLst>
                              <p:cond delay="33000"/>
                            </p:stCondLst>
                            <p:childTnLst>
                              <p:par>
                                <p:cTn id="30" presetID="2" presetClass="entr" presetSubtype="2" fill="hold" grpId="0" nodeType="afterEffect">
                                  <p:stCondLst>
                                    <p:cond delay="4000"/>
                                  </p:stCondLst>
                                  <p:childTnLst>
                                    <p:set>
                                      <p:cBhvr>
                                        <p:cTn id="31" dur="1" fill="hold">
                                          <p:stCondLst>
                                            <p:cond delay="0"/>
                                          </p:stCondLst>
                                        </p:cTn>
                                        <p:tgtEl>
                                          <p:spTgt spid="200"/>
                                        </p:tgtEl>
                                        <p:attrNameLst>
                                          <p:attrName>style.visibility</p:attrName>
                                        </p:attrNameLst>
                                      </p:cBhvr>
                                      <p:to>
                                        <p:strVal val="visible"/>
                                      </p:to>
                                    </p:set>
                                    <p:anim calcmode="lin" valueType="num">
                                      <p:cBhvr additive="base">
                                        <p:cTn id="32" dur="500" fill="hold"/>
                                        <p:tgtEl>
                                          <p:spTgt spid="200"/>
                                        </p:tgtEl>
                                        <p:attrNameLst>
                                          <p:attrName>ppt_x</p:attrName>
                                        </p:attrNameLst>
                                      </p:cBhvr>
                                      <p:tavLst>
                                        <p:tav tm="0">
                                          <p:val>
                                            <p:strVal val="1+#ppt_w/2"/>
                                          </p:val>
                                        </p:tav>
                                        <p:tav tm="100000">
                                          <p:val>
                                            <p:strVal val="#ppt_x"/>
                                          </p:val>
                                        </p:tav>
                                      </p:tavLst>
                                    </p:anim>
                                    <p:anim calcmode="lin" valueType="num">
                                      <p:cBhvr additive="base">
                                        <p:cTn id="33" dur="500" fill="hold"/>
                                        <p:tgtEl>
                                          <p:spTgt spid="200"/>
                                        </p:tgtEl>
                                        <p:attrNameLst>
                                          <p:attrName>ppt_y</p:attrName>
                                        </p:attrNameLst>
                                      </p:cBhvr>
                                      <p:tavLst>
                                        <p:tav tm="0">
                                          <p:val>
                                            <p:strVal val="#ppt_y"/>
                                          </p:val>
                                        </p:tav>
                                        <p:tav tm="100000">
                                          <p:val>
                                            <p:strVal val="#ppt_y"/>
                                          </p:val>
                                        </p:tav>
                                      </p:tavLst>
                                    </p:anim>
                                  </p:childTnLst>
                                </p:cTn>
                              </p:par>
                            </p:childTnLst>
                          </p:cTn>
                        </p:par>
                        <p:par>
                          <p:cTn id="34" fill="hold">
                            <p:stCondLst>
                              <p:cond delay="37500"/>
                            </p:stCondLst>
                            <p:childTnLst>
                              <p:par>
                                <p:cTn id="35" presetID="19" presetClass="entr" presetSubtype="10" fill="hold" grpId="0" nodeType="afterEffect">
                                  <p:stCondLst>
                                    <p:cond delay="4000"/>
                                  </p:stCondLst>
                                  <p:childTnLst>
                                    <p:set>
                                      <p:cBhvr>
                                        <p:cTn id="36" dur="1" fill="hold">
                                          <p:stCondLst>
                                            <p:cond delay="0"/>
                                          </p:stCondLst>
                                        </p:cTn>
                                        <p:tgtEl>
                                          <p:spTgt spid="209"/>
                                        </p:tgtEl>
                                        <p:attrNameLst>
                                          <p:attrName>style.visibility</p:attrName>
                                        </p:attrNameLst>
                                      </p:cBhvr>
                                      <p:to>
                                        <p:strVal val="visible"/>
                                      </p:to>
                                    </p:set>
                                    <p:anim calcmode="lin" valueType="num">
                                      <p:cBhvr>
                                        <p:cTn id="37" dur="5000" fill="hold"/>
                                        <p:tgtEl>
                                          <p:spTgt spid="209"/>
                                        </p:tgtEl>
                                        <p:attrNameLst>
                                          <p:attrName>ppt_w</p:attrName>
                                        </p:attrNameLst>
                                      </p:cBhvr>
                                      <p:tavLst>
                                        <p:tav tm="0" fmla="#ppt_w*sin(2.5*pi*$)">
                                          <p:val>
                                            <p:fltVal val="0"/>
                                          </p:val>
                                        </p:tav>
                                        <p:tav tm="100000">
                                          <p:val>
                                            <p:fltVal val="1"/>
                                          </p:val>
                                        </p:tav>
                                      </p:tavLst>
                                    </p:anim>
                                    <p:anim calcmode="lin" valueType="num">
                                      <p:cBhvr>
                                        <p:cTn id="38" dur="5000" fill="hold"/>
                                        <p:tgtEl>
                                          <p:spTgt spid="209"/>
                                        </p:tgtEl>
                                        <p:attrNameLst>
                                          <p:attrName>ppt_h</p:attrName>
                                        </p:attrNameLst>
                                      </p:cBhvr>
                                      <p:tavLst>
                                        <p:tav tm="0">
                                          <p:val>
                                            <p:strVal val="#ppt_h"/>
                                          </p:val>
                                        </p:tav>
                                        <p:tav tm="100000">
                                          <p:val>
                                            <p:strVal val="#ppt_h"/>
                                          </p:val>
                                        </p:tav>
                                      </p:tavLst>
                                    </p:anim>
                                  </p:childTnLst>
                                </p:cTn>
                              </p:par>
                            </p:childTnLst>
                          </p:cTn>
                        </p:par>
                        <p:par>
                          <p:cTn id="39" fill="hold">
                            <p:stCondLst>
                              <p:cond delay="46500"/>
                            </p:stCondLst>
                            <p:childTnLst>
                              <p:par>
                                <p:cTn id="40" presetID="2" presetClass="entr" presetSubtype="2" fill="hold" grpId="0" nodeType="afterEffect">
                                  <p:stCondLst>
                                    <p:cond delay="5000"/>
                                  </p:stCondLst>
                                  <p:childTnLst>
                                    <p:set>
                                      <p:cBhvr>
                                        <p:cTn id="41" dur="1" fill="hold">
                                          <p:stCondLst>
                                            <p:cond delay="0"/>
                                          </p:stCondLst>
                                        </p:cTn>
                                        <p:tgtEl>
                                          <p:spTgt spid="201"/>
                                        </p:tgtEl>
                                        <p:attrNameLst>
                                          <p:attrName>style.visibility</p:attrName>
                                        </p:attrNameLst>
                                      </p:cBhvr>
                                      <p:to>
                                        <p:strVal val="visible"/>
                                      </p:to>
                                    </p:set>
                                    <p:anim calcmode="lin" valueType="num">
                                      <p:cBhvr additive="base">
                                        <p:cTn id="42" dur="500" fill="hold"/>
                                        <p:tgtEl>
                                          <p:spTgt spid="201"/>
                                        </p:tgtEl>
                                        <p:attrNameLst>
                                          <p:attrName>ppt_x</p:attrName>
                                        </p:attrNameLst>
                                      </p:cBhvr>
                                      <p:tavLst>
                                        <p:tav tm="0">
                                          <p:val>
                                            <p:strVal val="1+#ppt_w/2"/>
                                          </p:val>
                                        </p:tav>
                                        <p:tav tm="100000">
                                          <p:val>
                                            <p:strVal val="#ppt_x"/>
                                          </p:val>
                                        </p:tav>
                                      </p:tavLst>
                                    </p:anim>
                                    <p:anim calcmode="lin" valueType="num">
                                      <p:cBhvr additive="base">
                                        <p:cTn id="43" dur="500" fill="hold"/>
                                        <p:tgtEl>
                                          <p:spTgt spid="201"/>
                                        </p:tgtEl>
                                        <p:attrNameLst>
                                          <p:attrName>ppt_y</p:attrName>
                                        </p:attrNameLst>
                                      </p:cBhvr>
                                      <p:tavLst>
                                        <p:tav tm="0">
                                          <p:val>
                                            <p:strVal val="#ppt_y"/>
                                          </p:val>
                                        </p:tav>
                                        <p:tav tm="100000">
                                          <p:val>
                                            <p:strVal val="#ppt_y"/>
                                          </p:val>
                                        </p:tav>
                                      </p:tavLst>
                                    </p:anim>
                                  </p:childTnLst>
                                </p:cTn>
                              </p:par>
                            </p:childTnLst>
                          </p:cTn>
                        </p:par>
                        <p:par>
                          <p:cTn id="44" fill="hold">
                            <p:stCondLst>
                              <p:cond delay="52000"/>
                            </p:stCondLst>
                            <p:childTnLst>
                              <p:par>
                                <p:cTn id="45" presetID="9" presetClass="entr" presetSubtype="0" fill="hold" grpId="0" nodeType="afterEffect">
                                  <p:stCondLst>
                                    <p:cond delay="4000"/>
                                  </p:stCondLst>
                                  <p:childTnLst>
                                    <p:set>
                                      <p:cBhvr>
                                        <p:cTn id="46" dur="1" fill="hold">
                                          <p:stCondLst>
                                            <p:cond delay="0"/>
                                          </p:stCondLst>
                                        </p:cTn>
                                        <p:tgtEl>
                                          <p:spTgt spid="210"/>
                                        </p:tgtEl>
                                        <p:attrNameLst>
                                          <p:attrName>style.visibility</p:attrName>
                                        </p:attrNameLst>
                                      </p:cBhvr>
                                      <p:to>
                                        <p:strVal val="visible"/>
                                      </p:to>
                                    </p:set>
                                    <p:animEffect transition="in" filter="dissolve">
                                      <p:cBhvr>
                                        <p:cTn id="47" dur="500"/>
                                        <p:tgtEl>
                                          <p:spTgt spid="210"/>
                                        </p:tgtEl>
                                      </p:cBhvr>
                                    </p:animEffect>
                                  </p:childTnLst>
                                </p:cTn>
                              </p:par>
                            </p:childTnLst>
                          </p:cTn>
                        </p:par>
                        <p:par>
                          <p:cTn id="48" fill="hold">
                            <p:stCondLst>
                              <p:cond delay="56500"/>
                            </p:stCondLst>
                            <p:childTnLst>
                              <p:par>
                                <p:cTn id="49" presetID="2" presetClass="entr" presetSubtype="2" fill="hold" grpId="0" nodeType="afterEffect">
                                  <p:stCondLst>
                                    <p:cond delay="5000"/>
                                  </p:stCondLst>
                                  <p:childTnLst>
                                    <p:set>
                                      <p:cBhvr>
                                        <p:cTn id="50" dur="1" fill="hold">
                                          <p:stCondLst>
                                            <p:cond delay="0"/>
                                          </p:stCondLst>
                                        </p:cTn>
                                        <p:tgtEl>
                                          <p:spTgt spid="202"/>
                                        </p:tgtEl>
                                        <p:attrNameLst>
                                          <p:attrName>style.visibility</p:attrName>
                                        </p:attrNameLst>
                                      </p:cBhvr>
                                      <p:to>
                                        <p:strVal val="visible"/>
                                      </p:to>
                                    </p:set>
                                    <p:anim calcmode="lin" valueType="num">
                                      <p:cBhvr additive="base">
                                        <p:cTn id="51" dur="500" fill="hold"/>
                                        <p:tgtEl>
                                          <p:spTgt spid="202"/>
                                        </p:tgtEl>
                                        <p:attrNameLst>
                                          <p:attrName>ppt_x</p:attrName>
                                        </p:attrNameLst>
                                      </p:cBhvr>
                                      <p:tavLst>
                                        <p:tav tm="0">
                                          <p:val>
                                            <p:strVal val="1+#ppt_w/2"/>
                                          </p:val>
                                        </p:tav>
                                        <p:tav tm="100000">
                                          <p:val>
                                            <p:strVal val="#ppt_x"/>
                                          </p:val>
                                        </p:tav>
                                      </p:tavLst>
                                    </p:anim>
                                    <p:anim calcmode="lin" valueType="num">
                                      <p:cBhvr additive="base">
                                        <p:cTn id="52" dur="500" fill="hold"/>
                                        <p:tgtEl>
                                          <p:spTgt spid="202"/>
                                        </p:tgtEl>
                                        <p:attrNameLst>
                                          <p:attrName>ppt_y</p:attrName>
                                        </p:attrNameLst>
                                      </p:cBhvr>
                                      <p:tavLst>
                                        <p:tav tm="0">
                                          <p:val>
                                            <p:strVal val="#ppt_y"/>
                                          </p:val>
                                        </p:tav>
                                        <p:tav tm="100000">
                                          <p:val>
                                            <p:strVal val="#ppt_y"/>
                                          </p:val>
                                        </p:tav>
                                      </p:tavLst>
                                    </p:anim>
                                  </p:childTnLst>
                                </p:cTn>
                              </p:par>
                            </p:childTnLst>
                          </p:cTn>
                        </p:par>
                        <p:par>
                          <p:cTn id="53" fill="hold">
                            <p:stCondLst>
                              <p:cond delay="62000"/>
                            </p:stCondLst>
                            <p:childTnLst>
                              <p:par>
                                <p:cTn id="54" presetID="9" presetClass="entr" presetSubtype="0" fill="hold" grpId="0" nodeType="afterEffect">
                                  <p:stCondLst>
                                    <p:cond delay="4000"/>
                                  </p:stCondLst>
                                  <p:childTnLst>
                                    <p:set>
                                      <p:cBhvr>
                                        <p:cTn id="55" dur="1" fill="hold">
                                          <p:stCondLst>
                                            <p:cond delay="0"/>
                                          </p:stCondLst>
                                        </p:cTn>
                                        <p:tgtEl>
                                          <p:spTgt spid="211"/>
                                        </p:tgtEl>
                                        <p:attrNameLst>
                                          <p:attrName>style.visibility</p:attrName>
                                        </p:attrNameLst>
                                      </p:cBhvr>
                                      <p:to>
                                        <p:strVal val="visible"/>
                                      </p:to>
                                    </p:set>
                                    <p:animEffect transition="in" filter="dissolve">
                                      <p:cBhvr>
                                        <p:cTn id="56" dur="500"/>
                                        <p:tgtEl>
                                          <p:spTgt spid="211"/>
                                        </p:tgtEl>
                                      </p:cBhvr>
                                    </p:animEffect>
                                  </p:childTnLst>
                                </p:cTn>
                              </p:par>
                            </p:childTnLst>
                          </p:cTn>
                        </p:par>
                        <p:par>
                          <p:cTn id="57" fill="hold">
                            <p:stCondLst>
                              <p:cond delay="66500"/>
                            </p:stCondLst>
                            <p:childTnLst>
                              <p:par>
                                <p:cTn id="58" presetID="2" presetClass="entr" presetSubtype="2" fill="hold" grpId="0" nodeType="afterEffect">
                                  <p:stCondLst>
                                    <p:cond delay="5000"/>
                                  </p:stCondLst>
                                  <p:childTnLst>
                                    <p:set>
                                      <p:cBhvr>
                                        <p:cTn id="59" dur="1" fill="hold">
                                          <p:stCondLst>
                                            <p:cond delay="0"/>
                                          </p:stCondLst>
                                        </p:cTn>
                                        <p:tgtEl>
                                          <p:spTgt spid="203"/>
                                        </p:tgtEl>
                                        <p:attrNameLst>
                                          <p:attrName>style.visibility</p:attrName>
                                        </p:attrNameLst>
                                      </p:cBhvr>
                                      <p:to>
                                        <p:strVal val="visible"/>
                                      </p:to>
                                    </p:set>
                                    <p:anim calcmode="lin" valueType="num">
                                      <p:cBhvr additive="base">
                                        <p:cTn id="60" dur="500" fill="hold"/>
                                        <p:tgtEl>
                                          <p:spTgt spid="203"/>
                                        </p:tgtEl>
                                        <p:attrNameLst>
                                          <p:attrName>ppt_x</p:attrName>
                                        </p:attrNameLst>
                                      </p:cBhvr>
                                      <p:tavLst>
                                        <p:tav tm="0">
                                          <p:val>
                                            <p:strVal val="1+#ppt_w/2"/>
                                          </p:val>
                                        </p:tav>
                                        <p:tav tm="100000">
                                          <p:val>
                                            <p:strVal val="#ppt_x"/>
                                          </p:val>
                                        </p:tav>
                                      </p:tavLst>
                                    </p:anim>
                                    <p:anim calcmode="lin" valueType="num">
                                      <p:cBhvr additive="base">
                                        <p:cTn id="61" dur="500" fill="hold"/>
                                        <p:tgtEl>
                                          <p:spTgt spid="203"/>
                                        </p:tgtEl>
                                        <p:attrNameLst>
                                          <p:attrName>ppt_y</p:attrName>
                                        </p:attrNameLst>
                                      </p:cBhvr>
                                      <p:tavLst>
                                        <p:tav tm="0">
                                          <p:val>
                                            <p:strVal val="#ppt_y"/>
                                          </p:val>
                                        </p:tav>
                                        <p:tav tm="100000">
                                          <p:val>
                                            <p:strVal val="#ppt_y"/>
                                          </p:val>
                                        </p:tav>
                                      </p:tavLst>
                                    </p:anim>
                                  </p:childTnLst>
                                </p:cTn>
                              </p:par>
                            </p:childTnLst>
                          </p:cTn>
                        </p:par>
                        <p:par>
                          <p:cTn id="62" fill="hold">
                            <p:stCondLst>
                              <p:cond delay="72000"/>
                            </p:stCondLst>
                            <p:childTnLst>
                              <p:par>
                                <p:cTn id="63" presetID="9" presetClass="entr" presetSubtype="0" fill="hold" grpId="0" nodeType="afterEffect">
                                  <p:stCondLst>
                                    <p:cond delay="4000"/>
                                  </p:stCondLst>
                                  <p:childTnLst>
                                    <p:set>
                                      <p:cBhvr>
                                        <p:cTn id="64" dur="1" fill="hold">
                                          <p:stCondLst>
                                            <p:cond delay="0"/>
                                          </p:stCondLst>
                                        </p:cTn>
                                        <p:tgtEl>
                                          <p:spTgt spid="212"/>
                                        </p:tgtEl>
                                        <p:attrNameLst>
                                          <p:attrName>style.visibility</p:attrName>
                                        </p:attrNameLst>
                                      </p:cBhvr>
                                      <p:to>
                                        <p:strVal val="visible"/>
                                      </p:to>
                                    </p:set>
                                    <p:animEffect transition="in" filter="dissolve">
                                      <p:cBhvr>
                                        <p:cTn id="65" dur="500"/>
                                        <p:tgtEl>
                                          <p:spTgt spid="212"/>
                                        </p:tgtEl>
                                      </p:cBhvr>
                                    </p:animEffect>
                                  </p:childTnLst>
                                </p:cTn>
                              </p:par>
                            </p:childTnLst>
                          </p:cTn>
                        </p:par>
                        <p:par>
                          <p:cTn id="66" fill="hold">
                            <p:stCondLst>
                              <p:cond delay="76500"/>
                            </p:stCondLst>
                            <p:childTnLst>
                              <p:par>
                                <p:cTn id="67" presetID="2" presetClass="entr" presetSubtype="2" fill="hold" grpId="0" nodeType="afterEffect">
                                  <p:stCondLst>
                                    <p:cond delay="5000"/>
                                  </p:stCondLst>
                                  <p:childTnLst>
                                    <p:set>
                                      <p:cBhvr>
                                        <p:cTn id="68" dur="1" fill="hold">
                                          <p:stCondLst>
                                            <p:cond delay="0"/>
                                          </p:stCondLst>
                                        </p:cTn>
                                        <p:tgtEl>
                                          <p:spTgt spid="204"/>
                                        </p:tgtEl>
                                        <p:attrNameLst>
                                          <p:attrName>style.visibility</p:attrName>
                                        </p:attrNameLst>
                                      </p:cBhvr>
                                      <p:to>
                                        <p:strVal val="visible"/>
                                      </p:to>
                                    </p:set>
                                    <p:anim calcmode="lin" valueType="num">
                                      <p:cBhvr additive="base">
                                        <p:cTn id="69" dur="500" fill="hold"/>
                                        <p:tgtEl>
                                          <p:spTgt spid="204"/>
                                        </p:tgtEl>
                                        <p:attrNameLst>
                                          <p:attrName>ppt_x</p:attrName>
                                        </p:attrNameLst>
                                      </p:cBhvr>
                                      <p:tavLst>
                                        <p:tav tm="0">
                                          <p:val>
                                            <p:strVal val="1+#ppt_w/2"/>
                                          </p:val>
                                        </p:tav>
                                        <p:tav tm="100000">
                                          <p:val>
                                            <p:strVal val="#ppt_x"/>
                                          </p:val>
                                        </p:tav>
                                      </p:tavLst>
                                    </p:anim>
                                    <p:anim calcmode="lin" valueType="num">
                                      <p:cBhvr additive="base">
                                        <p:cTn id="70" dur="500" fill="hold"/>
                                        <p:tgtEl>
                                          <p:spTgt spid="204"/>
                                        </p:tgtEl>
                                        <p:attrNameLst>
                                          <p:attrName>ppt_y</p:attrName>
                                        </p:attrNameLst>
                                      </p:cBhvr>
                                      <p:tavLst>
                                        <p:tav tm="0">
                                          <p:val>
                                            <p:strVal val="#ppt_y"/>
                                          </p:val>
                                        </p:tav>
                                        <p:tav tm="100000">
                                          <p:val>
                                            <p:strVal val="#ppt_y"/>
                                          </p:val>
                                        </p:tav>
                                      </p:tavLst>
                                    </p:anim>
                                  </p:childTnLst>
                                </p:cTn>
                              </p:par>
                            </p:childTnLst>
                          </p:cTn>
                        </p:par>
                        <p:par>
                          <p:cTn id="71" fill="hold">
                            <p:stCondLst>
                              <p:cond delay="82000"/>
                            </p:stCondLst>
                            <p:childTnLst>
                              <p:par>
                                <p:cTn id="72" presetID="9" presetClass="entr" presetSubtype="0" fill="hold" grpId="0" nodeType="afterEffect">
                                  <p:stCondLst>
                                    <p:cond delay="4000"/>
                                  </p:stCondLst>
                                  <p:childTnLst>
                                    <p:set>
                                      <p:cBhvr>
                                        <p:cTn id="73" dur="1" fill="hold">
                                          <p:stCondLst>
                                            <p:cond delay="0"/>
                                          </p:stCondLst>
                                        </p:cTn>
                                        <p:tgtEl>
                                          <p:spTgt spid="213"/>
                                        </p:tgtEl>
                                        <p:attrNameLst>
                                          <p:attrName>style.visibility</p:attrName>
                                        </p:attrNameLst>
                                      </p:cBhvr>
                                      <p:to>
                                        <p:strVal val="visible"/>
                                      </p:to>
                                    </p:set>
                                    <p:animEffect transition="in" filter="dissolve">
                                      <p:cBhvr>
                                        <p:cTn id="74" dur="500"/>
                                        <p:tgtEl>
                                          <p:spTgt spid="213"/>
                                        </p:tgtEl>
                                      </p:cBhvr>
                                    </p:animEffect>
                                  </p:childTnLst>
                                </p:cTn>
                              </p:par>
                            </p:childTnLst>
                          </p:cTn>
                        </p:par>
                        <p:par>
                          <p:cTn id="75" fill="hold">
                            <p:stCondLst>
                              <p:cond delay="86500"/>
                            </p:stCondLst>
                            <p:childTnLst>
                              <p:par>
                                <p:cTn id="76" presetID="2" presetClass="entr" presetSubtype="2" fill="hold" grpId="0" nodeType="afterEffect">
                                  <p:stCondLst>
                                    <p:cond delay="5000"/>
                                  </p:stCondLst>
                                  <p:childTnLst>
                                    <p:set>
                                      <p:cBhvr>
                                        <p:cTn id="77" dur="1" fill="hold">
                                          <p:stCondLst>
                                            <p:cond delay="0"/>
                                          </p:stCondLst>
                                        </p:cTn>
                                        <p:tgtEl>
                                          <p:spTgt spid="205"/>
                                        </p:tgtEl>
                                        <p:attrNameLst>
                                          <p:attrName>style.visibility</p:attrName>
                                        </p:attrNameLst>
                                      </p:cBhvr>
                                      <p:to>
                                        <p:strVal val="visible"/>
                                      </p:to>
                                    </p:set>
                                    <p:anim calcmode="lin" valueType="num">
                                      <p:cBhvr additive="base">
                                        <p:cTn id="78" dur="500" fill="hold"/>
                                        <p:tgtEl>
                                          <p:spTgt spid="205"/>
                                        </p:tgtEl>
                                        <p:attrNameLst>
                                          <p:attrName>ppt_x</p:attrName>
                                        </p:attrNameLst>
                                      </p:cBhvr>
                                      <p:tavLst>
                                        <p:tav tm="0">
                                          <p:val>
                                            <p:strVal val="1+#ppt_w/2"/>
                                          </p:val>
                                        </p:tav>
                                        <p:tav tm="100000">
                                          <p:val>
                                            <p:strVal val="#ppt_x"/>
                                          </p:val>
                                        </p:tav>
                                      </p:tavLst>
                                    </p:anim>
                                    <p:anim calcmode="lin" valueType="num">
                                      <p:cBhvr additive="base">
                                        <p:cTn id="79" dur="500" fill="hold"/>
                                        <p:tgtEl>
                                          <p:spTgt spid="2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utoUpdateAnimBg="0"/>
      <p:bldP spid="199" grpId="0" autoUpdateAnimBg="0"/>
      <p:bldP spid="200" grpId="0" autoUpdateAnimBg="0"/>
      <p:bldP spid="201" grpId="0" autoUpdateAnimBg="0"/>
      <p:bldP spid="202" grpId="0" autoUpdateAnimBg="0"/>
      <p:bldP spid="203" grpId="0" autoUpdateAnimBg="0"/>
      <p:bldP spid="204" grpId="0" autoUpdateAnimBg="0"/>
      <p:bldP spid="205" grpId="0" autoUpdateAnimBg="0"/>
      <p:bldP spid="206" grpId="0" animBg="1" autoUpdateAnimBg="0"/>
      <p:bldP spid="207" grpId="0" animBg="1" autoUpdateAnimBg="0"/>
      <p:bldP spid="208" grpId="0" animBg="1" autoUpdateAnimBg="0"/>
      <p:bldP spid="209" grpId="0" animBg="1" autoUpdateAnimBg="0"/>
      <p:bldP spid="210" grpId="0" animBg="1" autoUpdateAnimBg="0"/>
      <p:bldP spid="211" grpId="0" animBg="1" autoUpdateAnimBg="0"/>
      <p:bldP spid="212" grpId="0" animBg="1" autoUpdateAnimBg="0"/>
      <p:bldP spid="213" grpId="0" animBg="1"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708750"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564412"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421662"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5277325"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6132987"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708750"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564412"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421662"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5277325"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6132987"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708750"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564412"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0.29</a:t>
            </a:r>
          </a:p>
        </p:txBody>
      </p:sp>
      <p:sp>
        <p:nvSpPr>
          <p:cNvPr id="19" name="Rectangle 17"/>
          <p:cNvSpPr>
            <a:spLocks noChangeArrowheads="1"/>
          </p:cNvSpPr>
          <p:nvPr/>
        </p:nvSpPr>
        <p:spPr bwMode="auto">
          <a:xfrm>
            <a:off x="4421662"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20" name="Rectangle 18"/>
          <p:cNvSpPr>
            <a:spLocks noChangeArrowheads="1"/>
          </p:cNvSpPr>
          <p:nvPr/>
        </p:nvSpPr>
        <p:spPr bwMode="auto">
          <a:xfrm>
            <a:off x="5277325"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6132987"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708750"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564412"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421662"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5277325"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6132987"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708750"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564412"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421662"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5277325"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6132987"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708750"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564412"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0.14</a:t>
            </a:r>
          </a:p>
        </p:txBody>
      </p:sp>
      <p:sp>
        <p:nvSpPr>
          <p:cNvPr id="35" name="Rectangle 32"/>
          <p:cNvSpPr>
            <a:spLocks noChangeArrowheads="1"/>
          </p:cNvSpPr>
          <p:nvPr/>
        </p:nvSpPr>
        <p:spPr bwMode="auto">
          <a:xfrm>
            <a:off x="4421662"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36" name="Rectangle 33"/>
          <p:cNvSpPr>
            <a:spLocks noChangeArrowheads="1"/>
          </p:cNvSpPr>
          <p:nvPr/>
        </p:nvSpPr>
        <p:spPr bwMode="auto">
          <a:xfrm>
            <a:off x="5277325"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6132987"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708750"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564412"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0.23</a:t>
            </a:r>
          </a:p>
        </p:txBody>
      </p:sp>
      <p:sp>
        <p:nvSpPr>
          <p:cNvPr id="40" name="Rectangle 37"/>
          <p:cNvSpPr>
            <a:spLocks noChangeArrowheads="1"/>
          </p:cNvSpPr>
          <p:nvPr/>
        </p:nvSpPr>
        <p:spPr bwMode="auto">
          <a:xfrm>
            <a:off x="4421662"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41" name="Rectangle 38"/>
          <p:cNvSpPr>
            <a:spLocks noChangeArrowheads="1"/>
          </p:cNvSpPr>
          <p:nvPr/>
        </p:nvSpPr>
        <p:spPr bwMode="auto">
          <a:xfrm>
            <a:off x="5277325"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6132987"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708750"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564412"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421662"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5277325"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6132987"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708750"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564412"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0.11</a:t>
            </a:r>
          </a:p>
        </p:txBody>
      </p:sp>
      <p:sp>
        <p:nvSpPr>
          <p:cNvPr id="50" name="Rectangle 47"/>
          <p:cNvSpPr>
            <a:spLocks noChangeArrowheads="1"/>
          </p:cNvSpPr>
          <p:nvPr/>
        </p:nvSpPr>
        <p:spPr bwMode="auto">
          <a:xfrm>
            <a:off x="4421662"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5277325"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6132987"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2338862"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2338862"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2338862"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2338862"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2338862"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2338862"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2338862"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2338862"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708750"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564412"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421662"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5277325"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6132987"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2338862"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708750"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564412"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0.08 </a:t>
            </a:r>
          </a:p>
        </p:txBody>
      </p:sp>
      <p:sp>
        <p:nvSpPr>
          <p:cNvPr id="76" name="Rectangle 72"/>
          <p:cNvSpPr>
            <a:spLocks noChangeArrowheads="1"/>
          </p:cNvSpPr>
          <p:nvPr/>
        </p:nvSpPr>
        <p:spPr bwMode="auto">
          <a:xfrm>
            <a:off x="4421662"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5277325"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6132987"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710193"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565855"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423105"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82" name="Rectangle 73"/>
          <p:cNvSpPr>
            <a:spLocks noChangeArrowheads="1"/>
          </p:cNvSpPr>
          <p:nvPr/>
        </p:nvSpPr>
        <p:spPr bwMode="auto">
          <a:xfrm>
            <a:off x="5278768"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6134430"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2194847"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2196290"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710193"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565855"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423105"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95" name="Rectangle 73"/>
          <p:cNvSpPr>
            <a:spLocks noChangeArrowheads="1"/>
          </p:cNvSpPr>
          <p:nvPr/>
        </p:nvSpPr>
        <p:spPr bwMode="auto">
          <a:xfrm>
            <a:off x="5278768"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5</a:t>
            </a:r>
          </a:p>
        </p:txBody>
      </p:sp>
      <p:sp>
        <p:nvSpPr>
          <p:cNvPr id="96" name="Rectangle 74"/>
          <p:cNvSpPr>
            <a:spLocks noChangeArrowheads="1"/>
          </p:cNvSpPr>
          <p:nvPr/>
        </p:nvSpPr>
        <p:spPr bwMode="auto">
          <a:xfrm>
            <a:off x="6134430"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97" name="Text Box 69"/>
          <p:cNvSpPr txBox="1">
            <a:spLocks noChangeArrowheads="1"/>
          </p:cNvSpPr>
          <p:nvPr/>
        </p:nvSpPr>
        <p:spPr bwMode="auto">
          <a:xfrm>
            <a:off x="2196290"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710193"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565855"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423105"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1" name="Rectangle 73"/>
          <p:cNvSpPr>
            <a:spLocks noChangeArrowheads="1"/>
          </p:cNvSpPr>
          <p:nvPr/>
        </p:nvSpPr>
        <p:spPr bwMode="auto">
          <a:xfrm>
            <a:off x="5278768"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102" name="Rectangle 74"/>
          <p:cNvSpPr>
            <a:spLocks noChangeArrowheads="1"/>
          </p:cNvSpPr>
          <p:nvPr/>
        </p:nvSpPr>
        <p:spPr bwMode="auto">
          <a:xfrm>
            <a:off x="6134430"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6</a:t>
            </a:r>
          </a:p>
        </p:txBody>
      </p:sp>
      <p:sp>
        <p:nvSpPr>
          <p:cNvPr id="103" name="Text Box 69"/>
          <p:cNvSpPr txBox="1">
            <a:spLocks noChangeArrowheads="1"/>
          </p:cNvSpPr>
          <p:nvPr/>
        </p:nvSpPr>
        <p:spPr bwMode="auto">
          <a:xfrm>
            <a:off x="2196290"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710193"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423105"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7" name="Rectangle 73"/>
          <p:cNvSpPr>
            <a:spLocks noChangeArrowheads="1"/>
          </p:cNvSpPr>
          <p:nvPr/>
        </p:nvSpPr>
        <p:spPr bwMode="auto">
          <a:xfrm>
            <a:off x="5278768"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08" name="Rectangle 74"/>
          <p:cNvSpPr>
            <a:spLocks noChangeArrowheads="1"/>
          </p:cNvSpPr>
          <p:nvPr/>
        </p:nvSpPr>
        <p:spPr bwMode="auto">
          <a:xfrm>
            <a:off x="6134430"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2</a:t>
            </a:r>
          </a:p>
        </p:txBody>
      </p:sp>
      <p:sp>
        <p:nvSpPr>
          <p:cNvPr id="109" name="Text Box 69"/>
          <p:cNvSpPr txBox="1">
            <a:spLocks noChangeArrowheads="1"/>
          </p:cNvSpPr>
          <p:nvPr/>
        </p:nvSpPr>
        <p:spPr bwMode="auto">
          <a:xfrm>
            <a:off x="2196290"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2194846"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423105"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12" name="Rectangle 73"/>
          <p:cNvSpPr>
            <a:spLocks noChangeArrowheads="1"/>
          </p:cNvSpPr>
          <p:nvPr/>
        </p:nvSpPr>
        <p:spPr bwMode="auto">
          <a:xfrm>
            <a:off x="5278768"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6132987"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2815211"/>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9434146" y="2810508"/>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565855"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0.15 </a:t>
            </a:r>
          </a:p>
        </p:txBody>
      </p:sp>
      <p:grpSp>
        <p:nvGrpSpPr>
          <p:cNvPr id="127" name="Group 112"/>
          <p:cNvGrpSpPr>
            <a:grpSpLocks/>
          </p:cNvGrpSpPr>
          <p:nvPr/>
        </p:nvGrpSpPr>
        <p:grpSpPr bwMode="auto">
          <a:xfrm>
            <a:off x="7734300" y="2143649"/>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565855"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0.19 </a:t>
            </a:r>
          </a:p>
        </p:txBody>
      </p:sp>
      <p:sp>
        <p:nvSpPr>
          <p:cNvPr id="133" name="Rectangle 71"/>
          <p:cNvSpPr>
            <a:spLocks noChangeArrowheads="1"/>
          </p:cNvSpPr>
          <p:nvPr/>
        </p:nvSpPr>
        <p:spPr bwMode="auto">
          <a:xfrm>
            <a:off x="3565855" y="5034527"/>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0.29 </a:t>
            </a:r>
          </a:p>
        </p:txBody>
      </p:sp>
      <p:sp>
        <p:nvSpPr>
          <p:cNvPr id="134" name="Oval 98"/>
          <p:cNvSpPr>
            <a:spLocks noChangeArrowheads="1"/>
          </p:cNvSpPr>
          <p:nvPr/>
        </p:nvSpPr>
        <p:spPr bwMode="auto">
          <a:xfrm>
            <a:off x="9091246" y="28294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135" name="Oval 99"/>
          <p:cNvSpPr>
            <a:spLocks noChangeArrowheads="1"/>
          </p:cNvSpPr>
          <p:nvPr/>
        </p:nvSpPr>
        <p:spPr bwMode="auto">
          <a:xfrm>
            <a:off x="9472246" y="21436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136" name="Line 100"/>
          <p:cNvSpPr>
            <a:spLocks noChangeShapeType="1"/>
          </p:cNvSpPr>
          <p:nvPr/>
        </p:nvSpPr>
        <p:spPr bwMode="auto">
          <a:xfrm flipH="1">
            <a:off x="9243646" y="2524649"/>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1"/>
          <p:cNvSpPr>
            <a:spLocks noChangeShapeType="1"/>
          </p:cNvSpPr>
          <p:nvPr/>
        </p:nvSpPr>
        <p:spPr bwMode="auto">
          <a:xfrm>
            <a:off x="9671538" y="2527924"/>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Rectangle 71"/>
          <p:cNvSpPr>
            <a:spLocks noChangeArrowheads="1"/>
          </p:cNvSpPr>
          <p:nvPr/>
        </p:nvSpPr>
        <p:spPr bwMode="auto">
          <a:xfrm>
            <a:off x="3577760"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39" name="Rectangle 71"/>
          <p:cNvSpPr>
            <a:spLocks noChangeArrowheads="1"/>
          </p:cNvSpPr>
          <p:nvPr/>
        </p:nvSpPr>
        <p:spPr bwMode="auto">
          <a:xfrm>
            <a:off x="3577760" y="5337739"/>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0.42 </a:t>
            </a:r>
          </a:p>
        </p:txBody>
      </p:sp>
      <p:sp>
        <p:nvSpPr>
          <p:cNvPr id="140" name="Oval 96"/>
          <p:cNvSpPr>
            <a:spLocks noChangeArrowheads="1"/>
          </p:cNvSpPr>
          <p:nvPr/>
        </p:nvSpPr>
        <p:spPr bwMode="auto">
          <a:xfrm>
            <a:off x="8572500" y="21591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6</a:t>
            </a:r>
          </a:p>
        </p:txBody>
      </p:sp>
      <p:sp>
        <p:nvSpPr>
          <p:cNvPr id="141" name="Line 97"/>
          <p:cNvSpPr>
            <a:spLocks noChangeShapeType="1"/>
          </p:cNvSpPr>
          <p:nvPr/>
        </p:nvSpPr>
        <p:spPr bwMode="auto">
          <a:xfrm flipH="1">
            <a:off x="79629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 name="Line 98"/>
          <p:cNvSpPr>
            <a:spLocks noChangeShapeType="1"/>
          </p:cNvSpPr>
          <p:nvPr/>
        </p:nvSpPr>
        <p:spPr bwMode="auto">
          <a:xfrm>
            <a:off x="84963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3" name="Oval 99"/>
          <p:cNvSpPr>
            <a:spLocks noChangeArrowheads="1"/>
          </p:cNvSpPr>
          <p:nvPr/>
        </p:nvSpPr>
        <p:spPr bwMode="auto">
          <a:xfrm>
            <a:off x="8191500"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13</a:t>
            </a:r>
          </a:p>
        </p:txBody>
      </p:sp>
      <p:sp>
        <p:nvSpPr>
          <p:cNvPr id="144"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0.58</a:t>
            </a:r>
            <a:r>
              <a:rPr lang="en-US" altLang="zh-CN" sz="2000" dirty="0"/>
              <a:t> </a:t>
            </a:r>
          </a:p>
        </p:txBody>
      </p:sp>
      <p:sp>
        <p:nvSpPr>
          <p:cNvPr id="145" name="Line 139"/>
          <p:cNvSpPr>
            <a:spLocks noChangeShapeType="1"/>
          </p:cNvSpPr>
          <p:nvPr/>
        </p:nvSpPr>
        <p:spPr bwMode="auto">
          <a:xfrm flipH="1">
            <a:off x="95484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 name="Line 140"/>
          <p:cNvSpPr>
            <a:spLocks noChangeShapeType="1"/>
          </p:cNvSpPr>
          <p:nvPr/>
        </p:nvSpPr>
        <p:spPr bwMode="auto">
          <a:xfrm>
            <a:off x="100818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 name="Oval 141"/>
          <p:cNvSpPr>
            <a:spLocks noChangeArrowheads="1"/>
          </p:cNvSpPr>
          <p:nvPr/>
        </p:nvSpPr>
        <p:spPr bwMode="auto">
          <a:xfrm>
            <a:off x="9777046"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14</a:t>
            </a:r>
          </a:p>
        </p:txBody>
      </p:sp>
      <p:sp>
        <p:nvSpPr>
          <p:cNvPr id="148" name="Oval 138"/>
          <p:cNvSpPr>
            <a:spLocks noChangeArrowheads="1"/>
          </p:cNvSpPr>
          <p:nvPr/>
        </p:nvSpPr>
        <p:spPr bwMode="auto">
          <a:xfrm>
            <a:off x="10200456" y="218413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2</a:t>
            </a:r>
          </a:p>
        </p:txBody>
      </p:sp>
      <p:sp>
        <p:nvSpPr>
          <p:cNvPr id="149" name="Rectangle 71"/>
          <p:cNvSpPr>
            <a:spLocks noChangeArrowheads="1"/>
          </p:cNvSpPr>
          <p:nvPr/>
        </p:nvSpPr>
        <p:spPr bwMode="auto">
          <a:xfrm>
            <a:off x="3565855" y="5953952"/>
            <a:ext cx="857250"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1.00</a:t>
            </a:r>
          </a:p>
        </p:txBody>
      </p:sp>
      <p:sp>
        <p:nvSpPr>
          <p:cNvPr id="150" name="Rectangle 72"/>
          <p:cNvSpPr>
            <a:spLocks noChangeArrowheads="1"/>
          </p:cNvSpPr>
          <p:nvPr/>
        </p:nvSpPr>
        <p:spPr bwMode="auto">
          <a:xfrm>
            <a:off x="4435010" y="5953951"/>
            <a:ext cx="855662" cy="35537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51" name="Rectangle 73"/>
          <p:cNvSpPr>
            <a:spLocks noChangeArrowheads="1"/>
          </p:cNvSpPr>
          <p:nvPr/>
        </p:nvSpPr>
        <p:spPr bwMode="auto">
          <a:xfrm>
            <a:off x="5285110" y="5953173"/>
            <a:ext cx="855663" cy="3561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152" name="Rectangle 74"/>
          <p:cNvSpPr>
            <a:spLocks noChangeArrowheads="1"/>
          </p:cNvSpPr>
          <p:nvPr/>
        </p:nvSpPr>
        <p:spPr bwMode="auto">
          <a:xfrm>
            <a:off x="6140772" y="5953952"/>
            <a:ext cx="855662"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153" name="Line 125"/>
          <p:cNvSpPr>
            <a:spLocks noChangeShapeType="1"/>
          </p:cNvSpPr>
          <p:nvPr/>
        </p:nvSpPr>
        <p:spPr bwMode="auto">
          <a:xfrm flipV="1">
            <a:off x="8496301" y="1294455"/>
            <a:ext cx="457199" cy="180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126"/>
          <p:cNvSpPr>
            <a:spLocks noChangeShapeType="1"/>
          </p:cNvSpPr>
          <p:nvPr/>
        </p:nvSpPr>
        <p:spPr bwMode="auto">
          <a:xfrm flipH="1" flipV="1">
            <a:off x="9334499" y="1315244"/>
            <a:ext cx="527536" cy="190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Oval 127"/>
          <p:cNvSpPr>
            <a:spLocks noChangeArrowheads="1"/>
          </p:cNvSpPr>
          <p:nvPr/>
        </p:nvSpPr>
        <p:spPr bwMode="auto">
          <a:xfrm>
            <a:off x="8953500" y="1124744"/>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15</a:t>
            </a:r>
          </a:p>
        </p:txBody>
      </p:sp>
      <p:cxnSp>
        <p:nvCxnSpPr>
          <p:cNvPr id="160" name="直接箭头连接符 159"/>
          <p:cNvCxnSpPr/>
          <p:nvPr/>
        </p:nvCxnSpPr>
        <p:spPr>
          <a:xfrm>
            <a:off x="1991544" y="1855763"/>
            <a:ext cx="277236" cy="32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a:off x="1775520" y="1660525"/>
            <a:ext cx="240772" cy="369332"/>
          </a:xfrm>
          <a:prstGeom prst="rect">
            <a:avLst/>
          </a:prstGeom>
        </p:spPr>
        <p:txBody>
          <a:bodyPr wrap="none">
            <a:spAutoFit/>
          </a:bodyPr>
          <a:lstStyle/>
          <a:p>
            <a:r>
              <a:rPr lang="en-US" altLang="zh-CN" b="1" dirty="0"/>
              <a:t>i</a:t>
            </a:r>
            <a:endParaRPr lang="zh-CN" altLang="en-US" b="1" dirty="0"/>
          </a:p>
        </p:txBody>
      </p:sp>
      <p:sp>
        <p:nvSpPr>
          <p:cNvPr id="176" name="矩形 175"/>
          <p:cNvSpPr/>
          <p:nvPr/>
        </p:nvSpPr>
        <p:spPr>
          <a:xfrm>
            <a:off x="2708748" y="1722437"/>
            <a:ext cx="4281344" cy="2451904"/>
          </a:xfrm>
          <a:prstGeom prst="rect">
            <a:avLst/>
          </a:prstGeom>
          <a:solidFill>
            <a:srgbClr val="FFFF00">
              <a:alpha val="2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8" name="直接箭头连接符 177"/>
          <p:cNvCxnSpPr/>
          <p:nvPr/>
        </p:nvCxnSpPr>
        <p:spPr>
          <a:xfrm>
            <a:off x="2338862" y="1845192"/>
            <a:ext cx="0" cy="223188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1" name="Oval 55"/>
          <p:cNvSpPr>
            <a:spLocks noChangeArrowheads="1"/>
          </p:cNvSpPr>
          <p:nvPr/>
        </p:nvSpPr>
        <p:spPr bwMode="auto">
          <a:xfrm>
            <a:off x="7880449" y="3882011"/>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a</a:t>
            </a:r>
          </a:p>
        </p:txBody>
      </p:sp>
      <p:sp>
        <p:nvSpPr>
          <p:cNvPr id="182" name="Oval 55"/>
          <p:cNvSpPr>
            <a:spLocks noChangeArrowheads="1"/>
          </p:cNvSpPr>
          <p:nvPr/>
        </p:nvSpPr>
        <p:spPr bwMode="auto">
          <a:xfrm>
            <a:off x="10272346" y="2580779"/>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b</a:t>
            </a:r>
          </a:p>
        </p:txBody>
      </p:sp>
      <p:sp>
        <p:nvSpPr>
          <p:cNvPr id="183" name="Oval 55"/>
          <p:cNvSpPr>
            <a:spLocks noChangeArrowheads="1"/>
          </p:cNvSpPr>
          <p:nvPr/>
        </p:nvSpPr>
        <p:spPr bwMode="auto">
          <a:xfrm>
            <a:off x="9407767" y="3894509"/>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c</a:t>
            </a:r>
          </a:p>
        </p:txBody>
      </p:sp>
      <p:sp>
        <p:nvSpPr>
          <p:cNvPr id="184" name="Oval 55"/>
          <p:cNvSpPr>
            <a:spLocks noChangeArrowheads="1"/>
          </p:cNvSpPr>
          <p:nvPr/>
        </p:nvSpPr>
        <p:spPr bwMode="auto">
          <a:xfrm>
            <a:off x="10119946" y="3894509"/>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d</a:t>
            </a:r>
          </a:p>
        </p:txBody>
      </p:sp>
      <p:sp>
        <p:nvSpPr>
          <p:cNvPr id="185" name="Oval 55"/>
          <p:cNvSpPr>
            <a:spLocks noChangeArrowheads="1"/>
          </p:cNvSpPr>
          <p:nvPr/>
        </p:nvSpPr>
        <p:spPr bwMode="auto">
          <a:xfrm>
            <a:off x="8951947" y="3199042"/>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e</a:t>
            </a:r>
          </a:p>
        </p:txBody>
      </p:sp>
      <p:sp>
        <p:nvSpPr>
          <p:cNvPr id="186" name="Oval 55"/>
          <p:cNvSpPr>
            <a:spLocks noChangeArrowheads="1"/>
          </p:cNvSpPr>
          <p:nvPr/>
        </p:nvSpPr>
        <p:spPr bwMode="auto">
          <a:xfrm>
            <a:off x="8648700" y="2549525"/>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f</a:t>
            </a:r>
          </a:p>
        </p:txBody>
      </p:sp>
      <p:sp>
        <p:nvSpPr>
          <p:cNvPr id="187" name="Oval 55"/>
          <p:cNvSpPr>
            <a:spLocks noChangeArrowheads="1"/>
          </p:cNvSpPr>
          <p:nvPr/>
        </p:nvSpPr>
        <p:spPr bwMode="auto">
          <a:xfrm>
            <a:off x="7055857" y="3910806"/>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g</a:t>
            </a:r>
          </a:p>
        </p:txBody>
      </p:sp>
      <p:sp>
        <p:nvSpPr>
          <p:cNvPr id="188" name="Oval 55"/>
          <p:cNvSpPr>
            <a:spLocks noChangeArrowheads="1"/>
          </p:cNvSpPr>
          <p:nvPr/>
        </p:nvSpPr>
        <p:spPr bwMode="auto">
          <a:xfrm>
            <a:off x="8364533" y="3242179"/>
            <a:ext cx="381000" cy="381000"/>
          </a:xfrm>
          <a:prstGeom prst="ellipse">
            <a:avLst/>
          </a:prstGeom>
          <a:solidFill>
            <a:schemeClr val="accent1"/>
          </a:solidFill>
          <a:ln w="9525">
            <a:solidFill>
              <a:schemeClr val="tx1"/>
            </a:solidFill>
            <a:miter lim="800000"/>
            <a:headEnd/>
            <a:tailEnd/>
          </a:ln>
        </p:spPr>
        <p:txBody>
          <a:bodyPr wrap="none" anchor="ctr"/>
          <a:lstStyle/>
          <a:p>
            <a:pPr algn="ctr">
              <a:spcBef>
                <a:spcPct val="0"/>
              </a:spcBef>
              <a:buClrTx/>
              <a:buSzTx/>
              <a:buFontTx/>
              <a:buNone/>
            </a:pPr>
            <a:r>
              <a:rPr lang="en-US" altLang="zh-CN" sz="2400" dirty="0"/>
              <a:t>h</a:t>
            </a:r>
          </a:p>
        </p:txBody>
      </p:sp>
      <p:cxnSp>
        <p:nvCxnSpPr>
          <p:cNvPr id="2" name="直接连接符 1">
            <a:extLst>
              <a:ext uri="{FF2B5EF4-FFF2-40B4-BE49-F238E27FC236}">
                <a16:creationId xmlns:a16="http://schemas.microsoft.com/office/drawing/2014/main" xmlns="" id="{8B5113EE-784A-5588-F589-C0C908CA6202}"/>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14CCF004-2F19-9CE4-0E32-FB22E1C349F5}"/>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20150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9" presetClass="entr" presetSubtype="10" fill="hold" grpId="0" nodeType="clickEffect">
                                  <p:stCondLst>
                                    <p:cond delay="0"/>
                                  </p:stCondLst>
                                  <p:childTnLst>
                                    <p:set>
                                      <p:cBhvr>
                                        <p:cTn id="18" dur="1" fill="hold">
                                          <p:stCondLst>
                                            <p:cond delay="0"/>
                                          </p:stCondLst>
                                        </p:cTn>
                                        <p:tgtEl>
                                          <p:spTgt spid="181"/>
                                        </p:tgtEl>
                                        <p:attrNameLst>
                                          <p:attrName>style.visibility</p:attrName>
                                        </p:attrNameLst>
                                      </p:cBhvr>
                                      <p:to>
                                        <p:strVal val="visible"/>
                                      </p:to>
                                    </p:set>
                                    <p:anim calcmode="lin" valueType="num">
                                      <p:cBhvr>
                                        <p:cTn id="19" dur="5000" fill="hold"/>
                                        <p:tgtEl>
                                          <p:spTgt spid="181"/>
                                        </p:tgtEl>
                                        <p:attrNameLst>
                                          <p:attrName>ppt_w</p:attrName>
                                        </p:attrNameLst>
                                      </p:cBhvr>
                                      <p:tavLst>
                                        <p:tav tm="0" fmla="#ppt_w*sin(2.5*pi*$)">
                                          <p:val>
                                            <p:fltVal val="0"/>
                                          </p:val>
                                        </p:tav>
                                        <p:tav tm="100000">
                                          <p:val>
                                            <p:fltVal val="1"/>
                                          </p:val>
                                        </p:tav>
                                      </p:tavLst>
                                    </p:anim>
                                    <p:anim calcmode="lin" valueType="num">
                                      <p:cBhvr>
                                        <p:cTn id="20" dur="5000" fill="hold"/>
                                        <p:tgtEl>
                                          <p:spTgt spid="181"/>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9" presetClass="entr" presetSubtype="10" fill="hold" grpId="0" nodeType="clickEffect">
                                  <p:stCondLst>
                                    <p:cond delay="0"/>
                                  </p:stCondLst>
                                  <p:childTnLst>
                                    <p:set>
                                      <p:cBhvr>
                                        <p:cTn id="24" dur="1" fill="hold">
                                          <p:stCondLst>
                                            <p:cond delay="0"/>
                                          </p:stCondLst>
                                        </p:cTn>
                                        <p:tgtEl>
                                          <p:spTgt spid="182"/>
                                        </p:tgtEl>
                                        <p:attrNameLst>
                                          <p:attrName>style.visibility</p:attrName>
                                        </p:attrNameLst>
                                      </p:cBhvr>
                                      <p:to>
                                        <p:strVal val="visible"/>
                                      </p:to>
                                    </p:set>
                                    <p:anim calcmode="lin" valueType="num">
                                      <p:cBhvr>
                                        <p:cTn id="25" dur="5000" fill="hold"/>
                                        <p:tgtEl>
                                          <p:spTgt spid="182"/>
                                        </p:tgtEl>
                                        <p:attrNameLst>
                                          <p:attrName>ppt_w</p:attrName>
                                        </p:attrNameLst>
                                      </p:cBhvr>
                                      <p:tavLst>
                                        <p:tav tm="0" fmla="#ppt_w*sin(2.5*pi*$)">
                                          <p:val>
                                            <p:fltVal val="0"/>
                                          </p:val>
                                        </p:tav>
                                        <p:tav tm="100000">
                                          <p:val>
                                            <p:fltVal val="1"/>
                                          </p:val>
                                        </p:tav>
                                      </p:tavLst>
                                    </p:anim>
                                    <p:anim calcmode="lin" valueType="num">
                                      <p:cBhvr>
                                        <p:cTn id="26" dur="5000" fill="hold"/>
                                        <p:tgtEl>
                                          <p:spTgt spid="182"/>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9" presetClass="entr" presetSubtype="10" fill="hold" grpId="0" nodeType="clickEffect">
                                  <p:stCondLst>
                                    <p:cond delay="0"/>
                                  </p:stCondLst>
                                  <p:childTnLst>
                                    <p:set>
                                      <p:cBhvr>
                                        <p:cTn id="30" dur="1" fill="hold">
                                          <p:stCondLst>
                                            <p:cond delay="0"/>
                                          </p:stCondLst>
                                        </p:cTn>
                                        <p:tgtEl>
                                          <p:spTgt spid="183"/>
                                        </p:tgtEl>
                                        <p:attrNameLst>
                                          <p:attrName>style.visibility</p:attrName>
                                        </p:attrNameLst>
                                      </p:cBhvr>
                                      <p:to>
                                        <p:strVal val="visible"/>
                                      </p:to>
                                    </p:set>
                                    <p:anim calcmode="lin" valueType="num">
                                      <p:cBhvr>
                                        <p:cTn id="31" dur="5000" fill="hold"/>
                                        <p:tgtEl>
                                          <p:spTgt spid="183"/>
                                        </p:tgtEl>
                                        <p:attrNameLst>
                                          <p:attrName>ppt_w</p:attrName>
                                        </p:attrNameLst>
                                      </p:cBhvr>
                                      <p:tavLst>
                                        <p:tav tm="0" fmla="#ppt_w*sin(2.5*pi*$)">
                                          <p:val>
                                            <p:fltVal val="0"/>
                                          </p:val>
                                        </p:tav>
                                        <p:tav tm="100000">
                                          <p:val>
                                            <p:fltVal val="1"/>
                                          </p:val>
                                        </p:tav>
                                      </p:tavLst>
                                    </p:anim>
                                    <p:anim calcmode="lin" valueType="num">
                                      <p:cBhvr>
                                        <p:cTn id="32" dur="5000" fill="hold"/>
                                        <p:tgtEl>
                                          <p:spTgt spid="183"/>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9" presetClass="entr" presetSubtype="10" fill="hold" grpId="0" nodeType="clickEffect">
                                  <p:stCondLst>
                                    <p:cond delay="0"/>
                                  </p:stCondLst>
                                  <p:childTnLst>
                                    <p:set>
                                      <p:cBhvr>
                                        <p:cTn id="36" dur="1" fill="hold">
                                          <p:stCondLst>
                                            <p:cond delay="0"/>
                                          </p:stCondLst>
                                        </p:cTn>
                                        <p:tgtEl>
                                          <p:spTgt spid="184"/>
                                        </p:tgtEl>
                                        <p:attrNameLst>
                                          <p:attrName>style.visibility</p:attrName>
                                        </p:attrNameLst>
                                      </p:cBhvr>
                                      <p:to>
                                        <p:strVal val="visible"/>
                                      </p:to>
                                    </p:set>
                                    <p:anim calcmode="lin" valueType="num">
                                      <p:cBhvr>
                                        <p:cTn id="37" dur="5000" fill="hold"/>
                                        <p:tgtEl>
                                          <p:spTgt spid="184"/>
                                        </p:tgtEl>
                                        <p:attrNameLst>
                                          <p:attrName>ppt_w</p:attrName>
                                        </p:attrNameLst>
                                      </p:cBhvr>
                                      <p:tavLst>
                                        <p:tav tm="0" fmla="#ppt_w*sin(2.5*pi*$)">
                                          <p:val>
                                            <p:fltVal val="0"/>
                                          </p:val>
                                        </p:tav>
                                        <p:tav tm="100000">
                                          <p:val>
                                            <p:fltVal val="1"/>
                                          </p:val>
                                        </p:tav>
                                      </p:tavLst>
                                    </p:anim>
                                    <p:anim calcmode="lin" valueType="num">
                                      <p:cBhvr>
                                        <p:cTn id="38" dur="5000" fill="hold"/>
                                        <p:tgtEl>
                                          <p:spTgt spid="184"/>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9" presetClass="entr" presetSubtype="10" fill="hold" grpId="0" nodeType="clickEffect">
                                  <p:stCondLst>
                                    <p:cond delay="0"/>
                                  </p:stCondLst>
                                  <p:childTnLst>
                                    <p:set>
                                      <p:cBhvr>
                                        <p:cTn id="42" dur="1" fill="hold">
                                          <p:stCondLst>
                                            <p:cond delay="0"/>
                                          </p:stCondLst>
                                        </p:cTn>
                                        <p:tgtEl>
                                          <p:spTgt spid="185"/>
                                        </p:tgtEl>
                                        <p:attrNameLst>
                                          <p:attrName>style.visibility</p:attrName>
                                        </p:attrNameLst>
                                      </p:cBhvr>
                                      <p:to>
                                        <p:strVal val="visible"/>
                                      </p:to>
                                    </p:set>
                                    <p:anim calcmode="lin" valueType="num">
                                      <p:cBhvr>
                                        <p:cTn id="43" dur="5000" fill="hold"/>
                                        <p:tgtEl>
                                          <p:spTgt spid="185"/>
                                        </p:tgtEl>
                                        <p:attrNameLst>
                                          <p:attrName>ppt_w</p:attrName>
                                        </p:attrNameLst>
                                      </p:cBhvr>
                                      <p:tavLst>
                                        <p:tav tm="0" fmla="#ppt_w*sin(2.5*pi*$)">
                                          <p:val>
                                            <p:fltVal val="0"/>
                                          </p:val>
                                        </p:tav>
                                        <p:tav tm="100000">
                                          <p:val>
                                            <p:fltVal val="1"/>
                                          </p:val>
                                        </p:tav>
                                      </p:tavLst>
                                    </p:anim>
                                    <p:anim calcmode="lin" valueType="num">
                                      <p:cBhvr>
                                        <p:cTn id="44" dur="5000" fill="hold"/>
                                        <p:tgtEl>
                                          <p:spTgt spid="185"/>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9" presetClass="entr" presetSubtype="10" fill="hold" grpId="0" nodeType="clickEffect">
                                  <p:stCondLst>
                                    <p:cond delay="0"/>
                                  </p:stCondLst>
                                  <p:childTnLst>
                                    <p:set>
                                      <p:cBhvr>
                                        <p:cTn id="48" dur="1" fill="hold">
                                          <p:stCondLst>
                                            <p:cond delay="0"/>
                                          </p:stCondLst>
                                        </p:cTn>
                                        <p:tgtEl>
                                          <p:spTgt spid="186"/>
                                        </p:tgtEl>
                                        <p:attrNameLst>
                                          <p:attrName>style.visibility</p:attrName>
                                        </p:attrNameLst>
                                      </p:cBhvr>
                                      <p:to>
                                        <p:strVal val="visible"/>
                                      </p:to>
                                    </p:set>
                                    <p:anim calcmode="lin" valueType="num">
                                      <p:cBhvr>
                                        <p:cTn id="49" dur="5000" fill="hold"/>
                                        <p:tgtEl>
                                          <p:spTgt spid="186"/>
                                        </p:tgtEl>
                                        <p:attrNameLst>
                                          <p:attrName>ppt_w</p:attrName>
                                        </p:attrNameLst>
                                      </p:cBhvr>
                                      <p:tavLst>
                                        <p:tav tm="0" fmla="#ppt_w*sin(2.5*pi*$)">
                                          <p:val>
                                            <p:fltVal val="0"/>
                                          </p:val>
                                        </p:tav>
                                        <p:tav tm="100000">
                                          <p:val>
                                            <p:fltVal val="1"/>
                                          </p:val>
                                        </p:tav>
                                      </p:tavLst>
                                    </p:anim>
                                    <p:anim calcmode="lin" valueType="num">
                                      <p:cBhvr>
                                        <p:cTn id="50" dur="5000" fill="hold"/>
                                        <p:tgtEl>
                                          <p:spTgt spid="186"/>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9" presetClass="entr" presetSubtype="10" fill="hold" grpId="0" nodeType="clickEffect">
                                  <p:stCondLst>
                                    <p:cond delay="0"/>
                                  </p:stCondLst>
                                  <p:childTnLst>
                                    <p:set>
                                      <p:cBhvr>
                                        <p:cTn id="54" dur="1" fill="hold">
                                          <p:stCondLst>
                                            <p:cond delay="0"/>
                                          </p:stCondLst>
                                        </p:cTn>
                                        <p:tgtEl>
                                          <p:spTgt spid="187"/>
                                        </p:tgtEl>
                                        <p:attrNameLst>
                                          <p:attrName>style.visibility</p:attrName>
                                        </p:attrNameLst>
                                      </p:cBhvr>
                                      <p:to>
                                        <p:strVal val="visible"/>
                                      </p:to>
                                    </p:set>
                                    <p:anim calcmode="lin" valueType="num">
                                      <p:cBhvr>
                                        <p:cTn id="55" dur="5000" fill="hold"/>
                                        <p:tgtEl>
                                          <p:spTgt spid="187"/>
                                        </p:tgtEl>
                                        <p:attrNameLst>
                                          <p:attrName>ppt_w</p:attrName>
                                        </p:attrNameLst>
                                      </p:cBhvr>
                                      <p:tavLst>
                                        <p:tav tm="0" fmla="#ppt_w*sin(2.5*pi*$)">
                                          <p:val>
                                            <p:fltVal val="0"/>
                                          </p:val>
                                        </p:tav>
                                        <p:tav tm="100000">
                                          <p:val>
                                            <p:fltVal val="1"/>
                                          </p:val>
                                        </p:tav>
                                      </p:tavLst>
                                    </p:anim>
                                    <p:anim calcmode="lin" valueType="num">
                                      <p:cBhvr>
                                        <p:cTn id="56" dur="5000" fill="hold"/>
                                        <p:tgtEl>
                                          <p:spTgt spid="187"/>
                                        </p:tgtEl>
                                        <p:attrNameLst>
                                          <p:attrName>ppt_h</p:attrName>
                                        </p:attrNameLst>
                                      </p:cBhvr>
                                      <p:tavLst>
                                        <p:tav tm="0">
                                          <p:val>
                                            <p:strVal val="#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9" presetClass="entr" presetSubtype="10" fill="hold" grpId="0" nodeType="clickEffect">
                                  <p:stCondLst>
                                    <p:cond delay="0"/>
                                  </p:stCondLst>
                                  <p:childTnLst>
                                    <p:set>
                                      <p:cBhvr>
                                        <p:cTn id="60" dur="1" fill="hold">
                                          <p:stCondLst>
                                            <p:cond delay="0"/>
                                          </p:stCondLst>
                                        </p:cTn>
                                        <p:tgtEl>
                                          <p:spTgt spid="188"/>
                                        </p:tgtEl>
                                        <p:attrNameLst>
                                          <p:attrName>style.visibility</p:attrName>
                                        </p:attrNameLst>
                                      </p:cBhvr>
                                      <p:to>
                                        <p:strVal val="visible"/>
                                      </p:to>
                                    </p:set>
                                    <p:anim calcmode="lin" valueType="num">
                                      <p:cBhvr>
                                        <p:cTn id="61" dur="5000" fill="hold"/>
                                        <p:tgtEl>
                                          <p:spTgt spid="188"/>
                                        </p:tgtEl>
                                        <p:attrNameLst>
                                          <p:attrName>ppt_w</p:attrName>
                                        </p:attrNameLst>
                                      </p:cBhvr>
                                      <p:tavLst>
                                        <p:tav tm="0" fmla="#ppt_w*sin(2.5*pi*$)">
                                          <p:val>
                                            <p:fltVal val="0"/>
                                          </p:val>
                                        </p:tav>
                                        <p:tav tm="100000">
                                          <p:val>
                                            <p:fltVal val="1"/>
                                          </p:val>
                                        </p:tav>
                                      </p:tavLst>
                                    </p:anim>
                                    <p:anim calcmode="lin" valueType="num">
                                      <p:cBhvr>
                                        <p:cTn id="62" dur="5000" fill="hold"/>
                                        <p:tgtEl>
                                          <p:spTgt spid="18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p:bldP spid="176" grpId="0" animBg="1"/>
      <p:bldP spid="181" grpId="0" animBg="1" autoUpdateAnimBg="0"/>
      <p:bldP spid="182" grpId="0" animBg="1" autoUpdateAnimBg="0"/>
      <p:bldP spid="183" grpId="0" animBg="1" autoUpdateAnimBg="0"/>
      <p:bldP spid="184" grpId="0" animBg="1" autoUpdateAnimBg="0"/>
      <p:bldP spid="185" grpId="0" animBg="1" autoUpdateAnimBg="0"/>
      <p:bldP spid="186" grpId="0" animBg="1" autoUpdateAnimBg="0"/>
      <p:bldP spid="187" grpId="0" animBg="1" autoUpdateAnimBg="0"/>
      <p:bldP spid="188" grpId="0" animBg="1" autoUpdateAnimBg="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708750"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564412"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421662"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5277325"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6132987"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708750"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564412"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421662"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5277325"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6132987"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708750"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564412"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0.29</a:t>
            </a:r>
          </a:p>
        </p:txBody>
      </p:sp>
      <p:sp>
        <p:nvSpPr>
          <p:cNvPr id="19" name="Rectangle 17"/>
          <p:cNvSpPr>
            <a:spLocks noChangeArrowheads="1"/>
          </p:cNvSpPr>
          <p:nvPr/>
        </p:nvSpPr>
        <p:spPr bwMode="auto">
          <a:xfrm>
            <a:off x="4421662"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20" name="Rectangle 18"/>
          <p:cNvSpPr>
            <a:spLocks noChangeArrowheads="1"/>
          </p:cNvSpPr>
          <p:nvPr/>
        </p:nvSpPr>
        <p:spPr bwMode="auto">
          <a:xfrm>
            <a:off x="5277325"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6132987"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708750"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564412"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421662"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5277325"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6132987"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708750"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564412"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421662"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5277325"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6132987"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708750"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564412"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0.14</a:t>
            </a:r>
          </a:p>
        </p:txBody>
      </p:sp>
      <p:sp>
        <p:nvSpPr>
          <p:cNvPr id="35" name="Rectangle 32"/>
          <p:cNvSpPr>
            <a:spLocks noChangeArrowheads="1"/>
          </p:cNvSpPr>
          <p:nvPr/>
        </p:nvSpPr>
        <p:spPr bwMode="auto">
          <a:xfrm>
            <a:off x="4421662"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36" name="Rectangle 33"/>
          <p:cNvSpPr>
            <a:spLocks noChangeArrowheads="1"/>
          </p:cNvSpPr>
          <p:nvPr/>
        </p:nvSpPr>
        <p:spPr bwMode="auto">
          <a:xfrm>
            <a:off x="5277325"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6132987"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708750"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564412"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0.23</a:t>
            </a:r>
          </a:p>
        </p:txBody>
      </p:sp>
      <p:sp>
        <p:nvSpPr>
          <p:cNvPr id="40" name="Rectangle 37"/>
          <p:cNvSpPr>
            <a:spLocks noChangeArrowheads="1"/>
          </p:cNvSpPr>
          <p:nvPr/>
        </p:nvSpPr>
        <p:spPr bwMode="auto">
          <a:xfrm>
            <a:off x="4421662"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41" name="Rectangle 38"/>
          <p:cNvSpPr>
            <a:spLocks noChangeArrowheads="1"/>
          </p:cNvSpPr>
          <p:nvPr/>
        </p:nvSpPr>
        <p:spPr bwMode="auto">
          <a:xfrm>
            <a:off x="5277325"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6132987"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708750"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564412"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421662"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5277325"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6132987"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708750"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564412"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0.11</a:t>
            </a:r>
          </a:p>
        </p:txBody>
      </p:sp>
      <p:sp>
        <p:nvSpPr>
          <p:cNvPr id="50" name="Rectangle 47"/>
          <p:cNvSpPr>
            <a:spLocks noChangeArrowheads="1"/>
          </p:cNvSpPr>
          <p:nvPr/>
        </p:nvSpPr>
        <p:spPr bwMode="auto">
          <a:xfrm>
            <a:off x="4421662"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5277325"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6132987"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2338862"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2338862"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2338862"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2338862"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2338862"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2338862"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2338862"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2338862"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708750"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564412"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421662"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5277325"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6132987"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2338862"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708750"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564412"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0.08 </a:t>
            </a:r>
          </a:p>
        </p:txBody>
      </p:sp>
      <p:sp>
        <p:nvSpPr>
          <p:cNvPr id="76" name="Rectangle 72"/>
          <p:cNvSpPr>
            <a:spLocks noChangeArrowheads="1"/>
          </p:cNvSpPr>
          <p:nvPr/>
        </p:nvSpPr>
        <p:spPr bwMode="auto">
          <a:xfrm>
            <a:off x="4421662"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5277325"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6132987"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710193"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565855"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423105"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82" name="Rectangle 73"/>
          <p:cNvSpPr>
            <a:spLocks noChangeArrowheads="1"/>
          </p:cNvSpPr>
          <p:nvPr/>
        </p:nvSpPr>
        <p:spPr bwMode="auto">
          <a:xfrm>
            <a:off x="5278768"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6134430"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2194847"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2196290"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710193"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565855"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423105"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95" name="Rectangle 73"/>
          <p:cNvSpPr>
            <a:spLocks noChangeArrowheads="1"/>
          </p:cNvSpPr>
          <p:nvPr/>
        </p:nvSpPr>
        <p:spPr bwMode="auto">
          <a:xfrm>
            <a:off x="5278768"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5</a:t>
            </a:r>
          </a:p>
        </p:txBody>
      </p:sp>
      <p:sp>
        <p:nvSpPr>
          <p:cNvPr id="96" name="Rectangle 74"/>
          <p:cNvSpPr>
            <a:spLocks noChangeArrowheads="1"/>
          </p:cNvSpPr>
          <p:nvPr/>
        </p:nvSpPr>
        <p:spPr bwMode="auto">
          <a:xfrm>
            <a:off x="6134430"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97" name="Text Box 69"/>
          <p:cNvSpPr txBox="1">
            <a:spLocks noChangeArrowheads="1"/>
          </p:cNvSpPr>
          <p:nvPr/>
        </p:nvSpPr>
        <p:spPr bwMode="auto">
          <a:xfrm>
            <a:off x="2196290"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710193"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565855"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423105"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1" name="Rectangle 73"/>
          <p:cNvSpPr>
            <a:spLocks noChangeArrowheads="1"/>
          </p:cNvSpPr>
          <p:nvPr/>
        </p:nvSpPr>
        <p:spPr bwMode="auto">
          <a:xfrm>
            <a:off x="5278768"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102" name="Rectangle 74"/>
          <p:cNvSpPr>
            <a:spLocks noChangeArrowheads="1"/>
          </p:cNvSpPr>
          <p:nvPr/>
        </p:nvSpPr>
        <p:spPr bwMode="auto">
          <a:xfrm>
            <a:off x="6134430"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6</a:t>
            </a:r>
          </a:p>
        </p:txBody>
      </p:sp>
      <p:sp>
        <p:nvSpPr>
          <p:cNvPr id="103" name="Text Box 69"/>
          <p:cNvSpPr txBox="1">
            <a:spLocks noChangeArrowheads="1"/>
          </p:cNvSpPr>
          <p:nvPr/>
        </p:nvSpPr>
        <p:spPr bwMode="auto">
          <a:xfrm>
            <a:off x="2196290"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710193"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423105"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7" name="Rectangle 73"/>
          <p:cNvSpPr>
            <a:spLocks noChangeArrowheads="1"/>
          </p:cNvSpPr>
          <p:nvPr/>
        </p:nvSpPr>
        <p:spPr bwMode="auto">
          <a:xfrm>
            <a:off x="5278768"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08" name="Rectangle 74"/>
          <p:cNvSpPr>
            <a:spLocks noChangeArrowheads="1"/>
          </p:cNvSpPr>
          <p:nvPr/>
        </p:nvSpPr>
        <p:spPr bwMode="auto">
          <a:xfrm>
            <a:off x="6134430"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2</a:t>
            </a:r>
          </a:p>
        </p:txBody>
      </p:sp>
      <p:sp>
        <p:nvSpPr>
          <p:cNvPr id="109" name="Text Box 69"/>
          <p:cNvSpPr txBox="1">
            <a:spLocks noChangeArrowheads="1"/>
          </p:cNvSpPr>
          <p:nvPr/>
        </p:nvSpPr>
        <p:spPr bwMode="auto">
          <a:xfrm>
            <a:off x="2196290"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2194846"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423105"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12" name="Rectangle 73"/>
          <p:cNvSpPr>
            <a:spLocks noChangeArrowheads="1"/>
          </p:cNvSpPr>
          <p:nvPr/>
        </p:nvSpPr>
        <p:spPr bwMode="auto">
          <a:xfrm>
            <a:off x="5278768"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6132987"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2815211"/>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9434146" y="2810508"/>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565855"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0.15 </a:t>
            </a:r>
          </a:p>
        </p:txBody>
      </p:sp>
      <p:grpSp>
        <p:nvGrpSpPr>
          <p:cNvPr id="127" name="Group 112"/>
          <p:cNvGrpSpPr>
            <a:grpSpLocks/>
          </p:cNvGrpSpPr>
          <p:nvPr/>
        </p:nvGrpSpPr>
        <p:grpSpPr bwMode="auto">
          <a:xfrm>
            <a:off x="7734300" y="2143649"/>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565855"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0.19 </a:t>
            </a:r>
          </a:p>
        </p:txBody>
      </p:sp>
      <p:sp>
        <p:nvSpPr>
          <p:cNvPr id="133" name="Rectangle 71"/>
          <p:cNvSpPr>
            <a:spLocks noChangeArrowheads="1"/>
          </p:cNvSpPr>
          <p:nvPr/>
        </p:nvSpPr>
        <p:spPr bwMode="auto">
          <a:xfrm>
            <a:off x="3565855" y="5034527"/>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0.29 </a:t>
            </a:r>
          </a:p>
        </p:txBody>
      </p:sp>
      <p:sp>
        <p:nvSpPr>
          <p:cNvPr id="134" name="Oval 98"/>
          <p:cNvSpPr>
            <a:spLocks noChangeArrowheads="1"/>
          </p:cNvSpPr>
          <p:nvPr/>
        </p:nvSpPr>
        <p:spPr bwMode="auto">
          <a:xfrm>
            <a:off x="9091246" y="28294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135" name="Oval 99"/>
          <p:cNvSpPr>
            <a:spLocks noChangeArrowheads="1"/>
          </p:cNvSpPr>
          <p:nvPr/>
        </p:nvSpPr>
        <p:spPr bwMode="auto">
          <a:xfrm>
            <a:off x="9472246" y="21436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136" name="Line 100"/>
          <p:cNvSpPr>
            <a:spLocks noChangeShapeType="1"/>
          </p:cNvSpPr>
          <p:nvPr/>
        </p:nvSpPr>
        <p:spPr bwMode="auto">
          <a:xfrm flipH="1">
            <a:off x="9243646" y="2524649"/>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1"/>
          <p:cNvSpPr>
            <a:spLocks noChangeShapeType="1"/>
          </p:cNvSpPr>
          <p:nvPr/>
        </p:nvSpPr>
        <p:spPr bwMode="auto">
          <a:xfrm>
            <a:off x="9671538" y="2527924"/>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Rectangle 71"/>
          <p:cNvSpPr>
            <a:spLocks noChangeArrowheads="1"/>
          </p:cNvSpPr>
          <p:nvPr/>
        </p:nvSpPr>
        <p:spPr bwMode="auto">
          <a:xfrm>
            <a:off x="3577760"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39" name="Rectangle 71"/>
          <p:cNvSpPr>
            <a:spLocks noChangeArrowheads="1"/>
          </p:cNvSpPr>
          <p:nvPr/>
        </p:nvSpPr>
        <p:spPr bwMode="auto">
          <a:xfrm>
            <a:off x="3577760" y="5337739"/>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0.42 </a:t>
            </a:r>
          </a:p>
        </p:txBody>
      </p:sp>
      <p:sp>
        <p:nvSpPr>
          <p:cNvPr id="140" name="Oval 96"/>
          <p:cNvSpPr>
            <a:spLocks noChangeArrowheads="1"/>
          </p:cNvSpPr>
          <p:nvPr/>
        </p:nvSpPr>
        <p:spPr bwMode="auto">
          <a:xfrm>
            <a:off x="8572500" y="21591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6</a:t>
            </a:r>
          </a:p>
        </p:txBody>
      </p:sp>
      <p:sp>
        <p:nvSpPr>
          <p:cNvPr id="141" name="Line 97"/>
          <p:cNvSpPr>
            <a:spLocks noChangeShapeType="1"/>
          </p:cNvSpPr>
          <p:nvPr/>
        </p:nvSpPr>
        <p:spPr bwMode="auto">
          <a:xfrm flipH="1">
            <a:off x="79629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 name="Line 98"/>
          <p:cNvSpPr>
            <a:spLocks noChangeShapeType="1"/>
          </p:cNvSpPr>
          <p:nvPr/>
        </p:nvSpPr>
        <p:spPr bwMode="auto">
          <a:xfrm>
            <a:off x="84963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3" name="Oval 99"/>
          <p:cNvSpPr>
            <a:spLocks noChangeArrowheads="1"/>
          </p:cNvSpPr>
          <p:nvPr/>
        </p:nvSpPr>
        <p:spPr bwMode="auto">
          <a:xfrm>
            <a:off x="8191500"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13</a:t>
            </a:r>
          </a:p>
        </p:txBody>
      </p:sp>
      <p:sp>
        <p:nvSpPr>
          <p:cNvPr id="144"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0.58</a:t>
            </a:r>
            <a:r>
              <a:rPr lang="en-US" altLang="zh-CN" sz="2000" dirty="0"/>
              <a:t> </a:t>
            </a:r>
          </a:p>
        </p:txBody>
      </p:sp>
      <p:sp>
        <p:nvSpPr>
          <p:cNvPr id="145" name="Line 139"/>
          <p:cNvSpPr>
            <a:spLocks noChangeShapeType="1"/>
          </p:cNvSpPr>
          <p:nvPr/>
        </p:nvSpPr>
        <p:spPr bwMode="auto">
          <a:xfrm flipH="1">
            <a:off x="95484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 name="Line 140"/>
          <p:cNvSpPr>
            <a:spLocks noChangeShapeType="1"/>
          </p:cNvSpPr>
          <p:nvPr/>
        </p:nvSpPr>
        <p:spPr bwMode="auto">
          <a:xfrm>
            <a:off x="100818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 name="Oval 141"/>
          <p:cNvSpPr>
            <a:spLocks noChangeArrowheads="1"/>
          </p:cNvSpPr>
          <p:nvPr/>
        </p:nvSpPr>
        <p:spPr bwMode="auto">
          <a:xfrm>
            <a:off x="9777046"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14</a:t>
            </a:r>
          </a:p>
        </p:txBody>
      </p:sp>
      <p:sp>
        <p:nvSpPr>
          <p:cNvPr id="148" name="Oval 138"/>
          <p:cNvSpPr>
            <a:spLocks noChangeArrowheads="1"/>
          </p:cNvSpPr>
          <p:nvPr/>
        </p:nvSpPr>
        <p:spPr bwMode="auto">
          <a:xfrm>
            <a:off x="10200456" y="218413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2</a:t>
            </a:r>
          </a:p>
        </p:txBody>
      </p:sp>
      <p:sp>
        <p:nvSpPr>
          <p:cNvPr id="149" name="Rectangle 71"/>
          <p:cNvSpPr>
            <a:spLocks noChangeArrowheads="1"/>
          </p:cNvSpPr>
          <p:nvPr/>
        </p:nvSpPr>
        <p:spPr bwMode="auto">
          <a:xfrm>
            <a:off x="3565855" y="5953952"/>
            <a:ext cx="857250"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1.00</a:t>
            </a:r>
          </a:p>
        </p:txBody>
      </p:sp>
      <p:sp>
        <p:nvSpPr>
          <p:cNvPr id="150" name="Rectangle 72"/>
          <p:cNvSpPr>
            <a:spLocks noChangeArrowheads="1"/>
          </p:cNvSpPr>
          <p:nvPr/>
        </p:nvSpPr>
        <p:spPr bwMode="auto">
          <a:xfrm>
            <a:off x="4435010" y="5953951"/>
            <a:ext cx="855662" cy="35537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51" name="Rectangle 73"/>
          <p:cNvSpPr>
            <a:spLocks noChangeArrowheads="1"/>
          </p:cNvSpPr>
          <p:nvPr/>
        </p:nvSpPr>
        <p:spPr bwMode="auto">
          <a:xfrm>
            <a:off x="5285110" y="5953173"/>
            <a:ext cx="855663" cy="3561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152" name="Rectangle 74"/>
          <p:cNvSpPr>
            <a:spLocks noChangeArrowheads="1"/>
          </p:cNvSpPr>
          <p:nvPr/>
        </p:nvSpPr>
        <p:spPr bwMode="auto">
          <a:xfrm>
            <a:off x="6140772" y="5953952"/>
            <a:ext cx="855662"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153" name="Line 125"/>
          <p:cNvSpPr>
            <a:spLocks noChangeShapeType="1"/>
          </p:cNvSpPr>
          <p:nvPr/>
        </p:nvSpPr>
        <p:spPr bwMode="auto">
          <a:xfrm flipV="1">
            <a:off x="8496301" y="1294455"/>
            <a:ext cx="457199" cy="180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126"/>
          <p:cNvSpPr>
            <a:spLocks noChangeShapeType="1"/>
          </p:cNvSpPr>
          <p:nvPr/>
        </p:nvSpPr>
        <p:spPr bwMode="auto">
          <a:xfrm flipH="1" flipV="1">
            <a:off x="9334499" y="1315244"/>
            <a:ext cx="527536" cy="190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Oval 127"/>
          <p:cNvSpPr>
            <a:spLocks noChangeArrowheads="1"/>
          </p:cNvSpPr>
          <p:nvPr/>
        </p:nvSpPr>
        <p:spPr bwMode="auto">
          <a:xfrm>
            <a:off x="8953500" y="1124744"/>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15</a:t>
            </a:r>
          </a:p>
        </p:txBody>
      </p:sp>
      <p:sp>
        <p:nvSpPr>
          <p:cNvPr id="158" name="矩形 157"/>
          <p:cNvSpPr/>
          <p:nvPr/>
        </p:nvSpPr>
        <p:spPr>
          <a:xfrm>
            <a:off x="1650627" y="1669628"/>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0" name="直接箭头连接符 159"/>
          <p:cNvCxnSpPr/>
          <p:nvPr/>
        </p:nvCxnSpPr>
        <p:spPr>
          <a:xfrm>
            <a:off x="7250842" y="2988130"/>
            <a:ext cx="187687"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a:off x="7036743" y="2792892"/>
            <a:ext cx="258404" cy="369332"/>
          </a:xfrm>
          <a:prstGeom prst="rect">
            <a:avLst/>
          </a:prstGeom>
        </p:spPr>
        <p:txBody>
          <a:bodyPr wrap="none">
            <a:spAutoFit/>
          </a:bodyPr>
          <a:lstStyle/>
          <a:p>
            <a:r>
              <a:rPr lang="en-US" altLang="zh-CN" b="1" dirty="0"/>
              <a:t>f</a:t>
            </a:r>
            <a:endParaRPr lang="zh-CN" altLang="en-US" b="1" dirty="0"/>
          </a:p>
        </p:txBody>
      </p:sp>
      <p:sp>
        <p:nvSpPr>
          <p:cNvPr id="162" name="矩形 161"/>
          <p:cNvSpPr/>
          <p:nvPr/>
        </p:nvSpPr>
        <p:spPr>
          <a:xfrm>
            <a:off x="8424437" y="3489620"/>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3" name="直接箭头连接符 162"/>
          <p:cNvCxnSpPr/>
          <p:nvPr/>
        </p:nvCxnSpPr>
        <p:spPr>
          <a:xfrm flipH="1">
            <a:off x="8140271" y="3710505"/>
            <a:ext cx="2548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5" name="矩形 164"/>
          <p:cNvSpPr/>
          <p:nvPr/>
        </p:nvSpPr>
        <p:spPr>
          <a:xfrm>
            <a:off x="1605080" y="4077072"/>
            <a:ext cx="258404" cy="369332"/>
          </a:xfrm>
          <a:prstGeom prst="rect">
            <a:avLst/>
          </a:prstGeom>
        </p:spPr>
        <p:txBody>
          <a:bodyPr wrap="none">
            <a:spAutoFit/>
          </a:bodyPr>
          <a:lstStyle/>
          <a:p>
            <a:r>
              <a:rPr lang="en-US" altLang="zh-CN" b="1" dirty="0"/>
              <a:t>f</a:t>
            </a:r>
            <a:endParaRPr lang="zh-CN" altLang="en-US" b="1" dirty="0"/>
          </a:p>
        </p:txBody>
      </p:sp>
      <p:cxnSp>
        <p:nvCxnSpPr>
          <p:cNvPr id="166" name="直接箭头连接符 165"/>
          <p:cNvCxnSpPr>
            <a:stCxn id="158" idx="3"/>
            <a:endCxn id="53" idx="1"/>
          </p:cNvCxnSpPr>
          <p:nvPr/>
        </p:nvCxnSpPr>
        <p:spPr>
          <a:xfrm>
            <a:off x="1937886" y="1854295"/>
            <a:ext cx="400977" cy="46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p:nvPr/>
        </p:nvCxnSpPr>
        <p:spPr>
          <a:xfrm>
            <a:off x="1937886" y="4291807"/>
            <a:ext cx="400977" cy="466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9" name="矩形 168"/>
          <p:cNvSpPr/>
          <p:nvPr/>
        </p:nvSpPr>
        <p:spPr>
          <a:xfrm>
            <a:off x="7148146" y="4005064"/>
            <a:ext cx="2400300"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i,f</a:t>
            </a:r>
            <a:r>
              <a:rPr lang="en-US" altLang="zh-CN" sz="2000" b="1" dirty="0">
                <a:latin typeface="Times New Roman" pitchFamily="18" charset="0"/>
              </a:rPr>
              <a:t>=HT[i].parent;</a:t>
            </a:r>
          </a:p>
        </p:txBody>
      </p:sp>
      <p:sp>
        <p:nvSpPr>
          <p:cNvPr id="170" name="矩形 169"/>
          <p:cNvSpPr/>
          <p:nvPr/>
        </p:nvSpPr>
        <p:spPr>
          <a:xfrm>
            <a:off x="7130680" y="4293096"/>
            <a:ext cx="1670421" cy="338554"/>
          </a:xfrm>
          <a:prstGeom prst="rect">
            <a:avLst/>
          </a:prstGeom>
        </p:spPr>
        <p:txBody>
          <a:bodyPr wrap="square">
            <a:spAutoFit/>
          </a:bodyPr>
          <a:lstStyle/>
          <a:p>
            <a:pPr>
              <a:lnSpc>
                <a:spcPct val="80000"/>
              </a:lnSpc>
            </a:pPr>
            <a:r>
              <a:rPr lang="en-US" altLang="zh-CN" sz="2000" b="1" dirty="0">
                <a:latin typeface="Times New Roman" pitchFamily="18" charset="0"/>
              </a:rPr>
              <a:t>while(f!=0)</a:t>
            </a:r>
          </a:p>
        </p:txBody>
      </p:sp>
      <p:sp>
        <p:nvSpPr>
          <p:cNvPr id="171" name="矩形 170"/>
          <p:cNvSpPr/>
          <p:nvPr/>
        </p:nvSpPr>
        <p:spPr>
          <a:xfrm>
            <a:off x="7207613" y="5633717"/>
            <a:ext cx="2442795"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f,f</a:t>
            </a:r>
            <a:r>
              <a:rPr lang="en-US" altLang="zh-CN" sz="2000" b="1" dirty="0">
                <a:latin typeface="Times New Roman" pitchFamily="18" charset="0"/>
              </a:rPr>
              <a:t>=HT[f].parent</a:t>
            </a:r>
            <a:r>
              <a:rPr lang="zh-CN" altLang="en-US" sz="2000" b="1" dirty="0">
                <a:latin typeface="Times New Roman" pitchFamily="18" charset="0"/>
              </a:rPr>
              <a:t>；</a:t>
            </a:r>
            <a:endParaRPr lang="en-US" altLang="zh-CN" sz="2000" b="1" dirty="0">
              <a:latin typeface="Times New Roman" pitchFamily="18" charset="0"/>
            </a:endParaRPr>
          </a:p>
        </p:txBody>
      </p:sp>
      <p:sp>
        <p:nvSpPr>
          <p:cNvPr id="172" name="矩形 171"/>
          <p:cNvSpPr/>
          <p:nvPr/>
        </p:nvSpPr>
        <p:spPr>
          <a:xfrm>
            <a:off x="7136541" y="4631651"/>
            <a:ext cx="2667000" cy="978729"/>
          </a:xfrm>
          <a:prstGeom prst="rect">
            <a:avLst/>
          </a:prstGeom>
        </p:spPr>
        <p:txBody>
          <a:bodyPr wrap="square">
            <a:spAutoFit/>
          </a:bodyPr>
          <a:lstStyle/>
          <a:p>
            <a:pPr>
              <a:lnSpc>
                <a:spcPct val="80000"/>
              </a:lnSpc>
              <a:buFont typeface="Wingdings" pitchFamily="2" charset="2"/>
              <a:buNone/>
            </a:pPr>
            <a:r>
              <a:rPr lang="en-US" altLang="zh-CN" b="1" dirty="0">
                <a:latin typeface="Times New Roman" pitchFamily="18" charset="0"/>
              </a:rPr>
              <a:t>if (HT[f].</a:t>
            </a:r>
            <a:r>
              <a:rPr lang="en-US" altLang="zh-CN" b="1" dirty="0" err="1">
                <a:latin typeface="Times New Roman" pitchFamily="18" charset="0"/>
              </a:rPr>
              <a:t>lchild</a:t>
            </a:r>
            <a:r>
              <a:rPr lang="en-US" altLang="zh-CN" b="1" dirty="0">
                <a:latin typeface="Times New Roman" pitchFamily="18" charset="0"/>
              </a:rPr>
              <a:t> == c) </a:t>
            </a:r>
          </a:p>
          <a:p>
            <a:pPr>
              <a:lnSpc>
                <a:spcPct val="80000"/>
              </a:lnSpc>
              <a:buFont typeface="Wingdings" pitchFamily="2" charset="2"/>
              <a:buNone/>
            </a:pPr>
            <a:r>
              <a:rPr lang="en-US" altLang="zh-CN" b="1" dirty="0">
                <a:latin typeface="Times New Roman" pitchFamily="18" charset="0"/>
              </a:rPr>
              <a:t>         cd[--start]=‘0’;</a:t>
            </a:r>
          </a:p>
          <a:p>
            <a:pPr>
              <a:lnSpc>
                <a:spcPct val="80000"/>
              </a:lnSpc>
              <a:buFont typeface="Wingdings" pitchFamily="2" charset="2"/>
              <a:buNone/>
            </a:pPr>
            <a:r>
              <a:rPr lang="en-US" altLang="zh-CN" b="1" dirty="0">
                <a:latin typeface="Times New Roman" pitchFamily="18" charset="0"/>
              </a:rPr>
              <a:t> else </a:t>
            </a:r>
          </a:p>
          <a:p>
            <a:pPr>
              <a:lnSpc>
                <a:spcPct val="80000"/>
              </a:lnSpc>
              <a:buFont typeface="Wingdings" pitchFamily="2" charset="2"/>
              <a:buNone/>
            </a:pPr>
            <a:r>
              <a:rPr lang="en-US" altLang="zh-CN" b="1" dirty="0">
                <a:latin typeface="Times New Roman" pitchFamily="18" charset="0"/>
              </a:rPr>
              <a:t>         cd[--start]=‘1’;</a:t>
            </a:r>
          </a:p>
        </p:txBody>
      </p:sp>
      <p:sp>
        <p:nvSpPr>
          <p:cNvPr id="176" name="矩形 175"/>
          <p:cNvSpPr/>
          <p:nvPr/>
        </p:nvSpPr>
        <p:spPr>
          <a:xfrm>
            <a:off x="2708748" y="1722437"/>
            <a:ext cx="4281344" cy="2451904"/>
          </a:xfrm>
          <a:prstGeom prst="rect">
            <a:avLst/>
          </a:prstGeom>
          <a:solidFill>
            <a:srgbClr val="FFFF00">
              <a:alpha val="2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 name="直接连接符 1">
            <a:extLst>
              <a:ext uri="{FF2B5EF4-FFF2-40B4-BE49-F238E27FC236}">
                <a16:creationId xmlns:a16="http://schemas.microsoft.com/office/drawing/2014/main" xmlns="" id="{C7EBF37B-4E2F-4741-591B-E4C918D1C520}"/>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1596820D-FF1C-EFE9-E9A8-B79AA4536C3A}"/>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2891903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p:bldP spid="161" grpId="0"/>
      <p:bldP spid="162" grpId="0"/>
      <p:bldP spid="165" grpId="0"/>
      <p:bldP spid="169" grpId="0"/>
      <p:bldP spid="170" grpId="0"/>
      <p:bldP spid="171" grpId="0"/>
      <p:bldP spid="172"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708750"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564412"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421662"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5277325"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6132987"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708750"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564412"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421662"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5277325"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6132987"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708750"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564412"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0.29</a:t>
            </a:r>
          </a:p>
        </p:txBody>
      </p:sp>
      <p:sp>
        <p:nvSpPr>
          <p:cNvPr id="19" name="Rectangle 17"/>
          <p:cNvSpPr>
            <a:spLocks noChangeArrowheads="1"/>
          </p:cNvSpPr>
          <p:nvPr/>
        </p:nvSpPr>
        <p:spPr bwMode="auto">
          <a:xfrm>
            <a:off x="4421662"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20" name="Rectangle 18"/>
          <p:cNvSpPr>
            <a:spLocks noChangeArrowheads="1"/>
          </p:cNvSpPr>
          <p:nvPr/>
        </p:nvSpPr>
        <p:spPr bwMode="auto">
          <a:xfrm>
            <a:off x="5277325"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6132987"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708750"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564412"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421662"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5277325"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6132987"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708750"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564412"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421662"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5277325"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6132987"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708750"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564412"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0.14</a:t>
            </a:r>
          </a:p>
        </p:txBody>
      </p:sp>
      <p:sp>
        <p:nvSpPr>
          <p:cNvPr id="35" name="Rectangle 32"/>
          <p:cNvSpPr>
            <a:spLocks noChangeArrowheads="1"/>
          </p:cNvSpPr>
          <p:nvPr/>
        </p:nvSpPr>
        <p:spPr bwMode="auto">
          <a:xfrm>
            <a:off x="4421662"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36" name="Rectangle 33"/>
          <p:cNvSpPr>
            <a:spLocks noChangeArrowheads="1"/>
          </p:cNvSpPr>
          <p:nvPr/>
        </p:nvSpPr>
        <p:spPr bwMode="auto">
          <a:xfrm>
            <a:off x="5277325"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6132987"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708750"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564412"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0.23</a:t>
            </a:r>
          </a:p>
        </p:txBody>
      </p:sp>
      <p:sp>
        <p:nvSpPr>
          <p:cNvPr id="40" name="Rectangle 37"/>
          <p:cNvSpPr>
            <a:spLocks noChangeArrowheads="1"/>
          </p:cNvSpPr>
          <p:nvPr/>
        </p:nvSpPr>
        <p:spPr bwMode="auto">
          <a:xfrm>
            <a:off x="4421662"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41" name="Rectangle 38"/>
          <p:cNvSpPr>
            <a:spLocks noChangeArrowheads="1"/>
          </p:cNvSpPr>
          <p:nvPr/>
        </p:nvSpPr>
        <p:spPr bwMode="auto">
          <a:xfrm>
            <a:off x="5277325"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6132987"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708750"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564412"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421662"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5277325"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6132987"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708750"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564412"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0.11</a:t>
            </a:r>
          </a:p>
        </p:txBody>
      </p:sp>
      <p:sp>
        <p:nvSpPr>
          <p:cNvPr id="50" name="Rectangle 47"/>
          <p:cNvSpPr>
            <a:spLocks noChangeArrowheads="1"/>
          </p:cNvSpPr>
          <p:nvPr/>
        </p:nvSpPr>
        <p:spPr bwMode="auto">
          <a:xfrm>
            <a:off x="4421662"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5277325"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6132987"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2338862"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2338862"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2338862"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2338862"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2338862"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2338862"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2338862"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2338862"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708750"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564412"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421662"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5277325"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6132987"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2338862"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708750"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564412"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0.08 </a:t>
            </a:r>
          </a:p>
        </p:txBody>
      </p:sp>
      <p:sp>
        <p:nvSpPr>
          <p:cNvPr id="76" name="Rectangle 72"/>
          <p:cNvSpPr>
            <a:spLocks noChangeArrowheads="1"/>
          </p:cNvSpPr>
          <p:nvPr/>
        </p:nvSpPr>
        <p:spPr bwMode="auto">
          <a:xfrm>
            <a:off x="4421662"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5277325"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6132987"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710193"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565855"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423105"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82" name="Rectangle 73"/>
          <p:cNvSpPr>
            <a:spLocks noChangeArrowheads="1"/>
          </p:cNvSpPr>
          <p:nvPr/>
        </p:nvSpPr>
        <p:spPr bwMode="auto">
          <a:xfrm>
            <a:off x="5278768"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6134430"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2194847"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2196290"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710193"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565855"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423105"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95" name="Rectangle 73"/>
          <p:cNvSpPr>
            <a:spLocks noChangeArrowheads="1"/>
          </p:cNvSpPr>
          <p:nvPr/>
        </p:nvSpPr>
        <p:spPr bwMode="auto">
          <a:xfrm>
            <a:off x="5278768"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5</a:t>
            </a:r>
          </a:p>
        </p:txBody>
      </p:sp>
      <p:sp>
        <p:nvSpPr>
          <p:cNvPr id="96" name="Rectangle 74"/>
          <p:cNvSpPr>
            <a:spLocks noChangeArrowheads="1"/>
          </p:cNvSpPr>
          <p:nvPr/>
        </p:nvSpPr>
        <p:spPr bwMode="auto">
          <a:xfrm>
            <a:off x="6134430"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97" name="Text Box 69"/>
          <p:cNvSpPr txBox="1">
            <a:spLocks noChangeArrowheads="1"/>
          </p:cNvSpPr>
          <p:nvPr/>
        </p:nvSpPr>
        <p:spPr bwMode="auto">
          <a:xfrm>
            <a:off x="2196290"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710193"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565855"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423105"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1" name="Rectangle 73"/>
          <p:cNvSpPr>
            <a:spLocks noChangeArrowheads="1"/>
          </p:cNvSpPr>
          <p:nvPr/>
        </p:nvSpPr>
        <p:spPr bwMode="auto">
          <a:xfrm>
            <a:off x="5278768"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102" name="Rectangle 74"/>
          <p:cNvSpPr>
            <a:spLocks noChangeArrowheads="1"/>
          </p:cNvSpPr>
          <p:nvPr/>
        </p:nvSpPr>
        <p:spPr bwMode="auto">
          <a:xfrm>
            <a:off x="6134430"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6</a:t>
            </a:r>
          </a:p>
        </p:txBody>
      </p:sp>
      <p:sp>
        <p:nvSpPr>
          <p:cNvPr id="103" name="Text Box 69"/>
          <p:cNvSpPr txBox="1">
            <a:spLocks noChangeArrowheads="1"/>
          </p:cNvSpPr>
          <p:nvPr/>
        </p:nvSpPr>
        <p:spPr bwMode="auto">
          <a:xfrm>
            <a:off x="2196290"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710193"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423105"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7" name="Rectangle 73"/>
          <p:cNvSpPr>
            <a:spLocks noChangeArrowheads="1"/>
          </p:cNvSpPr>
          <p:nvPr/>
        </p:nvSpPr>
        <p:spPr bwMode="auto">
          <a:xfrm>
            <a:off x="5278768"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08" name="Rectangle 74"/>
          <p:cNvSpPr>
            <a:spLocks noChangeArrowheads="1"/>
          </p:cNvSpPr>
          <p:nvPr/>
        </p:nvSpPr>
        <p:spPr bwMode="auto">
          <a:xfrm>
            <a:off x="6134430"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2</a:t>
            </a:r>
          </a:p>
        </p:txBody>
      </p:sp>
      <p:sp>
        <p:nvSpPr>
          <p:cNvPr id="109" name="Text Box 69"/>
          <p:cNvSpPr txBox="1">
            <a:spLocks noChangeArrowheads="1"/>
          </p:cNvSpPr>
          <p:nvPr/>
        </p:nvSpPr>
        <p:spPr bwMode="auto">
          <a:xfrm>
            <a:off x="2196290"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2194846"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423105"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12" name="Rectangle 73"/>
          <p:cNvSpPr>
            <a:spLocks noChangeArrowheads="1"/>
          </p:cNvSpPr>
          <p:nvPr/>
        </p:nvSpPr>
        <p:spPr bwMode="auto">
          <a:xfrm>
            <a:off x="5278768"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6132987"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2815211"/>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9434146" y="2810508"/>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565855"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0.15 </a:t>
            </a:r>
          </a:p>
        </p:txBody>
      </p:sp>
      <p:grpSp>
        <p:nvGrpSpPr>
          <p:cNvPr id="127" name="Group 112"/>
          <p:cNvGrpSpPr>
            <a:grpSpLocks/>
          </p:cNvGrpSpPr>
          <p:nvPr/>
        </p:nvGrpSpPr>
        <p:grpSpPr bwMode="auto">
          <a:xfrm>
            <a:off x="7734300" y="2143649"/>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565855"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0.19 </a:t>
            </a:r>
          </a:p>
        </p:txBody>
      </p:sp>
      <p:sp>
        <p:nvSpPr>
          <p:cNvPr id="133" name="Rectangle 71"/>
          <p:cNvSpPr>
            <a:spLocks noChangeArrowheads="1"/>
          </p:cNvSpPr>
          <p:nvPr/>
        </p:nvSpPr>
        <p:spPr bwMode="auto">
          <a:xfrm>
            <a:off x="3565855" y="5034527"/>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0.29 </a:t>
            </a:r>
          </a:p>
        </p:txBody>
      </p:sp>
      <p:sp>
        <p:nvSpPr>
          <p:cNvPr id="134" name="Oval 98"/>
          <p:cNvSpPr>
            <a:spLocks noChangeArrowheads="1"/>
          </p:cNvSpPr>
          <p:nvPr/>
        </p:nvSpPr>
        <p:spPr bwMode="auto">
          <a:xfrm>
            <a:off x="9091246" y="28294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135" name="Oval 99"/>
          <p:cNvSpPr>
            <a:spLocks noChangeArrowheads="1"/>
          </p:cNvSpPr>
          <p:nvPr/>
        </p:nvSpPr>
        <p:spPr bwMode="auto">
          <a:xfrm>
            <a:off x="9472246" y="21436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136" name="Line 100"/>
          <p:cNvSpPr>
            <a:spLocks noChangeShapeType="1"/>
          </p:cNvSpPr>
          <p:nvPr/>
        </p:nvSpPr>
        <p:spPr bwMode="auto">
          <a:xfrm flipH="1">
            <a:off x="9243646" y="2524649"/>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1"/>
          <p:cNvSpPr>
            <a:spLocks noChangeShapeType="1"/>
          </p:cNvSpPr>
          <p:nvPr/>
        </p:nvSpPr>
        <p:spPr bwMode="auto">
          <a:xfrm>
            <a:off x="9671538" y="2527924"/>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Rectangle 71"/>
          <p:cNvSpPr>
            <a:spLocks noChangeArrowheads="1"/>
          </p:cNvSpPr>
          <p:nvPr/>
        </p:nvSpPr>
        <p:spPr bwMode="auto">
          <a:xfrm>
            <a:off x="3577760"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39" name="Rectangle 71"/>
          <p:cNvSpPr>
            <a:spLocks noChangeArrowheads="1"/>
          </p:cNvSpPr>
          <p:nvPr/>
        </p:nvSpPr>
        <p:spPr bwMode="auto">
          <a:xfrm>
            <a:off x="3577760" y="5337739"/>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0.42 </a:t>
            </a:r>
          </a:p>
        </p:txBody>
      </p:sp>
      <p:sp>
        <p:nvSpPr>
          <p:cNvPr id="140" name="Oval 96"/>
          <p:cNvSpPr>
            <a:spLocks noChangeArrowheads="1"/>
          </p:cNvSpPr>
          <p:nvPr/>
        </p:nvSpPr>
        <p:spPr bwMode="auto">
          <a:xfrm>
            <a:off x="8572500" y="21591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6</a:t>
            </a:r>
          </a:p>
        </p:txBody>
      </p:sp>
      <p:sp>
        <p:nvSpPr>
          <p:cNvPr id="141" name="Line 97"/>
          <p:cNvSpPr>
            <a:spLocks noChangeShapeType="1"/>
          </p:cNvSpPr>
          <p:nvPr/>
        </p:nvSpPr>
        <p:spPr bwMode="auto">
          <a:xfrm flipH="1">
            <a:off x="79629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 name="Line 98"/>
          <p:cNvSpPr>
            <a:spLocks noChangeShapeType="1"/>
          </p:cNvSpPr>
          <p:nvPr/>
        </p:nvSpPr>
        <p:spPr bwMode="auto">
          <a:xfrm>
            <a:off x="84963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3" name="Oval 99"/>
          <p:cNvSpPr>
            <a:spLocks noChangeArrowheads="1"/>
          </p:cNvSpPr>
          <p:nvPr/>
        </p:nvSpPr>
        <p:spPr bwMode="auto">
          <a:xfrm>
            <a:off x="8191500"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13</a:t>
            </a:r>
          </a:p>
        </p:txBody>
      </p:sp>
      <p:sp>
        <p:nvSpPr>
          <p:cNvPr id="144"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0.58</a:t>
            </a:r>
            <a:r>
              <a:rPr lang="en-US" altLang="zh-CN" sz="2000" dirty="0"/>
              <a:t> </a:t>
            </a:r>
          </a:p>
        </p:txBody>
      </p:sp>
      <p:sp>
        <p:nvSpPr>
          <p:cNvPr id="145" name="Line 139"/>
          <p:cNvSpPr>
            <a:spLocks noChangeShapeType="1"/>
          </p:cNvSpPr>
          <p:nvPr/>
        </p:nvSpPr>
        <p:spPr bwMode="auto">
          <a:xfrm flipH="1">
            <a:off x="95484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 name="Line 140"/>
          <p:cNvSpPr>
            <a:spLocks noChangeShapeType="1"/>
          </p:cNvSpPr>
          <p:nvPr/>
        </p:nvSpPr>
        <p:spPr bwMode="auto">
          <a:xfrm>
            <a:off x="100818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 name="Oval 141"/>
          <p:cNvSpPr>
            <a:spLocks noChangeArrowheads="1"/>
          </p:cNvSpPr>
          <p:nvPr/>
        </p:nvSpPr>
        <p:spPr bwMode="auto">
          <a:xfrm>
            <a:off x="9777046"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14</a:t>
            </a:r>
          </a:p>
        </p:txBody>
      </p:sp>
      <p:sp>
        <p:nvSpPr>
          <p:cNvPr id="148" name="Oval 138"/>
          <p:cNvSpPr>
            <a:spLocks noChangeArrowheads="1"/>
          </p:cNvSpPr>
          <p:nvPr/>
        </p:nvSpPr>
        <p:spPr bwMode="auto">
          <a:xfrm>
            <a:off x="10200456" y="218413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2</a:t>
            </a:r>
          </a:p>
        </p:txBody>
      </p:sp>
      <p:sp>
        <p:nvSpPr>
          <p:cNvPr id="149" name="Rectangle 71"/>
          <p:cNvSpPr>
            <a:spLocks noChangeArrowheads="1"/>
          </p:cNvSpPr>
          <p:nvPr/>
        </p:nvSpPr>
        <p:spPr bwMode="auto">
          <a:xfrm>
            <a:off x="3565855" y="5953952"/>
            <a:ext cx="857250"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1.00</a:t>
            </a:r>
          </a:p>
        </p:txBody>
      </p:sp>
      <p:sp>
        <p:nvSpPr>
          <p:cNvPr id="150" name="Rectangle 72"/>
          <p:cNvSpPr>
            <a:spLocks noChangeArrowheads="1"/>
          </p:cNvSpPr>
          <p:nvPr/>
        </p:nvSpPr>
        <p:spPr bwMode="auto">
          <a:xfrm>
            <a:off x="4435010" y="5953951"/>
            <a:ext cx="855662" cy="35537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51" name="Rectangle 73"/>
          <p:cNvSpPr>
            <a:spLocks noChangeArrowheads="1"/>
          </p:cNvSpPr>
          <p:nvPr/>
        </p:nvSpPr>
        <p:spPr bwMode="auto">
          <a:xfrm>
            <a:off x="5285110" y="5953173"/>
            <a:ext cx="855663" cy="3561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152" name="Rectangle 74"/>
          <p:cNvSpPr>
            <a:spLocks noChangeArrowheads="1"/>
          </p:cNvSpPr>
          <p:nvPr/>
        </p:nvSpPr>
        <p:spPr bwMode="auto">
          <a:xfrm>
            <a:off x="6140772" y="5953952"/>
            <a:ext cx="855662"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153" name="Line 125"/>
          <p:cNvSpPr>
            <a:spLocks noChangeShapeType="1"/>
          </p:cNvSpPr>
          <p:nvPr/>
        </p:nvSpPr>
        <p:spPr bwMode="auto">
          <a:xfrm flipV="1">
            <a:off x="8496301" y="1294455"/>
            <a:ext cx="457199" cy="180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126"/>
          <p:cNvSpPr>
            <a:spLocks noChangeShapeType="1"/>
          </p:cNvSpPr>
          <p:nvPr/>
        </p:nvSpPr>
        <p:spPr bwMode="auto">
          <a:xfrm flipH="1" flipV="1">
            <a:off x="9334499" y="1315244"/>
            <a:ext cx="527536" cy="190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Oval 127"/>
          <p:cNvSpPr>
            <a:spLocks noChangeArrowheads="1"/>
          </p:cNvSpPr>
          <p:nvPr/>
        </p:nvSpPr>
        <p:spPr bwMode="auto">
          <a:xfrm>
            <a:off x="8953500" y="1124744"/>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15</a:t>
            </a:r>
          </a:p>
        </p:txBody>
      </p:sp>
      <p:sp>
        <p:nvSpPr>
          <p:cNvPr id="158" name="矩形 157"/>
          <p:cNvSpPr/>
          <p:nvPr/>
        </p:nvSpPr>
        <p:spPr>
          <a:xfrm>
            <a:off x="1650627" y="4076223"/>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0" name="直接箭头连接符 159"/>
          <p:cNvCxnSpPr/>
          <p:nvPr/>
        </p:nvCxnSpPr>
        <p:spPr>
          <a:xfrm>
            <a:off x="7605304" y="2325687"/>
            <a:ext cx="187687"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a:off x="7391205" y="2130449"/>
            <a:ext cx="258404" cy="369332"/>
          </a:xfrm>
          <a:prstGeom prst="rect">
            <a:avLst/>
          </a:prstGeom>
        </p:spPr>
        <p:txBody>
          <a:bodyPr wrap="none">
            <a:spAutoFit/>
          </a:bodyPr>
          <a:lstStyle/>
          <a:p>
            <a:r>
              <a:rPr lang="en-US" altLang="zh-CN" b="1" dirty="0"/>
              <a:t>f</a:t>
            </a:r>
            <a:endParaRPr lang="zh-CN" altLang="en-US" b="1" dirty="0"/>
          </a:p>
        </p:txBody>
      </p:sp>
      <p:sp>
        <p:nvSpPr>
          <p:cNvPr id="162" name="矩形 161"/>
          <p:cNvSpPr/>
          <p:nvPr/>
        </p:nvSpPr>
        <p:spPr>
          <a:xfrm>
            <a:off x="8077157" y="2810659"/>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3" name="直接箭头连接符 162"/>
          <p:cNvCxnSpPr/>
          <p:nvPr/>
        </p:nvCxnSpPr>
        <p:spPr>
          <a:xfrm flipH="1">
            <a:off x="7792991" y="3031544"/>
            <a:ext cx="2548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5" name="矩形 164"/>
          <p:cNvSpPr/>
          <p:nvPr/>
        </p:nvSpPr>
        <p:spPr>
          <a:xfrm>
            <a:off x="1605080" y="4719559"/>
            <a:ext cx="258404" cy="369332"/>
          </a:xfrm>
          <a:prstGeom prst="rect">
            <a:avLst/>
          </a:prstGeom>
        </p:spPr>
        <p:txBody>
          <a:bodyPr wrap="none">
            <a:spAutoFit/>
          </a:bodyPr>
          <a:lstStyle/>
          <a:p>
            <a:r>
              <a:rPr lang="en-US" altLang="zh-CN" b="1" dirty="0"/>
              <a:t>f</a:t>
            </a:r>
            <a:endParaRPr lang="zh-CN" altLang="en-US" b="1" dirty="0"/>
          </a:p>
        </p:txBody>
      </p:sp>
      <p:cxnSp>
        <p:nvCxnSpPr>
          <p:cNvPr id="166" name="直接箭头连接符 165"/>
          <p:cNvCxnSpPr>
            <a:stCxn id="158" idx="3"/>
          </p:cNvCxnSpPr>
          <p:nvPr/>
        </p:nvCxnSpPr>
        <p:spPr>
          <a:xfrm>
            <a:off x="1937886" y="4260890"/>
            <a:ext cx="400977" cy="46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p:nvPr/>
        </p:nvCxnSpPr>
        <p:spPr>
          <a:xfrm>
            <a:off x="1937886" y="4934294"/>
            <a:ext cx="400977" cy="466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9" name="矩形 158"/>
          <p:cNvSpPr/>
          <p:nvPr/>
        </p:nvSpPr>
        <p:spPr>
          <a:xfrm>
            <a:off x="7148146" y="4005064"/>
            <a:ext cx="2400300"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i,f</a:t>
            </a:r>
            <a:r>
              <a:rPr lang="en-US" altLang="zh-CN" sz="2000" b="1" dirty="0">
                <a:latin typeface="Times New Roman" pitchFamily="18" charset="0"/>
              </a:rPr>
              <a:t>=HT[i].parent;</a:t>
            </a:r>
          </a:p>
        </p:txBody>
      </p:sp>
      <p:sp>
        <p:nvSpPr>
          <p:cNvPr id="164" name="矩形 163"/>
          <p:cNvSpPr/>
          <p:nvPr/>
        </p:nvSpPr>
        <p:spPr>
          <a:xfrm>
            <a:off x="7130680" y="4293096"/>
            <a:ext cx="1670421" cy="338554"/>
          </a:xfrm>
          <a:prstGeom prst="rect">
            <a:avLst/>
          </a:prstGeom>
        </p:spPr>
        <p:txBody>
          <a:bodyPr wrap="square">
            <a:spAutoFit/>
          </a:bodyPr>
          <a:lstStyle/>
          <a:p>
            <a:pPr>
              <a:lnSpc>
                <a:spcPct val="80000"/>
              </a:lnSpc>
            </a:pPr>
            <a:r>
              <a:rPr lang="en-US" altLang="zh-CN" sz="2000" b="1" dirty="0">
                <a:latin typeface="Times New Roman" pitchFamily="18" charset="0"/>
              </a:rPr>
              <a:t>while(f!=0)</a:t>
            </a:r>
          </a:p>
        </p:txBody>
      </p:sp>
      <p:sp>
        <p:nvSpPr>
          <p:cNvPr id="167" name="矩形 166"/>
          <p:cNvSpPr/>
          <p:nvPr/>
        </p:nvSpPr>
        <p:spPr>
          <a:xfrm>
            <a:off x="7207613" y="5633717"/>
            <a:ext cx="2442795"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f,f</a:t>
            </a:r>
            <a:r>
              <a:rPr lang="en-US" altLang="zh-CN" sz="2000" b="1" dirty="0">
                <a:latin typeface="Times New Roman" pitchFamily="18" charset="0"/>
              </a:rPr>
              <a:t>=HT[f].parent</a:t>
            </a:r>
            <a:r>
              <a:rPr lang="zh-CN" altLang="en-US" sz="2000" b="1" dirty="0">
                <a:latin typeface="Times New Roman" pitchFamily="18" charset="0"/>
              </a:rPr>
              <a:t>；</a:t>
            </a:r>
            <a:endParaRPr lang="en-US" altLang="zh-CN" sz="2000" b="1" dirty="0">
              <a:latin typeface="Times New Roman" pitchFamily="18" charset="0"/>
            </a:endParaRPr>
          </a:p>
        </p:txBody>
      </p:sp>
      <p:sp>
        <p:nvSpPr>
          <p:cNvPr id="173" name="矩形 172"/>
          <p:cNvSpPr/>
          <p:nvPr/>
        </p:nvSpPr>
        <p:spPr>
          <a:xfrm>
            <a:off x="7136541" y="4631651"/>
            <a:ext cx="2667000" cy="978729"/>
          </a:xfrm>
          <a:prstGeom prst="rect">
            <a:avLst/>
          </a:prstGeom>
        </p:spPr>
        <p:txBody>
          <a:bodyPr wrap="square">
            <a:spAutoFit/>
          </a:bodyPr>
          <a:lstStyle/>
          <a:p>
            <a:pPr>
              <a:lnSpc>
                <a:spcPct val="80000"/>
              </a:lnSpc>
              <a:buFont typeface="Wingdings" pitchFamily="2" charset="2"/>
              <a:buNone/>
            </a:pPr>
            <a:r>
              <a:rPr lang="en-US" altLang="zh-CN" b="1" dirty="0">
                <a:latin typeface="Times New Roman" pitchFamily="18" charset="0"/>
              </a:rPr>
              <a:t>if (HT[f].</a:t>
            </a:r>
            <a:r>
              <a:rPr lang="en-US" altLang="zh-CN" b="1" dirty="0" err="1">
                <a:latin typeface="Times New Roman" pitchFamily="18" charset="0"/>
              </a:rPr>
              <a:t>lchild</a:t>
            </a:r>
            <a:r>
              <a:rPr lang="en-US" altLang="zh-CN" b="1" dirty="0">
                <a:latin typeface="Times New Roman" pitchFamily="18" charset="0"/>
              </a:rPr>
              <a:t> == c) </a:t>
            </a:r>
          </a:p>
          <a:p>
            <a:pPr>
              <a:lnSpc>
                <a:spcPct val="80000"/>
              </a:lnSpc>
              <a:buFont typeface="Wingdings" pitchFamily="2" charset="2"/>
              <a:buNone/>
            </a:pPr>
            <a:r>
              <a:rPr lang="en-US" altLang="zh-CN" b="1" dirty="0">
                <a:latin typeface="Times New Roman" pitchFamily="18" charset="0"/>
              </a:rPr>
              <a:t>         cd[--start]=‘0’;</a:t>
            </a:r>
          </a:p>
          <a:p>
            <a:pPr>
              <a:lnSpc>
                <a:spcPct val="80000"/>
              </a:lnSpc>
              <a:buFont typeface="Wingdings" pitchFamily="2" charset="2"/>
              <a:buNone/>
            </a:pPr>
            <a:r>
              <a:rPr lang="en-US" altLang="zh-CN" b="1" dirty="0">
                <a:latin typeface="Times New Roman" pitchFamily="18" charset="0"/>
              </a:rPr>
              <a:t> else </a:t>
            </a:r>
          </a:p>
          <a:p>
            <a:pPr>
              <a:lnSpc>
                <a:spcPct val="80000"/>
              </a:lnSpc>
              <a:buFont typeface="Wingdings" pitchFamily="2" charset="2"/>
              <a:buNone/>
            </a:pPr>
            <a:r>
              <a:rPr lang="en-US" altLang="zh-CN" b="1" dirty="0">
                <a:latin typeface="Times New Roman" pitchFamily="18" charset="0"/>
              </a:rPr>
              <a:t>         cd[--start]=‘1’;</a:t>
            </a:r>
          </a:p>
        </p:txBody>
      </p:sp>
      <p:cxnSp>
        <p:nvCxnSpPr>
          <p:cNvPr id="2" name="直接连接符 1">
            <a:extLst>
              <a:ext uri="{FF2B5EF4-FFF2-40B4-BE49-F238E27FC236}">
                <a16:creationId xmlns:a16="http://schemas.microsoft.com/office/drawing/2014/main" xmlns="" id="{800962EC-1E1A-38F2-D7A1-B345126D6A35}"/>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9D954CBE-A3C0-C02F-1380-CB49D26B3B71}"/>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62956839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708750"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564412"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421662"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5277325"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6132987"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708750"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564412"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421662"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5277325"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6132987"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708750"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564412"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0.29</a:t>
            </a:r>
          </a:p>
        </p:txBody>
      </p:sp>
      <p:sp>
        <p:nvSpPr>
          <p:cNvPr id="19" name="Rectangle 17"/>
          <p:cNvSpPr>
            <a:spLocks noChangeArrowheads="1"/>
          </p:cNvSpPr>
          <p:nvPr/>
        </p:nvSpPr>
        <p:spPr bwMode="auto">
          <a:xfrm>
            <a:off x="4421662"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20" name="Rectangle 18"/>
          <p:cNvSpPr>
            <a:spLocks noChangeArrowheads="1"/>
          </p:cNvSpPr>
          <p:nvPr/>
        </p:nvSpPr>
        <p:spPr bwMode="auto">
          <a:xfrm>
            <a:off x="5277325"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6132987"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708750"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564412"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421662"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5277325"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6132987"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708750"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564412"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421662"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5277325"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6132987"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708750"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564412"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0.14</a:t>
            </a:r>
          </a:p>
        </p:txBody>
      </p:sp>
      <p:sp>
        <p:nvSpPr>
          <p:cNvPr id="35" name="Rectangle 32"/>
          <p:cNvSpPr>
            <a:spLocks noChangeArrowheads="1"/>
          </p:cNvSpPr>
          <p:nvPr/>
        </p:nvSpPr>
        <p:spPr bwMode="auto">
          <a:xfrm>
            <a:off x="4421662"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36" name="Rectangle 33"/>
          <p:cNvSpPr>
            <a:spLocks noChangeArrowheads="1"/>
          </p:cNvSpPr>
          <p:nvPr/>
        </p:nvSpPr>
        <p:spPr bwMode="auto">
          <a:xfrm>
            <a:off x="5277325"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6132987"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708750"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564412"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0.23</a:t>
            </a:r>
          </a:p>
        </p:txBody>
      </p:sp>
      <p:sp>
        <p:nvSpPr>
          <p:cNvPr id="40" name="Rectangle 37"/>
          <p:cNvSpPr>
            <a:spLocks noChangeArrowheads="1"/>
          </p:cNvSpPr>
          <p:nvPr/>
        </p:nvSpPr>
        <p:spPr bwMode="auto">
          <a:xfrm>
            <a:off x="4421662"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41" name="Rectangle 38"/>
          <p:cNvSpPr>
            <a:spLocks noChangeArrowheads="1"/>
          </p:cNvSpPr>
          <p:nvPr/>
        </p:nvSpPr>
        <p:spPr bwMode="auto">
          <a:xfrm>
            <a:off x="5277325"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6132987"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708750"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564412"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421662"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5277325"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6132987"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708750"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564412"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0.11</a:t>
            </a:r>
          </a:p>
        </p:txBody>
      </p:sp>
      <p:sp>
        <p:nvSpPr>
          <p:cNvPr id="50" name="Rectangle 47"/>
          <p:cNvSpPr>
            <a:spLocks noChangeArrowheads="1"/>
          </p:cNvSpPr>
          <p:nvPr/>
        </p:nvSpPr>
        <p:spPr bwMode="auto">
          <a:xfrm>
            <a:off x="4421662"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5277325"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6132987"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2338862"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2338862"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2338862"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2338862"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2338862"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2338862"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2338862"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2338862"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708750"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564412"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421662"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5277325"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6132987"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2338862"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708750"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564412"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0.08 </a:t>
            </a:r>
          </a:p>
        </p:txBody>
      </p:sp>
      <p:sp>
        <p:nvSpPr>
          <p:cNvPr id="76" name="Rectangle 72"/>
          <p:cNvSpPr>
            <a:spLocks noChangeArrowheads="1"/>
          </p:cNvSpPr>
          <p:nvPr/>
        </p:nvSpPr>
        <p:spPr bwMode="auto">
          <a:xfrm>
            <a:off x="4421662"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5277325"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6132987"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710193"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565855"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423105"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82" name="Rectangle 73"/>
          <p:cNvSpPr>
            <a:spLocks noChangeArrowheads="1"/>
          </p:cNvSpPr>
          <p:nvPr/>
        </p:nvSpPr>
        <p:spPr bwMode="auto">
          <a:xfrm>
            <a:off x="5278768"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6134430"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2194847"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2196290"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710193"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565855"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423105"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95" name="Rectangle 73"/>
          <p:cNvSpPr>
            <a:spLocks noChangeArrowheads="1"/>
          </p:cNvSpPr>
          <p:nvPr/>
        </p:nvSpPr>
        <p:spPr bwMode="auto">
          <a:xfrm>
            <a:off x="5278768"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5</a:t>
            </a:r>
          </a:p>
        </p:txBody>
      </p:sp>
      <p:sp>
        <p:nvSpPr>
          <p:cNvPr id="96" name="Rectangle 74"/>
          <p:cNvSpPr>
            <a:spLocks noChangeArrowheads="1"/>
          </p:cNvSpPr>
          <p:nvPr/>
        </p:nvSpPr>
        <p:spPr bwMode="auto">
          <a:xfrm>
            <a:off x="6134430"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97" name="Text Box 69"/>
          <p:cNvSpPr txBox="1">
            <a:spLocks noChangeArrowheads="1"/>
          </p:cNvSpPr>
          <p:nvPr/>
        </p:nvSpPr>
        <p:spPr bwMode="auto">
          <a:xfrm>
            <a:off x="2196290"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710193"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565855"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423105"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1" name="Rectangle 73"/>
          <p:cNvSpPr>
            <a:spLocks noChangeArrowheads="1"/>
          </p:cNvSpPr>
          <p:nvPr/>
        </p:nvSpPr>
        <p:spPr bwMode="auto">
          <a:xfrm>
            <a:off x="5278768"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102" name="Rectangle 74"/>
          <p:cNvSpPr>
            <a:spLocks noChangeArrowheads="1"/>
          </p:cNvSpPr>
          <p:nvPr/>
        </p:nvSpPr>
        <p:spPr bwMode="auto">
          <a:xfrm>
            <a:off x="6134430"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6</a:t>
            </a:r>
          </a:p>
        </p:txBody>
      </p:sp>
      <p:sp>
        <p:nvSpPr>
          <p:cNvPr id="103" name="Text Box 69"/>
          <p:cNvSpPr txBox="1">
            <a:spLocks noChangeArrowheads="1"/>
          </p:cNvSpPr>
          <p:nvPr/>
        </p:nvSpPr>
        <p:spPr bwMode="auto">
          <a:xfrm>
            <a:off x="2196290"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710193"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423105"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7" name="Rectangle 73"/>
          <p:cNvSpPr>
            <a:spLocks noChangeArrowheads="1"/>
          </p:cNvSpPr>
          <p:nvPr/>
        </p:nvSpPr>
        <p:spPr bwMode="auto">
          <a:xfrm>
            <a:off x="5278768"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08" name="Rectangle 74"/>
          <p:cNvSpPr>
            <a:spLocks noChangeArrowheads="1"/>
          </p:cNvSpPr>
          <p:nvPr/>
        </p:nvSpPr>
        <p:spPr bwMode="auto">
          <a:xfrm>
            <a:off x="6134430"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2</a:t>
            </a:r>
          </a:p>
        </p:txBody>
      </p:sp>
      <p:sp>
        <p:nvSpPr>
          <p:cNvPr id="109" name="Text Box 69"/>
          <p:cNvSpPr txBox="1">
            <a:spLocks noChangeArrowheads="1"/>
          </p:cNvSpPr>
          <p:nvPr/>
        </p:nvSpPr>
        <p:spPr bwMode="auto">
          <a:xfrm>
            <a:off x="2196290"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2194846"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423105"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12" name="Rectangle 73"/>
          <p:cNvSpPr>
            <a:spLocks noChangeArrowheads="1"/>
          </p:cNvSpPr>
          <p:nvPr/>
        </p:nvSpPr>
        <p:spPr bwMode="auto">
          <a:xfrm>
            <a:off x="5278768"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6132987"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2815211"/>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9434146" y="2810508"/>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565855"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0.15 </a:t>
            </a:r>
          </a:p>
        </p:txBody>
      </p:sp>
      <p:grpSp>
        <p:nvGrpSpPr>
          <p:cNvPr id="127" name="Group 112"/>
          <p:cNvGrpSpPr>
            <a:grpSpLocks/>
          </p:cNvGrpSpPr>
          <p:nvPr/>
        </p:nvGrpSpPr>
        <p:grpSpPr bwMode="auto">
          <a:xfrm>
            <a:off x="7734300" y="2143649"/>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565855"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0.19 </a:t>
            </a:r>
          </a:p>
        </p:txBody>
      </p:sp>
      <p:sp>
        <p:nvSpPr>
          <p:cNvPr id="133" name="Rectangle 71"/>
          <p:cNvSpPr>
            <a:spLocks noChangeArrowheads="1"/>
          </p:cNvSpPr>
          <p:nvPr/>
        </p:nvSpPr>
        <p:spPr bwMode="auto">
          <a:xfrm>
            <a:off x="3565855" y="5034527"/>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0.29 </a:t>
            </a:r>
          </a:p>
        </p:txBody>
      </p:sp>
      <p:sp>
        <p:nvSpPr>
          <p:cNvPr id="134" name="Oval 98"/>
          <p:cNvSpPr>
            <a:spLocks noChangeArrowheads="1"/>
          </p:cNvSpPr>
          <p:nvPr/>
        </p:nvSpPr>
        <p:spPr bwMode="auto">
          <a:xfrm>
            <a:off x="9091246" y="28294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135" name="Oval 99"/>
          <p:cNvSpPr>
            <a:spLocks noChangeArrowheads="1"/>
          </p:cNvSpPr>
          <p:nvPr/>
        </p:nvSpPr>
        <p:spPr bwMode="auto">
          <a:xfrm>
            <a:off x="9472246" y="21436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136" name="Line 100"/>
          <p:cNvSpPr>
            <a:spLocks noChangeShapeType="1"/>
          </p:cNvSpPr>
          <p:nvPr/>
        </p:nvSpPr>
        <p:spPr bwMode="auto">
          <a:xfrm flipH="1">
            <a:off x="9243646" y="2524649"/>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1"/>
          <p:cNvSpPr>
            <a:spLocks noChangeShapeType="1"/>
          </p:cNvSpPr>
          <p:nvPr/>
        </p:nvSpPr>
        <p:spPr bwMode="auto">
          <a:xfrm>
            <a:off x="9671538" y="2527924"/>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Rectangle 71"/>
          <p:cNvSpPr>
            <a:spLocks noChangeArrowheads="1"/>
          </p:cNvSpPr>
          <p:nvPr/>
        </p:nvSpPr>
        <p:spPr bwMode="auto">
          <a:xfrm>
            <a:off x="3577760"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39" name="Rectangle 71"/>
          <p:cNvSpPr>
            <a:spLocks noChangeArrowheads="1"/>
          </p:cNvSpPr>
          <p:nvPr/>
        </p:nvSpPr>
        <p:spPr bwMode="auto">
          <a:xfrm>
            <a:off x="3577760" y="5337739"/>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0.42 </a:t>
            </a:r>
          </a:p>
        </p:txBody>
      </p:sp>
      <p:sp>
        <p:nvSpPr>
          <p:cNvPr id="140" name="Oval 96"/>
          <p:cNvSpPr>
            <a:spLocks noChangeArrowheads="1"/>
          </p:cNvSpPr>
          <p:nvPr/>
        </p:nvSpPr>
        <p:spPr bwMode="auto">
          <a:xfrm>
            <a:off x="8572500" y="21591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6</a:t>
            </a:r>
          </a:p>
        </p:txBody>
      </p:sp>
      <p:sp>
        <p:nvSpPr>
          <p:cNvPr id="141" name="Line 97"/>
          <p:cNvSpPr>
            <a:spLocks noChangeShapeType="1"/>
          </p:cNvSpPr>
          <p:nvPr/>
        </p:nvSpPr>
        <p:spPr bwMode="auto">
          <a:xfrm flipH="1">
            <a:off x="79629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 name="Line 98"/>
          <p:cNvSpPr>
            <a:spLocks noChangeShapeType="1"/>
          </p:cNvSpPr>
          <p:nvPr/>
        </p:nvSpPr>
        <p:spPr bwMode="auto">
          <a:xfrm>
            <a:off x="84963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3" name="Oval 99"/>
          <p:cNvSpPr>
            <a:spLocks noChangeArrowheads="1"/>
          </p:cNvSpPr>
          <p:nvPr/>
        </p:nvSpPr>
        <p:spPr bwMode="auto">
          <a:xfrm>
            <a:off x="8191500"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13</a:t>
            </a:r>
          </a:p>
        </p:txBody>
      </p:sp>
      <p:sp>
        <p:nvSpPr>
          <p:cNvPr id="144"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0.58</a:t>
            </a:r>
            <a:r>
              <a:rPr lang="en-US" altLang="zh-CN" sz="2000" dirty="0"/>
              <a:t> </a:t>
            </a:r>
          </a:p>
        </p:txBody>
      </p:sp>
      <p:sp>
        <p:nvSpPr>
          <p:cNvPr id="145" name="Line 139"/>
          <p:cNvSpPr>
            <a:spLocks noChangeShapeType="1"/>
          </p:cNvSpPr>
          <p:nvPr/>
        </p:nvSpPr>
        <p:spPr bwMode="auto">
          <a:xfrm flipH="1">
            <a:off x="95484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 name="Line 140"/>
          <p:cNvSpPr>
            <a:spLocks noChangeShapeType="1"/>
          </p:cNvSpPr>
          <p:nvPr/>
        </p:nvSpPr>
        <p:spPr bwMode="auto">
          <a:xfrm>
            <a:off x="100818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 name="Oval 141"/>
          <p:cNvSpPr>
            <a:spLocks noChangeArrowheads="1"/>
          </p:cNvSpPr>
          <p:nvPr/>
        </p:nvSpPr>
        <p:spPr bwMode="auto">
          <a:xfrm>
            <a:off x="9777046"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14</a:t>
            </a:r>
          </a:p>
        </p:txBody>
      </p:sp>
      <p:sp>
        <p:nvSpPr>
          <p:cNvPr id="148" name="Oval 138"/>
          <p:cNvSpPr>
            <a:spLocks noChangeArrowheads="1"/>
          </p:cNvSpPr>
          <p:nvPr/>
        </p:nvSpPr>
        <p:spPr bwMode="auto">
          <a:xfrm>
            <a:off x="10200456" y="218413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2</a:t>
            </a:r>
          </a:p>
        </p:txBody>
      </p:sp>
      <p:sp>
        <p:nvSpPr>
          <p:cNvPr id="149" name="Rectangle 71"/>
          <p:cNvSpPr>
            <a:spLocks noChangeArrowheads="1"/>
          </p:cNvSpPr>
          <p:nvPr/>
        </p:nvSpPr>
        <p:spPr bwMode="auto">
          <a:xfrm>
            <a:off x="3565855" y="5953952"/>
            <a:ext cx="857250"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1.00</a:t>
            </a:r>
          </a:p>
        </p:txBody>
      </p:sp>
      <p:sp>
        <p:nvSpPr>
          <p:cNvPr id="150" name="Rectangle 72"/>
          <p:cNvSpPr>
            <a:spLocks noChangeArrowheads="1"/>
          </p:cNvSpPr>
          <p:nvPr/>
        </p:nvSpPr>
        <p:spPr bwMode="auto">
          <a:xfrm>
            <a:off x="4435010" y="5953951"/>
            <a:ext cx="855662" cy="35537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51" name="Rectangle 73"/>
          <p:cNvSpPr>
            <a:spLocks noChangeArrowheads="1"/>
          </p:cNvSpPr>
          <p:nvPr/>
        </p:nvSpPr>
        <p:spPr bwMode="auto">
          <a:xfrm>
            <a:off x="5285110" y="5953173"/>
            <a:ext cx="855663" cy="3561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152" name="Rectangle 74"/>
          <p:cNvSpPr>
            <a:spLocks noChangeArrowheads="1"/>
          </p:cNvSpPr>
          <p:nvPr/>
        </p:nvSpPr>
        <p:spPr bwMode="auto">
          <a:xfrm>
            <a:off x="6140772" y="5953952"/>
            <a:ext cx="855662"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153" name="Line 125"/>
          <p:cNvSpPr>
            <a:spLocks noChangeShapeType="1"/>
          </p:cNvSpPr>
          <p:nvPr/>
        </p:nvSpPr>
        <p:spPr bwMode="auto">
          <a:xfrm flipV="1">
            <a:off x="8496301" y="1294455"/>
            <a:ext cx="457199" cy="180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126"/>
          <p:cNvSpPr>
            <a:spLocks noChangeShapeType="1"/>
          </p:cNvSpPr>
          <p:nvPr/>
        </p:nvSpPr>
        <p:spPr bwMode="auto">
          <a:xfrm flipH="1" flipV="1">
            <a:off x="9334499" y="1315244"/>
            <a:ext cx="527536" cy="190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Oval 127"/>
          <p:cNvSpPr>
            <a:spLocks noChangeArrowheads="1"/>
          </p:cNvSpPr>
          <p:nvPr/>
        </p:nvSpPr>
        <p:spPr bwMode="auto">
          <a:xfrm>
            <a:off x="8953500" y="1124744"/>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15</a:t>
            </a:r>
          </a:p>
        </p:txBody>
      </p:sp>
      <p:sp>
        <p:nvSpPr>
          <p:cNvPr id="158" name="矩形 157"/>
          <p:cNvSpPr/>
          <p:nvPr/>
        </p:nvSpPr>
        <p:spPr>
          <a:xfrm>
            <a:off x="1545420" y="4735016"/>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0" name="直接箭头连接符 159"/>
          <p:cNvCxnSpPr/>
          <p:nvPr/>
        </p:nvCxnSpPr>
        <p:spPr>
          <a:xfrm>
            <a:off x="7983438" y="1639069"/>
            <a:ext cx="187687"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a:off x="7769339" y="1443831"/>
            <a:ext cx="258404" cy="369332"/>
          </a:xfrm>
          <a:prstGeom prst="rect">
            <a:avLst/>
          </a:prstGeom>
        </p:spPr>
        <p:txBody>
          <a:bodyPr wrap="none">
            <a:spAutoFit/>
          </a:bodyPr>
          <a:lstStyle/>
          <a:p>
            <a:r>
              <a:rPr lang="en-US" altLang="zh-CN" b="1" dirty="0"/>
              <a:t>f</a:t>
            </a:r>
            <a:endParaRPr lang="zh-CN" altLang="en-US" b="1" dirty="0"/>
          </a:p>
        </p:txBody>
      </p:sp>
      <p:sp>
        <p:nvSpPr>
          <p:cNvPr id="162" name="矩形 161"/>
          <p:cNvSpPr/>
          <p:nvPr/>
        </p:nvSpPr>
        <p:spPr>
          <a:xfrm>
            <a:off x="8423031" y="2019457"/>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3" name="直接箭头连接符 162"/>
          <p:cNvCxnSpPr/>
          <p:nvPr/>
        </p:nvCxnSpPr>
        <p:spPr>
          <a:xfrm flipH="1">
            <a:off x="8138865" y="2240342"/>
            <a:ext cx="2548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5" name="矩形 164"/>
          <p:cNvSpPr/>
          <p:nvPr/>
        </p:nvSpPr>
        <p:spPr>
          <a:xfrm>
            <a:off x="1530679" y="5337847"/>
            <a:ext cx="258404" cy="369332"/>
          </a:xfrm>
          <a:prstGeom prst="rect">
            <a:avLst/>
          </a:prstGeom>
        </p:spPr>
        <p:txBody>
          <a:bodyPr wrap="none">
            <a:spAutoFit/>
          </a:bodyPr>
          <a:lstStyle/>
          <a:p>
            <a:r>
              <a:rPr lang="en-US" altLang="zh-CN" b="1" dirty="0"/>
              <a:t>f</a:t>
            </a:r>
            <a:endParaRPr lang="zh-CN" altLang="en-US" b="1" dirty="0"/>
          </a:p>
        </p:txBody>
      </p:sp>
      <p:cxnSp>
        <p:nvCxnSpPr>
          <p:cNvPr id="166" name="直接箭头连接符 165"/>
          <p:cNvCxnSpPr>
            <a:stCxn id="158" idx="3"/>
          </p:cNvCxnSpPr>
          <p:nvPr/>
        </p:nvCxnSpPr>
        <p:spPr>
          <a:xfrm>
            <a:off x="1832679" y="4919683"/>
            <a:ext cx="400977" cy="46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p:nvPr/>
        </p:nvCxnSpPr>
        <p:spPr>
          <a:xfrm>
            <a:off x="1863485" y="5552582"/>
            <a:ext cx="400977" cy="466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9" name="矩形 158"/>
          <p:cNvSpPr/>
          <p:nvPr/>
        </p:nvSpPr>
        <p:spPr>
          <a:xfrm>
            <a:off x="7148146" y="4005064"/>
            <a:ext cx="2400300"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i,f</a:t>
            </a:r>
            <a:r>
              <a:rPr lang="en-US" altLang="zh-CN" sz="2000" b="1" dirty="0">
                <a:latin typeface="Times New Roman" pitchFamily="18" charset="0"/>
              </a:rPr>
              <a:t>=HT[i].parent;</a:t>
            </a:r>
          </a:p>
        </p:txBody>
      </p:sp>
      <p:sp>
        <p:nvSpPr>
          <p:cNvPr id="164" name="矩形 163"/>
          <p:cNvSpPr/>
          <p:nvPr/>
        </p:nvSpPr>
        <p:spPr>
          <a:xfrm>
            <a:off x="7130680" y="4293096"/>
            <a:ext cx="1670421" cy="338554"/>
          </a:xfrm>
          <a:prstGeom prst="rect">
            <a:avLst/>
          </a:prstGeom>
        </p:spPr>
        <p:txBody>
          <a:bodyPr wrap="square">
            <a:spAutoFit/>
          </a:bodyPr>
          <a:lstStyle/>
          <a:p>
            <a:pPr>
              <a:lnSpc>
                <a:spcPct val="80000"/>
              </a:lnSpc>
            </a:pPr>
            <a:r>
              <a:rPr lang="en-US" altLang="zh-CN" sz="2000" b="1" dirty="0">
                <a:latin typeface="Times New Roman" pitchFamily="18" charset="0"/>
              </a:rPr>
              <a:t>while(f!=0)</a:t>
            </a:r>
          </a:p>
        </p:txBody>
      </p:sp>
      <p:sp>
        <p:nvSpPr>
          <p:cNvPr id="167" name="矩形 166"/>
          <p:cNvSpPr/>
          <p:nvPr/>
        </p:nvSpPr>
        <p:spPr>
          <a:xfrm>
            <a:off x="7207613" y="5633717"/>
            <a:ext cx="2442795"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f,f</a:t>
            </a:r>
            <a:r>
              <a:rPr lang="en-US" altLang="zh-CN" sz="2000" b="1" dirty="0">
                <a:latin typeface="Times New Roman" pitchFamily="18" charset="0"/>
              </a:rPr>
              <a:t>=HT[f].parent</a:t>
            </a:r>
            <a:r>
              <a:rPr lang="zh-CN" altLang="en-US" sz="2000" b="1" dirty="0">
                <a:latin typeface="Times New Roman" pitchFamily="18" charset="0"/>
              </a:rPr>
              <a:t>；</a:t>
            </a:r>
            <a:endParaRPr lang="en-US" altLang="zh-CN" sz="2000" b="1" dirty="0">
              <a:latin typeface="Times New Roman" pitchFamily="18" charset="0"/>
            </a:endParaRPr>
          </a:p>
        </p:txBody>
      </p:sp>
      <p:sp>
        <p:nvSpPr>
          <p:cNvPr id="173" name="矩形 172"/>
          <p:cNvSpPr/>
          <p:nvPr/>
        </p:nvSpPr>
        <p:spPr>
          <a:xfrm>
            <a:off x="7136541" y="4631651"/>
            <a:ext cx="2667000" cy="978729"/>
          </a:xfrm>
          <a:prstGeom prst="rect">
            <a:avLst/>
          </a:prstGeom>
        </p:spPr>
        <p:txBody>
          <a:bodyPr wrap="square">
            <a:spAutoFit/>
          </a:bodyPr>
          <a:lstStyle/>
          <a:p>
            <a:pPr>
              <a:lnSpc>
                <a:spcPct val="80000"/>
              </a:lnSpc>
              <a:buFont typeface="Wingdings" pitchFamily="2" charset="2"/>
              <a:buNone/>
            </a:pPr>
            <a:r>
              <a:rPr lang="en-US" altLang="zh-CN" b="1" dirty="0">
                <a:latin typeface="Times New Roman" pitchFamily="18" charset="0"/>
              </a:rPr>
              <a:t>if (HT[f].</a:t>
            </a:r>
            <a:r>
              <a:rPr lang="en-US" altLang="zh-CN" b="1" dirty="0" err="1">
                <a:latin typeface="Times New Roman" pitchFamily="18" charset="0"/>
              </a:rPr>
              <a:t>lchild</a:t>
            </a:r>
            <a:r>
              <a:rPr lang="en-US" altLang="zh-CN" b="1" dirty="0">
                <a:latin typeface="Times New Roman" pitchFamily="18" charset="0"/>
              </a:rPr>
              <a:t> == c) </a:t>
            </a:r>
          </a:p>
          <a:p>
            <a:pPr>
              <a:lnSpc>
                <a:spcPct val="80000"/>
              </a:lnSpc>
              <a:buFont typeface="Wingdings" pitchFamily="2" charset="2"/>
              <a:buNone/>
            </a:pPr>
            <a:r>
              <a:rPr lang="en-US" altLang="zh-CN" b="1" dirty="0">
                <a:latin typeface="Times New Roman" pitchFamily="18" charset="0"/>
              </a:rPr>
              <a:t>         cd[--start]=‘0’;</a:t>
            </a:r>
          </a:p>
          <a:p>
            <a:pPr>
              <a:lnSpc>
                <a:spcPct val="80000"/>
              </a:lnSpc>
              <a:buFont typeface="Wingdings" pitchFamily="2" charset="2"/>
              <a:buNone/>
            </a:pPr>
            <a:r>
              <a:rPr lang="en-US" altLang="zh-CN" b="1" dirty="0">
                <a:latin typeface="Times New Roman" pitchFamily="18" charset="0"/>
              </a:rPr>
              <a:t> else </a:t>
            </a:r>
          </a:p>
          <a:p>
            <a:pPr>
              <a:lnSpc>
                <a:spcPct val="80000"/>
              </a:lnSpc>
              <a:buFont typeface="Wingdings" pitchFamily="2" charset="2"/>
              <a:buNone/>
            </a:pPr>
            <a:r>
              <a:rPr lang="en-US" altLang="zh-CN" b="1" dirty="0">
                <a:latin typeface="Times New Roman" pitchFamily="18" charset="0"/>
              </a:rPr>
              <a:t>         cd[--start]=‘1’;</a:t>
            </a:r>
          </a:p>
        </p:txBody>
      </p:sp>
      <p:cxnSp>
        <p:nvCxnSpPr>
          <p:cNvPr id="2" name="直接连接符 1">
            <a:extLst>
              <a:ext uri="{FF2B5EF4-FFF2-40B4-BE49-F238E27FC236}">
                <a16:creationId xmlns:a16="http://schemas.microsoft.com/office/drawing/2014/main" xmlns="" id="{42D9527C-B11D-9712-EE6D-7580B88A9615}"/>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4918EC55-B56D-8612-3449-418B9E4C2DE2}"/>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343907462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708750"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564412"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421662"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5277325"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6132987"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708750"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564412"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421662"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5277325"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6132987"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708750"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564412"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0.29</a:t>
            </a:r>
          </a:p>
        </p:txBody>
      </p:sp>
      <p:sp>
        <p:nvSpPr>
          <p:cNvPr id="19" name="Rectangle 17"/>
          <p:cNvSpPr>
            <a:spLocks noChangeArrowheads="1"/>
          </p:cNvSpPr>
          <p:nvPr/>
        </p:nvSpPr>
        <p:spPr bwMode="auto">
          <a:xfrm>
            <a:off x="4421662"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20" name="Rectangle 18"/>
          <p:cNvSpPr>
            <a:spLocks noChangeArrowheads="1"/>
          </p:cNvSpPr>
          <p:nvPr/>
        </p:nvSpPr>
        <p:spPr bwMode="auto">
          <a:xfrm>
            <a:off x="5277325"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6132987"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708750"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564412"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421662"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5277325"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6132987"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708750"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564412"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421662"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5277325"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6132987"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708750"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564412"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0.14</a:t>
            </a:r>
          </a:p>
        </p:txBody>
      </p:sp>
      <p:sp>
        <p:nvSpPr>
          <p:cNvPr id="35" name="Rectangle 32"/>
          <p:cNvSpPr>
            <a:spLocks noChangeArrowheads="1"/>
          </p:cNvSpPr>
          <p:nvPr/>
        </p:nvSpPr>
        <p:spPr bwMode="auto">
          <a:xfrm>
            <a:off x="4421662"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36" name="Rectangle 33"/>
          <p:cNvSpPr>
            <a:spLocks noChangeArrowheads="1"/>
          </p:cNvSpPr>
          <p:nvPr/>
        </p:nvSpPr>
        <p:spPr bwMode="auto">
          <a:xfrm>
            <a:off x="5277325"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6132987"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708750"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564412"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0.23</a:t>
            </a:r>
          </a:p>
        </p:txBody>
      </p:sp>
      <p:sp>
        <p:nvSpPr>
          <p:cNvPr id="40" name="Rectangle 37"/>
          <p:cNvSpPr>
            <a:spLocks noChangeArrowheads="1"/>
          </p:cNvSpPr>
          <p:nvPr/>
        </p:nvSpPr>
        <p:spPr bwMode="auto">
          <a:xfrm>
            <a:off x="4421662"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41" name="Rectangle 38"/>
          <p:cNvSpPr>
            <a:spLocks noChangeArrowheads="1"/>
          </p:cNvSpPr>
          <p:nvPr/>
        </p:nvSpPr>
        <p:spPr bwMode="auto">
          <a:xfrm>
            <a:off x="5277325"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6132987"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708750"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564412"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421662"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5277325"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6132987"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708750"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564412"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0.11</a:t>
            </a:r>
          </a:p>
        </p:txBody>
      </p:sp>
      <p:sp>
        <p:nvSpPr>
          <p:cNvPr id="50" name="Rectangle 47"/>
          <p:cNvSpPr>
            <a:spLocks noChangeArrowheads="1"/>
          </p:cNvSpPr>
          <p:nvPr/>
        </p:nvSpPr>
        <p:spPr bwMode="auto">
          <a:xfrm>
            <a:off x="4421662"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5277325"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6132987"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2338862"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2338862"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2338862"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2338862"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2338862"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2338862"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2338862"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2338862"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708750"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564412"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421662"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5277325"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6132987"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2338862"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708750"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564412"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0.08 </a:t>
            </a:r>
          </a:p>
        </p:txBody>
      </p:sp>
      <p:sp>
        <p:nvSpPr>
          <p:cNvPr id="76" name="Rectangle 72"/>
          <p:cNvSpPr>
            <a:spLocks noChangeArrowheads="1"/>
          </p:cNvSpPr>
          <p:nvPr/>
        </p:nvSpPr>
        <p:spPr bwMode="auto">
          <a:xfrm>
            <a:off x="4421662"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5277325"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6132987"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710193"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565855"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423105"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82" name="Rectangle 73"/>
          <p:cNvSpPr>
            <a:spLocks noChangeArrowheads="1"/>
          </p:cNvSpPr>
          <p:nvPr/>
        </p:nvSpPr>
        <p:spPr bwMode="auto">
          <a:xfrm>
            <a:off x="5278768"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6134430"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2194847"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2196290"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710193"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565855"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423105"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95" name="Rectangle 73"/>
          <p:cNvSpPr>
            <a:spLocks noChangeArrowheads="1"/>
          </p:cNvSpPr>
          <p:nvPr/>
        </p:nvSpPr>
        <p:spPr bwMode="auto">
          <a:xfrm>
            <a:off x="5278768"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5</a:t>
            </a:r>
          </a:p>
        </p:txBody>
      </p:sp>
      <p:sp>
        <p:nvSpPr>
          <p:cNvPr id="96" name="Rectangle 74"/>
          <p:cNvSpPr>
            <a:spLocks noChangeArrowheads="1"/>
          </p:cNvSpPr>
          <p:nvPr/>
        </p:nvSpPr>
        <p:spPr bwMode="auto">
          <a:xfrm>
            <a:off x="6134430"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97" name="Text Box 69"/>
          <p:cNvSpPr txBox="1">
            <a:spLocks noChangeArrowheads="1"/>
          </p:cNvSpPr>
          <p:nvPr/>
        </p:nvSpPr>
        <p:spPr bwMode="auto">
          <a:xfrm>
            <a:off x="2196290"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710193"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565855"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423105"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1" name="Rectangle 73"/>
          <p:cNvSpPr>
            <a:spLocks noChangeArrowheads="1"/>
          </p:cNvSpPr>
          <p:nvPr/>
        </p:nvSpPr>
        <p:spPr bwMode="auto">
          <a:xfrm>
            <a:off x="5278768"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102" name="Rectangle 74"/>
          <p:cNvSpPr>
            <a:spLocks noChangeArrowheads="1"/>
          </p:cNvSpPr>
          <p:nvPr/>
        </p:nvSpPr>
        <p:spPr bwMode="auto">
          <a:xfrm>
            <a:off x="6134430"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6</a:t>
            </a:r>
          </a:p>
        </p:txBody>
      </p:sp>
      <p:sp>
        <p:nvSpPr>
          <p:cNvPr id="103" name="Text Box 69"/>
          <p:cNvSpPr txBox="1">
            <a:spLocks noChangeArrowheads="1"/>
          </p:cNvSpPr>
          <p:nvPr/>
        </p:nvSpPr>
        <p:spPr bwMode="auto">
          <a:xfrm>
            <a:off x="2196290"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710193"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423105"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7" name="Rectangle 73"/>
          <p:cNvSpPr>
            <a:spLocks noChangeArrowheads="1"/>
          </p:cNvSpPr>
          <p:nvPr/>
        </p:nvSpPr>
        <p:spPr bwMode="auto">
          <a:xfrm>
            <a:off x="5278768"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08" name="Rectangle 74"/>
          <p:cNvSpPr>
            <a:spLocks noChangeArrowheads="1"/>
          </p:cNvSpPr>
          <p:nvPr/>
        </p:nvSpPr>
        <p:spPr bwMode="auto">
          <a:xfrm>
            <a:off x="6134430"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2</a:t>
            </a:r>
          </a:p>
        </p:txBody>
      </p:sp>
      <p:sp>
        <p:nvSpPr>
          <p:cNvPr id="109" name="Text Box 69"/>
          <p:cNvSpPr txBox="1">
            <a:spLocks noChangeArrowheads="1"/>
          </p:cNvSpPr>
          <p:nvPr/>
        </p:nvSpPr>
        <p:spPr bwMode="auto">
          <a:xfrm>
            <a:off x="2196290"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2194846"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423105"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12" name="Rectangle 73"/>
          <p:cNvSpPr>
            <a:spLocks noChangeArrowheads="1"/>
          </p:cNvSpPr>
          <p:nvPr/>
        </p:nvSpPr>
        <p:spPr bwMode="auto">
          <a:xfrm>
            <a:off x="5278768"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6132987"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2815211"/>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9434146" y="2810508"/>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565855"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0.15 </a:t>
            </a:r>
          </a:p>
        </p:txBody>
      </p:sp>
      <p:grpSp>
        <p:nvGrpSpPr>
          <p:cNvPr id="127" name="Group 112"/>
          <p:cNvGrpSpPr>
            <a:grpSpLocks/>
          </p:cNvGrpSpPr>
          <p:nvPr/>
        </p:nvGrpSpPr>
        <p:grpSpPr bwMode="auto">
          <a:xfrm>
            <a:off x="7734300" y="2143649"/>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565855"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0.19 </a:t>
            </a:r>
          </a:p>
        </p:txBody>
      </p:sp>
      <p:sp>
        <p:nvSpPr>
          <p:cNvPr id="133" name="Rectangle 71"/>
          <p:cNvSpPr>
            <a:spLocks noChangeArrowheads="1"/>
          </p:cNvSpPr>
          <p:nvPr/>
        </p:nvSpPr>
        <p:spPr bwMode="auto">
          <a:xfrm>
            <a:off x="3565855" y="5034527"/>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0.29 </a:t>
            </a:r>
          </a:p>
        </p:txBody>
      </p:sp>
      <p:sp>
        <p:nvSpPr>
          <p:cNvPr id="134" name="Oval 98"/>
          <p:cNvSpPr>
            <a:spLocks noChangeArrowheads="1"/>
          </p:cNvSpPr>
          <p:nvPr/>
        </p:nvSpPr>
        <p:spPr bwMode="auto">
          <a:xfrm>
            <a:off x="9091246" y="28294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135" name="Oval 99"/>
          <p:cNvSpPr>
            <a:spLocks noChangeArrowheads="1"/>
          </p:cNvSpPr>
          <p:nvPr/>
        </p:nvSpPr>
        <p:spPr bwMode="auto">
          <a:xfrm>
            <a:off x="9472246" y="21436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136" name="Line 100"/>
          <p:cNvSpPr>
            <a:spLocks noChangeShapeType="1"/>
          </p:cNvSpPr>
          <p:nvPr/>
        </p:nvSpPr>
        <p:spPr bwMode="auto">
          <a:xfrm flipH="1">
            <a:off x="9243646" y="2524649"/>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1"/>
          <p:cNvSpPr>
            <a:spLocks noChangeShapeType="1"/>
          </p:cNvSpPr>
          <p:nvPr/>
        </p:nvSpPr>
        <p:spPr bwMode="auto">
          <a:xfrm>
            <a:off x="9671538" y="2527924"/>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Rectangle 71"/>
          <p:cNvSpPr>
            <a:spLocks noChangeArrowheads="1"/>
          </p:cNvSpPr>
          <p:nvPr/>
        </p:nvSpPr>
        <p:spPr bwMode="auto">
          <a:xfrm>
            <a:off x="3577760"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39" name="Rectangle 71"/>
          <p:cNvSpPr>
            <a:spLocks noChangeArrowheads="1"/>
          </p:cNvSpPr>
          <p:nvPr/>
        </p:nvSpPr>
        <p:spPr bwMode="auto">
          <a:xfrm>
            <a:off x="3577760" y="5337739"/>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0.42 </a:t>
            </a:r>
          </a:p>
        </p:txBody>
      </p:sp>
      <p:sp>
        <p:nvSpPr>
          <p:cNvPr id="140" name="Oval 96"/>
          <p:cNvSpPr>
            <a:spLocks noChangeArrowheads="1"/>
          </p:cNvSpPr>
          <p:nvPr/>
        </p:nvSpPr>
        <p:spPr bwMode="auto">
          <a:xfrm>
            <a:off x="8572500" y="21591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6</a:t>
            </a:r>
          </a:p>
        </p:txBody>
      </p:sp>
      <p:sp>
        <p:nvSpPr>
          <p:cNvPr id="141" name="Line 97"/>
          <p:cNvSpPr>
            <a:spLocks noChangeShapeType="1"/>
          </p:cNvSpPr>
          <p:nvPr/>
        </p:nvSpPr>
        <p:spPr bwMode="auto">
          <a:xfrm flipH="1">
            <a:off x="79629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 name="Line 98"/>
          <p:cNvSpPr>
            <a:spLocks noChangeShapeType="1"/>
          </p:cNvSpPr>
          <p:nvPr/>
        </p:nvSpPr>
        <p:spPr bwMode="auto">
          <a:xfrm>
            <a:off x="84963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3" name="Oval 99"/>
          <p:cNvSpPr>
            <a:spLocks noChangeArrowheads="1"/>
          </p:cNvSpPr>
          <p:nvPr/>
        </p:nvSpPr>
        <p:spPr bwMode="auto">
          <a:xfrm>
            <a:off x="8191500"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13</a:t>
            </a:r>
          </a:p>
        </p:txBody>
      </p:sp>
      <p:sp>
        <p:nvSpPr>
          <p:cNvPr id="144"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0.58</a:t>
            </a:r>
            <a:r>
              <a:rPr lang="en-US" altLang="zh-CN" sz="2000" dirty="0"/>
              <a:t> </a:t>
            </a:r>
          </a:p>
        </p:txBody>
      </p:sp>
      <p:sp>
        <p:nvSpPr>
          <p:cNvPr id="145" name="Line 139"/>
          <p:cNvSpPr>
            <a:spLocks noChangeShapeType="1"/>
          </p:cNvSpPr>
          <p:nvPr/>
        </p:nvSpPr>
        <p:spPr bwMode="auto">
          <a:xfrm flipH="1">
            <a:off x="95484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 name="Line 140"/>
          <p:cNvSpPr>
            <a:spLocks noChangeShapeType="1"/>
          </p:cNvSpPr>
          <p:nvPr/>
        </p:nvSpPr>
        <p:spPr bwMode="auto">
          <a:xfrm>
            <a:off x="100818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 name="Oval 141"/>
          <p:cNvSpPr>
            <a:spLocks noChangeArrowheads="1"/>
          </p:cNvSpPr>
          <p:nvPr/>
        </p:nvSpPr>
        <p:spPr bwMode="auto">
          <a:xfrm>
            <a:off x="9777046"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14</a:t>
            </a:r>
          </a:p>
        </p:txBody>
      </p:sp>
      <p:sp>
        <p:nvSpPr>
          <p:cNvPr id="148" name="Oval 138"/>
          <p:cNvSpPr>
            <a:spLocks noChangeArrowheads="1"/>
          </p:cNvSpPr>
          <p:nvPr/>
        </p:nvSpPr>
        <p:spPr bwMode="auto">
          <a:xfrm>
            <a:off x="10200456" y="218413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2</a:t>
            </a:r>
          </a:p>
        </p:txBody>
      </p:sp>
      <p:sp>
        <p:nvSpPr>
          <p:cNvPr id="149" name="Rectangle 71"/>
          <p:cNvSpPr>
            <a:spLocks noChangeArrowheads="1"/>
          </p:cNvSpPr>
          <p:nvPr/>
        </p:nvSpPr>
        <p:spPr bwMode="auto">
          <a:xfrm>
            <a:off x="3565855" y="5953952"/>
            <a:ext cx="857250"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1.00</a:t>
            </a:r>
          </a:p>
        </p:txBody>
      </p:sp>
      <p:sp>
        <p:nvSpPr>
          <p:cNvPr id="150" name="Rectangle 72"/>
          <p:cNvSpPr>
            <a:spLocks noChangeArrowheads="1"/>
          </p:cNvSpPr>
          <p:nvPr/>
        </p:nvSpPr>
        <p:spPr bwMode="auto">
          <a:xfrm>
            <a:off x="4435010" y="5953951"/>
            <a:ext cx="855662" cy="35537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51" name="Rectangle 73"/>
          <p:cNvSpPr>
            <a:spLocks noChangeArrowheads="1"/>
          </p:cNvSpPr>
          <p:nvPr/>
        </p:nvSpPr>
        <p:spPr bwMode="auto">
          <a:xfrm>
            <a:off x="5285110" y="5953173"/>
            <a:ext cx="855663" cy="3561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152" name="Rectangle 74"/>
          <p:cNvSpPr>
            <a:spLocks noChangeArrowheads="1"/>
          </p:cNvSpPr>
          <p:nvPr/>
        </p:nvSpPr>
        <p:spPr bwMode="auto">
          <a:xfrm>
            <a:off x="6140772" y="5953952"/>
            <a:ext cx="855662"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153" name="Line 125"/>
          <p:cNvSpPr>
            <a:spLocks noChangeShapeType="1"/>
          </p:cNvSpPr>
          <p:nvPr/>
        </p:nvSpPr>
        <p:spPr bwMode="auto">
          <a:xfrm flipV="1">
            <a:off x="8496301" y="1294455"/>
            <a:ext cx="457199" cy="180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126"/>
          <p:cNvSpPr>
            <a:spLocks noChangeShapeType="1"/>
          </p:cNvSpPr>
          <p:nvPr/>
        </p:nvSpPr>
        <p:spPr bwMode="auto">
          <a:xfrm flipH="1" flipV="1">
            <a:off x="9334499" y="1315244"/>
            <a:ext cx="527536" cy="190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Oval 127"/>
          <p:cNvSpPr>
            <a:spLocks noChangeArrowheads="1"/>
          </p:cNvSpPr>
          <p:nvPr/>
        </p:nvSpPr>
        <p:spPr bwMode="auto">
          <a:xfrm>
            <a:off x="8953500" y="1124744"/>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15</a:t>
            </a:r>
          </a:p>
        </p:txBody>
      </p:sp>
      <p:sp>
        <p:nvSpPr>
          <p:cNvPr id="158" name="矩形 157"/>
          <p:cNvSpPr/>
          <p:nvPr/>
        </p:nvSpPr>
        <p:spPr>
          <a:xfrm>
            <a:off x="1562292" y="5360322"/>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0" name="直接箭头连接符 159"/>
          <p:cNvCxnSpPr/>
          <p:nvPr/>
        </p:nvCxnSpPr>
        <p:spPr>
          <a:xfrm>
            <a:off x="8745568" y="1235421"/>
            <a:ext cx="187687"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a:off x="8531469" y="1040183"/>
            <a:ext cx="258404" cy="369332"/>
          </a:xfrm>
          <a:prstGeom prst="rect">
            <a:avLst/>
          </a:prstGeom>
        </p:spPr>
        <p:txBody>
          <a:bodyPr wrap="none">
            <a:spAutoFit/>
          </a:bodyPr>
          <a:lstStyle/>
          <a:p>
            <a:r>
              <a:rPr lang="en-US" altLang="zh-CN" b="1" dirty="0"/>
              <a:t>f</a:t>
            </a:r>
            <a:endParaRPr lang="zh-CN" altLang="en-US" b="1" dirty="0"/>
          </a:p>
        </p:txBody>
      </p:sp>
      <p:sp>
        <p:nvSpPr>
          <p:cNvPr id="162" name="矩形 161"/>
          <p:cNvSpPr/>
          <p:nvPr/>
        </p:nvSpPr>
        <p:spPr>
          <a:xfrm>
            <a:off x="8867026" y="1501552"/>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3" name="直接箭头连接符 162"/>
          <p:cNvCxnSpPr/>
          <p:nvPr/>
        </p:nvCxnSpPr>
        <p:spPr>
          <a:xfrm flipH="1">
            <a:off x="8582860" y="1722437"/>
            <a:ext cx="2548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5" name="矩形 164"/>
          <p:cNvSpPr/>
          <p:nvPr/>
        </p:nvSpPr>
        <p:spPr>
          <a:xfrm>
            <a:off x="1549061" y="5958085"/>
            <a:ext cx="258404" cy="369332"/>
          </a:xfrm>
          <a:prstGeom prst="rect">
            <a:avLst/>
          </a:prstGeom>
        </p:spPr>
        <p:txBody>
          <a:bodyPr wrap="none">
            <a:spAutoFit/>
          </a:bodyPr>
          <a:lstStyle/>
          <a:p>
            <a:r>
              <a:rPr lang="en-US" altLang="zh-CN" b="1" dirty="0"/>
              <a:t>f</a:t>
            </a:r>
            <a:endParaRPr lang="zh-CN" altLang="en-US" b="1" dirty="0"/>
          </a:p>
        </p:txBody>
      </p:sp>
      <p:cxnSp>
        <p:nvCxnSpPr>
          <p:cNvPr id="166" name="直接箭头连接符 165"/>
          <p:cNvCxnSpPr>
            <a:stCxn id="158" idx="3"/>
          </p:cNvCxnSpPr>
          <p:nvPr/>
        </p:nvCxnSpPr>
        <p:spPr>
          <a:xfrm>
            <a:off x="1849551" y="5544989"/>
            <a:ext cx="400977" cy="46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p:nvPr/>
        </p:nvCxnSpPr>
        <p:spPr>
          <a:xfrm>
            <a:off x="1881867" y="6172820"/>
            <a:ext cx="400977" cy="466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9" name="矩形 158"/>
          <p:cNvSpPr/>
          <p:nvPr/>
        </p:nvSpPr>
        <p:spPr>
          <a:xfrm>
            <a:off x="7148146" y="4005064"/>
            <a:ext cx="2400300"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i,f</a:t>
            </a:r>
            <a:r>
              <a:rPr lang="en-US" altLang="zh-CN" sz="2000" b="1" dirty="0">
                <a:latin typeface="Times New Roman" pitchFamily="18" charset="0"/>
              </a:rPr>
              <a:t>=HT[i].parent;</a:t>
            </a:r>
          </a:p>
        </p:txBody>
      </p:sp>
      <p:sp>
        <p:nvSpPr>
          <p:cNvPr id="164" name="矩形 163"/>
          <p:cNvSpPr/>
          <p:nvPr/>
        </p:nvSpPr>
        <p:spPr>
          <a:xfrm>
            <a:off x="7130680" y="4293096"/>
            <a:ext cx="1670421" cy="338554"/>
          </a:xfrm>
          <a:prstGeom prst="rect">
            <a:avLst/>
          </a:prstGeom>
        </p:spPr>
        <p:txBody>
          <a:bodyPr wrap="square">
            <a:spAutoFit/>
          </a:bodyPr>
          <a:lstStyle/>
          <a:p>
            <a:pPr>
              <a:lnSpc>
                <a:spcPct val="80000"/>
              </a:lnSpc>
            </a:pPr>
            <a:r>
              <a:rPr lang="en-US" altLang="zh-CN" sz="2000" b="1" dirty="0">
                <a:latin typeface="Times New Roman" pitchFamily="18" charset="0"/>
              </a:rPr>
              <a:t>while(f!=0)</a:t>
            </a:r>
          </a:p>
        </p:txBody>
      </p:sp>
      <p:sp>
        <p:nvSpPr>
          <p:cNvPr id="167" name="矩形 166"/>
          <p:cNvSpPr/>
          <p:nvPr/>
        </p:nvSpPr>
        <p:spPr>
          <a:xfrm>
            <a:off x="7207613" y="5633717"/>
            <a:ext cx="2442795"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f,f</a:t>
            </a:r>
            <a:r>
              <a:rPr lang="en-US" altLang="zh-CN" sz="2000" b="1" dirty="0">
                <a:latin typeface="Times New Roman" pitchFamily="18" charset="0"/>
              </a:rPr>
              <a:t>=HT[f].parent</a:t>
            </a:r>
            <a:r>
              <a:rPr lang="zh-CN" altLang="en-US" sz="2000" b="1" dirty="0">
                <a:latin typeface="Times New Roman" pitchFamily="18" charset="0"/>
              </a:rPr>
              <a:t>；</a:t>
            </a:r>
            <a:endParaRPr lang="en-US" altLang="zh-CN" sz="2000" b="1" dirty="0">
              <a:latin typeface="Times New Roman" pitchFamily="18" charset="0"/>
            </a:endParaRPr>
          </a:p>
        </p:txBody>
      </p:sp>
      <p:sp>
        <p:nvSpPr>
          <p:cNvPr id="173" name="矩形 172"/>
          <p:cNvSpPr/>
          <p:nvPr/>
        </p:nvSpPr>
        <p:spPr>
          <a:xfrm>
            <a:off x="7136541" y="4631651"/>
            <a:ext cx="2667000" cy="978729"/>
          </a:xfrm>
          <a:prstGeom prst="rect">
            <a:avLst/>
          </a:prstGeom>
        </p:spPr>
        <p:txBody>
          <a:bodyPr wrap="square">
            <a:spAutoFit/>
          </a:bodyPr>
          <a:lstStyle/>
          <a:p>
            <a:pPr>
              <a:lnSpc>
                <a:spcPct val="80000"/>
              </a:lnSpc>
              <a:buFont typeface="Wingdings" pitchFamily="2" charset="2"/>
              <a:buNone/>
            </a:pPr>
            <a:r>
              <a:rPr lang="en-US" altLang="zh-CN" b="1" dirty="0">
                <a:latin typeface="Times New Roman" pitchFamily="18" charset="0"/>
              </a:rPr>
              <a:t>if (HT[f].</a:t>
            </a:r>
            <a:r>
              <a:rPr lang="en-US" altLang="zh-CN" b="1" dirty="0" err="1">
                <a:latin typeface="Times New Roman" pitchFamily="18" charset="0"/>
              </a:rPr>
              <a:t>lchild</a:t>
            </a:r>
            <a:r>
              <a:rPr lang="en-US" altLang="zh-CN" b="1" dirty="0">
                <a:latin typeface="Times New Roman" pitchFamily="18" charset="0"/>
              </a:rPr>
              <a:t> == c) </a:t>
            </a:r>
          </a:p>
          <a:p>
            <a:pPr>
              <a:lnSpc>
                <a:spcPct val="80000"/>
              </a:lnSpc>
              <a:buFont typeface="Wingdings" pitchFamily="2" charset="2"/>
              <a:buNone/>
            </a:pPr>
            <a:r>
              <a:rPr lang="en-US" altLang="zh-CN" b="1" dirty="0">
                <a:latin typeface="Times New Roman" pitchFamily="18" charset="0"/>
              </a:rPr>
              <a:t>         cd[--start]=‘0’;</a:t>
            </a:r>
          </a:p>
          <a:p>
            <a:pPr>
              <a:lnSpc>
                <a:spcPct val="80000"/>
              </a:lnSpc>
              <a:buFont typeface="Wingdings" pitchFamily="2" charset="2"/>
              <a:buNone/>
            </a:pPr>
            <a:r>
              <a:rPr lang="en-US" altLang="zh-CN" b="1" dirty="0">
                <a:latin typeface="Times New Roman" pitchFamily="18" charset="0"/>
              </a:rPr>
              <a:t> else </a:t>
            </a:r>
          </a:p>
          <a:p>
            <a:pPr>
              <a:lnSpc>
                <a:spcPct val="80000"/>
              </a:lnSpc>
              <a:buFont typeface="Wingdings" pitchFamily="2" charset="2"/>
              <a:buNone/>
            </a:pPr>
            <a:r>
              <a:rPr lang="en-US" altLang="zh-CN" b="1" dirty="0">
                <a:latin typeface="Times New Roman" pitchFamily="18" charset="0"/>
              </a:rPr>
              <a:t>         cd[--start]=‘1’;</a:t>
            </a:r>
          </a:p>
        </p:txBody>
      </p:sp>
      <p:cxnSp>
        <p:nvCxnSpPr>
          <p:cNvPr id="2" name="直接连接符 1">
            <a:extLst>
              <a:ext uri="{FF2B5EF4-FFF2-40B4-BE49-F238E27FC236}">
                <a16:creationId xmlns:a16="http://schemas.microsoft.com/office/drawing/2014/main" xmlns="" id="{E9CEDACD-149D-446E-21DA-3B0AF20DCF61}"/>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6FF3EEEE-855D-B814-83E3-D6E02E0E1708}"/>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310569897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708750"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564412"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421662"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5277325"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6132987"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708750"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564412"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421662"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5277325"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6132987"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708750"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564412"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0.29</a:t>
            </a:r>
          </a:p>
        </p:txBody>
      </p:sp>
      <p:sp>
        <p:nvSpPr>
          <p:cNvPr id="19" name="Rectangle 17"/>
          <p:cNvSpPr>
            <a:spLocks noChangeArrowheads="1"/>
          </p:cNvSpPr>
          <p:nvPr/>
        </p:nvSpPr>
        <p:spPr bwMode="auto">
          <a:xfrm>
            <a:off x="4421662"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20" name="Rectangle 18"/>
          <p:cNvSpPr>
            <a:spLocks noChangeArrowheads="1"/>
          </p:cNvSpPr>
          <p:nvPr/>
        </p:nvSpPr>
        <p:spPr bwMode="auto">
          <a:xfrm>
            <a:off x="5277325"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6132987"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708750"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564412"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421662"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5277325"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6132987"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708750"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564412"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421662"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5277325"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6132987"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708750"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564412"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0.14</a:t>
            </a:r>
          </a:p>
        </p:txBody>
      </p:sp>
      <p:sp>
        <p:nvSpPr>
          <p:cNvPr id="35" name="Rectangle 32"/>
          <p:cNvSpPr>
            <a:spLocks noChangeArrowheads="1"/>
          </p:cNvSpPr>
          <p:nvPr/>
        </p:nvSpPr>
        <p:spPr bwMode="auto">
          <a:xfrm>
            <a:off x="4421662"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36" name="Rectangle 33"/>
          <p:cNvSpPr>
            <a:spLocks noChangeArrowheads="1"/>
          </p:cNvSpPr>
          <p:nvPr/>
        </p:nvSpPr>
        <p:spPr bwMode="auto">
          <a:xfrm>
            <a:off x="5277325"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6132987"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708750"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564412"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0.23</a:t>
            </a:r>
          </a:p>
        </p:txBody>
      </p:sp>
      <p:sp>
        <p:nvSpPr>
          <p:cNvPr id="40" name="Rectangle 37"/>
          <p:cNvSpPr>
            <a:spLocks noChangeArrowheads="1"/>
          </p:cNvSpPr>
          <p:nvPr/>
        </p:nvSpPr>
        <p:spPr bwMode="auto">
          <a:xfrm>
            <a:off x="4421662"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41" name="Rectangle 38"/>
          <p:cNvSpPr>
            <a:spLocks noChangeArrowheads="1"/>
          </p:cNvSpPr>
          <p:nvPr/>
        </p:nvSpPr>
        <p:spPr bwMode="auto">
          <a:xfrm>
            <a:off x="5277325"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6132987"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708750"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564412"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421662"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5277325"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6132987"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708750"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564412"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0.11</a:t>
            </a:r>
          </a:p>
        </p:txBody>
      </p:sp>
      <p:sp>
        <p:nvSpPr>
          <p:cNvPr id="50" name="Rectangle 47"/>
          <p:cNvSpPr>
            <a:spLocks noChangeArrowheads="1"/>
          </p:cNvSpPr>
          <p:nvPr/>
        </p:nvSpPr>
        <p:spPr bwMode="auto">
          <a:xfrm>
            <a:off x="4421662"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5277325"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6132987"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2338862"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2338862"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2338862"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2338862"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2338862"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2338862"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2338862"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2338862"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708750"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564412"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421662"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5277325"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6132987"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2338862"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708750"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564412"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0.08 </a:t>
            </a:r>
          </a:p>
        </p:txBody>
      </p:sp>
      <p:sp>
        <p:nvSpPr>
          <p:cNvPr id="76" name="Rectangle 72"/>
          <p:cNvSpPr>
            <a:spLocks noChangeArrowheads="1"/>
          </p:cNvSpPr>
          <p:nvPr/>
        </p:nvSpPr>
        <p:spPr bwMode="auto">
          <a:xfrm>
            <a:off x="4421662"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5277325"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6132987"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710193"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565855"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423105"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82" name="Rectangle 73"/>
          <p:cNvSpPr>
            <a:spLocks noChangeArrowheads="1"/>
          </p:cNvSpPr>
          <p:nvPr/>
        </p:nvSpPr>
        <p:spPr bwMode="auto">
          <a:xfrm>
            <a:off x="5278768"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6134430"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2194847"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2196290"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710193"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565855"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423105"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95" name="Rectangle 73"/>
          <p:cNvSpPr>
            <a:spLocks noChangeArrowheads="1"/>
          </p:cNvSpPr>
          <p:nvPr/>
        </p:nvSpPr>
        <p:spPr bwMode="auto">
          <a:xfrm>
            <a:off x="5278768"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5</a:t>
            </a:r>
          </a:p>
        </p:txBody>
      </p:sp>
      <p:sp>
        <p:nvSpPr>
          <p:cNvPr id="96" name="Rectangle 74"/>
          <p:cNvSpPr>
            <a:spLocks noChangeArrowheads="1"/>
          </p:cNvSpPr>
          <p:nvPr/>
        </p:nvSpPr>
        <p:spPr bwMode="auto">
          <a:xfrm>
            <a:off x="6134430"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97" name="Text Box 69"/>
          <p:cNvSpPr txBox="1">
            <a:spLocks noChangeArrowheads="1"/>
          </p:cNvSpPr>
          <p:nvPr/>
        </p:nvSpPr>
        <p:spPr bwMode="auto">
          <a:xfrm>
            <a:off x="2196290"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710193"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565855"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423105"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1" name="Rectangle 73"/>
          <p:cNvSpPr>
            <a:spLocks noChangeArrowheads="1"/>
          </p:cNvSpPr>
          <p:nvPr/>
        </p:nvSpPr>
        <p:spPr bwMode="auto">
          <a:xfrm>
            <a:off x="5278768"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102" name="Rectangle 74"/>
          <p:cNvSpPr>
            <a:spLocks noChangeArrowheads="1"/>
          </p:cNvSpPr>
          <p:nvPr/>
        </p:nvSpPr>
        <p:spPr bwMode="auto">
          <a:xfrm>
            <a:off x="6134430"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6</a:t>
            </a:r>
          </a:p>
        </p:txBody>
      </p:sp>
      <p:sp>
        <p:nvSpPr>
          <p:cNvPr id="103" name="Text Box 69"/>
          <p:cNvSpPr txBox="1">
            <a:spLocks noChangeArrowheads="1"/>
          </p:cNvSpPr>
          <p:nvPr/>
        </p:nvSpPr>
        <p:spPr bwMode="auto">
          <a:xfrm>
            <a:off x="2196290"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710193"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423105"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7" name="Rectangle 73"/>
          <p:cNvSpPr>
            <a:spLocks noChangeArrowheads="1"/>
          </p:cNvSpPr>
          <p:nvPr/>
        </p:nvSpPr>
        <p:spPr bwMode="auto">
          <a:xfrm>
            <a:off x="5278768"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08" name="Rectangle 74"/>
          <p:cNvSpPr>
            <a:spLocks noChangeArrowheads="1"/>
          </p:cNvSpPr>
          <p:nvPr/>
        </p:nvSpPr>
        <p:spPr bwMode="auto">
          <a:xfrm>
            <a:off x="6134430"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2</a:t>
            </a:r>
          </a:p>
        </p:txBody>
      </p:sp>
      <p:sp>
        <p:nvSpPr>
          <p:cNvPr id="109" name="Text Box 69"/>
          <p:cNvSpPr txBox="1">
            <a:spLocks noChangeArrowheads="1"/>
          </p:cNvSpPr>
          <p:nvPr/>
        </p:nvSpPr>
        <p:spPr bwMode="auto">
          <a:xfrm>
            <a:off x="2196290"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2194846"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423105"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12" name="Rectangle 73"/>
          <p:cNvSpPr>
            <a:spLocks noChangeArrowheads="1"/>
          </p:cNvSpPr>
          <p:nvPr/>
        </p:nvSpPr>
        <p:spPr bwMode="auto">
          <a:xfrm>
            <a:off x="5278768"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6132987"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2815211"/>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9434146" y="2810508"/>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565855"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0.15 </a:t>
            </a:r>
          </a:p>
        </p:txBody>
      </p:sp>
      <p:grpSp>
        <p:nvGrpSpPr>
          <p:cNvPr id="127" name="Group 112"/>
          <p:cNvGrpSpPr>
            <a:grpSpLocks/>
          </p:cNvGrpSpPr>
          <p:nvPr/>
        </p:nvGrpSpPr>
        <p:grpSpPr bwMode="auto">
          <a:xfrm>
            <a:off x="7734300" y="2143649"/>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565855"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0.19 </a:t>
            </a:r>
          </a:p>
        </p:txBody>
      </p:sp>
      <p:sp>
        <p:nvSpPr>
          <p:cNvPr id="133" name="Rectangle 71"/>
          <p:cNvSpPr>
            <a:spLocks noChangeArrowheads="1"/>
          </p:cNvSpPr>
          <p:nvPr/>
        </p:nvSpPr>
        <p:spPr bwMode="auto">
          <a:xfrm>
            <a:off x="3565855" y="5034527"/>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0.29 </a:t>
            </a:r>
          </a:p>
        </p:txBody>
      </p:sp>
      <p:sp>
        <p:nvSpPr>
          <p:cNvPr id="134" name="Oval 98"/>
          <p:cNvSpPr>
            <a:spLocks noChangeArrowheads="1"/>
          </p:cNvSpPr>
          <p:nvPr/>
        </p:nvSpPr>
        <p:spPr bwMode="auto">
          <a:xfrm>
            <a:off x="9091246" y="28294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135" name="Oval 99"/>
          <p:cNvSpPr>
            <a:spLocks noChangeArrowheads="1"/>
          </p:cNvSpPr>
          <p:nvPr/>
        </p:nvSpPr>
        <p:spPr bwMode="auto">
          <a:xfrm>
            <a:off x="9472246" y="21436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136" name="Line 100"/>
          <p:cNvSpPr>
            <a:spLocks noChangeShapeType="1"/>
          </p:cNvSpPr>
          <p:nvPr/>
        </p:nvSpPr>
        <p:spPr bwMode="auto">
          <a:xfrm flipH="1">
            <a:off x="9243646" y="2524649"/>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1"/>
          <p:cNvSpPr>
            <a:spLocks noChangeShapeType="1"/>
          </p:cNvSpPr>
          <p:nvPr/>
        </p:nvSpPr>
        <p:spPr bwMode="auto">
          <a:xfrm>
            <a:off x="9671538" y="2527924"/>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Rectangle 71"/>
          <p:cNvSpPr>
            <a:spLocks noChangeArrowheads="1"/>
          </p:cNvSpPr>
          <p:nvPr/>
        </p:nvSpPr>
        <p:spPr bwMode="auto">
          <a:xfrm>
            <a:off x="3577760"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39" name="Rectangle 71"/>
          <p:cNvSpPr>
            <a:spLocks noChangeArrowheads="1"/>
          </p:cNvSpPr>
          <p:nvPr/>
        </p:nvSpPr>
        <p:spPr bwMode="auto">
          <a:xfrm>
            <a:off x="3577760" y="5337739"/>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0.42 </a:t>
            </a:r>
          </a:p>
        </p:txBody>
      </p:sp>
      <p:sp>
        <p:nvSpPr>
          <p:cNvPr id="140" name="Oval 96"/>
          <p:cNvSpPr>
            <a:spLocks noChangeArrowheads="1"/>
          </p:cNvSpPr>
          <p:nvPr/>
        </p:nvSpPr>
        <p:spPr bwMode="auto">
          <a:xfrm>
            <a:off x="8572500" y="21591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6</a:t>
            </a:r>
          </a:p>
        </p:txBody>
      </p:sp>
      <p:sp>
        <p:nvSpPr>
          <p:cNvPr id="141" name="Line 97"/>
          <p:cNvSpPr>
            <a:spLocks noChangeShapeType="1"/>
          </p:cNvSpPr>
          <p:nvPr/>
        </p:nvSpPr>
        <p:spPr bwMode="auto">
          <a:xfrm flipH="1">
            <a:off x="79629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 name="Line 98"/>
          <p:cNvSpPr>
            <a:spLocks noChangeShapeType="1"/>
          </p:cNvSpPr>
          <p:nvPr/>
        </p:nvSpPr>
        <p:spPr bwMode="auto">
          <a:xfrm>
            <a:off x="84963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3" name="Oval 99"/>
          <p:cNvSpPr>
            <a:spLocks noChangeArrowheads="1"/>
          </p:cNvSpPr>
          <p:nvPr/>
        </p:nvSpPr>
        <p:spPr bwMode="auto">
          <a:xfrm>
            <a:off x="8191500"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13</a:t>
            </a:r>
          </a:p>
        </p:txBody>
      </p:sp>
      <p:sp>
        <p:nvSpPr>
          <p:cNvPr id="144"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0.58</a:t>
            </a:r>
            <a:r>
              <a:rPr lang="en-US" altLang="zh-CN" sz="2000" dirty="0"/>
              <a:t> </a:t>
            </a:r>
          </a:p>
        </p:txBody>
      </p:sp>
      <p:sp>
        <p:nvSpPr>
          <p:cNvPr id="145" name="Line 139"/>
          <p:cNvSpPr>
            <a:spLocks noChangeShapeType="1"/>
          </p:cNvSpPr>
          <p:nvPr/>
        </p:nvSpPr>
        <p:spPr bwMode="auto">
          <a:xfrm flipH="1">
            <a:off x="95484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 name="Line 140"/>
          <p:cNvSpPr>
            <a:spLocks noChangeShapeType="1"/>
          </p:cNvSpPr>
          <p:nvPr/>
        </p:nvSpPr>
        <p:spPr bwMode="auto">
          <a:xfrm>
            <a:off x="100818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 name="Oval 141"/>
          <p:cNvSpPr>
            <a:spLocks noChangeArrowheads="1"/>
          </p:cNvSpPr>
          <p:nvPr/>
        </p:nvSpPr>
        <p:spPr bwMode="auto">
          <a:xfrm>
            <a:off x="9777046"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14</a:t>
            </a:r>
          </a:p>
        </p:txBody>
      </p:sp>
      <p:sp>
        <p:nvSpPr>
          <p:cNvPr id="148" name="Oval 138"/>
          <p:cNvSpPr>
            <a:spLocks noChangeArrowheads="1"/>
          </p:cNvSpPr>
          <p:nvPr/>
        </p:nvSpPr>
        <p:spPr bwMode="auto">
          <a:xfrm>
            <a:off x="10200456" y="218413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2</a:t>
            </a:r>
          </a:p>
        </p:txBody>
      </p:sp>
      <p:sp>
        <p:nvSpPr>
          <p:cNvPr id="149" name="Rectangle 71"/>
          <p:cNvSpPr>
            <a:spLocks noChangeArrowheads="1"/>
          </p:cNvSpPr>
          <p:nvPr/>
        </p:nvSpPr>
        <p:spPr bwMode="auto">
          <a:xfrm>
            <a:off x="3565855" y="5953952"/>
            <a:ext cx="857250"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1.00</a:t>
            </a:r>
          </a:p>
        </p:txBody>
      </p:sp>
      <p:sp>
        <p:nvSpPr>
          <p:cNvPr id="150" name="Rectangle 72"/>
          <p:cNvSpPr>
            <a:spLocks noChangeArrowheads="1"/>
          </p:cNvSpPr>
          <p:nvPr/>
        </p:nvSpPr>
        <p:spPr bwMode="auto">
          <a:xfrm>
            <a:off x="4435010" y="5953951"/>
            <a:ext cx="855662" cy="35537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51" name="Rectangle 73"/>
          <p:cNvSpPr>
            <a:spLocks noChangeArrowheads="1"/>
          </p:cNvSpPr>
          <p:nvPr/>
        </p:nvSpPr>
        <p:spPr bwMode="auto">
          <a:xfrm>
            <a:off x="5285110" y="5953173"/>
            <a:ext cx="855663" cy="3561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152" name="Rectangle 74"/>
          <p:cNvSpPr>
            <a:spLocks noChangeArrowheads="1"/>
          </p:cNvSpPr>
          <p:nvPr/>
        </p:nvSpPr>
        <p:spPr bwMode="auto">
          <a:xfrm>
            <a:off x="6140772" y="5953952"/>
            <a:ext cx="855662"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153" name="Line 125"/>
          <p:cNvSpPr>
            <a:spLocks noChangeShapeType="1"/>
          </p:cNvSpPr>
          <p:nvPr/>
        </p:nvSpPr>
        <p:spPr bwMode="auto">
          <a:xfrm flipV="1">
            <a:off x="8496301" y="1294455"/>
            <a:ext cx="457199" cy="180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126"/>
          <p:cNvSpPr>
            <a:spLocks noChangeShapeType="1"/>
          </p:cNvSpPr>
          <p:nvPr/>
        </p:nvSpPr>
        <p:spPr bwMode="auto">
          <a:xfrm flipH="1" flipV="1">
            <a:off x="9334499" y="1315244"/>
            <a:ext cx="527536" cy="190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Oval 127"/>
          <p:cNvSpPr>
            <a:spLocks noChangeArrowheads="1"/>
          </p:cNvSpPr>
          <p:nvPr/>
        </p:nvSpPr>
        <p:spPr bwMode="auto">
          <a:xfrm>
            <a:off x="8953500" y="1124744"/>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15</a:t>
            </a:r>
          </a:p>
        </p:txBody>
      </p:sp>
      <p:sp>
        <p:nvSpPr>
          <p:cNvPr id="158" name="矩形 157"/>
          <p:cNvSpPr/>
          <p:nvPr/>
        </p:nvSpPr>
        <p:spPr>
          <a:xfrm>
            <a:off x="1562292" y="5360322"/>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0" name="直接箭头连接符 159"/>
          <p:cNvCxnSpPr/>
          <p:nvPr/>
        </p:nvCxnSpPr>
        <p:spPr>
          <a:xfrm>
            <a:off x="8745568" y="1235421"/>
            <a:ext cx="187687"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a:off x="8531469" y="1040183"/>
            <a:ext cx="258404" cy="369332"/>
          </a:xfrm>
          <a:prstGeom prst="rect">
            <a:avLst/>
          </a:prstGeom>
        </p:spPr>
        <p:txBody>
          <a:bodyPr wrap="none">
            <a:spAutoFit/>
          </a:bodyPr>
          <a:lstStyle/>
          <a:p>
            <a:r>
              <a:rPr lang="en-US" altLang="zh-CN" b="1" dirty="0"/>
              <a:t>f</a:t>
            </a:r>
            <a:endParaRPr lang="zh-CN" altLang="en-US" b="1" dirty="0"/>
          </a:p>
        </p:txBody>
      </p:sp>
      <p:sp>
        <p:nvSpPr>
          <p:cNvPr id="162" name="矩形 161"/>
          <p:cNvSpPr/>
          <p:nvPr/>
        </p:nvSpPr>
        <p:spPr>
          <a:xfrm>
            <a:off x="8867026" y="1501552"/>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3" name="直接箭头连接符 162"/>
          <p:cNvCxnSpPr/>
          <p:nvPr/>
        </p:nvCxnSpPr>
        <p:spPr>
          <a:xfrm flipH="1">
            <a:off x="8582860" y="1722437"/>
            <a:ext cx="2548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5" name="矩形 164"/>
          <p:cNvSpPr/>
          <p:nvPr/>
        </p:nvSpPr>
        <p:spPr>
          <a:xfrm>
            <a:off x="1549061" y="5958085"/>
            <a:ext cx="258404" cy="369332"/>
          </a:xfrm>
          <a:prstGeom prst="rect">
            <a:avLst/>
          </a:prstGeom>
        </p:spPr>
        <p:txBody>
          <a:bodyPr wrap="none">
            <a:spAutoFit/>
          </a:bodyPr>
          <a:lstStyle/>
          <a:p>
            <a:r>
              <a:rPr lang="en-US" altLang="zh-CN" b="1" dirty="0"/>
              <a:t>f</a:t>
            </a:r>
            <a:endParaRPr lang="zh-CN" altLang="en-US" b="1" dirty="0"/>
          </a:p>
        </p:txBody>
      </p:sp>
      <p:cxnSp>
        <p:nvCxnSpPr>
          <p:cNvPr id="166" name="直接箭头连接符 165"/>
          <p:cNvCxnSpPr>
            <a:stCxn id="158" idx="3"/>
          </p:cNvCxnSpPr>
          <p:nvPr/>
        </p:nvCxnSpPr>
        <p:spPr>
          <a:xfrm>
            <a:off x="1849551" y="5544989"/>
            <a:ext cx="400977" cy="46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p:nvPr/>
        </p:nvCxnSpPr>
        <p:spPr>
          <a:xfrm>
            <a:off x="1881867" y="6172820"/>
            <a:ext cx="400977" cy="466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9" name="矩形 158"/>
          <p:cNvSpPr/>
          <p:nvPr/>
        </p:nvSpPr>
        <p:spPr>
          <a:xfrm>
            <a:off x="7148146" y="4005064"/>
            <a:ext cx="2400300"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i,f</a:t>
            </a:r>
            <a:r>
              <a:rPr lang="en-US" altLang="zh-CN" sz="2000" b="1" dirty="0">
                <a:latin typeface="Times New Roman" pitchFamily="18" charset="0"/>
              </a:rPr>
              <a:t>=HT[i].parent;</a:t>
            </a:r>
          </a:p>
        </p:txBody>
      </p:sp>
      <p:sp>
        <p:nvSpPr>
          <p:cNvPr id="164" name="矩形 163"/>
          <p:cNvSpPr/>
          <p:nvPr/>
        </p:nvSpPr>
        <p:spPr>
          <a:xfrm>
            <a:off x="7130680" y="4293096"/>
            <a:ext cx="1670421" cy="338554"/>
          </a:xfrm>
          <a:prstGeom prst="rect">
            <a:avLst/>
          </a:prstGeom>
        </p:spPr>
        <p:txBody>
          <a:bodyPr wrap="square">
            <a:spAutoFit/>
          </a:bodyPr>
          <a:lstStyle/>
          <a:p>
            <a:pPr>
              <a:lnSpc>
                <a:spcPct val="80000"/>
              </a:lnSpc>
            </a:pPr>
            <a:r>
              <a:rPr lang="en-US" altLang="zh-CN" sz="2000" b="1" dirty="0">
                <a:latin typeface="Times New Roman" pitchFamily="18" charset="0"/>
              </a:rPr>
              <a:t>while(f!=0)</a:t>
            </a:r>
          </a:p>
        </p:txBody>
      </p:sp>
      <p:sp>
        <p:nvSpPr>
          <p:cNvPr id="167" name="矩形 166"/>
          <p:cNvSpPr/>
          <p:nvPr/>
        </p:nvSpPr>
        <p:spPr>
          <a:xfrm>
            <a:off x="7207613" y="5633717"/>
            <a:ext cx="2442795"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f,f</a:t>
            </a:r>
            <a:r>
              <a:rPr lang="en-US" altLang="zh-CN" sz="2000" b="1" dirty="0">
                <a:latin typeface="Times New Roman" pitchFamily="18" charset="0"/>
              </a:rPr>
              <a:t>=HT[f].parent</a:t>
            </a:r>
            <a:r>
              <a:rPr lang="zh-CN" altLang="en-US" sz="2000" b="1" dirty="0">
                <a:latin typeface="Times New Roman" pitchFamily="18" charset="0"/>
              </a:rPr>
              <a:t>；</a:t>
            </a:r>
            <a:endParaRPr lang="en-US" altLang="zh-CN" sz="2000" b="1" dirty="0">
              <a:latin typeface="Times New Roman" pitchFamily="18" charset="0"/>
            </a:endParaRPr>
          </a:p>
        </p:txBody>
      </p:sp>
      <p:sp>
        <p:nvSpPr>
          <p:cNvPr id="173" name="矩形 172"/>
          <p:cNvSpPr/>
          <p:nvPr/>
        </p:nvSpPr>
        <p:spPr>
          <a:xfrm>
            <a:off x="7136541" y="4631651"/>
            <a:ext cx="2667000" cy="978729"/>
          </a:xfrm>
          <a:prstGeom prst="rect">
            <a:avLst/>
          </a:prstGeom>
        </p:spPr>
        <p:txBody>
          <a:bodyPr wrap="square">
            <a:spAutoFit/>
          </a:bodyPr>
          <a:lstStyle/>
          <a:p>
            <a:pPr>
              <a:lnSpc>
                <a:spcPct val="80000"/>
              </a:lnSpc>
              <a:buFont typeface="Wingdings" pitchFamily="2" charset="2"/>
              <a:buNone/>
            </a:pPr>
            <a:r>
              <a:rPr lang="en-US" altLang="zh-CN" b="1" dirty="0">
                <a:latin typeface="Times New Roman" pitchFamily="18" charset="0"/>
              </a:rPr>
              <a:t>if (HT[f].</a:t>
            </a:r>
            <a:r>
              <a:rPr lang="en-US" altLang="zh-CN" b="1" dirty="0" err="1">
                <a:latin typeface="Times New Roman" pitchFamily="18" charset="0"/>
              </a:rPr>
              <a:t>lchild</a:t>
            </a:r>
            <a:r>
              <a:rPr lang="en-US" altLang="zh-CN" b="1" dirty="0">
                <a:latin typeface="Times New Roman" pitchFamily="18" charset="0"/>
              </a:rPr>
              <a:t> == c) </a:t>
            </a:r>
          </a:p>
          <a:p>
            <a:pPr>
              <a:lnSpc>
                <a:spcPct val="80000"/>
              </a:lnSpc>
              <a:buFont typeface="Wingdings" pitchFamily="2" charset="2"/>
              <a:buNone/>
            </a:pPr>
            <a:r>
              <a:rPr lang="en-US" altLang="zh-CN" b="1" dirty="0">
                <a:latin typeface="Times New Roman" pitchFamily="18" charset="0"/>
              </a:rPr>
              <a:t>         cd[--start]=‘0’;</a:t>
            </a:r>
          </a:p>
          <a:p>
            <a:pPr>
              <a:lnSpc>
                <a:spcPct val="80000"/>
              </a:lnSpc>
              <a:buFont typeface="Wingdings" pitchFamily="2" charset="2"/>
              <a:buNone/>
            </a:pPr>
            <a:r>
              <a:rPr lang="en-US" altLang="zh-CN" b="1" dirty="0">
                <a:latin typeface="Times New Roman" pitchFamily="18" charset="0"/>
              </a:rPr>
              <a:t> else </a:t>
            </a:r>
          </a:p>
          <a:p>
            <a:pPr>
              <a:lnSpc>
                <a:spcPct val="80000"/>
              </a:lnSpc>
              <a:buFont typeface="Wingdings" pitchFamily="2" charset="2"/>
              <a:buNone/>
            </a:pPr>
            <a:r>
              <a:rPr lang="en-US" altLang="zh-CN" b="1" dirty="0">
                <a:latin typeface="Times New Roman" pitchFamily="18" charset="0"/>
              </a:rPr>
              <a:t>         cd[--start]=‘1’;</a:t>
            </a:r>
          </a:p>
        </p:txBody>
      </p:sp>
      <p:cxnSp>
        <p:nvCxnSpPr>
          <p:cNvPr id="2" name="直接连接符 1">
            <a:extLst>
              <a:ext uri="{FF2B5EF4-FFF2-40B4-BE49-F238E27FC236}">
                <a16:creationId xmlns:a16="http://schemas.microsoft.com/office/drawing/2014/main" xmlns="" id="{73359BEC-CB5B-96ED-2D79-0E89BDFE9416}"/>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3C490A98-4669-8B36-7BAB-8CF8A3C097B6}"/>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186626807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2708750"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ch</a:t>
            </a:r>
            <a:endParaRPr lang="en-US" altLang="zh-CN" sz="2000" dirty="0"/>
          </a:p>
        </p:txBody>
      </p:sp>
      <p:sp>
        <p:nvSpPr>
          <p:cNvPr id="7" name="Rectangle 6"/>
          <p:cNvSpPr>
            <a:spLocks noChangeArrowheads="1"/>
          </p:cNvSpPr>
          <p:nvPr/>
        </p:nvSpPr>
        <p:spPr bwMode="auto">
          <a:xfrm>
            <a:off x="3564412" y="1262062"/>
            <a:ext cx="8572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weight</a:t>
            </a:r>
          </a:p>
        </p:txBody>
      </p:sp>
      <p:sp>
        <p:nvSpPr>
          <p:cNvPr id="8" name="Rectangle 7"/>
          <p:cNvSpPr>
            <a:spLocks noChangeArrowheads="1"/>
          </p:cNvSpPr>
          <p:nvPr/>
        </p:nvSpPr>
        <p:spPr bwMode="auto">
          <a:xfrm>
            <a:off x="4421662"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a:t>parent</a:t>
            </a:r>
          </a:p>
        </p:txBody>
      </p:sp>
      <p:sp>
        <p:nvSpPr>
          <p:cNvPr id="9" name="Rectangle 8"/>
          <p:cNvSpPr>
            <a:spLocks noChangeArrowheads="1"/>
          </p:cNvSpPr>
          <p:nvPr/>
        </p:nvSpPr>
        <p:spPr bwMode="auto">
          <a:xfrm>
            <a:off x="5277325" y="1262062"/>
            <a:ext cx="8556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lchild</a:t>
            </a:r>
            <a:endParaRPr lang="en-US" altLang="zh-CN" sz="2000" dirty="0"/>
          </a:p>
        </p:txBody>
      </p:sp>
      <p:sp>
        <p:nvSpPr>
          <p:cNvPr id="11" name="Rectangle 9"/>
          <p:cNvSpPr>
            <a:spLocks noChangeArrowheads="1"/>
          </p:cNvSpPr>
          <p:nvPr/>
        </p:nvSpPr>
        <p:spPr bwMode="auto">
          <a:xfrm>
            <a:off x="6132987" y="1262062"/>
            <a:ext cx="855662"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0"/>
              </a:spcBef>
              <a:buClrTx/>
              <a:buSzTx/>
              <a:buFontTx/>
              <a:buNone/>
            </a:pPr>
            <a:r>
              <a:rPr lang="en-US" altLang="zh-CN" sz="2000" dirty="0" err="1"/>
              <a:t>rchild</a:t>
            </a:r>
            <a:endParaRPr lang="en-US" altLang="zh-CN" sz="2000" dirty="0"/>
          </a:p>
        </p:txBody>
      </p:sp>
      <p:sp>
        <p:nvSpPr>
          <p:cNvPr id="12" name="Rectangle 10"/>
          <p:cNvSpPr>
            <a:spLocks noChangeArrowheads="1"/>
          </p:cNvSpPr>
          <p:nvPr/>
        </p:nvSpPr>
        <p:spPr bwMode="auto">
          <a:xfrm>
            <a:off x="2708750"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a</a:t>
            </a:r>
          </a:p>
        </p:txBody>
      </p:sp>
      <p:sp>
        <p:nvSpPr>
          <p:cNvPr id="13" name="Rectangle 11"/>
          <p:cNvSpPr>
            <a:spLocks noChangeArrowheads="1"/>
          </p:cNvSpPr>
          <p:nvPr/>
        </p:nvSpPr>
        <p:spPr bwMode="auto">
          <a:xfrm>
            <a:off x="3564412" y="17224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0.05</a:t>
            </a:r>
          </a:p>
        </p:txBody>
      </p:sp>
      <p:sp>
        <p:nvSpPr>
          <p:cNvPr id="14" name="Rectangle 12"/>
          <p:cNvSpPr>
            <a:spLocks noChangeArrowheads="1"/>
          </p:cNvSpPr>
          <p:nvPr/>
        </p:nvSpPr>
        <p:spPr bwMode="auto">
          <a:xfrm>
            <a:off x="4421662"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15" name="Rectangle 13"/>
          <p:cNvSpPr>
            <a:spLocks noChangeArrowheads="1"/>
          </p:cNvSpPr>
          <p:nvPr/>
        </p:nvSpPr>
        <p:spPr bwMode="auto">
          <a:xfrm>
            <a:off x="5277325" y="17224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6" name="Rectangle 14"/>
          <p:cNvSpPr>
            <a:spLocks noChangeArrowheads="1"/>
          </p:cNvSpPr>
          <p:nvPr/>
        </p:nvSpPr>
        <p:spPr bwMode="auto">
          <a:xfrm>
            <a:off x="6132987" y="17224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17" name="Rectangle 15"/>
          <p:cNvSpPr>
            <a:spLocks noChangeArrowheads="1"/>
          </p:cNvSpPr>
          <p:nvPr/>
        </p:nvSpPr>
        <p:spPr bwMode="auto">
          <a:xfrm>
            <a:off x="2708750"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b</a:t>
            </a:r>
          </a:p>
        </p:txBody>
      </p:sp>
      <p:sp>
        <p:nvSpPr>
          <p:cNvPr id="18" name="Rectangle 16"/>
          <p:cNvSpPr>
            <a:spLocks noChangeArrowheads="1"/>
          </p:cNvSpPr>
          <p:nvPr/>
        </p:nvSpPr>
        <p:spPr bwMode="auto">
          <a:xfrm>
            <a:off x="3564412" y="2024063"/>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0.29</a:t>
            </a:r>
          </a:p>
        </p:txBody>
      </p:sp>
      <p:sp>
        <p:nvSpPr>
          <p:cNvPr id="19" name="Rectangle 17"/>
          <p:cNvSpPr>
            <a:spLocks noChangeArrowheads="1"/>
          </p:cNvSpPr>
          <p:nvPr/>
        </p:nvSpPr>
        <p:spPr bwMode="auto">
          <a:xfrm>
            <a:off x="4421662"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20" name="Rectangle 18"/>
          <p:cNvSpPr>
            <a:spLocks noChangeArrowheads="1"/>
          </p:cNvSpPr>
          <p:nvPr/>
        </p:nvSpPr>
        <p:spPr bwMode="auto">
          <a:xfrm>
            <a:off x="5277325" y="2024063"/>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1" name="Rectangle 19"/>
          <p:cNvSpPr>
            <a:spLocks noChangeArrowheads="1"/>
          </p:cNvSpPr>
          <p:nvPr/>
        </p:nvSpPr>
        <p:spPr bwMode="auto">
          <a:xfrm>
            <a:off x="6132987" y="2024063"/>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2" name="Rectangle 20"/>
          <p:cNvSpPr>
            <a:spLocks noChangeArrowheads="1"/>
          </p:cNvSpPr>
          <p:nvPr/>
        </p:nvSpPr>
        <p:spPr bwMode="auto">
          <a:xfrm>
            <a:off x="2708750"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c</a:t>
            </a:r>
          </a:p>
        </p:txBody>
      </p:sp>
      <p:sp>
        <p:nvSpPr>
          <p:cNvPr id="23" name="Rectangle 21"/>
          <p:cNvSpPr>
            <a:spLocks noChangeArrowheads="1"/>
          </p:cNvSpPr>
          <p:nvPr/>
        </p:nvSpPr>
        <p:spPr bwMode="auto">
          <a:xfrm>
            <a:off x="3564412" y="2325688"/>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0.07</a:t>
            </a:r>
          </a:p>
        </p:txBody>
      </p:sp>
      <p:sp>
        <p:nvSpPr>
          <p:cNvPr id="24" name="Rectangle 22"/>
          <p:cNvSpPr>
            <a:spLocks noChangeArrowheads="1"/>
          </p:cNvSpPr>
          <p:nvPr/>
        </p:nvSpPr>
        <p:spPr bwMode="auto">
          <a:xfrm>
            <a:off x="4421662"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25" name="Rectangle 23"/>
          <p:cNvSpPr>
            <a:spLocks noChangeArrowheads="1"/>
          </p:cNvSpPr>
          <p:nvPr/>
        </p:nvSpPr>
        <p:spPr bwMode="auto">
          <a:xfrm>
            <a:off x="5277325" y="2325688"/>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6" name="Rectangle 24"/>
          <p:cNvSpPr>
            <a:spLocks noChangeArrowheads="1"/>
          </p:cNvSpPr>
          <p:nvPr/>
        </p:nvSpPr>
        <p:spPr bwMode="auto">
          <a:xfrm>
            <a:off x="6132987" y="2325688"/>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27" name="Rectangle 25"/>
          <p:cNvSpPr>
            <a:spLocks noChangeArrowheads="1"/>
          </p:cNvSpPr>
          <p:nvPr/>
        </p:nvSpPr>
        <p:spPr bwMode="auto">
          <a:xfrm>
            <a:off x="2708750"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d</a:t>
            </a:r>
          </a:p>
        </p:txBody>
      </p:sp>
      <p:sp>
        <p:nvSpPr>
          <p:cNvPr id="28" name="Rectangle 26"/>
          <p:cNvSpPr>
            <a:spLocks noChangeArrowheads="1"/>
          </p:cNvSpPr>
          <p:nvPr/>
        </p:nvSpPr>
        <p:spPr bwMode="auto">
          <a:xfrm>
            <a:off x="3564412" y="2628901"/>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0.08</a:t>
            </a:r>
          </a:p>
        </p:txBody>
      </p:sp>
      <p:sp>
        <p:nvSpPr>
          <p:cNvPr id="29" name="Rectangle 27"/>
          <p:cNvSpPr>
            <a:spLocks noChangeArrowheads="1"/>
          </p:cNvSpPr>
          <p:nvPr/>
        </p:nvSpPr>
        <p:spPr bwMode="auto">
          <a:xfrm>
            <a:off x="4421662"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30" name="Rectangle 28"/>
          <p:cNvSpPr>
            <a:spLocks noChangeArrowheads="1"/>
          </p:cNvSpPr>
          <p:nvPr/>
        </p:nvSpPr>
        <p:spPr bwMode="auto">
          <a:xfrm>
            <a:off x="5277325" y="2628901"/>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1" name="Rectangle 29"/>
          <p:cNvSpPr>
            <a:spLocks noChangeArrowheads="1"/>
          </p:cNvSpPr>
          <p:nvPr/>
        </p:nvSpPr>
        <p:spPr bwMode="auto">
          <a:xfrm>
            <a:off x="6132987" y="2628901"/>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2" name="Rectangle 30"/>
          <p:cNvSpPr>
            <a:spLocks noChangeArrowheads="1"/>
          </p:cNvSpPr>
          <p:nvPr/>
        </p:nvSpPr>
        <p:spPr bwMode="auto">
          <a:xfrm>
            <a:off x="2708750"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e</a:t>
            </a:r>
          </a:p>
        </p:txBody>
      </p:sp>
      <p:sp>
        <p:nvSpPr>
          <p:cNvPr id="34" name="Rectangle 31"/>
          <p:cNvSpPr>
            <a:spLocks noChangeArrowheads="1"/>
          </p:cNvSpPr>
          <p:nvPr/>
        </p:nvSpPr>
        <p:spPr bwMode="auto">
          <a:xfrm>
            <a:off x="3564412" y="293052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0.14</a:t>
            </a:r>
          </a:p>
        </p:txBody>
      </p:sp>
      <p:sp>
        <p:nvSpPr>
          <p:cNvPr id="35" name="Rectangle 32"/>
          <p:cNvSpPr>
            <a:spLocks noChangeArrowheads="1"/>
          </p:cNvSpPr>
          <p:nvPr/>
        </p:nvSpPr>
        <p:spPr bwMode="auto">
          <a:xfrm>
            <a:off x="4421662"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36" name="Rectangle 33"/>
          <p:cNvSpPr>
            <a:spLocks noChangeArrowheads="1"/>
          </p:cNvSpPr>
          <p:nvPr/>
        </p:nvSpPr>
        <p:spPr bwMode="auto">
          <a:xfrm>
            <a:off x="5277325" y="2930525"/>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7" name="Rectangle 34"/>
          <p:cNvSpPr>
            <a:spLocks noChangeArrowheads="1"/>
          </p:cNvSpPr>
          <p:nvPr/>
        </p:nvSpPr>
        <p:spPr bwMode="auto">
          <a:xfrm>
            <a:off x="6132987" y="2930525"/>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38" name="Rectangle 35"/>
          <p:cNvSpPr>
            <a:spLocks noChangeArrowheads="1"/>
          </p:cNvSpPr>
          <p:nvPr/>
        </p:nvSpPr>
        <p:spPr bwMode="auto">
          <a:xfrm>
            <a:off x="2708750"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f</a:t>
            </a:r>
          </a:p>
        </p:txBody>
      </p:sp>
      <p:sp>
        <p:nvSpPr>
          <p:cNvPr id="39" name="Rectangle 36"/>
          <p:cNvSpPr>
            <a:spLocks noChangeArrowheads="1"/>
          </p:cNvSpPr>
          <p:nvPr/>
        </p:nvSpPr>
        <p:spPr bwMode="auto">
          <a:xfrm>
            <a:off x="3564412" y="3233738"/>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0.23</a:t>
            </a:r>
          </a:p>
        </p:txBody>
      </p:sp>
      <p:sp>
        <p:nvSpPr>
          <p:cNvPr id="40" name="Rectangle 37"/>
          <p:cNvSpPr>
            <a:spLocks noChangeArrowheads="1"/>
          </p:cNvSpPr>
          <p:nvPr/>
        </p:nvSpPr>
        <p:spPr bwMode="auto">
          <a:xfrm>
            <a:off x="4421662"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41" name="Rectangle 38"/>
          <p:cNvSpPr>
            <a:spLocks noChangeArrowheads="1"/>
          </p:cNvSpPr>
          <p:nvPr/>
        </p:nvSpPr>
        <p:spPr bwMode="auto">
          <a:xfrm>
            <a:off x="5277325" y="3233738"/>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2" name="Rectangle 39"/>
          <p:cNvSpPr>
            <a:spLocks noChangeArrowheads="1"/>
          </p:cNvSpPr>
          <p:nvPr/>
        </p:nvSpPr>
        <p:spPr bwMode="auto">
          <a:xfrm>
            <a:off x="6132987" y="3233738"/>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3" name="Rectangle 40"/>
          <p:cNvSpPr>
            <a:spLocks noChangeArrowheads="1"/>
          </p:cNvSpPr>
          <p:nvPr/>
        </p:nvSpPr>
        <p:spPr bwMode="auto">
          <a:xfrm>
            <a:off x="2708750"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g</a:t>
            </a:r>
          </a:p>
        </p:txBody>
      </p:sp>
      <p:sp>
        <p:nvSpPr>
          <p:cNvPr id="44" name="Rectangle 41"/>
          <p:cNvSpPr>
            <a:spLocks noChangeArrowheads="1"/>
          </p:cNvSpPr>
          <p:nvPr/>
        </p:nvSpPr>
        <p:spPr bwMode="auto">
          <a:xfrm>
            <a:off x="3564412" y="3535363"/>
            <a:ext cx="857250"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0.03</a:t>
            </a:r>
          </a:p>
        </p:txBody>
      </p:sp>
      <p:sp>
        <p:nvSpPr>
          <p:cNvPr id="45" name="Rectangle 42"/>
          <p:cNvSpPr>
            <a:spLocks noChangeArrowheads="1"/>
          </p:cNvSpPr>
          <p:nvPr/>
        </p:nvSpPr>
        <p:spPr bwMode="auto">
          <a:xfrm>
            <a:off x="4421662"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46" name="Rectangle 43"/>
          <p:cNvSpPr>
            <a:spLocks noChangeArrowheads="1"/>
          </p:cNvSpPr>
          <p:nvPr/>
        </p:nvSpPr>
        <p:spPr bwMode="auto">
          <a:xfrm>
            <a:off x="5277325" y="3535363"/>
            <a:ext cx="855663"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7" name="Rectangle 44"/>
          <p:cNvSpPr>
            <a:spLocks noChangeArrowheads="1"/>
          </p:cNvSpPr>
          <p:nvPr/>
        </p:nvSpPr>
        <p:spPr bwMode="auto">
          <a:xfrm>
            <a:off x="6132987" y="3535363"/>
            <a:ext cx="855662" cy="303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48" name="Rectangle 45"/>
          <p:cNvSpPr>
            <a:spLocks noChangeArrowheads="1"/>
          </p:cNvSpPr>
          <p:nvPr/>
        </p:nvSpPr>
        <p:spPr bwMode="auto">
          <a:xfrm>
            <a:off x="2708750"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h</a:t>
            </a:r>
          </a:p>
        </p:txBody>
      </p:sp>
      <p:sp>
        <p:nvSpPr>
          <p:cNvPr id="49" name="Rectangle 46"/>
          <p:cNvSpPr>
            <a:spLocks noChangeArrowheads="1"/>
          </p:cNvSpPr>
          <p:nvPr/>
        </p:nvSpPr>
        <p:spPr bwMode="auto">
          <a:xfrm>
            <a:off x="3564412" y="3838576"/>
            <a:ext cx="857250"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C000"/>
                </a:solidFill>
              </a:rPr>
              <a:t>0.11</a:t>
            </a:r>
          </a:p>
        </p:txBody>
      </p:sp>
      <p:sp>
        <p:nvSpPr>
          <p:cNvPr id="50" name="Rectangle 47"/>
          <p:cNvSpPr>
            <a:spLocks noChangeArrowheads="1"/>
          </p:cNvSpPr>
          <p:nvPr/>
        </p:nvSpPr>
        <p:spPr bwMode="auto">
          <a:xfrm>
            <a:off x="4421662"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51" name="Rectangle 48"/>
          <p:cNvSpPr>
            <a:spLocks noChangeArrowheads="1"/>
          </p:cNvSpPr>
          <p:nvPr/>
        </p:nvSpPr>
        <p:spPr bwMode="auto">
          <a:xfrm>
            <a:off x="5277325" y="3838576"/>
            <a:ext cx="855663"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2" name="Rectangle 49"/>
          <p:cNvSpPr>
            <a:spLocks noChangeArrowheads="1"/>
          </p:cNvSpPr>
          <p:nvPr/>
        </p:nvSpPr>
        <p:spPr bwMode="auto">
          <a:xfrm>
            <a:off x="6132987" y="3838576"/>
            <a:ext cx="855662" cy="3016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0</a:t>
            </a:r>
          </a:p>
        </p:txBody>
      </p:sp>
      <p:sp>
        <p:nvSpPr>
          <p:cNvPr id="53" name="Text Box 50"/>
          <p:cNvSpPr txBox="1">
            <a:spLocks noChangeArrowheads="1"/>
          </p:cNvSpPr>
          <p:nvPr/>
        </p:nvSpPr>
        <p:spPr bwMode="auto">
          <a:xfrm>
            <a:off x="2338862" y="1660526"/>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1</a:t>
            </a:r>
          </a:p>
        </p:txBody>
      </p:sp>
      <p:sp>
        <p:nvSpPr>
          <p:cNvPr id="54" name="Text Box 51"/>
          <p:cNvSpPr txBox="1">
            <a:spLocks noChangeArrowheads="1"/>
          </p:cNvSpPr>
          <p:nvPr/>
        </p:nvSpPr>
        <p:spPr bwMode="auto">
          <a:xfrm>
            <a:off x="2338862" y="19888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2</a:t>
            </a:r>
          </a:p>
        </p:txBody>
      </p:sp>
      <p:sp>
        <p:nvSpPr>
          <p:cNvPr id="55" name="Text Box 52"/>
          <p:cNvSpPr txBox="1">
            <a:spLocks noChangeArrowheads="1"/>
          </p:cNvSpPr>
          <p:nvPr/>
        </p:nvSpPr>
        <p:spPr bwMode="auto">
          <a:xfrm>
            <a:off x="2338862" y="22768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3</a:t>
            </a:r>
          </a:p>
        </p:txBody>
      </p:sp>
      <p:sp>
        <p:nvSpPr>
          <p:cNvPr id="56" name="Text Box 53"/>
          <p:cNvSpPr txBox="1">
            <a:spLocks noChangeArrowheads="1"/>
          </p:cNvSpPr>
          <p:nvPr/>
        </p:nvSpPr>
        <p:spPr bwMode="auto">
          <a:xfrm>
            <a:off x="2338862" y="2564905"/>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4</a:t>
            </a:r>
          </a:p>
        </p:txBody>
      </p:sp>
      <p:sp>
        <p:nvSpPr>
          <p:cNvPr id="57" name="Text Box 54"/>
          <p:cNvSpPr txBox="1">
            <a:spLocks noChangeArrowheads="1"/>
          </p:cNvSpPr>
          <p:nvPr/>
        </p:nvSpPr>
        <p:spPr bwMode="auto">
          <a:xfrm>
            <a:off x="2338862" y="2852937"/>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5</a:t>
            </a:r>
          </a:p>
        </p:txBody>
      </p:sp>
      <p:sp>
        <p:nvSpPr>
          <p:cNvPr id="58" name="Text Box 55"/>
          <p:cNvSpPr txBox="1">
            <a:spLocks noChangeArrowheads="1"/>
          </p:cNvSpPr>
          <p:nvPr/>
        </p:nvSpPr>
        <p:spPr bwMode="auto">
          <a:xfrm>
            <a:off x="2338862" y="3140969"/>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6</a:t>
            </a:r>
          </a:p>
        </p:txBody>
      </p:sp>
      <p:sp>
        <p:nvSpPr>
          <p:cNvPr id="59" name="Text Box 56"/>
          <p:cNvSpPr txBox="1">
            <a:spLocks noChangeArrowheads="1"/>
          </p:cNvSpPr>
          <p:nvPr/>
        </p:nvSpPr>
        <p:spPr bwMode="auto">
          <a:xfrm>
            <a:off x="2338862" y="3464174"/>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a:t>7</a:t>
            </a:r>
          </a:p>
        </p:txBody>
      </p:sp>
      <p:sp>
        <p:nvSpPr>
          <p:cNvPr id="60" name="Text Box 57"/>
          <p:cNvSpPr txBox="1">
            <a:spLocks noChangeArrowheads="1"/>
          </p:cNvSpPr>
          <p:nvPr/>
        </p:nvSpPr>
        <p:spPr bwMode="auto">
          <a:xfrm>
            <a:off x="2338862" y="3789041"/>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8</a:t>
            </a:r>
          </a:p>
        </p:txBody>
      </p:sp>
      <p:sp>
        <p:nvSpPr>
          <p:cNvPr id="61" name="Rectangle 58"/>
          <p:cNvSpPr>
            <a:spLocks noChangeArrowheads="1"/>
          </p:cNvSpPr>
          <p:nvPr/>
        </p:nvSpPr>
        <p:spPr bwMode="auto">
          <a:xfrm>
            <a:off x="2708750"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2" name="Rectangle 59"/>
          <p:cNvSpPr>
            <a:spLocks noChangeArrowheads="1"/>
          </p:cNvSpPr>
          <p:nvPr/>
        </p:nvSpPr>
        <p:spPr bwMode="auto">
          <a:xfrm>
            <a:off x="3564412" y="4140201"/>
            <a:ext cx="857250"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3" name="Rectangle 60"/>
          <p:cNvSpPr>
            <a:spLocks noChangeArrowheads="1"/>
          </p:cNvSpPr>
          <p:nvPr/>
        </p:nvSpPr>
        <p:spPr bwMode="auto">
          <a:xfrm>
            <a:off x="4421662" y="4140201"/>
            <a:ext cx="855662" cy="2169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4" name="Rectangle 61"/>
          <p:cNvSpPr>
            <a:spLocks noChangeArrowheads="1"/>
          </p:cNvSpPr>
          <p:nvPr/>
        </p:nvSpPr>
        <p:spPr bwMode="auto">
          <a:xfrm>
            <a:off x="5277325" y="4140201"/>
            <a:ext cx="855663"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65" name="Rectangle 62"/>
          <p:cNvSpPr>
            <a:spLocks noChangeArrowheads="1"/>
          </p:cNvSpPr>
          <p:nvPr/>
        </p:nvSpPr>
        <p:spPr bwMode="auto">
          <a:xfrm>
            <a:off x="6132987" y="4140201"/>
            <a:ext cx="855662" cy="216912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endParaRPr lang="zh-CN" altLang="zh-CN" sz="2000"/>
          </a:p>
        </p:txBody>
      </p:sp>
      <p:sp>
        <p:nvSpPr>
          <p:cNvPr id="73" name="Text Box 69"/>
          <p:cNvSpPr txBox="1">
            <a:spLocks noChangeArrowheads="1"/>
          </p:cNvSpPr>
          <p:nvPr/>
        </p:nvSpPr>
        <p:spPr bwMode="auto">
          <a:xfrm>
            <a:off x="2338862" y="407707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9</a:t>
            </a:r>
          </a:p>
        </p:txBody>
      </p:sp>
      <p:sp>
        <p:nvSpPr>
          <p:cNvPr id="74" name="Rectangle 70"/>
          <p:cNvSpPr>
            <a:spLocks noChangeArrowheads="1"/>
          </p:cNvSpPr>
          <p:nvPr/>
        </p:nvSpPr>
        <p:spPr bwMode="auto">
          <a:xfrm>
            <a:off x="2708750"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75" name="Rectangle 71"/>
          <p:cNvSpPr>
            <a:spLocks noChangeArrowheads="1"/>
          </p:cNvSpPr>
          <p:nvPr/>
        </p:nvSpPr>
        <p:spPr bwMode="auto">
          <a:xfrm>
            <a:off x="3564412" y="414020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0.08 </a:t>
            </a:r>
          </a:p>
        </p:txBody>
      </p:sp>
      <p:sp>
        <p:nvSpPr>
          <p:cNvPr id="76" name="Rectangle 72"/>
          <p:cNvSpPr>
            <a:spLocks noChangeArrowheads="1"/>
          </p:cNvSpPr>
          <p:nvPr/>
        </p:nvSpPr>
        <p:spPr bwMode="auto">
          <a:xfrm>
            <a:off x="4421662"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77" name="Rectangle 73"/>
          <p:cNvSpPr>
            <a:spLocks noChangeArrowheads="1"/>
          </p:cNvSpPr>
          <p:nvPr/>
        </p:nvSpPr>
        <p:spPr bwMode="auto">
          <a:xfrm>
            <a:off x="5277325" y="414020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7</a:t>
            </a:r>
          </a:p>
        </p:txBody>
      </p:sp>
      <p:sp>
        <p:nvSpPr>
          <p:cNvPr id="78" name="Rectangle 74"/>
          <p:cNvSpPr>
            <a:spLocks noChangeArrowheads="1"/>
          </p:cNvSpPr>
          <p:nvPr/>
        </p:nvSpPr>
        <p:spPr bwMode="auto">
          <a:xfrm>
            <a:off x="6132987" y="414020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a:t>
            </a:r>
          </a:p>
        </p:txBody>
      </p:sp>
      <p:sp>
        <p:nvSpPr>
          <p:cNvPr id="79" name="Rectangle 70"/>
          <p:cNvSpPr>
            <a:spLocks noChangeArrowheads="1"/>
          </p:cNvSpPr>
          <p:nvPr/>
        </p:nvSpPr>
        <p:spPr bwMode="auto">
          <a:xfrm>
            <a:off x="2710193"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0" name="Rectangle 71"/>
          <p:cNvSpPr>
            <a:spLocks noChangeArrowheads="1"/>
          </p:cNvSpPr>
          <p:nvPr/>
        </p:nvSpPr>
        <p:spPr bwMode="auto">
          <a:xfrm>
            <a:off x="3565855" y="4740324"/>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81" name="Rectangle 72"/>
          <p:cNvSpPr>
            <a:spLocks noChangeArrowheads="1"/>
          </p:cNvSpPr>
          <p:nvPr/>
        </p:nvSpPr>
        <p:spPr bwMode="auto">
          <a:xfrm>
            <a:off x="4423105"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82" name="Rectangle 73"/>
          <p:cNvSpPr>
            <a:spLocks noChangeArrowheads="1"/>
          </p:cNvSpPr>
          <p:nvPr/>
        </p:nvSpPr>
        <p:spPr bwMode="auto">
          <a:xfrm>
            <a:off x="5278768" y="4740324"/>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9</a:t>
            </a:r>
          </a:p>
        </p:txBody>
      </p:sp>
      <p:sp>
        <p:nvSpPr>
          <p:cNvPr id="83" name="Rectangle 74"/>
          <p:cNvSpPr>
            <a:spLocks noChangeArrowheads="1"/>
          </p:cNvSpPr>
          <p:nvPr/>
        </p:nvSpPr>
        <p:spPr bwMode="auto">
          <a:xfrm>
            <a:off x="6134430" y="4740324"/>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8</a:t>
            </a:r>
          </a:p>
        </p:txBody>
      </p:sp>
      <p:sp>
        <p:nvSpPr>
          <p:cNvPr id="84" name="Text Box 69"/>
          <p:cNvSpPr txBox="1">
            <a:spLocks noChangeArrowheads="1"/>
          </p:cNvSpPr>
          <p:nvPr/>
        </p:nvSpPr>
        <p:spPr bwMode="auto">
          <a:xfrm>
            <a:off x="2194847" y="4365104"/>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10</a:t>
            </a:r>
          </a:p>
        </p:txBody>
      </p:sp>
      <p:sp>
        <p:nvSpPr>
          <p:cNvPr id="91" name="Text Box 69"/>
          <p:cNvSpPr txBox="1">
            <a:spLocks noChangeArrowheads="1"/>
          </p:cNvSpPr>
          <p:nvPr/>
        </p:nvSpPr>
        <p:spPr bwMode="auto">
          <a:xfrm>
            <a:off x="2196290" y="4731315"/>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11</a:t>
            </a:r>
          </a:p>
        </p:txBody>
      </p:sp>
      <p:sp>
        <p:nvSpPr>
          <p:cNvPr id="92" name="Rectangle 70"/>
          <p:cNvSpPr>
            <a:spLocks noChangeArrowheads="1"/>
          </p:cNvSpPr>
          <p:nvPr/>
        </p:nvSpPr>
        <p:spPr bwMode="auto">
          <a:xfrm>
            <a:off x="2710193"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3" name="Rectangle 71"/>
          <p:cNvSpPr>
            <a:spLocks noChangeArrowheads="1"/>
          </p:cNvSpPr>
          <p:nvPr/>
        </p:nvSpPr>
        <p:spPr bwMode="auto">
          <a:xfrm>
            <a:off x="3565855" y="5043536"/>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4" name="Rectangle 72"/>
          <p:cNvSpPr>
            <a:spLocks noChangeArrowheads="1"/>
          </p:cNvSpPr>
          <p:nvPr/>
        </p:nvSpPr>
        <p:spPr bwMode="auto">
          <a:xfrm>
            <a:off x="4423105"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95" name="Rectangle 73"/>
          <p:cNvSpPr>
            <a:spLocks noChangeArrowheads="1"/>
          </p:cNvSpPr>
          <p:nvPr/>
        </p:nvSpPr>
        <p:spPr bwMode="auto">
          <a:xfrm>
            <a:off x="5278768" y="5043536"/>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5</a:t>
            </a:r>
          </a:p>
        </p:txBody>
      </p:sp>
      <p:sp>
        <p:nvSpPr>
          <p:cNvPr id="96" name="Rectangle 74"/>
          <p:cNvSpPr>
            <a:spLocks noChangeArrowheads="1"/>
          </p:cNvSpPr>
          <p:nvPr/>
        </p:nvSpPr>
        <p:spPr bwMode="auto">
          <a:xfrm>
            <a:off x="6134430" y="5043536"/>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a:t>
            </a:r>
          </a:p>
        </p:txBody>
      </p:sp>
      <p:sp>
        <p:nvSpPr>
          <p:cNvPr id="97" name="Text Box 69"/>
          <p:cNvSpPr txBox="1">
            <a:spLocks noChangeArrowheads="1"/>
          </p:cNvSpPr>
          <p:nvPr/>
        </p:nvSpPr>
        <p:spPr bwMode="auto">
          <a:xfrm>
            <a:off x="2196290" y="5034527"/>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12</a:t>
            </a:r>
          </a:p>
        </p:txBody>
      </p:sp>
      <p:sp>
        <p:nvSpPr>
          <p:cNvPr id="98" name="Rectangle 70"/>
          <p:cNvSpPr>
            <a:spLocks noChangeArrowheads="1"/>
          </p:cNvSpPr>
          <p:nvPr/>
        </p:nvSpPr>
        <p:spPr bwMode="auto">
          <a:xfrm>
            <a:off x="2710193"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99" name="Rectangle 71"/>
          <p:cNvSpPr>
            <a:spLocks noChangeArrowheads="1"/>
          </p:cNvSpPr>
          <p:nvPr/>
        </p:nvSpPr>
        <p:spPr bwMode="auto">
          <a:xfrm>
            <a:off x="3565855"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0" name="Rectangle 72"/>
          <p:cNvSpPr>
            <a:spLocks noChangeArrowheads="1"/>
          </p:cNvSpPr>
          <p:nvPr/>
        </p:nvSpPr>
        <p:spPr bwMode="auto">
          <a:xfrm>
            <a:off x="4423105"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1" name="Rectangle 73"/>
          <p:cNvSpPr>
            <a:spLocks noChangeArrowheads="1"/>
          </p:cNvSpPr>
          <p:nvPr/>
        </p:nvSpPr>
        <p:spPr bwMode="auto">
          <a:xfrm>
            <a:off x="5278768" y="5346748"/>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11</a:t>
            </a:r>
          </a:p>
        </p:txBody>
      </p:sp>
      <p:sp>
        <p:nvSpPr>
          <p:cNvPr id="102" name="Rectangle 74"/>
          <p:cNvSpPr>
            <a:spLocks noChangeArrowheads="1"/>
          </p:cNvSpPr>
          <p:nvPr/>
        </p:nvSpPr>
        <p:spPr bwMode="auto">
          <a:xfrm>
            <a:off x="6134430" y="5346748"/>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6</a:t>
            </a:r>
          </a:p>
        </p:txBody>
      </p:sp>
      <p:sp>
        <p:nvSpPr>
          <p:cNvPr id="103" name="Text Box 69"/>
          <p:cNvSpPr txBox="1">
            <a:spLocks noChangeArrowheads="1"/>
          </p:cNvSpPr>
          <p:nvPr/>
        </p:nvSpPr>
        <p:spPr bwMode="auto">
          <a:xfrm>
            <a:off x="2196290" y="5337739"/>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13</a:t>
            </a:r>
          </a:p>
        </p:txBody>
      </p:sp>
      <p:sp>
        <p:nvSpPr>
          <p:cNvPr id="104" name="Rectangle 70"/>
          <p:cNvSpPr>
            <a:spLocks noChangeArrowheads="1"/>
          </p:cNvSpPr>
          <p:nvPr/>
        </p:nvSpPr>
        <p:spPr bwMode="auto">
          <a:xfrm>
            <a:off x="2710193"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5"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06" name="Rectangle 72"/>
          <p:cNvSpPr>
            <a:spLocks noChangeArrowheads="1"/>
          </p:cNvSpPr>
          <p:nvPr/>
        </p:nvSpPr>
        <p:spPr bwMode="auto">
          <a:xfrm>
            <a:off x="4423105"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15</a:t>
            </a:r>
          </a:p>
        </p:txBody>
      </p:sp>
      <p:sp>
        <p:nvSpPr>
          <p:cNvPr id="107" name="Rectangle 73"/>
          <p:cNvSpPr>
            <a:spLocks noChangeArrowheads="1"/>
          </p:cNvSpPr>
          <p:nvPr/>
        </p:nvSpPr>
        <p:spPr bwMode="auto">
          <a:xfrm>
            <a:off x="5278768" y="5649960"/>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08" name="Rectangle 74"/>
          <p:cNvSpPr>
            <a:spLocks noChangeArrowheads="1"/>
          </p:cNvSpPr>
          <p:nvPr/>
        </p:nvSpPr>
        <p:spPr bwMode="auto">
          <a:xfrm>
            <a:off x="6134430" y="5649960"/>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2</a:t>
            </a:r>
          </a:p>
        </p:txBody>
      </p:sp>
      <p:sp>
        <p:nvSpPr>
          <p:cNvPr id="109" name="Text Box 69"/>
          <p:cNvSpPr txBox="1">
            <a:spLocks noChangeArrowheads="1"/>
          </p:cNvSpPr>
          <p:nvPr/>
        </p:nvSpPr>
        <p:spPr bwMode="auto">
          <a:xfrm>
            <a:off x="2196290" y="5640951"/>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14</a:t>
            </a:r>
          </a:p>
        </p:txBody>
      </p:sp>
      <p:sp>
        <p:nvSpPr>
          <p:cNvPr id="110" name="Text Box 69"/>
          <p:cNvSpPr txBox="1">
            <a:spLocks noChangeArrowheads="1"/>
          </p:cNvSpPr>
          <p:nvPr/>
        </p:nvSpPr>
        <p:spPr bwMode="auto">
          <a:xfrm>
            <a:off x="2194846" y="5953172"/>
            <a:ext cx="5139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algn="l" eaLnBrk="1" hangingPunct="1">
              <a:spcBef>
                <a:spcPct val="50000"/>
              </a:spcBef>
              <a:buClrTx/>
              <a:buSzTx/>
              <a:buFontTx/>
              <a:buNone/>
            </a:pPr>
            <a:r>
              <a:rPr lang="en-US" altLang="zh-CN" sz="2000" dirty="0"/>
              <a:t>15</a:t>
            </a:r>
          </a:p>
        </p:txBody>
      </p:sp>
      <p:sp>
        <p:nvSpPr>
          <p:cNvPr id="111" name="Rectangle 72"/>
          <p:cNvSpPr>
            <a:spLocks noChangeArrowheads="1"/>
          </p:cNvSpPr>
          <p:nvPr/>
        </p:nvSpPr>
        <p:spPr bwMode="auto">
          <a:xfrm>
            <a:off x="4423105" y="442810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12</a:t>
            </a:r>
          </a:p>
        </p:txBody>
      </p:sp>
      <p:sp>
        <p:nvSpPr>
          <p:cNvPr id="112" name="Rectangle 73"/>
          <p:cNvSpPr>
            <a:spLocks noChangeArrowheads="1"/>
          </p:cNvSpPr>
          <p:nvPr/>
        </p:nvSpPr>
        <p:spPr bwMode="auto">
          <a:xfrm>
            <a:off x="5278768" y="4437112"/>
            <a:ext cx="855663"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3</a:t>
            </a:r>
          </a:p>
        </p:txBody>
      </p:sp>
      <p:sp>
        <p:nvSpPr>
          <p:cNvPr id="113" name="Rectangle 74"/>
          <p:cNvSpPr>
            <a:spLocks noChangeArrowheads="1"/>
          </p:cNvSpPr>
          <p:nvPr/>
        </p:nvSpPr>
        <p:spPr bwMode="auto">
          <a:xfrm>
            <a:off x="6132987" y="4424883"/>
            <a:ext cx="855662"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4</a:t>
            </a:r>
          </a:p>
        </p:txBody>
      </p:sp>
      <p:grpSp>
        <p:nvGrpSpPr>
          <p:cNvPr id="114" name="Group 69"/>
          <p:cNvGrpSpPr>
            <a:grpSpLocks/>
          </p:cNvGrpSpPr>
          <p:nvPr/>
        </p:nvGrpSpPr>
        <p:grpSpPr bwMode="auto">
          <a:xfrm>
            <a:off x="7060341" y="2815211"/>
            <a:ext cx="1066800" cy="1066800"/>
            <a:chOff x="4896" y="1872"/>
            <a:chExt cx="672" cy="672"/>
          </a:xfrm>
        </p:grpSpPr>
        <p:sp>
          <p:nvSpPr>
            <p:cNvPr id="115" name="Oval 70"/>
            <p:cNvSpPr>
              <a:spLocks noChangeArrowheads="1"/>
            </p:cNvSpPr>
            <p:nvPr/>
          </p:nvSpPr>
          <p:spPr bwMode="auto">
            <a:xfrm>
              <a:off x="4896"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7</a:t>
              </a:r>
            </a:p>
          </p:txBody>
        </p:sp>
        <p:sp>
          <p:nvSpPr>
            <p:cNvPr id="116" name="Oval 71"/>
            <p:cNvSpPr>
              <a:spLocks noChangeArrowheads="1"/>
            </p:cNvSpPr>
            <p:nvPr/>
          </p:nvSpPr>
          <p:spPr bwMode="auto">
            <a:xfrm>
              <a:off x="532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1</a:t>
              </a:r>
            </a:p>
          </p:txBody>
        </p:sp>
        <p:sp>
          <p:nvSpPr>
            <p:cNvPr id="117" name="Oval 72"/>
            <p:cNvSpPr>
              <a:spLocks noChangeArrowheads="1"/>
            </p:cNvSpPr>
            <p:nvPr/>
          </p:nvSpPr>
          <p:spPr bwMode="auto">
            <a:xfrm>
              <a:off x="5136"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9</a:t>
              </a:r>
            </a:p>
          </p:txBody>
        </p:sp>
        <p:sp>
          <p:nvSpPr>
            <p:cNvPr id="118" name="Line 73"/>
            <p:cNvSpPr>
              <a:spLocks noChangeShapeType="1"/>
            </p:cNvSpPr>
            <p:nvPr/>
          </p:nvSpPr>
          <p:spPr bwMode="auto">
            <a:xfrm flipH="1">
              <a:off x="5040"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9" name="Line 74"/>
            <p:cNvSpPr>
              <a:spLocks noChangeShapeType="1"/>
            </p:cNvSpPr>
            <p:nvPr/>
          </p:nvSpPr>
          <p:spPr bwMode="auto">
            <a:xfrm>
              <a:off x="5328"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0" name="Group 86"/>
          <p:cNvGrpSpPr>
            <a:grpSpLocks/>
          </p:cNvGrpSpPr>
          <p:nvPr/>
        </p:nvGrpSpPr>
        <p:grpSpPr bwMode="auto">
          <a:xfrm>
            <a:off x="9434146" y="2810508"/>
            <a:ext cx="1066800" cy="1066800"/>
            <a:chOff x="3648" y="1872"/>
            <a:chExt cx="672" cy="672"/>
          </a:xfrm>
        </p:grpSpPr>
        <p:sp>
          <p:nvSpPr>
            <p:cNvPr id="121" name="Oval 87"/>
            <p:cNvSpPr>
              <a:spLocks noChangeArrowheads="1"/>
            </p:cNvSpPr>
            <p:nvPr/>
          </p:nvSpPr>
          <p:spPr bwMode="auto">
            <a:xfrm>
              <a:off x="3648"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3</a:t>
              </a:r>
            </a:p>
          </p:txBody>
        </p:sp>
        <p:sp>
          <p:nvSpPr>
            <p:cNvPr id="122" name="Oval 88"/>
            <p:cNvSpPr>
              <a:spLocks noChangeArrowheads="1"/>
            </p:cNvSpPr>
            <p:nvPr/>
          </p:nvSpPr>
          <p:spPr bwMode="auto">
            <a:xfrm>
              <a:off x="4080" y="230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4</a:t>
              </a:r>
            </a:p>
          </p:txBody>
        </p:sp>
        <p:sp>
          <p:nvSpPr>
            <p:cNvPr id="123" name="Oval 89"/>
            <p:cNvSpPr>
              <a:spLocks noChangeArrowheads="1"/>
            </p:cNvSpPr>
            <p:nvPr/>
          </p:nvSpPr>
          <p:spPr bwMode="auto">
            <a:xfrm>
              <a:off x="3840"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10</a:t>
              </a:r>
            </a:p>
          </p:txBody>
        </p:sp>
        <p:sp>
          <p:nvSpPr>
            <p:cNvPr id="124" name="Line 90"/>
            <p:cNvSpPr>
              <a:spLocks noChangeShapeType="1"/>
            </p:cNvSpPr>
            <p:nvPr/>
          </p:nvSpPr>
          <p:spPr bwMode="auto">
            <a:xfrm flipH="1">
              <a:off x="3792" y="2112"/>
              <a:ext cx="96"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5" name="Line 91"/>
            <p:cNvSpPr>
              <a:spLocks noChangeShapeType="1"/>
            </p:cNvSpPr>
            <p:nvPr/>
          </p:nvSpPr>
          <p:spPr bwMode="auto">
            <a:xfrm>
              <a:off x="4032" y="2112"/>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26" name="Rectangle 71"/>
          <p:cNvSpPr>
            <a:spLocks noChangeArrowheads="1"/>
          </p:cNvSpPr>
          <p:nvPr/>
        </p:nvSpPr>
        <p:spPr bwMode="auto">
          <a:xfrm>
            <a:off x="3565855" y="4428103"/>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0.15 </a:t>
            </a:r>
          </a:p>
        </p:txBody>
      </p:sp>
      <p:grpSp>
        <p:nvGrpSpPr>
          <p:cNvPr id="127" name="Group 112"/>
          <p:cNvGrpSpPr>
            <a:grpSpLocks/>
          </p:cNvGrpSpPr>
          <p:nvPr/>
        </p:nvGrpSpPr>
        <p:grpSpPr bwMode="auto">
          <a:xfrm>
            <a:off x="7734300" y="2143649"/>
            <a:ext cx="990600" cy="1066800"/>
            <a:chOff x="3984" y="1440"/>
            <a:chExt cx="624" cy="672"/>
          </a:xfrm>
        </p:grpSpPr>
        <p:sp>
          <p:nvSpPr>
            <p:cNvPr id="128" name="Oval 113"/>
            <p:cNvSpPr>
              <a:spLocks noChangeArrowheads="1"/>
            </p:cNvSpPr>
            <p:nvPr/>
          </p:nvSpPr>
          <p:spPr bwMode="auto">
            <a:xfrm>
              <a:off x="4368" y="1872"/>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dirty="0"/>
                <a:t>8</a:t>
              </a:r>
            </a:p>
          </p:txBody>
        </p:sp>
        <p:sp>
          <p:nvSpPr>
            <p:cNvPr id="129" name="Oval 114"/>
            <p:cNvSpPr>
              <a:spLocks noChangeArrowheads="1"/>
            </p:cNvSpPr>
            <p:nvPr/>
          </p:nvSpPr>
          <p:spPr bwMode="auto">
            <a:xfrm>
              <a:off x="4032" y="144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11</a:t>
              </a:r>
            </a:p>
          </p:txBody>
        </p:sp>
        <p:sp>
          <p:nvSpPr>
            <p:cNvPr id="130" name="Line 115"/>
            <p:cNvSpPr>
              <a:spLocks noChangeShapeType="1"/>
            </p:cNvSpPr>
            <p:nvPr/>
          </p:nvSpPr>
          <p:spPr bwMode="auto">
            <a:xfrm>
              <a:off x="4224" y="1680"/>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1" name="Line 116"/>
            <p:cNvSpPr>
              <a:spLocks noChangeShapeType="1"/>
            </p:cNvSpPr>
            <p:nvPr/>
          </p:nvSpPr>
          <p:spPr bwMode="auto">
            <a:xfrm flipH="1">
              <a:off x="3984" y="1680"/>
              <a:ext cx="144"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2" name="Rectangle 71"/>
          <p:cNvSpPr>
            <a:spLocks noChangeArrowheads="1"/>
          </p:cNvSpPr>
          <p:nvPr/>
        </p:nvSpPr>
        <p:spPr bwMode="auto">
          <a:xfrm>
            <a:off x="3565855" y="4732585"/>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0.19 </a:t>
            </a:r>
          </a:p>
        </p:txBody>
      </p:sp>
      <p:sp>
        <p:nvSpPr>
          <p:cNvPr id="133" name="Rectangle 71"/>
          <p:cNvSpPr>
            <a:spLocks noChangeArrowheads="1"/>
          </p:cNvSpPr>
          <p:nvPr/>
        </p:nvSpPr>
        <p:spPr bwMode="auto">
          <a:xfrm>
            <a:off x="3565855" y="5034527"/>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pPr>
            <a:r>
              <a:rPr lang="en-US" altLang="zh-CN" sz="2000" dirty="0">
                <a:solidFill>
                  <a:srgbClr val="FFC000"/>
                </a:solidFill>
              </a:rPr>
              <a:t>0.29 </a:t>
            </a:r>
          </a:p>
        </p:txBody>
      </p:sp>
      <p:sp>
        <p:nvSpPr>
          <p:cNvPr id="134" name="Oval 98"/>
          <p:cNvSpPr>
            <a:spLocks noChangeArrowheads="1"/>
          </p:cNvSpPr>
          <p:nvPr/>
        </p:nvSpPr>
        <p:spPr bwMode="auto">
          <a:xfrm>
            <a:off x="9091246" y="28294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5</a:t>
            </a:r>
          </a:p>
        </p:txBody>
      </p:sp>
      <p:sp>
        <p:nvSpPr>
          <p:cNvPr id="135" name="Oval 99"/>
          <p:cNvSpPr>
            <a:spLocks noChangeArrowheads="1"/>
          </p:cNvSpPr>
          <p:nvPr/>
        </p:nvSpPr>
        <p:spPr bwMode="auto">
          <a:xfrm>
            <a:off x="9472246" y="2143649"/>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dirty="0"/>
              <a:t>12</a:t>
            </a:r>
          </a:p>
        </p:txBody>
      </p:sp>
      <p:sp>
        <p:nvSpPr>
          <p:cNvPr id="136" name="Line 100"/>
          <p:cNvSpPr>
            <a:spLocks noChangeShapeType="1"/>
          </p:cNvSpPr>
          <p:nvPr/>
        </p:nvSpPr>
        <p:spPr bwMode="auto">
          <a:xfrm flipH="1">
            <a:off x="9243646" y="2524649"/>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7" name="Line 101"/>
          <p:cNvSpPr>
            <a:spLocks noChangeShapeType="1"/>
          </p:cNvSpPr>
          <p:nvPr/>
        </p:nvSpPr>
        <p:spPr bwMode="auto">
          <a:xfrm>
            <a:off x="9671538" y="2527924"/>
            <a:ext cx="3810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8" name="Rectangle 71"/>
          <p:cNvSpPr>
            <a:spLocks noChangeArrowheads="1"/>
          </p:cNvSpPr>
          <p:nvPr/>
        </p:nvSpPr>
        <p:spPr bwMode="auto">
          <a:xfrm>
            <a:off x="3577760" y="5346748"/>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a:t> </a:t>
            </a:r>
          </a:p>
        </p:txBody>
      </p:sp>
      <p:sp>
        <p:nvSpPr>
          <p:cNvPr id="139" name="Rectangle 71"/>
          <p:cNvSpPr>
            <a:spLocks noChangeArrowheads="1"/>
          </p:cNvSpPr>
          <p:nvPr/>
        </p:nvSpPr>
        <p:spPr bwMode="auto">
          <a:xfrm>
            <a:off x="3577760" y="5337739"/>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0.42 </a:t>
            </a:r>
          </a:p>
        </p:txBody>
      </p:sp>
      <p:sp>
        <p:nvSpPr>
          <p:cNvPr id="140" name="Oval 96"/>
          <p:cNvSpPr>
            <a:spLocks noChangeArrowheads="1"/>
          </p:cNvSpPr>
          <p:nvPr/>
        </p:nvSpPr>
        <p:spPr bwMode="auto">
          <a:xfrm>
            <a:off x="8572500" y="21591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6</a:t>
            </a:r>
          </a:p>
        </p:txBody>
      </p:sp>
      <p:sp>
        <p:nvSpPr>
          <p:cNvPr id="141" name="Line 97"/>
          <p:cNvSpPr>
            <a:spLocks noChangeShapeType="1"/>
          </p:cNvSpPr>
          <p:nvPr/>
        </p:nvSpPr>
        <p:spPr bwMode="auto">
          <a:xfrm flipH="1">
            <a:off x="79629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2" name="Line 98"/>
          <p:cNvSpPr>
            <a:spLocks noChangeShapeType="1"/>
          </p:cNvSpPr>
          <p:nvPr/>
        </p:nvSpPr>
        <p:spPr bwMode="auto">
          <a:xfrm>
            <a:off x="8496300"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3" name="Oval 99"/>
          <p:cNvSpPr>
            <a:spLocks noChangeArrowheads="1"/>
          </p:cNvSpPr>
          <p:nvPr/>
        </p:nvSpPr>
        <p:spPr bwMode="auto">
          <a:xfrm>
            <a:off x="8191500"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13</a:t>
            </a:r>
          </a:p>
        </p:txBody>
      </p:sp>
      <p:sp>
        <p:nvSpPr>
          <p:cNvPr id="144" name="Rectangle 71"/>
          <p:cNvSpPr>
            <a:spLocks noChangeArrowheads="1"/>
          </p:cNvSpPr>
          <p:nvPr/>
        </p:nvSpPr>
        <p:spPr bwMode="auto">
          <a:xfrm>
            <a:off x="3565855" y="5649960"/>
            <a:ext cx="857250" cy="3032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solidFill>
                  <a:srgbClr val="FF0000"/>
                </a:solidFill>
              </a:rPr>
              <a:t>0.58</a:t>
            </a:r>
            <a:r>
              <a:rPr lang="en-US" altLang="zh-CN" sz="2000" dirty="0"/>
              <a:t> </a:t>
            </a:r>
          </a:p>
        </p:txBody>
      </p:sp>
      <p:sp>
        <p:nvSpPr>
          <p:cNvPr id="145" name="Line 139"/>
          <p:cNvSpPr>
            <a:spLocks noChangeShapeType="1"/>
          </p:cNvSpPr>
          <p:nvPr/>
        </p:nvSpPr>
        <p:spPr bwMode="auto">
          <a:xfrm flipH="1">
            <a:off x="95484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6" name="Line 140"/>
          <p:cNvSpPr>
            <a:spLocks noChangeShapeType="1"/>
          </p:cNvSpPr>
          <p:nvPr/>
        </p:nvSpPr>
        <p:spPr bwMode="auto">
          <a:xfrm>
            <a:off x="10081846" y="1854328"/>
            <a:ext cx="3048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47" name="Oval 141"/>
          <p:cNvSpPr>
            <a:spLocks noChangeArrowheads="1"/>
          </p:cNvSpPr>
          <p:nvPr/>
        </p:nvSpPr>
        <p:spPr bwMode="auto">
          <a:xfrm>
            <a:off x="9777046" y="1473328"/>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14</a:t>
            </a:r>
          </a:p>
        </p:txBody>
      </p:sp>
      <p:sp>
        <p:nvSpPr>
          <p:cNvPr id="148" name="Oval 138"/>
          <p:cNvSpPr>
            <a:spLocks noChangeArrowheads="1"/>
          </p:cNvSpPr>
          <p:nvPr/>
        </p:nvSpPr>
        <p:spPr bwMode="auto">
          <a:xfrm>
            <a:off x="10200456" y="218413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2</a:t>
            </a:r>
          </a:p>
        </p:txBody>
      </p:sp>
      <p:sp>
        <p:nvSpPr>
          <p:cNvPr id="149" name="Rectangle 71"/>
          <p:cNvSpPr>
            <a:spLocks noChangeArrowheads="1"/>
          </p:cNvSpPr>
          <p:nvPr/>
        </p:nvSpPr>
        <p:spPr bwMode="auto">
          <a:xfrm>
            <a:off x="3565855" y="5953952"/>
            <a:ext cx="857250"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1.00</a:t>
            </a:r>
          </a:p>
        </p:txBody>
      </p:sp>
      <p:sp>
        <p:nvSpPr>
          <p:cNvPr id="150" name="Rectangle 72"/>
          <p:cNvSpPr>
            <a:spLocks noChangeArrowheads="1"/>
          </p:cNvSpPr>
          <p:nvPr/>
        </p:nvSpPr>
        <p:spPr bwMode="auto">
          <a:xfrm>
            <a:off x="4435010" y="5953951"/>
            <a:ext cx="855662" cy="35537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51" name="Rectangle 73"/>
          <p:cNvSpPr>
            <a:spLocks noChangeArrowheads="1"/>
          </p:cNvSpPr>
          <p:nvPr/>
        </p:nvSpPr>
        <p:spPr bwMode="auto">
          <a:xfrm>
            <a:off x="5285110" y="5953173"/>
            <a:ext cx="855663" cy="3561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13</a:t>
            </a:r>
          </a:p>
        </p:txBody>
      </p:sp>
      <p:sp>
        <p:nvSpPr>
          <p:cNvPr id="152" name="Rectangle 74"/>
          <p:cNvSpPr>
            <a:spLocks noChangeArrowheads="1"/>
          </p:cNvSpPr>
          <p:nvPr/>
        </p:nvSpPr>
        <p:spPr bwMode="auto">
          <a:xfrm>
            <a:off x="6140772" y="5953952"/>
            <a:ext cx="855662" cy="3553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14</a:t>
            </a:r>
          </a:p>
        </p:txBody>
      </p:sp>
      <p:sp>
        <p:nvSpPr>
          <p:cNvPr id="153" name="Line 125"/>
          <p:cNvSpPr>
            <a:spLocks noChangeShapeType="1"/>
          </p:cNvSpPr>
          <p:nvPr/>
        </p:nvSpPr>
        <p:spPr bwMode="auto">
          <a:xfrm flipV="1">
            <a:off x="8496301" y="1294455"/>
            <a:ext cx="457199" cy="180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126"/>
          <p:cNvSpPr>
            <a:spLocks noChangeShapeType="1"/>
          </p:cNvSpPr>
          <p:nvPr/>
        </p:nvSpPr>
        <p:spPr bwMode="auto">
          <a:xfrm flipH="1" flipV="1">
            <a:off x="9334499" y="1315244"/>
            <a:ext cx="527536" cy="1904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Oval 127"/>
          <p:cNvSpPr>
            <a:spLocks noChangeArrowheads="1"/>
          </p:cNvSpPr>
          <p:nvPr/>
        </p:nvSpPr>
        <p:spPr bwMode="auto">
          <a:xfrm>
            <a:off x="8953500" y="1124744"/>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000"/>
              <a:t>15</a:t>
            </a:r>
          </a:p>
        </p:txBody>
      </p:sp>
      <p:sp>
        <p:nvSpPr>
          <p:cNvPr id="158" name="矩形 157"/>
          <p:cNvSpPr/>
          <p:nvPr/>
        </p:nvSpPr>
        <p:spPr>
          <a:xfrm>
            <a:off x="1551929" y="5971029"/>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0" name="直接箭头连接符 159"/>
          <p:cNvCxnSpPr/>
          <p:nvPr/>
        </p:nvCxnSpPr>
        <p:spPr>
          <a:xfrm>
            <a:off x="7684630" y="1265246"/>
            <a:ext cx="187687"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1" name="矩形 160"/>
          <p:cNvSpPr/>
          <p:nvPr/>
        </p:nvSpPr>
        <p:spPr>
          <a:xfrm>
            <a:off x="7470531" y="1070008"/>
            <a:ext cx="258404" cy="369332"/>
          </a:xfrm>
          <a:prstGeom prst="rect">
            <a:avLst/>
          </a:prstGeom>
        </p:spPr>
        <p:txBody>
          <a:bodyPr wrap="none">
            <a:spAutoFit/>
          </a:bodyPr>
          <a:lstStyle/>
          <a:p>
            <a:r>
              <a:rPr lang="en-US" altLang="zh-CN" b="1" dirty="0"/>
              <a:t>f</a:t>
            </a:r>
            <a:endParaRPr lang="zh-CN" altLang="en-US" b="1" dirty="0"/>
          </a:p>
        </p:txBody>
      </p:sp>
      <p:sp>
        <p:nvSpPr>
          <p:cNvPr id="162" name="矩形 161"/>
          <p:cNvSpPr/>
          <p:nvPr/>
        </p:nvSpPr>
        <p:spPr>
          <a:xfrm>
            <a:off x="9590883" y="1014536"/>
            <a:ext cx="287258" cy="369332"/>
          </a:xfrm>
          <a:prstGeom prst="rect">
            <a:avLst/>
          </a:prstGeom>
        </p:spPr>
        <p:txBody>
          <a:bodyPr wrap="none">
            <a:spAutoFit/>
          </a:bodyPr>
          <a:lstStyle/>
          <a:p>
            <a:r>
              <a:rPr lang="en-US" altLang="zh-CN" b="1" dirty="0">
                <a:latin typeface="Times New Roman" pitchFamily="18" charset="0"/>
              </a:rPr>
              <a:t>c</a:t>
            </a:r>
            <a:endParaRPr lang="zh-CN" altLang="en-US" dirty="0"/>
          </a:p>
        </p:txBody>
      </p:sp>
      <p:cxnSp>
        <p:nvCxnSpPr>
          <p:cNvPr id="163" name="直接箭头连接符 162"/>
          <p:cNvCxnSpPr/>
          <p:nvPr/>
        </p:nvCxnSpPr>
        <p:spPr>
          <a:xfrm flipH="1">
            <a:off x="9306717" y="1235421"/>
            <a:ext cx="25485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5" name="矩形 164"/>
          <p:cNvSpPr/>
          <p:nvPr/>
        </p:nvSpPr>
        <p:spPr>
          <a:xfrm>
            <a:off x="1557938" y="6340985"/>
            <a:ext cx="258404" cy="369332"/>
          </a:xfrm>
          <a:prstGeom prst="rect">
            <a:avLst/>
          </a:prstGeom>
        </p:spPr>
        <p:txBody>
          <a:bodyPr wrap="none">
            <a:spAutoFit/>
          </a:bodyPr>
          <a:lstStyle/>
          <a:p>
            <a:r>
              <a:rPr lang="en-US" altLang="zh-CN" b="1" dirty="0"/>
              <a:t>f</a:t>
            </a:r>
            <a:endParaRPr lang="zh-CN" altLang="en-US" b="1" dirty="0"/>
          </a:p>
        </p:txBody>
      </p:sp>
      <p:cxnSp>
        <p:nvCxnSpPr>
          <p:cNvPr id="166" name="直接箭头连接符 165"/>
          <p:cNvCxnSpPr>
            <a:stCxn id="158" idx="3"/>
          </p:cNvCxnSpPr>
          <p:nvPr/>
        </p:nvCxnSpPr>
        <p:spPr>
          <a:xfrm>
            <a:off x="1839188" y="6155696"/>
            <a:ext cx="400977" cy="46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p:nvPr/>
        </p:nvCxnSpPr>
        <p:spPr>
          <a:xfrm>
            <a:off x="1890744" y="6555720"/>
            <a:ext cx="400977" cy="466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9" name="Rectangle 72"/>
          <p:cNvSpPr>
            <a:spLocks noChangeArrowheads="1"/>
          </p:cNvSpPr>
          <p:nvPr/>
        </p:nvSpPr>
        <p:spPr bwMode="auto">
          <a:xfrm>
            <a:off x="2192101" y="6382703"/>
            <a:ext cx="427831" cy="355370"/>
          </a:xfrm>
          <a:prstGeom prst="rect">
            <a:avLst/>
          </a:prstGeom>
          <a:noFill/>
          <a:ln w="9525">
            <a:no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64" name="Rectangle 72"/>
          <p:cNvSpPr>
            <a:spLocks noChangeArrowheads="1"/>
          </p:cNvSpPr>
          <p:nvPr/>
        </p:nvSpPr>
        <p:spPr bwMode="auto">
          <a:xfrm>
            <a:off x="7843148" y="1070008"/>
            <a:ext cx="427831" cy="355370"/>
          </a:xfrm>
          <a:prstGeom prst="rect">
            <a:avLst/>
          </a:prstGeom>
          <a:noFill/>
          <a:ln w="9525">
            <a:noFill/>
            <a:miter lim="800000"/>
            <a:headEnd/>
            <a:tailEnd/>
          </a:ln>
          <a:extLst>
            <a:ext uri="{909E8E84-426E-40DD-AFC4-6F175D3DCCD1}">
              <a14:hiddenFill xmlns:a14="http://schemas.microsoft.com/office/drawing/2010/main">
                <a:solidFill>
                  <a:srgbClr val="EAEAEA"/>
                </a:solidFill>
              </a14:hiddenFill>
            </a:ext>
          </a:extLst>
        </p:spPr>
        <p:txBody>
          <a:bodyPr wrap="none" anchor="ctr"/>
          <a:lstStyle/>
          <a:p>
            <a:pPr algn="ctr">
              <a:spcBef>
                <a:spcPct val="0"/>
              </a:spcBef>
              <a:buClrTx/>
              <a:buSzTx/>
              <a:buFontTx/>
              <a:buNone/>
            </a:pPr>
            <a:r>
              <a:rPr lang="en-US" altLang="zh-CN" sz="2000" dirty="0"/>
              <a:t>0</a:t>
            </a:r>
          </a:p>
        </p:txBody>
      </p:sp>
      <p:sp>
        <p:nvSpPr>
          <p:cNvPr id="167" name="矩形 166"/>
          <p:cNvSpPr/>
          <p:nvPr/>
        </p:nvSpPr>
        <p:spPr>
          <a:xfrm>
            <a:off x="7148146" y="4005064"/>
            <a:ext cx="2400300"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i,f</a:t>
            </a:r>
            <a:r>
              <a:rPr lang="en-US" altLang="zh-CN" sz="2000" b="1" dirty="0">
                <a:latin typeface="Times New Roman" pitchFamily="18" charset="0"/>
              </a:rPr>
              <a:t>=HT[i].parent;</a:t>
            </a:r>
          </a:p>
        </p:txBody>
      </p:sp>
      <p:sp>
        <p:nvSpPr>
          <p:cNvPr id="173" name="矩形 172"/>
          <p:cNvSpPr/>
          <p:nvPr/>
        </p:nvSpPr>
        <p:spPr>
          <a:xfrm>
            <a:off x="7130680" y="4293096"/>
            <a:ext cx="1670421" cy="338554"/>
          </a:xfrm>
          <a:prstGeom prst="rect">
            <a:avLst/>
          </a:prstGeom>
        </p:spPr>
        <p:txBody>
          <a:bodyPr wrap="square">
            <a:spAutoFit/>
          </a:bodyPr>
          <a:lstStyle/>
          <a:p>
            <a:pPr>
              <a:lnSpc>
                <a:spcPct val="80000"/>
              </a:lnSpc>
            </a:pPr>
            <a:r>
              <a:rPr lang="en-US" altLang="zh-CN" sz="2000" b="1" dirty="0">
                <a:latin typeface="Times New Roman" pitchFamily="18" charset="0"/>
              </a:rPr>
              <a:t>while(f!=0)</a:t>
            </a:r>
          </a:p>
        </p:txBody>
      </p:sp>
      <p:sp>
        <p:nvSpPr>
          <p:cNvPr id="174" name="矩形 173"/>
          <p:cNvSpPr/>
          <p:nvPr/>
        </p:nvSpPr>
        <p:spPr>
          <a:xfrm>
            <a:off x="7207613" y="5633717"/>
            <a:ext cx="2442795" cy="338554"/>
          </a:xfrm>
          <a:prstGeom prst="rect">
            <a:avLst/>
          </a:prstGeom>
        </p:spPr>
        <p:txBody>
          <a:bodyPr wrap="square">
            <a:spAutoFit/>
          </a:bodyPr>
          <a:lstStyle/>
          <a:p>
            <a:pPr>
              <a:lnSpc>
                <a:spcPct val="80000"/>
              </a:lnSpc>
              <a:buFont typeface="Wingdings" pitchFamily="2" charset="2"/>
              <a:buNone/>
            </a:pPr>
            <a:r>
              <a:rPr lang="en-US" altLang="zh-CN" sz="2000" b="1" dirty="0">
                <a:latin typeface="Times New Roman" pitchFamily="18" charset="0"/>
              </a:rPr>
              <a:t>c=</a:t>
            </a:r>
            <a:r>
              <a:rPr lang="en-US" altLang="zh-CN" sz="2000" b="1" dirty="0" err="1">
                <a:latin typeface="Times New Roman" pitchFamily="18" charset="0"/>
              </a:rPr>
              <a:t>f,f</a:t>
            </a:r>
            <a:r>
              <a:rPr lang="en-US" altLang="zh-CN" sz="2000" b="1" dirty="0">
                <a:latin typeface="Times New Roman" pitchFamily="18" charset="0"/>
              </a:rPr>
              <a:t>=HT[f].parent</a:t>
            </a:r>
            <a:r>
              <a:rPr lang="zh-CN" altLang="en-US" sz="2000" b="1" dirty="0">
                <a:latin typeface="Times New Roman" pitchFamily="18" charset="0"/>
              </a:rPr>
              <a:t>；</a:t>
            </a:r>
            <a:endParaRPr lang="en-US" altLang="zh-CN" sz="2000" b="1" dirty="0">
              <a:latin typeface="Times New Roman" pitchFamily="18" charset="0"/>
            </a:endParaRPr>
          </a:p>
        </p:txBody>
      </p:sp>
      <p:sp>
        <p:nvSpPr>
          <p:cNvPr id="175" name="矩形 174"/>
          <p:cNvSpPr/>
          <p:nvPr/>
        </p:nvSpPr>
        <p:spPr>
          <a:xfrm>
            <a:off x="7136541" y="4631651"/>
            <a:ext cx="2667000" cy="978729"/>
          </a:xfrm>
          <a:prstGeom prst="rect">
            <a:avLst/>
          </a:prstGeom>
        </p:spPr>
        <p:txBody>
          <a:bodyPr wrap="square">
            <a:spAutoFit/>
          </a:bodyPr>
          <a:lstStyle/>
          <a:p>
            <a:pPr>
              <a:lnSpc>
                <a:spcPct val="80000"/>
              </a:lnSpc>
              <a:buFont typeface="Wingdings" pitchFamily="2" charset="2"/>
              <a:buNone/>
            </a:pPr>
            <a:r>
              <a:rPr lang="en-US" altLang="zh-CN" b="1" dirty="0">
                <a:latin typeface="Times New Roman" pitchFamily="18" charset="0"/>
              </a:rPr>
              <a:t>if (HT[f].</a:t>
            </a:r>
            <a:r>
              <a:rPr lang="en-US" altLang="zh-CN" b="1" dirty="0" err="1">
                <a:latin typeface="Times New Roman" pitchFamily="18" charset="0"/>
              </a:rPr>
              <a:t>lchild</a:t>
            </a:r>
            <a:r>
              <a:rPr lang="en-US" altLang="zh-CN" b="1" dirty="0">
                <a:latin typeface="Times New Roman" pitchFamily="18" charset="0"/>
              </a:rPr>
              <a:t> == c) </a:t>
            </a:r>
          </a:p>
          <a:p>
            <a:pPr>
              <a:lnSpc>
                <a:spcPct val="80000"/>
              </a:lnSpc>
              <a:buFont typeface="Wingdings" pitchFamily="2" charset="2"/>
              <a:buNone/>
            </a:pPr>
            <a:r>
              <a:rPr lang="en-US" altLang="zh-CN" b="1" dirty="0">
                <a:latin typeface="Times New Roman" pitchFamily="18" charset="0"/>
              </a:rPr>
              <a:t>         cd[--start]=‘0’;</a:t>
            </a:r>
          </a:p>
          <a:p>
            <a:pPr>
              <a:lnSpc>
                <a:spcPct val="80000"/>
              </a:lnSpc>
              <a:buFont typeface="Wingdings" pitchFamily="2" charset="2"/>
              <a:buNone/>
            </a:pPr>
            <a:r>
              <a:rPr lang="en-US" altLang="zh-CN" b="1" dirty="0">
                <a:latin typeface="Times New Roman" pitchFamily="18" charset="0"/>
              </a:rPr>
              <a:t> else </a:t>
            </a:r>
          </a:p>
          <a:p>
            <a:pPr>
              <a:lnSpc>
                <a:spcPct val="80000"/>
              </a:lnSpc>
              <a:buFont typeface="Wingdings" pitchFamily="2" charset="2"/>
              <a:buNone/>
            </a:pPr>
            <a:r>
              <a:rPr lang="en-US" altLang="zh-CN" b="1" dirty="0">
                <a:latin typeface="Times New Roman" pitchFamily="18" charset="0"/>
              </a:rPr>
              <a:t>         cd[--start]=‘1’;</a:t>
            </a:r>
          </a:p>
        </p:txBody>
      </p:sp>
      <p:cxnSp>
        <p:nvCxnSpPr>
          <p:cNvPr id="2" name="直接连接符 1">
            <a:extLst>
              <a:ext uri="{FF2B5EF4-FFF2-40B4-BE49-F238E27FC236}">
                <a16:creationId xmlns:a16="http://schemas.microsoft.com/office/drawing/2014/main" xmlns="" id="{E9DE8829-59FB-305A-6615-10833ACDCE27}"/>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4EB7FC77-27BB-F2C3-E894-E8B9ECB1E5C0}"/>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95821387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Group 41"/>
          <p:cNvGrpSpPr>
            <a:grpSpLocks/>
          </p:cNvGrpSpPr>
          <p:nvPr/>
        </p:nvGrpSpPr>
        <p:grpSpPr bwMode="auto">
          <a:xfrm>
            <a:off x="6384033" y="2917724"/>
            <a:ext cx="3903095" cy="3607620"/>
            <a:chOff x="3487" y="1854"/>
            <a:chExt cx="2160" cy="2256"/>
          </a:xfrm>
        </p:grpSpPr>
        <p:sp>
          <p:nvSpPr>
            <p:cNvPr id="81" name="Oval 4"/>
            <p:cNvSpPr>
              <a:spLocks noChangeArrowheads="1"/>
            </p:cNvSpPr>
            <p:nvPr/>
          </p:nvSpPr>
          <p:spPr bwMode="auto">
            <a:xfrm>
              <a:off x="3679" y="387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a</a:t>
              </a:r>
            </a:p>
          </p:txBody>
        </p:sp>
        <p:sp>
          <p:nvSpPr>
            <p:cNvPr id="82" name="Oval 5"/>
            <p:cNvSpPr>
              <a:spLocks noChangeArrowheads="1"/>
            </p:cNvSpPr>
            <p:nvPr/>
          </p:nvSpPr>
          <p:spPr bwMode="auto">
            <a:xfrm>
              <a:off x="4351" y="387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g</a:t>
              </a:r>
            </a:p>
          </p:txBody>
        </p:sp>
        <p:sp>
          <p:nvSpPr>
            <p:cNvPr id="83" name="Oval 6"/>
            <p:cNvSpPr>
              <a:spLocks noChangeArrowheads="1"/>
            </p:cNvSpPr>
            <p:nvPr/>
          </p:nvSpPr>
          <p:spPr bwMode="auto">
            <a:xfrm>
              <a:off x="4015" y="343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84" name="Line 7"/>
            <p:cNvSpPr>
              <a:spLocks noChangeShapeType="1"/>
            </p:cNvSpPr>
            <p:nvPr/>
          </p:nvSpPr>
          <p:spPr bwMode="auto">
            <a:xfrm flipH="1">
              <a:off x="3871" y="3678"/>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 name="Line 8"/>
            <p:cNvSpPr>
              <a:spLocks noChangeShapeType="1"/>
            </p:cNvSpPr>
            <p:nvPr/>
          </p:nvSpPr>
          <p:spPr bwMode="auto">
            <a:xfrm>
              <a:off x="4207" y="3678"/>
              <a:ext cx="24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 name="Oval 9"/>
            <p:cNvSpPr>
              <a:spLocks noChangeArrowheads="1"/>
            </p:cNvSpPr>
            <p:nvPr/>
          </p:nvSpPr>
          <p:spPr bwMode="auto">
            <a:xfrm>
              <a:off x="4735" y="387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c</a:t>
              </a:r>
            </a:p>
          </p:txBody>
        </p:sp>
        <p:sp>
          <p:nvSpPr>
            <p:cNvPr id="87" name="Oval 10"/>
            <p:cNvSpPr>
              <a:spLocks noChangeArrowheads="1"/>
            </p:cNvSpPr>
            <p:nvPr/>
          </p:nvSpPr>
          <p:spPr bwMode="auto">
            <a:xfrm>
              <a:off x="5407" y="387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d</a:t>
              </a:r>
            </a:p>
          </p:txBody>
        </p:sp>
        <p:sp>
          <p:nvSpPr>
            <p:cNvPr id="88" name="Oval 11"/>
            <p:cNvSpPr>
              <a:spLocks noChangeArrowheads="1"/>
            </p:cNvSpPr>
            <p:nvPr/>
          </p:nvSpPr>
          <p:spPr bwMode="auto">
            <a:xfrm>
              <a:off x="5071" y="343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89" name="Line 12"/>
            <p:cNvSpPr>
              <a:spLocks noChangeShapeType="1"/>
            </p:cNvSpPr>
            <p:nvPr/>
          </p:nvSpPr>
          <p:spPr bwMode="auto">
            <a:xfrm flipH="1">
              <a:off x="4927" y="3678"/>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0" name="Line 13"/>
            <p:cNvSpPr>
              <a:spLocks noChangeShapeType="1"/>
            </p:cNvSpPr>
            <p:nvPr/>
          </p:nvSpPr>
          <p:spPr bwMode="auto">
            <a:xfrm>
              <a:off x="5263" y="3678"/>
              <a:ext cx="24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 name="Oval 14"/>
            <p:cNvSpPr>
              <a:spLocks noChangeArrowheads="1"/>
            </p:cNvSpPr>
            <p:nvPr/>
          </p:nvSpPr>
          <p:spPr bwMode="auto">
            <a:xfrm>
              <a:off x="3487" y="343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h</a:t>
              </a:r>
            </a:p>
          </p:txBody>
        </p:sp>
        <p:sp>
          <p:nvSpPr>
            <p:cNvPr id="92" name="Oval 15"/>
            <p:cNvSpPr>
              <a:spLocks noChangeArrowheads="1"/>
            </p:cNvSpPr>
            <p:nvPr/>
          </p:nvSpPr>
          <p:spPr bwMode="auto">
            <a:xfrm>
              <a:off x="3727" y="3006"/>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93" name="Line 16"/>
            <p:cNvSpPr>
              <a:spLocks noChangeShapeType="1"/>
            </p:cNvSpPr>
            <p:nvPr/>
          </p:nvSpPr>
          <p:spPr bwMode="auto">
            <a:xfrm flipH="1">
              <a:off x="3583" y="3246"/>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4" name="Line 17"/>
            <p:cNvSpPr>
              <a:spLocks noChangeShapeType="1"/>
            </p:cNvSpPr>
            <p:nvPr/>
          </p:nvSpPr>
          <p:spPr bwMode="auto">
            <a:xfrm>
              <a:off x="3919" y="3246"/>
              <a:ext cx="24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5" name="Oval 18"/>
            <p:cNvSpPr>
              <a:spLocks noChangeArrowheads="1"/>
            </p:cNvSpPr>
            <p:nvPr/>
          </p:nvSpPr>
          <p:spPr bwMode="auto">
            <a:xfrm>
              <a:off x="4543" y="343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e</a:t>
              </a:r>
            </a:p>
          </p:txBody>
        </p:sp>
        <p:sp>
          <p:nvSpPr>
            <p:cNvPr id="96" name="Oval 19"/>
            <p:cNvSpPr>
              <a:spLocks noChangeArrowheads="1"/>
            </p:cNvSpPr>
            <p:nvPr/>
          </p:nvSpPr>
          <p:spPr bwMode="auto">
            <a:xfrm>
              <a:off x="4783" y="3006"/>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97" name="Line 20"/>
            <p:cNvSpPr>
              <a:spLocks noChangeShapeType="1"/>
            </p:cNvSpPr>
            <p:nvPr/>
          </p:nvSpPr>
          <p:spPr bwMode="auto">
            <a:xfrm flipH="1">
              <a:off x="4639" y="3246"/>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8" name="Line 21"/>
            <p:cNvSpPr>
              <a:spLocks noChangeShapeType="1"/>
            </p:cNvSpPr>
            <p:nvPr/>
          </p:nvSpPr>
          <p:spPr bwMode="auto">
            <a:xfrm>
              <a:off x="4975" y="3246"/>
              <a:ext cx="24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9" name="Oval 22"/>
            <p:cNvSpPr>
              <a:spLocks noChangeArrowheads="1"/>
            </p:cNvSpPr>
            <p:nvPr/>
          </p:nvSpPr>
          <p:spPr bwMode="auto">
            <a:xfrm>
              <a:off x="4207" y="3006"/>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f</a:t>
              </a:r>
            </a:p>
          </p:txBody>
        </p:sp>
        <p:sp>
          <p:nvSpPr>
            <p:cNvPr id="100" name="Line 23"/>
            <p:cNvSpPr>
              <a:spLocks noChangeShapeType="1"/>
            </p:cNvSpPr>
            <p:nvPr/>
          </p:nvSpPr>
          <p:spPr bwMode="auto">
            <a:xfrm flipH="1">
              <a:off x="3823" y="2814"/>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 name="Line 24"/>
            <p:cNvSpPr>
              <a:spLocks noChangeShapeType="1"/>
            </p:cNvSpPr>
            <p:nvPr/>
          </p:nvSpPr>
          <p:spPr bwMode="auto">
            <a:xfrm>
              <a:off x="4159" y="2814"/>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 name="Oval 25"/>
            <p:cNvSpPr>
              <a:spLocks noChangeArrowheads="1"/>
            </p:cNvSpPr>
            <p:nvPr/>
          </p:nvSpPr>
          <p:spPr bwMode="auto">
            <a:xfrm>
              <a:off x="3967" y="257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103" name="Oval 26"/>
            <p:cNvSpPr>
              <a:spLocks noChangeArrowheads="1"/>
            </p:cNvSpPr>
            <p:nvPr/>
          </p:nvSpPr>
          <p:spPr bwMode="auto">
            <a:xfrm>
              <a:off x="5311" y="3006"/>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b</a:t>
              </a:r>
            </a:p>
          </p:txBody>
        </p:sp>
        <p:sp>
          <p:nvSpPr>
            <p:cNvPr id="104" name="Line 27"/>
            <p:cNvSpPr>
              <a:spLocks noChangeShapeType="1"/>
            </p:cNvSpPr>
            <p:nvPr/>
          </p:nvSpPr>
          <p:spPr bwMode="auto">
            <a:xfrm flipH="1">
              <a:off x="4927" y="2814"/>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5" name="Line 28"/>
            <p:cNvSpPr>
              <a:spLocks noChangeShapeType="1"/>
            </p:cNvSpPr>
            <p:nvPr/>
          </p:nvSpPr>
          <p:spPr bwMode="auto">
            <a:xfrm>
              <a:off x="5263" y="2814"/>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 name="Oval 29"/>
            <p:cNvSpPr>
              <a:spLocks noChangeArrowheads="1"/>
            </p:cNvSpPr>
            <p:nvPr/>
          </p:nvSpPr>
          <p:spPr bwMode="auto">
            <a:xfrm>
              <a:off x="5071" y="257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107" name="Line 30"/>
            <p:cNvSpPr>
              <a:spLocks noChangeShapeType="1"/>
            </p:cNvSpPr>
            <p:nvPr/>
          </p:nvSpPr>
          <p:spPr bwMode="auto">
            <a:xfrm flipV="1">
              <a:off x="4111" y="2094"/>
              <a:ext cx="384"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31"/>
            <p:cNvSpPr>
              <a:spLocks noChangeShapeType="1"/>
            </p:cNvSpPr>
            <p:nvPr/>
          </p:nvSpPr>
          <p:spPr bwMode="auto">
            <a:xfrm flipH="1" flipV="1">
              <a:off x="4639" y="2094"/>
              <a:ext cx="52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Oval 32"/>
            <p:cNvSpPr>
              <a:spLocks noChangeArrowheads="1"/>
            </p:cNvSpPr>
            <p:nvPr/>
          </p:nvSpPr>
          <p:spPr bwMode="auto">
            <a:xfrm>
              <a:off x="4447" y="185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grpSp>
      <p:sp>
        <p:nvSpPr>
          <p:cNvPr id="35" name="Rectangle 3"/>
          <p:cNvSpPr txBox="1">
            <a:spLocks noChangeArrowheads="1"/>
          </p:cNvSpPr>
          <p:nvPr/>
        </p:nvSpPr>
        <p:spPr>
          <a:xfrm>
            <a:off x="1651592" y="1185693"/>
            <a:ext cx="5946736" cy="41115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Font typeface="Wingdings" pitchFamily="2" charset="2"/>
              <a:buNone/>
            </a:pPr>
            <a:r>
              <a:rPr lang="en-US" altLang="zh-CN" sz="2000" dirty="0">
                <a:latin typeface="Tahoma" pitchFamily="34" charset="0"/>
                <a:ea typeface="宋体" charset="-122"/>
              </a:rPr>
              <a:t>   </a:t>
            </a:r>
            <a:r>
              <a:rPr lang="en-US" altLang="zh-CN" sz="2000" dirty="0">
                <a:latin typeface="Times New Roman" pitchFamily="18" charset="0"/>
              </a:rPr>
              <a:t>//</a:t>
            </a:r>
            <a:r>
              <a:rPr lang="zh-CN" altLang="en-US" sz="2000" dirty="0">
                <a:latin typeface="Times New Roman" pitchFamily="18" charset="0"/>
              </a:rPr>
              <a:t>从叶子到根逆向求每个字符的赫夫曼编码</a:t>
            </a:r>
          </a:p>
          <a:p>
            <a:pPr>
              <a:lnSpc>
                <a:spcPct val="80000"/>
              </a:lnSpc>
              <a:buFont typeface="Wingdings" pitchFamily="2" charset="2"/>
              <a:buNone/>
            </a:pPr>
            <a:r>
              <a:rPr lang="zh-CN" altLang="en-US" sz="2000" dirty="0">
                <a:latin typeface="Times New Roman" pitchFamily="18" charset="0"/>
              </a:rPr>
              <a:t>   </a:t>
            </a:r>
            <a:r>
              <a:rPr lang="en-US" altLang="zh-CN" sz="2000" dirty="0">
                <a:latin typeface="Times New Roman" pitchFamily="18" charset="0"/>
              </a:rPr>
              <a:t>HC = new char*[n+1];</a:t>
            </a:r>
          </a:p>
          <a:p>
            <a:pPr>
              <a:lnSpc>
                <a:spcPct val="80000"/>
              </a:lnSpc>
              <a:buFont typeface="Wingdings" pitchFamily="2" charset="2"/>
              <a:buNone/>
            </a:pPr>
            <a:r>
              <a:rPr lang="en-US" altLang="zh-CN" sz="2000" dirty="0">
                <a:latin typeface="Times New Roman" pitchFamily="18" charset="0"/>
              </a:rPr>
              <a:t>   cd = new char [n];     cd[n-1] = ‘\0’;</a:t>
            </a:r>
          </a:p>
          <a:p>
            <a:pPr>
              <a:lnSpc>
                <a:spcPct val="80000"/>
              </a:lnSpc>
              <a:buFont typeface="Wingdings" pitchFamily="2" charset="2"/>
              <a:buNone/>
            </a:pPr>
            <a:r>
              <a:rPr lang="en-US" altLang="zh-CN" sz="2000" dirty="0">
                <a:latin typeface="Times New Roman" pitchFamily="18" charset="0"/>
              </a:rPr>
              <a:t>   for(i=1; i&lt;=n; i++)  {</a:t>
            </a:r>
          </a:p>
          <a:p>
            <a:pPr>
              <a:lnSpc>
                <a:spcPct val="80000"/>
              </a:lnSpc>
              <a:buFont typeface="Wingdings" pitchFamily="2" charset="2"/>
              <a:buNone/>
            </a:pPr>
            <a:r>
              <a:rPr lang="en-US" altLang="zh-CN" sz="2000" dirty="0">
                <a:latin typeface="Times New Roman" pitchFamily="18" charset="0"/>
              </a:rPr>
              <a:t>           start = n-1;</a:t>
            </a:r>
          </a:p>
          <a:p>
            <a:pPr>
              <a:lnSpc>
                <a:spcPct val="80000"/>
              </a:lnSpc>
              <a:buFont typeface="Wingdings" pitchFamily="2" charset="2"/>
              <a:buNone/>
            </a:pPr>
            <a:r>
              <a:rPr lang="en-US" altLang="zh-CN" sz="2000" dirty="0">
                <a:latin typeface="Times New Roman" pitchFamily="18" charset="0"/>
              </a:rPr>
              <a:t>           </a:t>
            </a:r>
            <a:r>
              <a:rPr lang="en-US" altLang="zh-CN" sz="2000" b="1" dirty="0">
                <a:latin typeface="Times New Roman" pitchFamily="18" charset="0"/>
              </a:rPr>
              <a:t>for(c=</a:t>
            </a:r>
            <a:r>
              <a:rPr lang="en-US" altLang="zh-CN" sz="2000" b="1" dirty="0" err="1">
                <a:latin typeface="Times New Roman" pitchFamily="18" charset="0"/>
              </a:rPr>
              <a:t>i,f</a:t>
            </a:r>
            <a:r>
              <a:rPr lang="en-US" altLang="zh-CN" sz="2000" b="1" dirty="0">
                <a:latin typeface="Times New Roman" pitchFamily="18" charset="0"/>
              </a:rPr>
              <a:t>=HT[i].</a:t>
            </a:r>
            <a:r>
              <a:rPr lang="en-US" altLang="zh-CN" sz="2000" b="1" dirty="0" err="1">
                <a:latin typeface="Times New Roman" pitchFamily="18" charset="0"/>
              </a:rPr>
              <a:t>parent;f</a:t>
            </a:r>
            <a:r>
              <a:rPr lang="en-US" altLang="zh-CN" sz="2000" b="1" dirty="0">
                <a:latin typeface="Times New Roman" pitchFamily="18" charset="0"/>
              </a:rPr>
              <a:t>!=0;c=</a:t>
            </a:r>
            <a:r>
              <a:rPr lang="en-US" altLang="zh-CN" sz="2000" b="1" dirty="0" err="1">
                <a:latin typeface="Times New Roman" pitchFamily="18" charset="0"/>
              </a:rPr>
              <a:t>f,f</a:t>
            </a:r>
            <a:r>
              <a:rPr lang="en-US" altLang="zh-CN" sz="2000" b="1" dirty="0">
                <a:latin typeface="Times New Roman" pitchFamily="18" charset="0"/>
              </a:rPr>
              <a:t>=HT[f].parent)</a:t>
            </a:r>
          </a:p>
          <a:p>
            <a:pPr>
              <a:lnSpc>
                <a:spcPct val="80000"/>
              </a:lnSpc>
              <a:buFont typeface="Wingdings" pitchFamily="2" charset="2"/>
              <a:buNone/>
            </a:pPr>
            <a:r>
              <a:rPr lang="en-US" altLang="zh-CN" sz="2000" dirty="0">
                <a:latin typeface="Times New Roman" pitchFamily="18" charset="0"/>
              </a:rPr>
              <a:t>                   if (HT[f].</a:t>
            </a:r>
            <a:r>
              <a:rPr lang="en-US" altLang="zh-CN" sz="2000" dirty="0" err="1">
                <a:latin typeface="Times New Roman" pitchFamily="18" charset="0"/>
              </a:rPr>
              <a:t>lchild</a:t>
            </a:r>
            <a:r>
              <a:rPr lang="en-US" altLang="zh-CN" sz="2000" dirty="0">
                <a:latin typeface="Times New Roman" pitchFamily="18" charset="0"/>
              </a:rPr>
              <a:t> == c) cd[--start]=‘0’;</a:t>
            </a:r>
          </a:p>
          <a:p>
            <a:pPr>
              <a:lnSpc>
                <a:spcPct val="80000"/>
              </a:lnSpc>
              <a:buFont typeface="Wingdings" pitchFamily="2" charset="2"/>
              <a:buNone/>
            </a:pPr>
            <a:r>
              <a:rPr lang="en-US" altLang="zh-CN" sz="2000" dirty="0">
                <a:latin typeface="Times New Roman" pitchFamily="18" charset="0"/>
              </a:rPr>
              <a:t>                   else cd[--start]=‘1’;</a:t>
            </a:r>
          </a:p>
          <a:p>
            <a:pPr>
              <a:lnSpc>
                <a:spcPct val="80000"/>
              </a:lnSpc>
              <a:buFont typeface="Wingdings" pitchFamily="2" charset="2"/>
              <a:buNone/>
            </a:pPr>
            <a:r>
              <a:rPr lang="en-US" altLang="zh-CN" sz="2000" dirty="0">
                <a:latin typeface="Times New Roman" pitchFamily="18" charset="0"/>
              </a:rPr>
              <a:t>           HC[i] = new char [n-start];</a:t>
            </a:r>
          </a:p>
          <a:p>
            <a:pPr>
              <a:lnSpc>
                <a:spcPct val="80000"/>
              </a:lnSpc>
              <a:buFont typeface="Wingdings" pitchFamily="2" charset="2"/>
              <a:buNone/>
            </a:pPr>
            <a:r>
              <a:rPr lang="en-US" altLang="zh-CN" sz="2000" dirty="0">
                <a:latin typeface="Times New Roman" pitchFamily="18" charset="0"/>
              </a:rPr>
              <a:t>           </a:t>
            </a:r>
            <a:r>
              <a:rPr lang="en-US" altLang="zh-CN" sz="2000" dirty="0" err="1">
                <a:latin typeface="Times New Roman" pitchFamily="18" charset="0"/>
              </a:rPr>
              <a:t>strcpy</a:t>
            </a:r>
            <a:r>
              <a:rPr lang="en-US" altLang="zh-CN" sz="2000" dirty="0">
                <a:latin typeface="Times New Roman" pitchFamily="18" charset="0"/>
              </a:rPr>
              <a:t>(HC[i],&amp;cd[start]);</a:t>
            </a:r>
          </a:p>
          <a:p>
            <a:pPr>
              <a:lnSpc>
                <a:spcPct val="80000"/>
              </a:lnSpc>
              <a:buFont typeface="Wingdings" pitchFamily="2" charset="2"/>
              <a:buNone/>
            </a:pPr>
            <a:r>
              <a:rPr lang="en-US" altLang="zh-CN" sz="2000" dirty="0">
                <a:latin typeface="Times New Roman" pitchFamily="18" charset="0"/>
              </a:rPr>
              <a:t>   }</a:t>
            </a:r>
          </a:p>
          <a:p>
            <a:pPr>
              <a:lnSpc>
                <a:spcPct val="80000"/>
              </a:lnSpc>
              <a:buFont typeface="Wingdings" pitchFamily="2" charset="2"/>
              <a:buNone/>
            </a:pPr>
            <a:r>
              <a:rPr lang="en-US" altLang="zh-CN" sz="2000" dirty="0">
                <a:latin typeface="Times New Roman" pitchFamily="18" charset="0"/>
              </a:rPr>
              <a:t>   delete cd[];</a:t>
            </a:r>
          </a:p>
          <a:p>
            <a:pPr>
              <a:lnSpc>
                <a:spcPct val="80000"/>
              </a:lnSpc>
              <a:buFont typeface="Wingdings" pitchFamily="2" charset="2"/>
              <a:buNone/>
            </a:pPr>
            <a:r>
              <a:rPr lang="en-US" altLang="zh-CN" sz="2000" dirty="0">
                <a:latin typeface="Times New Roman" pitchFamily="18" charset="0"/>
              </a:rPr>
              <a:t>}//</a:t>
            </a:r>
            <a:r>
              <a:rPr lang="en-US" altLang="zh-CN" sz="2000" dirty="0" err="1">
                <a:latin typeface="Times New Roman" pitchFamily="18" charset="0"/>
              </a:rPr>
              <a:t>HuffmanCoding</a:t>
            </a:r>
            <a:endParaRPr lang="en-US" altLang="zh-CN" sz="2000" dirty="0">
              <a:latin typeface="Times New Roman" pitchFamily="18" charset="0"/>
            </a:endParaRPr>
          </a:p>
        </p:txBody>
      </p:sp>
      <p:sp>
        <p:nvSpPr>
          <p:cNvPr id="36" name="Text Box 33"/>
          <p:cNvSpPr txBox="1">
            <a:spLocks noChangeArrowheads="1"/>
          </p:cNvSpPr>
          <p:nvPr/>
        </p:nvSpPr>
        <p:spPr bwMode="auto">
          <a:xfrm>
            <a:off x="7520902" y="329186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37" name="Text Box 33"/>
          <p:cNvSpPr txBox="1">
            <a:spLocks noChangeArrowheads="1"/>
          </p:cNvSpPr>
          <p:nvPr/>
        </p:nvSpPr>
        <p:spPr bwMode="auto">
          <a:xfrm>
            <a:off x="6783652" y="4224281"/>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38" name="Text Box 33"/>
          <p:cNvSpPr txBox="1">
            <a:spLocks noChangeArrowheads="1"/>
          </p:cNvSpPr>
          <p:nvPr/>
        </p:nvSpPr>
        <p:spPr bwMode="auto">
          <a:xfrm>
            <a:off x="6384032" y="491510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39" name="Text Box 33"/>
          <p:cNvSpPr txBox="1">
            <a:spLocks noChangeArrowheads="1"/>
          </p:cNvSpPr>
          <p:nvPr/>
        </p:nvSpPr>
        <p:spPr bwMode="auto">
          <a:xfrm>
            <a:off x="8865302" y="426098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40" name="Text Box 33"/>
          <p:cNvSpPr txBox="1">
            <a:spLocks noChangeArrowheads="1"/>
          </p:cNvSpPr>
          <p:nvPr/>
        </p:nvSpPr>
        <p:spPr bwMode="auto">
          <a:xfrm>
            <a:off x="8361918" y="491510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41" name="Text Box 33"/>
          <p:cNvSpPr txBox="1">
            <a:spLocks noChangeArrowheads="1"/>
          </p:cNvSpPr>
          <p:nvPr/>
        </p:nvSpPr>
        <p:spPr bwMode="auto">
          <a:xfrm>
            <a:off x="8825970" y="564262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42" name="Text Box 33"/>
          <p:cNvSpPr txBox="1">
            <a:spLocks noChangeArrowheads="1"/>
          </p:cNvSpPr>
          <p:nvPr/>
        </p:nvSpPr>
        <p:spPr bwMode="auto">
          <a:xfrm>
            <a:off x="6920049" y="5684354"/>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43" name="Text Box 34"/>
          <p:cNvSpPr txBox="1">
            <a:spLocks noChangeArrowheads="1"/>
          </p:cNvSpPr>
          <p:nvPr/>
        </p:nvSpPr>
        <p:spPr bwMode="auto">
          <a:xfrm>
            <a:off x="8969066" y="3220409"/>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4" name="Text Box 34"/>
          <p:cNvSpPr txBox="1">
            <a:spLocks noChangeArrowheads="1"/>
          </p:cNvSpPr>
          <p:nvPr/>
        </p:nvSpPr>
        <p:spPr bwMode="auto">
          <a:xfrm>
            <a:off x="9732656" y="4224281"/>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5" name="Text Box 34"/>
          <p:cNvSpPr txBox="1">
            <a:spLocks noChangeArrowheads="1"/>
          </p:cNvSpPr>
          <p:nvPr/>
        </p:nvSpPr>
        <p:spPr bwMode="auto">
          <a:xfrm>
            <a:off x="9246302" y="491510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6" name="Text Box 34"/>
          <p:cNvSpPr txBox="1">
            <a:spLocks noChangeArrowheads="1"/>
          </p:cNvSpPr>
          <p:nvPr/>
        </p:nvSpPr>
        <p:spPr bwMode="auto">
          <a:xfrm>
            <a:off x="9768182" y="553083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7" name="Text Box 34"/>
          <p:cNvSpPr txBox="1">
            <a:spLocks noChangeArrowheads="1"/>
          </p:cNvSpPr>
          <p:nvPr/>
        </p:nvSpPr>
        <p:spPr bwMode="auto">
          <a:xfrm>
            <a:off x="7824477" y="5678274"/>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8" name="Text Box 34"/>
          <p:cNvSpPr txBox="1">
            <a:spLocks noChangeArrowheads="1"/>
          </p:cNvSpPr>
          <p:nvPr/>
        </p:nvSpPr>
        <p:spPr bwMode="auto">
          <a:xfrm>
            <a:off x="7321093" y="491306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9" name="Text Box 34"/>
          <p:cNvSpPr txBox="1">
            <a:spLocks noChangeArrowheads="1"/>
          </p:cNvSpPr>
          <p:nvPr/>
        </p:nvSpPr>
        <p:spPr bwMode="auto">
          <a:xfrm>
            <a:off x="7825697" y="415615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cxnSp>
        <p:nvCxnSpPr>
          <p:cNvPr id="2" name="直接连接符 1">
            <a:extLst>
              <a:ext uri="{FF2B5EF4-FFF2-40B4-BE49-F238E27FC236}">
                <a16:creationId xmlns:a16="http://schemas.microsoft.com/office/drawing/2014/main" xmlns="" id="{006C8A4D-A7C9-BC8C-6127-52617BAE4ECA}"/>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9129532B-5730-9382-A5D7-6F597C57F5CF}"/>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277357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Group 41"/>
          <p:cNvGrpSpPr>
            <a:grpSpLocks/>
          </p:cNvGrpSpPr>
          <p:nvPr/>
        </p:nvGrpSpPr>
        <p:grpSpPr bwMode="auto">
          <a:xfrm>
            <a:off x="6384033" y="2917724"/>
            <a:ext cx="3903095" cy="3607620"/>
            <a:chOff x="3487" y="1854"/>
            <a:chExt cx="2160" cy="2256"/>
          </a:xfrm>
        </p:grpSpPr>
        <p:sp>
          <p:nvSpPr>
            <p:cNvPr id="81" name="Oval 4"/>
            <p:cNvSpPr>
              <a:spLocks noChangeArrowheads="1"/>
            </p:cNvSpPr>
            <p:nvPr/>
          </p:nvSpPr>
          <p:spPr bwMode="auto">
            <a:xfrm>
              <a:off x="3679" y="387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a</a:t>
              </a:r>
            </a:p>
          </p:txBody>
        </p:sp>
        <p:sp>
          <p:nvSpPr>
            <p:cNvPr id="82" name="Oval 5"/>
            <p:cNvSpPr>
              <a:spLocks noChangeArrowheads="1"/>
            </p:cNvSpPr>
            <p:nvPr/>
          </p:nvSpPr>
          <p:spPr bwMode="auto">
            <a:xfrm>
              <a:off x="4351" y="387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g</a:t>
              </a:r>
            </a:p>
          </p:txBody>
        </p:sp>
        <p:sp>
          <p:nvSpPr>
            <p:cNvPr id="83" name="Oval 6"/>
            <p:cNvSpPr>
              <a:spLocks noChangeArrowheads="1"/>
            </p:cNvSpPr>
            <p:nvPr/>
          </p:nvSpPr>
          <p:spPr bwMode="auto">
            <a:xfrm>
              <a:off x="4015" y="343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400"/>
            </a:p>
          </p:txBody>
        </p:sp>
        <p:sp>
          <p:nvSpPr>
            <p:cNvPr id="84" name="Line 7"/>
            <p:cNvSpPr>
              <a:spLocks noChangeShapeType="1"/>
            </p:cNvSpPr>
            <p:nvPr/>
          </p:nvSpPr>
          <p:spPr bwMode="auto">
            <a:xfrm flipH="1">
              <a:off x="3871" y="3678"/>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5" name="Line 8"/>
            <p:cNvSpPr>
              <a:spLocks noChangeShapeType="1"/>
            </p:cNvSpPr>
            <p:nvPr/>
          </p:nvSpPr>
          <p:spPr bwMode="auto">
            <a:xfrm>
              <a:off x="4207" y="3678"/>
              <a:ext cx="24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 name="Oval 9"/>
            <p:cNvSpPr>
              <a:spLocks noChangeArrowheads="1"/>
            </p:cNvSpPr>
            <p:nvPr/>
          </p:nvSpPr>
          <p:spPr bwMode="auto">
            <a:xfrm>
              <a:off x="4735" y="387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c</a:t>
              </a:r>
            </a:p>
          </p:txBody>
        </p:sp>
        <p:sp>
          <p:nvSpPr>
            <p:cNvPr id="87" name="Oval 10"/>
            <p:cNvSpPr>
              <a:spLocks noChangeArrowheads="1"/>
            </p:cNvSpPr>
            <p:nvPr/>
          </p:nvSpPr>
          <p:spPr bwMode="auto">
            <a:xfrm>
              <a:off x="5407" y="3870"/>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d</a:t>
              </a:r>
            </a:p>
          </p:txBody>
        </p:sp>
        <p:sp>
          <p:nvSpPr>
            <p:cNvPr id="88" name="Oval 11"/>
            <p:cNvSpPr>
              <a:spLocks noChangeArrowheads="1"/>
            </p:cNvSpPr>
            <p:nvPr/>
          </p:nvSpPr>
          <p:spPr bwMode="auto">
            <a:xfrm>
              <a:off x="5071" y="343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89" name="Line 12"/>
            <p:cNvSpPr>
              <a:spLocks noChangeShapeType="1"/>
            </p:cNvSpPr>
            <p:nvPr/>
          </p:nvSpPr>
          <p:spPr bwMode="auto">
            <a:xfrm flipH="1">
              <a:off x="4927" y="3678"/>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0" name="Line 13"/>
            <p:cNvSpPr>
              <a:spLocks noChangeShapeType="1"/>
            </p:cNvSpPr>
            <p:nvPr/>
          </p:nvSpPr>
          <p:spPr bwMode="auto">
            <a:xfrm>
              <a:off x="5263" y="3678"/>
              <a:ext cx="24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 name="Oval 14"/>
            <p:cNvSpPr>
              <a:spLocks noChangeArrowheads="1"/>
            </p:cNvSpPr>
            <p:nvPr/>
          </p:nvSpPr>
          <p:spPr bwMode="auto">
            <a:xfrm>
              <a:off x="3487" y="343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h</a:t>
              </a:r>
            </a:p>
          </p:txBody>
        </p:sp>
        <p:sp>
          <p:nvSpPr>
            <p:cNvPr id="92" name="Oval 15"/>
            <p:cNvSpPr>
              <a:spLocks noChangeArrowheads="1"/>
            </p:cNvSpPr>
            <p:nvPr/>
          </p:nvSpPr>
          <p:spPr bwMode="auto">
            <a:xfrm>
              <a:off x="3727" y="3006"/>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93" name="Line 16"/>
            <p:cNvSpPr>
              <a:spLocks noChangeShapeType="1"/>
            </p:cNvSpPr>
            <p:nvPr/>
          </p:nvSpPr>
          <p:spPr bwMode="auto">
            <a:xfrm flipH="1">
              <a:off x="3583" y="3246"/>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4" name="Line 17"/>
            <p:cNvSpPr>
              <a:spLocks noChangeShapeType="1"/>
            </p:cNvSpPr>
            <p:nvPr/>
          </p:nvSpPr>
          <p:spPr bwMode="auto">
            <a:xfrm>
              <a:off x="3919" y="3246"/>
              <a:ext cx="24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5" name="Oval 18"/>
            <p:cNvSpPr>
              <a:spLocks noChangeArrowheads="1"/>
            </p:cNvSpPr>
            <p:nvPr/>
          </p:nvSpPr>
          <p:spPr bwMode="auto">
            <a:xfrm>
              <a:off x="4543" y="343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e</a:t>
              </a:r>
            </a:p>
          </p:txBody>
        </p:sp>
        <p:sp>
          <p:nvSpPr>
            <p:cNvPr id="96" name="Oval 19"/>
            <p:cNvSpPr>
              <a:spLocks noChangeArrowheads="1"/>
            </p:cNvSpPr>
            <p:nvPr/>
          </p:nvSpPr>
          <p:spPr bwMode="auto">
            <a:xfrm>
              <a:off x="4783" y="3006"/>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97" name="Line 20"/>
            <p:cNvSpPr>
              <a:spLocks noChangeShapeType="1"/>
            </p:cNvSpPr>
            <p:nvPr/>
          </p:nvSpPr>
          <p:spPr bwMode="auto">
            <a:xfrm flipH="1">
              <a:off x="4639" y="3246"/>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8" name="Line 21"/>
            <p:cNvSpPr>
              <a:spLocks noChangeShapeType="1"/>
            </p:cNvSpPr>
            <p:nvPr/>
          </p:nvSpPr>
          <p:spPr bwMode="auto">
            <a:xfrm>
              <a:off x="4975" y="3246"/>
              <a:ext cx="24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9" name="Oval 22"/>
            <p:cNvSpPr>
              <a:spLocks noChangeArrowheads="1"/>
            </p:cNvSpPr>
            <p:nvPr/>
          </p:nvSpPr>
          <p:spPr bwMode="auto">
            <a:xfrm>
              <a:off x="4207" y="3006"/>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f</a:t>
              </a:r>
            </a:p>
          </p:txBody>
        </p:sp>
        <p:sp>
          <p:nvSpPr>
            <p:cNvPr id="100" name="Line 23"/>
            <p:cNvSpPr>
              <a:spLocks noChangeShapeType="1"/>
            </p:cNvSpPr>
            <p:nvPr/>
          </p:nvSpPr>
          <p:spPr bwMode="auto">
            <a:xfrm flipH="1">
              <a:off x="3823" y="2814"/>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1" name="Line 24"/>
            <p:cNvSpPr>
              <a:spLocks noChangeShapeType="1"/>
            </p:cNvSpPr>
            <p:nvPr/>
          </p:nvSpPr>
          <p:spPr bwMode="auto">
            <a:xfrm>
              <a:off x="4159" y="2814"/>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 name="Oval 25"/>
            <p:cNvSpPr>
              <a:spLocks noChangeArrowheads="1"/>
            </p:cNvSpPr>
            <p:nvPr/>
          </p:nvSpPr>
          <p:spPr bwMode="auto">
            <a:xfrm>
              <a:off x="3967" y="257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103" name="Oval 26"/>
            <p:cNvSpPr>
              <a:spLocks noChangeArrowheads="1"/>
            </p:cNvSpPr>
            <p:nvPr/>
          </p:nvSpPr>
          <p:spPr bwMode="auto">
            <a:xfrm>
              <a:off x="5311" y="3006"/>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r>
                <a:rPr lang="en-US" altLang="zh-CN" sz="2400"/>
                <a:t>b</a:t>
              </a:r>
            </a:p>
          </p:txBody>
        </p:sp>
        <p:sp>
          <p:nvSpPr>
            <p:cNvPr id="104" name="Line 27"/>
            <p:cNvSpPr>
              <a:spLocks noChangeShapeType="1"/>
            </p:cNvSpPr>
            <p:nvPr/>
          </p:nvSpPr>
          <p:spPr bwMode="auto">
            <a:xfrm flipH="1">
              <a:off x="4927" y="2814"/>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5" name="Line 28"/>
            <p:cNvSpPr>
              <a:spLocks noChangeShapeType="1"/>
            </p:cNvSpPr>
            <p:nvPr/>
          </p:nvSpPr>
          <p:spPr bwMode="auto">
            <a:xfrm>
              <a:off x="5263" y="2814"/>
              <a:ext cx="192"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6" name="Oval 29"/>
            <p:cNvSpPr>
              <a:spLocks noChangeArrowheads="1"/>
            </p:cNvSpPr>
            <p:nvPr/>
          </p:nvSpPr>
          <p:spPr bwMode="auto">
            <a:xfrm>
              <a:off x="5071" y="257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sp>
          <p:nvSpPr>
            <p:cNvPr id="107" name="Line 30"/>
            <p:cNvSpPr>
              <a:spLocks noChangeShapeType="1"/>
            </p:cNvSpPr>
            <p:nvPr/>
          </p:nvSpPr>
          <p:spPr bwMode="auto">
            <a:xfrm flipV="1">
              <a:off x="4111" y="2094"/>
              <a:ext cx="384"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31"/>
            <p:cNvSpPr>
              <a:spLocks noChangeShapeType="1"/>
            </p:cNvSpPr>
            <p:nvPr/>
          </p:nvSpPr>
          <p:spPr bwMode="auto">
            <a:xfrm flipH="1" flipV="1">
              <a:off x="4639" y="2094"/>
              <a:ext cx="52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Oval 32"/>
            <p:cNvSpPr>
              <a:spLocks noChangeArrowheads="1"/>
            </p:cNvSpPr>
            <p:nvPr/>
          </p:nvSpPr>
          <p:spPr bwMode="auto">
            <a:xfrm>
              <a:off x="4447" y="185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buSzTx/>
                <a:buFontTx/>
                <a:buNone/>
              </a:pPr>
              <a:endParaRPr lang="zh-CN" altLang="zh-CN" sz="2000"/>
            </a:p>
          </p:txBody>
        </p:sp>
      </p:grpSp>
      <p:sp>
        <p:nvSpPr>
          <p:cNvPr id="35" name="Rectangle 3"/>
          <p:cNvSpPr txBox="1">
            <a:spLocks noChangeArrowheads="1"/>
          </p:cNvSpPr>
          <p:nvPr/>
        </p:nvSpPr>
        <p:spPr>
          <a:xfrm>
            <a:off x="1651592" y="1185693"/>
            <a:ext cx="5946736" cy="41115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Font typeface="Wingdings" pitchFamily="2" charset="2"/>
              <a:buNone/>
            </a:pPr>
            <a:r>
              <a:rPr lang="en-US" altLang="zh-CN" sz="2000" dirty="0">
                <a:latin typeface="Tahoma" pitchFamily="34" charset="0"/>
                <a:ea typeface="宋体" charset="-122"/>
              </a:rPr>
              <a:t>   </a:t>
            </a:r>
            <a:r>
              <a:rPr lang="en-US" altLang="zh-CN" sz="2000" dirty="0">
                <a:latin typeface="Times New Roman" pitchFamily="18" charset="0"/>
              </a:rPr>
              <a:t>//</a:t>
            </a:r>
            <a:r>
              <a:rPr lang="zh-CN" altLang="en-US" sz="2000" dirty="0">
                <a:latin typeface="Times New Roman" pitchFamily="18" charset="0"/>
              </a:rPr>
              <a:t>从叶子到根逆向求每个字符的赫夫曼编码</a:t>
            </a:r>
          </a:p>
          <a:p>
            <a:pPr>
              <a:lnSpc>
                <a:spcPct val="80000"/>
              </a:lnSpc>
              <a:buFont typeface="Wingdings" pitchFamily="2" charset="2"/>
              <a:buNone/>
            </a:pPr>
            <a:r>
              <a:rPr lang="zh-CN" altLang="en-US" sz="2000" dirty="0">
                <a:latin typeface="Times New Roman" pitchFamily="18" charset="0"/>
              </a:rPr>
              <a:t>   </a:t>
            </a:r>
            <a:r>
              <a:rPr lang="en-US" altLang="zh-CN" sz="2000" dirty="0">
                <a:latin typeface="Times New Roman" pitchFamily="18" charset="0"/>
              </a:rPr>
              <a:t>HC = new char*[n+1];</a:t>
            </a:r>
          </a:p>
          <a:p>
            <a:pPr>
              <a:lnSpc>
                <a:spcPct val="80000"/>
              </a:lnSpc>
              <a:buFont typeface="Wingdings" pitchFamily="2" charset="2"/>
              <a:buNone/>
            </a:pPr>
            <a:r>
              <a:rPr lang="en-US" altLang="zh-CN" sz="2000" dirty="0">
                <a:latin typeface="Times New Roman" pitchFamily="18" charset="0"/>
              </a:rPr>
              <a:t>   cd = new char [n];     cd[n-1] = ‘\0’;</a:t>
            </a:r>
          </a:p>
          <a:p>
            <a:pPr>
              <a:lnSpc>
                <a:spcPct val="80000"/>
              </a:lnSpc>
              <a:buFont typeface="Wingdings" pitchFamily="2" charset="2"/>
              <a:buNone/>
            </a:pPr>
            <a:r>
              <a:rPr lang="en-US" altLang="zh-CN" sz="2000" dirty="0">
                <a:latin typeface="Times New Roman" pitchFamily="18" charset="0"/>
              </a:rPr>
              <a:t>   for(i=1; i&lt;=n; i++)  {</a:t>
            </a:r>
          </a:p>
          <a:p>
            <a:pPr>
              <a:lnSpc>
                <a:spcPct val="80000"/>
              </a:lnSpc>
              <a:buFont typeface="Wingdings" pitchFamily="2" charset="2"/>
              <a:buNone/>
            </a:pPr>
            <a:r>
              <a:rPr lang="en-US" altLang="zh-CN" sz="2000" dirty="0">
                <a:latin typeface="Times New Roman" pitchFamily="18" charset="0"/>
              </a:rPr>
              <a:t>           start = n-1;</a:t>
            </a:r>
          </a:p>
          <a:p>
            <a:pPr>
              <a:lnSpc>
                <a:spcPct val="80000"/>
              </a:lnSpc>
              <a:buFont typeface="Wingdings" pitchFamily="2" charset="2"/>
              <a:buNone/>
            </a:pPr>
            <a:r>
              <a:rPr lang="en-US" altLang="zh-CN" sz="2000" dirty="0">
                <a:latin typeface="Times New Roman" pitchFamily="18" charset="0"/>
              </a:rPr>
              <a:t>           </a:t>
            </a:r>
            <a:r>
              <a:rPr lang="en-US" altLang="zh-CN" sz="2000" b="1" dirty="0">
                <a:latin typeface="Times New Roman" pitchFamily="18" charset="0"/>
              </a:rPr>
              <a:t>for(c=</a:t>
            </a:r>
            <a:r>
              <a:rPr lang="en-US" altLang="zh-CN" sz="2000" b="1" dirty="0" err="1">
                <a:latin typeface="Times New Roman" pitchFamily="18" charset="0"/>
              </a:rPr>
              <a:t>i,f</a:t>
            </a:r>
            <a:r>
              <a:rPr lang="en-US" altLang="zh-CN" sz="2000" b="1" dirty="0">
                <a:latin typeface="Times New Roman" pitchFamily="18" charset="0"/>
              </a:rPr>
              <a:t>=HT[i].</a:t>
            </a:r>
            <a:r>
              <a:rPr lang="en-US" altLang="zh-CN" sz="2000" b="1" dirty="0" err="1">
                <a:latin typeface="Times New Roman" pitchFamily="18" charset="0"/>
              </a:rPr>
              <a:t>parent;f</a:t>
            </a:r>
            <a:r>
              <a:rPr lang="en-US" altLang="zh-CN" sz="2000" b="1" dirty="0">
                <a:latin typeface="Times New Roman" pitchFamily="18" charset="0"/>
              </a:rPr>
              <a:t>!=0;c=</a:t>
            </a:r>
            <a:r>
              <a:rPr lang="en-US" altLang="zh-CN" sz="2000" b="1" dirty="0" err="1">
                <a:latin typeface="Times New Roman" pitchFamily="18" charset="0"/>
              </a:rPr>
              <a:t>f,f</a:t>
            </a:r>
            <a:r>
              <a:rPr lang="en-US" altLang="zh-CN" sz="2000" b="1" dirty="0">
                <a:latin typeface="Times New Roman" pitchFamily="18" charset="0"/>
              </a:rPr>
              <a:t>=HT[f].parent)</a:t>
            </a:r>
          </a:p>
          <a:p>
            <a:pPr>
              <a:lnSpc>
                <a:spcPct val="80000"/>
              </a:lnSpc>
              <a:buFont typeface="Wingdings" pitchFamily="2" charset="2"/>
              <a:buNone/>
            </a:pPr>
            <a:r>
              <a:rPr lang="en-US" altLang="zh-CN" sz="2000" dirty="0">
                <a:latin typeface="Times New Roman" pitchFamily="18" charset="0"/>
              </a:rPr>
              <a:t>                   if (HT[f].</a:t>
            </a:r>
            <a:r>
              <a:rPr lang="en-US" altLang="zh-CN" sz="2000" dirty="0" err="1">
                <a:latin typeface="Times New Roman" pitchFamily="18" charset="0"/>
              </a:rPr>
              <a:t>lchild</a:t>
            </a:r>
            <a:r>
              <a:rPr lang="en-US" altLang="zh-CN" sz="2000" dirty="0">
                <a:latin typeface="Times New Roman" pitchFamily="18" charset="0"/>
              </a:rPr>
              <a:t> == c) cd[--start]=‘0’;</a:t>
            </a:r>
          </a:p>
          <a:p>
            <a:pPr>
              <a:lnSpc>
                <a:spcPct val="80000"/>
              </a:lnSpc>
              <a:buFont typeface="Wingdings" pitchFamily="2" charset="2"/>
              <a:buNone/>
            </a:pPr>
            <a:r>
              <a:rPr lang="en-US" altLang="zh-CN" sz="2000" dirty="0">
                <a:latin typeface="Times New Roman" pitchFamily="18" charset="0"/>
              </a:rPr>
              <a:t>                   else cd[--start]=‘1’;</a:t>
            </a:r>
          </a:p>
          <a:p>
            <a:pPr>
              <a:lnSpc>
                <a:spcPct val="80000"/>
              </a:lnSpc>
              <a:buFont typeface="Wingdings" pitchFamily="2" charset="2"/>
              <a:buNone/>
            </a:pPr>
            <a:r>
              <a:rPr lang="en-US" altLang="zh-CN" sz="2000" dirty="0">
                <a:latin typeface="Times New Roman" pitchFamily="18" charset="0"/>
              </a:rPr>
              <a:t>           HC[i] = new char [n-start];</a:t>
            </a:r>
          </a:p>
          <a:p>
            <a:pPr>
              <a:lnSpc>
                <a:spcPct val="80000"/>
              </a:lnSpc>
              <a:buFont typeface="Wingdings" pitchFamily="2" charset="2"/>
              <a:buNone/>
            </a:pPr>
            <a:r>
              <a:rPr lang="en-US" altLang="zh-CN" sz="2000" dirty="0">
                <a:latin typeface="Times New Roman" pitchFamily="18" charset="0"/>
              </a:rPr>
              <a:t>           </a:t>
            </a:r>
            <a:r>
              <a:rPr lang="en-US" altLang="zh-CN" sz="2000" dirty="0" err="1">
                <a:latin typeface="Times New Roman" pitchFamily="18" charset="0"/>
              </a:rPr>
              <a:t>strcpy</a:t>
            </a:r>
            <a:r>
              <a:rPr lang="en-US" altLang="zh-CN" sz="2000" dirty="0">
                <a:latin typeface="Times New Roman" pitchFamily="18" charset="0"/>
              </a:rPr>
              <a:t>(HC[i],&amp;cd[start]);</a:t>
            </a:r>
          </a:p>
          <a:p>
            <a:pPr>
              <a:lnSpc>
                <a:spcPct val="80000"/>
              </a:lnSpc>
              <a:buFont typeface="Wingdings" pitchFamily="2" charset="2"/>
              <a:buNone/>
            </a:pPr>
            <a:r>
              <a:rPr lang="en-US" altLang="zh-CN" sz="2000" dirty="0">
                <a:latin typeface="Times New Roman" pitchFamily="18" charset="0"/>
              </a:rPr>
              <a:t>   }</a:t>
            </a:r>
          </a:p>
          <a:p>
            <a:pPr>
              <a:lnSpc>
                <a:spcPct val="80000"/>
              </a:lnSpc>
              <a:buFont typeface="Wingdings" pitchFamily="2" charset="2"/>
              <a:buNone/>
            </a:pPr>
            <a:r>
              <a:rPr lang="en-US" altLang="zh-CN" sz="2000" dirty="0">
                <a:latin typeface="Times New Roman" pitchFamily="18" charset="0"/>
              </a:rPr>
              <a:t>   delete cd[];</a:t>
            </a:r>
          </a:p>
          <a:p>
            <a:pPr>
              <a:lnSpc>
                <a:spcPct val="80000"/>
              </a:lnSpc>
              <a:buFont typeface="Wingdings" pitchFamily="2" charset="2"/>
              <a:buNone/>
            </a:pPr>
            <a:r>
              <a:rPr lang="en-US" altLang="zh-CN" sz="2000" dirty="0">
                <a:latin typeface="Times New Roman" pitchFamily="18" charset="0"/>
              </a:rPr>
              <a:t>}//</a:t>
            </a:r>
            <a:r>
              <a:rPr lang="en-US" altLang="zh-CN" sz="2000" dirty="0" err="1">
                <a:latin typeface="Times New Roman" pitchFamily="18" charset="0"/>
              </a:rPr>
              <a:t>HuffmanCoding</a:t>
            </a:r>
            <a:endParaRPr lang="en-US" altLang="zh-CN" sz="2000" dirty="0">
              <a:latin typeface="Times New Roman" pitchFamily="18" charset="0"/>
            </a:endParaRPr>
          </a:p>
        </p:txBody>
      </p:sp>
      <p:sp>
        <p:nvSpPr>
          <p:cNvPr id="36" name="Text Box 33"/>
          <p:cNvSpPr txBox="1">
            <a:spLocks noChangeArrowheads="1"/>
          </p:cNvSpPr>
          <p:nvPr/>
        </p:nvSpPr>
        <p:spPr bwMode="auto">
          <a:xfrm>
            <a:off x="7520902" y="329186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37" name="Text Box 33"/>
          <p:cNvSpPr txBox="1">
            <a:spLocks noChangeArrowheads="1"/>
          </p:cNvSpPr>
          <p:nvPr/>
        </p:nvSpPr>
        <p:spPr bwMode="auto">
          <a:xfrm>
            <a:off x="6783652" y="4224281"/>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38" name="Text Box 33"/>
          <p:cNvSpPr txBox="1">
            <a:spLocks noChangeArrowheads="1"/>
          </p:cNvSpPr>
          <p:nvPr/>
        </p:nvSpPr>
        <p:spPr bwMode="auto">
          <a:xfrm>
            <a:off x="6384032" y="491510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39" name="Text Box 33"/>
          <p:cNvSpPr txBox="1">
            <a:spLocks noChangeArrowheads="1"/>
          </p:cNvSpPr>
          <p:nvPr/>
        </p:nvSpPr>
        <p:spPr bwMode="auto">
          <a:xfrm>
            <a:off x="8865302" y="426098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40" name="Text Box 33"/>
          <p:cNvSpPr txBox="1">
            <a:spLocks noChangeArrowheads="1"/>
          </p:cNvSpPr>
          <p:nvPr/>
        </p:nvSpPr>
        <p:spPr bwMode="auto">
          <a:xfrm>
            <a:off x="8361918" y="491510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41" name="Text Box 33"/>
          <p:cNvSpPr txBox="1">
            <a:spLocks noChangeArrowheads="1"/>
          </p:cNvSpPr>
          <p:nvPr/>
        </p:nvSpPr>
        <p:spPr bwMode="auto">
          <a:xfrm>
            <a:off x="8825970" y="564262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42" name="Text Box 33"/>
          <p:cNvSpPr txBox="1">
            <a:spLocks noChangeArrowheads="1"/>
          </p:cNvSpPr>
          <p:nvPr/>
        </p:nvSpPr>
        <p:spPr bwMode="auto">
          <a:xfrm>
            <a:off x="6920049" y="5684354"/>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0</a:t>
            </a:r>
          </a:p>
        </p:txBody>
      </p:sp>
      <p:sp>
        <p:nvSpPr>
          <p:cNvPr id="43" name="Text Box 34"/>
          <p:cNvSpPr txBox="1">
            <a:spLocks noChangeArrowheads="1"/>
          </p:cNvSpPr>
          <p:nvPr/>
        </p:nvSpPr>
        <p:spPr bwMode="auto">
          <a:xfrm>
            <a:off x="8969066" y="3220409"/>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4" name="Text Box 34"/>
          <p:cNvSpPr txBox="1">
            <a:spLocks noChangeArrowheads="1"/>
          </p:cNvSpPr>
          <p:nvPr/>
        </p:nvSpPr>
        <p:spPr bwMode="auto">
          <a:xfrm>
            <a:off x="9732656" y="4224281"/>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5" name="Text Box 34"/>
          <p:cNvSpPr txBox="1">
            <a:spLocks noChangeArrowheads="1"/>
          </p:cNvSpPr>
          <p:nvPr/>
        </p:nvSpPr>
        <p:spPr bwMode="auto">
          <a:xfrm>
            <a:off x="9246302" y="491510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6" name="Text Box 34"/>
          <p:cNvSpPr txBox="1">
            <a:spLocks noChangeArrowheads="1"/>
          </p:cNvSpPr>
          <p:nvPr/>
        </p:nvSpPr>
        <p:spPr bwMode="auto">
          <a:xfrm>
            <a:off x="9768182" y="553083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7" name="Text Box 34"/>
          <p:cNvSpPr txBox="1">
            <a:spLocks noChangeArrowheads="1"/>
          </p:cNvSpPr>
          <p:nvPr/>
        </p:nvSpPr>
        <p:spPr bwMode="auto">
          <a:xfrm>
            <a:off x="7824477" y="5678274"/>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8" name="Text Box 34"/>
          <p:cNvSpPr txBox="1">
            <a:spLocks noChangeArrowheads="1"/>
          </p:cNvSpPr>
          <p:nvPr/>
        </p:nvSpPr>
        <p:spPr bwMode="auto">
          <a:xfrm>
            <a:off x="7321093" y="491306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49" name="Text Box 34"/>
          <p:cNvSpPr txBox="1">
            <a:spLocks noChangeArrowheads="1"/>
          </p:cNvSpPr>
          <p:nvPr/>
        </p:nvSpPr>
        <p:spPr bwMode="auto">
          <a:xfrm>
            <a:off x="7825697" y="4156156"/>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b="1" dirty="0"/>
              <a:t>1</a:t>
            </a:r>
          </a:p>
        </p:txBody>
      </p:sp>
      <p:sp>
        <p:nvSpPr>
          <p:cNvPr id="50" name="Text Box 175"/>
          <p:cNvSpPr txBox="1">
            <a:spLocks noChangeArrowheads="1"/>
          </p:cNvSpPr>
          <p:nvPr/>
        </p:nvSpPr>
        <p:spPr bwMode="auto">
          <a:xfrm>
            <a:off x="7500050" y="1185692"/>
            <a:ext cx="158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dirty="0"/>
              <a:t>a:   0010</a:t>
            </a:r>
          </a:p>
        </p:txBody>
      </p:sp>
      <p:sp>
        <p:nvSpPr>
          <p:cNvPr id="51" name="Text Box 176"/>
          <p:cNvSpPr txBox="1">
            <a:spLocks noChangeArrowheads="1"/>
          </p:cNvSpPr>
          <p:nvPr/>
        </p:nvSpPr>
        <p:spPr bwMode="auto">
          <a:xfrm>
            <a:off x="8976320" y="1185692"/>
            <a:ext cx="144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dirty="0"/>
              <a:t>b:   11</a:t>
            </a:r>
          </a:p>
        </p:txBody>
      </p:sp>
      <p:sp>
        <p:nvSpPr>
          <p:cNvPr id="52" name="Text Box 177"/>
          <p:cNvSpPr txBox="1">
            <a:spLocks noChangeArrowheads="1"/>
          </p:cNvSpPr>
          <p:nvPr/>
        </p:nvSpPr>
        <p:spPr bwMode="auto">
          <a:xfrm>
            <a:off x="7472512" y="1556792"/>
            <a:ext cx="164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dirty="0"/>
              <a:t>c:   1010</a:t>
            </a:r>
          </a:p>
        </p:txBody>
      </p:sp>
      <p:sp>
        <p:nvSpPr>
          <p:cNvPr id="53" name="Text Box 178"/>
          <p:cNvSpPr txBox="1">
            <a:spLocks noChangeArrowheads="1"/>
          </p:cNvSpPr>
          <p:nvPr/>
        </p:nvSpPr>
        <p:spPr bwMode="auto">
          <a:xfrm>
            <a:off x="8984234" y="1556792"/>
            <a:ext cx="1792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dirty="0"/>
              <a:t>d:   1011</a:t>
            </a:r>
          </a:p>
        </p:txBody>
      </p:sp>
      <p:sp>
        <p:nvSpPr>
          <p:cNvPr id="54" name="Text Box 179"/>
          <p:cNvSpPr txBox="1">
            <a:spLocks noChangeArrowheads="1"/>
          </p:cNvSpPr>
          <p:nvPr/>
        </p:nvSpPr>
        <p:spPr bwMode="auto">
          <a:xfrm>
            <a:off x="7291536" y="198884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dirty="0"/>
              <a:t>e:   100</a:t>
            </a:r>
          </a:p>
        </p:txBody>
      </p:sp>
      <p:sp>
        <p:nvSpPr>
          <p:cNvPr id="55" name="Text Box 180"/>
          <p:cNvSpPr txBox="1">
            <a:spLocks noChangeArrowheads="1"/>
          </p:cNvSpPr>
          <p:nvPr/>
        </p:nvSpPr>
        <p:spPr bwMode="auto">
          <a:xfrm>
            <a:off x="8976320" y="198884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dirty="0"/>
              <a:t>f:    01</a:t>
            </a:r>
          </a:p>
        </p:txBody>
      </p:sp>
      <p:sp>
        <p:nvSpPr>
          <p:cNvPr id="56" name="Text Box 181"/>
          <p:cNvSpPr txBox="1">
            <a:spLocks noChangeArrowheads="1"/>
          </p:cNvSpPr>
          <p:nvPr/>
        </p:nvSpPr>
        <p:spPr bwMode="auto">
          <a:xfrm>
            <a:off x="7427044" y="2348880"/>
            <a:ext cx="176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dirty="0"/>
              <a:t> g:    0011</a:t>
            </a:r>
          </a:p>
        </p:txBody>
      </p:sp>
      <p:sp>
        <p:nvSpPr>
          <p:cNvPr id="57" name="Text Box 182"/>
          <p:cNvSpPr txBox="1">
            <a:spLocks noChangeArrowheads="1"/>
          </p:cNvSpPr>
          <p:nvPr/>
        </p:nvSpPr>
        <p:spPr bwMode="auto">
          <a:xfrm>
            <a:off x="9010650" y="2348880"/>
            <a:ext cx="1693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ct val="0"/>
              </a:spcBef>
              <a:defRPr kumimoji="1" sz="3200">
                <a:solidFill>
                  <a:schemeClr val="tx1"/>
                </a:solidFill>
                <a:latin typeface="Tahoma" pitchFamily="34" charset="0"/>
                <a:ea typeface="宋体" charset="-122"/>
              </a:defRPr>
            </a:lvl1pPr>
            <a:lvl2pPr marL="742950" indent="-285750" algn="ctr" eaLnBrk="0" hangingPunct="0">
              <a:spcBef>
                <a:spcPct val="0"/>
              </a:spcBef>
              <a:defRPr kumimoji="1" sz="3200">
                <a:solidFill>
                  <a:schemeClr val="tx1"/>
                </a:solidFill>
                <a:latin typeface="Tahoma" pitchFamily="34" charset="0"/>
                <a:ea typeface="宋体" charset="-122"/>
              </a:defRPr>
            </a:lvl2pPr>
            <a:lvl3pPr marL="1143000" indent="-228600" algn="ctr" eaLnBrk="0" hangingPunct="0">
              <a:spcBef>
                <a:spcPct val="0"/>
              </a:spcBef>
              <a:defRPr kumimoji="1" sz="3200">
                <a:solidFill>
                  <a:schemeClr val="tx1"/>
                </a:solidFill>
                <a:latin typeface="Tahoma" pitchFamily="34" charset="0"/>
                <a:ea typeface="宋体" charset="-122"/>
              </a:defRPr>
            </a:lvl3pPr>
            <a:lvl4pPr marL="1600200" indent="-228600" algn="ctr" eaLnBrk="0" hangingPunct="0">
              <a:spcBef>
                <a:spcPct val="0"/>
              </a:spcBef>
              <a:defRPr kumimoji="1" sz="3200">
                <a:solidFill>
                  <a:schemeClr val="tx1"/>
                </a:solidFill>
                <a:latin typeface="Tahoma" pitchFamily="34" charset="0"/>
                <a:ea typeface="宋体" charset="-122"/>
              </a:defRPr>
            </a:lvl4pPr>
            <a:lvl5pPr marL="2057400" indent="-228600" algn="ctr" eaLnBrk="0" hangingPunct="0">
              <a:spcBef>
                <a:spcPct val="0"/>
              </a:spcBef>
              <a:defRPr kumimoji="1" sz="3200">
                <a:solidFill>
                  <a:schemeClr val="tx1"/>
                </a:solidFill>
                <a:latin typeface="Tahoma" pitchFamily="34" charset="0"/>
                <a:ea typeface="宋体" charset="-122"/>
              </a:defRPr>
            </a:lvl5pPr>
            <a:lvl6pPr marL="2514600" indent="-228600" algn="ctr" eaLnBrk="0" fontAlgn="base" hangingPunct="0">
              <a:spcBef>
                <a:spcPct val="0"/>
              </a:spcBef>
              <a:spcAft>
                <a:spcPct val="0"/>
              </a:spcAft>
              <a:defRPr kumimoji="1" sz="3200">
                <a:solidFill>
                  <a:schemeClr val="tx1"/>
                </a:solidFill>
                <a:latin typeface="Tahoma" pitchFamily="34" charset="0"/>
                <a:ea typeface="宋体" charset="-122"/>
              </a:defRPr>
            </a:lvl6pPr>
            <a:lvl7pPr marL="2971800" indent="-228600" algn="ctr" eaLnBrk="0" fontAlgn="base" hangingPunct="0">
              <a:spcBef>
                <a:spcPct val="0"/>
              </a:spcBef>
              <a:spcAft>
                <a:spcPct val="0"/>
              </a:spcAft>
              <a:defRPr kumimoji="1" sz="3200">
                <a:solidFill>
                  <a:schemeClr val="tx1"/>
                </a:solidFill>
                <a:latin typeface="Tahoma" pitchFamily="34" charset="0"/>
                <a:ea typeface="宋体" charset="-122"/>
              </a:defRPr>
            </a:lvl7pPr>
            <a:lvl8pPr marL="3429000" indent="-228600" algn="ctr" eaLnBrk="0" fontAlgn="base" hangingPunct="0">
              <a:spcBef>
                <a:spcPct val="0"/>
              </a:spcBef>
              <a:spcAft>
                <a:spcPct val="0"/>
              </a:spcAft>
              <a:defRPr kumimoji="1" sz="3200">
                <a:solidFill>
                  <a:schemeClr val="tx1"/>
                </a:solidFill>
                <a:latin typeface="Tahoma" pitchFamily="34" charset="0"/>
                <a:ea typeface="宋体" charset="-122"/>
              </a:defRPr>
            </a:lvl8pPr>
            <a:lvl9pPr marL="3886200" indent="-228600" algn="ctr" eaLnBrk="0" fontAlgn="base" hangingPunct="0">
              <a:spcBef>
                <a:spcPct val="0"/>
              </a:spcBef>
              <a:spcAft>
                <a:spcPct val="0"/>
              </a:spcAft>
              <a:defRPr kumimoji="1" sz="3200">
                <a:solidFill>
                  <a:schemeClr val="tx1"/>
                </a:solidFill>
                <a:latin typeface="Tahoma" pitchFamily="34" charset="0"/>
                <a:ea typeface="宋体" charset="-122"/>
              </a:defRPr>
            </a:lvl9pPr>
          </a:lstStyle>
          <a:p>
            <a:pPr eaLnBrk="1" hangingPunct="1">
              <a:spcBef>
                <a:spcPct val="50000"/>
              </a:spcBef>
              <a:buClrTx/>
              <a:buSzTx/>
              <a:buFontTx/>
              <a:buNone/>
            </a:pPr>
            <a:r>
              <a:rPr lang="en-US" altLang="zh-CN" sz="2400" dirty="0"/>
              <a:t>h:    000</a:t>
            </a:r>
          </a:p>
        </p:txBody>
      </p:sp>
      <p:cxnSp>
        <p:nvCxnSpPr>
          <p:cNvPr id="2" name="直接连接符 1">
            <a:extLst>
              <a:ext uri="{FF2B5EF4-FFF2-40B4-BE49-F238E27FC236}">
                <a16:creationId xmlns:a16="http://schemas.microsoft.com/office/drawing/2014/main" xmlns="" id="{6FE5EF36-05D6-F52D-7C4B-2C2DD3ABFA93}"/>
              </a:ext>
            </a:extLst>
          </p:cNvPr>
          <p:cNvCxnSpPr>
            <a:cxnSpLocks/>
          </p:cNvCxnSpPr>
          <p:nvPr/>
        </p:nvCxnSpPr>
        <p:spPr>
          <a:xfrm>
            <a:off x="0" y="680642"/>
            <a:ext cx="12192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xmlns="" id="{590D2598-E99A-530E-9E08-19E48C8EE262}"/>
              </a:ext>
            </a:extLst>
          </p:cNvPr>
          <p:cNvSpPr/>
          <p:nvPr/>
        </p:nvSpPr>
        <p:spPr>
          <a:xfrm>
            <a:off x="3863752" y="126644"/>
            <a:ext cx="4464496" cy="553998"/>
          </a:xfrm>
          <a:prstGeom prst="rect">
            <a:avLst/>
          </a:prstGeom>
        </p:spPr>
        <p:txBody>
          <a:bodyPr wrap="square">
            <a:spAutoFit/>
          </a:bodyPr>
          <a:lstStyle/>
          <a:p>
            <a:pPr algn="ctr"/>
            <a:r>
              <a:rPr lang="en-US" altLang="zh-CN" sz="3000" b="1" dirty="0">
                <a:latin typeface="黑体" pitchFamily="49" charset="-122"/>
                <a:ea typeface="黑体" pitchFamily="49" charset="-122"/>
                <a:cs typeface="经典粗黑简" pitchFamily="49" charset="-122"/>
              </a:rPr>
              <a:t>7.8 </a:t>
            </a:r>
            <a:r>
              <a:rPr lang="zh-CN" altLang="en-US" sz="3000" b="1" dirty="0">
                <a:latin typeface="黑体" pitchFamily="49" charset="-122"/>
                <a:ea typeface="黑体" pitchFamily="49" charset="-122"/>
                <a:cs typeface="经典粗黑简" pitchFamily="49" charset="-122"/>
              </a:rPr>
              <a:t>哈夫曼树</a:t>
            </a:r>
          </a:p>
        </p:txBody>
      </p:sp>
    </p:spTree>
    <p:extLst>
      <p:ext uri="{BB962C8B-B14F-4D97-AF65-F5344CB8AC3E}">
        <p14:creationId xmlns:p14="http://schemas.microsoft.com/office/powerpoint/2010/main" val="3836589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400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1+#ppt_w/2"/>
                                          </p:val>
                                        </p:tav>
                                        <p:tav tm="100000">
                                          <p:val>
                                            <p:strVal val="#ppt_x"/>
                                          </p:val>
                                        </p:tav>
                                      </p:tavLst>
                                    </p:anim>
                                    <p:anim calcmode="lin" valueType="num">
                                      <p:cBhvr additive="base">
                                        <p:cTn id="8" dur="500" fill="hold"/>
                                        <p:tgtEl>
                                          <p:spTgt spid="50"/>
                                        </p:tgtEl>
                                        <p:attrNameLst>
                                          <p:attrName>ppt_y</p:attrName>
                                        </p:attrNameLst>
                                      </p:cBhvr>
                                      <p:tavLst>
                                        <p:tav tm="0">
                                          <p:val>
                                            <p:strVal val="#ppt_y"/>
                                          </p:val>
                                        </p:tav>
                                        <p:tav tm="100000">
                                          <p:val>
                                            <p:strVal val="#ppt_y"/>
                                          </p:val>
                                        </p:tav>
                                      </p:tavLst>
                                    </p:anim>
                                  </p:childTnLst>
                                </p:cTn>
                              </p:par>
                            </p:childTnLst>
                          </p:cTn>
                        </p:par>
                        <p:par>
                          <p:cTn id="9" fill="hold">
                            <p:stCondLst>
                              <p:cond delay="4500"/>
                            </p:stCondLst>
                            <p:childTnLst>
                              <p:par>
                                <p:cTn id="10" presetID="2" presetClass="entr" presetSubtype="2" fill="hold" grpId="0" nodeType="afterEffect">
                                  <p:stCondLst>
                                    <p:cond delay="5000"/>
                                  </p:stCondLst>
                                  <p:childTnLst>
                                    <p:set>
                                      <p:cBhvr>
                                        <p:cTn id="11" dur="1" fill="hold">
                                          <p:stCondLst>
                                            <p:cond delay="0"/>
                                          </p:stCondLst>
                                        </p:cTn>
                                        <p:tgtEl>
                                          <p:spTgt spid="51"/>
                                        </p:tgtEl>
                                        <p:attrNameLst>
                                          <p:attrName>style.visibility</p:attrName>
                                        </p:attrNameLst>
                                      </p:cBhvr>
                                      <p:to>
                                        <p:strVal val="visible"/>
                                      </p:to>
                                    </p:set>
                                    <p:anim calcmode="lin" valueType="num">
                                      <p:cBhvr additive="base">
                                        <p:cTn id="12" dur="500" fill="hold"/>
                                        <p:tgtEl>
                                          <p:spTgt spid="51"/>
                                        </p:tgtEl>
                                        <p:attrNameLst>
                                          <p:attrName>ppt_x</p:attrName>
                                        </p:attrNameLst>
                                      </p:cBhvr>
                                      <p:tavLst>
                                        <p:tav tm="0">
                                          <p:val>
                                            <p:strVal val="1+#ppt_w/2"/>
                                          </p:val>
                                        </p:tav>
                                        <p:tav tm="100000">
                                          <p:val>
                                            <p:strVal val="#ppt_x"/>
                                          </p:val>
                                        </p:tav>
                                      </p:tavLst>
                                    </p:anim>
                                    <p:anim calcmode="lin" valueType="num">
                                      <p:cBhvr additive="base">
                                        <p:cTn id="13" dur="500" fill="hold"/>
                                        <p:tgtEl>
                                          <p:spTgt spid="51"/>
                                        </p:tgtEl>
                                        <p:attrNameLst>
                                          <p:attrName>ppt_y</p:attrName>
                                        </p:attrNameLst>
                                      </p:cBhvr>
                                      <p:tavLst>
                                        <p:tav tm="0">
                                          <p:val>
                                            <p:strVal val="#ppt_y"/>
                                          </p:val>
                                        </p:tav>
                                        <p:tav tm="100000">
                                          <p:val>
                                            <p:strVal val="#ppt_y"/>
                                          </p:val>
                                        </p:tav>
                                      </p:tavLst>
                                    </p:anim>
                                  </p:childTnLst>
                                </p:cTn>
                              </p:par>
                            </p:childTnLst>
                          </p:cTn>
                        </p:par>
                        <p:par>
                          <p:cTn id="14" fill="hold">
                            <p:stCondLst>
                              <p:cond delay="10000"/>
                            </p:stCondLst>
                            <p:childTnLst>
                              <p:par>
                                <p:cTn id="15" presetID="2" presetClass="entr" presetSubtype="2" fill="hold" grpId="0" nodeType="afterEffect">
                                  <p:stCondLst>
                                    <p:cond delay="4000"/>
                                  </p:stCondLst>
                                  <p:childTnLst>
                                    <p:set>
                                      <p:cBhvr>
                                        <p:cTn id="16" dur="1" fill="hold">
                                          <p:stCondLst>
                                            <p:cond delay="0"/>
                                          </p:stCondLst>
                                        </p:cTn>
                                        <p:tgtEl>
                                          <p:spTgt spid="52"/>
                                        </p:tgtEl>
                                        <p:attrNameLst>
                                          <p:attrName>style.visibility</p:attrName>
                                        </p:attrNameLst>
                                      </p:cBhvr>
                                      <p:to>
                                        <p:strVal val="visible"/>
                                      </p:to>
                                    </p:set>
                                    <p:anim calcmode="lin" valueType="num">
                                      <p:cBhvr additive="base">
                                        <p:cTn id="17" dur="500" fill="hold"/>
                                        <p:tgtEl>
                                          <p:spTgt spid="52"/>
                                        </p:tgtEl>
                                        <p:attrNameLst>
                                          <p:attrName>ppt_x</p:attrName>
                                        </p:attrNameLst>
                                      </p:cBhvr>
                                      <p:tavLst>
                                        <p:tav tm="0">
                                          <p:val>
                                            <p:strVal val="1+#ppt_w/2"/>
                                          </p:val>
                                        </p:tav>
                                        <p:tav tm="100000">
                                          <p:val>
                                            <p:strVal val="#ppt_x"/>
                                          </p:val>
                                        </p:tav>
                                      </p:tavLst>
                                    </p:anim>
                                    <p:anim calcmode="lin" valueType="num">
                                      <p:cBhvr additive="base">
                                        <p:cTn id="18" dur="500" fill="hold"/>
                                        <p:tgtEl>
                                          <p:spTgt spid="52"/>
                                        </p:tgtEl>
                                        <p:attrNameLst>
                                          <p:attrName>ppt_y</p:attrName>
                                        </p:attrNameLst>
                                      </p:cBhvr>
                                      <p:tavLst>
                                        <p:tav tm="0">
                                          <p:val>
                                            <p:strVal val="#ppt_y"/>
                                          </p:val>
                                        </p:tav>
                                        <p:tav tm="100000">
                                          <p:val>
                                            <p:strVal val="#ppt_y"/>
                                          </p:val>
                                        </p:tav>
                                      </p:tavLst>
                                    </p:anim>
                                  </p:childTnLst>
                                </p:cTn>
                              </p:par>
                            </p:childTnLst>
                          </p:cTn>
                        </p:par>
                        <p:par>
                          <p:cTn id="19" fill="hold">
                            <p:stCondLst>
                              <p:cond delay="14500"/>
                            </p:stCondLst>
                            <p:childTnLst>
                              <p:par>
                                <p:cTn id="20" presetID="2" presetClass="entr" presetSubtype="2" fill="hold" grpId="0" nodeType="afterEffect">
                                  <p:stCondLst>
                                    <p:cond delay="5000"/>
                                  </p:stCondLst>
                                  <p:childTnLst>
                                    <p:set>
                                      <p:cBhvr>
                                        <p:cTn id="21" dur="1" fill="hold">
                                          <p:stCondLst>
                                            <p:cond delay="0"/>
                                          </p:stCondLst>
                                        </p:cTn>
                                        <p:tgtEl>
                                          <p:spTgt spid="53"/>
                                        </p:tgtEl>
                                        <p:attrNameLst>
                                          <p:attrName>style.visibility</p:attrName>
                                        </p:attrNameLst>
                                      </p:cBhvr>
                                      <p:to>
                                        <p:strVal val="visible"/>
                                      </p:to>
                                    </p:set>
                                    <p:anim calcmode="lin" valueType="num">
                                      <p:cBhvr additive="base">
                                        <p:cTn id="22" dur="500" fill="hold"/>
                                        <p:tgtEl>
                                          <p:spTgt spid="53"/>
                                        </p:tgtEl>
                                        <p:attrNameLst>
                                          <p:attrName>ppt_x</p:attrName>
                                        </p:attrNameLst>
                                      </p:cBhvr>
                                      <p:tavLst>
                                        <p:tav tm="0">
                                          <p:val>
                                            <p:strVal val="1+#ppt_w/2"/>
                                          </p:val>
                                        </p:tav>
                                        <p:tav tm="100000">
                                          <p:val>
                                            <p:strVal val="#ppt_x"/>
                                          </p:val>
                                        </p:tav>
                                      </p:tavLst>
                                    </p:anim>
                                    <p:anim calcmode="lin" valueType="num">
                                      <p:cBhvr additive="base">
                                        <p:cTn id="23" dur="500" fill="hold"/>
                                        <p:tgtEl>
                                          <p:spTgt spid="53"/>
                                        </p:tgtEl>
                                        <p:attrNameLst>
                                          <p:attrName>ppt_y</p:attrName>
                                        </p:attrNameLst>
                                      </p:cBhvr>
                                      <p:tavLst>
                                        <p:tav tm="0">
                                          <p:val>
                                            <p:strVal val="#ppt_y"/>
                                          </p:val>
                                        </p:tav>
                                        <p:tav tm="100000">
                                          <p:val>
                                            <p:strVal val="#ppt_y"/>
                                          </p:val>
                                        </p:tav>
                                      </p:tavLst>
                                    </p:anim>
                                  </p:childTnLst>
                                </p:cTn>
                              </p:par>
                            </p:childTnLst>
                          </p:cTn>
                        </p:par>
                        <p:par>
                          <p:cTn id="24" fill="hold">
                            <p:stCondLst>
                              <p:cond delay="20000"/>
                            </p:stCondLst>
                            <p:childTnLst>
                              <p:par>
                                <p:cTn id="25" presetID="2" presetClass="entr" presetSubtype="2" fill="hold" grpId="0" nodeType="afterEffect">
                                  <p:stCondLst>
                                    <p:cond delay="5000"/>
                                  </p:stCondLst>
                                  <p:childTnLst>
                                    <p:set>
                                      <p:cBhvr>
                                        <p:cTn id="26" dur="1" fill="hold">
                                          <p:stCondLst>
                                            <p:cond delay="0"/>
                                          </p:stCondLst>
                                        </p:cTn>
                                        <p:tgtEl>
                                          <p:spTgt spid="54"/>
                                        </p:tgtEl>
                                        <p:attrNameLst>
                                          <p:attrName>style.visibility</p:attrName>
                                        </p:attrNameLst>
                                      </p:cBhvr>
                                      <p:to>
                                        <p:strVal val="visible"/>
                                      </p:to>
                                    </p:set>
                                    <p:anim calcmode="lin" valueType="num">
                                      <p:cBhvr additive="base">
                                        <p:cTn id="27" dur="500" fill="hold"/>
                                        <p:tgtEl>
                                          <p:spTgt spid="54"/>
                                        </p:tgtEl>
                                        <p:attrNameLst>
                                          <p:attrName>ppt_x</p:attrName>
                                        </p:attrNameLst>
                                      </p:cBhvr>
                                      <p:tavLst>
                                        <p:tav tm="0">
                                          <p:val>
                                            <p:strVal val="1+#ppt_w/2"/>
                                          </p:val>
                                        </p:tav>
                                        <p:tav tm="100000">
                                          <p:val>
                                            <p:strVal val="#ppt_x"/>
                                          </p:val>
                                        </p:tav>
                                      </p:tavLst>
                                    </p:anim>
                                    <p:anim calcmode="lin" valueType="num">
                                      <p:cBhvr additive="base">
                                        <p:cTn id="28" dur="500" fill="hold"/>
                                        <p:tgtEl>
                                          <p:spTgt spid="54"/>
                                        </p:tgtEl>
                                        <p:attrNameLst>
                                          <p:attrName>ppt_y</p:attrName>
                                        </p:attrNameLst>
                                      </p:cBhvr>
                                      <p:tavLst>
                                        <p:tav tm="0">
                                          <p:val>
                                            <p:strVal val="#ppt_y"/>
                                          </p:val>
                                        </p:tav>
                                        <p:tav tm="100000">
                                          <p:val>
                                            <p:strVal val="#ppt_y"/>
                                          </p:val>
                                        </p:tav>
                                      </p:tavLst>
                                    </p:anim>
                                  </p:childTnLst>
                                </p:cTn>
                              </p:par>
                            </p:childTnLst>
                          </p:cTn>
                        </p:par>
                        <p:par>
                          <p:cTn id="29" fill="hold">
                            <p:stCondLst>
                              <p:cond delay="25500"/>
                            </p:stCondLst>
                            <p:childTnLst>
                              <p:par>
                                <p:cTn id="30" presetID="2" presetClass="entr" presetSubtype="2" fill="hold" grpId="0" nodeType="afterEffect">
                                  <p:stCondLst>
                                    <p:cond delay="5000"/>
                                  </p:stCondLst>
                                  <p:childTnLst>
                                    <p:set>
                                      <p:cBhvr>
                                        <p:cTn id="31" dur="1" fill="hold">
                                          <p:stCondLst>
                                            <p:cond delay="0"/>
                                          </p:stCondLst>
                                        </p:cTn>
                                        <p:tgtEl>
                                          <p:spTgt spid="55"/>
                                        </p:tgtEl>
                                        <p:attrNameLst>
                                          <p:attrName>style.visibility</p:attrName>
                                        </p:attrNameLst>
                                      </p:cBhvr>
                                      <p:to>
                                        <p:strVal val="visible"/>
                                      </p:to>
                                    </p:set>
                                    <p:anim calcmode="lin" valueType="num">
                                      <p:cBhvr additive="base">
                                        <p:cTn id="32" dur="500" fill="hold"/>
                                        <p:tgtEl>
                                          <p:spTgt spid="55"/>
                                        </p:tgtEl>
                                        <p:attrNameLst>
                                          <p:attrName>ppt_x</p:attrName>
                                        </p:attrNameLst>
                                      </p:cBhvr>
                                      <p:tavLst>
                                        <p:tav tm="0">
                                          <p:val>
                                            <p:strVal val="1+#ppt_w/2"/>
                                          </p:val>
                                        </p:tav>
                                        <p:tav tm="100000">
                                          <p:val>
                                            <p:strVal val="#ppt_x"/>
                                          </p:val>
                                        </p:tav>
                                      </p:tavLst>
                                    </p:anim>
                                    <p:anim calcmode="lin" valueType="num">
                                      <p:cBhvr additive="base">
                                        <p:cTn id="33" dur="500" fill="hold"/>
                                        <p:tgtEl>
                                          <p:spTgt spid="55"/>
                                        </p:tgtEl>
                                        <p:attrNameLst>
                                          <p:attrName>ppt_y</p:attrName>
                                        </p:attrNameLst>
                                      </p:cBhvr>
                                      <p:tavLst>
                                        <p:tav tm="0">
                                          <p:val>
                                            <p:strVal val="#ppt_y"/>
                                          </p:val>
                                        </p:tav>
                                        <p:tav tm="100000">
                                          <p:val>
                                            <p:strVal val="#ppt_y"/>
                                          </p:val>
                                        </p:tav>
                                      </p:tavLst>
                                    </p:anim>
                                  </p:childTnLst>
                                </p:cTn>
                              </p:par>
                            </p:childTnLst>
                          </p:cTn>
                        </p:par>
                        <p:par>
                          <p:cTn id="34" fill="hold">
                            <p:stCondLst>
                              <p:cond delay="31000"/>
                            </p:stCondLst>
                            <p:childTnLst>
                              <p:par>
                                <p:cTn id="35" presetID="2" presetClass="entr" presetSubtype="2" fill="hold" grpId="0" nodeType="afterEffect">
                                  <p:stCondLst>
                                    <p:cond delay="5000"/>
                                  </p:stCondLst>
                                  <p:childTnLst>
                                    <p:set>
                                      <p:cBhvr>
                                        <p:cTn id="36" dur="1" fill="hold">
                                          <p:stCondLst>
                                            <p:cond delay="0"/>
                                          </p:stCondLst>
                                        </p:cTn>
                                        <p:tgtEl>
                                          <p:spTgt spid="56"/>
                                        </p:tgtEl>
                                        <p:attrNameLst>
                                          <p:attrName>style.visibility</p:attrName>
                                        </p:attrNameLst>
                                      </p:cBhvr>
                                      <p:to>
                                        <p:strVal val="visible"/>
                                      </p:to>
                                    </p:set>
                                    <p:anim calcmode="lin" valueType="num">
                                      <p:cBhvr additive="base">
                                        <p:cTn id="37" dur="500" fill="hold"/>
                                        <p:tgtEl>
                                          <p:spTgt spid="56"/>
                                        </p:tgtEl>
                                        <p:attrNameLst>
                                          <p:attrName>ppt_x</p:attrName>
                                        </p:attrNameLst>
                                      </p:cBhvr>
                                      <p:tavLst>
                                        <p:tav tm="0">
                                          <p:val>
                                            <p:strVal val="1+#ppt_w/2"/>
                                          </p:val>
                                        </p:tav>
                                        <p:tav tm="100000">
                                          <p:val>
                                            <p:strVal val="#ppt_x"/>
                                          </p:val>
                                        </p:tav>
                                      </p:tavLst>
                                    </p:anim>
                                    <p:anim calcmode="lin" valueType="num">
                                      <p:cBhvr additive="base">
                                        <p:cTn id="38" dur="500" fill="hold"/>
                                        <p:tgtEl>
                                          <p:spTgt spid="56"/>
                                        </p:tgtEl>
                                        <p:attrNameLst>
                                          <p:attrName>ppt_y</p:attrName>
                                        </p:attrNameLst>
                                      </p:cBhvr>
                                      <p:tavLst>
                                        <p:tav tm="0">
                                          <p:val>
                                            <p:strVal val="#ppt_y"/>
                                          </p:val>
                                        </p:tav>
                                        <p:tav tm="100000">
                                          <p:val>
                                            <p:strVal val="#ppt_y"/>
                                          </p:val>
                                        </p:tav>
                                      </p:tavLst>
                                    </p:anim>
                                  </p:childTnLst>
                                </p:cTn>
                              </p:par>
                            </p:childTnLst>
                          </p:cTn>
                        </p:par>
                        <p:par>
                          <p:cTn id="39" fill="hold">
                            <p:stCondLst>
                              <p:cond delay="36500"/>
                            </p:stCondLst>
                            <p:childTnLst>
                              <p:par>
                                <p:cTn id="40" presetID="2" presetClass="entr" presetSubtype="2" fill="hold" grpId="0" nodeType="afterEffect">
                                  <p:stCondLst>
                                    <p:cond delay="5000"/>
                                  </p:stCondLst>
                                  <p:childTnLst>
                                    <p:set>
                                      <p:cBhvr>
                                        <p:cTn id="41" dur="1" fill="hold">
                                          <p:stCondLst>
                                            <p:cond delay="0"/>
                                          </p:stCondLst>
                                        </p:cTn>
                                        <p:tgtEl>
                                          <p:spTgt spid="57"/>
                                        </p:tgtEl>
                                        <p:attrNameLst>
                                          <p:attrName>style.visibility</p:attrName>
                                        </p:attrNameLst>
                                      </p:cBhvr>
                                      <p:to>
                                        <p:strVal val="visible"/>
                                      </p:to>
                                    </p:set>
                                    <p:anim calcmode="lin" valueType="num">
                                      <p:cBhvr additive="base">
                                        <p:cTn id="42" dur="500" fill="hold"/>
                                        <p:tgtEl>
                                          <p:spTgt spid="57"/>
                                        </p:tgtEl>
                                        <p:attrNameLst>
                                          <p:attrName>ppt_x</p:attrName>
                                        </p:attrNameLst>
                                      </p:cBhvr>
                                      <p:tavLst>
                                        <p:tav tm="0">
                                          <p:val>
                                            <p:strVal val="1+#ppt_w/2"/>
                                          </p:val>
                                        </p:tav>
                                        <p:tav tm="100000">
                                          <p:val>
                                            <p:strVal val="#ppt_x"/>
                                          </p:val>
                                        </p:tav>
                                      </p:tavLst>
                                    </p:anim>
                                    <p:anim calcmode="lin" valueType="num">
                                      <p:cBhvr additive="base">
                                        <p:cTn id="43"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utoUpdateAnimBg="0"/>
      <p:bldP spid="51" grpId="0" autoUpdateAnimBg="0"/>
      <p:bldP spid="52" grpId="0" autoUpdateAnimBg="0"/>
      <p:bldP spid="53" grpId="0" autoUpdateAnimBg="0"/>
      <p:bldP spid="54" grpId="0" autoUpdateAnimBg="0"/>
      <p:bldP spid="55" grpId="0" autoUpdateAnimBg="0"/>
      <p:bldP spid="56" grpId="0" autoUpdateAnimBg="0"/>
      <p:bldP spid="57" grpId="0" autoUpdateAnimBg="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2143</TotalTime>
  <Words>13580</Words>
  <Application>Microsoft Office PowerPoint</Application>
  <PresentationFormat>自定义</PresentationFormat>
  <Paragraphs>4698</Paragraphs>
  <Slides>153</Slides>
  <Notes>4</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153</vt:i4>
      </vt:variant>
    </vt:vector>
  </HeadingPairs>
  <TitlesOfParts>
    <vt:vector size="156" baseType="lpstr">
      <vt:lpstr>Office 主题​​</vt:lpstr>
      <vt:lpstr>Equation</vt:lpstr>
      <vt:lpstr>Clip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 Data Structure</dc:title>
  <dc:creator>Fenghc</dc:creator>
  <cp:lastModifiedBy>Administrator</cp:lastModifiedBy>
  <cp:revision>228</cp:revision>
  <dcterms:created xsi:type="dcterms:W3CDTF">2021-02-25T03:49:55Z</dcterms:created>
  <dcterms:modified xsi:type="dcterms:W3CDTF">2025-10-27T05:36:55Z</dcterms:modified>
</cp:coreProperties>
</file>