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846" r:id="rId2"/>
    <p:sldId id="745" r:id="rId3"/>
    <p:sldId id="849" r:id="rId4"/>
    <p:sldId id="850" r:id="rId5"/>
    <p:sldId id="851" r:id="rId6"/>
    <p:sldId id="852" r:id="rId7"/>
    <p:sldId id="853" r:id="rId8"/>
    <p:sldId id="854" r:id="rId9"/>
    <p:sldId id="855" r:id="rId10"/>
    <p:sldId id="85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30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34CBF-F2A7-4204-8063-9BFDC9C0A20E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859C8-35D3-4E84-A3D2-815F7F7E38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83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4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85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2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12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00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86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34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73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14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02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05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B11C4-7618-49BA-A742-440409CFAB34}" type="datetimeFigureOut">
              <a:rPr lang="zh-CN" altLang="en-US" smtClean="0"/>
              <a:t>2025/10/12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3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3512" y="383177"/>
            <a:ext cx="8784976" cy="925286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黑体" pitchFamily="49" charset="-122"/>
                <a:ea typeface="黑体" pitchFamily="49" charset="-122"/>
                <a:cs typeface="+mn-cs"/>
              </a:rPr>
              <a:t>第</a:t>
            </a:r>
            <a:r>
              <a:rPr lang="en-US" altLang="zh-CN" b="1" dirty="0">
                <a:latin typeface="黑体" pitchFamily="49" charset="-122"/>
                <a:ea typeface="黑体" pitchFamily="49" charset="-122"/>
                <a:cs typeface="+mn-cs"/>
              </a:rPr>
              <a:t>5</a:t>
            </a:r>
            <a:r>
              <a:rPr lang="zh-CN" altLang="en-US" b="1" dirty="0">
                <a:latin typeface="黑体" pitchFamily="49" charset="-122"/>
                <a:ea typeface="黑体" pitchFamily="49" charset="-122"/>
                <a:cs typeface="+mn-cs"/>
              </a:rPr>
              <a:t>章 递归</a:t>
            </a:r>
            <a:endParaRPr lang="en-US" altLang="zh-CN" dirty="0"/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 flipH="1">
            <a:off x="0" y="1419497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655840" y="2348880"/>
            <a:ext cx="3242328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/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.1 什么是递归</a:t>
            </a:r>
          </a:p>
        </p:txBody>
      </p:sp>
      <p:sp>
        <p:nvSpPr>
          <p:cNvPr id="14" name="矩形 13"/>
          <p:cNvSpPr/>
          <p:nvPr/>
        </p:nvSpPr>
        <p:spPr>
          <a:xfrm>
            <a:off x="4655838" y="3501008"/>
            <a:ext cx="3170321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/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.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栈和递归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F7DD18-9686-317D-1C09-6EE3BFA58FEB}"/>
              </a:ext>
            </a:extLst>
          </p:cNvPr>
          <p:cNvSpPr/>
          <p:nvPr/>
        </p:nvSpPr>
        <p:spPr>
          <a:xfrm>
            <a:off x="4655838" y="4509120"/>
            <a:ext cx="3530362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/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.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 递归算法设计</a:t>
            </a:r>
          </a:p>
        </p:txBody>
      </p:sp>
    </p:spTree>
    <p:extLst>
      <p:ext uri="{BB962C8B-B14F-4D97-AF65-F5344CB8AC3E}">
        <p14:creationId xmlns:p14="http://schemas.microsoft.com/office/powerpoint/2010/main" val="340056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B2E4CF5-5B6B-41D3-845A-FCE3D4559309}"/>
              </a:ext>
            </a:extLst>
          </p:cNvPr>
          <p:cNvSpPr/>
          <p:nvPr/>
        </p:nvSpPr>
        <p:spPr>
          <a:xfrm>
            <a:off x="407368" y="1089797"/>
            <a:ext cx="31433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5.1.1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递归的定义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001B5B6-A2B9-4A7A-A3FB-3E2640705B5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5.1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什么是递归</a:t>
            </a:r>
            <a:endParaRPr lang="en-US" altLang="zh-CN" sz="36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0D12E9A-BFAC-A286-8695-FFC3CDC8790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4C4909D4-2984-814F-B37E-54FCEBF7E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793" y="2093916"/>
            <a:ext cx="4914119" cy="82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kumimoji="1" lang="en-US" altLang="zh-CN" sz="2000" dirty="0">
                <a:ea typeface="楷体" pitchFamily="49" charset="-122"/>
                <a:cs typeface="Times New Roman" pitchFamily="18" charset="0"/>
              </a:rPr>
              <a:t>  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在定义一个过程或函数时，出现直接或者间接调用自己的成分，称之为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递归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68DB0-4B3C-823A-1EDE-0FBF0D3603E8}"/>
              </a:ext>
            </a:extLst>
          </p:cNvPr>
          <p:cNvSpPr txBox="1"/>
          <p:nvPr/>
        </p:nvSpPr>
        <p:spPr>
          <a:xfrm>
            <a:off x="660442" y="3192673"/>
            <a:ext cx="4643470" cy="8270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若直接调用自己，称之为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直接递归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若间接调用自己，称之为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间接递归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5F35865-C7E1-EDC7-3CE0-CCD1E100794C}"/>
              </a:ext>
            </a:extLst>
          </p:cNvPr>
          <p:cNvSpPr txBox="1">
            <a:spLocks noChangeArrowheads="1"/>
          </p:cNvSpPr>
          <p:nvPr/>
        </p:nvSpPr>
        <p:spPr>
          <a:xfrm>
            <a:off x="6337078" y="2996952"/>
            <a:ext cx="4608512" cy="36724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long  </a:t>
            </a:r>
            <a:r>
              <a:rPr lang="en-US" altLang="zh-CN" sz="2000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fact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int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n)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{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         if (n&gt;1) 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                   return n*</a:t>
            </a:r>
            <a:r>
              <a:rPr lang="en-US" altLang="zh-CN" sz="2000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fact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(n-1);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         else  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                  return 1;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}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void  main( )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{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   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int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n=5;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   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printf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(“%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ld</a:t>
            </a: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”,fact(n));</a:t>
            </a:r>
          </a:p>
          <a:p>
            <a:pPr algn="l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B4F1EE-0F6D-71B5-2C5D-36E55DE3C8D1}"/>
              </a:ext>
            </a:extLst>
          </p:cNvPr>
          <p:cNvSpPr/>
          <p:nvPr/>
        </p:nvSpPr>
        <p:spPr>
          <a:xfrm>
            <a:off x="6600056" y="1266750"/>
            <a:ext cx="1604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例：求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！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AEE2734-5E11-1693-8EF4-6822AD82613A}"/>
              </a:ext>
            </a:extLst>
          </p:cNvPr>
          <p:cNvSpPr txBox="1"/>
          <p:nvPr/>
        </p:nvSpPr>
        <p:spPr>
          <a:xfrm>
            <a:off x="6456040" y="1728415"/>
            <a:ext cx="5500726" cy="91060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spcBef>
                <a:spcPts val="600"/>
              </a:spcBef>
              <a:buBlip>
                <a:blip r:embed="rId3"/>
              </a:buBlip>
            </a:pP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n!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的定义是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1!=1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n!=n*(n-1)!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marL="457200" indent="-457200" algn="l">
              <a:spcBef>
                <a:spcPts val="600"/>
              </a:spcBef>
              <a:buBlip>
                <a:blip r:embed="rId3"/>
              </a:buBlip>
            </a:pP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递归函数</a:t>
            </a:r>
            <a:r>
              <a:rPr lang="en-US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fact(n)</a:t>
            </a:r>
            <a:r>
              <a:rPr lang="zh-CN" altLang="zh-CN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如下</a:t>
            </a: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85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5F66-008F-6AF3-3E17-07D6D4B6E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282630-C83B-82CE-E2B7-19F9A5371EE0}"/>
              </a:ext>
            </a:extLst>
          </p:cNvPr>
          <p:cNvSpPr/>
          <p:nvPr/>
        </p:nvSpPr>
        <p:spPr>
          <a:xfrm>
            <a:off x="407368" y="1089797"/>
            <a:ext cx="3456384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5.1.2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何时使用递归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3317E20-6138-1031-B24C-656C180AD930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5.1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什么是递归</a:t>
            </a:r>
            <a:endParaRPr lang="en-US" altLang="zh-CN" sz="36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6AD634C-6F18-2ADC-8B47-502477E1194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>
            <a:extLst>
              <a:ext uri="{FF2B5EF4-FFF2-40B4-BE49-F238E27FC236}">
                <a16:creationId xmlns:a16="http://schemas.microsoft.com/office/drawing/2014/main" id="{6E6D698F-B5A5-6026-5B14-03592BE20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48" y="3436155"/>
            <a:ext cx="10153128" cy="149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ct val="50000"/>
              </a:spcBef>
            </a:pP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有许多数学公式、数列等的定义是递归的。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algn="l">
              <a:lnSpc>
                <a:spcPct val="140000"/>
              </a:lnSpc>
              <a:spcBef>
                <a:spcPct val="50000"/>
              </a:spcBef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例如，求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n!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Fibonacci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数列等。这些问题的求解过程可以将其递归定义直接转化为对应的递归算法。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033E09FD-5628-983E-54EE-2509DAEBF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924421"/>
            <a:ext cx="6337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在以下三种情况下，常常要用到递归的方法。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474AC178-179C-58E2-9BAE-6876439B6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2634553"/>
            <a:ext cx="2816217" cy="4956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kumimoji="1" lang="en-US" altLang="zh-CN" sz="2200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1</a:t>
            </a:r>
            <a:r>
              <a:rPr kumimoji="1" lang="zh-CN" altLang="en-US" sz="2200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、定义是递归的</a:t>
            </a:r>
            <a:endParaRPr lang="zh-CN" altLang="en-US" sz="2200" dirty="0">
              <a:solidFill>
                <a:schemeClr val="bg1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90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88C3-48BC-5F0B-D79F-FC4DFAA72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26965E8-B1FE-0E57-503A-8BDAE0555E92}"/>
              </a:ext>
            </a:extLst>
          </p:cNvPr>
          <p:cNvSpPr/>
          <p:nvPr/>
        </p:nvSpPr>
        <p:spPr>
          <a:xfrm>
            <a:off x="407368" y="1089797"/>
            <a:ext cx="3456384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5.1.2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何时使用递归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AAFE617-CA3C-C8CF-29C5-E7D00DACE8C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5.1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什么是递归</a:t>
            </a:r>
            <a:endParaRPr lang="en-US" altLang="zh-CN" sz="36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10AD30A-440F-4B48-CD4D-EA044B94BE3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5">
            <a:extLst>
              <a:ext uri="{FF2B5EF4-FFF2-40B4-BE49-F238E27FC236}">
                <a16:creationId xmlns:a16="http://schemas.microsoft.com/office/drawing/2014/main" id="{54E6FAC1-3D88-78A9-2CC4-2DE088497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924421"/>
            <a:ext cx="6337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在以下三种情况下，常常要用到递归的方法。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2266880C-590B-7F22-C5AA-A0DAECD86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2634553"/>
            <a:ext cx="3384376" cy="4956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kumimoji="1" lang="en-US" altLang="zh-CN" sz="2200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2</a:t>
            </a:r>
            <a:r>
              <a:rPr kumimoji="1" lang="zh-CN" altLang="en-US" sz="2200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、数据结构是递归的</a:t>
            </a:r>
            <a:endParaRPr lang="zh-CN" altLang="en-US" sz="2200" dirty="0">
              <a:solidFill>
                <a:schemeClr val="bg1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E2C1CA1-C001-F1FC-9E9C-808235CF6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6427" y="3790288"/>
            <a:ext cx="3452815" cy="1887010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324000" tIns="180000" rIns="180000" bIns="180000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typedef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kumimoji="1" lang="en-US" altLang="zh-CN" sz="1800" dirty="0" err="1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struct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LNode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ElemType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data;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kumimoji="1" lang="en-US" altLang="zh-CN" sz="1800" dirty="0" err="1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struct</a:t>
            </a:r>
            <a:r>
              <a:rPr kumimoji="1" lang="en-US" altLang="zh-CN" sz="18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LNode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*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next;  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  </a:t>
            </a:r>
            <a:r>
              <a:rPr kumimoji="1" lang="en-US" altLang="zh-CN" sz="18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LinkNode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;      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C0BD338E-9258-B4F0-6E1C-3C4B64946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678" y="3256301"/>
            <a:ext cx="9448842" cy="77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kumimoji="1" lang="en-US" altLang="zh-CN" sz="2000" dirty="0">
                <a:ea typeface="楷体" pitchFamily="49" charset="-122"/>
                <a:cs typeface="Times New Roman" pitchFamily="18" charset="0"/>
              </a:rPr>
              <a:t>  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有些数据结构是递归的。例如，第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章中介绍过的单链表就是一种递归数据结构，其结点类型定义如下：</a:t>
            </a:r>
          </a:p>
        </p:txBody>
      </p:sp>
      <p:grpSp>
        <p:nvGrpSpPr>
          <p:cNvPr id="8" name="组合 12">
            <a:extLst>
              <a:ext uri="{FF2B5EF4-FFF2-40B4-BE49-F238E27FC236}">
                <a16:creationId xmlns:a16="http://schemas.microsoft.com/office/drawing/2014/main" id="{08CC5005-1614-E0B8-2723-8F70F07E2C8C}"/>
              </a:ext>
            </a:extLst>
          </p:cNvPr>
          <p:cNvGrpSpPr/>
          <p:nvPr/>
        </p:nvGrpSpPr>
        <p:grpSpPr>
          <a:xfrm>
            <a:off x="6616586" y="4801523"/>
            <a:ext cx="4168804" cy="400110"/>
            <a:chOff x="4475162" y="3212427"/>
            <a:chExt cx="4168804" cy="400110"/>
          </a:xfrm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</p:grpSpPr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CCAB6F50-B52B-253A-7E1D-B5B6F6D24D44}"/>
                </a:ext>
              </a:extLst>
            </p:cNvPr>
            <p:cNvSpPr txBox="1"/>
            <p:nvPr/>
          </p:nvSpPr>
          <p:spPr>
            <a:xfrm>
              <a:off x="5429256" y="3212427"/>
              <a:ext cx="3214710" cy="400110"/>
            </a:xfrm>
            <a:prstGeom prst="rect">
              <a:avLst/>
            </a:prstGeom>
            <a:noFill/>
            <a:ln>
              <a:noFill/>
            </a:ln>
            <a:effectLst>
              <a:outerShdw blurRad="184150" dist="241300" dir="11520000" sx="110000" sy="110000" algn="ctr">
                <a:srgbClr val="000000">
                  <a:alpha val="18000"/>
                </a:srgbClr>
              </a:outerShdw>
            </a:effectLst>
            <a:sp3d extrusionH="107950" prstMaterial="plastic">
              <a:bevelT w="82550" h="63500" prst="divot"/>
              <a:bevelB/>
            </a:sp3d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000">
                  <a:ea typeface="楷体" pitchFamily="49" charset="-122"/>
                  <a:cs typeface="Times New Roman" pitchFamily="18" charset="0"/>
                </a:rPr>
                <a:t>指向同类型结点的指针</a:t>
              </a:r>
              <a:endParaRPr lang="zh-CN" altLang="en-US" sz="2000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A66002E7-E0E3-22EC-0246-0277F55AAD08}"/>
                </a:ext>
              </a:extLst>
            </p:cNvPr>
            <p:cNvCxnSpPr/>
            <p:nvPr/>
          </p:nvCxnSpPr>
          <p:spPr>
            <a:xfrm rot="10800000">
              <a:off x="4475162" y="3427411"/>
              <a:ext cx="1000132" cy="1588"/>
            </a:xfrm>
            <a:prstGeom prst="straightConnector1">
              <a:avLst/>
            </a:prstGeom>
            <a:ln w="34925">
              <a:solidFill>
                <a:srgbClr val="7030A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1">
            <a:extLst>
              <a:ext uri="{FF2B5EF4-FFF2-40B4-BE49-F238E27FC236}">
                <a16:creationId xmlns:a16="http://schemas.microsoft.com/office/drawing/2014/main" id="{42C65710-BCAB-B382-D0B6-C233A04F697F}"/>
              </a:ext>
            </a:extLst>
          </p:cNvPr>
          <p:cNvGrpSpPr/>
          <p:nvPr/>
        </p:nvGrpSpPr>
        <p:grpSpPr>
          <a:xfrm>
            <a:off x="4727848" y="5710153"/>
            <a:ext cx="2143140" cy="1002263"/>
            <a:chOff x="2143108" y="4214818"/>
            <a:chExt cx="2143140" cy="1002263"/>
          </a:xfrm>
        </p:grpSpPr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04B6344F-FAC3-6E67-77A5-A7BD936B5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108" y="4786322"/>
              <a:ext cx="2143140" cy="4307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000">
                  <a:latin typeface="Consolas" pitchFamily="49" charset="0"/>
                  <a:ea typeface="仿宋" pitchFamily="49" charset="-122"/>
                  <a:cs typeface="Consolas" pitchFamily="49" charset="0"/>
                </a:rPr>
                <a:t>递归数据结构 </a:t>
              </a:r>
              <a:endParaRPr lang="zh-CN" altLang="en-US" sz="2000" dirty="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下箭头 10">
              <a:extLst>
                <a:ext uri="{FF2B5EF4-FFF2-40B4-BE49-F238E27FC236}">
                  <a16:creationId xmlns:a16="http://schemas.microsoft.com/office/drawing/2014/main" id="{E605067C-7029-7CB8-BC30-AE57775CCD95}"/>
                </a:ext>
              </a:extLst>
            </p:cNvPr>
            <p:cNvSpPr/>
            <p:nvPr/>
          </p:nvSpPr>
          <p:spPr>
            <a:xfrm>
              <a:off x="3071802" y="4214818"/>
              <a:ext cx="214314" cy="500066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</p:grpSp>
    </p:spTree>
    <p:extLst>
      <p:ext uri="{BB962C8B-B14F-4D97-AF65-F5344CB8AC3E}">
        <p14:creationId xmlns:p14="http://schemas.microsoft.com/office/powerpoint/2010/main" val="397818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C20E-FE43-245E-4E51-8CD18F5B0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A97FE63-AF0D-DD31-F971-675E88269FCC}"/>
              </a:ext>
            </a:extLst>
          </p:cNvPr>
          <p:cNvSpPr/>
          <p:nvPr/>
        </p:nvSpPr>
        <p:spPr>
          <a:xfrm>
            <a:off x="407368" y="1089797"/>
            <a:ext cx="3456384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5.1.2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何时使用递归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20F994E-7705-A750-3EF5-57516595191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5.1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什么是递归</a:t>
            </a:r>
            <a:endParaRPr lang="en-US" altLang="zh-CN" sz="36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7542EB3F-43B2-FB5B-BBA4-B724C2F1D02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5">
            <a:extLst>
              <a:ext uri="{FF2B5EF4-FFF2-40B4-BE49-F238E27FC236}">
                <a16:creationId xmlns:a16="http://schemas.microsoft.com/office/drawing/2014/main" id="{3909EC97-5469-948D-25C0-99F12CA5A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924421"/>
            <a:ext cx="6337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在以下三种情况下，常常要用到递归的方法。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6241F562-0908-4307-DC2D-934927092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2634553"/>
            <a:ext cx="4104456" cy="4956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kumimoji="1" lang="en-US" altLang="zh-CN" sz="2200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3</a:t>
            </a:r>
            <a:r>
              <a:rPr kumimoji="1" lang="zh-CN" altLang="en-US" sz="2200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、问题的求解方法是递归的</a:t>
            </a:r>
            <a:endParaRPr lang="zh-CN" altLang="en-US" sz="2200" dirty="0">
              <a:solidFill>
                <a:schemeClr val="bg1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015C3054-CF72-DC24-ABDF-DEA1C91D8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3272201"/>
            <a:ext cx="9865096" cy="78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ts val="2800"/>
              </a:lnSpc>
              <a:spcBef>
                <a:spcPct val="50000"/>
              </a:spcBef>
            </a:pP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kumimoji="1"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Hanoi</a:t>
            </a:r>
            <a:r>
              <a:rPr kumimoji="1"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问题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：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Y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Z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的塔座，在塔座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上有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个直径各不相同，从小到大依次编号为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～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的盘片。要求将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塔座上的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个盘片移到塔座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Z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上。</a:t>
            </a:r>
          </a:p>
        </p:txBody>
      </p:sp>
      <p:pic>
        <p:nvPicPr>
          <p:cNvPr id="17" name="Picture 2" descr="http://f.hiphotos.baidu.com/baike/w%3D268/sign=f56f08bb269759ee4a5067cd8afa434e/2934349b033b5bb5347f4c4836d3d539b700bcd8.jpg">
            <a:extLst>
              <a:ext uri="{FF2B5EF4-FFF2-40B4-BE49-F238E27FC236}">
                <a16:creationId xmlns:a16="http://schemas.microsoft.com/office/drawing/2014/main" id="{6B5DFEB6-A995-ED5C-FA8A-E8282879D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41334" y="3868656"/>
            <a:ext cx="2552700" cy="2552700"/>
          </a:xfrm>
          <a:prstGeom prst="rect">
            <a:avLst/>
          </a:prstGeom>
          <a:noFill/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2D239CAA-96AD-BADE-A764-34BA98E335EB}"/>
              </a:ext>
            </a:extLst>
          </p:cNvPr>
          <p:cNvSpPr txBox="1"/>
          <p:nvPr/>
        </p:nvSpPr>
        <p:spPr>
          <a:xfrm>
            <a:off x="1343472" y="4268895"/>
            <a:ext cx="2071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移动规则：</a:t>
            </a:r>
            <a:endParaRPr lang="zh-CN" altLang="en-US" sz="2000" dirty="0">
              <a:solidFill>
                <a:srgbClr val="FF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53DA2F4F-7A9C-B3B9-801A-129FAA113CFB}"/>
              </a:ext>
            </a:extLst>
          </p:cNvPr>
          <p:cNvSpPr txBox="1"/>
          <p:nvPr/>
        </p:nvSpPr>
        <p:spPr>
          <a:xfrm>
            <a:off x="1414910" y="4768961"/>
            <a:ext cx="7500990" cy="1282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每次只能移动一个盘片；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marL="457200" indent="-457200" algn="l">
              <a:lnSpc>
                <a:spcPts val="32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盘片可以插在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Y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Z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中任一塔座上；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marL="457200" indent="-457200" algn="l">
              <a:lnSpc>
                <a:spcPts val="32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任何时候都不能将一个较大的盘片放在较小的盘片上方。</a:t>
            </a:r>
          </a:p>
        </p:txBody>
      </p:sp>
    </p:spTree>
    <p:extLst>
      <p:ext uri="{BB962C8B-B14F-4D97-AF65-F5344CB8AC3E}">
        <p14:creationId xmlns:p14="http://schemas.microsoft.com/office/powerpoint/2010/main" val="3961513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6A7F6-7BB1-BCE3-4627-F9821EAF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2CB8FF2-6BF9-52A2-7782-5897D9A7679C}"/>
              </a:ext>
            </a:extLst>
          </p:cNvPr>
          <p:cNvSpPr/>
          <p:nvPr/>
        </p:nvSpPr>
        <p:spPr>
          <a:xfrm>
            <a:off x="407368" y="1089797"/>
            <a:ext cx="3456384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5.1.2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何时使用递归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03AA217-B01C-C9F0-B5EA-E01C3D0D07C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5.1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什么是递归</a:t>
            </a:r>
            <a:endParaRPr lang="en-US" altLang="zh-CN" sz="36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38BF320-A36A-8D1E-1D78-046B59A696C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5">
            <a:extLst>
              <a:ext uri="{FF2B5EF4-FFF2-40B4-BE49-F238E27FC236}">
                <a16:creationId xmlns:a16="http://schemas.microsoft.com/office/drawing/2014/main" id="{EF17130F-73EB-82BD-BD60-7E24A099F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924421"/>
            <a:ext cx="6337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在以下三种情况下，常常要用到递归的方法。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C3869DFF-9479-C3B4-E635-86655731D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2634553"/>
            <a:ext cx="4104456" cy="4956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</a:pPr>
            <a:r>
              <a:rPr kumimoji="1" lang="en-US" altLang="zh-CN" sz="2200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3</a:t>
            </a:r>
            <a:r>
              <a:rPr kumimoji="1" lang="zh-CN" altLang="en-US" sz="2200" dirty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、问题的求解方法是递归的</a:t>
            </a:r>
            <a:endParaRPr lang="zh-CN" altLang="en-US" sz="2200" dirty="0">
              <a:solidFill>
                <a:schemeClr val="bg1"/>
              </a:solidFill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14662D61-ACC1-49D7-CD93-AAB363540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076" y="4475400"/>
            <a:ext cx="2606664" cy="515927"/>
          </a:xfrm>
          <a:prstGeom prst="rect">
            <a:avLst/>
          </a:prstGeom>
          <a:ln>
            <a:headEnd/>
            <a:tailEnd/>
          </a:ln>
          <a:scene3d>
            <a:camera prst="perspectiveHeroicExtremeRightFacing"/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0" hangingPunct="0">
              <a:lnSpc>
                <a:spcPct val="11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Hanoi(n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y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z)</a:t>
            </a: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AE9737F3-8422-AC4A-C43B-8DA4C22D1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996" y="4018200"/>
            <a:ext cx="5000660" cy="1295400"/>
          </a:xfrm>
          <a:prstGeom prst="rect">
            <a:avLst/>
          </a:prstGeom>
          <a:ln>
            <a:headEnd/>
            <a:tailEnd/>
          </a:ln>
          <a:scene3d>
            <a:camera prst="perspectiveRigh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 eaLnBrk="0" hangingPunct="0">
              <a:lnSpc>
                <a:spcPct val="126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Hanoi(n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z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y)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；</a:t>
            </a:r>
          </a:p>
          <a:p>
            <a:pPr algn="just" eaLnBrk="0" hangingPunct="0">
              <a:lnSpc>
                <a:spcPct val="126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move(n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z):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将第</a:t>
            </a:r>
            <a:r>
              <a:rPr lang="en-US" altLang="zh-CN" sz="2000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个圆盘从</a:t>
            </a:r>
            <a:r>
              <a:rPr lang="en-US" altLang="zh-CN" sz="2000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移到</a:t>
            </a:r>
            <a:r>
              <a:rPr lang="en-US" altLang="zh-CN" sz="2000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z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；</a:t>
            </a:r>
          </a:p>
          <a:p>
            <a:pPr algn="just" eaLnBrk="0" hangingPunct="0">
              <a:lnSpc>
                <a:spcPct val="126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Hanoi(n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+mj-ea"/>
                <a:cs typeface="Consolas" pitchFamily="49" charset="0"/>
              </a:rPr>
              <a:t>-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y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z)</a:t>
            </a:r>
          </a:p>
        </p:txBody>
      </p:sp>
      <p:sp>
        <p:nvSpPr>
          <p:cNvPr id="29" name="AutoShape 6">
            <a:extLst>
              <a:ext uri="{FF2B5EF4-FFF2-40B4-BE49-F238E27FC236}">
                <a16:creationId xmlns:a16="http://schemas.microsoft.com/office/drawing/2014/main" id="{76A537B2-1AFD-03C7-317F-DE3725909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495" y="4597638"/>
            <a:ext cx="936625" cy="287337"/>
          </a:xfrm>
          <a:prstGeom prst="rightArrow">
            <a:avLst>
              <a:gd name="adj1" fmla="val 50000"/>
              <a:gd name="adj2" fmla="val 81492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30" name="Group 11">
            <a:extLst>
              <a:ext uri="{FF2B5EF4-FFF2-40B4-BE49-F238E27FC236}">
                <a16:creationId xmlns:a16="http://schemas.microsoft.com/office/drawing/2014/main" id="{9A7161A4-82B9-9C0C-7D9D-2996314D1186}"/>
              </a:ext>
            </a:extLst>
          </p:cNvPr>
          <p:cNvGrpSpPr>
            <a:grpSpLocks/>
          </p:cNvGrpSpPr>
          <p:nvPr/>
        </p:nvGrpSpPr>
        <p:grpSpPr bwMode="auto">
          <a:xfrm>
            <a:off x="1420589" y="4372212"/>
            <a:ext cx="6264275" cy="2062163"/>
            <a:chOff x="431" y="795"/>
            <a:chExt cx="3946" cy="1299"/>
          </a:xfrm>
        </p:grpSpPr>
        <p:sp>
          <p:nvSpPr>
            <p:cNvPr id="31" name="Text Box 7">
              <a:extLst>
                <a:ext uri="{FF2B5EF4-FFF2-40B4-BE49-F238E27FC236}">
                  <a16:creationId xmlns:a16="http://schemas.microsoft.com/office/drawing/2014/main" id="{37C41136-7D0D-F910-CFF7-C19FD769C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842"/>
              <a:ext cx="394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ea typeface="仿宋" pitchFamily="49" charset="-122"/>
                  <a:cs typeface="Consolas" pitchFamily="49" charset="0"/>
                </a:rPr>
                <a:t>“</a:t>
              </a:r>
              <a:r>
                <a:rPr lang="zh-CN" altLang="en-US" sz="2000" dirty="0">
                  <a:latin typeface="Consolas" pitchFamily="49" charset="0"/>
                  <a:ea typeface="仿宋" pitchFamily="49" charset="-122"/>
                  <a:cs typeface="Consolas" pitchFamily="49" charset="0"/>
                </a:rPr>
                <a:t>大问题”转化为若干个“小问题”求解</a:t>
              </a:r>
            </a:p>
          </p:txBody>
        </p:sp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9F9EE425-D6CE-F2BB-DDB8-E2C34891C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1248"/>
              <a:ext cx="232" cy="641"/>
            </a:xfrm>
            <a:custGeom>
              <a:avLst/>
              <a:gdLst/>
              <a:ahLst/>
              <a:cxnLst>
                <a:cxn ang="0">
                  <a:pos x="232" y="641"/>
                </a:cxn>
                <a:cxn ang="0">
                  <a:pos x="0" y="0"/>
                </a:cxn>
              </a:cxnLst>
              <a:rect l="0" t="0" r="r" b="b"/>
              <a:pathLst>
                <a:path w="232" h="641">
                  <a:moveTo>
                    <a:pt x="232" y="64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00FF"/>
              </a:solidFill>
              <a:prstDash val="solid"/>
              <a:miter lim="800000"/>
              <a:headEnd type="none" w="med" len="med"/>
              <a:tailEnd type="stealth" w="lg" len="lg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8B6DD1CA-F6AB-02E0-2AD6-AAF240765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5" y="795"/>
              <a:ext cx="241" cy="1065"/>
            </a:xfrm>
            <a:custGeom>
              <a:avLst/>
              <a:gdLst/>
              <a:ahLst/>
              <a:cxnLst>
                <a:cxn ang="0">
                  <a:pos x="241" y="1065"/>
                </a:cxn>
                <a:cxn ang="0">
                  <a:pos x="0" y="0"/>
                </a:cxn>
              </a:cxnLst>
              <a:rect l="0" t="0" r="r" b="b"/>
              <a:pathLst>
                <a:path w="241" h="1065">
                  <a:moveTo>
                    <a:pt x="241" y="1065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8A5B539F-400B-8748-C874-4985CC4CA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1269"/>
              <a:ext cx="256" cy="582"/>
            </a:xfrm>
            <a:custGeom>
              <a:avLst/>
              <a:gdLst/>
              <a:ahLst/>
              <a:cxnLst>
                <a:cxn ang="0">
                  <a:pos x="0" y="582"/>
                </a:cxn>
                <a:cxn ang="0">
                  <a:pos x="256" y="0"/>
                </a:cxn>
              </a:cxnLst>
              <a:rect l="0" t="0" r="r" b="b"/>
              <a:pathLst>
                <a:path w="256" h="582">
                  <a:moveTo>
                    <a:pt x="0" y="582"/>
                  </a:moveTo>
                  <a:lnTo>
                    <a:pt x="256" y="0"/>
                  </a:lnTo>
                </a:path>
              </a:pathLst>
            </a:custGeom>
            <a:noFill/>
            <a:ln w="38100" cap="flat" cmpd="sng">
              <a:solidFill>
                <a:srgbClr val="FF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5" name="TextBox 9">
            <a:extLst>
              <a:ext uri="{FF2B5EF4-FFF2-40B4-BE49-F238E27FC236}">
                <a16:creationId xmlns:a16="http://schemas.microsoft.com/office/drawing/2014/main" id="{ADCE4C36-B9E9-04A4-CB90-3D8F9A1090E3}"/>
              </a:ext>
            </a:extLst>
          </p:cNvPr>
          <p:cNvSpPr txBox="1"/>
          <p:nvPr/>
        </p:nvSpPr>
        <p:spPr>
          <a:xfrm>
            <a:off x="1304524" y="3240215"/>
            <a:ext cx="8286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ct val="50000"/>
              </a:spcBef>
              <a:buBlip>
                <a:blip r:embed="rId2"/>
              </a:buBlip>
            </a:pP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设</a:t>
            </a: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Hanoi(</a:t>
            </a:r>
            <a:r>
              <a:rPr kumimoji="1" lang="en-US" altLang="zh-CN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y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kumimoji="1" lang="en-US" altLang="zh-CN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z</a:t>
            </a: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表示将</a:t>
            </a:r>
            <a:r>
              <a:rPr kumimoji="1" lang="en-US" altLang="zh-CN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个盘片从</a:t>
            </a:r>
            <a:r>
              <a:rPr kumimoji="1" lang="en-US" altLang="zh-CN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通过</a:t>
            </a:r>
            <a:r>
              <a:rPr kumimoji="1" lang="en-US" altLang="zh-CN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y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移动到</a:t>
            </a:r>
            <a:r>
              <a:rPr kumimoji="1" lang="en-US" altLang="zh-CN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z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上。</a:t>
            </a:r>
            <a:endParaRPr lang="zh-CN" altLang="en-US" sz="2000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6" name="Picture 2" descr="http://f.hiphotos.baidu.com/baike/w%3D268/sign=f56f08bb269759ee4a5067cd8afa434e/2934349b033b5bb5347f4c4836d3d539b700bcd8.jpg">
            <a:extLst>
              <a:ext uri="{FF2B5EF4-FFF2-40B4-BE49-F238E27FC236}">
                <a16:creationId xmlns:a16="http://schemas.microsoft.com/office/drawing/2014/main" id="{2B9F4AA2-EDF5-D1B5-A9CE-AEADA5B6A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31932" y="1203739"/>
            <a:ext cx="2552700" cy="2552700"/>
          </a:xfrm>
          <a:prstGeom prst="rect">
            <a:avLst/>
          </a:prstGeom>
          <a:noFill/>
        </p:spPr>
      </p:pic>
      <p:sp>
        <p:nvSpPr>
          <p:cNvPr id="37" name="TextBox 11">
            <a:extLst>
              <a:ext uri="{FF2B5EF4-FFF2-40B4-BE49-F238E27FC236}">
                <a16:creationId xmlns:a16="http://schemas.microsoft.com/office/drawing/2014/main" id="{00C67340-6FBE-AD48-5E3D-6AB37CE0DA55}"/>
              </a:ext>
            </a:extLst>
          </p:cNvPr>
          <p:cNvSpPr txBox="1"/>
          <p:nvPr/>
        </p:nvSpPr>
        <p:spPr>
          <a:xfrm>
            <a:off x="8946180" y="1548787"/>
            <a:ext cx="42862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200" i="1" dirty="0">
                <a:latin typeface="Consolas" pitchFamily="49" charset="0"/>
                <a:cs typeface="Consolas" pitchFamily="49" charset="0"/>
              </a:rPr>
              <a:t>x</a:t>
            </a:r>
            <a:endParaRPr lang="zh-CN" altLang="en-US" sz="2200" i="1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BFA62A7-26BF-66EB-B645-165E12D53898}"/>
              </a:ext>
            </a:extLst>
          </p:cNvPr>
          <p:cNvCxnSpPr/>
          <p:nvPr/>
        </p:nvCxnSpPr>
        <p:spPr>
          <a:xfrm>
            <a:off x="9446246" y="1775243"/>
            <a:ext cx="357190" cy="142876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14">
            <a:extLst>
              <a:ext uri="{FF2B5EF4-FFF2-40B4-BE49-F238E27FC236}">
                <a16:creationId xmlns:a16="http://schemas.microsoft.com/office/drawing/2014/main" id="{BE344433-17B9-62A4-2DDF-1ED31EE42307}"/>
              </a:ext>
            </a:extLst>
          </p:cNvPr>
          <p:cNvSpPr txBox="1"/>
          <p:nvPr/>
        </p:nvSpPr>
        <p:spPr>
          <a:xfrm>
            <a:off x="10517816" y="1203739"/>
            <a:ext cx="42862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200" i="1" dirty="0">
                <a:latin typeface="Consolas" pitchFamily="49" charset="0"/>
                <a:cs typeface="Consolas" pitchFamily="49" charset="0"/>
              </a:rPr>
              <a:t>y</a:t>
            </a:r>
            <a:endParaRPr lang="zh-CN" altLang="en-US" sz="2200" i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ABE96778-DF53-BD63-8F2B-3D500C1AF864}"/>
              </a:ext>
            </a:extLst>
          </p:cNvPr>
          <p:cNvSpPr txBox="1"/>
          <p:nvPr/>
        </p:nvSpPr>
        <p:spPr>
          <a:xfrm>
            <a:off x="11303634" y="1763101"/>
            <a:ext cx="428628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200" i="1" dirty="0">
                <a:latin typeface="Consolas" pitchFamily="49" charset="0"/>
                <a:cs typeface="Consolas" pitchFamily="49" charset="0"/>
              </a:rPr>
              <a:t>z</a:t>
            </a:r>
            <a:endParaRPr lang="zh-CN" altLang="en-US" sz="2200" i="1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C0DB37E-CFE3-E059-5ADE-40174D267B17}"/>
              </a:ext>
            </a:extLst>
          </p:cNvPr>
          <p:cNvCxnSpPr>
            <a:stCxn id="39" idx="2"/>
          </p:cNvCxnSpPr>
          <p:nvPr/>
        </p:nvCxnSpPr>
        <p:spPr>
          <a:xfrm rot="5400000">
            <a:off x="10437060" y="1480173"/>
            <a:ext cx="232950" cy="35719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A05DD2C-40BB-C483-4AE7-C5A0D5B4AA07}"/>
              </a:ext>
            </a:extLst>
          </p:cNvPr>
          <p:cNvCxnSpPr>
            <a:stCxn id="40" idx="2"/>
          </p:cNvCxnSpPr>
          <p:nvPr/>
        </p:nvCxnSpPr>
        <p:spPr>
          <a:xfrm rot="5400000">
            <a:off x="11323964" y="2081325"/>
            <a:ext cx="173654" cy="214314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93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49666-61BB-1FBA-3620-EE8E0031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516107F-BB77-8A0F-DB90-1EBC4D6AA159}"/>
              </a:ext>
            </a:extLst>
          </p:cNvPr>
          <p:cNvSpPr/>
          <p:nvPr/>
        </p:nvSpPr>
        <p:spPr>
          <a:xfrm>
            <a:off x="407368" y="1089797"/>
            <a:ext cx="295232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5.1.3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递归模型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2736BDE-4735-6ED8-3952-EC9006264252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5.1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什么是递归</a:t>
            </a:r>
            <a:endParaRPr lang="en-US" altLang="zh-CN" sz="36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81C920F-2622-5072-62C2-805DA01EF61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>
            <a:extLst>
              <a:ext uri="{FF2B5EF4-FFF2-40B4-BE49-F238E27FC236}">
                <a16:creationId xmlns:a16="http://schemas.microsoft.com/office/drawing/2014/main" id="{4739F5E9-2858-D08B-4B46-8F1446C70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3344" y="3148725"/>
            <a:ext cx="5500726" cy="1038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08000" bIns="108000">
            <a:spAutoFit/>
          </a:bodyPr>
          <a:lstStyle/>
          <a:p>
            <a:pPr algn="l">
              <a:lnSpc>
                <a:spcPts val="2600"/>
              </a:lnSpc>
              <a:spcBef>
                <a:spcPts val="1200"/>
              </a:spcBef>
            </a:pP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fun(1)=</a:t>
            </a:r>
            <a:r>
              <a:rPr kumimoji="1"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                 </a:t>
            </a: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		(1)   </a:t>
            </a:r>
          </a:p>
          <a:p>
            <a:pPr algn="l">
              <a:lnSpc>
                <a:spcPts val="2600"/>
              </a:lnSpc>
              <a:spcBef>
                <a:spcPts val="1200"/>
              </a:spcBef>
            </a:pPr>
            <a:r>
              <a:rPr kumimoji="1"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fun(n)=n*fun(n-1)     n&gt;1   	(2)</a:t>
            </a:r>
            <a:r>
              <a:rPr kumimoji="1" lang="en-US" altLang="zh-CN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  </a:t>
            </a:r>
            <a:endParaRPr kumimoji="1" lang="en-US" altLang="zh-CN" sz="2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E02EBE29-514E-6F61-508B-64715D431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2" y="1916832"/>
            <a:ext cx="8104216" cy="861774"/>
          </a:xfrm>
          <a:prstGeom prst="rect">
            <a:avLst/>
          </a:prstGeom>
          <a:noFill/>
          <a:ln w="38100" algn="ctr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000">
                <a:latin typeface="Consolas" pitchFamily="49" charset="0"/>
                <a:ea typeface="楷体" pitchFamily="49" charset="-122"/>
                <a:cs typeface="Consolas" pitchFamily="49" charset="0"/>
              </a:rPr>
              <a:t>递归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模型是递归算法的抽象，它反映一个递归问题的递归结构。</a:t>
            </a:r>
            <a:endParaRPr kumimoji="1" lang="en-US" altLang="zh-CN" sz="20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spcBef>
                <a:spcPct val="50000"/>
              </a:spcBef>
            </a:pPr>
            <a:r>
              <a:rPr kumimoji="1" lang="zh-CN" altLang="en-US" sz="2000">
                <a:latin typeface="Consolas" pitchFamily="49" charset="0"/>
                <a:ea typeface="楷体" pitchFamily="49" charset="-122"/>
                <a:cs typeface="Consolas" pitchFamily="49" charset="0"/>
              </a:rPr>
              <a:t>例如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求</a:t>
            </a:r>
            <a:r>
              <a:rPr kumimoji="1" lang="en-US" altLang="zh-CN" sz="2000" i="1"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000">
                <a:latin typeface="Consolas" pitchFamily="49" charset="0"/>
                <a:ea typeface="楷体" pitchFamily="49" charset="-122"/>
                <a:cs typeface="Consolas" pitchFamily="49" charset="0"/>
              </a:rPr>
              <a:t>!</a:t>
            </a:r>
            <a:r>
              <a:rPr kumimoji="1" lang="zh-CN" altLang="en-US" sz="2000">
                <a:latin typeface="Consolas" pitchFamily="49" charset="0"/>
                <a:ea typeface="楷体" pitchFamily="49" charset="-122"/>
                <a:cs typeface="Consolas" pitchFamily="49" charset="0"/>
              </a:rPr>
              <a:t>递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归算法对应的递归模型如下：</a:t>
            </a:r>
            <a:endParaRPr lang="zh-CN" altLang="en-US" sz="20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CF125F32-BF4D-E2D5-A77B-DADD086A6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4070" y="3177243"/>
            <a:ext cx="3778514" cy="430759"/>
          </a:xfrm>
          <a:prstGeom prst="rect">
            <a:avLst/>
          </a:prstGeom>
          <a:noFill/>
          <a:ln w="38100" algn="ctr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递归出口，</a:t>
            </a:r>
            <a:r>
              <a:rPr kumimoji="1" lang="zh-CN" altLang="en-US" sz="2000" b="1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递归结束条件</a:t>
            </a:r>
            <a:endParaRPr lang="zh-CN" altLang="en-US" sz="2000" b="1" dirty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A7F3BF3-E6ED-DF19-C748-C7FCDB831576}"/>
              </a:ext>
            </a:extLst>
          </p:cNvPr>
          <p:cNvSpPr txBox="1"/>
          <p:nvPr/>
        </p:nvSpPr>
        <p:spPr>
          <a:xfrm>
            <a:off x="7645508" y="3748747"/>
            <a:ext cx="2698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递归体，</a:t>
            </a:r>
            <a:r>
              <a:rPr kumimoji="1" lang="zh-CN" altLang="en-US" sz="2000" b="1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递归关系</a:t>
            </a:r>
            <a:endParaRPr lang="zh-CN" altLang="en-US" sz="2000" b="1" dirty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91E941F2-7D78-6DD0-F019-D9D66CE0D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438" y="4674336"/>
            <a:ext cx="8339166" cy="403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000">
                <a:ea typeface="楷体" pitchFamily="49" charset="-122"/>
                <a:cs typeface="Times New Roman" pitchFamily="18" charset="0"/>
              </a:rPr>
              <a:t>一般</a:t>
            </a:r>
            <a:r>
              <a:rPr kumimoji="1" lang="zh-CN" altLang="en-US" sz="2000" dirty="0">
                <a:ea typeface="楷体" pitchFamily="49" charset="-122"/>
                <a:cs typeface="Times New Roman" pitchFamily="18" charset="0"/>
              </a:rPr>
              <a:t>地，一个递归模型是由</a:t>
            </a:r>
            <a:r>
              <a:rPr kumimoji="1" lang="zh-CN" altLang="en-US" sz="2000" dirty="0">
                <a:solidFill>
                  <a:srgbClr val="FF00FF"/>
                </a:solidFill>
                <a:ea typeface="楷体" pitchFamily="49" charset="-122"/>
                <a:cs typeface="Times New Roman" pitchFamily="18" charset="0"/>
              </a:rPr>
              <a:t>递归出口</a:t>
            </a:r>
            <a:r>
              <a:rPr kumimoji="1" lang="zh-CN" altLang="en-US" sz="2000" dirty="0">
                <a:ea typeface="楷体" pitchFamily="49" charset="-122"/>
                <a:cs typeface="Times New Roman" pitchFamily="18" charset="0"/>
              </a:rPr>
              <a:t>和</a:t>
            </a:r>
            <a:r>
              <a:rPr kumimoji="1" lang="zh-CN" altLang="en-US" sz="2000" dirty="0">
                <a:solidFill>
                  <a:srgbClr val="FF00FF"/>
                </a:solidFill>
                <a:ea typeface="楷体" pitchFamily="49" charset="-122"/>
                <a:cs typeface="Times New Roman" pitchFamily="18" charset="0"/>
              </a:rPr>
              <a:t>递归体</a:t>
            </a:r>
            <a:r>
              <a:rPr kumimoji="1" lang="zh-CN" altLang="en-US" sz="2000" dirty="0">
                <a:ea typeface="楷体" pitchFamily="49" charset="-122"/>
                <a:cs typeface="Times New Roman" pitchFamily="18" charset="0"/>
              </a:rPr>
              <a:t>两</a:t>
            </a:r>
            <a:r>
              <a:rPr kumimoji="1" lang="zh-CN" altLang="en-US" sz="2000">
                <a:ea typeface="楷体" pitchFamily="49" charset="-122"/>
                <a:cs typeface="Times New Roman" pitchFamily="18" charset="0"/>
              </a:rPr>
              <a:t>部分组成。</a:t>
            </a:r>
            <a:endParaRPr kumimoji="1" lang="zh-CN" altLang="en-US" sz="2000" dirty="0"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44A2E3-1A25-CE2C-F793-BDC7E3472095}"/>
              </a:ext>
            </a:extLst>
          </p:cNvPr>
          <p:cNvSpPr txBox="1"/>
          <p:nvPr/>
        </p:nvSpPr>
        <p:spPr>
          <a:xfrm>
            <a:off x="1663796" y="5174402"/>
            <a:ext cx="6072230" cy="87761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buBlip>
                <a:blip r:embed="rId2"/>
              </a:buBlip>
            </a:pPr>
            <a:r>
              <a:rPr kumimoji="1"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递归出口</a:t>
            </a:r>
            <a:r>
              <a:rPr kumimoji="1"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确定递归到何时结束。</a:t>
            </a:r>
            <a:endParaRPr kumimoji="1" lang="en-US" altLang="zh-CN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3200"/>
              </a:lnSpc>
              <a:buBlip>
                <a:blip r:embed="rId2"/>
              </a:buBlip>
            </a:pPr>
            <a:r>
              <a:rPr kumimoji="1"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递归体</a:t>
            </a:r>
            <a:r>
              <a:rPr kumimoji="1"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确定递归求解时的递推关系。</a:t>
            </a:r>
            <a:endParaRPr kumimoji="1" lang="en-US" altLang="zh-CN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04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3054E-384F-C7F0-23CB-FF6D8189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AA5F4AE-28A7-C3FC-84D8-4C9603A71E79}"/>
              </a:ext>
            </a:extLst>
          </p:cNvPr>
          <p:cNvSpPr/>
          <p:nvPr/>
        </p:nvSpPr>
        <p:spPr>
          <a:xfrm>
            <a:off x="407368" y="1089797"/>
            <a:ext cx="295232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5.1.3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递归模型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F64354B-5166-3172-6910-90CA8ABF891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5.1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什么是递归</a:t>
            </a:r>
            <a:endParaRPr lang="en-US" altLang="zh-CN" sz="36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A522E8FB-25AE-8338-70CB-32EFD57DDF7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Box 2">
            <a:extLst>
              <a:ext uri="{FF2B5EF4-FFF2-40B4-BE49-F238E27FC236}">
                <a16:creationId xmlns:a16="http://schemas.microsoft.com/office/drawing/2014/main" id="{28F15A65-8B14-B399-4F73-79362AB3E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456" y="2008098"/>
            <a:ext cx="10297144" cy="964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ct val="50000"/>
              </a:spcBef>
            </a:pPr>
            <a:r>
              <a:rPr kumimoji="1" lang="zh-CN" altLang="en-US" sz="2000" dirty="0">
                <a:solidFill>
                  <a:srgbClr val="FF33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　　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把一个不能或不好直接求解的“</a:t>
            </a:r>
            <a:r>
              <a:rPr kumimoji="1"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大问题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”转化成一个或几个“</a:t>
            </a:r>
            <a:r>
              <a:rPr kumimoji="1"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小问题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”来解决；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　　再把这些“</a:t>
            </a:r>
            <a:r>
              <a:rPr kumimoji="1"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小问题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”进一步分解成更小的“</a:t>
            </a:r>
            <a:r>
              <a:rPr kumimoji="1"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小问题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”来解决。　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D2245B04-0536-6F77-0F90-44140C5883B7}"/>
              </a:ext>
            </a:extLst>
          </p:cNvPr>
          <p:cNvSpPr txBox="1"/>
          <p:nvPr/>
        </p:nvSpPr>
        <p:spPr>
          <a:xfrm>
            <a:off x="1703512" y="4855133"/>
            <a:ext cx="9433048" cy="871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</a:pP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但递归分解不是随意的分解，递归分解要</a:t>
            </a:r>
            <a:r>
              <a:rPr kumimoji="1" lang="zh-CN" altLang="en-US" sz="2000" dirty="0">
                <a:solidFill>
                  <a:srgbClr val="C0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保证“大问题”与“小问题”相似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，即求解过程与环境都相似。 </a:t>
            </a:r>
            <a:endParaRPr lang="zh-CN" altLang="en-US" sz="2000" dirty="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14" name="组合 9">
            <a:extLst>
              <a:ext uri="{FF2B5EF4-FFF2-40B4-BE49-F238E27FC236}">
                <a16:creationId xmlns:a16="http://schemas.microsoft.com/office/drawing/2014/main" id="{E88DCEC1-3033-D5F0-2B51-A6A542967A96}"/>
              </a:ext>
            </a:extLst>
          </p:cNvPr>
          <p:cNvGrpSpPr/>
          <p:nvPr/>
        </p:nvGrpSpPr>
        <p:grpSpPr>
          <a:xfrm>
            <a:off x="1703512" y="3227300"/>
            <a:ext cx="7858180" cy="1185928"/>
            <a:chOff x="714348" y="2786058"/>
            <a:chExt cx="7858180" cy="1185928"/>
          </a:xfrm>
        </p:grpSpPr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4A8CA0EB-57A9-90D3-F4F2-14EC69960A39}"/>
                </a:ext>
              </a:extLst>
            </p:cNvPr>
            <p:cNvSpPr txBox="1"/>
            <p:nvPr/>
          </p:nvSpPr>
          <p:spPr>
            <a:xfrm>
              <a:off x="714348" y="3571876"/>
              <a:ext cx="78581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000">
                  <a:latin typeface="Consolas" pitchFamily="49" charset="0"/>
                  <a:ea typeface="楷体" pitchFamily="49" charset="-122"/>
                  <a:cs typeface="Consolas" pitchFamily="49" charset="0"/>
                </a:rPr>
                <a:t>每个“小问题”都可以直接解决（此时分解到递归出口）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6" name="下箭头 7">
              <a:extLst>
                <a:ext uri="{FF2B5EF4-FFF2-40B4-BE49-F238E27FC236}">
                  <a16:creationId xmlns:a16="http://schemas.microsoft.com/office/drawing/2014/main" id="{02C4D080-1418-1BB7-0B5C-361BCA00868F}"/>
                </a:ext>
              </a:extLst>
            </p:cNvPr>
            <p:cNvSpPr/>
            <p:nvPr/>
          </p:nvSpPr>
          <p:spPr>
            <a:xfrm>
              <a:off x="3857620" y="2786058"/>
              <a:ext cx="285752" cy="642942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" name="TextBox 8">
              <a:extLst>
                <a:ext uri="{FF2B5EF4-FFF2-40B4-BE49-F238E27FC236}">
                  <a16:creationId xmlns:a16="http://schemas.microsoft.com/office/drawing/2014/main" id="{9EAA7107-2A93-2E69-E4C1-97AF8221B29E}"/>
                </a:ext>
              </a:extLst>
            </p:cNvPr>
            <p:cNvSpPr txBox="1"/>
            <p:nvPr/>
          </p:nvSpPr>
          <p:spPr>
            <a:xfrm>
              <a:off x="4214810" y="2857496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1800">
                  <a:latin typeface="仿宋" pitchFamily="49" charset="-122"/>
                  <a:ea typeface="仿宋" pitchFamily="49" charset="-122"/>
                  <a:cs typeface="Consolas" pitchFamily="49" charset="0"/>
                </a:rPr>
                <a:t>直到</a:t>
              </a:r>
              <a:endParaRPr lang="zh-CN" altLang="en-US" sz="1800">
                <a:latin typeface="仿宋" pitchFamily="49" charset="-122"/>
                <a:ea typeface="仿宋" pitchFamily="49" charset="-122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038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60851-8B47-0953-219E-AA921908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16">
            <a:extLst>
              <a:ext uri="{FF2B5EF4-FFF2-40B4-BE49-F238E27FC236}">
                <a16:creationId xmlns:a16="http://schemas.microsoft.com/office/drawing/2014/main" id="{11A566C9-7897-F7ED-F308-7062E5C1B1A1}"/>
              </a:ext>
            </a:extLst>
          </p:cNvPr>
          <p:cNvSpPr>
            <a:spLocks/>
          </p:cNvSpPr>
          <p:nvPr/>
        </p:nvSpPr>
        <p:spPr bwMode="auto">
          <a:xfrm>
            <a:off x="3373016" y="2204865"/>
            <a:ext cx="862701" cy="360040"/>
          </a:xfrm>
          <a:custGeom>
            <a:avLst/>
            <a:gdLst>
              <a:gd name="T0" fmla="*/ 0 w 720"/>
              <a:gd name="T1" fmla="*/ 182 h 338"/>
              <a:gd name="T2" fmla="*/ 360 w 720"/>
              <a:gd name="T3" fmla="*/ 26 h 338"/>
              <a:gd name="T4" fmla="*/ 720 w 720"/>
              <a:gd name="T5" fmla="*/ 338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338">
                <a:moveTo>
                  <a:pt x="0" y="182"/>
                </a:moveTo>
                <a:cubicBezTo>
                  <a:pt x="120" y="91"/>
                  <a:pt x="240" y="0"/>
                  <a:pt x="360" y="26"/>
                </a:cubicBezTo>
                <a:cubicBezTo>
                  <a:pt x="480" y="52"/>
                  <a:pt x="660" y="286"/>
                  <a:pt x="720" y="338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Text Box 9">
            <a:extLst>
              <a:ext uri="{FF2B5EF4-FFF2-40B4-BE49-F238E27FC236}">
                <a16:creationId xmlns:a16="http://schemas.microsoft.com/office/drawing/2014/main" id="{1655BA20-1FEA-D7CC-AA2D-22280D56339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004856" y="1921850"/>
            <a:ext cx="1368161" cy="78707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just" eaLnBrk="0" hangingPunct="0"/>
            <a:r>
              <a:rPr lang="zh-CN" altLang="en-US" sz="14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主函数</a:t>
            </a:r>
          </a:p>
          <a:p>
            <a:pPr algn="just" eaLnBrk="0" hangingPunct="0"/>
            <a:r>
              <a:rPr lang="en-US" altLang="zh-CN" sz="1400" dirty="0">
                <a:latin typeface="Times New Roman" pitchFamily="18" charset="0"/>
              </a:rPr>
              <a:t>main()</a:t>
            </a:r>
          </a:p>
          <a:p>
            <a:pPr algn="just" eaLnBrk="0" hangingPunct="0"/>
            <a:r>
              <a:rPr lang="en-US" altLang="zh-CN" sz="1400" dirty="0" err="1">
                <a:latin typeface="Times New Roman" pitchFamily="18" charset="0"/>
              </a:rPr>
              <a:t>printf</a:t>
            </a:r>
            <a:r>
              <a:rPr lang="en-US" altLang="zh-CN" sz="1400" dirty="0">
                <a:latin typeface="Times New Roman" pitchFamily="18" charset="0"/>
              </a:rPr>
              <a:t>(“fact(5)”)</a:t>
            </a:r>
          </a:p>
        </p:txBody>
      </p:sp>
      <p:sp>
        <p:nvSpPr>
          <p:cNvPr id="74" name="Text Box 10">
            <a:extLst>
              <a:ext uri="{FF2B5EF4-FFF2-40B4-BE49-F238E27FC236}">
                <a16:creationId xmlns:a16="http://schemas.microsoft.com/office/drawing/2014/main" id="{9F52C991-D6FC-2FA3-8DF0-213F66DBC86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492217" y="2564905"/>
            <a:ext cx="1140204" cy="765909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algn="just" eaLnBrk="0" hangingPunct="0">
              <a:defRPr sz="1400" b="1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defRPr>
            </a:lvl1pPr>
          </a:lstStyle>
          <a:p>
            <a:r>
              <a:rPr lang="zh-CN" altLang="en-US" dirty="0"/>
              <a:t>第一层调用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n=5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s=5*fact(4)</a:t>
            </a:r>
          </a:p>
        </p:txBody>
      </p:sp>
      <p:sp>
        <p:nvSpPr>
          <p:cNvPr id="76" name="Text Box 11">
            <a:extLst>
              <a:ext uri="{FF2B5EF4-FFF2-40B4-BE49-F238E27FC236}">
                <a16:creationId xmlns:a16="http://schemas.microsoft.com/office/drawing/2014/main" id="{96D219A3-27CA-96E2-CFDC-20BCDEF1591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813167" y="3212976"/>
            <a:ext cx="1247968" cy="761114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algn="just" eaLnBrk="0" hangingPunct="0">
              <a:defRPr sz="1400" b="1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第二层调用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n=4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s=4*fact(3)</a:t>
            </a:r>
          </a:p>
        </p:txBody>
      </p:sp>
      <p:sp>
        <p:nvSpPr>
          <p:cNvPr id="78" name="Text Box 12">
            <a:extLst>
              <a:ext uri="{FF2B5EF4-FFF2-40B4-BE49-F238E27FC236}">
                <a16:creationId xmlns:a16="http://schemas.microsoft.com/office/drawing/2014/main" id="{C561CE41-3094-E9FB-A496-E403F840120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181319" y="3861048"/>
            <a:ext cx="1251516" cy="79208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algn="just" eaLnBrk="0" hangingPunct="0">
              <a:defRPr sz="1400" b="1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第三层调用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n=3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S=3*fact(2)</a:t>
            </a:r>
          </a:p>
        </p:txBody>
      </p:sp>
      <p:sp>
        <p:nvSpPr>
          <p:cNvPr id="81" name="Text Box 12">
            <a:extLst>
              <a:ext uri="{FF2B5EF4-FFF2-40B4-BE49-F238E27FC236}">
                <a16:creationId xmlns:a16="http://schemas.microsoft.com/office/drawing/2014/main" id="{4765047F-2ADE-0E3B-6CF9-905457CA3FE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567218" y="4509120"/>
            <a:ext cx="1251516" cy="79208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algn="just" eaLnBrk="0" hangingPunct="0">
              <a:defRPr sz="1400" b="1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第四层调用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n=2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S=2*fact(1)</a:t>
            </a:r>
          </a:p>
        </p:txBody>
      </p:sp>
      <p:sp>
        <p:nvSpPr>
          <p:cNvPr id="83" name="Text Box 12">
            <a:extLst>
              <a:ext uri="{FF2B5EF4-FFF2-40B4-BE49-F238E27FC236}">
                <a16:creationId xmlns:a16="http://schemas.microsoft.com/office/drawing/2014/main" id="{35FD45F2-39F2-2239-233C-89641108F94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020948" y="5157192"/>
            <a:ext cx="1251516" cy="79208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algn="just" eaLnBrk="0" hangingPunct="0">
              <a:defRPr sz="1400" b="1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第五层调用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n=1</a:t>
            </a:r>
          </a:p>
          <a:p>
            <a:r>
              <a:rPr lang="en-US" altLang="zh-CN" dirty="0">
                <a:solidFill>
                  <a:schemeClr val="lt1"/>
                </a:solidFill>
                <a:latin typeface="Times New Roman" pitchFamily="18" charset="0"/>
                <a:ea typeface="+mn-ea"/>
                <a:cs typeface="+mn-cs"/>
              </a:rPr>
              <a:t>S=1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9664A4-3CEF-DFF3-3B14-9C31B01B0924}"/>
              </a:ext>
            </a:extLst>
          </p:cNvPr>
          <p:cNvSpPr/>
          <p:nvPr/>
        </p:nvSpPr>
        <p:spPr>
          <a:xfrm>
            <a:off x="9002030" y="6011996"/>
            <a:ext cx="1097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fact(1)=1</a:t>
            </a:r>
            <a:endParaRPr lang="zh-CN" altLang="en-US" dirty="0"/>
          </a:p>
        </p:txBody>
      </p:sp>
      <p:sp>
        <p:nvSpPr>
          <p:cNvPr id="84" name="Freeform 16">
            <a:extLst>
              <a:ext uri="{FF2B5EF4-FFF2-40B4-BE49-F238E27FC236}">
                <a16:creationId xmlns:a16="http://schemas.microsoft.com/office/drawing/2014/main" id="{6B8CC9A1-8997-5931-D5C3-89FB53A765F2}"/>
              </a:ext>
            </a:extLst>
          </p:cNvPr>
          <p:cNvSpPr>
            <a:spLocks/>
          </p:cNvSpPr>
          <p:nvPr/>
        </p:nvSpPr>
        <p:spPr bwMode="auto">
          <a:xfrm>
            <a:off x="4632422" y="2852936"/>
            <a:ext cx="862701" cy="360040"/>
          </a:xfrm>
          <a:custGeom>
            <a:avLst/>
            <a:gdLst>
              <a:gd name="T0" fmla="*/ 0 w 720"/>
              <a:gd name="T1" fmla="*/ 182 h 338"/>
              <a:gd name="T2" fmla="*/ 360 w 720"/>
              <a:gd name="T3" fmla="*/ 26 h 338"/>
              <a:gd name="T4" fmla="*/ 720 w 720"/>
              <a:gd name="T5" fmla="*/ 338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338">
                <a:moveTo>
                  <a:pt x="0" y="182"/>
                </a:moveTo>
                <a:cubicBezTo>
                  <a:pt x="120" y="91"/>
                  <a:pt x="240" y="0"/>
                  <a:pt x="360" y="26"/>
                </a:cubicBezTo>
                <a:cubicBezTo>
                  <a:pt x="480" y="52"/>
                  <a:pt x="660" y="286"/>
                  <a:pt x="720" y="338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6">
            <a:extLst>
              <a:ext uri="{FF2B5EF4-FFF2-40B4-BE49-F238E27FC236}">
                <a16:creationId xmlns:a16="http://schemas.microsoft.com/office/drawing/2014/main" id="{C39BBE7D-6BF3-E495-DAAB-742C76F2ABBE}"/>
              </a:ext>
            </a:extLst>
          </p:cNvPr>
          <p:cNvSpPr>
            <a:spLocks/>
          </p:cNvSpPr>
          <p:nvPr/>
        </p:nvSpPr>
        <p:spPr bwMode="auto">
          <a:xfrm>
            <a:off x="6061136" y="3535787"/>
            <a:ext cx="862701" cy="360040"/>
          </a:xfrm>
          <a:custGeom>
            <a:avLst/>
            <a:gdLst>
              <a:gd name="T0" fmla="*/ 0 w 720"/>
              <a:gd name="T1" fmla="*/ 182 h 338"/>
              <a:gd name="T2" fmla="*/ 360 w 720"/>
              <a:gd name="T3" fmla="*/ 26 h 338"/>
              <a:gd name="T4" fmla="*/ 720 w 720"/>
              <a:gd name="T5" fmla="*/ 338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338">
                <a:moveTo>
                  <a:pt x="0" y="182"/>
                </a:moveTo>
                <a:cubicBezTo>
                  <a:pt x="120" y="91"/>
                  <a:pt x="240" y="0"/>
                  <a:pt x="360" y="26"/>
                </a:cubicBezTo>
                <a:cubicBezTo>
                  <a:pt x="480" y="52"/>
                  <a:pt x="660" y="286"/>
                  <a:pt x="720" y="338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6">
            <a:extLst>
              <a:ext uri="{FF2B5EF4-FFF2-40B4-BE49-F238E27FC236}">
                <a16:creationId xmlns:a16="http://schemas.microsoft.com/office/drawing/2014/main" id="{35019303-D33A-8C13-6050-4D0064C7873E}"/>
              </a:ext>
            </a:extLst>
          </p:cNvPr>
          <p:cNvSpPr>
            <a:spLocks/>
          </p:cNvSpPr>
          <p:nvPr/>
        </p:nvSpPr>
        <p:spPr bwMode="auto">
          <a:xfrm>
            <a:off x="7432836" y="4149080"/>
            <a:ext cx="862701" cy="360040"/>
          </a:xfrm>
          <a:custGeom>
            <a:avLst/>
            <a:gdLst>
              <a:gd name="T0" fmla="*/ 0 w 720"/>
              <a:gd name="T1" fmla="*/ 182 h 338"/>
              <a:gd name="T2" fmla="*/ 360 w 720"/>
              <a:gd name="T3" fmla="*/ 26 h 338"/>
              <a:gd name="T4" fmla="*/ 720 w 720"/>
              <a:gd name="T5" fmla="*/ 338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338">
                <a:moveTo>
                  <a:pt x="0" y="182"/>
                </a:moveTo>
                <a:cubicBezTo>
                  <a:pt x="120" y="91"/>
                  <a:pt x="240" y="0"/>
                  <a:pt x="360" y="26"/>
                </a:cubicBezTo>
                <a:cubicBezTo>
                  <a:pt x="480" y="52"/>
                  <a:pt x="660" y="286"/>
                  <a:pt x="720" y="338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6">
            <a:extLst>
              <a:ext uri="{FF2B5EF4-FFF2-40B4-BE49-F238E27FC236}">
                <a16:creationId xmlns:a16="http://schemas.microsoft.com/office/drawing/2014/main" id="{0EE6C354-0206-CEA0-077C-BE565E82D574}"/>
              </a:ext>
            </a:extLst>
          </p:cNvPr>
          <p:cNvSpPr>
            <a:spLocks/>
          </p:cNvSpPr>
          <p:nvPr/>
        </p:nvSpPr>
        <p:spPr bwMode="auto">
          <a:xfrm>
            <a:off x="8818735" y="4797152"/>
            <a:ext cx="862701" cy="360040"/>
          </a:xfrm>
          <a:custGeom>
            <a:avLst/>
            <a:gdLst>
              <a:gd name="T0" fmla="*/ 0 w 720"/>
              <a:gd name="T1" fmla="*/ 182 h 338"/>
              <a:gd name="T2" fmla="*/ 360 w 720"/>
              <a:gd name="T3" fmla="*/ 26 h 338"/>
              <a:gd name="T4" fmla="*/ 720 w 720"/>
              <a:gd name="T5" fmla="*/ 338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20" h="338">
                <a:moveTo>
                  <a:pt x="0" y="182"/>
                </a:moveTo>
                <a:cubicBezTo>
                  <a:pt x="120" y="91"/>
                  <a:pt x="240" y="0"/>
                  <a:pt x="360" y="26"/>
                </a:cubicBezTo>
                <a:cubicBezTo>
                  <a:pt x="480" y="52"/>
                  <a:pt x="660" y="286"/>
                  <a:pt x="720" y="338"/>
                </a:cubicBezTo>
              </a:path>
            </a:pathLst>
          </a:custGeom>
          <a:noFill/>
          <a:ln w="25400" cmpd="sng">
            <a:solidFill>
              <a:srgbClr val="FF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46">
            <a:extLst>
              <a:ext uri="{FF2B5EF4-FFF2-40B4-BE49-F238E27FC236}">
                <a16:creationId xmlns:a16="http://schemas.microsoft.com/office/drawing/2014/main" id="{825EE14F-DF84-3D34-B658-B1EE8DF2F134}"/>
              </a:ext>
            </a:extLst>
          </p:cNvPr>
          <p:cNvSpPr>
            <a:spLocks/>
          </p:cNvSpPr>
          <p:nvPr/>
        </p:nvSpPr>
        <p:spPr bwMode="auto">
          <a:xfrm>
            <a:off x="7752184" y="5301208"/>
            <a:ext cx="1268764" cy="648072"/>
          </a:xfrm>
          <a:custGeom>
            <a:avLst/>
            <a:gdLst>
              <a:gd name="T0" fmla="*/ 1133 w 1133"/>
              <a:gd name="T1" fmla="*/ 954 h 1431"/>
              <a:gd name="T2" fmla="*/ 181 w 1133"/>
              <a:gd name="T3" fmla="*/ 1272 h 1431"/>
              <a:gd name="T4" fmla="*/ 45 w 1133"/>
              <a:gd name="T5" fmla="*/ 0 h 1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33" h="1431">
                <a:moveTo>
                  <a:pt x="1133" y="954"/>
                </a:moveTo>
                <a:cubicBezTo>
                  <a:pt x="747" y="1192"/>
                  <a:pt x="362" y="1431"/>
                  <a:pt x="181" y="1272"/>
                </a:cubicBezTo>
                <a:cubicBezTo>
                  <a:pt x="0" y="1113"/>
                  <a:pt x="68" y="212"/>
                  <a:pt x="45" y="0"/>
                </a:cubicBezTo>
              </a:path>
            </a:pathLst>
          </a:custGeom>
          <a:noFill/>
          <a:ln w="25400" cmpd="sng">
            <a:solidFill>
              <a:srgbClr val="00B05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892C599-6B64-7809-23C4-8896369EB1D4}"/>
              </a:ext>
            </a:extLst>
          </p:cNvPr>
          <p:cNvSpPr/>
          <p:nvPr/>
        </p:nvSpPr>
        <p:spPr>
          <a:xfrm>
            <a:off x="7868976" y="5368570"/>
            <a:ext cx="1097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fact(2)=2</a:t>
            </a:r>
            <a:endParaRPr lang="zh-CN" altLang="en-US" dirty="0"/>
          </a:p>
        </p:txBody>
      </p:sp>
      <p:sp>
        <p:nvSpPr>
          <p:cNvPr id="90" name="Freeform 46">
            <a:extLst>
              <a:ext uri="{FF2B5EF4-FFF2-40B4-BE49-F238E27FC236}">
                <a16:creationId xmlns:a16="http://schemas.microsoft.com/office/drawing/2014/main" id="{D40159A8-91B4-497B-E0A5-3DE7272EF13B}"/>
              </a:ext>
            </a:extLst>
          </p:cNvPr>
          <p:cNvSpPr>
            <a:spLocks/>
          </p:cNvSpPr>
          <p:nvPr/>
        </p:nvSpPr>
        <p:spPr bwMode="auto">
          <a:xfrm>
            <a:off x="6308362" y="4653136"/>
            <a:ext cx="1268764" cy="648072"/>
          </a:xfrm>
          <a:custGeom>
            <a:avLst/>
            <a:gdLst>
              <a:gd name="T0" fmla="*/ 1133 w 1133"/>
              <a:gd name="T1" fmla="*/ 954 h 1431"/>
              <a:gd name="T2" fmla="*/ 181 w 1133"/>
              <a:gd name="T3" fmla="*/ 1272 h 1431"/>
              <a:gd name="T4" fmla="*/ 45 w 1133"/>
              <a:gd name="T5" fmla="*/ 0 h 1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33" h="1431">
                <a:moveTo>
                  <a:pt x="1133" y="954"/>
                </a:moveTo>
                <a:cubicBezTo>
                  <a:pt x="747" y="1192"/>
                  <a:pt x="362" y="1431"/>
                  <a:pt x="181" y="1272"/>
                </a:cubicBezTo>
                <a:cubicBezTo>
                  <a:pt x="0" y="1113"/>
                  <a:pt x="68" y="212"/>
                  <a:pt x="45" y="0"/>
                </a:cubicBezTo>
              </a:path>
            </a:pathLst>
          </a:custGeom>
          <a:noFill/>
          <a:ln w="25400" cmpd="sng">
            <a:solidFill>
              <a:srgbClr val="00B05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EAC7790D-0D21-E7C6-01ED-74A4C595B1E5}"/>
              </a:ext>
            </a:extLst>
          </p:cNvPr>
          <p:cNvSpPr/>
          <p:nvPr/>
        </p:nvSpPr>
        <p:spPr>
          <a:xfrm>
            <a:off x="6425154" y="4720498"/>
            <a:ext cx="1097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fact(3)=6</a:t>
            </a:r>
            <a:endParaRPr lang="zh-CN" altLang="en-US" dirty="0"/>
          </a:p>
        </p:txBody>
      </p:sp>
      <p:sp>
        <p:nvSpPr>
          <p:cNvPr id="92" name="Freeform 46">
            <a:extLst>
              <a:ext uri="{FF2B5EF4-FFF2-40B4-BE49-F238E27FC236}">
                <a16:creationId xmlns:a16="http://schemas.microsoft.com/office/drawing/2014/main" id="{534598D8-B7D6-C14B-01DC-B55D2A33ECEB}"/>
              </a:ext>
            </a:extLst>
          </p:cNvPr>
          <p:cNvSpPr>
            <a:spLocks/>
          </p:cNvSpPr>
          <p:nvPr/>
        </p:nvSpPr>
        <p:spPr bwMode="auto">
          <a:xfrm>
            <a:off x="4912555" y="3974090"/>
            <a:ext cx="1268764" cy="648072"/>
          </a:xfrm>
          <a:custGeom>
            <a:avLst/>
            <a:gdLst>
              <a:gd name="T0" fmla="*/ 1133 w 1133"/>
              <a:gd name="T1" fmla="*/ 954 h 1431"/>
              <a:gd name="T2" fmla="*/ 181 w 1133"/>
              <a:gd name="T3" fmla="*/ 1272 h 1431"/>
              <a:gd name="T4" fmla="*/ 45 w 1133"/>
              <a:gd name="T5" fmla="*/ 0 h 1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33" h="1431">
                <a:moveTo>
                  <a:pt x="1133" y="954"/>
                </a:moveTo>
                <a:cubicBezTo>
                  <a:pt x="747" y="1192"/>
                  <a:pt x="362" y="1431"/>
                  <a:pt x="181" y="1272"/>
                </a:cubicBezTo>
                <a:cubicBezTo>
                  <a:pt x="0" y="1113"/>
                  <a:pt x="68" y="212"/>
                  <a:pt x="45" y="0"/>
                </a:cubicBezTo>
              </a:path>
            </a:pathLst>
          </a:custGeom>
          <a:noFill/>
          <a:ln w="25400" cmpd="sng">
            <a:solidFill>
              <a:srgbClr val="00B05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F19F516-EA58-66B4-F745-DC30718DA7E3}"/>
              </a:ext>
            </a:extLst>
          </p:cNvPr>
          <p:cNvSpPr/>
          <p:nvPr/>
        </p:nvSpPr>
        <p:spPr>
          <a:xfrm>
            <a:off x="4912555" y="4041452"/>
            <a:ext cx="12147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fact(4)=24</a:t>
            </a:r>
            <a:endParaRPr lang="zh-CN" altLang="en-US" dirty="0"/>
          </a:p>
        </p:txBody>
      </p:sp>
      <p:sp>
        <p:nvSpPr>
          <p:cNvPr id="94" name="Freeform 46">
            <a:extLst>
              <a:ext uri="{FF2B5EF4-FFF2-40B4-BE49-F238E27FC236}">
                <a16:creationId xmlns:a16="http://schemas.microsoft.com/office/drawing/2014/main" id="{5738E45D-703F-DC2F-7183-39C3764558FD}"/>
              </a:ext>
            </a:extLst>
          </p:cNvPr>
          <p:cNvSpPr>
            <a:spLocks/>
          </p:cNvSpPr>
          <p:nvPr/>
        </p:nvSpPr>
        <p:spPr bwMode="auto">
          <a:xfrm>
            <a:off x="3544403" y="3345806"/>
            <a:ext cx="1268764" cy="648072"/>
          </a:xfrm>
          <a:custGeom>
            <a:avLst/>
            <a:gdLst>
              <a:gd name="T0" fmla="*/ 1133 w 1133"/>
              <a:gd name="T1" fmla="*/ 954 h 1431"/>
              <a:gd name="T2" fmla="*/ 181 w 1133"/>
              <a:gd name="T3" fmla="*/ 1272 h 1431"/>
              <a:gd name="T4" fmla="*/ 45 w 1133"/>
              <a:gd name="T5" fmla="*/ 0 h 1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33" h="1431">
                <a:moveTo>
                  <a:pt x="1133" y="954"/>
                </a:moveTo>
                <a:cubicBezTo>
                  <a:pt x="747" y="1192"/>
                  <a:pt x="362" y="1431"/>
                  <a:pt x="181" y="1272"/>
                </a:cubicBezTo>
                <a:cubicBezTo>
                  <a:pt x="0" y="1113"/>
                  <a:pt x="68" y="212"/>
                  <a:pt x="45" y="0"/>
                </a:cubicBezTo>
              </a:path>
            </a:pathLst>
          </a:custGeom>
          <a:noFill/>
          <a:ln w="25400" cmpd="sng">
            <a:solidFill>
              <a:srgbClr val="00B05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CA8620F-677E-B779-5E6E-D54C6735C8DF}"/>
              </a:ext>
            </a:extLst>
          </p:cNvPr>
          <p:cNvSpPr/>
          <p:nvPr/>
        </p:nvSpPr>
        <p:spPr>
          <a:xfrm>
            <a:off x="3544403" y="3413168"/>
            <a:ext cx="12687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</a:rPr>
              <a:t>fact(5)=120</a:t>
            </a:r>
            <a:endParaRPr lang="zh-CN" altLang="en-US" dirty="0"/>
          </a:p>
        </p:txBody>
      </p:sp>
      <p:sp>
        <p:nvSpPr>
          <p:cNvPr id="96" name="Freeform 46">
            <a:extLst>
              <a:ext uri="{FF2B5EF4-FFF2-40B4-BE49-F238E27FC236}">
                <a16:creationId xmlns:a16="http://schemas.microsoft.com/office/drawing/2014/main" id="{54AB0187-0DCE-0F59-ECDB-40464BE8897A}"/>
              </a:ext>
            </a:extLst>
          </p:cNvPr>
          <p:cNvSpPr>
            <a:spLocks/>
          </p:cNvSpPr>
          <p:nvPr/>
        </p:nvSpPr>
        <p:spPr bwMode="auto">
          <a:xfrm>
            <a:off x="2223453" y="2732287"/>
            <a:ext cx="1268764" cy="648072"/>
          </a:xfrm>
          <a:custGeom>
            <a:avLst/>
            <a:gdLst>
              <a:gd name="T0" fmla="*/ 1133 w 1133"/>
              <a:gd name="T1" fmla="*/ 954 h 1431"/>
              <a:gd name="T2" fmla="*/ 181 w 1133"/>
              <a:gd name="T3" fmla="*/ 1272 h 1431"/>
              <a:gd name="T4" fmla="*/ 45 w 1133"/>
              <a:gd name="T5" fmla="*/ 0 h 1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33" h="1431">
                <a:moveTo>
                  <a:pt x="1133" y="954"/>
                </a:moveTo>
                <a:cubicBezTo>
                  <a:pt x="747" y="1192"/>
                  <a:pt x="362" y="1431"/>
                  <a:pt x="181" y="1272"/>
                </a:cubicBezTo>
                <a:cubicBezTo>
                  <a:pt x="0" y="1113"/>
                  <a:pt x="68" y="212"/>
                  <a:pt x="45" y="0"/>
                </a:cubicBezTo>
              </a:path>
            </a:pathLst>
          </a:custGeom>
          <a:noFill/>
          <a:ln w="25400" cmpd="sng">
            <a:solidFill>
              <a:srgbClr val="00B05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62F8899-2C35-F550-C13B-84C52254505C}"/>
              </a:ext>
            </a:extLst>
          </p:cNvPr>
          <p:cNvSpPr/>
          <p:nvPr/>
        </p:nvSpPr>
        <p:spPr>
          <a:xfrm>
            <a:off x="2223453" y="2799649"/>
            <a:ext cx="12687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itchFamily="18" charset="0"/>
              </a:rPr>
              <a:t> 输出</a:t>
            </a:r>
            <a:r>
              <a:rPr lang="en-US" altLang="zh-CN" dirty="0">
                <a:latin typeface="Times New Roman" pitchFamily="18" charset="0"/>
              </a:rPr>
              <a:t>120</a:t>
            </a:r>
            <a:endParaRPr lang="zh-CN" altLang="en-US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FA0BAC9-4C49-7993-DE73-0B9136AC381C}"/>
              </a:ext>
            </a:extLst>
          </p:cNvPr>
          <p:cNvSpPr/>
          <p:nvPr/>
        </p:nvSpPr>
        <p:spPr>
          <a:xfrm>
            <a:off x="1662799" y="3728936"/>
            <a:ext cx="34204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93675" algn="just" eaLnBrk="0" hangingPunct="0"/>
            <a:r>
              <a:rPr kumimoji="1" lang="en-US" altLang="zh-CN" dirty="0">
                <a:latin typeface="Times New Roman" pitchFamily="18" charset="0"/>
              </a:rPr>
              <a:t>void main()</a:t>
            </a:r>
          </a:p>
          <a:p>
            <a:pPr indent="193675" algn="just" eaLnBrk="0" hangingPunct="0"/>
            <a:r>
              <a:rPr kumimoji="1" lang="en-US" altLang="zh-CN" dirty="0">
                <a:latin typeface="Times New Roman" pitchFamily="18" charset="0"/>
              </a:rPr>
              <a:t>{ </a:t>
            </a:r>
          </a:p>
          <a:p>
            <a:pPr indent="193675" algn="just" eaLnBrk="0" hangingPunct="0"/>
            <a:r>
              <a:rPr kumimoji="1" lang="en-US" altLang="zh-CN" dirty="0">
                <a:latin typeface="Times New Roman" pitchFamily="18" charset="0"/>
              </a:rPr>
              <a:t>          </a:t>
            </a:r>
            <a:r>
              <a:rPr kumimoji="1" lang="en-US" altLang="zh-CN" dirty="0" err="1">
                <a:latin typeface="Times New Roman" pitchFamily="18" charset="0"/>
              </a:rPr>
              <a:t>printf</a:t>
            </a:r>
            <a:r>
              <a:rPr kumimoji="1" lang="en-US" altLang="zh-CN" dirty="0">
                <a:latin typeface="Times New Roman" pitchFamily="18" charset="0"/>
              </a:rPr>
              <a:t>(“5!=%f\</a:t>
            </a:r>
            <a:r>
              <a:rPr kumimoji="1" lang="en-US" altLang="zh-CN" dirty="0" err="1">
                <a:latin typeface="Times New Roman" pitchFamily="18" charset="0"/>
              </a:rPr>
              <a:t>n”,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itchFamily="18" charset="0"/>
              </a:rPr>
              <a:t>fact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</a:rPr>
              <a:t>(5)</a:t>
            </a:r>
            <a:r>
              <a:rPr kumimoji="1" lang="en-US" altLang="zh-CN" dirty="0">
                <a:latin typeface="Times New Roman" pitchFamily="18" charset="0"/>
              </a:rPr>
              <a:t>); </a:t>
            </a:r>
          </a:p>
          <a:p>
            <a:pPr indent="193675" algn="just" eaLnBrk="0" hangingPunct="0"/>
            <a:r>
              <a:rPr kumimoji="1" lang="en-US" altLang="zh-CN" dirty="0">
                <a:latin typeface="Times New Roman" pitchFamily="18" charset="0"/>
              </a:rPr>
              <a:t>}</a:t>
            </a:r>
            <a:endParaRPr kumimoji="1" lang="zh-CN" altLang="en-US" dirty="0">
              <a:latin typeface="Times New Roman" pitchFamily="18" charset="0"/>
            </a:endParaRPr>
          </a:p>
        </p:txBody>
      </p:sp>
      <p:sp>
        <p:nvSpPr>
          <p:cNvPr id="99" name="Rectangle 3">
            <a:extLst>
              <a:ext uri="{FF2B5EF4-FFF2-40B4-BE49-F238E27FC236}">
                <a16:creationId xmlns:a16="http://schemas.microsoft.com/office/drawing/2014/main" id="{30E06766-C617-EBCD-E2A7-7AA0C230D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0921" y="1786105"/>
            <a:ext cx="298794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193675" algn="just" eaLnBrk="0" hangingPunct="0"/>
            <a:r>
              <a:rPr kumimoji="1" lang="en-US" altLang="zh-CN" sz="2000" dirty="0">
                <a:latin typeface="Times New Roman" pitchFamily="18" charset="0"/>
              </a:rPr>
              <a:t>float fact(</a:t>
            </a:r>
            <a:r>
              <a:rPr kumimoji="1" lang="en-US" altLang="zh-CN" sz="2000" dirty="0" err="1">
                <a:latin typeface="Times New Roman" pitchFamily="18" charset="0"/>
              </a:rPr>
              <a:t>int</a:t>
            </a:r>
            <a:r>
              <a:rPr kumimoji="1" lang="en-US" altLang="zh-CN" sz="2000" dirty="0">
                <a:latin typeface="Times New Roman" pitchFamily="18" charset="0"/>
              </a:rPr>
              <a:t> n){</a:t>
            </a:r>
          </a:p>
          <a:p>
            <a:pPr indent="193675" algn="just" eaLnBrk="0" hangingPunct="0"/>
            <a:r>
              <a:rPr kumimoji="1" lang="en-US" altLang="zh-CN" sz="2000" dirty="0">
                <a:latin typeface="Times New Roman" pitchFamily="18" charset="0"/>
              </a:rPr>
              <a:t>        float s;</a:t>
            </a:r>
          </a:p>
          <a:p>
            <a:pPr indent="193675" algn="just" eaLnBrk="0" hangingPunct="0"/>
            <a:r>
              <a:rPr kumimoji="1" lang="en-US" altLang="zh-CN" sz="2000" dirty="0">
                <a:latin typeface="Times New Roman" pitchFamily="18" charset="0"/>
              </a:rPr>
              <a:t>        if (n= =0||n= =1)</a:t>
            </a:r>
          </a:p>
          <a:p>
            <a:pPr indent="193675" algn="just" eaLnBrk="0" hangingPunct="0"/>
            <a:r>
              <a:rPr kumimoji="1" lang="en-US" altLang="zh-CN" sz="2000" dirty="0">
                <a:latin typeface="Times New Roman" pitchFamily="18" charset="0"/>
              </a:rPr>
              <a:t>                s=1;</a:t>
            </a:r>
          </a:p>
          <a:p>
            <a:pPr indent="193675" algn="just" eaLnBrk="0" hangingPunct="0"/>
            <a:r>
              <a:rPr kumimoji="1" lang="en-US" altLang="zh-CN" sz="2000" dirty="0">
                <a:latin typeface="Times New Roman" pitchFamily="18" charset="0"/>
              </a:rPr>
              <a:t>        else </a:t>
            </a:r>
          </a:p>
          <a:p>
            <a:pPr indent="193675" algn="just" eaLnBrk="0" hangingPunct="0"/>
            <a:r>
              <a:rPr kumimoji="1" lang="en-US" altLang="zh-CN" sz="2000" dirty="0">
                <a:latin typeface="Times New Roman" pitchFamily="18" charset="0"/>
              </a:rPr>
              <a:t>             s=n*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</a:rPr>
              <a:t>fact(n-1)</a:t>
            </a:r>
            <a:r>
              <a:rPr kumimoji="1" lang="en-US" altLang="zh-CN" sz="2000" dirty="0">
                <a:latin typeface="Times New Roman" pitchFamily="18" charset="0"/>
              </a:rPr>
              <a:t>;</a:t>
            </a:r>
          </a:p>
          <a:p>
            <a:pPr indent="193675" algn="just" eaLnBrk="0" hangingPunct="0"/>
            <a:r>
              <a:rPr kumimoji="1" lang="en-US" altLang="zh-CN" sz="2000" dirty="0">
                <a:latin typeface="Times New Roman" pitchFamily="18" charset="0"/>
              </a:rPr>
              <a:t>        return (s); </a:t>
            </a:r>
          </a:p>
          <a:p>
            <a:pPr indent="193675" algn="just" eaLnBrk="0" hangingPunct="0"/>
            <a:r>
              <a:rPr kumimoji="1" lang="en-US" altLang="zh-CN" sz="2000" dirty="0">
                <a:latin typeface="Times New Roman" pitchFamily="18" charset="0"/>
              </a:rPr>
              <a:t>}</a:t>
            </a:r>
          </a:p>
        </p:txBody>
      </p:sp>
      <p:sp>
        <p:nvSpPr>
          <p:cNvPr id="100" name="Rectangle 61">
            <a:extLst>
              <a:ext uri="{FF2B5EF4-FFF2-40B4-BE49-F238E27FC236}">
                <a16:creationId xmlns:a16="http://schemas.microsoft.com/office/drawing/2014/main" id="{24D39FB9-3549-FD93-16FD-116D93E84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848" y="5982512"/>
            <a:ext cx="25607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递归调用过程示意图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1B6169-6ACB-6ABF-7B06-8287476C495B}"/>
              </a:ext>
            </a:extLst>
          </p:cNvPr>
          <p:cNvSpPr/>
          <p:nvPr/>
        </p:nvSpPr>
        <p:spPr>
          <a:xfrm>
            <a:off x="407368" y="1089797"/>
            <a:ext cx="2952328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5.1.3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递归模型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C85C2DE-54A2-1755-F58B-498B1E0F5C1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5.1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什么是递归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22AE4A4-1C44-6235-49D7-6673C285C98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35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3" grpId="0" animBg="1"/>
      <p:bldP spid="74" grpId="0" animBg="1"/>
      <p:bldP spid="76" grpId="0" animBg="1"/>
      <p:bldP spid="78" grpId="0" animBg="1"/>
      <p:bldP spid="81" grpId="0" animBg="1"/>
      <p:bldP spid="83" grpId="0" animBg="1"/>
      <p:bldP spid="3" grpId="0"/>
      <p:bldP spid="84" grpId="0" animBg="1"/>
      <p:bldP spid="85" grpId="0" animBg="1"/>
      <p:bldP spid="86" grpId="0" animBg="1"/>
      <p:bldP spid="87" grpId="0" animBg="1"/>
      <p:bldP spid="88" grpId="0" animBg="1"/>
      <p:bldP spid="89" grpId="0"/>
      <p:bldP spid="90" grpId="0" animBg="1"/>
      <p:bldP spid="91" grpId="0"/>
      <p:bldP spid="92" grpId="0" animBg="1"/>
      <p:bldP spid="93" grpId="0"/>
      <p:bldP spid="94" grpId="0" animBg="1"/>
      <p:bldP spid="95" grpId="0"/>
      <p:bldP spid="96" grpId="0" animBg="1"/>
      <p:bldP spid="97" grpId="0"/>
      <p:bldP spid="98" grpId="0"/>
      <p:bldP spid="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7194D-F241-BB04-A975-1D52D11F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5C073F5-0082-D1A1-1944-2F0F563F82FF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5.3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递归算法的设计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D55A88D-2DD0-5E54-15AB-BA1940535C7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CA5334FF-B7D7-6F85-1A3E-21DCB7663AA3}"/>
              </a:ext>
            </a:extLst>
          </p:cNvPr>
          <p:cNvSpPr/>
          <p:nvPr/>
        </p:nvSpPr>
        <p:spPr>
          <a:xfrm>
            <a:off x="407368" y="1089797"/>
            <a:ext cx="4536504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5.3.1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递归算法的设计步骤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32" name="Text Box 2">
            <a:extLst>
              <a:ext uri="{FF2B5EF4-FFF2-40B4-BE49-F238E27FC236}">
                <a16:creationId xmlns:a16="http://schemas.microsoft.com/office/drawing/2014/main" id="{19EFB938-CF37-7D58-2332-F79D2018F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24" y="2780928"/>
            <a:ext cx="464347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spcBef>
                <a:spcPct val="50000"/>
              </a:spcBef>
              <a:buBlip>
                <a:blip r:embed="rId2"/>
              </a:buBlip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设计求解问题的递归模型。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marL="457200" indent="-457200" algn="l">
              <a:spcBef>
                <a:spcPct val="50000"/>
              </a:spcBef>
              <a:buBlip>
                <a:blip r:embed="rId2"/>
              </a:buBlip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转换成对应的递归算法。</a:t>
            </a:r>
          </a:p>
        </p:txBody>
      </p:sp>
      <p:grpSp>
        <p:nvGrpSpPr>
          <p:cNvPr id="33" name="组合 7">
            <a:extLst>
              <a:ext uri="{FF2B5EF4-FFF2-40B4-BE49-F238E27FC236}">
                <a16:creationId xmlns:a16="http://schemas.microsoft.com/office/drawing/2014/main" id="{7C041A3E-23A4-F1BB-CEFD-1B2EFE9FDD69}"/>
              </a:ext>
            </a:extLst>
          </p:cNvPr>
          <p:cNvGrpSpPr/>
          <p:nvPr/>
        </p:nvGrpSpPr>
        <p:grpSpPr>
          <a:xfrm>
            <a:off x="767408" y="4221088"/>
            <a:ext cx="4286280" cy="500066"/>
            <a:chOff x="1428728" y="4429132"/>
            <a:chExt cx="4286280" cy="500066"/>
          </a:xfrm>
        </p:grpSpPr>
        <p:sp>
          <p:nvSpPr>
            <p:cNvPr id="34" name="圆角矩形 4">
              <a:extLst>
                <a:ext uri="{FF2B5EF4-FFF2-40B4-BE49-F238E27FC236}">
                  <a16:creationId xmlns:a16="http://schemas.microsoft.com/office/drawing/2014/main" id="{EAFD8545-4391-9241-0D51-2EF76BAD88E8}"/>
                </a:ext>
              </a:extLst>
            </p:cNvPr>
            <p:cNvSpPr/>
            <p:nvPr/>
          </p:nvSpPr>
          <p:spPr>
            <a:xfrm>
              <a:off x="1428728" y="4429132"/>
              <a:ext cx="1643074" cy="500066"/>
            </a:xfrm>
            <a:prstGeom prst="roundRect">
              <a:avLst/>
            </a:prstGeom>
            <a:scene3d>
              <a:camera prst="perspectiveAbove"/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>
                  <a:solidFill>
                    <a:schemeClr val="bg1"/>
                  </a:solidFill>
                  <a:ea typeface="楷体" pitchFamily="49" charset="-122"/>
                  <a:cs typeface="Times New Roman" pitchFamily="18" charset="0"/>
                </a:rPr>
                <a:t>递归模型</a:t>
              </a:r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35" name="右箭头 5">
              <a:extLst>
                <a:ext uri="{FF2B5EF4-FFF2-40B4-BE49-F238E27FC236}">
                  <a16:creationId xmlns:a16="http://schemas.microsoft.com/office/drawing/2014/main" id="{F035B69C-29A3-AE3A-4E9F-7B5D60CDE135}"/>
                </a:ext>
              </a:extLst>
            </p:cNvPr>
            <p:cNvSpPr/>
            <p:nvPr/>
          </p:nvSpPr>
          <p:spPr>
            <a:xfrm>
              <a:off x="3214678" y="4572008"/>
              <a:ext cx="714380" cy="214314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圆角矩形 6">
              <a:extLst>
                <a:ext uri="{FF2B5EF4-FFF2-40B4-BE49-F238E27FC236}">
                  <a16:creationId xmlns:a16="http://schemas.microsoft.com/office/drawing/2014/main" id="{F78718C0-62E9-FCDA-65A9-611B12D257DB}"/>
                </a:ext>
              </a:extLst>
            </p:cNvPr>
            <p:cNvSpPr/>
            <p:nvPr/>
          </p:nvSpPr>
          <p:spPr>
            <a:xfrm>
              <a:off x="4071934" y="4429132"/>
              <a:ext cx="1643074" cy="500066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>
                  <a:ea typeface="楷体" pitchFamily="49" charset="-122"/>
                  <a:cs typeface="Times New Roman" pitchFamily="18" charset="0"/>
                </a:rPr>
                <a:t>递归算法</a:t>
              </a:r>
              <a:endParaRPr lang="zh-CN" altLang="en-US" sz="2000"/>
            </a:p>
          </p:txBody>
        </p:sp>
      </p:grpSp>
      <p:sp>
        <p:nvSpPr>
          <p:cNvPr id="37" name="Text Box 2">
            <a:extLst>
              <a:ext uri="{FF2B5EF4-FFF2-40B4-BE49-F238E27FC236}">
                <a16:creationId xmlns:a16="http://schemas.microsoft.com/office/drawing/2014/main" id="{0BCD3866-81B0-1342-B944-B48F53E1A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139" y="2348053"/>
            <a:ext cx="5715040" cy="865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1" hangingPunct="1">
              <a:lnSpc>
                <a:spcPts val="3200"/>
              </a:lnSpc>
              <a:spcBef>
                <a:spcPct val="50000"/>
              </a:spcBef>
              <a:defRPr/>
            </a:pPr>
            <a:r>
              <a:rPr kumimoji="1" lang="zh-CN" altLang="en-US" sz="180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）对原问题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(s)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进行分析，称为“大问题”，假设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出合理的“小问题”</a:t>
            </a:r>
            <a:r>
              <a:rPr kumimoji="1" lang="en-US" altLang="zh-CN" sz="18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(s’)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；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</a:t>
            </a:r>
          </a:p>
        </p:txBody>
      </p:sp>
      <p:sp>
        <p:nvSpPr>
          <p:cNvPr id="38" name="Text Box 3">
            <a:extLst>
              <a:ext uri="{FF2B5EF4-FFF2-40B4-BE49-F238E27FC236}">
                <a16:creationId xmlns:a16="http://schemas.microsoft.com/office/drawing/2014/main" id="{89B7054A-4EA0-2990-A040-F622F86E3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9453" y="1528352"/>
            <a:ext cx="42481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求递归模型的步骤如下：</a:t>
            </a:r>
          </a:p>
        </p:txBody>
      </p:sp>
      <p:sp>
        <p:nvSpPr>
          <p:cNvPr id="39" name="Text Box 2">
            <a:extLst>
              <a:ext uri="{FF2B5EF4-FFF2-40B4-BE49-F238E27FC236}">
                <a16:creationId xmlns:a16="http://schemas.microsoft.com/office/drawing/2014/main" id="{B592065F-3144-EB8D-4D2C-839B98843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139" y="5243128"/>
            <a:ext cx="5572164" cy="913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ct val="50000"/>
              </a:spcBef>
              <a:defRPr/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（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）确定一个特定情况（如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(1)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(0)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的解  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  </a:t>
            </a:r>
            <a:r>
              <a:rPr kumimoji="1" lang="zh-CN" alt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  <a:cs typeface="Consolas" pitchFamily="49" charset="0"/>
              </a:rPr>
              <a:t>递归出口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kumimoji="1"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0" name="Text Box 2">
            <a:extLst>
              <a:ext uri="{FF2B5EF4-FFF2-40B4-BE49-F238E27FC236}">
                <a16:creationId xmlns:a16="http://schemas.microsoft.com/office/drawing/2014/main" id="{284BB88E-1AFF-1CCA-1EB2-0D90FE092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139" y="3600054"/>
            <a:ext cx="5643602" cy="913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1" hangingPunct="1">
              <a:lnSpc>
                <a:spcPts val="3200"/>
              </a:lnSpc>
              <a:spcBef>
                <a:spcPct val="50000"/>
              </a:spcBef>
              <a:defRPr/>
            </a:pP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 （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）假设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(s’)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是可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解的，在此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基础上确定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(s)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的解，即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给出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(s)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与</a:t>
            </a:r>
            <a:r>
              <a:rPr kumimoji="1" lang="en-US" altLang="zh-CN" sz="18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(s’)</a:t>
            </a:r>
            <a:r>
              <a:rPr kumimoji="1"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之间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的关系 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 </a:t>
            </a:r>
            <a:r>
              <a:rPr kumimoji="1" lang="zh-CN" alt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  <a:cs typeface="Consolas" pitchFamily="49" charset="0"/>
                <a:sym typeface="Wingdings"/>
              </a:rPr>
              <a:t>递归体</a:t>
            </a: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。</a:t>
            </a:r>
            <a:endParaRPr kumimoji="1"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87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2547</TotalTime>
  <Words>1073</Words>
  <Application>Microsoft Office PowerPoint</Application>
  <PresentationFormat>宽屏</PresentationFormat>
  <Paragraphs>130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Calibri</vt:lpstr>
      <vt:lpstr>方正启体简体</vt:lpstr>
      <vt:lpstr>仿宋</vt:lpstr>
      <vt:lpstr>黑体</vt:lpstr>
      <vt:lpstr>经典粗黑简</vt:lpstr>
      <vt:lpstr>楷体</vt:lpstr>
      <vt:lpstr>微软雅黑</vt:lpstr>
      <vt:lpstr>Arial</vt:lpstr>
      <vt:lpstr>Consolas</vt:lpstr>
      <vt:lpstr>Times New Roman</vt:lpstr>
      <vt:lpstr>Wingdings</vt:lpstr>
      <vt:lpstr>Office 主题​​</vt:lpstr>
      <vt:lpstr>第5章 递归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Data Structure</dc:title>
  <dc:creator>Fenghc</dc:creator>
  <cp:lastModifiedBy>User</cp:lastModifiedBy>
  <cp:revision>198</cp:revision>
  <dcterms:created xsi:type="dcterms:W3CDTF">2021-02-25T03:49:55Z</dcterms:created>
  <dcterms:modified xsi:type="dcterms:W3CDTF">2025-10-12T14:16:46Z</dcterms:modified>
</cp:coreProperties>
</file>