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36" r:id="rId2"/>
    <p:sldId id="257" r:id="rId3"/>
    <p:sldId id="258" r:id="rId4"/>
    <p:sldId id="261" r:id="rId5"/>
    <p:sldId id="259" r:id="rId6"/>
    <p:sldId id="355" r:id="rId7"/>
    <p:sldId id="379" r:id="rId8"/>
    <p:sldId id="380" r:id="rId9"/>
    <p:sldId id="389" r:id="rId10"/>
    <p:sldId id="390" r:id="rId11"/>
    <p:sldId id="391" r:id="rId12"/>
    <p:sldId id="392" r:id="rId13"/>
    <p:sldId id="393" r:id="rId14"/>
    <p:sldId id="356" r:id="rId15"/>
    <p:sldId id="363" r:id="rId16"/>
    <p:sldId id="364" r:id="rId17"/>
    <p:sldId id="365" r:id="rId18"/>
    <p:sldId id="366" r:id="rId19"/>
    <p:sldId id="369" r:id="rId20"/>
    <p:sldId id="372" r:id="rId21"/>
    <p:sldId id="373" r:id="rId22"/>
    <p:sldId id="374" r:id="rId23"/>
    <p:sldId id="443" r:id="rId24"/>
    <p:sldId id="371" r:id="rId25"/>
    <p:sldId id="444" r:id="rId26"/>
    <p:sldId id="375" r:id="rId27"/>
    <p:sldId id="376" r:id="rId28"/>
    <p:sldId id="395" r:id="rId29"/>
    <p:sldId id="446" r:id="rId30"/>
    <p:sldId id="449" r:id="rId31"/>
    <p:sldId id="447" r:id="rId32"/>
    <p:sldId id="451" r:id="rId33"/>
    <p:sldId id="450" r:id="rId34"/>
    <p:sldId id="448" r:id="rId35"/>
    <p:sldId id="445" r:id="rId36"/>
    <p:sldId id="397" r:id="rId37"/>
    <p:sldId id="452" r:id="rId38"/>
    <p:sldId id="453" r:id="rId39"/>
    <p:sldId id="454" r:id="rId40"/>
    <p:sldId id="455" r:id="rId41"/>
    <p:sldId id="458" r:id="rId42"/>
    <p:sldId id="456" r:id="rId43"/>
    <p:sldId id="407" r:id="rId44"/>
    <p:sldId id="405" r:id="rId45"/>
    <p:sldId id="406" r:id="rId46"/>
    <p:sldId id="408" r:id="rId47"/>
    <p:sldId id="457" r:id="rId48"/>
    <p:sldId id="410" r:id="rId49"/>
    <p:sldId id="412" r:id="rId50"/>
    <p:sldId id="414" r:id="rId51"/>
    <p:sldId id="416" r:id="rId52"/>
    <p:sldId id="459" r:id="rId53"/>
    <p:sldId id="417" r:id="rId54"/>
    <p:sldId id="418" r:id="rId55"/>
    <p:sldId id="419" r:id="rId56"/>
    <p:sldId id="420" r:id="rId57"/>
    <p:sldId id="421" r:id="rId58"/>
    <p:sldId id="422" r:id="rId59"/>
    <p:sldId id="423" r:id="rId60"/>
    <p:sldId id="424" r:id="rId61"/>
    <p:sldId id="320" r:id="rId62"/>
    <p:sldId id="321" r:id="rId63"/>
    <p:sldId id="322" r:id="rId64"/>
    <p:sldId id="323" r:id="rId65"/>
    <p:sldId id="325" r:id="rId66"/>
    <p:sldId id="324" r:id="rId67"/>
    <p:sldId id="425" r:id="rId68"/>
    <p:sldId id="327" r:id="rId69"/>
    <p:sldId id="328" r:id="rId70"/>
    <p:sldId id="441" r:id="rId71"/>
    <p:sldId id="413" r:id="rId72"/>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303"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2840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73385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05572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081129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247008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68786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90934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124973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88314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3156022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55B11C4-7618-49BA-A742-440409CFAB34}" type="datetimeFigureOut">
              <a:rPr lang="zh-CN" altLang="en-US" smtClean="0"/>
              <a:t>2025/9/21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404605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55B11C4-7618-49BA-A742-440409CFAB34}" type="datetimeFigureOut">
              <a:rPr lang="zh-CN" altLang="en-US" smtClean="0"/>
              <a:t>2025/9/21</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965A0BF-9B99-4B1A-8F42-46B3DEFA909C}" type="slidenum">
              <a:rPr lang="zh-CN" altLang="en-US" smtClean="0"/>
              <a:t>‹#›</a:t>
            </a:fld>
            <a:endParaRPr lang="zh-CN" altLang="en-US"/>
          </a:p>
        </p:txBody>
      </p:sp>
    </p:spTree>
    <p:extLst>
      <p:ext uri="{BB962C8B-B14F-4D97-AF65-F5344CB8AC3E}">
        <p14:creationId xmlns:p14="http://schemas.microsoft.com/office/powerpoint/2010/main" val="21293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ctrTitle"/>
          </p:nvPr>
        </p:nvSpPr>
        <p:spPr>
          <a:xfrm>
            <a:off x="637228" y="357504"/>
            <a:ext cx="7869547" cy="2449286"/>
          </a:xfrm>
        </p:spPr>
        <p:style>
          <a:lnRef idx="1">
            <a:schemeClr val="accent6"/>
          </a:lnRef>
          <a:fillRef idx="3">
            <a:schemeClr val="accent6"/>
          </a:fillRef>
          <a:effectRef idx="2">
            <a:schemeClr val="accent6"/>
          </a:effectRef>
          <a:fontRef idx="minor">
            <a:schemeClr val="lt1"/>
          </a:fontRef>
        </p:style>
        <p:txBody>
          <a:bodyPr anchor="ctr">
            <a:normAutofit/>
          </a:bodyPr>
          <a:lstStyle/>
          <a:p>
            <a:pPr eaLnBrk="1" hangingPunct="1"/>
            <a:r>
              <a:rPr lang="zh-CN" altLang="en-US" sz="7200" b="1" dirty="0">
                <a:latin typeface="黑体" pitchFamily="49" charset="-122"/>
                <a:ea typeface="黑体" pitchFamily="49" charset="-122"/>
              </a:rPr>
              <a:t>数据结构</a:t>
            </a:r>
            <a:br>
              <a:rPr lang="en-US" altLang="zh-CN" sz="7200" b="1" dirty="0">
                <a:latin typeface="黑体" pitchFamily="49" charset="-122"/>
                <a:ea typeface="黑体" pitchFamily="49" charset="-122"/>
              </a:rPr>
            </a:br>
            <a:r>
              <a:rPr lang="en-US" altLang="zh-CN" sz="7200" b="1" dirty="0">
                <a:solidFill>
                  <a:schemeClr val="tx1"/>
                </a:solidFill>
              </a:rPr>
              <a:t>Data Structure</a:t>
            </a:r>
          </a:p>
        </p:txBody>
      </p:sp>
      <p:sp>
        <p:nvSpPr>
          <p:cNvPr id="7" name="矩形 6"/>
          <p:cNvSpPr/>
          <p:nvPr/>
        </p:nvSpPr>
        <p:spPr>
          <a:xfrm>
            <a:off x="1970969" y="3802492"/>
            <a:ext cx="5397631" cy="523220"/>
          </a:xfrm>
          <a:prstGeom prst="rect">
            <a:avLst/>
          </a:prstGeom>
        </p:spPr>
        <p:txBody>
          <a:bodyPr wrap="none" anchor="ctr">
            <a:spAutoFit/>
          </a:bodyPr>
          <a:lstStyle/>
          <a:p>
            <a:r>
              <a:rPr lang="en-US" altLang="zh-CN" sz="2800" dirty="0">
                <a:latin typeface="Adobe 黑体 Std R" pitchFamily="34" charset="-122"/>
                <a:ea typeface="Adobe 黑体 Std R" pitchFamily="34" charset="-122"/>
              </a:rPr>
              <a:t>QQ</a:t>
            </a:r>
            <a:r>
              <a:rPr lang="zh-CN" altLang="en-US" sz="2800" dirty="0">
                <a:latin typeface="Adobe 黑体 Std R" pitchFamily="34" charset="-122"/>
                <a:ea typeface="Adobe 黑体 Std R" pitchFamily="34" charset="-122"/>
              </a:rPr>
              <a:t>邮箱：</a:t>
            </a:r>
            <a:r>
              <a:rPr lang="en-US" altLang="zh-CN" sz="2800" dirty="0">
                <a:latin typeface="Adobe 黑体 Std R" pitchFamily="34" charset="-122"/>
                <a:ea typeface="Adobe 黑体 Std R" pitchFamily="34" charset="-122"/>
              </a:rPr>
              <a:t>765262360@qq.com</a:t>
            </a:r>
            <a:endParaRPr lang="zh-CN" altLang="en-US" sz="2800" dirty="0">
              <a:latin typeface="Adobe 黑体 Std R" pitchFamily="34" charset="-122"/>
              <a:ea typeface="Adobe 黑体 Std R" pitchFamily="34" charset="-122"/>
            </a:endParaRPr>
          </a:p>
        </p:txBody>
      </p:sp>
      <p:sp>
        <p:nvSpPr>
          <p:cNvPr id="8" name="矩形 7"/>
          <p:cNvSpPr/>
          <p:nvPr/>
        </p:nvSpPr>
        <p:spPr>
          <a:xfrm>
            <a:off x="2651350" y="3298751"/>
            <a:ext cx="3881191" cy="523220"/>
          </a:xfrm>
          <a:prstGeom prst="rect">
            <a:avLst/>
          </a:prstGeom>
        </p:spPr>
        <p:txBody>
          <a:bodyPr wrap="none">
            <a:spAutoFit/>
          </a:bodyPr>
          <a:lstStyle/>
          <a:p>
            <a:r>
              <a:rPr lang="zh-CN" altLang="en-US" sz="2800" dirty="0">
                <a:latin typeface="Adobe 黑体 Std R" pitchFamily="34" charset="-122"/>
                <a:ea typeface="Adobe 黑体 Std R" pitchFamily="34" charset="-122"/>
              </a:rPr>
              <a:t>任课教师：丰洪才 教授</a:t>
            </a:r>
            <a:endParaRPr lang="en-US" altLang="zh-CN" sz="2800" dirty="0">
              <a:latin typeface="Adobe 黑体 Std R" pitchFamily="34" charset="-122"/>
              <a:ea typeface="Adobe 黑体 Std R" pitchFamily="34" charset="-122"/>
            </a:endParaRPr>
          </a:p>
        </p:txBody>
      </p:sp>
    </p:spTree>
    <p:extLst>
      <p:ext uri="{BB962C8B-B14F-4D97-AF65-F5344CB8AC3E}">
        <p14:creationId xmlns:p14="http://schemas.microsoft.com/office/powerpoint/2010/main" val="2527309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85800" y="287383"/>
            <a:ext cx="7772400" cy="693965"/>
          </a:xfrm>
        </p:spPr>
        <p:txBody>
          <a:bodyPr>
            <a:normAutofit fontScale="90000"/>
          </a:bodyPr>
          <a:lstStyle/>
          <a:p>
            <a:pPr eaLnBrk="1" hangingPunct="1"/>
            <a:r>
              <a:rPr lang="zh-CN" altLang="en-US" b="1" dirty="0">
                <a:latin typeface="黑体" pitchFamily="49" charset="-122"/>
                <a:ea typeface="黑体" pitchFamily="49" charset="-122"/>
                <a:cs typeface="+mn-cs"/>
              </a:rPr>
              <a:t>关于数据结构这门课程</a:t>
            </a:r>
            <a:endParaRPr lang="en-US" altLang="zh-CN" dirty="0"/>
          </a:p>
        </p:txBody>
      </p:sp>
      <p:sp>
        <p:nvSpPr>
          <p:cNvPr id="9" name="矩形 8"/>
          <p:cNvSpPr/>
          <p:nvPr/>
        </p:nvSpPr>
        <p:spPr>
          <a:xfrm>
            <a:off x="251521" y="1262101"/>
            <a:ext cx="4320479" cy="1292662"/>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400" b="1" dirty="0">
                <a:solidFill>
                  <a:srgbClr val="FF0000"/>
                </a:solidFill>
                <a:latin typeface="黑体" pitchFamily="49" charset="-122"/>
                <a:ea typeface="黑体" pitchFamily="49" charset="-122"/>
              </a:rPr>
              <a:t>1</a:t>
            </a:r>
            <a:r>
              <a:rPr lang="zh-CN" altLang="en-US" sz="2400" b="1" dirty="0">
                <a:solidFill>
                  <a:srgbClr val="FF0000"/>
                </a:solidFill>
                <a:latin typeface="黑体" pitchFamily="49" charset="-122"/>
                <a:ea typeface="黑体" pitchFamily="49" charset="-122"/>
              </a:rPr>
              <a:t>、教材：</a:t>
            </a:r>
            <a:r>
              <a:rPr lang="zh-CN" altLang="en-US" dirty="0">
                <a:latin typeface="微软雅黑" pitchFamily="34" charset="-122"/>
                <a:ea typeface="微软雅黑" pitchFamily="34" charset="-122"/>
              </a:rPr>
              <a:t>清华大学出版社</a:t>
            </a:r>
            <a:endParaRPr lang="en-US" altLang="zh-CN" dirty="0">
              <a:latin typeface="微软雅黑" pitchFamily="34" charset="-122"/>
              <a:ea typeface="微软雅黑" pitchFamily="34" charset="-122"/>
            </a:endParaRPr>
          </a:p>
          <a:p>
            <a:r>
              <a:rPr lang="zh-CN" altLang="en-US" dirty="0">
                <a:latin typeface="微软雅黑" pitchFamily="34" charset="-122"/>
                <a:ea typeface="微软雅黑" pitchFamily="34" charset="-122"/>
              </a:rPr>
              <a:t>                    李春葆主著</a:t>
            </a:r>
          </a:p>
          <a:p>
            <a:r>
              <a:rPr lang="zh-CN" altLang="en-US" dirty="0">
                <a:latin typeface="微软雅黑" pitchFamily="34" charset="-122"/>
                <a:ea typeface="微软雅黑" pitchFamily="34" charset="-122"/>
              </a:rPr>
              <a:t>          数据结构教程（</a:t>
            </a:r>
            <a:r>
              <a:rPr lang="en-US" altLang="zh-CN" dirty="0">
                <a:latin typeface="微软雅黑" pitchFamily="34" charset="-122"/>
                <a:ea typeface="微软雅黑" pitchFamily="34" charset="-122"/>
              </a:rPr>
              <a:t>C/C++</a:t>
            </a:r>
            <a:r>
              <a:rPr lang="zh-CN" altLang="en-US" dirty="0">
                <a:latin typeface="微软雅黑" pitchFamily="34" charset="-122"/>
                <a:ea typeface="微软雅黑" pitchFamily="34" charset="-122"/>
              </a:rPr>
              <a:t>版）</a:t>
            </a:r>
          </a:p>
          <a:p>
            <a:r>
              <a:rPr lang="zh-CN" altLang="en-US" dirty="0">
                <a:latin typeface="微软雅黑" pitchFamily="34" charset="-122"/>
                <a:ea typeface="微软雅黑" pitchFamily="34" charset="-122"/>
              </a:rPr>
              <a:t>        “十二五”普通高等教育规划教材</a:t>
            </a: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2080" y="2649926"/>
            <a:ext cx="1741158" cy="2265506"/>
          </a:xfrm>
          <a:prstGeom prst="rect">
            <a:avLst/>
          </a:prstGeom>
        </p:spPr>
        <p:style>
          <a:lnRef idx="0">
            <a:schemeClr val="accent3"/>
          </a:lnRef>
          <a:fillRef idx="3">
            <a:schemeClr val="accent3"/>
          </a:fillRef>
          <a:effectRef idx="3">
            <a:schemeClr val="accent3"/>
          </a:effectRef>
          <a:fontRef idx="minor">
            <a:schemeClr val="lt1"/>
          </a:fontRef>
        </p:style>
      </p:pic>
      <p:sp>
        <p:nvSpPr>
          <p:cNvPr id="11" name="矩形 1"/>
          <p:cNvSpPr>
            <a:spLocks noChangeArrowheads="1"/>
          </p:cNvSpPr>
          <p:nvPr/>
        </p:nvSpPr>
        <p:spPr bwMode="auto">
          <a:xfrm>
            <a:off x="4788024" y="1262101"/>
            <a:ext cx="4176464" cy="1292662"/>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400" b="1" dirty="0">
                <a:solidFill>
                  <a:srgbClr val="FF0000"/>
                </a:solidFill>
                <a:latin typeface="黑体" pitchFamily="49" charset="-122"/>
                <a:ea typeface="黑体" pitchFamily="49" charset="-122"/>
              </a:rPr>
              <a:t>2</a:t>
            </a:r>
            <a:r>
              <a:rPr lang="zh-CN" altLang="en-US" sz="2400" b="1" dirty="0">
                <a:solidFill>
                  <a:srgbClr val="FF0000"/>
                </a:solidFill>
                <a:latin typeface="黑体" pitchFamily="49" charset="-122"/>
                <a:ea typeface="黑体" pitchFamily="49" charset="-122"/>
              </a:rPr>
              <a:t>、参考书目：</a:t>
            </a:r>
            <a:r>
              <a:rPr lang="zh-CN" altLang="en-US" dirty="0">
                <a:latin typeface="微软雅黑" pitchFamily="34" charset="-122"/>
                <a:ea typeface="微软雅黑" pitchFamily="34" charset="-122"/>
              </a:rPr>
              <a:t>  清华大学出版社</a:t>
            </a:r>
            <a:endParaRPr lang="en-US" altLang="zh-CN" dirty="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严蔚敏、吴伟民等编著</a:t>
            </a:r>
            <a:endParaRPr lang="en-US" altLang="zh-CN" dirty="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数据结构（</a:t>
            </a:r>
            <a:r>
              <a:rPr lang="en-US" altLang="zh-CN" dirty="0">
                <a:latin typeface="微软雅黑" pitchFamily="34" charset="-122"/>
                <a:ea typeface="微软雅黑" pitchFamily="34" charset="-122"/>
              </a:rPr>
              <a:t>C</a:t>
            </a:r>
            <a:r>
              <a:rPr lang="zh-CN" altLang="en-US" dirty="0">
                <a:latin typeface="微软雅黑" pitchFamily="34" charset="-122"/>
                <a:ea typeface="微软雅黑" pitchFamily="34" charset="-122"/>
              </a:rPr>
              <a:t>语言版）</a:t>
            </a:r>
            <a:r>
              <a:rPr lang="en-US" altLang="zh-CN" dirty="0">
                <a:latin typeface="微软雅黑" pitchFamily="34" charset="-122"/>
                <a:ea typeface="微软雅黑" pitchFamily="34" charset="-122"/>
              </a:rPr>
              <a:t>》 </a:t>
            </a:r>
          </a:p>
          <a:p>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数据结构题集（</a:t>
            </a:r>
            <a:r>
              <a:rPr lang="en-US" altLang="zh-CN" dirty="0">
                <a:latin typeface="微软雅黑" pitchFamily="34" charset="-122"/>
                <a:ea typeface="微软雅黑" pitchFamily="34" charset="-122"/>
              </a:rPr>
              <a:t>C</a:t>
            </a:r>
            <a:r>
              <a:rPr lang="zh-CN" altLang="en-US" dirty="0">
                <a:latin typeface="微软雅黑" pitchFamily="34" charset="-122"/>
                <a:ea typeface="微软雅黑" pitchFamily="34" charset="-122"/>
              </a:rPr>
              <a:t>语言版）</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39904" y="2660195"/>
            <a:ext cx="1564544" cy="2255237"/>
          </a:xfrm>
          <a:prstGeom prst="rect">
            <a:avLst/>
          </a:prstGeom>
        </p:spPr>
        <p:style>
          <a:lnRef idx="0">
            <a:schemeClr val="accent3"/>
          </a:lnRef>
          <a:fillRef idx="3">
            <a:schemeClr val="accent3"/>
          </a:fillRef>
          <a:effectRef idx="3">
            <a:schemeClr val="accent3"/>
          </a:effectRef>
          <a:fontRef idx="minor">
            <a:schemeClr val="lt1"/>
          </a:fontRef>
        </p:style>
      </p:pic>
      <p:cxnSp>
        <p:nvCxnSpPr>
          <p:cNvPr id="13" name="直接连接符 12"/>
          <p:cNvCxnSpPr/>
          <p:nvPr/>
        </p:nvCxnSpPr>
        <p:spPr>
          <a:xfrm>
            <a:off x="-1" y="1064623"/>
            <a:ext cx="9144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216F2E10-B797-DE31-5E08-5AA7CF4DA590}"/>
              </a:ext>
            </a:extLst>
          </p:cNvPr>
          <p:cNvPicPr>
            <a:picLocks noChangeAspect="1"/>
          </p:cNvPicPr>
          <p:nvPr/>
        </p:nvPicPr>
        <p:blipFill>
          <a:blip r:embed="rId4"/>
          <a:stretch>
            <a:fillRect/>
          </a:stretch>
        </p:blipFill>
        <p:spPr>
          <a:xfrm>
            <a:off x="1187624" y="2649926"/>
            <a:ext cx="2498735" cy="2475900"/>
          </a:xfrm>
          <a:prstGeom prst="rect">
            <a:avLst/>
          </a:prstGeom>
        </p:spPr>
      </p:pic>
    </p:spTree>
    <p:extLst>
      <p:ext uri="{BB962C8B-B14F-4D97-AF65-F5344CB8AC3E}">
        <p14:creationId xmlns:p14="http://schemas.microsoft.com/office/powerpoint/2010/main" val="1917813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93243" y="1355819"/>
            <a:ext cx="5957517"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en-US" altLang="zh-CN" sz="2800" b="1" dirty="0">
                <a:solidFill>
                  <a:srgbClr val="FF0000"/>
                </a:solidFill>
                <a:latin typeface="黑体" pitchFamily="49" charset="-122"/>
                <a:ea typeface="黑体" pitchFamily="49" charset="-122"/>
              </a:rPr>
              <a:t>3</a:t>
            </a:r>
            <a:r>
              <a:rPr lang="zh-CN" altLang="en-US" sz="2800" b="1" dirty="0">
                <a:solidFill>
                  <a:srgbClr val="FF0000"/>
                </a:solidFill>
                <a:latin typeface="黑体" pitchFamily="49" charset="-122"/>
                <a:ea typeface="黑体" pitchFamily="49" charset="-122"/>
              </a:rPr>
              <a:t>、课程性质：</a:t>
            </a:r>
            <a:r>
              <a:rPr lang="zh-CN" altLang="en-US" sz="2800" dirty="0">
                <a:latin typeface="黑体" pitchFamily="49" charset="-122"/>
                <a:ea typeface="黑体" pitchFamily="49" charset="-122"/>
              </a:rPr>
              <a:t>专业基础课、必修课</a:t>
            </a:r>
          </a:p>
        </p:txBody>
      </p:sp>
      <p:grpSp>
        <p:nvGrpSpPr>
          <p:cNvPr id="10" name="组合 9"/>
          <p:cNvGrpSpPr/>
          <p:nvPr/>
        </p:nvGrpSpPr>
        <p:grpSpPr>
          <a:xfrm>
            <a:off x="62841" y="1977684"/>
            <a:ext cx="9018321" cy="1278587"/>
            <a:chOff x="125678" y="2636912"/>
            <a:chExt cx="9018321" cy="1704783"/>
          </a:xfrm>
        </p:grpSpPr>
        <p:sp>
          <p:nvSpPr>
            <p:cNvPr id="3" name="矩形 2"/>
            <p:cNvSpPr/>
            <p:nvPr/>
          </p:nvSpPr>
          <p:spPr>
            <a:xfrm>
              <a:off x="7103056" y="3233699"/>
              <a:ext cx="2040943" cy="1107996"/>
            </a:xfrm>
            <a:prstGeom prst="rect">
              <a:avLst/>
            </a:prstGeom>
          </p:spPr>
          <p:txBody>
            <a:bodyPr wrap="none">
              <a:spAutoFit/>
            </a:bodyPr>
            <a:lstStyle/>
            <a:p>
              <a:r>
                <a:rPr lang="zh-CN" altLang="en-US" sz="4800" b="1" dirty="0">
                  <a:latin typeface="黑体" pitchFamily="49" charset="-122"/>
                  <a:ea typeface="黑体" pitchFamily="49" charset="-122"/>
                </a:rPr>
                <a:t>专业课</a:t>
              </a:r>
            </a:p>
          </p:txBody>
        </p:sp>
        <p:sp>
          <p:nvSpPr>
            <p:cNvPr id="4" name="矩形 3"/>
            <p:cNvSpPr/>
            <p:nvPr/>
          </p:nvSpPr>
          <p:spPr>
            <a:xfrm>
              <a:off x="125678" y="3233699"/>
              <a:ext cx="2040943" cy="1107996"/>
            </a:xfrm>
            <a:prstGeom prst="rect">
              <a:avLst/>
            </a:prstGeom>
          </p:spPr>
          <p:txBody>
            <a:bodyPr wrap="none">
              <a:spAutoFit/>
            </a:bodyPr>
            <a:lstStyle/>
            <a:p>
              <a:r>
                <a:rPr lang="zh-CN" altLang="en-US" sz="4800" b="1" dirty="0">
                  <a:latin typeface="黑体" pitchFamily="49" charset="-122"/>
                  <a:ea typeface="黑体" pitchFamily="49" charset="-122"/>
                </a:rPr>
                <a:t>基础课</a:t>
              </a:r>
            </a:p>
          </p:txBody>
        </p:sp>
        <p:sp>
          <p:nvSpPr>
            <p:cNvPr id="5" name="矩形 4"/>
            <p:cNvSpPr/>
            <p:nvPr/>
          </p:nvSpPr>
          <p:spPr>
            <a:xfrm>
              <a:off x="2647149" y="2636912"/>
              <a:ext cx="3278462" cy="1107996"/>
            </a:xfrm>
            <a:prstGeom prst="rect">
              <a:avLst/>
            </a:prstGeom>
          </p:spPr>
          <p:txBody>
            <a:bodyPr wrap="none">
              <a:spAutoFit/>
            </a:bodyPr>
            <a:lstStyle/>
            <a:p>
              <a:r>
                <a:rPr lang="zh-CN" altLang="en-US" sz="4800" b="1" dirty="0">
                  <a:latin typeface="黑体" pitchFamily="49" charset="-122"/>
                  <a:ea typeface="黑体" pitchFamily="49" charset="-122"/>
                </a:rPr>
                <a:t>专业基础课</a:t>
              </a:r>
            </a:p>
          </p:txBody>
        </p:sp>
        <p:cxnSp>
          <p:nvCxnSpPr>
            <p:cNvPr id="6" name="直接连接符 5"/>
            <p:cNvCxnSpPr/>
            <p:nvPr/>
          </p:nvCxnSpPr>
          <p:spPr>
            <a:xfrm>
              <a:off x="2123728" y="3765117"/>
              <a:ext cx="4979328" cy="0"/>
            </a:xfrm>
            <a:prstGeom prst="line">
              <a:avLst/>
            </a:prstGeom>
            <a:ln w="190500" cmpd="sng">
              <a:solidFill>
                <a:srgbClr val="FF0000"/>
              </a:solidFill>
              <a:tailEnd type="triangle"/>
            </a:ln>
            <a:effectLst>
              <a:outerShdw sx="1000" sy="1000" rotWithShape="0">
                <a:prstClr val="black">
                  <a:alpha val="0"/>
                </a:prstClr>
              </a:outerShdw>
            </a:effectLst>
          </p:spPr>
          <p:style>
            <a:lnRef idx="1">
              <a:schemeClr val="accent1"/>
            </a:lnRef>
            <a:fillRef idx="0">
              <a:schemeClr val="accent1"/>
            </a:fillRef>
            <a:effectRef idx="0">
              <a:schemeClr val="accent1"/>
            </a:effectRef>
            <a:fontRef idx="minor">
              <a:schemeClr val="tx1"/>
            </a:fontRef>
          </p:style>
        </p:cxnSp>
      </p:grpSp>
      <p:sp>
        <p:nvSpPr>
          <p:cNvPr id="7" name="矩形 1"/>
          <p:cNvSpPr>
            <a:spLocks noChangeArrowheads="1"/>
          </p:cNvSpPr>
          <p:nvPr/>
        </p:nvSpPr>
        <p:spPr bwMode="auto">
          <a:xfrm>
            <a:off x="1524000" y="3493197"/>
            <a:ext cx="6096000" cy="954107"/>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r>
              <a:rPr lang="zh-CN" altLang="en-US" sz="2800" b="1" dirty="0">
                <a:solidFill>
                  <a:srgbClr val="FF0000"/>
                </a:solidFill>
                <a:latin typeface="黑体" pitchFamily="49" charset="-122"/>
                <a:ea typeface="黑体" pitchFamily="49" charset="-122"/>
              </a:rPr>
              <a:t>课程基础：</a:t>
            </a:r>
            <a:r>
              <a:rPr lang="en-US" altLang="zh-CN" sz="2800" dirty="0">
                <a:latin typeface="黑体" pitchFamily="49" charset="-122"/>
                <a:ea typeface="黑体" pitchFamily="49" charset="-122"/>
              </a:rPr>
              <a:t>C</a:t>
            </a:r>
            <a:r>
              <a:rPr lang="zh-CN" altLang="en-US" sz="2800" dirty="0">
                <a:latin typeface="黑体" pitchFamily="49" charset="-122"/>
                <a:ea typeface="黑体" pitchFamily="49" charset="-122"/>
              </a:rPr>
              <a:t>语言程序设计</a:t>
            </a:r>
            <a:endParaRPr lang="en-US" altLang="zh-CN" sz="2800" dirty="0">
              <a:latin typeface="黑体" pitchFamily="49" charset="-122"/>
              <a:ea typeface="黑体" pitchFamily="49" charset="-122"/>
            </a:endParaRPr>
          </a:p>
          <a:p>
            <a:r>
              <a:rPr lang="zh-CN" altLang="en-US" sz="2800" dirty="0">
                <a:latin typeface="黑体" pitchFamily="49" charset="-122"/>
                <a:ea typeface="黑体" pitchFamily="49" charset="-122"/>
              </a:rPr>
              <a:t>          离散数学</a:t>
            </a:r>
            <a:r>
              <a:rPr lang="en-US" altLang="zh-CN" sz="2800" dirty="0">
                <a:latin typeface="黑体" pitchFamily="49" charset="-122"/>
                <a:ea typeface="黑体" pitchFamily="49" charset="-122"/>
              </a:rPr>
              <a:t>      </a:t>
            </a:r>
            <a:endParaRPr lang="zh-CN" altLang="en-US" sz="2800" dirty="0">
              <a:latin typeface="黑体" pitchFamily="49" charset="-122"/>
              <a:ea typeface="黑体" pitchFamily="49" charset="-122"/>
            </a:endParaRPr>
          </a:p>
        </p:txBody>
      </p:sp>
      <p:sp>
        <p:nvSpPr>
          <p:cNvPr id="11" name="Rectangle 2"/>
          <p:cNvSpPr>
            <a:spLocks noGrp="1" noChangeArrowheads="1"/>
          </p:cNvSpPr>
          <p:nvPr>
            <p:ph type="ctrTitle"/>
          </p:nvPr>
        </p:nvSpPr>
        <p:spPr>
          <a:xfrm>
            <a:off x="685800" y="287383"/>
            <a:ext cx="7772400" cy="693965"/>
          </a:xfrm>
        </p:spPr>
        <p:txBody>
          <a:bodyPr>
            <a:normAutofit fontScale="90000"/>
          </a:bodyPr>
          <a:lstStyle/>
          <a:p>
            <a:pPr eaLnBrk="1" hangingPunct="1"/>
            <a:r>
              <a:rPr lang="zh-CN" altLang="en-US" b="1" dirty="0">
                <a:latin typeface="黑体" pitchFamily="49" charset="-122"/>
                <a:ea typeface="黑体" pitchFamily="49" charset="-122"/>
                <a:cs typeface="+mn-cs"/>
              </a:rPr>
              <a:t>关于数据结构这门课程</a:t>
            </a:r>
            <a:endParaRPr lang="en-US" altLang="zh-CN" dirty="0"/>
          </a:p>
        </p:txBody>
      </p:sp>
      <p:cxnSp>
        <p:nvCxnSpPr>
          <p:cNvPr id="12" name="直接连接符 11"/>
          <p:cNvCxnSpPr/>
          <p:nvPr/>
        </p:nvCxnSpPr>
        <p:spPr>
          <a:xfrm>
            <a:off x="-1" y="1064623"/>
            <a:ext cx="9144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9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Grp="1" noChangeArrowheads="1"/>
          </p:cNvSpPr>
          <p:nvPr>
            <p:ph type="ctrTitle"/>
          </p:nvPr>
        </p:nvSpPr>
        <p:spPr>
          <a:xfrm>
            <a:off x="685800" y="287383"/>
            <a:ext cx="7772400" cy="693965"/>
          </a:xfrm>
        </p:spPr>
        <p:txBody>
          <a:bodyPr>
            <a:normAutofit fontScale="90000"/>
          </a:bodyPr>
          <a:lstStyle/>
          <a:p>
            <a:pPr eaLnBrk="1" hangingPunct="1"/>
            <a:r>
              <a:rPr lang="zh-CN" altLang="en-US" b="1" dirty="0">
                <a:latin typeface="黑体" pitchFamily="49" charset="-122"/>
                <a:ea typeface="黑体" pitchFamily="49" charset="-122"/>
                <a:cs typeface="+mn-cs"/>
              </a:rPr>
              <a:t>关于数据结构这门课程</a:t>
            </a:r>
            <a:endParaRPr lang="en-US" altLang="zh-CN" dirty="0"/>
          </a:p>
        </p:txBody>
      </p:sp>
      <p:cxnSp>
        <p:nvCxnSpPr>
          <p:cNvPr id="12" name="直接连接符 11"/>
          <p:cNvCxnSpPr/>
          <p:nvPr/>
        </p:nvCxnSpPr>
        <p:spPr>
          <a:xfrm>
            <a:off x="-1" y="1064623"/>
            <a:ext cx="9144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69686" y="1275606"/>
            <a:ext cx="8404627" cy="104028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fontAlgn="auto">
              <a:spcBef>
                <a:spcPct val="20000"/>
              </a:spcBef>
              <a:spcAft>
                <a:spcPts val="0"/>
              </a:spcAft>
              <a:defRPr/>
            </a:pPr>
            <a:r>
              <a:rPr lang="en-US" altLang="zh-CN" sz="2800" b="1" dirty="0">
                <a:solidFill>
                  <a:srgbClr val="FF0000"/>
                </a:solidFill>
                <a:latin typeface="黑体" pitchFamily="49" charset="-122"/>
                <a:ea typeface="黑体" pitchFamily="49" charset="-122"/>
              </a:rPr>
              <a:t>5</a:t>
            </a:r>
            <a:r>
              <a:rPr lang="zh-CN" altLang="en-US" sz="2800" b="1" dirty="0">
                <a:solidFill>
                  <a:srgbClr val="FF0000"/>
                </a:solidFill>
                <a:latin typeface="黑体" pitchFamily="49" charset="-122"/>
                <a:ea typeface="黑体" pitchFamily="49" charset="-122"/>
              </a:rPr>
              <a:t>、考核方式：</a:t>
            </a:r>
            <a:r>
              <a:rPr lang="zh-CN" altLang="en-US" sz="2800" dirty="0">
                <a:solidFill>
                  <a:schemeClr val="lt1"/>
                </a:solidFill>
                <a:latin typeface="黑体" pitchFamily="49" charset="-122"/>
                <a:ea typeface="黑体" pitchFamily="49" charset="-122"/>
              </a:rPr>
              <a:t>考试(闭卷)成绩</a:t>
            </a:r>
            <a:endParaRPr lang="en-US" altLang="zh-CN" sz="2800" dirty="0">
              <a:solidFill>
                <a:schemeClr val="lt1"/>
              </a:solidFill>
              <a:latin typeface="黑体" pitchFamily="49" charset="-122"/>
              <a:ea typeface="黑体" pitchFamily="49" charset="-122"/>
            </a:endParaRPr>
          </a:p>
          <a:p>
            <a:pPr fontAlgn="auto">
              <a:spcBef>
                <a:spcPct val="20000"/>
              </a:spcBef>
              <a:spcAft>
                <a:spcPts val="0"/>
              </a:spcAft>
              <a:defRPr/>
            </a:pPr>
            <a:r>
              <a:rPr lang="zh-CN" altLang="en-US" sz="2800" dirty="0">
                <a:solidFill>
                  <a:schemeClr val="lt1"/>
                </a:solidFill>
                <a:latin typeface="黑体" pitchFamily="49" charset="-122"/>
                <a:ea typeface="黑体" pitchFamily="49" charset="-122"/>
              </a:rPr>
              <a:t>             平时成绩（课堂提问、作业和实验）</a:t>
            </a:r>
            <a:endParaRPr lang="en-US" altLang="zh-CN" sz="2800" dirty="0">
              <a:latin typeface="黑体" pitchFamily="49" charset="-122"/>
              <a:ea typeface="黑体" pitchFamily="49" charset="-122"/>
            </a:endParaRPr>
          </a:p>
        </p:txBody>
      </p:sp>
      <p:sp>
        <p:nvSpPr>
          <p:cNvPr id="24" name="矩形 23"/>
          <p:cNvSpPr/>
          <p:nvPr/>
        </p:nvSpPr>
        <p:spPr>
          <a:xfrm>
            <a:off x="369686" y="2427734"/>
            <a:ext cx="2520279" cy="523220"/>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fontAlgn="auto">
              <a:spcBef>
                <a:spcPct val="20000"/>
              </a:spcBef>
              <a:spcAft>
                <a:spcPts val="0"/>
              </a:spcAft>
              <a:defRPr/>
            </a:pPr>
            <a:r>
              <a:rPr lang="en-US" altLang="zh-CN" sz="2800" b="1" dirty="0">
                <a:solidFill>
                  <a:srgbClr val="FF0000"/>
                </a:solidFill>
                <a:latin typeface="黑体" pitchFamily="49" charset="-122"/>
                <a:ea typeface="黑体" pitchFamily="49" charset="-122"/>
              </a:rPr>
              <a:t>6</a:t>
            </a:r>
            <a:r>
              <a:rPr lang="zh-CN" altLang="en-US" sz="2800" b="1" dirty="0">
                <a:solidFill>
                  <a:srgbClr val="FF0000"/>
                </a:solidFill>
                <a:latin typeface="黑体" pitchFamily="49" charset="-122"/>
                <a:ea typeface="黑体" pitchFamily="49" charset="-122"/>
              </a:rPr>
              <a:t>、学习方法</a:t>
            </a:r>
            <a:r>
              <a:rPr lang="en-US" altLang="zh-CN" sz="2800" b="1" dirty="0">
                <a:solidFill>
                  <a:srgbClr val="FF0000"/>
                </a:solidFill>
                <a:latin typeface="黑体" pitchFamily="49" charset="-122"/>
                <a:ea typeface="黑体" pitchFamily="49" charset="-122"/>
              </a:rPr>
              <a:t>:</a:t>
            </a:r>
            <a:endParaRPr lang="en-US" altLang="zh-CN" sz="2800" dirty="0">
              <a:latin typeface="黑体" pitchFamily="49" charset="-122"/>
              <a:ea typeface="黑体" pitchFamily="49" charset="-122"/>
            </a:endParaRPr>
          </a:p>
        </p:txBody>
      </p:sp>
      <p:sp>
        <p:nvSpPr>
          <p:cNvPr id="25" name="六边形 24"/>
          <p:cNvSpPr/>
          <p:nvPr/>
        </p:nvSpPr>
        <p:spPr>
          <a:xfrm>
            <a:off x="263707" y="3165816"/>
            <a:ext cx="1674632" cy="113608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cs typeface="Times New Roman" pitchFamily="18" charset="0"/>
              </a:rPr>
              <a:t>理解基本概念</a:t>
            </a:r>
            <a:endParaRPr lang="en-US" altLang="zh-CN" sz="2400" dirty="0">
              <a:solidFill>
                <a:schemeClr val="bg1"/>
              </a:solidFill>
              <a:cs typeface="Times New Roman" pitchFamily="18" charset="0"/>
            </a:endParaRPr>
          </a:p>
        </p:txBody>
      </p:sp>
      <p:sp>
        <p:nvSpPr>
          <p:cNvPr id="26" name="六边形 25"/>
          <p:cNvSpPr/>
          <p:nvPr/>
        </p:nvSpPr>
        <p:spPr>
          <a:xfrm>
            <a:off x="1973173" y="3165816"/>
            <a:ext cx="1674632" cy="113608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ct val="20000"/>
              </a:spcBef>
              <a:spcAft>
                <a:spcPts val="0"/>
              </a:spcAft>
              <a:defRPr/>
            </a:pPr>
            <a:r>
              <a:rPr lang="zh-CN" altLang="en-US" sz="2400" dirty="0">
                <a:solidFill>
                  <a:schemeClr val="bg1"/>
                </a:solidFill>
                <a:cs typeface="Times New Roman" pitchFamily="18" charset="0"/>
              </a:rPr>
              <a:t>掌握基本理论</a:t>
            </a:r>
            <a:endParaRPr lang="en-US" altLang="zh-CN" sz="2400" dirty="0">
              <a:solidFill>
                <a:schemeClr val="bg1"/>
              </a:solidFill>
              <a:cs typeface="Times New Roman" pitchFamily="18" charset="0"/>
            </a:endParaRPr>
          </a:p>
        </p:txBody>
      </p:sp>
      <p:sp>
        <p:nvSpPr>
          <p:cNvPr id="27" name="六边形 26"/>
          <p:cNvSpPr/>
          <p:nvPr/>
        </p:nvSpPr>
        <p:spPr>
          <a:xfrm>
            <a:off x="3671623" y="3165816"/>
            <a:ext cx="1674632" cy="113608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ct val="20000"/>
              </a:spcBef>
              <a:spcAft>
                <a:spcPts val="0"/>
              </a:spcAft>
              <a:defRPr/>
            </a:pPr>
            <a:r>
              <a:rPr lang="zh-CN" altLang="en-US" sz="2400" dirty="0">
                <a:solidFill>
                  <a:schemeClr val="bg1"/>
                </a:solidFill>
                <a:cs typeface="Times New Roman" pitchFamily="18" charset="0"/>
              </a:rPr>
              <a:t>主动积极思考</a:t>
            </a:r>
            <a:endParaRPr lang="en-US" altLang="zh-CN" sz="2400" dirty="0">
              <a:solidFill>
                <a:schemeClr val="bg1"/>
              </a:solidFill>
              <a:cs typeface="Times New Roman" pitchFamily="18" charset="0"/>
            </a:endParaRPr>
          </a:p>
        </p:txBody>
      </p:sp>
      <p:sp>
        <p:nvSpPr>
          <p:cNvPr id="28" name="六边形 27"/>
          <p:cNvSpPr/>
          <p:nvPr/>
        </p:nvSpPr>
        <p:spPr>
          <a:xfrm>
            <a:off x="5382096" y="3150921"/>
            <a:ext cx="1681210" cy="1140549"/>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ct val="20000"/>
              </a:spcBef>
              <a:spcAft>
                <a:spcPts val="0"/>
              </a:spcAft>
              <a:defRPr/>
            </a:pPr>
            <a:r>
              <a:rPr lang="zh-CN" altLang="en-US" sz="2400" dirty="0">
                <a:solidFill>
                  <a:schemeClr val="bg1"/>
                </a:solidFill>
                <a:cs typeface="Times New Roman" pitchFamily="18" charset="0"/>
              </a:rPr>
              <a:t>完成各类作业</a:t>
            </a:r>
            <a:endParaRPr lang="en-US" altLang="zh-CN" sz="2400" dirty="0">
              <a:solidFill>
                <a:schemeClr val="bg1"/>
              </a:solidFill>
              <a:cs typeface="Times New Roman" pitchFamily="18" charset="0"/>
            </a:endParaRPr>
          </a:p>
        </p:txBody>
      </p:sp>
      <p:sp>
        <p:nvSpPr>
          <p:cNvPr id="29" name="六边形 28"/>
          <p:cNvSpPr/>
          <p:nvPr/>
        </p:nvSpPr>
        <p:spPr>
          <a:xfrm>
            <a:off x="7111912" y="3133895"/>
            <a:ext cx="1681210" cy="1140549"/>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ct val="20000"/>
              </a:spcBef>
              <a:spcAft>
                <a:spcPts val="0"/>
              </a:spcAft>
              <a:defRPr/>
            </a:pPr>
            <a:r>
              <a:rPr lang="zh-CN" altLang="en-US" sz="2400" dirty="0">
                <a:solidFill>
                  <a:schemeClr val="bg1"/>
                </a:solidFill>
                <a:cs typeface="Times New Roman" pitchFamily="18" charset="0"/>
              </a:rPr>
              <a:t>编写调试代码</a:t>
            </a:r>
            <a:r>
              <a:rPr lang="en-US" altLang="zh-CN" sz="2400" dirty="0">
                <a:solidFill>
                  <a:schemeClr val="bg1"/>
                </a:solidFill>
                <a:cs typeface="Times New Roman" pitchFamily="18" charset="0"/>
              </a:rPr>
              <a:t> </a:t>
            </a:r>
            <a:endParaRPr lang="zh-CN" altLang="en-US" sz="2400" dirty="0">
              <a:solidFill>
                <a:schemeClr val="bg1"/>
              </a:solidFill>
              <a:cs typeface="Times New Roman" pitchFamily="18" charset="0"/>
            </a:endParaRPr>
          </a:p>
        </p:txBody>
      </p:sp>
    </p:spTree>
    <p:extLst>
      <p:ext uri="{BB962C8B-B14F-4D97-AF65-F5344CB8AC3E}">
        <p14:creationId xmlns:p14="http://schemas.microsoft.com/office/powerpoint/2010/main" val="3382948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ctrTitle"/>
          </p:nvPr>
        </p:nvSpPr>
        <p:spPr>
          <a:xfrm>
            <a:off x="2062673" y="287383"/>
            <a:ext cx="5018657" cy="693965"/>
          </a:xfrm>
        </p:spPr>
        <p:txBody>
          <a:bodyPr>
            <a:normAutofit fontScale="90000"/>
          </a:bodyPr>
          <a:lstStyle/>
          <a:p>
            <a:pPr eaLnBrk="1" hangingPunct="1"/>
            <a:r>
              <a:rPr lang="zh-CN" altLang="en-US" b="1" dirty="0">
                <a:latin typeface="黑体" pitchFamily="49" charset="-122"/>
                <a:ea typeface="黑体" pitchFamily="49" charset="-122"/>
                <a:cs typeface="+mn-cs"/>
              </a:rPr>
              <a:t>第</a:t>
            </a:r>
            <a:r>
              <a:rPr lang="en-US" altLang="zh-CN" b="1" dirty="0">
                <a:latin typeface="黑体" pitchFamily="49" charset="-122"/>
                <a:ea typeface="黑体" pitchFamily="49" charset="-122"/>
                <a:cs typeface="+mn-cs"/>
              </a:rPr>
              <a:t>1</a:t>
            </a:r>
            <a:r>
              <a:rPr lang="zh-CN" altLang="en-US" b="1" dirty="0">
                <a:latin typeface="黑体" pitchFamily="49" charset="-122"/>
                <a:ea typeface="黑体" pitchFamily="49" charset="-122"/>
                <a:cs typeface="+mn-cs"/>
              </a:rPr>
              <a:t>章 绪论</a:t>
            </a:r>
            <a:endParaRPr lang="en-US" altLang="zh-CN" dirty="0"/>
          </a:p>
        </p:txBody>
      </p:sp>
      <p:cxnSp>
        <p:nvCxnSpPr>
          <p:cNvPr id="8" name="直接连接符 7"/>
          <p:cNvCxnSpPr/>
          <p:nvPr/>
        </p:nvCxnSpPr>
        <p:spPr>
          <a:xfrm>
            <a:off x="-1" y="1064623"/>
            <a:ext cx="9144000"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835696" y="1551014"/>
            <a:ext cx="5957517" cy="584775"/>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3200" dirty="0">
                <a:latin typeface="微软雅黑" pitchFamily="34" charset="-122"/>
                <a:ea typeface="微软雅黑" pitchFamily="34" charset="-122"/>
              </a:rPr>
              <a:t>1.1 </a:t>
            </a:r>
            <a:r>
              <a:rPr lang="zh-CN" altLang="en-US" sz="3200" dirty="0">
                <a:latin typeface="微软雅黑" pitchFamily="34" charset="-122"/>
                <a:ea typeface="微软雅黑" pitchFamily="34" charset="-122"/>
              </a:rPr>
              <a:t>什么是数据结构</a:t>
            </a:r>
          </a:p>
        </p:txBody>
      </p:sp>
      <p:sp>
        <p:nvSpPr>
          <p:cNvPr id="10" name="矩形 9"/>
          <p:cNvSpPr/>
          <p:nvPr/>
        </p:nvSpPr>
        <p:spPr>
          <a:xfrm>
            <a:off x="1835696" y="2256409"/>
            <a:ext cx="5957517" cy="584775"/>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marL="0" lvl="1" algn="just"/>
            <a:r>
              <a:rPr lang="en-US" altLang="zh-CN" sz="3200" dirty="0">
                <a:latin typeface="微软雅黑" pitchFamily="34" charset="-122"/>
                <a:ea typeface="微软雅黑" pitchFamily="34" charset="-122"/>
              </a:rPr>
              <a:t>1</a:t>
            </a:r>
            <a:r>
              <a:rPr lang="zh-CN" altLang="en-US" sz="3200" dirty="0">
                <a:latin typeface="微软雅黑" pitchFamily="34" charset="-122"/>
                <a:ea typeface="微软雅黑" pitchFamily="34" charset="-122"/>
              </a:rPr>
              <a:t>.2 算法及其描述</a:t>
            </a:r>
          </a:p>
        </p:txBody>
      </p:sp>
      <p:sp>
        <p:nvSpPr>
          <p:cNvPr id="11" name="矩形 10"/>
          <p:cNvSpPr/>
          <p:nvPr/>
        </p:nvSpPr>
        <p:spPr>
          <a:xfrm>
            <a:off x="1835696" y="2922615"/>
            <a:ext cx="5957517" cy="584775"/>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marL="0" lvl="1" algn="just"/>
            <a:r>
              <a:rPr lang="en-US" altLang="zh-CN" sz="3200" dirty="0">
                <a:latin typeface="微软雅黑" pitchFamily="34" charset="-122"/>
                <a:ea typeface="微软雅黑" pitchFamily="34" charset="-122"/>
              </a:rPr>
              <a:t>1</a:t>
            </a:r>
            <a:r>
              <a:rPr lang="zh-CN" altLang="en-US" sz="3200" dirty="0">
                <a:latin typeface="微软雅黑" pitchFamily="34" charset="-122"/>
                <a:ea typeface="微软雅黑" pitchFamily="34" charset="-122"/>
              </a:rPr>
              <a:t>.3 算法分析</a:t>
            </a:r>
          </a:p>
        </p:txBody>
      </p:sp>
      <p:sp>
        <p:nvSpPr>
          <p:cNvPr id="12" name="矩形 11"/>
          <p:cNvSpPr/>
          <p:nvPr/>
        </p:nvSpPr>
        <p:spPr>
          <a:xfrm>
            <a:off x="1835696" y="3636074"/>
            <a:ext cx="5957517" cy="584775"/>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marL="0" lvl="1" algn="just"/>
            <a:r>
              <a:rPr lang="en-US" altLang="zh-CN" sz="3200" dirty="0">
                <a:latin typeface="微软雅黑" pitchFamily="34" charset="-122"/>
                <a:ea typeface="微软雅黑" pitchFamily="34" charset="-122"/>
              </a:rPr>
              <a:t>1</a:t>
            </a:r>
            <a:r>
              <a:rPr lang="zh-CN" altLang="en-US" sz="3200" dirty="0">
                <a:latin typeface="微软雅黑" pitchFamily="34" charset="-122"/>
                <a:ea typeface="微软雅黑" pitchFamily="34" charset="-122"/>
              </a:rPr>
              <a:t>.4 数据结构</a:t>
            </a:r>
            <a:r>
              <a:rPr lang="en-US" altLang="zh-CN" sz="3200" dirty="0">
                <a:latin typeface="微软雅黑" pitchFamily="34" charset="-122"/>
                <a:ea typeface="微软雅黑" pitchFamily="34" charset="-122"/>
              </a:rPr>
              <a:t>+</a:t>
            </a:r>
            <a:r>
              <a:rPr lang="zh-CN" altLang="en-US" sz="3200" dirty="0">
                <a:latin typeface="微软雅黑" pitchFamily="34" charset="-122"/>
                <a:ea typeface="微软雅黑" pitchFamily="34" charset="-122"/>
              </a:rPr>
              <a:t>算法</a:t>
            </a:r>
            <a:r>
              <a:rPr lang="en-US" altLang="zh-CN" sz="3200" dirty="0">
                <a:latin typeface="微软雅黑" pitchFamily="34" charset="-122"/>
                <a:ea typeface="微软雅黑" pitchFamily="34" charset="-122"/>
              </a:rPr>
              <a:t>=</a:t>
            </a:r>
            <a:r>
              <a:rPr lang="zh-CN" altLang="en-US" sz="3200" dirty="0">
                <a:latin typeface="微软雅黑" pitchFamily="34" charset="-122"/>
                <a:ea typeface="微软雅黑" pitchFamily="34" charset="-122"/>
              </a:rPr>
              <a:t>程序</a:t>
            </a:r>
          </a:p>
        </p:txBody>
      </p:sp>
    </p:spTree>
    <p:extLst>
      <p:ext uri="{BB962C8B-B14F-4D97-AF65-F5344CB8AC3E}">
        <p14:creationId xmlns:p14="http://schemas.microsoft.com/office/powerpoint/2010/main" val="322401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395537" y="961357"/>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
        <p:nvSpPr>
          <p:cNvPr id="9" name="Rectangle 2"/>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863587" y="1635646"/>
            <a:ext cx="7416824" cy="1569660"/>
          </a:xfrm>
          <a:prstGeom prst="rect">
            <a:avLst/>
          </a:prstGeom>
          <a:noFill/>
          <a:ln>
            <a:noFill/>
          </a:ln>
        </p:spPr>
        <p:txBody>
          <a:bodyPr wrap="square">
            <a:spAutoFit/>
          </a:bodyPr>
          <a:lstStyle/>
          <a:p>
            <a:r>
              <a:rPr lang="en-US" altLang="zh-CN" sz="2400" dirty="0">
                <a:latin typeface="黑体" pitchFamily="49" charset="-122"/>
                <a:ea typeface="黑体" pitchFamily="49" charset="-122"/>
              </a:rPr>
              <a:t>    </a:t>
            </a:r>
            <a:r>
              <a:rPr lang="zh-CN" altLang="zh-CN" sz="2400" dirty="0">
                <a:latin typeface="黑体" pitchFamily="49" charset="-122"/>
                <a:ea typeface="黑体" pitchFamily="49" charset="-122"/>
              </a:rPr>
              <a:t>数据结构就是研究</a:t>
            </a:r>
            <a:r>
              <a:rPr lang="zh-CN" altLang="zh-CN" sz="2400" u="sng" dirty="0">
                <a:solidFill>
                  <a:srgbClr val="FF0000"/>
                </a:solidFill>
                <a:latin typeface="黑体" pitchFamily="49" charset="-122"/>
                <a:ea typeface="黑体" pitchFamily="49" charset="-122"/>
              </a:rPr>
              <a:t>非数值计算</a:t>
            </a:r>
            <a:r>
              <a:rPr lang="zh-CN" altLang="zh-CN" sz="2400" dirty="0">
                <a:latin typeface="黑体" pitchFamily="49" charset="-122"/>
                <a:ea typeface="黑体" pitchFamily="49" charset="-122"/>
              </a:rPr>
              <a:t>问题中的</a:t>
            </a:r>
            <a:r>
              <a:rPr lang="zh-CN" altLang="zh-CN" sz="2400" dirty="0">
                <a:solidFill>
                  <a:srgbClr val="FF0000"/>
                </a:solidFill>
                <a:latin typeface="黑体" pitchFamily="49" charset="-122"/>
                <a:ea typeface="黑体" pitchFamily="49" charset="-122"/>
              </a:rPr>
              <a:t>数据</a:t>
            </a:r>
            <a:r>
              <a:rPr lang="zh-CN" altLang="zh-CN" sz="2400" dirty="0">
                <a:latin typeface="黑体" pitchFamily="49" charset="-122"/>
                <a:ea typeface="黑体" pitchFamily="49" charset="-122"/>
              </a:rPr>
              <a:t>以及它们之间的</a:t>
            </a:r>
            <a:r>
              <a:rPr lang="zh-CN" altLang="zh-CN" sz="2400" dirty="0">
                <a:solidFill>
                  <a:srgbClr val="FF0000"/>
                </a:solidFill>
                <a:latin typeface="黑体" pitchFamily="49" charset="-122"/>
                <a:ea typeface="黑体" pitchFamily="49" charset="-122"/>
              </a:rPr>
              <a:t>关系</a:t>
            </a:r>
            <a:r>
              <a:rPr lang="zh-CN" altLang="zh-CN" sz="2400" dirty="0">
                <a:latin typeface="黑体" pitchFamily="49" charset="-122"/>
                <a:ea typeface="黑体" pitchFamily="49" charset="-122"/>
              </a:rPr>
              <a:t>和</a:t>
            </a:r>
            <a:r>
              <a:rPr lang="zh-CN" altLang="zh-CN" sz="2400" dirty="0">
                <a:solidFill>
                  <a:srgbClr val="FF0000"/>
                </a:solidFill>
                <a:latin typeface="黑体" pitchFamily="49" charset="-122"/>
                <a:ea typeface="黑体" pitchFamily="49" charset="-122"/>
              </a:rPr>
              <a:t>操作</a:t>
            </a:r>
            <a:r>
              <a:rPr lang="zh-CN" altLang="zh-CN" sz="2400" dirty="0">
                <a:latin typeface="黑体" pitchFamily="49" charset="-122"/>
                <a:ea typeface="黑体" pitchFamily="49" charset="-122"/>
              </a:rPr>
              <a:t>算法的学科，具体主要包含</a:t>
            </a:r>
            <a:r>
              <a:rPr lang="en-US" altLang="zh-CN" sz="2400" dirty="0">
                <a:latin typeface="黑体" pitchFamily="49" charset="-122"/>
                <a:ea typeface="黑体" pitchFamily="49" charset="-122"/>
              </a:rPr>
              <a:t>3</a:t>
            </a:r>
            <a:r>
              <a:rPr lang="zh-CN" altLang="zh-CN" sz="2400" dirty="0">
                <a:latin typeface="黑体" pitchFamily="49" charset="-122"/>
                <a:ea typeface="黑体" pitchFamily="49" charset="-122"/>
              </a:rPr>
              <a:t>个方面的内容：数据的</a:t>
            </a:r>
            <a:r>
              <a:rPr lang="zh-CN" altLang="zh-CN" sz="2400" dirty="0">
                <a:solidFill>
                  <a:srgbClr val="FF0000"/>
                </a:solidFill>
                <a:latin typeface="黑体" pitchFamily="49" charset="-122"/>
                <a:ea typeface="黑体" pitchFamily="49" charset="-122"/>
              </a:rPr>
              <a:t>逻辑结构</a:t>
            </a:r>
            <a:r>
              <a:rPr lang="zh-CN" altLang="zh-CN" sz="2400" dirty="0">
                <a:latin typeface="黑体" pitchFamily="49" charset="-122"/>
                <a:ea typeface="黑体" pitchFamily="49" charset="-122"/>
              </a:rPr>
              <a:t>、数据的</a:t>
            </a:r>
            <a:r>
              <a:rPr lang="zh-CN" altLang="zh-CN" sz="2400" dirty="0">
                <a:solidFill>
                  <a:srgbClr val="FF0000"/>
                </a:solidFill>
                <a:latin typeface="黑体" pitchFamily="49" charset="-122"/>
                <a:ea typeface="黑体" pitchFamily="49" charset="-122"/>
              </a:rPr>
              <a:t>存储结构</a:t>
            </a:r>
            <a:r>
              <a:rPr lang="zh-CN" altLang="zh-CN" sz="2400" dirty="0">
                <a:latin typeface="黑体" pitchFamily="49" charset="-122"/>
                <a:ea typeface="黑体" pitchFamily="49" charset="-122"/>
              </a:rPr>
              <a:t>（物理结构）和数据的操作</a:t>
            </a:r>
            <a:r>
              <a:rPr lang="zh-CN" altLang="zh-CN" sz="2400" dirty="0">
                <a:solidFill>
                  <a:srgbClr val="FF0000"/>
                </a:solidFill>
                <a:latin typeface="黑体" pitchFamily="49" charset="-122"/>
                <a:ea typeface="黑体" pitchFamily="49" charset="-122"/>
              </a:rPr>
              <a:t>算法</a:t>
            </a:r>
            <a:r>
              <a:rPr lang="zh-CN" altLang="en-US" sz="2400" dirty="0">
                <a:latin typeface="黑体" pitchFamily="49" charset="-122"/>
                <a:ea typeface="黑体" pitchFamily="49" charset="-122"/>
              </a:rPr>
              <a:t>。</a:t>
            </a: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1" y="3223308"/>
            <a:ext cx="5040560" cy="1782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763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05908" y="1347614"/>
            <a:ext cx="3507848" cy="400110"/>
          </a:xfrm>
          <a:prstGeom prst="rect">
            <a:avLst/>
          </a:prstGeom>
          <a:noFill/>
          <a:ln>
            <a:noFill/>
          </a:ln>
        </p:spPr>
        <p:txBody>
          <a:bodyPr wrap="square">
            <a:spAutoFit/>
          </a:bodyPr>
          <a:lstStyle/>
          <a:p>
            <a:r>
              <a:rPr lang="zh-CN" altLang="en-US" sz="2000" dirty="0">
                <a:solidFill>
                  <a:schemeClr val="tx1"/>
                </a:solidFill>
                <a:latin typeface="黑体" pitchFamily="49" charset="-122"/>
                <a:ea typeface="黑体" pitchFamily="49" charset="-122"/>
              </a:rPr>
              <a:t>计算机求解问题的一般步骤：</a:t>
            </a:r>
          </a:p>
        </p:txBody>
      </p:sp>
      <p:sp>
        <p:nvSpPr>
          <p:cNvPr id="8" name="Rectangle 1"/>
          <p:cNvSpPr>
            <a:spLocks noChangeArrowheads="1"/>
          </p:cNvSpPr>
          <p:nvPr/>
        </p:nvSpPr>
        <p:spPr bwMode="auto">
          <a:xfrm>
            <a:off x="171877" y="2052075"/>
            <a:ext cx="1721206" cy="461665"/>
          </a:xfrm>
          <a:prstGeom prst="rect">
            <a:avLst/>
          </a:prstGeom>
          <a:ln/>
        </p:spPr>
        <p:style>
          <a:lnRef idx="1">
            <a:schemeClr val="accent6"/>
          </a:lnRef>
          <a:fillRef idx="3">
            <a:schemeClr val="accent6"/>
          </a:fillRef>
          <a:effectRef idx="2">
            <a:schemeClr val="accent6"/>
          </a:effectRef>
          <a:fontRef idx="minor">
            <a:schemeClr val="lt1"/>
          </a:fontRef>
        </p:style>
        <p:txBody>
          <a:bodyPr wrap="square" lIns="0" anchor="ctr">
            <a:spAutoFit/>
          </a:bodyPr>
          <a:lstStyle/>
          <a:p>
            <a:pPr indent="266700"/>
            <a:r>
              <a:rPr lang="zh-CN" altLang="en-US" sz="2400" dirty="0">
                <a:latin typeface="黑体" pitchFamily="49" charset="-122"/>
                <a:ea typeface="黑体" pitchFamily="49" charset="-122"/>
              </a:rPr>
              <a:t>明确问题</a:t>
            </a:r>
          </a:p>
        </p:txBody>
      </p:sp>
      <p:sp>
        <p:nvSpPr>
          <p:cNvPr id="11" name="Rectangle 1"/>
          <p:cNvSpPr>
            <a:spLocks noChangeArrowheads="1"/>
          </p:cNvSpPr>
          <p:nvPr/>
        </p:nvSpPr>
        <p:spPr bwMode="auto">
          <a:xfrm>
            <a:off x="2411760" y="2042142"/>
            <a:ext cx="1654628" cy="461665"/>
          </a:xfrm>
          <a:prstGeom prst="rect">
            <a:avLst/>
          </a:prstGeom>
          <a:ln/>
        </p:spPr>
        <p:style>
          <a:lnRef idx="1">
            <a:schemeClr val="accent6"/>
          </a:lnRef>
          <a:fillRef idx="3">
            <a:schemeClr val="accent6"/>
          </a:fillRef>
          <a:effectRef idx="2">
            <a:schemeClr val="accent6"/>
          </a:effectRef>
          <a:fontRef idx="minor">
            <a:schemeClr val="lt1"/>
          </a:fontRef>
        </p:style>
        <p:txBody>
          <a:bodyPr wrap="square" lIns="0" anchor="ctr">
            <a:spAutoFit/>
          </a:bodyPr>
          <a:lstStyle/>
          <a:p>
            <a:pPr indent="266700"/>
            <a:r>
              <a:rPr lang="zh-CN" altLang="en-US" sz="2400" dirty="0">
                <a:latin typeface="黑体" pitchFamily="49" charset="-122"/>
                <a:ea typeface="黑体" pitchFamily="49" charset="-122"/>
              </a:rPr>
              <a:t>数学模型</a:t>
            </a:r>
          </a:p>
        </p:txBody>
      </p:sp>
      <p:sp>
        <p:nvSpPr>
          <p:cNvPr id="12" name="Rectangle 1"/>
          <p:cNvSpPr>
            <a:spLocks noChangeArrowheads="1"/>
          </p:cNvSpPr>
          <p:nvPr/>
        </p:nvSpPr>
        <p:spPr bwMode="auto">
          <a:xfrm>
            <a:off x="4550896" y="2043543"/>
            <a:ext cx="1133671" cy="461665"/>
          </a:xfrm>
          <a:prstGeom prst="rect">
            <a:avLst/>
          </a:prstGeom>
          <a:ln/>
        </p:spPr>
        <p:style>
          <a:lnRef idx="1">
            <a:schemeClr val="accent6"/>
          </a:lnRef>
          <a:fillRef idx="3">
            <a:schemeClr val="accent6"/>
          </a:fillRef>
          <a:effectRef idx="2">
            <a:schemeClr val="accent6"/>
          </a:effectRef>
          <a:fontRef idx="minor">
            <a:schemeClr val="lt1"/>
          </a:fontRef>
        </p:style>
        <p:txBody>
          <a:bodyPr wrap="square" lIns="0" anchor="ctr">
            <a:spAutoFit/>
          </a:bodyPr>
          <a:lstStyle/>
          <a:p>
            <a:pPr indent="266700"/>
            <a:r>
              <a:rPr lang="zh-CN" altLang="en-US" sz="2400" dirty="0">
                <a:latin typeface="黑体" pitchFamily="49" charset="-122"/>
                <a:ea typeface="黑体" pitchFamily="49" charset="-122"/>
              </a:rPr>
              <a:t>算法</a:t>
            </a:r>
          </a:p>
        </p:txBody>
      </p:sp>
      <p:sp>
        <p:nvSpPr>
          <p:cNvPr id="13" name="Rectangle 1"/>
          <p:cNvSpPr>
            <a:spLocks noChangeArrowheads="1"/>
          </p:cNvSpPr>
          <p:nvPr/>
        </p:nvSpPr>
        <p:spPr bwMode="auto">
          <a:xfrm>
            <a:off x="6328591" y="2050672"/>
            <a:ext cx="1046310" cy="461665"/>
          </a:xfrm>
          <a:prstGeom prst="rect">
            <a:avLst/>
          </a:prstGeom>
          <a:ln/>
        </p:spPr>
        <p:style>
          <a:lnRef idx="1">
            <a:schemeClr val="accent6"/>
          </a:lnRef>
          <a:fillRef idx="3">
            <a:schemeClr val="accent6"/>
          </a:fillRef>
          <a:effectRef idx="2">
            <a:schemeClr val="accent6"/>
          </a:effectRef>
          <a:fontRef idx="minor">
            <a:schemeClr val="lt1"/>
          </a:fontRef>
        </p:style>
        <p:txBody>
          <a:bodyPr wrap="square" lIns="0" anchor="ctr">
            <a:spAutoFit/>
          </a:bodyPr>
          <a:lstStyle/>
          <a:p>
            <a:pPr indent="266700"/>
            <a:r>
              <a:rPr lang="zh-CN" altLang="en-US" sz="2400" dirty="0">
                <a:solidFill>
                  <a:schemeClr val="lt1"/>
                </a:solidFill>
                <a:latin typeface="黑体" pitchFamily="49" charset="-122"/>
                <a:ea typeface="黑体" pitchFamily="49" charset="-122"/>
              </a:rPr>
              <a:t>程序</a:t>
            </a:r>
          </a:p>
        </p:txBody>
      </p:sp>
      <p:sp>
        <p:nvSpPr>
          <p:cNvPr id="14" name="Rectangle 1"/>
          <p:cNvSpPr>
            <a:spLocks noChangeArrowheads="1"/>
          </p:cNvSpPr>
          <p:nvPr/>
        </p:nvSpPr>
        <p:spPr bwMode="auto">
          <a:xfrm>
            <a:off x="8016324" y="2067402"/>
            <a:ext cx="1107083" cy="461665"/>
          </a:xfrm>
          <a:prstGeom prst="rect">
            <a:avLst/>
          </a:prstGeom>
          <a:ln/>
        </p:spPr>
        <p:style>
          <a:lnRef idx="1">
            <a:schemeClr val="accent6"/>
          </a:lnRef>
          <a:fillRef idx="3">
            <a:schemeClr val="accent6"/>
          </a:fillRef>
          <a:effectRef idx="2">
            <a:schemeClr val="accent6"/>
          </a:effectRef>
          <a:fontRef idx="minor">
            <a:schemeClr val="lt1"/>
          </a:fontRef>
        </p:style>
        <p:txBody>
          <a:bodyPr wrap="square" lIns="0" anchor="ctr">
            <a:spAutoFit/>
          </a:bodyPr>
          <a:lstStyle/>
          <a:p>
            <a:pPr indent="266700"/>
            <a:r>
              <a:rPr lang="zh-CN" altLang="en-US" sz="2400" dirty="0">
                <a:solidFill>
                  <a:schemeClr val="lt1"/>
                </a:solidFill>
                <a:latin typeface="黑体" pitchFamily="49" charset="-122"/>
                <a:ea typeface="黑体" pitchFamily="49" charset="-122"/>
              </a:rPr>
              <a:t>答案</a:t>
            </a:r>
          </a:p>
        </p:txBody>
      </p:sp>
      <p:cxnSp>
        <p:nvCxnSpPr>
          <p:cNvPr id="15" name="直接连接符 14"/>
          <p:cNvCxnSpPr/>
          <p:nvPr/>
        </p:nvCxnSpPr>
        <p:spPr>
          <a:xfrm flipV="1">
            <a:off x="1893083" y="2281504"/>
            <a:ext cx="539220" cy="1403"/>
          </a:xfrm>
          <a:prstGeom prst="line">
            <a:avLst/>
          </a:prstGeom>
          <a:ln w="98425" cmpd="sng">
            <a:solidFill>
              <a:schemeClr val="accent1"/>
            </a:solidFill>
            <a:tailEnd type="triangle"/>
          </a:ln>
          <a:effectLst>
            <a:outerShdw sx="1000" sy="1000" rotWithShape="0">
              <a:prstClr val="black">
                <a:alpha val="0"/>
              </a:prstClr>
            </a:outerShdw>
          </a:effectLst>
        </p:spPr>
        <p:style>
          <a:lnRef idx="1">
            <a:schemeClr val="accent1"/>
          </a:lnRef>
          <a:fillRef idx="0">
            <a:schemeClr val="accent1"/>
          </a:fillRef>
          <a:effectRef idx="0">
            <a:schemeClr val="accent1"/>
          </a:effectRef>
          <a:fontRef idx="minor">
            <a:schemeClr val="tx1"/>
          </a:fontRef>
        </p:style>
      </p:cxnSp>
      <p:sp>
        <p:nvSpPr>
          <p:cNvPr id="16" name="Rectangle 1"/>
          <p:cNvSpPr>
            <a:spLocks noChangeArrowheads="1"/>
          </p:cNvSpPr>
          <p:nvPr/>
        </p:nvSpPr>
        <p:spPr bwMode="auto">
          <a:xfrm>
            <a:off x="1641184" y="1707654"/>
            <a:ext cx="900074" cy="307777"/>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p>
            <a:pPr indent="266700"/>
            <a:r>
              <a:rPr lang="zh-CN" altLang="en-US" sz="2000" dirty="0">
                <a:latin typeface="黑体" pitchFamily="49" charset="-122"/>
                <a:ea typeface="黑体" pitchFamily="49" charset="-122"/>
              </a:rPr>
              <a:t>抽象</a:t>
            </a:r>
          </a:p>
        </p:txBody>
      </p:sp>
      <p:cxnSp>
        <p:nvCxnSpPr>
          <p:cNvPr id="17" name="直接连接符 16"/>
          <p:cNvCxnSpPr/>
          <p:nvPr/>
        </p:nvCxnSpPr>
        <p:spPr>
          <a:xfrm>
            <a:off x="4066389" y="2273323"/>
            <a:ext cx="526155" cy="9584"/>
          </a:xfrm>
          <a:prstGeom prst="line">
            <a:avLst/>
          </a:prstGeom>
          <a:ln w="98425" cmpd="sng">
            <a:solidFill>
              <a:schemeClr val="accent1"/>
            </a:solidFill>
            <a:tailEnd type="triangle"/>
          </a:ln>
          <a:effectLst>
            <a:outerShdw sx="1000" sy="1000" rotWithShape="0">
              <a:prstClr val="black">
                <a:alpha val="0"/>
              </a:prstClr>
            </a:outerShdw>
          </a:effectLst>
        </p:spPr>
        <p:style>
          <a:lnRef idx="1">
            <a:schemeClr val="accent1"/>
          </a:lnRef>
          <a:fillRef idx="0">
            <a:schemeClr val="accent1"/>
          </a:fillRef>
          <a:effectRef idx="0">
            <a:schemeClr val="accent1"/>
          </a:effectRef>
          <a:fontRef idx="minor">
            <a:schemeClr val="tx1"/>
          </a:fontRef>
        </p:style>
      </p:cxnSp>
      <p:sp>
        <p:nvSpPr>
          <p:cNvPr id="18" name="Rectangle 1"/>
          <p:cNvSpPr>
            <a:spLocks noChangeArrowheads="1"/>
          </p:cNvSpPr>
          <p:nvPr/>
        </p:nvSpPr>
        <p:spPr bwMode="auto">
          <a:xfrm>
            <a:off x="3728448" y="1707654"/>
            <a:ext cx="900074" cy="307777"/>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p>
            <a:pPr indent="266700"/>
            <a:r>
              <a:rPr lang="zh-CN" altLang="en-US" sz="2000" dirty="0">
                <a:latin typeface="黑体" pitchFamily="49" charset="-122"/>
                <a:ea typeface="黑体" pitchFamily="49" charset="-122"/>
              </a:rPr>
              <a:t>设计</a:t>
            </a:r>
          </a:p>
        </p:txBody>
      </p:sp>
      <p:cxnSp>
        <p:nvCxnSpPr>
          <p:cNvPr id="19" name="直接连接符 18"/>
          <p:cNvCxnSpPr>
            <a:stCxn id="12" idx="3"/>
          </p:cNvCxnSpPr>
          <p:nvPr/>
        </p:nvCxnSpPr>
        <p:spPr>
          <a:xfrm>
            <a:off x="5684567" y="2274376"/>
            <a:ext cx="671463" cy="3739"/>
          </a:xfrm>
          <a:prstGeom prst="line">
            <a:avLst/>
          </a:prstGeom>
          <a:ln w="98425" cmpd="sng">
            <a:solidFill>
              <a:schemeClr val="accent1"/>
            </a:solidFill>
            <a:tailEnd type="triangle"/>
          </a:ln>
          <a:effectLst>
            <a:outerShdw sx="1000" sy="1000" rotWithShape="0">
              <a:prstClr val="black">
                <a:alpha val="0"/>
              </a:prstClr>
            </a:outerShdw>
          </a:effectLst>
        </p:spPr>
        <p:style>
          <a:lnRef idx="1">
            <a:schemeClr val="accent1"/>
          </a:lnRef>
          <a:fillRef idx="0">
            <a:schemeClr val="accent1"/>
          </a:fillRef>
          <a:effectRef idx="0">
            <a:schemeClr val="accent1"/>
          </a:effectRef>
          <a:fontRef idx="minor">
            <a:schemeClr val="tx1"/>
          </a:fontRef>
        </p:style>
      </p:cxnSp>
      <p:sp>
        <p:nvSpPr>
          <p:cNvPr id="20" name="Rectangle 1"/>
          <p:cNvSpPr>
            <a:spLocks noChangeArrowheads="1"/>
          </p:cNvSpPr>
          <p:nvPr/>
        </p:nvSpPr>
        <p:spPr bwMode="auto">
          <a:xfrm>
            <a:off x="5384631" y="1707654"/>
            <a:ext cx="900074" cy="307777"/>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p>
            <a:pPr indent="266700"/>
            <a:r>
              <a:rPr lang="zh-CN" altLang="en-US" sz="2000" dirty="0">
                <a:latin typeface="黑体" pitchFamily="49" charset="-122"/>
                <a:ea typeface="黑体" pitchFamily="49" charset="-122"/>
              </a:rPr>
              <a:t>编程</a:t>
            </a:r>
          </a:p>
        </p:txBody>
      </p:sp>
      <p:sp>
        <p:nvSpPr>
          <p:cNvPr id="21" name="Rectangle 1"/>
          <p:cNvSpPr>
            <a:spLocks noChangeArrowheads="1"/>
          </p:cNvSpPr>
          <p:nvPr/>
        </p:nvSpPr>
        <p:spPr bwMode="auto">
          <a:xfrm>
            <a:off x="7034539" y="1707654"/>
            <a:ext cx="1393372" cy="307777"/>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p>
            <a:pPr indent="266700"/>
            <a:r>
              <a:rPr lang="zh-CN" altLang="en-US" sz="2000" dirty="0">
                <a:latin typeface="黑体" pitchFamily="49" charset="-122"/>
                <a:ea typeface="黑体" pitchFamily="49" charset="-122"/>
              </a:rPr>
              <a:t>调试运行</a:t>
            </a:r>
          </a:p>
        </p:txBody>
      </p:sp>
      <p:cxnSp>
        <p:nvCxnSpPr>
          <p:cNvPr id="22" name="直接连接符 21"/>
          <p:cNvCxnSpPr/>
          <p:nvPr/>
        </p:nvCxnSpPr>
        <p:spPr>
          <a:xfrm>
            <a:off x="7374902" y="2298233"/>
            <a:ext cx="669599" cy="0"/>
          </a:xfrm>
          <a:prstGeom prst="line">
            <a:avLst/>
          </a:prstGeom>
          <a:ln w="98425" cmpd="sng">
            <a:solidFill>
              <a:schemeClr val="accent1"/>
            </a:solidFill>
            <a:tailEnd type="triangle"/>
          </a:ln>
          <a:effectLst>
            <a:outerShdw sx="1000" sy="1000" rotWithShape="0">
              <a:prstClr val="black">
                <a:alpha val="0"/>
              </a:prstClr>
            </a:outerShdw>
          </a:effectLst>
        </p:spPr>
        <p:style>
          <a:lnRef idx="1">
            <a:schemeClr val="accent1"/>
          </a:lnRef>
          <a:fillRef idx="0">
            <a:schemeClr val="accent1"/>
          </a:fillRef>
          <a:effectRef idx="0">
            <a:schemeClr val="accent1"/>
          </a:effectRef>
          <a:fontRef idx="minor">
            <a:schemeClr val="tx1"/>
          </a:fontRef>
        </p:style>
      </p:cxnSp>
      <p:sp>
        <p:nvSpPr>
          <p:cNvPr id="23" name="矩形 22"/>
          <p:cNvSpPr>
            <a:spLocks noChangeArrowheads="1"/>
          </p:cNvSpPr>
          <p:nvPr/>
        </p:nvSpPr>
        <p:spPr bwMode="auto">
          <a:xfrm>
            <a:off x="367671" y="2676169"/>
            <a:ext cx="47500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a:latin typeface="黑体" pitchFamily="49" charset="-122"/>
                <a:ea typeface="黑体" pitchFamily="49" charset="-122"/>
              </a:rPr>
              <a:t>比如</a:t>
            </a:r>
            <a:r>
              <a:rPr lang="en-US" altLang="zh-CN" sz="2000" dirty="0">
                <a:latin typeface="黑体" pitchFamily="49" charset="-122"/>
                <a:ea typeface="黑体" pitchFamily="49" charset="-122"/>
              </a:rPr>
              <a:t>:</a:t>
            </a:r>
            <a:r>
              <a:rPr lang="zh-CN" altLang="en-US" sz="2000" dirty="0">
                <a:latin typeface="黑体" pitchFamily="49" charset="-122"/>
                <a:ea typeface="黑体" pitchFamily="49" charset="-122"/>
              </a:rPr>
              <a:t>求自由落体在某时刻下落的高度。</a:t>
            </a:r>
          </a:p>
        </p:txBody>
      </p:sp>
      <p:sp>
        <p:nvSpPr>
          <p:cNvPr id="24" name="Rectangle 21"/>
          <p:cNvSpPr>
            <a:spLocks noChangeArrowheads="1"/>
          </p:cNvSpPr>
          <p:nvPr/>
        </p:nvSpPr>
        <p:spPr bwMode="auto">
          <a:xfrm>
            <a:off x="367672" y="3384992"/>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dirty="0">
                <a:latin typeface="黑体" pitchFamily="49" charset="-122"/>
                <a:ea typeface="黑体" pitchFamily="49" charset="-122"/>
              </a:rPr>
              <a:t>数学模型：</a:t>
            </a:r>
          </a:p>
        </p:txBody>
      </p:sp>
      <p:sp>
        <p:nvSpPr>
          <p:cNvPr id="25" name="Rectangle 22"/>
          <p:cNvSpPr>
            <a:spLocks noChangeArrowheads="1"/>
          </p:cNvSpPr>
          <p:nvPr/>
        </p:nvSpPr>
        <p:spPr bwMode="auto">
          <a:xfrm>
            <a:off x="367672" y="3933284"/>
            <a:ext cx="19288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黑体" pitchFamily="49" charset="-122"/>
                <a:ea typeface="黑体" pitchFamily="49" charset="-122"/>
              </a:rPr>
              <a:t>程序代码：</a:t>
            </a:r>
          </a:p>
        </p:txBody>
      </p:sp>
      <p:sp>
        <p:nvSpPr>
          <p:cNvPr id="26" name="矩形 26"/>
          <p:cNvSpPr>
            <a:spLocks noChangeArrowheads="1"/>
          </p:cNvSpPr>
          <p:nvPr/>
        </p:nvSpPr>
        <p:spPr bwMode="auto">
          <a:xfrm>
            <a:off x="4860032" y="2661892"/>
            <a:ext cx="411951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1400" dirty="0">
                <a:latin typeface="Calibri" pitchFamily="34" charset="0"/>
              </a:rPr>
              <a:t>#include &lt;</a:t>
            </a:r>
            <a:r>
              <a:rPr lang="en-US" altLang="zh-CN" sz="1400" dirty="0" err="1">
                <a:latin typeface="Calibri" pitchFamily="34" charset="0"/>
              </a:rPr>
              <a:t>stdio.h</a:t>
            </a:r>
            <a:r>
              <a:rPr lang="en-US" altLang="zh-CN" sz="1400" dirty="0">
                <a:latin typeface="Calibri" pitchFamily="34" charset="0"/>
              </a:rPr>
              <a:t>&gt;</a:t>
            </a:r>
          </a:p>
          <a:p>
            <a:pPr eaLnBrk="0" hangingPunct="0"/>
            <a:r>
              <a:rPr lang="en-US" altLang="zh-CN" sz="1400" dirty="0">
                <a:latin typeface="Calibri" pitchFamily="34" charset="0"/>
              </a:rPr>
              <a:t>#define G  9.8</a:t>
            </a:r>
          </a:p>
          <a:p>
            <a:pPr eaLnBrk="0" hangingPunct="0"/>
            <a:r>
              <a:rPr lang="en-US" altLang="zh-CN" sz="1400" dirty="0">
                <a:latin typeface="Calibri" pitchFamily="34" charset="0"/>
              </a:rPr>
              <a:t>void main()</a:t>
            </a:r>
          </a:p>
          <a:p>
            <a:pPr eaLnBrk="0" hangingPunct="0"/>
            <a:r>
              <a:rPr lang="en-US" altLang="zh-CN" sz="1400" dirty="0">
                <a:latin typeface="Calibri" pitchFamily="34" charset="0"/>
              </a:rPr>
              <a:t>{</a:t>
            </a:r>
          </a:p>
          <a:p>
            <a:pPr eaLnBrk="0" hangingPunct="0"/>
            <a:r>
              <a:rPr lang="en-US" altLang="zh-CN" sz="1400" dirty="0">
                <a:latin typeface="Calibri" pitchFamily="34" charset="0"/>
              </a:rPr>
              <a:t>      float </a:t>
            </a:r>
            <a:r>
              <a:rPr lang="en-US" altLang="zh-CN" sz="1400" dirty="0" err="1">
                <a:latin typeface="Calibri" pitchFamily="34" charset="0"/>
              </a:rPr>
              <a:t>t,h</a:t>
            </a:r>
            <a:r>
              <a:rPr lang="en-US" altLang="zh-CN" sz="1400" dirty="0">
                <a:latin typeface="Calibri" pitchFamily="34" charset="0"/>
              </a:rPr>
              <a:t>;</a:t>
            </a:r>
          </a:p>
          <a:p>
            <a:pPr eaLnBrk="0" hangingPunct="0"/>
            <a:r>
              <a:rPr lang="en-US" altLang="zh-CN" sz="1400" dirty="0">
                <a:latin typeface="Calibri" pitchFamily="34" charset="0"/>
              </a:rPr>
              <a:t>      </a:t>
            </a:r>
            <a:r>
              <a:rPr lang="en-US" altLang="zh-CN" sz="1400" dirty="0" err="1">
                <a:latin typeface="Calibri" pitchFamily="34" charset="0"/>
              </a:rPr>
              <a:t>printf</a:t>
            </a:r>
            <a:r>
              <a:rPr lang="en-US" altLang="zh-CN" sz="1400" dirty="0">
                <a:latin typeface="Calibri" pitchFamily="34" charset="0"/>
              </a:rPr>
              <a:t>(“\</a:t>
            </a:r>
            <a:r>
              <a:rPr lang="en-US" altLang="zh-CN" sz="1400" dirty="0" err="1">
                <a:latin typeface="Calibri" pitchFamily="34" charset="0"/>
              </a:rPr>
              <a:t>nPlease</a:t>
            </a:r>
            <a:r>
              <a:rPr lang="en-US" altLang="zh-CN" sz="1400" dirty="0">
                <a:latin typeface="Calibri" pitchFamily="34" charset="0"/>
              </a:rPr>
              <a:t> Input a time:”);</a:t>
            </a:r>
          </a:p>
          <a:p>
            <a:pPr eaLnBrk="0" hangingPunct="0"/>
            <a:r>
              <a:rPr lang="en-US" altLang="zh-CN" sz="1400" dirty="0">
                <a:latin typeface="Calibri" pitchFamily="34" charset="0"/>
              </a:rPr>
              <a:t>      </a:t>
            </a:r>
            <a:r>
              <a:rPr lang="en-US" altLang="zh-CN" sz="1400" dirty="0" err="1">
                <a:latin typeface="Calibri" pitchFamily="34" charset="0"/>
              </a:rPr>
              <a:t>scanf</a:t>
            </a:r>
            <a:r>
              <a:rPr lang="en-US" altLang="zh-CN" sz="1400" dirty="0">
                <a:latin typeface="Calibri" pitchFamily="34" charset="0"/>
              </a:rPr>
              <a:t>(“%</a:t>
            </a:r>
            <a:r>
              <a:rPr lang="en-US" altLang="zh-CN" sz="1400" dirty="0" err="1">
                <a:latin typeface="Calibri" pitchFamily="34" charset="0"/>
              </a:rPr>
              <a:t>f”,&amp;t</a:t>
            </a:r>
            <a:r>
              <a:rPr lang="en-US" altLang="zh-CN" sz="1400" dirty="0">
                <a:latin typeface="Calibri" pitchFamily="34" charset="0"/>
              </a:rPr>
              <a:t>);</a:t>
            </a:r>
          </a:p>
          <a:p>
            <a:pPr eaLnBrk="0" hangingPunct="0"/>
            <a:r>
              <a:rPr lang="en-US" altLang="zh-CN" sz="1400" dirty="0">
                <a:latin typeface="Calibri" pitchFamily="34" charset="0"/>
              </a:rPr>
              <a:t>      h=G*t*t/2;</a:t>
            </a:r>
          </a:p>
          <a:p>
            <a:pPr eaLnBrk="0" hangingPunct="0"/>
            <a:r>
              <a:rPr lang="en-US" altLang="zh-CN" sz="1400" dirty="0">
                <a:latin typeface="Calibri" pitchFamily="34" charset="0"/>
              </a:rPr>
              <a:t>      </a:t>
            </a:r>
            <a:r>
              <a:rPr lang="en-US" altLang="zh-CN" sz="1400" dirty="0" err="1">
                <a:latin typeface="Calibri" pitchFamily="34" charset="0"/>
              </a:rPr>
              <a:t>printf</a:t>
            </a:r>
            <a:r>
              <a:rPr lang="en-US" altLang="zh-CN" sz="1400" dirty="0">
                <a:latin typeface="Calibri" pitchFamily="34" charset="0"/>
              </a:rPr>
              <a:t>(“The  high is %.2f”,h);</a:t>
            </a:r>
          </a:p>
          <a:p>
            <a:pPr eaLnBrk="0" hangingPunct="0"/>
            <a:r>
              <a:rPr lang="en-US" altLang="zh-CN" sz="1400" dirty="0">
                <a:latin typeface="Calibri" pitchFamily="34" charset="0"/>
              </a:rPr>
              <a:t> }</a:t>
            </a:r>
          </a:p>
        </p:txBody>
      </p:sp>
      <p:graphicFrame>
        <p:nvGraphicFramePr>
          <p:cNvPr id="27" name="对象 26"/>
          <p:cNvGraphicFramePr>
            <a:graphicFrameLocks noChangeAspect="1"/>
          </p:cNvGraphicFramePr>
          <p:nvPr>
            <p:extLst>
              <p:ext uri="{D42A27DB-BD31-4B8C-83A1-F6EECF244321}">
                <p14:modId xmlns:p14="http://schemas.microsoft.com/office/powerpoint/2010/main" val="2454257748"/>
              </p:ext>
            </p:extLst>
          </p:nvPr>
        </p:nvGraphicFramePr>
        <p:xfrm>
          <a:off x="1898177" y="3361625"/>
          <a:ext cx="1392237" cy="508397"/>
        </p:xfrm>
        <a:graphic>
          <a:graphicData uri="http://schemas.openxmlformats.org/presentationml/2006/ole">
            <mc:AlternateContent xmlns:mc="http://schemas.openxmlformats.org/markup-compatibility/2006">
              <mc:Choice xmlns:v="urn:schemas-microsoft-com:vml" Requires="v">
                <p:oleObj name="公式" r:id="rId2" imgW="685800" imgH="406080" progId="Equation.3">
                  <p:embed/>
                </p:oleObj>
              </mc:Choice>
              <mc:Fallback>
                <p:oleObj name="公式" r:id="rId2" imgW="685800" imgH="406080" progId="Equation.3">
                  <p:embed/>
                  <p:pic>
                    <p:nvPicPr>
                      <p:cNvPr id="0" name=""/>
                      <p:cNvPicPr/>
                      <p:nvPr/>
                    </p:nvPicPr>
                    <p:blipFill>
                      <a:blip r:embed="rId3"/>
                      <a:stretch>
                        <a:fillRect/>
                      </a:stretch>
                    </p:blipFill>
                    <p:spPr>
                      <a:xfrm>
                        <a:off x="1898177" y="3361625"/>
                        <a:ext cx="1392237" cy="508397"/>
                      </a:xfrm>
                      <a:prstGeom prst="rect">
                        <a:avLst/>
                      </a:prstGeom>
                    </p:spPr>
                  </p:pic>
                </p:oleObj>
              </mc:Fallback>
            </mc:AlternateContent>
          </a:graphicData>
        </a:graphic>
      </p:graphicFrame>
      <p:cxnSp>
        <p:nvCxnSpPr>
          <p:cNvPr id="33" name="直接连接符 3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B36111FF-C4F5-3F2D-B191-E36E4D6CA2F7}"/>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4" name="矩形 3">
            <a:extLst>
              <a:ext uri="{FF2B5EF4-FFF2-40B4-BE49-F238E27FC236}">
                <a16:creationId xmlns:a16="http://schemas.microsoft.com/office/drawing/2014/main" id="{F9D36CA1-76E0-8C91-D46E-07315E414E13}"/>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18154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4" grpId="0" animBg="1"/>
      <p:bldP spid="16" grpId="0" animBg="1"/>
      <p:bldP spid="18" grpId="0" animBg="1"/>
      <p:bldP spid="20" grpId="0" animBg="1"/>
      <p:bldP spid="21" grpId="0" animBg="1"/>
      <p:bldP spid="23" grpId="0"/>
      <p:bldP spid="24" grpId="0"/>
      <p:bldP spid="25" grpId="0"/>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2"/>
          <p:cNvSpPr>
            <a:spLocks noChangeArrowheads="1"/>
          </p:cNvSpPr>
          <p:nvPr/>
        </p:nvSpPr>
        <p:spPr bwMode="auto">
          <a:xfrm>
            <a:off x="1299218" y="1808661"/>
            <a:ext cx="29127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dirty="0">
                <a:latin typeface="仿宋_GB2312" pitchFamily="49" charset="-122"/>
                <a:ea typeface="仿宋_GB2312" pitchFamily="49" charset="-122"/>
              </a:rPr>
              <a:t>Ⅰ</a:t>
            </a:r>
            <a:r>
              <a:rPr lang="zh-CN" altLang="en-US" sz="2400" dirty="0">
                <a:latin typeface="黑体" pitchFamily="49" charset="-122"/>
                <a:ea typeface="黑体" pitchFamily="49" charset="-122"/>
              </a:rPr>
              <a:t>、数值计算问题</a:t>
            </a:r>
          </a:p>
        </p:txBody>
      </p:sp>
      <p:sp>
        <p:nvSpPr>
          <p:cNvPr id="30" name="矩形 29"/>
          <p:cNvSpPr>
            <a:spLocks noChangeArrowheads="1"/>
          </p:cNvSpPr>
          <p:nvPr/>
        </p:nvSpPr>
        <p:spPr bwMode="auto">
          <a:xfrm>
            <a:off x="395538" y="2165958"/>
            <a:ext cx="853440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dirty="0">
                <a:latin typeface="黑体" pitchFamily="49" charset="-122"/>
                <a:ea typeface="黑体" pitchFamily="49" charset="-122"/>
              </a:rPr>
              <a:t>    一般来说，求大小或者多少的问题都属于数值计算问题，其中参与计算的数据为数值，计算的结果也为数值，需要用到算术运算。</a:t>
            </a:r>
          </a:p>
        </p:txBody>
      </p:sp>
      <p:sp>
        <p:nvSpPr>
          <p:cNvPr id="31" name="矩形 30"/>
          <p:cNvSpPr>
            <a:spLocks noChangeArrowheads="1"/>
          </p:cNvSpPr>
          <p:nvPr/>
        </p:nvSpPr>
        <p:spPr bwMode="auto">
          <a:xfrm>
            <a:off x="574101" y="3291830"/>
            <a:ext cx="85344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dirty="0">
                <a:latin typeface="黑体" pitchFamily="49" charset="-122"/>
                <a:ea typeface="黑体" pitchFamily="49" charset="-122"/>
              </a:rPr>
              <a:t>比如：</a:t>
            </a:r>
            <a:r>
              <a:rPr lang="en-US" altLang="zh-CN" sz="2400" dirty="0">
                <a:latin typeface="黑体" pitchFamily="49" charset="-122"/>
                <a:ea typeface="黑体" pitchFamily="49" charset="-122"/>
              </a:rPr>
              <a:t>1</a:t>
            </a:r>
            <a:r>
              <a:rPr lang="zh-CN" altLang="en-US" sz="2400" dirty="0">
                <a:latin typeface="黑体" pitchFamily="49" charset="-122"/>
                <a:ea typeface="黑体" pitchFamily="49" charset="-122"/>
              </a:rPr>
              <a:t>、求方程的根、求解线性方程组、求解微分方程</a:t>
            </a:r>
            <a:endParaRPr lang="en-US" altLang="zh-CN" sz="2400" dirty="0">
              <a:latin typeface="黑体" pitchFamily="49" charset="-122"/>
              <a:ea typeface="黑体" pitchFamily="49" charset="-122"/>
            </a:endParaRPr>
          </a:p>
        </p:txBody>
      </p:sp>
      <p:sp>
        <p:nvSpPr>
          <p:cNvPr id="32" name="矩形 31"/>
          <p:cNvSpPr/>
          <p:nvPr/>
        </p:nvSpPr>
        <p:spPr>
          <a:xfrm>
            <a:off x="1405772" y="3723878"/>
            <a:ext cx="6858000" cy="830997"/>
          </a:xfrm>
          <a:prstGeom prst="rect">
            <a:avLst/>
          </a:prstGeom>
        </p:spPr>
        <p:txBody>
          <a:bodyPr wrap="square">
            <a:spAutoFit/>
          </a:bodyPr>
          <a:lstStyle/>
          <a:p>
            <a:r>
              <a:rPr lang="en-US" altLang="zh-CN" dirty="0">
                <a:latin typeface="黑体" pitchFamily="49" charset="-122"/>
                <a:ea typeface="黑体" pitchFamily="49" charset="-122"/>
              </a:rPr>
              <a:t> </a:t>
            </a:r>
            <a:r>
              <a:rPr lang="en-US" altLang="zh-CN" sz="2400" dirty="0">
                <a:latin typeface="黑体" pitchFamily="49" charset="-122"/>
                <a:ea typeface="黑体" pitchFamily="49" charset="-122"/>
              </a:rPr>
              <a:t>2</a:t>
            </a:r>
            <a:r>
              <a:rPr lang="zh-CN" altLang="en-US" sz="2400" dirty="0">
                <a:latin typeface="黑体" pitchFamily="49" charset="-122"/>
                <a:ea typeface="黑体" pitchFamily="49" charset="-122"/>
              </a:rPr>
              <a:t>、计算在三维空间内由坐标原点发出的任意一条射线与椭球面</a:t>
            </a:r>
            <a:endParaRPr lang="en-US" altLang="zh-CN" sz="2400" dirty="0">
              <a:latin typeface="黑体" pitchFamily="49" charset="-122"/>
              <a:ea typeface="黑体" pitchFamily="49" charset="-122"/>
            </a:endParaRPr>
          </a:p>
        </p:txBody>
      </p:sp>
      <p:sp>
        <p:nvSpPr>
          <p:cNvPr id="33" name="矩形 32"/>
          <p:cNvSpPr/>
          <p:nvPr/>
        </p:nvSpPr>
        <p:spPr>
          <a:xfrm>
            <a:off x="1405772" y="4515966"/>
            <a:ext cx="2608406" cy="461665"/>
          </a:xfrm>
          <a:prstGeom prst="rect">
            <a:avLst/>
          </a:prstGeom>
        </p:spPr>
        <p:txBody>
          <a:bodyPr wrap="none">
            <a:spAutoFit/>
          </a:bodyPr>
          <a:lstStyle/>
          <a:p>
            <a:r>
              <a:rPr lang="en-US" altLang="zh-CN" dirty="0">
                <a:latin typeface="黑体" pitchFamily="49" charset="-122"/>
                <a:ea typeface="黑体" pitchFamily="49" charset="-122"/>
              </a:rPr>
              <a:t> </a:t>
            </a:r>
            <a:r>
              <a:rPr lang="en-US" altLang="zh-CN" sz="2400" dirty="0">
                <a:latin typeface="黑体" pitchFamily="49" charset="-122"/>
                <a:ea typeface="黑体" pitchFamily="49" charset="-122"/>
              </a:rPr>
              <a:t>3</a:t>
            </a:r>
            <a:r>
              <a:rPr lang="zh-CN" altLang="en-US" sz="2400" dirty="0">
                <a:latin typeface="黑体" pitchFamily="49" charset="-122"/>
                <a:ea typeface="黑体" pitchFamily="49" charset="-122"/>
              </a:rPr>
              <a:t>、天气预报等等</a:t>
            </a:r>
          </a:p>
        </p:txBody>
      </p:sp>
      <p:cxnSp>
        <p:nvCxnSpPr>
          <p:cNvPr id="13" name="直接连接符 1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61573" y="1430898"/>
            <a:ext cx="3240360" cy="461665"/>
          </a:xfrm>
          <a:prstGeom prst="rect">
            <a:avLst/>
          </a:prstGeom>
          <a:noFill/>
          <a:ln>
            <a:noFill/>
          </a:ln>
        </p:spPr>
        <p:txBody>
          <a:bodyPr wrap="square">
            <a:spAutoFit/>
          </a:bodyPr>
          <a:lstStyle/>
          <a:p>
            <a:r>
              <a:rPr lang="zh-CN" altLang="en-US" sz="2400" dirty="0">
                <a:latin typeface="黑体" pitchFamily="49" charset="-122"/>
                <a:ea typeface="黑体" pitchFamily="49" charset="-122"/>
              </a:rPr>
              <a:t>计算机求解的两类问题</a:t>
            </a:r>
          </a:p>
        </p:txBody>
      </p:sp>
      <p:sp>
        <p:nvSpPr>
          <p:cNvPr id="2" name="Rectangle 2">
            <a:extLst>
              <a:ext uri="{FF2B5EF4-FFF2-40B4-BE49-F238E27FC236}">
                <a16:creationId xmlns:a16="http://schemas.microsoft.com/office/drawing/2014/main" id="{BAC5483C-8E40-F942-03A2-A8470CF9E539}"/>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AA6ED33B-0A40-6DE4-A440-9C86C54FF8E5}"/>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188093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2"/>
          <p:cNvSpPr>
            <a:spLocks noChangeArrowheads="1"/>
          </p:cNvSpPr>
          <p:nvPr/>
        </p:nvSpPr>
        <p:spPr bwMode="auto">
          <a:xfrm>
            <a:off x="1299217" y="1808661"/>
            <a:ext cx="33027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dirty="0">
                <a:latin typeface="仿宋_GB2312" pitchFamily="49" charset="-122"/>
                <a:ea typeface="仿宋_GB2312" pitchFamily="49" charset="-122"/>
              </a:rPr>
              <a:t>Ⅱ</a:t>
            </a:r>
            <a:r>
              <a:rPr lang="en-US" altLang="zh-CN" sz="2400" dirty="0">
                <a:latin typeface="黑体" pitchFamily="49" charset="-122"/>
                <a:ea typeface="黑体" pitchFamily="49" charset="-122"/>
              </a:rPr>
              <a:t> </a:t>
            </a:r>
            <a:r>
              <a:rPr lang="zh-CN" altLang="en-US" sz="2400" dirty="0">
                <a:latin typeface="黑体" pitchFamily="49" charset="-122"/>
                <a:ea typeface="黑体" pitchFamily="49" charset="-122"/>
              </a:rPr>
              <a:t>、非数值计算问题</a:t>
            </a:r>
          </a:p>
        </p:txBody>
      </p:sp>
      <p:cxnSp>
        <p:nvCxnSpPr>
          <p:cNvPr id="13" name="直接连接符 1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61573" y="1430898"/>
            <a:ext cx="3240360" cy="461665"/>
          </a:xfrm>
          <a:prstGeom prst="rect">
            <a:avLst/>
          </a:prstGeom>
          <a:noFill/>
          <a:ln>
            <a:noFill/>
          </a:ln>
        </p:spPr>
        <p:txBody>
          <a:bodyPr wrap="square">
            <a:spAutoFit/>
          </a:bodyPr>
          <a:lstStyle/>
          <a:p>
            <a:r>
              <a:rPr lang="zh-CN" altLang="en-US" sz="2400" dirty="0">
                <a:latin typeface="黑体" pitchFamily="49" charset="-122"/>
                <a:ea typeface="黑体" pitchFamily="49" charset="-122"/>
              </a:rPr>
              <a:t>计算机求解的两类问题</a:t>
            </a:r>
          </a:p>
        </p:txBody>
      </p:sp>
      <p:sp>
        <p:nvSpPr>
          <p:cNvPr id="15" name="矩形 34"/>
          <p:cNvSpPr>
            <a:spLocks noChangeArrowheads="1"/>
          </p:cNvSpPr>
          <p:nvPr/>
        </p:nvSpPr>
        <p:spPr bwMode="auto">
          <a:xfrm>
            <a:off x="1691681" y="2247714"/>
            <a:ext cx="31357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Calibri" pitchFamily="34" charset="0"/>
              </a:rPr>
              <a:t>（</a:t>
            </a:r>
            <a:r>
              <a:rPr lang="en-US" altLang="zh-CN" sz="2000" dirty="0">
                <a:latin typeface="Calibri" pitchFamily="34" charset="0"/>
              </a:rPr>
              <a:t>1</a:t>
            </a:r>
            <a:r>
              <a:rPr lang="zh-CN" altLang="en-US" sz="2000" dirty="0">
                <a:latin typeface="Calibri" pitchFamily="34" charset="0"/>
              </a:rPr>
              <a:t>）</a:t>
            </a:r>
            <a:r>
              <a:rPr lang="zh-CN" altLang="zh-CN" sz="2000" dirty="0">
                <a:latin typeface="黑体" pitchFamily="49" charset="-122"/>
                <a:ea typeface="黑体" pitchFamily="49" charset="-122"/>
              </a:rPr>
              <a:t>全班成绩的排名</a:t>
            </a:r>
            <a:r>
              <a:rPr lang="zh-CN" altLang="en-US" sz="2000" dirty="0">
                <a:latin typeface="黑体" pitchFamily="49" charset="-122"/>
                <a:ea typeface="黑体" pitchFamily="49" charset="-122"/>
              </a:rPr>
              <a:t>问题</a:t>
            </a:r>
          </a:p>
        </p:txBody>
      </p:sp>
      <p:pic>
        <p:nvPicPr>
          <p:cNvPr id="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945" y="2554349"/>
            <a:ext cx="7819760" cy="177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8" name="组合 17"/>
          <p:cNvGrpSpPr/>
          <p:nvPr/>
        </p:nvGrpSpPr>
        <p:grpSpPr>
          <a:xfrm>
            <a:off x="5148065" y="2157096"/>
            <a:ext cx="1724297" cy="400943"/>
            <a:chOff x="7071359" y="2843520"/>
            <a:chExt cx="1724297" cy="534591"/>
          </a:xfrm>
        </p:grpSpPr>
        <p:sp>
          <p:nvSpPr>
            <p:cNvPr id="19" name="矩形标注 18"/>
            <p:cNvSpPr/>
            <p:nvPr/>
          </p:nvSpPr>
          <p:spPr>
            <a:xfrm>
              <a:off x="7071359" y="2843520"/>
              <a:ext cx="1724297" cy="453628"/>
            </a:xfrm>
            <a:prstGeom prst="wedgeRectCallout">
              <a:avLst>
                <a:gd name="adj1" fmla="val -42705"/>
                <a:gd name="adj2" fmla="val 1661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7189515" y="2885668"/>
              <a:ext cx="1432561" cy="492443"/>
            </a:xfrm>
            <a:prstGeom prst="rect">
              <a:avLst/>
            </a:prstGeom>
            <a:noFill/>
          </p:spPr>
          <p:txBody>
            <a:bodyPr wrap="square" rtlCol="0">
              <a:spAutoFit/>
            </a:bodyPr>
            <a:lstStyle/>
            <a:p>
              <a:r>
                <a:rPr lang="zh-CN" altLang="en-US" dirty="0"/>
                <a:t>字段（</a:t>
              </a:r>
              <a:r>
                <a:rPr lang="en-US" altLang="zh-CN" dirty="0"/>
                <a:t>Field</a:t>
              </a:r>
              <a:r>
                <a:rPr lang="zh-CN" altLang="en-US" dirty="0"/>
                <a:t>）</a:t>
              </a:r>
            </a:p>
          </p:txBody>
        </p:sp>
      </p:grpSp>
      <p:grpSp>
        <p:nvGrpSpPr>
          <p:cNvPr id="21" name="组合 20"/>
          <p:cNvGrpSpPr/>
          <p:nvPr/>
        </p:nvGrpSpPr>
        <p:grpSpPr>
          <a:xfrm>
            <a:off x="337578" y="4560345"/>
            <a:ext cx="1689463" cy="424313"/>
            <a:chOff x="10398033" y="3641968"/>
            <a:chExt cx="1689463" cy="565750"/>
          </a:xfrm>
        </p:grpSpPr>
        <p:sp>
          <p:nvSpPr>
            <p:cNvPr id="22" name="矩形标注 21"/>
            <p:cNvSpPr/>
            <p:nvPr/>
          </p:nvSpPr>
          <p:spPr>
            <a:xfrm>
              <a:off x="10398033" y="3641968"/>
              <a:ext cx="1602377" cy="453628"/>
            </a:xfrm>
            <a:prstGeom prst="wedgeRectCallout">
              <a:avLst>
                <a:gd name="adj1" fmla="val -8082"/>
                <a:gd name="adj2" fmla="val -21008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22"/>
            <p:cNvSpPr txBox="1"/>
            <p:nvPr/>
          </p:nvSpPr>
          <p:spPr>
            <a:xfrm>
              <a:off x="10398033" y="3715275"/>
              <a:ext cx="1689463" cy="492443"/>
            </a:xfrm>
            <a:prstGeom prst="rect">
              <a:avLst/>
            </a:prstGeom>
            <a:noFill/>
          </p:spPr>
          <p:txBody>
            <a:bodyPr wrap="square" rtlCol="0">
              <a:spAutoFit/>
            </a:bodyPr>
            <a:lstStyle/>
            <a:p>
              <a:r>
                <a:rPr lang="zh-CN" altLang="en-US" dirty="0"/>
                <a:t>记录（</a:t>
              </a:r>
              <a:r>
                <a:rPr lang="en-US" altLang="zh-CN" dirty="0"/>
                <a:t>Record</a:t>
              </a:r>
              <a:r>
                <a:rPr lang="zh-CN" altLang="en-US" dirty="0"/>
                <a:t>）</a:t>
              </a:r>
            </a:p>
          </p:txBody>
        </p:sp>
      </p:grpSp>
      <p:grpSp>
        <p:nvGrpSpPr>
          <p:cNvPr id="24" name="组合 23"/>
          <p:cNvGrpSpPr/>
          <p:nvPr/>
        </p:nvGrpSpPr>
        <p:grpSpPr>
          <a:xfrm>
            <a:off x="6954855" y="2165946"/>
            <a:ext cx="668993" cy="373684"/>
            <a:chOff x="9814166" y="2841448"/>
            <a:chExt cx="1193073" cy="395630"/>
          </a:xfrm>
        </p:grpSpPr>
        <p:sp>
          <p:nvSpPr>
            <p:cNvPr id="25" name="矩形标注 24"/>
            <p:cNvSpPr/>
            <p:nvPr/>
          </p:nvSpPr>
          <p:spPr>
            <a:xfrm>
              <a:off x="9814166" y="2841448"/>
              <a:ext cx="1193073" cy="363770"/>
            </a:xfrm>
            <a:prstGeom prst="wedgeRectCallout">
              <a:avLst>
                <a:gd name="adj1" fmla="val -41749"/>
                <a:gd name="adj2" fmla="val 15767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10021934" y="2846055"/>
              <a:ext cx="696682" cy="391023"/>
            </a:xfrm>
            <a:prstGeom prst="rect">
              <a:avLst/>
            </a:prstGeom>
            <a:noFill/>
          </p:spPr>
          <p:txBody>
            <a:bodyPr wrap="square" rtlCol="0">
              <a:spAutoFit/>
            </a:bodyPr>
            <a:lstStyle/>
            <a:p>
              <a:r>
                <a:rPr lang="zh-CN" altLang="en-US" b="1" dirty="0">
                  <a:solidFill>
                    <a:srgbClr val="FF0000"/>
                  </a:solidFill>
                </a:rPr>
                <a:t>表</a:t>
              </a:r>
            </a:p>
          </p:txBody>
        </p:sp>
      </p:grpSp>
      <p:grpSp>
        <p:nvGrpSpPr>
          <p:cNvPr id="27" name="组合 26"/>
          <p:cNvGrpSpPr/>
          <p:nvPr/>
        </p:nvGrpSpPr>
        <p:grpSpPr>
          <a:xfrm>
            <a:off x="8500925" y="3058045"/>
            <a:ext cx="252549" cy="1319346"/>
            <a:chOff x="557347" y="4028837"/>
            <a:chExt cx="252549" cy="1759128"/>
          </a:xfrm>
        </p:grpSpPr>
        <p:sp>
          <p:nvSpPr>
            <p:cNvPr id="28" name="椭圆 27"/>
            <p:cNvSpPr/>
            <p:nvPr/>
          </p:nvSpPr>
          <p:spPr>
            <a:xfrm>
              <a:off x="557347" y="4028837"/>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557347" y="4411452"/>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557347" y="478648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557347" y="514465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557347" y="5535416"/>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a:stCxn id="28" idx="4"/>
              <a:endCxn id="34" idx="0"/>
            </p:cNvCxnSpPr>
            <p:nvPr/>
          </p:nvCxnSpPr>
          <p:spPr>
            <a:xfrm>
              <a:off x="683622" y="4281386"/>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683622" y="4664001"/>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683622" y="5021614"/>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96683" y="5405350"/>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7773245" y="1994812"/>
            <a:ext cx="1193073" cy="393975"/>
            <a:chOff x="278677" y="2252936"/>
            <a:chExt cx="1193073" cy="398941"/>
          </a:xfrm>
        </p:grpSpPr>
        <p:sp>
          <p:nvSpPr>
            <p:cNvPr id="43" name="矩形标注 42"/>
            <p:cNvSpPr/>
            <p:nvPr/>
          </p:nvSpPr>
          <p:spPr>
            <a:xfrm>
              <a:off x="278677" y="2252936"/>
              <a:ext cx="1193073" cy="363770"/>
            </a:xfrm>
            <a:prstGeom prst="wedgeRectCallout">
              <a:avLst>
                <a:gd name="adj1" fmla="val 17504"/>
                <a:gd name="adj2" fmla="val 23938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TextBox 43"/>
            <p:cNvSpPr txBox="1"/>
            <p:nvPr/>
          </p:nvSpPr>
          <p:spPr>
            <a:xfrm>
              <a:off x="306430" y="2277890"/>
              <a:ext cx="1165319" cy="373987"/>
            </a:xfrm>
            <a:prstGeom prst="rect">
              <a:avLst/>
            </a:prstGeom>
            <a:noFill/>
          </p:spPr>
          <p:txBody>
            <a:bodyPr wrap="square" rtlCol="0">
              <a:spAutoFit/>
            </a:bodyPr>
            <a:lstStyle/>
            <a:p>
              <a:r>
                <a:rPr lang="zh-CN" altLang="en-US" b="1" dirty="0">
                  <a:solidFill>
                    <a:srgbClr val="FF0000"/>
                  </a:solidFill>
                </a:rPr>
                <a:t>线性关系</a:t>
              </a:r>
            </a:p>
          </p:txBody>
        </p:sp>
      </p:grpSp>
      <p:grpSp>
        <p:nvGrpSpPr>
          <p:cNvPr id="45" name="组合 44"/>
          <p:cNvGrpSpPr/>
          <p:nvPr/>
        </p:nvGrpSpPr>
        <p:grpSpPr>
          <a:xfrm>
            <a:off x="5434520" y="1566056"/>
            <a:ext cx="1831526" cy="393976"/>
            <a:chOff x="278678" y="2252936"/>
            <a:chExt cx="915970" cy="398942"/>
          </a:xfrm>
        </p:grpSpPr>
        <p:sp>
          <p:nvSpPr>
            <p:cNvPr id="46" name="矩形标注 45"/>
            <p:cNvSpPr/>
            <p:nvPr/>
          </p:nvSpPr>
          <p:spPr>
            <a:xfrm>
              <a:off x="278678" y="2252936"/>
              <a:ext cx="841247" cy="363770"/>
            </a:xfrm>
            <a:prstGeom prst="wedgeRectCallout">
              <a:avLst>
                <a:gd name="adj1" fmla="val -124748"/>
                <a:gd name="adj2" fmla="val 15599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extBox 46"/>
            <p:cNvSpPr txBox="1"/>
            <p:nvPr/>
          </p:nvSpPr>
          <p:spPr>
            <a:xfrm>
              <a:off x="306431" y="2277891"/>
              <a:ext cx="888217" cy="373987"/>
            </a:xfrm>
            <a:prstGeom prst="rect">
              <a:avLst/>
            </a:prstGeom>
            <a:noFill/>
          </p:spPr>
          <p:txBody>
            <a:bodyPr wrap="square" rtlCol="0">
              <a:spAutoFit/>
            </a:bodyPr>
            <a:lstStyle/>
            <a:p>
              <a:r>
                <a:rPr lang="zh-CN" altLang="en-US" b="1" dirty="0">
                  <a:solidFill>
                    <a:srgbClr val="FF0000"/>
                  </a:solidFill>
                </a:rPr>
                <a:t>线性表（</a:t>
              </a:r>
              <a:r>
                <a:rPr lang="en-US" altLang="zh-CN" b="1" dirty="0">
                  <a:solidFill>
                    <a:srgbClr val="FF0000"/>
                  </a:solidFill>
                </a:rPr>
                <a:t>List</a:t>
              </a:r>
              <a:r>
                <a:rPr lang="zh-CN" altLang="en-US" b="1" dirty="0">
                  <a:solidFill>
                    <a:srgbClr val="FF0000"/>
                  </a:solidFill>
                </a:rPr>
                <a:t>）</a:t>
              </a:r>
            </a:p>
          </p:txBody>
        </p:sp>
      </p:grpSp>
      <p:sp>
        <p:nvSpPr>
          <p:cNvPr id="48" name="Rectangle 7"/>
          <p:cNvSpPr>
            <a:spLocks noChangeArrowheads="1"/>
          </p:cNvSpPr>
          <p:nvPr/>
        </p:nvSpPr>
        <p:spPr bwMode="auto">
          <a:xfrm>
            <a:off x="2235713" y="4430658"/>
            <a:ext cx="666223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indent="266700"/>
            <a:r>
              <a:rPr lang="zh-CN" altLang="en-US" dirty="0">
                <a:latin typeface="黑体" pitchFamily="49" charset="-122"/>
                <a:ea typeface="黑体" pitchFamily="49" charset="-122"/>
              </a:rPr>
              <a:t>  计算机处理的对象之间存在着</a:t>
            </a:r>
            <a:r>
              <a:rPr lang="zh-CN" altLang="en-US" dirty="0">
                <a:solidFill>
                  <a:srgbClr val="FF0000"/>
                </a:solidFill>
                <a:latin typeface="黑体" pitchFamily="49" charset="-122"/>
                <a:ea typeface="黑体" pitchFamily="49" charset="-122"/>
              </a:rPr>
              <a:t>线性关系</a:t>
            </a:r>
            <a:r>
              <a:rPr lang="zh-CN" altLang="en-US" dirty="0">
                <a:latin typeface="黑体" pitchFamily="49" charset="-122"/>
                <a:ea typeface="黑体" pitchFamily="49" charset="-122"/>
              </a:rPr>
              <a:t>，称为线性的数据结构，数据对象之间存在</a:t>
            </a:r>
            <a:r>
              <a:rPr lang="zh-CN" altLang="en-US" dirty="0">
                <a:solidFill>
                  <a:srgbClr val="FF0000"/>
                </a:solidFill>
                <a:latin typeface="黑体" pitchFamily="49" charset="-122"/>
                <a:ea typeface="黑体" pitchFamily="49" charset="-122"/>
              </a:rPr>
              <a:t>一个对一个</a:t>
            </a:r>
            <a:r>
              <a:rPr lang="zh-CN" altLang="en-US" dirty="0">
                <a:latin typeface="黑体" pitchFamily="49" charset="-122"/>
                <a:ea typeface="黑体" pitchFamily="49" charset="-122"/>
              </a:rPr>
              <a:t>的关系。</a:t>
            </a:r>
          </a:p>
        </p:txBody>
      </p:sp>
      <p:sp>
        <p:nvSpPr>
          <p:cNvPr id="49" name="矩形 48"/>
          <p:cNvSpPr/>
          <p:nvPr/>
        </p:nvSpPr>
        <p:spPr>
          <a:xfrm>
            <a:off x="539552" y="3851403"/>
            <a:ext cx="7715153" cy="232916"/>
          </a:xfrm>
          <a:prstGeom prst="rect">
            <a:avLst/>
          </a:prstGeom>
          <a:solidFill>
            <a:srgbClr val="FFC000">
              <a:alpha val="4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4393147" y="2919834"/>
            <a:ext cx="1330982" cy="1405240"/>
          </a:xfrm>
          <a:prstGeom prst="rect">
            <a:avLst/>
          </a:prstGeom>
          <a:solidFill>
            <a:srgbClr val="FFC000">
              <a:alpha val="4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2">
            <a:extLst>
              <a:ext uri="{FF2B5EF4-FFF2-40B4-BE49-F238E27FC236}">
                <a16:creationId xmlns:a16="http://schemas.microsoft.com/office/drawing/2014/main" id="{8822D295-AE11-059E-D500-0295DFE105C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3C318176-94BA-34B7-01D9-55931FC82F45}"/>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305929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5" grpId="0"/>
      <p:bldP spid="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2"/>
          <p:cNvSpPr>
            <a:spLocks noChangeArrowheads="1"/>
          </p:cNvSpPr>
          <p:nvPr/>
        </p:nvSpPr>
        <p:spPr bwMode="auto">
          <a:xfrm>
            <a:off x="1299217" y="1808661"/>
            <a:ext cx="33027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dirty="0">
                <a:latin typeface="仿宋_GB2312" pitchFamily="49" charset="-122"/>
                <a:ea typeface="仿宋_GB2312" pitchFamily="49" charset="-122"/>
              </a:rPr>
              <a:t>Ⅱ</a:t>
            </a:r>
            <a:r>
              <a:rPr lang="en-US" altLang="zh-CN" sz="2400" dirty="0">
                <a:latin typeface="黑体" pitchFamily="49" charset="-122"/>
                <a:ea typeface="黑体" pitchFamily="49" charset="-122"/>
              </a:rPr>
              <a:t> </a:t>
            </a:r>
            <a:r>
              <a:rPr lang="zh-CN" altLang="en-US" sz="2400" dirty="0">
                <a:latin typeface="黑体" pitchFamily="49" charset="-122"/>
                <a:ea typeface="黑体" pitchFamily="49" charset="-122"/>
              </a:rPr>
              <a:t>、非数值计算问题</a:t>
            </a:r>
          </a:p>
        </p:txBody>
      </p:sp>
      <p:cxnSp>
        <p:nvCxnSpPr>
          <p:cNvPr id="13" name="直接连接符 1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61573" y="1430898"/>
            <a:ext cx="3240360" cy="461665"/>
          </a:xfrm>
          <a:prstGeom prst="rect">
            <a:avLst/>
          </a:prstGeom>
          <a:noFill/>
          <a:ln>
            <a:noFill/>
          </a:ln>
        </p:spPr>
        <p:txBody>
          <a:bodyPr wrap="square">
            <a:spAutoFit/>
          </a:bodyPr>
          <a:lstStyle/>
          <a:p>
            <a:r>
              <a:rPr lang="zh-CN" altLang="en-US" sz="2400" dirty="0">
                <a:latin typeface="黑体" pitchFamily="49" charset="-122"/>
                <a:ea typeface="黑体" pitchFamily="49" charset="-122"/>
              </a:rPr>
              <a:t>计算机求解的两类问题</a:t>
            </a:r>
          </a:p>
        </p:txBody>
      </p:sp>
      <p:sp>
        <p:nvSpPr>
          <p:cNvPr id="51" name="矩形 34"/>
          <p:cNvSpPr>
            <a:spLocks noChangeArrowheads="1"/>
          </p:cNvSpPr>
          <p:nvPr/>
        </p:nvSpPr>
        <p:spPr bwMode="auto">
          <a:xfrm>
            <a:off x="1871511" y="2211063"/>
            <a:ext cx="2622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Calibri" pitchFamily="34" charset="0"/>
              </a:rPr>
              <a:t>（</a:t>
            </a:r>
            <a:r>
              <a:rPr lang="en-US" altLang="zh-CN" sz="2000" dirty="0">
                <a:latin typeface="Calibri" pitchFamily="34" charset="0"/>
              </a:rPr>
              <a:t>2</a:t>
            </a:r>
            <a:r>
              <a:rPr lang="zh-CN" altLang="en-US" sz="2000" dirty="0">
                <a:latin typeface="黑体" pitchFamily="49" charset="-122"/>
                <a:ea typeface="黑体" pitchFamily="49" charset="-122"/>
              </a:rPr>
              <a:t>）查找文件的问题</a:t>
            </a:r>
          </a:p>
        </p:txBody>
      </p:sp>
      <p:pic>
        <p:nvPicPr>
          <p:cNvPr id="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960" y="3095739"/>
            <a:ext cx="4587722" cy="1743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 name="矩形标注 52"/>
          <p:cNvSpPr/>
          <p:nvPr/>
        </p:nvSpPr>
        <p:spPr>
          <a:xfrm>
            <a:off x="5982250" y="1635599"/>
            <a:ext cx="1084385" cy="359242"/>
          </a:xfrm>
          <a:prstGeom prst="wedgeRectCallout">
            <a:avLst>
              <a:gd name="adj1" fmla="val -195519"/>
              <a:gd name="adj2" fmla="val 15208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TextBox 53"/>
          <p:cNvSpPr txBox="1"/>
          <p:nvPr/>
        </p:nvSpPr>
        <p:spPr>
          <a:xfrm>
            <a:off x="6018024" y="1660242"/>
            <a:ext cx="1144930" cy="369332"/>
          </a:xfrm>
          <a:prstGeom prst="rect">
            <a:avLst/>
          </a:prstGeom>
          <a:noFill/>
        </p:spPr>
        <p:txBody>
          <a:bodyPr wrap="square" rtlCol="0">
            <a:spAutoFit/>
          </a:bodyPr>
          <a:lstStyle/>
          <a:p>
            <a:r>
              <a:rPr lang="zh-CN" altLang="en-US" b="1" dirty="0">
                <a:solidFill>
                  <a:srgbClr val="FF0000"/>
                </a:solidFill>
              </a:rPr>
              <a:t>树</a:t>
            </a:r>
            <a:r>
              <a:rPr lang="en-US" altLang="zh-CN" b="1" dirty="0">
                <a:solidFill>
                  <a:srgbClr val="FF0000"/>
                </a:solidFill>
              </a:rPr>
              <a:t>(Tree)</a:t>
            </a:r>
            <a:endParaRPr lang="zh-CN" altLang="en-US" b="1" dirty="0">
              <a:solidFill>
                <a:srgbClr val="FF0000"/>
              </a:solidFill>
            </a:endParaRPr>
          </a:p>
        </p:txBody>
      </p:sp>
      <p:grpSp>
        <p:nvGrpSpPr>
          <p:cNvPr id="55" name="Group 9"/>
          <p:cNvGrpSpPr>
            <a:grpSpLocks/>
          </p:cNvGrpSpPr>
          <p:nvPr/>
        </p:nvGrpSpPr>
        <p:grpSpPr bwMode="auto">
          <a:xfrm>
            <a:off x="1153642" y="3446986"/>
            <a:ext cx="2486377" cy="1041379"/>
            <a:chOff x="3198" y="2704"/>
            <a:chExt cx="1451" cy="1180"/>
          </a:xfrm>
        </p:grpSpPr>
        <p:sp>
          <p:nvSpPr>
            <p:cNvPr id="56" name="Oval 10"/>
            <p:cNvSpPr>
              <a:spLocks noChangeArrowheads="1"/>
            </p:cNvSpPr>
            <p:nvPr/>
          </p:nvSpPr>
          <p:spPr bwMode="auto">
            <a:xfrm>
              <a:off x="3923" y="270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Oval 11"/>
            <p:cNvSpPr>
              <a:spLocks noChangeArrowheads="1"/>
            </p:cNvSpPr>
            <p:nvPr/>
          </p:nvSpPr>
          <p:spPr bwMode="auto">
            <a:xfrm>
              <a:off x="3560" y="3022"/>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 name="Oval 12"/>
            <p:cNvSpPr>
              <a:spLocks noChangeArrowheads="1"/>
            </p:cNvSpPr>
            <p:nvPr/>
          </p:nvSpPr>
          <p:spPr bwMode="auto">
            <a:xfrm>
              <a:off x="4332" y="3022"/>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9" name="Oval 13"/>
            <p:cNvSpPr>
              <a:spLocks noChangeArrowheads="1"/>
            </p:cNvSpPr>
            <p:nvPr/>
          </p:nvSpPr>
          <p:spPr bwMode="auto">
            <a:xfrm>
              <a:off x="3198" y="338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 name="Oval 14"/>
            <p:cNvSpPr>
              <a:spLocks noChangeArrowheads="1"/>
            </p:cNvSpPr>
            <p:nvPr/>
          </p:nvSpPr>
          <p:spPr bwMode="auto">
            <a:xfrm>
              <a:off x="3560" y="338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61" name="Oval 15"/>
            <p:cNvSpPr>
              <a:spLocks noChangeArrowheads="1"/>
            </p:cNvSpPr>
            <p:nvPr/>
          </p:nvSpPr>
          <p:spPr bwMode="auto">
            <a:xfrm>
              <a:off x="4241" y="338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2" name="Oval 16"/>
            <p:cNvSpPr>
              <a:spLocks noChangeArrowheads="1"/>
            </p:cNvSpPr>
            <p:nvPr/>
          </p:nvSpPr>
          <p:spPr bwMode="auto">
            <a:xfrm>
              <a:off x="4513" y="3339"/>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3" name="Oval 17"/>
            <p:cNvSpPr>
              <a:spLocks noChangeArrowheads="1"/>
            </p:cNvSpPr>
            <p:nvPr/>
          </p:nvSpPr>
          <p:spPr bwMode="auto">
            <a:xfrm>
              <a:off x="3560" y="3748"/>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64" name="Oval 18"/>
            <p:cNvSpPr>
              <a:spLocks noChangeArrowheads="1"/>
            </p:cNvSpPr>
            <p:nvPr/>
          </p:nvSpPr>
          <p:spPr bwMode="auto">
            <a:xfrm>
              <a:off x="3878" y="338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65" name="Line 19"/>
            <p:cNvSpPr>
              <a:spLocks noChangeShapeType="1"/>
            </p:cNvSpPr>
            <p:nvPr/>
          </p:nvSpPr>
          <p:spPr bwMode="auto">
            <a:xfrm>
              <a:off x="4059" y="2795"/>
              <a:ext cx="318"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20"/>
            <p:cNvSpPr>
              <a:spLocks noChangeShapeType="1"/>
            </p:cNvSpPr>
            <p:nvPr/>
          </p:nvSpPr>
          <p:spPr bwMode="auto">
            <a:xfrm flipV="1">
              <a:off x="4286" y="3158"/>
              <a:ext cx="91"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21"/>
            <p:cNvSpPr>
              <a:spLocks noChangeShapeType="1"/>
            </p:cNvSpPr>
            <p:nvPr/>
          </p:nvSpPr>
          <p:spPr bwMode="auto">
            <a:xfrm>
              <a:off x="4422" y="3158"/>
              <a:ext cx="182"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22"/>
            <p:cNvSpPr>
              <a:spLocks noChangeShapeType="1"/>
            </p:cNvSpPr>
            <p:nvPr/>
          </p:nvSpPr>
          <p:spPr bwMode="auto">
            <a:xfrm>
              <a:off x="3696" y="3113"/>
              <a:ext cx="273"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23"/>
            <p:cNvSpPr>
              <a:spLocks noChangeShapeType="1"/>
            </p:cNvSpPr>
            <p:nvPr/>
          </p:nvSpPr>
          <p:spPr bwMode="auto">
            <a:xfrm>
              <a:off x="3651" y="3521"/>
              <a:ext cx="0"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24"/>
            <p:cNvSpPr>
              <a:spLocks noChangeShapeType="1"/>
            </p:cNvSpPr>
            <p:nvPr/>
          </p:nvSpPr>
          <p:spPr bwMode="auto">
            <a:xfrm flipV="1">
              <a:off x="3243" y="3113"/>
              <a:ext cx="318"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25"/>
            <p:cNvSpPr>
              <a:spLocks noChangeShapeType="1"/>
            </p:cNvSpPr>
            <p:nvPr/>
          </p:nvSpPr>
          <p:spPr bwMode="auto">
            <a:xfrm flipH="1">
              <a:off x="3606" y="3158"/>
              <a:ext cx="45"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26"/>
            <p:cNvSpPr>
              <a:spLocks noChangeShapeType="1"/>
            </p:cNvSpPr>
            <p:nvPr/>
          </p:nvSpPr>
          <p:spPr bwMode="auto">
            <a:xfrm flipH="1">
              <a:off x="3651" y="2795"/>
              <a:ext cx="273"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 name="矩形 1"/>
          <p:cNvSpPr>
            <a:spLocks noChangeArrowheads="1"/>
          </p:cNvSpPr>
          <p:nvPr/>
        </p:nvSpPr>
        <p:spPr bwMode="auto">
          <a:xfrm>
            <a:off x="986211" y="2556169"/>
            <a:ext cx="728571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dirty="0">
                <a:latin typeface="黑体" pitchFamily="49" charset="-122"/>
                <a:ea typeface="黑体" pitchFamily="49" charset="-122"/>
              </a:rPr>
              <a:t>    计算机处理的对象之间存在着</a:t>
            </a:r>
            <a:r>
              <a:rPr lang="zh-CN" altLang="en-US" sz="2000" dirty="0">
                <a:solidFill>
                  <a:srgbClr val="FF0000"/>
                </a:solidFill>
                <a:latin typeface="黑体" pitchFamily="49" charset="-122"/>
                <a:ea typeface="黑体" pitchFamily="49" charset="-122"/>
              </a:rPr>
              <a:t>树形关系</a:t>
            </a:r>
            <a:r>
              <a:rPr lang="zh-CN" altLang="en-US" sz="2000" dirty="0">
                <a:latin typeface="黑体" pitchFamily="49" charset="-122"/>
                <a:ea typeface="黑体" pitchFamily="49" charset="-122"/>
              </a:rPr>
              <a:t>，称为树形的数据结构，数据对象之间存在</a:t>
            </a:r>
            <a:r>
              <a:rPr lang="zh-CN" altLang="en-US" sz="2000" dirty="0">
                <a:solidFill>
                  <a:srgbClr val="FF0000"/>
                </a:solidFill>
                <a:latin typeface="黑体" pitchFamily="49" charset="-122"/>
                <a:ea typeface="黑体" pitchFamily="49" charset="-122"/>
              </a:rPr>
              <a:t>一个对多个</a:t>
            </a:r>
            <a:r>
              <a:rPr lang="zh-CN" altLang="en-US" sz="2000" dirty="0">
                <a:latin typeface="黑体" pitchFamily="49" charset="-122"/>
                <a:ea typeface="黑体" pitchFamily="49" charset="-122"/>
              </a:rPr>
              <a:t>的关系。</a:t>
            </a:r>
          </a:p>
        </p:txBody>
      </p:sp>
      <p:sp>
        <p:nvSpPr>
          <p:cNvPr id="2" name="Rectangle 2">
            <a:extLst>
              <a:ext uri="{FF2B5EF4-FFF2-40B4-BE49-F238E27FC236}">
                <a16:creationId xmlns:a16="http://schemas.microsoft.com/office/drawing/2014/main" id="{DAF9CDB9-359F-B2B8-ADCC-6F19F0FD36B5}"/>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EAC0F446-1AAA-189F-7CA3-74503428EADA}"/>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36733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3" grpId="0" animBg="1"/>
      <p:bldP spid="54" grpId="0"/>
      <p:bldP spid="7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2"/>
          <p:cNvSpPr>
            <a:spLocks noChangeArrowheads="1"/>
          </p:cNvSpPr>
          <p:nvPr/>
        </p:nvSpPr>
        <p:spPr bwMode="auto">
          <a:xfrm>
            <a:off x="1299217" y="1808661"/>
            <a:ext cx="33027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dirty="0">
                <a:latin typeface="仿宋_GB2312" pitchFamily="49" charset="-122"/>
                <a:ea typeface="仿宋_GB2312" pitchFamily="49" charset="-122"/>
              </a:rPr>
              <a:t>Ⅱ</a:t>
            </a:r>
            <a:r>
              <a:rPr lang="en-US" altLang="zh-CN" sz="2400" dirty="0">
                <a:latin typeface="黑体" pitchFamily="49" charset="-122"/>
                <a:ea typeface="黑体" pitchFamily="49" charset="-122"/>
              </a:rPr>
              <a:t> </a:t>
            </a:r>
            <a:r>
              <a:rPr lang="zh-CN" altLang="en-US" sz="2400" dirty="0">
                <a:latin typeface="黑体" pitchFamily="49" charset="-122"/>
                <a:ea typeface="黑体" pitchFamily="49" charset="-122"/>
              </a:rPr>
              <a:t>、非数值计算问题</a:t>
            </a:r>
          </a:p>
        </p:txBody>
      </p:sp>
      <p:cxnSp>
        <p:nvCxnSpPr>
          <p:cNvPr id="13" name="直接连接符 1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61573" y="1430898"/>
            <a:ext cx="3240360" cy="461665"/>
          </a:xfrm>
          <a:prstGeom prst="rect">
            <a:avLst/>
          </a:prstGeom>
          <a:noFill/>
          <a:ln>
            <a:noFill/>
          </a:ln>
        </p:spPr>
        <p:txBody>
          <a:bodyPr wrap="square">
            <a:spAutoFit/>
          </a:bodyPr>
          <a:lstStyle/>
          <a:p>
            <a:r>
              <a:rPr lang="zh-CN" altLang="en-US" sz="2400" dirty="0">
                <a:latin typeface="黑体" pitchFamily="49" charset="-122"/>
                <a:ea typeface="黑体" pitchFamily="49" charset="-122"/>
              </a:rPr>
              <a:t>计算机求解的两类问题</a:t>
            </a:r>
          </a:p>
        </p:txBody>
      </p:sp>
      <p:sp>
        <p:nvSpPr>
          <p:cNvPr id="30" name="矩形 34"/>
          <p:cNvSpPr>
            <a:spLocks noChangeArrowheads="1"/>
          </p:cNvSpPr>
          <p:nvPr/>
        </p:nvSpPr>
        <p:spPr bwMode="auto">
          <a:xfrm>
            <a:off x="1748202" y="2228952"/>
            <a:ext cx="28793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latin typeface="Calibri" pitchFamily="34" charset="0"/>
              </a:rPr>
              <a:t>（</a:t>
            </a:r>
            <a:r>
              <a:rPr lang="en-US" altLang="zh-CN" sz="2000" dirty="0">
                <a:latin typeface="Calibri" pitchFamily="34" charset="0"/>
              </a:rPr>
              <a:t>3</a:t>
            </a:r>
            <a:r>
              <a:rPr lang="zh-CN" altLang="en-US" sz="2000" dirty="0">
                <a:latin typeface="黑体" pitchFamily="49" charset="-122"/>
                <a:ea typeface="黑体" pitchFamily="49" charset="-122"/>
              </a:rPr>
              <a:t>）求</a:t>
            </a:r>
            <a:r>
              <a:rPr lang="zh-CN" altLang="zh-CN" sz="2000" dirty="0">
                <a:latin typeface="黑体" pitchFamily="49" charset="-122"/>
                <a:ea typeface="黑体" pitchFamily="49" charset="-122"/>
              </a:rPr>
              <a:t>最短路径</a:t>
            </a:r>
            <a:r>
              <a:rPr lang="zh-CN" altLang="en-US" sz="2000" dirty="0">
                <a:latin typeface="黑体" pitchFamily="49" charset="-122"/>
                <a:ea typeface="黑体" pitchFamily="49" charset="-122"/>
              </a:rPr>
              <a:t>的问题</a:t>
            </a:r>
          </a:p>
        </p:txBody>
      </p:sp>
      <p:pic>
        <p:nvPicPr>
          <p:cNvPr id="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242142"/>
            <a:ext cx="3456384" cy="1683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矩形标注 31"/>
          <p:cNvSpPr/>
          <p:nvPr/>
        </p:nvSpPr>
        <p:spPr>
          <a:xfrm>
            <a:off x="5736949" y="1553599"/>
            <a:ext cx="1286222" cy="359242"/>
          </a:xfrm>
          <a:prstGeom prst="wedgeRectCallout">
            <a:avLst>
              <a:gd name="adj1" fmla="val -142643"/>
              <a:gd name="adj2" fmla="val 18108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32"/>
          <p:cNvSpPr txBox="1"/>
          <p:nvPr/>
        </p:nvSpPr>
        <p:spPr>
          <a:xfrm>
            <a:off x="5779382" y="1578243"/>
            <a:ext cx="1358037" cy="369332"/>
          </a:xfrm>
          <a:prstGeom prst="rect">
            <a:avLst/>
          </a:prstGeom>
          <a:noFill/>
        </p:spPr>
        <p:txBody>
          <a:bodyPr wrap="square" rtlCol="0">
            <a:spAutoFit/>
          </a:bodyPr>
          <a:lstStyle/>
          <a:p>
            <a:r>
              <a:rPr lang="zh-CN" altLang="en-US" b="1" dirty="0">
                <a:solidFill>
                  <a:srgbClr val="FF0000"/>
                </a:solidFill>
              </a:rPr>
              <a:t>图</a:t>
            </a:r>
            <a:r>
              <a:rPr lang="en-US" altLang="zh-CN" b="1" dirty="0">
                <a:solidFill>
                  <a:srgbClr val="FF0000"/>
                </a:solidFill>
              </a:rPr>
              <a:t>(</a:t>
            </a:r>
            <a:r>
              <a:rPr lang="en-US" altLang="zh-CN" b="1" dirty="0" err="1">
                <a:solidFill>
                  <a:srgbClr val="FF0000"/>
                </a:solidFill>
              </a:rPr>
              <a:t>Gragh</a:t>
            </a:r>
            <a:r>
              <a:rPr lang="en-US" altLang="zh-CN" b="1" dirty="0">
                <a:solidFill>
                  <a:srgbClr val="FF0000"/>
                </a:solidFill>
              </a:rPr>
              <a:t>)</a:t>
            </a:r>
            <a:endParaRPr lang="zh-CN" altLang="en-US" b="1" dirty="0">
              <a:solidFill>
                <a:srgbClr val="FF0000"/>
              </a:solidFill>
            </a:endParaRPr>
          </a:p>
        </p:txBody>
      </p:sp>
      <p:sp>
        <p:nvSpPr>
          <p:cNvPr id="34" name="矩形 33"/>
          <p:cNvSpPr/>
          <p:nvPr/>
        </p:nvSpPr>
        <p:spPr>
          <a:xfrm>
            <a:off x="869566" y="2642317"/>
            <a:ext cx="7747703" cy="646331"/>
          </a:xfrm>
          <a:prstGeom prst="rect">
            <a:avLst/>
          </a:prstGeom>
        </p:spPr>
        <p:txBody>
          <a:bodyPr wrap="square">
            <a:spAutoFit/>
          </a:bodyPr>
          <a:lstStyle/>
          <a:p>
            <a:r>
              <a:rPr lang="zh-CN" altLang="en-US" dirty="0">
                <a:latin typeface="黑体" pitchFamily="49" charset="-122"/>
                <a:ea typeface="黑体" pitchFamily="49" charset="-122"/>
              </a:rPr>
              <a:t>    计算机处理的对象是一个图，计算机处理的对象之间存在着</a:t>
            </a:r>
            <a:r>
              <a:rPr lang="zh-CN" altLang="en-US" dirty="0">
                <a:solidFill>
                  <a:srgbClr val="FF0000"/>
                </a:solidFill>
                <a:latin typeface="黑体" pitchFamily="49" charset="-122"/>
                <a:ea typeface="黑体" pitchFamily="49" charset="-122"/>
              </a:rPr>
              <a:t>图形关系</a:t>
            </a:r>
            <a:r>
              <a:rPr lang="zh-CN" altLang="en-US" dirty="0">
                <a:latin typeface="黑体" pitchFamily="49" charset="-122"/>
                <a:ea typeface="黑体" pitchFamily="49" charset="-122"/>
              </a:rPr>
              <a:t>，称为图形的数据结构，数据对象之间存在</a:t>
            </a:r>
            <a:r>
              <a:rPr lang="zh-CN" altLang="en-US" dirty="0">
                <a:solidFill>
                  <a:srgbClr val="FF0000"/>
                </a:solidFill>
                <a:latin typeface="黑体" pitchFamily="49" charset="-122"/>
                <a:ea typeface="黑体" pitchFamily="49" charset="-122"/>
              </a:rPr>
              <a:t>多个对多个</a:t>
            </a:r>
            <a:r>
              <a:rPr lang="zh-CN" altLang="en-US" dirty="0">
                <a:latin typeface="黑体" pitchFamily="49" charset="-122"/>
                <a:ea typeface="黑体" pitchFamily="49" charset="-122"/>
              </a:rPr>
              <a:t>的关系。</a:t>
            </a:r>
          </a:p>
        </p:txBody>
      </p:sp>
      <p:grpSp>
        <p:nvGrpSpPr>
          <p:cNvPr id="35" name="Group 9"/>
          <p:cNvGrpSpPr>
            <a:grpSpLocks/>
          </p:cNvGrpSpPr>
          <p:nvPr/>
        </p:nvGrpSpPr>
        <p:grpSpPr bwMode="auto">
          <a:xfrm>
            <a:off x="1346143" y="3411657"/>
            <a:ext cx="2462614" cy="1141924"/>
            <a:chOff x="385" y="2704"/>
            <a:chExt cx="1542" cy="953"/>
          </a:xfrm>
        </p:grpSpPr>
        <p:sp>
          <p:nvSpPr>
            <p:cNvPr id="36" name="Oval 10"/>
            <p:cNvSpPr>
              <a:spLocks noChangeArrowheads="1"/>
            </p:cNvSpPr>
            <p:nvPr/>
          </p:nvSpPr>
          <p:spPr bwMode="auto">
            <a:xfrm>
              <a:off x="431" y="279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 name="Oval 11"/>
            <p:cNvSpPr>
              <a:spLocks noChangeArrowheads="1"/>
            </p:cNvSpPr>
            <p:nvPr/>
          </p:nvSpPr>
          <p:spPr bwMode="auto">
            <a:xfrm>
              <a:off x="1292" y="279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 name="Oval 12"/>
            <p:cNvSpPr>
              <a:spLocks noChangeArrowheads="1"/>
            </p:cNvSpPr>
            <p:nvPr/>
          </p:nvSpPr>
          <p:spPr bwMode="auto">
            <a:xfrm>
              <a:off x="385" y="329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 name="Oval 13"/>
            <p:cNvSpPr>
              <a:spLocks noChangeArrowheads="1"/>
            </p:cNvSpPr>
            <p:nvPr/>
          </p:nvSpPr>
          <p:spPr bwMode="auto">
            <a:xfrm>
              <a:off x="884" y="297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 name="Oval 14"/>
            <p:cNvSpPr>
              <a:spLocks noChangeArrowheads="1"/>
            </p:cNvSpPr>
            <p:nvPr/>
          </p:nvSpPr>
          <p:spPr bwMode="auto">
            <a:xfrm>
              <a:off x="1474" y="3249"/>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 name="Oval 15"/>
            <p:cNvSpPr>
              <a:spLocks noChangeArrowheads="1"/>
            </p:cNvSpPr>
            <p:nvPr/>
          </p:nvSpPr>
          <p:spPr bwMode="auto">
            <a:xfrm>
              <a:off x="839" y="3521"/>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2" name="Oval 16"/>
            <p:cNvSpPr>
              <a:spLocks noChangeArrowheads="1"/>
            </p:cNvSpPr>
            <p:nvPr/>
          </p:nvSpPr>
          <p:spPr bwMode="auto">
            <a:xfrm>
              <a:off x="1791" y="270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 name="Line 17"/>
            <p:cNvSpPr>
              <a:spLocks noChangeShapeType="1"/>
            </p:cNvSpPr>
            <p:nvPr/>
          </p:nvSpPr>
          <p:spPr bwMode="auto">
            <a:xfrm>
              <a:off x="567" y="2886"/>
              <a:ext cx="317"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18"/>
            <p:cNvSpPr>
              <a:spLocks noChangeShapeType="1"/>
            </p:cNvSpPr>
            <p:nvPr/>
          </p:nvSpPr>
          <p:spPr bwMode="auto">
            <a:xfrm flipV="1">
              <a:off x="975" y="3339"/>
              <a:ext cx="499"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19"/>
            <p:cNvSpPr>
              <a:spLocks noChangeShapeType="1"/>
            </p:cNvSpPr>
            <p:nvPr/>
          </p:nvSpPr>
          <p:spPr bwMode="auto">
            <a:xfrm>
              <a:off x="521" y="2931"/>
              <a:ext cx="409" cy="59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20"/>
            <p:cNvSpPr>
              <a:spLocks noChangeShapeType="1"/>
            </p:cNvSpPr>
            <p:nvPr/>
          </p:nvSpPr>
          <p:spPr bwMode="auto">
            <a:xfrm flipH="1">
              <a:off x="476" y="2931"/>
              <a:ext cx="0" cy="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21"/>
            <p:cNvSpPr>
              <a:spLocks noChangeShapeType="1"/>
            </p:cNvSpPr>
            <p:nvPr/>
          </p:nvSpPr>
          <p:spPr bwMode="auto">
            <a:xfrm>
              <a:off x="521" y="3385"/>
              <a:ext cx="318"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22"/>
            <p:cNvSpPr>
              <a:spLocks noChangeShapeType="1"/>
            </p:cNvSpPr>
            <p:nvPr/>
          </p:nvSpPr>
          <p:spPr bwMode="auto">
            <a:xfrm flipV="1">
              <a:off x="1429" y="2795"/>
              <a:ext cx="362"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23"/>
            <p:cNvSpPr>
              <a:spLocks noChangeShapeType="1"/>
            </p:cNvSpPr>
            <p:nvPr/>
          </p:nvSpPr>
          <p:spPr bwMode="auto">
            <a:xfrm>
              <a:off x="1429" y="2886"/>
              <a:ext cx="90" cy="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24"/>
            <p:cNvSpPr>
              <a:spLocks noChangeShapeType="1"/>
            </p:cNvSpPr>
            <p:nvPr/>
          </p:nvSpPr>
          <p:spPr bwMode="auto">
            <a:xfrm>
              <a:off x="1020" y="3067"/>
              <a:ext cx="454"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25"/>
            <p:cNvSpPr>
              <a:spLocks noChangeShapeType="1"/>
            </p:cNvSpPr>
            <p:nvPr/>
          </p:nvSpPr>
          <p:spPr bwMode="auto">
            <a:xfrm flipV="1">
              <a:off x="1020" y="2886"/>
              <a:ext cx="272"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26"/>
            <p:cNvSpPr>
              <a:spLocks noChangeShapeType="1"/>
            </p:cNvSpPr>
            <p:nvPr/>
          </p:nvSpPr>
          <p:spPr bwMode="auto">
            <a:xfrm flipV="1">
              <a:off x="1610" y="2840"/>
              <a:ext cx="227" cy="4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Rectangle 2">
            <a:extLst>
              <a:ext uri="{FF2B5EF4-FFF2-40B4-BE49-F238E27FC236}">
                <a16:creationId xmlns:a16="http://schemas.microsoft.com/office/drawing/2014/main" id="{50189777-91D8-B2DB-6677-B7478C4FCB6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40E4659E-88C3-8A27-3280-EE9C2B917315}"/>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93718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animBg="1"/>
      <p:bldP spid="33" grpId="0"/>
      <p:bldP spid="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2"/>
          <p:cNvSpPr>
            <a:spLocks noChangeArrowheads="1"/>
          </p:cNvSpPr>
          <p:nvPr/>
        </p:nvSpPr>
        <p:spPr bwMode="auto">
          <a:xfrm>
            <a:off x="1299217" y="1808661"/>
            <a:ext cx="33027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dirty="0">
                <a:latin typeface="仿宋_GB2312" pitchFamily="49" charset="-122"/>
                <a:ea typeface="仿宋_GB2312" pitchFamily="49" charset="-122"/>
              </a:rPr>
              <a:t>Ⅱ</a:t>
            </a:r>
            <a:r>
              <a:rPr lang="en-US" altLang="zh-CN" sz="2400" dirty="0">
                <a:latin typeface="黑体" pitchFamily="49" charset="-122"/>
                <a:ea typeface="黑体" pitchFamily="49" charset="-122"/>
              </a:rPr>
              <a:t> </a:t>
            </a:r>
            <a:r>
              <a:rPr lang="zh-CN" altLang="en-US" sz="2400" dirty="0">
                <a:latin typeface="黑体" pitchFamily="49" charset="-122"/>
                <a:ea typeface="黑体" pitchFamily="49" charset="-122"/>
              </a:rPr>
              <a:t>、非数值计算问题</a:t>
            </a:r>
          </a:p>
        </p:txBody>
      </p:sp>
      <p:cxnSp>
        <p:nvCxnSpPr>
          <p:cNvPr id="13" name="直接连接符 1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361573" y="1430898"/>
            <a:ext cx="3240360" cy="461665"/>
          </a:xfrm>
          <a:prstGeom prst="rect">
            <a:avLst/>
          </a:prstGeom>
          <a:noFill/>
          <a:ln>
            <a:noFill/>
          </a:ln>
        </p:spPr>
        <p:txBody>
          <a:bodyPr wrap="square">
            <a:spAutoFit/>
          </a:bodyPr>
          <a:lstStyle/>
          <a:p>
            <a:r>
              <a:rPr lang="zh-CN" altLang="en-US" sz="2400" dirty="0">
                <a:latin typeface="黑体" pitchFamily="49" charset="-122"/>
                <a:ea typeface="黑体" pitchFamily="49" charset="-122"/>
              </a:rPr>
              <a:t>计算机求解的两类问题</a:t>
            </a:r>
          </a:p>
        </p:txBody>
      </p:sp>
      <p:sp>
        <p:nvSpPr>
          <p:cNvPr id="51" name="矩形 22"/>
          <p:cNvSpPr>
            <a:spLocks noChangeArrowheads="1"/>
          </p:cNvSpPr>
          <p:nvPr/>
        </p:nvSpPr>
        <p:spPr bwMode="auto">
          <a:xfrm>
            <a:off x="863587" y="2247714"/>
            <a:ext cx="75248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dirty="0">
                <a:latin typeface="黑体" pitchFamily="49" charset="-122"/>
                <a:ea typeface="黑体" pitchFamily="49" charset="-122"/>
              </a:rPr>
              <a:t>    描述非数值计算问题的数学模型，不再是数学方程，而是诸如表、树和图之类的数据结构。</a:t>
            </a:r>
          </a:p>
        </p:txBody>
      </p:sp>
      <p:sp>
        <p:nvSpPr>
          <p:cNvPr id="52" name="矩形 51"/>
          <p:cNvSpPr/>
          <p:nvPr/>
        </p:nvSpPr>
        <p:spPr>
          <a:xfrm>
            <a:off x="863587" y="3111810"/>
            <a:ext cx="7416824" cy="1569660"/>
          </a:xfrm>
          <a:prstGeom prst="rect">
            <a:avLst/>
          </a:prstGeom>
          <a:noFill/>
          <a:ln>
            <a:noFill/>
          </a:ln>
        </p:spPr>
        <p:txBody>
          <a:bodyPr wrap="square">
            <a:spAutoFit/>
          </a:bodyPr>
          <a:lstStyle/>
          <a:p>
            <a:r>
              <a:rPr lang="en-US" altLang="zh-CN" sz="2400" dirty="0">
                <a:latin typeface="黑体" pitchFamily="49" charset="-122"/>
                <a:ea typeface="黑体" pitchFamily="49" charset="-122"/>
              </a:rPr>
              <a:t>    </a:t>
            </a:r>
            <a:r>
              <a:rPr lang="zh-CN" altLang="zh-CN" sz="2400" dirty="0">
                <a:latin typeface="黑体" pitchFamily="49" charset="-122"/>
                <a:ea typeface="黑体" pitchFamily="49" charset="-122"/>
              </a:rPr>
              <a:t>数据结构就是研究</a:t>
            </a:r>
            <a:r>
              <a:rPr lang="zh-CN" altLang="zh-CN" sz="2400" u="sng" dirty="0">
                <a:solidFill>
                  <a:srgbClr val="FF0000"/>
                </a:solidFill>
                <a:latin typeface="黑体" pitchFamily="49" charset="-122"/>
                <a:ea typeface="黑体" pitchFamily="49" charset="-122"/>
              </a:rPr>
              <a:t>非数值计算</a:t>
            </a:r>
            <a:r>
              <a:rPr lang="zh-CN" altLang="zh-CN" sz="2400" dirty="0">
                <a:latin typeface="黑体" pitchFamily="49" charset="-122"/>
                <a:ea typeface="黑体" pitchFamily="49" charset="-122"/>
              </a:rPr>
              <a:t>问题中的</a:t>
            </a:r>
            <a:r>
              <a:rPr lang="zh-CN" altLang="zh-CN" sz="2400" dirty="0">
                <a:solidFill>
                  <a:srgbClr val="FF0000"/>
                </a:solidFill>
                <a:latin typeface="黑体" pitchFamily="49" charset="-122"/>
                <a:ea typeface="黑体" pitchFamily="49" charset="-122"/>
              </a:rPr>
              <a:t>数据</a:t>
            </a:r>
            <a:r>
              <a:rPr lang="zh-CN" altLang="zh-CN" sz="2400" dirty="0">
                <a:latin typeface="黑体" pitchFamily="49" charset="-122"/>
                <a:ea typeface="黑体" pitchFamily="49" charset="-122"/>
              </a:rPr>
              <a:t>以及它们之间的</a:t>
            </a:r>
            <a:r>
              <a:rPr lang="zh-CN" altLang="zh-CN" sz="2400" dirty="0">
                <a:solidFill>
                  <a:srgbClr val="FF0000"/>
                </a:solidFill>
                <a:latin typeface="黑体" pitchFamily="49" charset="-122"/>
                <a:ea typeface="黑体" pitchFamily="49" charset="-122"/>
              </a:rPr>
              <a:t>关系</a:t>
            </a:r>
            <a:r>
              <a:rPr lang="zh-CN" altLang="zh-CN" sz="2400" dirty="0">
                <a:latin typeface="黑体" pitchFamily="49" charset="-122"/>
                <a:ea typeface="黑体" pitchFamily="49" charset="-122"/>
              </a:rPr>
              <a:t>和</a:t>
            </a:r>
            <a:r>
              <a:rPr lang="zh-CN" altLang="zh-CN" sz="2400" dirty="0">
                <a:solidFill>
                  <a:srgbClr val="FF0000"/>
                </a:solidFill>
                <a:latin typeface="黑体" pitchFamily="49" charset="-122"/>
                <a:ea typeface="黑体" pitchFamily="49" charset="-122"/>
              </a:rPr>
              <a:t>操作</a:t>
            </a:r>
            <a:r>
              <a:rPr lang="zh-CN" altLang="zh-CN" sz="2400" dirty="0">
                <a:latin typeface="黑体" pitchFamily="49" charset="-122"/>
                <a:ea typeface="黑体" pitchFamily="49" charset="-122"/>
              </a:rPr>
              <a:t>算法的学科，具体主要包含</a:t>
            </a:r>
            <a:r>
              <a:rPr lang="en-US" altLang="zh-CN" sz="2400" dirty="0">
                <a:latin typeface="黑体" pitchFamily="49" charset="-122"/>
                <a:ea typeface="黑体" pitchFamily="49" charset="-122"/>
              </a:rPr>
              <a:t>3</a:t>
            </a:r>
            <a:r>
              <a:rPr lang="zh-CN" altLang="zh-CN" sz="2400" dirty="0">
                <a:latin typeface="黑体" pitchFamily="49" charset="-122"/>
                <a:ea typeface="黑体" pitchFamily="49" charset="-122"/>
              </a:rPr>
              <a:t>个方面的内容：数据的</a:t>
            </a:r>
            <a:r>
              <a:rPr lang="zh-CN" altLang="zh-CN" sz="2400" dirty="0">
                <a:solidFill>
                  <a:srgbClr val="FF0000"/>
                </a:solidFill>
                <a:latin typeface="黑体" pitchFamily="49" charset="-122"/>
                <a:ea typeface="黑体" pitchFamily="49" charset="-122"/>
              </a:rPr>
              <a:t>逻辑结构</a:t>
            </a:r>
            <a:r>
              <a:rPr lang="zh-CN" altLang="zh-CN" sz="2400" dirty="0">
                <a:latin typeface="黑体" pitchFamily="49" charset="-122"/>
                <a:ea typeface="黑体" pitchFamily="49" charset="-122"/>
              </a:rPr>
              <a:t>、数据的</a:t>
            </a:r>
            <a:r>
              <a:rPr lang="zh-CN" altLang="zh-CN" sz="2400" dirty="0">
                <a:solidFill>
                  <a:srgbClr val="FF0000"/>
                </a:solidFill>
                <a:latin typeface="黑体" pitchFamily="49" charset="-122"/>
                <a:ea typeface="黑体" pitchFamily="49" charset="-122"/>
              </a:rPr>
              <a:t>存储结构</a:t>
            </a:r>
            <a:r>
              <a:rPr lang="zh-CN" altLang="zh-CN" sz="2400" dirty="0">
                <a:latin typeface="黑体" pitchFamily="49" charset="-122"/>
                <a:ea typeface="黑体" pitchFamily="49" charset="-122"/>
              </a:rPr>
              <a:t>（物理结构）和数据的操作</a:t>
            </a:r>
            <a:r>
              <a:rPr lang="zh-CN" altLang="zh-CN" sz="2400" dirty="0">
                <a:solidFill>
                  <a:srgbClr val="FF0000"/>
                </a:solidFill>
                <a:latin typeface="黑体" pitchFamily="49" charset="-122"/>
                <a:ea typeface="黑体" pitchFamily="49" charset="-122"/>
              </a:rPr>
              <a:t>算法</a:t>
            </a:r>
            <a:r>
              <a:rPr lang="zh-CN" altLang="en-US" sz="2400" dirty="0">
                <a:latin typeface="黑体" pitchFamily="49" charset="-122"/>
                <a:ea typeface="黑体" pitchFamily="49" charset="-122"/>
              </a:rPr>
              <a:t>。</a:t>
            </a:r>
          </a:p>
        </p:txBody>
      </p:sp>
      <p:sp>
        <p:nvSpPr>
          <p:cNvPr id="2" name="Rectangle 2">
            <a:extLst>
              <a:ext uri="{FF2B5EF4-FFF2-40B4-BE49-F238E27FC236}">
                <a16:creationId xmlns:a16="http://schemas.microsoft.com/office/drawing/2014/main" id="{392C1ECB-0CE4-22D3-E41D-9C3733B197D5}"/>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358FBD1B-B2B5-FEAD-2C94-889FF63A7C55}"/>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2152219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接连接符 12"/>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395537" y="1491630"/>
            <a:ext cx="8352926" cy="1569660"/>
          </a:xfrm>
          <a:prstGeom prst="rect">
            <a:avLst/>
          </a:prstGeom>
          <a:noFill/>
          <a:ln>
            <a:noFill/>
          </a:ln>
        </p:spPr>
        <p:txBody>
          <a:bodyPr wrap="square">
            <a:spAutoFit/>
          </a:bodyPr>
          <a:lstStyle/>
          <a:p>
            <a:r>
              <a:rPr lang="en-US" altLang="zh-CN" sz="2400" dirty="0">
                <a:latin typeface="黑体" pitchFamily="49" charset="-122"/>
                <a:ea typeface="黑体" pitchFamily="49" charset="-122"/>
              </a:rPr>
              <a:t>    </a:t>
            </a:r>
            <a:r>
              <a:rPr lang="zh-CN" altLang="zh-CN" sz="2400" dirty="0">
                <a:latin typeface="黑体" pitchFamily="49" charset="-122"/>
                <a:ea typeface="黑体" pitchFamily="49" charset="-122"/>
              </a:rPr>
              <a:t>数据结构就是研究</a:t>
            </a:r>
            <a:r>
              <a:rPr lang="zh-CN" altLang="zh-CN" sz="2400" u="sng" dirty="0">
                <a:solidFill>
                  <a:srgbClr val="FF0000"/>
                </a:solidFill>
                <a:latin typeface="黑体" pitchFamily="49" charset="-122"/>
                <a:ea typeface="黑体" pitchFamily="49" charset="-122"/>
              </a:rPr>
              <a:t>非数值计算</a:t>
            </a:r>
            <a:r>
              <a:rPr lang="zh-CN" altLang="zh-CN" sz="2400" dirty="0">
                <a:latin typeface="黑体" pitchFamily="49" charset="-122"/>
                <a:ea typeface="黑体" pitchFamily="49" charset="-122"/>
              </a:rPr>
              <a:t>问题中的</a:t>
            </a:r>
            <a:r>
              <a:rPr lang="zh-CN" altLang="zh-CN" sz="2400" dirty="0">
                <a:solidFill>
                  <a:srgbClr val="FF0000"/>
                </a:solidFill>
                <a:latin typeface="黑体" pitchFamily="49" charset="-122"/>
                <a:ea typeface="黑体" pitchFamily="49" charset="-122"/>
              </a:rPr>
              <a:t>数据</a:t>
            </a:r>
            <a:r>
              <a:rPr lang="zh-CN" altLang="zh-CN" sz="2400" dirty="0">
                <a:latin typeface="黑体" pitchFamily="49" charset="-122"/>
                <a:ea typeface="黑体" pitchFamily="49" charset="-122"/>
              </a:rPr>
              <a:t>以及它们之间的</a:t>
            </a:r>
            <a:r>
              <a:rPr lang="zh-CN" altLang="zh-CN" sz="2400" dirty="0">
                <a:solidFill>
                  <a:srgbClr val="FF0000"/>
                </a:solidFill>
                <a:latin typeface="黑体" pitchFamily="49" charset="-122"/>
                <a:ea typeface="黑体" pitchFamily="49" charset="-122"/>
              </a:rPr>
              <a:t>关系</a:t>
            </a:r>
            <a:r>
              <a:rPr lang="zh-CN" altLang="zh-CN" sz="2400" dirty="0">
                <a:latin typeface="黑体" pitchFamily="49" charset="-122"/>
                <a:ea typeface="黑体" pitchFamily="49" charset="-122"/>
              </a:rPr>
              <a:t>和</a:t>
            </a:r>
            <a:r>
              <a:rPr lang="zh-CN" altLang="zh-CN" sz="2400" dirty="0">
                <a:solidFill>
                  <a:srgbClr val="FF0000"/>
                </a:solidFill>
                <a:latin typeface="黑体" pitchFamily="49" charset="-122"/>
                <a:ea typeface="黑体" pitchFamily="49" charset="-122"/>
              </a:rPr>
              <a:t>操作</a:t>
            </a:r>
            <a:r>
              <a:rPr lang="zh-CN" altLang="zh-CN" sz="2400" dirty="0">
                <a:latin typeface="黑体" pitchFamily="49" charset="-122"/>
                <a:ea typeface="黑体" pitchFamily="49" charset="-122"/>
              </a:rPr>
              <a:t>算法的学科，具体主要包含</a:t>
            </a:r>
            <a:r>
              <a:rPr lang="en-US" altLang="zh-CN" sz="2400" dirty="0">
                <a:latin typeface="黑体" pitchFamily="49" charset="-122"/>
                <a:ea typeface="黑体" pitchFamily="49" charset="-122"/>
              </a:rPr>
              <a:t>3</a:t>
            </a:r>
            <a:r>
              <a:rPr lang="zh-CN" altLang="zh-CN" sz="2400" dirty="0">
                <a:latin typeface="黑体" pitchFamily="49" charset="-122"/>
                <a:ea typeface="黑体" pitchFamily="49" charset="-122"/>
              </a:rPr>
              <a:t>个方面的内容：数据的</a:t>
            </a:r>
            <a:r>
              <a:rPr lang="zh-CN" altLang="zh-CN" sz="2400" dirty="0">
                <a:solidFill>
                  <a:srgbClr val="FF0000"/>
                </a:solidFill>
                <a:latin typeface="黑体" pitchFamily="49" charset="-122"/>
                <a:ea typeface="黑体" pitchFamily="49" charset="-122"/>
              </a:rPr>
              <a:t>逻辑结构</a:t>
            </a:r>
            <a:r>
              <a:rPr lang="zh-CN" altLang="zh-CN" sz="2400" dirty="0">
                <a:latin typeface="黑体" pitchFamily="49" charset="-122"/>
                <a:ea typeface="黑体" pitchFamily="49" charset="-122"/>
              </a:rPr>
              <a:t>、数据的</a:t>
            </a:r>
            <a:r>
              <a:rPr lang="zh-CN" altLang="zh-CN" sz="2400" dirty="0">
                <a:solidFill>
                  <a:srgbClr val="FF0000"/>
                </a:solidFill>
                <a:latin typeface="黑体" pitchFamily="49" charset="-122"/>
                <a:ea typeface="黑体" pitchFamily="49" charset="-122"/>
              </a:rPr>
              <a:t>存储结构</a:t>
            </a:r>
            <a:r>
              <a:rPr lang="zh-CN" altLang="zh-CN" sz="2400" dirty="0">
                <a:latin typeface="黑体" pitchFamily="49" charset="-122"/>
                <a:ea typeface="黑体" pitchFamily="49" charset="-122"/>
              </a:rPr>
              <a:t>（物理结构）和数据的操作</a:t>
            </a:r>
            <a:r>
              <a:rPr lang="zh-CN" altLang="zh-CN" sz="2400" dirty="0">
                <a:solidFill>
                  <a:srgbClr val="FF0000"/>
                </a:solidFill>
                <a:latin typeface="黑体" pitchFamily="49" charset="-122"/>
                <a:ea typeface="黑体" pitchFamily="49" charset="-122"/>
              </a:rPr>
              <a:t>算法</a:t>
            </a:r>
            <a:r>
              <a:rPr lang="zh-CN" altLang="en-US" sz="2400" dirty="0">
                <a:latin typeface="黑体" pitchFamily="49" charset="-122"/>
                <a:ea typeface="黑体" pitchFamily="49" charset="-122"/>
              </a:rPr>
              <a:t>。</a:t>
            </a:r>
          </a:p>
        </p:txBody>
      </p:sp>
      <p:sp>
        <p:nvSpPr>
          <p:cNvPr id="9" name="Rectangle 1"/>
          <p:cNvSpPr>
            <a:spLocks noChangeArrowheads="1"/>
          </p:cNvSpPr>
          <p:nvPr/>
        </p:nvSpPr>
        <p:spPr bwMode="auto">
          <a:xfrm>
            <a:off x="5044522" y="4343544"/>
            <a:ext cx="1285756" cy="246221"/>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p>
            <a:pPr indent="266700"/>
            <a:r>
              <a:rPr lang="zh-CN" altLang="en-US" sz="1600" dirty="0">
                <a:latin typeface="Calibri" pitchFamily="34" charset="0"/>
              </a:rPr>
              <a:t>计算机软件</a:t>
            </a:r>
          </a:p>
        </p:txBody>
      </p:sp>
      <p:sp>
        <p:nvSpPr>
          <p:cNvPr id="10" name="Rectangle 1"/>
          <p:cNvSpPr>
            <a:spLocks noChangeArrowheads="1"/>
          </p:cNvSpPr>
          <p:nvPr/>
        </p:nvSpPr>
        <p:spPr bwMode="auto">
          <a:xfrm>
            <a:off x="3444943" y="4343544"/>
            <a:ext cx="1306287" cy="246221"/>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p>
            <a:pPr indent="266700"/>
            <a:r>
              <a:rPr lang="zh-CN" altLang="en-US" sz="1600" dirty="0">
                <a:latin typeface="Calibri" pitchFamily="34" charset="0"/>
              </a:rPr>
              <a:t>计算机硬件</a:t>
            </a:r>
          </a:p>
        </p:txBody>
      </p:sp>
      <p:sp>
        <p:nvSpPr>
          <p:cNvPr id="15" name="椭圆 14"/>
          <p:cNvSpPr/>
          <p:nvPr/>
        </p:nvSpPr>
        <p:spPr>
          <a:xfrm>
            <a:off x="3861713" y="2885199"/>
            <a:ext cx="2100007" cy="1463040"/>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ctangle 1"/>
          <p:cNvSpPr>
            <a:spLocks noChangeArrowheads="1"/>
          </p:cNvSpPr>
          <p:nvPr/>
        </p:nvSpPr>
        <p:spPr bwMode="auto">
          <a:xfrm>
            <a:off x="4426835" y="3135731"/>
            <a:ext cx="936171" cy="246221"/>
          </a:xfrm>
          <a:prstGeom prst="rect">
            <a:avLst/>
          </a:prstGeom>
          <a:ln>
            <a:noFill/>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p>
            <a:pPr indent="266700"/>
            <a:r>
              <a:rPr lang="zh-CN" altLang="en-US" sz="1600" dirty="0">
                <a:latin typeface="Calibri" pitchFamily="34" charset="0"/>
              </a:rPr>
              <a:t>数学</a:t>
            </a:r>
          </a:p>
        </p:txBody>
      </p:sp>
      <p:sp>
        <p:nvSpPr>
          <p:cNvPr id="17" name="椭圆 16"/>
          <p:cNvSpPr/>
          <p:nvPr/>
        </p:nvSpPr>
        <p:spPr>
          <a:xfrm>
            <a:off x="3114018" y="3502419"/>
            <a:ext cx="2023501" cy="1498963"/>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751229" y="3486090"/>
            <a:ext cx="2020388" cy="1515291"/>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ctangle 1"/>
          <p:cNvSpPr>
            <a:spLocks noChangeArrowheads="1"/>
          </p:cNvSpPr>
          <p:nvPr/>
        </p:nvSpPr>
        <p:spPr bwMode="auto">
          <a:xfrm>
            <a:off x="4137275" y="3754433"/>
            <a:ext cx="1624149" cy="369332"/>
          </a:xfrm>
          <a:prstGeom prst="rect">
            <a:avLst/>
          </a:prstGeom>
          <a:solidFill>
            <a:srgbClr val="FFC000"/>
          </a:solidFill>
          <a:ln>
            <a:noFill/>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p>
            <a:pPr indent="266700"/>
            <a:r>
              <a:rPr lang="zh-CN" altLang="en-US" sz="2400" dirty="0">
                <a:solidFill>
                  <a:schemeClr val="tx1"/>
                </a:solidFill>
                <a:latin typeface="黑体" pitchFamily="49" charset="-122"/>
                <a:ea typeface="黑体" pitchFamily="49" charset="-122"/>
              </a:rPr>
              <a:t>数据结构</a:t>
            </a:r>
          </a:p>
        </p:txBody>
      </p:sp>
      <p:sp>
        <p:nvSpPr>
          <p:cNvPr id="20" name="矩形 19"/>
          <p:cNvSpPr/>
          <p:nvPr/>
        </p:nvSpPr>
        <p:spPr>
          <a:xfrm>
            <a:off x="773588" y="3766494"/>
            <a:ext cx="1449978" cy="646331"/>
          </a:xfrm>
          <a:prstGeom prst="rect">
            <a:avLst/>
          </a:prstGeom>
        </p:spPr>
        <p:txBody>
          <a:bodyPr wrap="square">
            <a:spAutoFit/>
          </a:bodyPr>
          <a:lstStyle/>
          <a:p>
            <a:pPr indent="257175"/>
            <a:r>
              <a:rPr lang="zh-CN" altLang="en-US" sz="1200" dirty="0">
                <a:solidFill>
                  <a:schemeClr val="dk1"/>
                </a:solidFill>
                <a:latin typeface="Calibri" pitchFamily="34" charset="0"/>
              </a:rPr>
              <a:t>编码理论</a:t>
            </a:r>
            <a:endParaRPr lang="en-US" altLang="zh-CN" sz="1200" dirty="0">
              <a:solidFill>
                <a:schemeClr val="dk1"/>
              </a:solidFill>
              <a:latin typeface="Calibri" pitchFamily="34" charset="0"/>
            </a:endParaRPr>
          </a:p>
          <a:p>
            <a:pPr indent="257175"/>
            <a:r>
              <a:rPr lang="zh-CN" altLang="en-US" sz="1200" dirty="0">
                <a:solidFill>
                  <a:schemeClr val="dk1"/>
                </a:solidFill>
                <a:latin typeface="Calibri" pitchFamily="34" charset="0"/>
              </a:rPr>
              <a:t>存储装置</a:t>
            </a:r>
            <a:endParaRPr lang="en-US" altLang="zh-CN" sz="1200" dirty="0">
              <a:solidFill>
                <a:schemeClr val="dk1"/>
              </a:solidFill>
              <a:latin typeface="Calibri" pitchFamily="34" charset="0"/>
            </a:endParaRPr>
          </a:p>
          <a:p>
            <a:pPr indent="257175"/>
            <a:r>
              <a:rPr lang="zh-CN" altLang="en-US" sz="1200" dirty="0">
                <a:solidFill>
                  <a:schemeClr val="dk1"/>
                </a:solidFill>
                <a:latin typeface="Calibri" pitchFamily="34" charset="0"/>
              </a:rPr>
              <a:t>存储方法</a:t>
            </a:r>
          </a:p>
        </p:txBody>
      </p:sp>
      <p:sp>
        <p:nvSpPr>
          <p:cNvPr id="21" name="矩形 20"/>
          <p:cNvSpPr/>
          <p:nvPr/>
        </p:nvSpPr>
        <p:spPr>
          <a:xfrm>
            <a:off x="7065531" y="3560670"/>
            <a:ext cx="1449978" cy="738664"/>
          </a:xfrm>
          <a:prstGeom prst="rect">
            <a:avLst/>
          </a:prstGeom>
        </p:spPr>
        <p:txBody>
          <a:bodyPr wrap="square">
            <a:spAutoFit/>
          </a:bodyPr>
          <a:lstStyle/>
          <a:p>
            <a:pPr indent="257175"/>
            <a:r>
              <a:rPr lang="zh-CN" altLang="en-US" sz="1400" dirty="0">
                <a:solidFill>
                  <a:schemeClr val="dk1"/>
                </a:solidFill>
                <a:latin typeface="Calibri" pitchFamily="34" charset="0"/>
              </a:rPr>
              <a:t>编译原理</a:t>
            </a:r>
            <a:endParaRPr lang="en-US" altLang="zh-CN" sz="1400" dirty="0">
              <a:solidFill>
                <a:schemeClr val="dk1"/>
              </a:solidFill>
              <a:latin typeface="Calibri" pitchFamily="34" charset="0"/>
            </a:endParaRPr>
          </a:p>
          <a:p>
            <a:pPr indent="257175"/>
            <a:r>
              <a:rPr lang="zh-CN" altLang="en-US" sz="1400" dirty="0">
                <a:solidFill>
                  <a:schemeClr val="dk1"/>
                </a:solidFill>
                <a:latin typeface="Calibri" pitchFamily="34" charset="0"/>
              </a:rPr>
              <a:t>操作系统</a:t>
            </a:r>
            <a:endParaRPr lang="en-US" altLang="zh-CN" sz="1400" dirty="0">
              <a:solidFill>
                <a:schemeClr val="dk1"/>
              </a:solidFill>
              <a:latin typeface="Calibri" pitchFamily="34" charset="0"/>
            </a:endParaRPr>
          </a:p>
          <a:p>
            <a:pPr indent="257175"/>
            <a:r>
              <a:rPr lang="zh-CN" altLang="en-US" sz="1400" dirty="0">
                <a:solidFill>
                  <a:schemeClr val="dk1"/>
                </a:solidFill>
                <a:latin typeface="Calibri" pitchFamily="34" charset="0"/>
              </a:rPr>
              <a:t>信息检索</a:t>
            </a:r>
          </a:p>
        </p:txBody>
      </p:sp>
      <p:sp>
        <p:nvSpPr>
          <p:cNvPr id="22" name="矩形 21"/>
          <p:cNvSpPr/>
          <p:nvPr/>
        </p:nvSpPr>
        <p:spPr>
          <a:xfrm>
            <a:off x="2223566" y="2736801"/>
            <a:ext cx="1449978" cy="738664"/>
          </a:xfrm>
          <a:prstGeom prst="rect">
            <a:avLst/>
          </a:prstGeom>
        </p:spPr>
        <p:txBody>
          <a:bodyPr wrap="square">
            <a:spAutoFit/>
          </a:bodyPr>
          <a:lstStyle/>
          <a:p>
            <a:pPr indent="257175"/>
            <a:r>
              <a:rPr lang="zh-CN" altLang="en-US" sz="1400" dirty="0">
                <a:solidFill>
                  <a:schemeClr val="dk1"/>
                </a:solidFill>
                <a:latin typeface="Calibri" pitchFamily="34" charset="0"/>
              </a:rPr>
              <a:t>代数系统</a:t>
            </a:r>
            <a:endParaRPr lang="en-US" altLang="zh-CN" sz="1400" dirty="0">
              <a:solidFill>
                <a:schemeClr val="dk1"/>
              </a:solidFill>
              <a:latin typeface="Calibri" pitchFamily="34" charset="0"/>
            </a:endParaRPr>
          </a:p>
          <a:p>
            <a:pPr indent="257175"/>
            <a:r>
              <a:rPr lang="zh-CN" altLang="en-US" sz="1400" dirty="0">
                <a:solidFill>
                  <a:schemeClr val="dk1"/>
                </a:solidFill>
                <a:latin typeface="Calibri" pitchFamily="34" charset="0"/>
              </a:rPr>
              <a:t>算子关系</a:t>
            </a:r>
            <a:endParaRPr lang="en-US" altLang="zh-CN" sz="1400" dirty="0">
              <a:solidFill>
                <a:schemeClr val="dk1"/>
              </a:solidFill>
              <a:latin typeface="Calibri" pitchFamily="34" charset="0"/>
            </a:endParaRPr>
          </a:p>
          <a:p>
            <a:pPr indent="257175"/>
            <a:r>
              <a:rPr lang="zh-CN" altLang="en-US" sz="1400" dirty="0">
                <a:solidFill>
                  <a:schemeClr val="dk1"/>
                </a:solidFill>
                <a:latin typeface="Calibri" pitchFamily="34" charset="0"/>
              </a:rPr>
              <a:t>数据类型</a:t>
            </a:r>
            <a:endParaRPr lang="en-US" altLang="zh-CN" sz="1400" dirty="0">
              <a:solidFill>
                <a:schemeClr val="dk1"/>
              </a:solidFill>
              <a:latin typeface="Calibri" pitchFamily="34" charset="0"/>
            </a:endParaRPr>
          </a:p>
        </p:txBody>
      </p:sp>
      <p:sp>
        <p:nvSpPr>
          <p:cNvPr id="23" name="圆角矩形标注 22"/>
          <p:cNvSpPr/>
          <p:nvPr/>
        </p:nvSpPr>
        <p:spPr>
          <a:xfrm>
            <a:off x="6825633" y="3486090"/>
            <a:ext cx="1915886" cy="693964"/>
          </a:xfrm>
          <a:prstGeom prst="wedgeRoundRectCallout">
            <a:avLst>
              <a:gd name="adj1" fmla="val -59404"/>
              <a:gd name="adj2" fmla="val 11331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标注 23"/>
          <p:cNvSpPr/>
          <p:nvPr/>
        </p:nvSpPr>
        <p:spPr>
          <a:xfrm>
            <a:off x="1907704" y="2734065"/>
            <a:ext cx="1998794" cy="741399"/>
          </a:xfrm>
          <a:prstGeom prst="wedgeRoundRectCallout">
            <a:avLst>
              <a:gd name="adj1" fmla="val 48778"/>
              <a:gd name="adj2" fmla="val 6114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标注 24"/>
          <p:cNvSpPr/>
          <p:nvPr/>
        </p:nvSpPr>
        <p:spPr>
          <a:xfrm>
            <a:off x="540634" y="3755388"/>
            <a:ext cx="1915886" cy="625982"/>
          </a:xfrm>
          <a:prstGeom prst="wedgeRoundRectCallout">
            <a:avLst>
              <a:gd name="adj1" fmla="val 93323"/>
              <a:gd name="adj2" fmla="val 93486"/>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2">
            <a:extLst>
              <a:ext uri="{FF2B5EF4-FFF2-40B4-BE49-F238E27FC236}">
                <a16:creationId xmlns:a16="http://schemas.microsoft.com/office/drawing/2014/main" id="{43178C97-B208-9848-1790-4352255E6E1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F87BF202-44B7-27A5-C7AE-C7823DCDEF73}"/>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147359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P spid="16" grpId="0" animBg="1"/>
      <p:bldP spid="17" grpId="0" animBg="1"/>
      <p:bldP spid="18" grpId="0" animBg="1"/>
      <p:bldP spid="19" grpId="0" animBg="1"/>
      <p:bldP spid="20" grpId="0"/>
      <p:bldP spid="21" grpId="0"/>
      <p:bldP spid="22" grpId="0"/>
      <p:bldP spid="23"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1051237" y="1525348"/>
            <a:ext cx="2520280" cy="523220"/>
          </a:xfrm>
          <a:prstGeom prst="rect">
            <a:avLst/>
          </a:prstGeom>
        </p:spPr>
        <p:txBody>
          <a:bodyPr wrap="square">
            <a:spAutoFit/>
          </a:bodyPr>
          <a:lstStyle/>
          <a:p>
            <a:r>
              <a:rPr lang="en-US" altLang="zh-CN" sz="2800" dirty="0">
                <a:latin typeface="黑体" pitchFamily="49" charset="-122"/>
                <a:ea typeface="黑体" pitchFamily="49" charset="-122"/>
              </a:rPr>
              <a:t>1</a:t>
            </a:r>
            <a:r>
              <a:rPr lang="zh-CN" altLang="en-US" sz="2800" dirty="0">
                <a:latin typeface="黑体" pitchFamily="49" charset="-122"/>
                <a:ea typeface="黑体" pitchFamily="49" charset="-122"/>
              </a:rPr>
              <a:t>、什么是数据？</a:t>
            </a:r>
          </a:p>
        </p:txBody>
      </p:sp>
      <p:sp>
        <p:nvSpPr>
          <p:cNvPr id="14" name="矩形 13"/>
          <p:cNvSpPr/>
          <p:nvPr/>
        </p:nvSpPr>
        <p:spPr>
          <a:xfrm>
            <a:off x="527974" y="2235859"/>
            <a:ext cx="8136904" cy="1323439"/>
          </a:xfrm>
          <a:prstGeom prst="rect">
            <a:avLst/>
          </a:prstGeom>
        </p:spPr>
        <p:txBody>
          <a:bodyPr wrap="square">
            <a:spAutoFit/>
          </a:bodyPr>
          <a:lstStyle/>
          <a:p>
            <a:r>
              <a:rPr lang="zh-CN" altLang="en-US" sz="2000" b="1" dirty="0">
                <a:solidFill>
                  <a:srgbClr val="FF0000"/>
                </a:solidFill>
                <a:latin typeface="黑体" pitchFamily="49" charset="-122"/>
                <a:ea typeface="黑体" pitchFamily="49" charset="-122"/>
              </a:rPr>
              <a:t>数据</a:t>
            </a:r>
            <a:r>
              <a:rPr lang="en-US" altLang="zh-CN" sz="2000" b="1" dirty="0">
                <a:solidFill>
                  <a:srgbClr val="FF0000"/>
                </a:solidFill>
                <a:latin typeface="黑体" pitchFamily="49" charset="-122"/>
                <a:ea typeface="黑体" pitchFamily="49" charset="-122"/>
              </a:rPr>
              <a:t>(</a:t>
            </a:r>
            <a:r>
              <a:rPr lang="en-US" altLang="zh-CN" sz="2000" b="1" dirty="0">
                <a:solidFill>
                  <a:srgbClr val="FF0000"/>
                </a:solidFill>
                <a:latin typeface="Times New Roman" pitchFamily="18" charset="0"/>
                <a:ea typeface="黑体" pitchFamily="49" charset="-122"/>
                <a:cs typeface="Times New Roman" pitchFamily="18" charset="0"/>
              </a:rPr>
              <a:t>Data</a:t>
            </a:r>
            <a:r>
              <a:rPr lang="en-US" altLang="zh-CN" sz="2000" b="1" dirty="0">
                <a:solidFill>
                  <a:srgbClr val="FF0000"/>
                </a:solidFill>
                <a:latin typeface="黑体" pitchFamily="49" charset="-122"/>
                <a:ea typeface="黑体" pitchFamily="49" charset="-122"/>
              </a:rPr>
              <a:t>)</a:t>
            </a:r>
            <a:r>
              <a:rPr lang="zh-CN" altLang="en-US" sz="2000" b="1" dirty="0">
                <a:solidFill>
                  <a:srgbClr val="FF0000"/>
                </a:solidFill>
                <a:latin typeface="黑体" pitchFamily="49" charset="-122"/>
                <a:ea typeface="黑体" pitchFamily="49" charset="-122"/>
              </a:rPr>
              <a:t> ：</a:t>
            </a:r>
            <a:r>
              <a:rPr lang="zh-CN" altLang="en-US" sz="2000" dirty="0">
                <a:latin typeface="黑体" pitchFamily="49" charset="-122"/>
                <a:ea typeface="黑体" pitchFamily="49" charset="-122"/>
                <a:cs typeface="经典粗黑简" pitchFamily="49" charset="-122"/>
              </a:rPr>
              <a:t>是对客观事物的符号表示（通过计算机编码）</a:t>
            </a:r>
            <a:r>
              <a:rPr lang="zh-CN" altLang="en-US" sz="2000" b="1" dirty="0">
                <a:latin typeface="黑体" pitchFamily="49" charset="-122"/>
                <a:ea typeface="黑体" pitchFamily="49" charset="-122"/>
                <a:cs typeface="经典粗黑简" pitchFamily="49" charset="-122"/>
              </a:rPr>
              <a:t>，</a:t>
            </a:r>
            <a:r>
              <a:rPr lang="zh-CN" altLang="en-US" sz="2000" dirty="0">
                <a:latin typeface="黑体" pitchFamily="49" charset="-122"/>
                <a:ea typeface="黑体" pitchFamily="49" charset="-122"/>
                <a:cs typeface="经典粗黑简" pitchFamily="49" charset="-122"/>
              </a:rPr>
              <a:t>在计算机科学中是指所有能</a:t>
            </a:r>
            <a:r>
              <a:rPr lang="zh-CN" altLang="en-US" sz="2000" dirty="0">
                <a:solidFill>
                  <a:srgbClr val="FF0000"/>
                </a:solidFill>
                <a:latin typeface="黑体" pitchFamily="49" charset="-122"/>
                <a:ea typeface="黑体" pitchFamily="49" charset="-122"/>
                <a:cs typeface="经典粗黑简" pitchFamily="49" charset="-122"/>
              </a:rPr>
              <a:t>输入</a:t>
            </a:r>
            <a:r>
              <a:rPr lang="zh-CN" altLang="en-US" sz="2000" dirty="0">
                <a:latin typeface="黑体" pitchFamily="49" charset="-122"/>
                <a:ea typeface="黑体" pitchFamily="49" charset="-122"/>
                <a:cs typeface="经典粗黑简" pitchFamily="49" charset="-122"/>
              </a:rPr>
              <a:t>到计算机中并被计算机程序</a:t>
            </a:r>
            <a:r>
              <a:rPr lang="zh-CN" altLang="en-US" sz="2000" dirty="0">
                <a:solidFill>
                  <a:srgbClr val="FF0000"/>
                </a:solidFill>
                <a:latin typeface="黑体" pitchFamily="49" charset="-122"/>
                <a:ea typeface="黑体" pitchFamily="49" charset="-122"/>
                <a:cs typeface="经典粗黑简" pitchFamily="49" charset="-122"/>
              </a:rPr>
              <a:t>处理</a:t>
            </a:r>
            <a:r>
              <a:rPr lang="zh-CN" altLang="en-US" sz="2000" dirty="0">
                <a:latin typeface="黑体" pitchFamily="49" charset="-122"/>
                <a:ea typeface="黑体" pitchFamily="49" charset="-122"/>
                <a:cs typeface="经典粗黑简" pitchFamily="49" charset="-122"/>
              </a:rPr>
              <a:t>的符号的总称。它是计算机程序加工的“原料”。包括</a:t>
            </a:r>
            <a:r>
              <a:rPr lang="zh-CN" altLang="en-US" sz="2000" u="sng" dirty="0">
                <a:latin typeface="黑体" pitchFamily="49" charset="-122"/>
                <a:ea typeface="黑体" pitchFamily="49" charset="-122"/>
                <a:cs typeface="经典粗黑简" pitchFamily="49" charset="-122"/>
              </a:rPr>
              <a:t>数值、字符，图形、图像、声音、动画、视频等</a:t>
            </a:r>
            <a:r>
              <a:rPr lang="zh-CN" altLang="en-US" sz="2000" dirty="0">
                <a:latin typeface="黑体" pitchFamily="49" charset="-122"/>
                <a:ea typeface="黑体" pitchFamily="49" charset="-122"/>
                <a:cs typeface="经典粗黑简" pitchFamily="49" charset="-122"/>
              </a:rPr>
              <a:t>。</a:t>
            </a:r>
          </a:p>
        </p:txBody>
      </p:sp>
      <p:sp>
        <p:nvSpPr>
          <p:cNvPr id="15" name="矩形 14"/>
          <p:cNvSpPr/>
          <p:nvPr/>
        </p:nvSpPr>
        <p:spPr>
          <a:xfrm>
            <a:off x="2311377" y="3448600"/>
            <a:ext cx="4805956"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数值：</a:t>
            </a:r>
            <a:r>
              <a:rPr lang="en-US" altLang="zh-CN" sz="2400" dirty="0">
                <a:latin typeface="微软雅黑" pitchFamily="34" charset="-122"/>
                <a:ea typeface="微软雅黑" pitchFamily="34" charset="-122"/>
                <a:cs typeface="经典粗黑简" pitchFamily="49" charset="-122"/>
              </a:rPr>
              <a:t>1</a:t>
            </a: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2</a:t>
            </a: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3.14</a:t>
            </a: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a:t>
            </a:r>
          </a:p>
        </p:txBody>
      </p:sp>
      <p:sp>
        <p:nvSpPr>
          <p:cNvPr id="16" name="矩形 15"/>
          <p:cNvSpPr/>
          <p:nvPr/>
        </p:nvSpPr>
        <p:spPr>
          <a:xfrm>
            <a:off x="2311377" y="3982293"/>
            <a:ext cx="5317481" cy="461665"/>
          </a:xfrm>
          <a:prstGeom prst="rect">
            <a:avLst/>
          </a:prstGeom>
        </p:spPr>
        <p:txBody>
          <a:bodyPr wrap="none">
            <a:spAutoFit/>
          </a:bodyPr>
          <a:lstStyle/>
          <a:p>
            <a:r>
              <a:rPr lang="zh-CN" altLang="en-US" sz="2400" dirty="0">
                <a:latin typeface="微软雅黑" pitchFamily="34" charset="-122"/>
                <a:ea typeface="微软雅黑" pitchFamily="34" charset="-122"/>
                <a:cs typeface="经典粗黑简" pitchFamily="49" charset="-122"/>
              </a:rPr>
              <a:t>字符：</a:t>
            </a:r>
            <a:r>
              <a:rPr lang="en-US" altLang="zh-CN" sz="2400" dirty="0">
                <a:latin typeface="微软雅黑" pitchFamily="34" charset="-122"/>
                <a:ea typeface="微软雅黑" pitchFamily="34" charset="-122"/>
                <a:cs typeface="经典粗黑简" pitchFamily="49" charset="-122"/>
              </a:rPr>
              <a:t>A</a:t>
            </a: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hello</a:t>
            </a:r>
            <a:r>
              <a:rPr lang="zh-CN" altLang="en-US" sz="2400" dirty="0">
                <a:latin typeface="微软雅黑" pitchFamily="34" charset="-122"/>
                <a:ea typeface="微软雅黑" pitchFamily="34" charset="-122"/>
                <a:cs typeface="经典粗黑简" pitchFamily="49" charset="-122"/>
              </a:rPr>
              <a:t>、中华人民共和国</a:t>
            </a:r>
            <a:r>
              <a:rPr lang="en-US" altLang="zh-CN" sz="2400" dirty="0">
                <a:latin typeface="微软雅黑" pitchFamily="34" charset="-122"/>
                <a:ea typeface="微软雅黑" pitchFamily="34" charset="-122"/>
                <a:cs typeface="经典粗黑简" pitchFamily="49" charset="-122"/>
              </a:rPr>
              <a:t>……</a:t>
            </a:r>
          </a:p>
        </p:txBody>
      </p:sp>
      <p:sp>
        <p:nvSpPr>
          <p:cNvPr id="2" name="Rectangle 2">
            <a:extLst>
              <a:ext uri="{FF2B5EF4-FFF2-40B4-BE49-F238E27FC236}">
                <a16:creationId xmlns:a16="http://schemas.microsoft.com/office/drawing/2014/main" id="{C62728BD-AAEA-B883-7E78-93669C4BBF1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051A0849-8E29-D426-0804-65501EB13728}"/>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209192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527974" y="2256423"/>
            <a:ext cx="8136904" cy="1323439"/>
          </a:xfrm>
          <a:prstGeom prst="rect">
            <a:avLst/>
          </a:prstGeom>
        </p:spPr>
        <p:txBody>
          <a:bodyPr wrap="square">
            <a:spAutoFit/>
          </a:bodyPr>
          <a:lstStyle/>
          <a:p>
            <a:r>
              <a:rPr lang="zh-CN" altLang="en-US" sz="2000" b="1" dirty="0">
                <a:solidFill>
                  <a:srgbClr val="FF0000"/>
                </a:solidFill>
                <a:latin typeface="黑体" pitchFamily="49" charset="-122"/>
                <a:ea typeface="黑体" pitchFamily="49" charset="-122"/>
              </a:rPr>
              <a:t>数据</a:t>
            </a:r>
            <a:r>
              <a:rPr lang="en-US" altLang="zh-CN" sz="2000" b="1" dirty="0">
                <a:solidFill>
                  <a:srgbClr val="FF0000"/>
                </a:solidFill>
                <a:latin typeface="黑体" pitchFamily="49" charset="-122"/>
                <a:ea typeface="黑体" pitchFamily="49" charset="-122"/>
              </a:rPr>
              <a:t>(</a:t>
            </a:r>
            <a:r>
              <a:rPr lang="en-US" altLang="zh-CN" sz="2000" b="1" dirty="0">
                <a:solidFill>
                  <a:srgbClr val="FF0000"/>
                </a:solidFill>
                <a:latin typeface="Times New Roman" pitchFamily="18" charset="0"/>
                <a:ea typeface="黑体" pitchFamily="49" charset="-122"/>
                <a:cs typeface="Times New Roman" pitchFamily="18" charset="0"/>
              </a:rPr>
              <a:t>Data</a:t>
            </a:r>
            <a:r>
              <a:rPr lang="en-US" altLang="zh-CN" sz="2000" b="1" dirty="0">
                <a:solidFill>
                  <a:srgbClr val="FF0000"/>
                </a:solidFill>
                <a:latin typeface="黑体" pitchFamily="49" charset="-122"/>
                <a:ea typeface="黑体" pitchFamily="49" charset="-122"/>
              </a:rPr>
              <a:t>)</a:t>
            </a:r>
            <a:r>
              <a:rPr lang="zh-CN" altLang="en-US" sz="2000" b="1" dirty="0">
                <a:solidFill>
                  <a:srgbClr val="FF0000"/>
                </a:solidFill>
                <a:latin typeface="黑体" pitchFamily="49" charset="-122"/>
                <a:ea typeface="黑体" pitchFamily="49" charset="-122"/>
              </a:rPr>
              <a:t> ：</a:t>
            </a:r>
            <a:r>
              <a:rPr lang="zh-CN" altLang="en-US" sz="2000" dirty="0">
                <a:latin typeface="黑体" pitchFamily="49" charset="-122"/>
                <a:ea typeface="黑体" pitchFamily="49" charset="-122"/>
                <a:cs typeface="经典粗黑简" pitchFamily="49" charset="-122"/>
              </a:rPr>
              <a:t>是对客观事物的符号表示（通过计算机编码）</a:t>
            </a:r>
            <a:r>
              <a:rPr lang="zh-CN" altLang="en-US" sz="2000" b="1" dirty="0">
                <a:latin typeface="黑体" pitchFamily="49" charset="-122"/>
                <a:ea typeface="黑体" pitchFamily="49" charset="-122"/>
                <a:cs typeface="经典粗黑简" pitchFamily="49" charset="-122"/>
              </a:rPr>
              <a:t>，</a:t>
            </a:r>
            <a:r>
              <a:rPr lang="zh-CN" altLang="en-US" sz="2000" dirty="0">
                <a:latin typeface="黑体" pitchFamily="49" charset="-122"/>
                <a:ea typeface="黑体" pitchFamily="49" charset="-122"/>
                <a:cs typeface="经典粗黑简" pitchFamily="49" charset="-122"/>
              </a:rPr>
              <a:t>在计算机科学中是指所有能</a:t>
            </a:r>
            <a:r>
              <a:rPr lang="zh-CN" altLang="en-US" sz="2000" dirty="0">
                <a:solidFill>
                  <a:srgbClr val="FF0000"/>
                </a:solidFill>
                <a:latin typeface="黑体" pitchFamily="49" charset="-122"/>
                <a:ea typeface="黑体" pitchFamily="49" charset="-122"/>
                <a:cs typeface="经典粗黑简" pitchFamily="49" charset="-122"/>
              </a:rPr>
              <a:t>输入</a:t>
            </a:r>
            <a:r>
              <a:rPr lang="zh-CN" altLang="en-US" sz="2000" dirty="0">
                <a:latin typeface="黑体" pitchFamily="49" charset="-122"/>
                <a:ea typeface="黑体" pitchFamily="49" charset="-122"/>
                <a:cs typeface="经典粗黑简" pitchFamily="49" charset="-122"/>
              </a:rPr>
              <a:t>到计算机中并被计算机程序</a:t>
            </a:r>
            <a:r>
              <a:rPr lang="zh-CN" altLang="en-US" sz="2000" dirty="0">
                <a:solidFill>
                  <a:srgbClr val="FF0000"/>
                </a:solidFill>
                <a:latin typeface="黑体" pitchFamily="49" charset="-122"/>
                <a:ea typeface="黑体" pitchFamily="49" charset="-122"/>
                <a:cs typeface="经典粗黑简" pitchFamily="49" charset="-122"/>
              </a:rPr>
              <a:t>处理</a:t>
            </a:r>
            <a:r>
              <a:rPr lang="zh-CN" altLang="en-US" sz="2000" dirty="0">
                <a:latin typeface="黑体" pitchFamily="49" charset="-122"/>
                <a:ea typeface="黑体" pitchFamily="49" charset="-122"/>
                <a:cs typeface="经典粗黑简" pitchFamily="49" charset="-122"/>
              </a:rPr>
              <a:t>的符号的总称。它是计算机程序加工的“原料”。包括</a:t>
            </a:r>
            <a:r>
              <a:rPr lang="zh-CN" altLang="en-US" sz="2000" u="sng" dirty="0">
                <a:latin typeface="黑体" pitchFamily="49" charset="-122"/>
                <a:ea typeface="黑体" pitchFamily="49" charset="-122"/>
                <a:cs typeface="经典粗黑简" pitchFamily="49" charset="-122"/>
              </a:rPr>
              <a:t>数值、字符，图形、图像、声音、动画、视频等</a:t>
            </a:r>
            <a:r>
              <a:rPr lang="zh-CN" altLang="en-US" sz="2000" dirty="0">
                <a:latin typeface="黑体" pitchFamily="49" charset="-122"/>
                <a:ea typeface="黑体" pitchFamily="49" charset="-122"/>
                <a:cs typeface="经典粗黑简" pitchFamily="49" charset="-122"/>
              </a:rPr>
              <a:t>。</a:t>
            </a:r>
          </a:p>
        </p:txBody>
      </p:sp>
      <p:sp>
        <p:nvSpPr>
          <p:cNvPr id="11" name="矩形 10"/>
          <p:cNvSpPr/>
          <p:nvPr/>
        </p:nvSpPr>
        <p:spPr>
          <a:xfrm>
            <a:off x="431488" y="3880999"/>
            <a:ext cx="1045029"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图形：</a:t>
            </a:r>
            <a:endParaRPr lang="en-US" altLang="zh-CN" sz="2400" dirty="0">
              <a:latin typeface="微软雅黑" pitchFamily="34" charset="-122"/>
              <a:ea typeface="微软雅黑" pitchFamily="34" charset="-122"/>
              <a:cs typeface="经典粗黑简" pitchFamily="49" charset="-122"/>
            </a:endParaRPr>
          </a:p>
        </p:txBody>
      </p:sp>
      <p:cxnSp>
        <p:nvCxnSpPr>
          <p:cNvPr id="17" name="直接连接符 16"/>
          <p:cNvCxnSpPr/>
          <p:nvPr/>
        </p:nvCxnSpPr>
        <p:spPr>
          <a:xfrm>
            <a:off x="1372015" y="4054123"/>
            <a:ext cx="1023257"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2695717" y="3838586"/>
            <a:ext cx="1201783" cy="431074"/>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4293739" y="3614467"/>
            <a:ext cx="1105988" cy="829491"/>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a:off x="5813386" y="3614466"/>
            <a:ext cx="1227909" cy="704180"/>
          </a:xfrm>
          <a:prstGeom prst="triangl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五角星 20"/>
          <p:cNvSpPr/>
          <p:nvPr/>
        </p:nvSpPr>
        <p:spPr>
          <a:xfrm>
            <a:off x="7563810" y="3582437"/>
            <a:ext cx="1297577" cy="768239"/>
          </a:xfrm>
          <a:prstGeom prst="star5">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2">
            <a:extLst>
              <a:ext uri="{FF2B5EF4-FFF2-40B4-BE49-F238E27FC236}">
                <a16:creationId xmlns:a16="http://schemas.microsoft.com/office/drawing/2014/main" id="{ED225F79-9432-48E2-095B-F7C264858A80}"/>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5" name="矩形 4">
            <a:extLst>
              <a:ext uri="{FF2B5EF4-FFF2-40B4-BE49-F238E27FC236}">
                <a16:creationId xmlns:a16="http://schemas.microsoft.com/office/drawing/2014/main" id="{070E65B8-0227-C51E-284A-B0FFA13AA2FA}"/>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
        <p:nvSpPr>
          <p:cNvPr id="6" name="矩形 5">
            <a:extLst>
              <a:ext uri="{FF2B5EF4-FFF2-40B4-BE49-F238E27FC236}">
                <a16:creationId xmlns:a16="http://schemas.microsoft.com/office/drawing/2014/main" id="{2AECF008-3F7A-2FCA-EF34-472430825D3A}"/>
              </a:ext>
            </a:extLst>
          </p:cNvPr>
          <p:cNvSpPr/>
          <p:nvPr/>
        </p:nvSpPr>
        <p:spPr>
          <a:xfrm>
            <a:off x="1051237" y="1525348"/>
            <a:ext cx="2520280" cy="523220"/>
          </a:xfrm>
          <a:prstGeom prst="rect">
            <a:avLst/>
          </a:prstGeom>
        </p:spPr>
        <p:txBody>
          <a:bodyPr wrap="square">
            <a:spAutoFit/>
          </a:bodyPr>
          <a:lstStyle/>
          <a:p>
            <a:r>
              <a:rPr lang="en-US" altLang="zh-CN" sz="2800" dirty="0">
                <a:latin typeface="黑体" pitchFamily="49" charset="-122"/>
                <a:ea typeface="黑体" pitchFamily="49" charset="-122"/>
              </a:rPr>
              <a:t>1</a:t>
            </a:r>
            <a:r>
              <a:rPr lang="zh-CN" altLang="en-US" sz="2800" dirty="0">
                <a:latin typeface="黑体" pitchFamily="49" charset="-122"/>
                <a:ea typeface="黑体" pitchFamily="49" charset="-122"/>
              </a:rPr>
              <a:t>、什么是数据？</a:t>
            </a:r>
          </a:p>
        </p:txBody>
      </p:sp>
    </p:spTree>
    <p:extLst>
      <p:ext uri="{BB962C8B-B14F-4D97-AF65-F5344CB8AC3E}">
        <p14:creationId xmlns:p14="http://schemas.microsoft.com/office/powerpoint/2010/main" val="3837115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527974" y="2256423"/>
            <a:ext cx="8136904" cy="1323439"/>
          </a:xfrm>
          <a:prstGeom prst="rect">
            <a:avLst/>
          </a:prstGeom>
        </p:spPr>
        <p:txBody>
          <a:bodyPr wrap="square">
            <a:spAutoFit/>
          </a:bodyPr>
          <a:lstStyle/>
          <a:p>
            <a:r>
              <a:rPr lang="zh-CN" altLang="en-US" sz="2000" b="1" dirty="0">
                <a:solidFill>
                  <a:srgbClr val="FF0000"/>
                </a:solidFill>
                <a:latin typeface="黑体" pitchFamily="49" charset="-122"/>
                <a:ea typeface="黑体" pitchFamily="49" charset="-122"/>
              </a:rPr>
              <a:t>数据</a:t>
            </a:r>
            <a:r>
              <a:rPr lang="en-US" altLang="zh-CN" sz="2000" b="1" dirty="0">
                <a:solidFill>
                  <a:srgbClr val="FF0000"/>
                </a:solidFill>
                <a:latin typeface="黑体" pitchFamily="49" charset="-122"/>
                <a:ea typeface="黑体" pitchFamily="49" charset="-122"/>
              </a:rPr>
              <a:t>(</a:t>
            </a:r>
            <a:r>
              <a:rPr lang="en-US" altLang="zh-CN" sz="2000" b="1" dirty="0">
                <a:solidFill>
                  <a:srgbClr val="FF0000"/>
                </a:solidFill>
                <a:latin typeface="Times New Roman" pitchFamily="18" charset="0"/>
                <a:ea typeface="黑体" pitchFamily="49" charset="-122"/>
                <a:cs typeface="Times New Roman" pitchFamily="18" charset="0"/>
              </a:rPr>
              <a:t>Data</a:t>
            </a:r>
            <a:r>
              <a:rPr lang="en-US" altLang="zh-CN" sz="2000" b="1" dirty="0">
                <a:solidFill>
                  <a:srgbClr val="FF0000"/>
                </a:solidFill>
                <a:latin typeface="黑体" pitchFamily="49" charset="-122"/>
                <a:ea typeface="黑体" pitchFamily="49" charset="-122"/>
              </a:rPr>
              <a:t>)</a:t>
            </a:r>
            <a:r>
              <a:rPr lang="zh-CN" altLang="en-US" sz="2000" b="1" dirty="0">
                <a:solidFill>
                  <a:srgbClr val="FF0000"/>
                </a:solidFill>
                <a:latin typeface="黑体" pitchFamily="49" charset="-122"/>
                <a:ea typeface="黑体" pitchFamily="49" charset="-122"/>
              </a:rPr>
              <a:t> ：</a:t>
            </a:r>
            <a:r>
              <a:rPr lang="zh-CN" altLang="en-US" sz="2000" dirty="0">
                <a:latin typeface="黑体" pitchFamily="49" charset="-122"/>
                <a:ea typeface="黑体" pitchFamily="49" charset="-122"/>
                <a:cs typeface="经典粗黑简" pitchFamily="49" charset="-122"/>
              </a:rPr>
              <a:t>是对客观事物的符号表示（通过计算机编码）</a:t>
            </a:r>
            <a:r>
              <a:rPr lang="zh-CN" altLang="en-US" sz="2000" b="1" dirty="0">
                <a:latin typeface="黑体" pitchFamily="49" charset="-122"/>
                <a:ea typeface="黑体" pitchFamily="49" charset="-122"/>
                <a:cs typeface="经典粗黑简" pitchFamily="49" charset="-122"/>
              </a:rPr>
              <a:t>，</a:t>
            </a:r>
            <a:r>
              <a:rPr lang="zh-CN" altLang="en-US" sz="2000" dirty="0">
                <a:latin typeface="黑体" pitchFamily="49" charset="-122"/>
                <a:ea typeface="黑体" pitchFamily="49" charset="-122"/>
                <a:cs typeface="经典粗黑简" pitchFamily="49" charset="-122"/>
              </a:rPr>
              <a:t>在计算机科学中是指所有能</a:t>
            </a:r>
            <a:r>
              <a:rPr lang="zh-CN" altLang="en-US" sz="2000" dirty="0">
                <a:solidFill>
                  <a:srgbClr val="FF0000"/>
                </a:solidFill>
                <a:latin typeface="黑体" pitchFamily="49" charset="-122"/>
                <a:ea typeface="黑体" pitchFamily="49" charset="-122"/>
                <a:cs typeface="经典粗黑简" pitchFamily="49" charset="-122"/>
              </a:rPr>
              <a:t>输入</a:t>
            </a:r>
            <a:r>
              <a:rPr lang="zh-CN" altLang="en-US" sz="2000" dirty="0">
                <a:latin typeface="黑体" pitchFamily="49" charset="-122"/>
                <a:ea typeface="黑体" pitchFamily="49" charset="-122"/>
                <a:cs typeface="经典粗黑简" pitchFamily="49" charset="-122"/>
              </a:rPr>
              <a:t>到计算机中并被计算机程序</a:t>
            </a:r>
            <a:r>
              <a:rPr lang="zh-CN" altLang="en-US" sz="2000" dirty="0">
                <a:solidFill>
                  <a:srgbClr val="FF0000"/>
                </a:solidFill>
                <a:latin typeface="黑体" pitchFamily="49" charset="-122"/>
                <a:ea typeface="黑体" pitchFamily="49" charset="-122"/>
                <a:cs typeface="经典粗黑简" pitchFamily="49" charset="-122"/>
              </a:rPr>
              <a:t>处理</a:t>
            </a:r>
            <a:r>
              <a:rPr lang="zh-CN" altLang="en-US" sz="2000" dirty="0">
                <a:latin typeface="黑体" pitchFamily="49" charset="-122"/>
                <a:ea typeface="黑体" pitchFamily="49" charset="-122"/>
                <a:cs typeface="经典粗黑简" pitchFamily="49" charset="-122"/>
              </a:rPr>
              <a:t>的符号的总称。它是计算机程序加工的“原料”。包括</a:t>
            </a:r>
            <a:r>
              <a:rPr lang="zh-CN" altLang="en-US" sz="2000" u="sng" dirty="0">
                <a:latin typeface="黑体" pitchFamily="49" charset="-122"/>
                <a:ea typeface="黑体" pitchFamily="49" charset="-122"/>
                <a:cs typeface="经典粗黑简" pitchFamily="49" charset="-122"/>
              </a:rPr>
              <a:t>数值、字符，图形、图像、声音、动画、视频等</a:t>
            </a:r>
            <a:r>
              <a:rPr lang="zh-CN" altLang="en-US" sz="2000" dirty="0">
                <a:latin typeface="黑体" pitchFamily="49" charset="-122"/>
                <a:ea typeface="黑体" pitchFamily="49" charset="-122"/>
                <a:cs typeface="经典粗黑简" pitchFamily="49" charset="-122"/>
              </a:rPr>
              <a:t>。</a:t>
            </a:r>
          </a:p>
        </p:txBody>
      </p:sp>
      <p:sp>
        <p:nvSpPr>
          <p:cNvPr id="15" name="矩形 14"/>
          <p:cNvSpPr/>
          <p:nvPr/>
        </p:nvSpPr>
        <p:spPr>
          <a:xfrm>
            <a:off x="300548" y="3924292"/>
            <a:ext cx="1045029"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图像：</a:t>
            </a:r>
            <a:endParaRPr lang="en-US" altLang="zh-CN" sz="2400" dirty="0">
              <a:latin typeface="微软雅黑" pitchFamily="34" charset="-122"/>
              <a:ea typeface="微软雅黑" pitchFamily="34" charset="-122"/>
              <a:cs typeface="经典粗黑简" pitchFamily="49" charset="-122"/>
            </a:endParaRPr>
          </a:p>
        </p:txBody>
      </p:sp>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3647" y="3633688"/>
            <a:ext cx="2164921" cy="1089626"/>
          </a:xfrm>
          <a:prstGeom prst="rect">
            <a:avLst/>
          </a:prstGeom>
        </p:spPr>
      </p:pic>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30296" y="3633688"/>
            <a:ext cx="2301914" cy="1098303"/>
          </a:xfrm>
          <a:prstGeom prst="rect">
            <a:avLst/>
          </a:prstGeom>
        </p:spPr>
      </p:pic>
      <p:pic>
        <p:nvPicPr>
          <p:cNvPr id="23" name="图片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1107" y="3633688"/>
            <a:ext cx="2211334" cy="1098302"/>
          </a:xfrm>
          <a:prstGeom prst="rect">
            <a:avLst/>
          </a:prstGeom>
        </p:spPr>
      </p:pic>
      <p:sp>
        <p:nvSpPr>
          <p:cNvPr id="2" name="Rectangle 2">
            <a:extLst>
              <a:ext uri="{FF2B5EF4-FFF2-40B4-BE49-F238E27FC236}">
                <a16:creationId xmlns:a16="http://schemas.microsoft.com/office/drawing/2014/main" id="{9809F01A-18D5-8030-4C4D-F66462F096E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5" name="矩形 4">
            <a:extLst>
              <a:ext uri="{FF2B5EF4-FFF2-40B4-BE49-F238E27FC236}">
                <a16:creationId xmlns:a16="http://schemas.microsoft.com/office/drawing/2014/main" id="{57DA08F5-0B77-8FC3-6706-72313094CC89}"/>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
        <p:nvSpPr>
          <p:cNvPr id="6" name="矩形 5">
            <a:extLst>
              <a:ext uri="{FF2B5EF4-FFF2-40B4-BE49-F238E27FC236}">
                <a16:creationId xmlns:a16="http://schemas.microsoft.com/office/drawing/2014/main" id="{4B71FDB2-A0CD-7FCC-CC63-D3592307223F}"/>
              </a:ext>
            </a:extLst>
          </p:cNvPr>
          <p:cNvSpPr/>
          <p:nvPr/>
        </p:nvSpPr>
        <p:spPr>
          <a:xfrm>
            <a:off x="1051237" y="1525348"/>
            <a:ext cx="2520280" cy="523220"/>
          </a:xfrm>
          <a:prstGeom prst="rect">
            <a:avLst/>
          </a:prstGeom>
        </p:spPr>
        <p:txBody>
          <a:bodyPr wrap="square">
            <a:spAutoFit/>
          </a:bodyPr>
          <a:lstStyle/>
          <a:p>
            <a:r>
              <a:rPr lang="en-US" altLang="zh-CN" sz="2800" dirty="0">
                <a:latin typeface="黑体" pitchFamily="49" charset="-122"/>
                <a:ea typeface="黑体" pitchFamily="49" charset="-122"/>
              </a:rPr>
              <a:t>1</a:t>
            </a:r>
            <a:r>
              <a:rPr lang="zh-CN" altLang="en-US" sz="2800" dirty="0">
                <a:latin typeface="黑体" pitchFamily="49" charset="-122"/>
                <a:ea typeface="黑体" pitchFamily="49" charset="-122"/>
              </a:rPr>
              <a:t>、什么是数据？</a:t>
            </a:r>
          </a:p>
        </p:txBody>
      </p:sp>
    </p:spTree>
    <p:extLst>
      <p:ext uri="{BB962C8B-B14F-4D97-AF65-F5344CB8AC3E}">
        <p14:creationId xmlns:p14="http://schemas.microsoft.com/office/powerpoint/2010/main" val="348484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527974" y="2256423"/>
            <a:ext cx="8136904" cy="1323439"/>
          </a:xfrm>
          <a:prstGeom prst="rect">
            <a:avLst/>
          </a:prstGeom>
        </p:spPr>
        <p:txBody>
          <a:bodyPr wrap="square">
            <a:spAutoFit/>
          </a:bodyPr>
          <a:lstStyle/>
          <a:p>
            <a:r>
              <a:rPr lang="zh-CN" altLang="en-US" sz="2000" b="1" dirty="0">
                <a:solidFill>
                  <a:srgbClr val="FF0000"/>
                </a:solidFill>
                <a:latin typeface="黑体" pitchFamily="49" charset="-122"/>
                <a:ea typeface="黑体" pitchFamily="49" charset="-122"/>
              </a:rPr>
              <a:t>数据</a:t>
            </a:r>
            <a:r>
              <a:rPr lang="en-US" altLang="zh-CN" sz="2000" b="1" dirty="0">
                <a:solidFill>
                  <a:srgbClr val="FF0000"/>
                </a:solidFill>
                <a:latin typeface="黑体" pitchFamily="49" charset="-122"/>
                <a:ea typeface="黑体" pitchFamily="49" charset="-122"/>
              </a:rPr>
              <a:t>(</a:t>
            </a:r>
            <a:r>
              <a:rPr lang="en-US" altLang="zh-CN" sz="2000" b="1" dirty="0">
                <a:solidFill>
                  <a:srgbClr val="FF0000"/>
                </a:solidFill>
                <a:latin typeface="Times New Roman" pitchFamily="18" charset="0"/>
                <a:ea typeface="黑体" pitchFamily="49" charset="-122"/>
                <a:cs typeface="Times New Roman" pitchFamily="18" charset="0"/>
              </a:rPr>
              <a:t>Data</a:t>
            </a:r>
            <a:r>
              <a:rPr lang="en-US" altLang="zh-CN" sz="2000" b="1" dirty="0">
                <a:solidFill>
                  <a:srgbClr val="FF0000"/>
                </a:solidFill>
                <a:latin typeface="黑体" pitchFamily="49" charset="-122"/>
                <a:ea typeface="黑体" pitchFamily="49" charset="-122"/>
              </a:rPr>
              <a:t>)</a:t>
            </a:r>
            <a:r>
              <a:rPr lang="zh-CN" altLang="en-US" sz="2000" b="1" dirty="0">
                <a:solidFill>
                  <a:srgbClr val="FF0000"/>
                </a:solidFill>
                <a:latin typeface="黑体" pitchFamily="49" charset="-122"/>
                <a:ea typeface="黑体" pitchFamily="49" charset="-122"/>
              </a:rPr>
              <a:t> ：</a:t>
            </a:r>
            <a:r>
              <a:rPr lang="zh-CN" altLang="en-US" sz="2000" dirty="0">
                <a:latin typeface="黑体" pitchFamily="49" charset="-122"/>
                <a:ea typeface="黑体" pitchFamily="49" charset="-122"/>
                <a:cs typeface="经典粗黑简" pitchFamily="49" charset="-122"/>
              </a:rPr>
              <a:t>是对客观事物的符号表示（通过计算机编码）</a:t>
            </a:r>
            <a:r>
              <a:rPr lang="zh-CN" altLang="en-US" sz="2000" b="1" dirty="0">
                <a:latin typeface="黑体" pitchFamily="49" charset="-122"/>
                <a:ea typeface="黑体" pitchFamily="49" charset="-122"/>
                <a:cs typeface="经典粗黑简" pitchFamily="49" charset="-122"/>
              </a:rPr>
              <a:t>，</a:t>
            </a:r>
            <a:r>
              <a:rPr lang="zh-CN" altLang="en-US" sz="2000" dirty="0">
                <a:latin typeface="黑体" pitchFamily="49" charset="-122"/>
                <a:ea typeface="黑体" pitchFamily="49" charset="-122"/>
                <a:cs typeface="经典粗黑简" pitchFamily="49" charset="-122"/>
              </a:rPr>
              <a:t>在计算机科学中是指所有能</a:t>
            </a:r>
            <a:r>
              <a:rPr lang="zh-CN" altLang="en-US" sz="2000" dirty="0">
                <a:solidFill>
                  <a:srgbClr val="FF0000"/>
                </a:solidFill>
                <a:latin typeface="黑体" pitchFamily="49" charset="-122"/>
                <a:ea typeface="黑体" pitchFamily="49" charset="-122"/>
                <a:cs typeface="经典粗黑简" pitchFamily="49" charset="-122"/>
              </a:rPr>
              <a:t>输入</a:t>
            </a:r>
            <a:r>
              <a:rPr lang="zh-CN" altLang="en-US" sz="2000" dirty="0">
                <a:latin typeface="黑体" pitchFamily="49" charset="-122"/>
                <a:ea typeface="黑体" pitchFamily="49" charset="-122"/>
                <a:cs typeface="经典粗黑简" pitchFamily="49" charset="-122"/>
              </a:rPr>
              <a:t>到计算机中并被计算机程序</a:t>
            </a:r>
            <a:r>
              <a:rPr lang="zh-CN" altLang="en-US" sz="2000" dirty="0">
                <a:solidFill>
                  <a:srgbClr val="FF0000"/>
                </a:solidFill>
                <a:latin typeface="黑体" pitchFamily="49" charset="-122"/>
                <a:ea typeface="黑体" pitchFamily="49" charset="-122"/>
                <a:cs typeface="经典粗黑简" pitchFamily="49" charset="-122"/>
              </a:rPr>
              <a:t>处理</a:t>
            </a:r>
            <a:r>
              <a:rPr lang="zh-CN" altLang="en-US" sz="2000" dirty="0">
                <a:latin typeface="黑体" pitchFamily="49" charset="-122"/>
                <a:ea typeface="黑体" pitchFamily="49" charset="-122"/>
                <a:cs typeface="经典粗黑简" pitchFamily="49" charset="-122"/>
              </a:rPr>
              <a:t>的符号的总称。它是计算机程序加工的“原料”。包括</a:t>
            </a:r>
            <a:r>
              <a:rPr lang="zh-CN" altLang="en-US" sz="2000" u="sng" dirty="0">
                <a:latin typeface="黑体" pitchFamily="49" charset="-122"/>
                <a:ea typeface="黑体" pitchFamily="49" charset="-122"/>
                <a:cs typeface="经典粗黑简" pitchFamily="49" charset="-122"/>
              </a:rPr>
              <a:t>数值、字符，图形、图像、声音、动画、视频等</a:t>
            </a:r>
            <a:r>
              <a:rPr lang="zh-CN" altLang="en-US" sz="2000" dirty="0">
                <a:latin typeface="黑体" pitchFamily="49" charset="-122"/>
                <a:ea typeface="黑体" pitchFamily="49" charset="-122"/>
                <a:cs typeface="经典粗黑简" pitchFamily="49" charset="-122"/>
              </a:rPr>
              <a:t>。</a:t>
            </a:r>
          </a:p>
        </p:txBody>
      </p:sp>
      <p:sp>
        <p:nvSpPr>
          <p:cNvPr id="17" name="矩形 16"/>
          <p:cNvSpPr/>
          <p:nvPr/>
        </p:nvSpPr>
        <p:spPr>
          <a:xfrm>
            <a:off x="2471536" y="3867894"/>
            <a:ext cx="1045029"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声音：</a:t>
            </a:r>
            <a:endParaRPr lang="en-US" altLang="zh-CN"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2B456F98-B49F-09BC-ECE4-7AE8B9AD485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5" name="矩形 4">
            <a:extLst>
              <a:ext uri="{FF2B5EF4-FFF2-40B4-BE49-F238E27FC236}">
                <a16:creationId xmlns:a16="http://schemas.microsoft.com/office/drawing/2014/main" id="{1B6A9D3E-C6BB-23F6-ABC8-CDCA58AAA8E6}"/>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
        <p:nvSpPr>
          <p:cNvPr id="6" name="矩形 5">
            <a:extLst>
              <a:ext uri="{FF2B5EF4-FFF2-40B4-BE49-F238E27FC236}">
                <a16:creationId xmlns:a16="http://schemas.microsoft.com/office/drawing/2014/main" id="{E526D3B6-BB62-93E7-6BE6-C9FA60021D30}"/>
              </a:ext>
            </a:extLst>
          </p:cNvPr>
          <p:cNvSpPr/>
          <p:nvPr/>
        </p:nvSpPr>
        <p:spPr>
          <a:xfrm>
            <a:off x="1051237" y="1525348"/>
            <a:ext cx="2520280" cy="523220"/>
          </a:xfrm>
          <a:prstGeom prst="rect">
            <a:avLst/>
          </a:prstGeom>
        </p:spPr>
        <p:txBody>
          <a:bodyPr wrap="square">
            <a:spAutoFit/>
          </a:bodyPr>
          <a:lstStyle/>
          <a:p>
            <a:r>
              <a:rPr lang="en-US" altLang="zh-CN" sz="2800" dirty="0">
                <a:latin typeface="黑体" pitchFamily="49" charset="-122"/>
                <a:ea typeface="黑体" pitchFamily="49" charset="-122"/>
              </a:rPr>
              <a:t>1</a:t>
            </a:r>
            <a:r>
              <a:rPr lang="zh-CN" altLang="en-US" sz="2800" dirty="0">
                <a:latin typeface="黑体" pitchFamily="49" charset="-122"/>
                <a:ea typeface="黑体" pitchFamily="49" charset="-122"/>
              </a:rPr>
              <a:t>、什么是数据？</a:t>
            </a:r>
          </a:p>
        </p:txBody>
      </p:sp>
    </p:spTree>
    <p:extLst>
      <p:ext uri="{BB962C8B-B14F-4D97-AF65-F5344CB8AC3E}">
        <p14:creationId xmlns:p14="http://schemas.microsoft.com/office/powerpoint/2010/main" val="436862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503549" y="2303826"/>
            <a:ext cx="8136904" cy="1323439"/>
          </a:xfrm>
          <a:prstGeom prst="rect">
            <a:avLst/>
          </a:prstGeom>
        </p:spPr>
        <p:txBody>
          <a:bodyPr wrap="square">
            <a:spAutoFit/>
          </a:bodyPr>
          <a:lstStyle/>
          <a:p>
            <a:r>
              <a:rPr lang="zh-CN" altLang="en-US" sz="2000" b="1" dirty="0">
                <a:solidFill>
                  <a:srgbClr val="FF0000"/>
                </a:solidFill>
                <a:latin typeface="黑体" pitchFamily="49" charset="-122"/>
                <a:ea typeface="黑体" pitchFamily="49" charset="-122"/>
              </a:rPr>
              <a:t>数据</a:t>
            </a:r>
            <a:r>
              <a:rPr lang="en-US" altLang="zh-CN" sz="2000" b="1" dirty="0">
                <a:solidFill>
                  <a:srgbClr val="FF0000"/>
                </a:solidFill>
                <a:latin typeface="黑体" pitchFamily="49" charset="-122"/>
                <a:ea typeface="黑体" pitchFamily="49" charset="-122"/>
              </a:rPr>
              <a:t>(</a:t>
            </a:r>
            <a:r>
              <a:rPr lang="en-US" altLang="zh-CN" sz="2000" b="1" dirty="0">
                <a:solidFill>
                  <a:srgbClr val="FF0000"/>
                </a:solidFill>
                <a:latin typeface="Times New Roman" pitchFamily="18" charset="0"/>
                <a:ea typeface="黑体" pitchFamily="49" charset="-122"/>
                <a:cs typeface="Times New Roman" pitchFamily="18" charset="0"/>
              </a:rPr>
              <a:t>Data</a:t>
            </a:r>
            <a:r>
              <a:rPr lang="en-US" altLang="zh-CN" sz="2000" b="1" dirty="0">
                <a:solidFill>
                  <a:srgbClr val="FF0000"/>
                </a:solidFill>
                <a:latin typeface="黑体" pitchFamily="49" charset="-122"/>
                <a:ea typeface="黑体" pitchFamily="49" charset="-122"/>
              </a:rPr>
              <a:t>)</a:t>
            </a:r>
            <a:r>
              <a:rPr lang="zh-CN" altLang="en-US" sz="2000" b="1" dirty="0">
                <a:solidFill>
                  <a:srgbClr val="FF0000"/>
                </a:solidFill>
                <a:latin typeface="黑体" pitchFamily="49" charset="-122"/>
                <a:ea typeface="黑体" pitchFamily="49" charset="-122"/>
              </a:rPr>
              <a:t> ：</a:t>
            </a:r>
            <a:r>
              <a:rPr lang="zh-CN" altLang="en-US" sz="2000" dirty="0">
                <a:latin typeface="黑体" pitchFamily="49" charset="-122"/>
                <a:ea typeface="黑体" pitchFamily="49" charset="-122"/>
                <a:cs typeface="经典粗黑简" pitchFamily="49" charset="-122"/>
              </a:rPr>
              <a:t>是对客观事物的符号表示（通过计算机编码）</a:t>
            </a:r>
            <a:r>
              <a:rPr lang="zh-CN" altLang="en-US" sz="2000" b="1" dirty="0">
                <a:latin typeface="黑体" pitchFamily="49" charset="-122"/>
                <a:ea typeface="黑体" pitchFamily="49" charset="-122"/>
                <a:cs typeface="经典粗黑简" pitchFamily="49" charset="-122"/>
              </a:rPr>
              <a:t>，</a:t>
            </a:r>
            <a:r>
              <a:rPr lang="zh-CN" altLang="en-US" sz="2000" dirty="0">
                <a:latin typeface="黑体" pitchFamily="49" charset="-122"/>
                <a:ea typeface="黑体" pitchFamily="49" charset="-122"/>
                <a:cs typeface="经典粗黑简" pitchFamily="49" charset="-122"/>
              </a:rPr>
              <a:t>在计算机科学中是指所有能</a:t>
            </a:r>
            <a:r>
              <a:rPr lang="zh-CN" altLang="en-US" sz="2000" dirty="0">
                <a:solidFill>
                  <a:srgbClr val="FF0000"/>
                </a:solidFill>
                <a:latin typeface="黑体" pitchFamily="49" charset="-122"/>
                <a:ea typeface="黑体" pitchFamily="49" charset="-122"/>
                <a:cs typeface="经典粗黑简" pitchFamily="49" charset="-122"/>
              </a:rPr>
              <a:t>输入</a:t>
            </a:r>
            <a:r>
              <a:rPr lang="zh-CN" altLang="en-US" sz="2000" dirty="0">
                <a:latin typeface="黑体" pitchFamily="49" charset="-122"/>
                <a:ea typeface="黑体" pitchFamily="49" charset="-122"/>
                <a:cs typeface="经典粗黑简" pitchFamily="49" charset="-122"/>
              </a:rPr>
              <a:t>到计算机中并被计算机程序</a:t>
            </a:r>
            <a:r>
              <a:rPr lang="zh-CN" altLang="en-US" sz="2000" dirty="0">
                <a:solidFill>
                  <a:srgbClr val="FF0000"/>
                </a:solidFill>
                <a:latin typeface="黑体" pitchFamily="49" charset="-122"/>
                <a:ea typeface="黑体" pitchFamily="49" charset="-122"/>
                <a:cs typeface="经典粗黑简" pitchFamily="49" charset="-122"/>
              </a:rPr>
              <a:t>处理</a:t>
            </a:r>
            <a:r>
              <a:rPr lang="zh-CN" altLang="en-US" sz="2000" dirty="0">
                <a:latin typeface="黑体" pitchFamily="49" charset="-122"/>
                <a:ea typeface="黑体" pitchFamily="49" charset="-122"/>
                <a:cs typeface="经典粗黑简" pitchFamily="49" charset="-122"/>
              </a:rPr>
              <a:t>的符号的总称。它是计算机程序加工的“原料”。包括</a:t>
            </a:r>
            <a:r>
              <a:rPr lang="zh-CN" altLang="en-US" sz="2000" u="sng" dirty="0">
                <a:latin typeface="黑体" pitchFamily="49" charset="-122"/>
                <a:ea typeface="黑体" pitchFamily="49" charset="-122"/>
                <a:cs typeface="经典粗黑简" pitchFamily="49" charset="-122"/>
              </a:rPr>
              <a:t>数值、字符，图形、图像、声音、动画、视频等</a:t>
            </a:r>
            <a:r>
              <a:rPr lang="zh-CN" altLang="en-US" sz="2000" dirty="0">
                <a:latin typeface="黑体" pitchFamily="49" charset="-122"/>
                <a:ea typeface="黑体" pitchFamily="49" charset="-122"/>
                <a:cs typeface="经典粗黑简" pitchFamily="49" charset="-122"/>
              </a:rPr>
              <a:t>。</a:t>
            </a:r>
          </a:p>
        </p:txBody>
      </p:sp>
      <p:sp>
        <p:nvSpPr>
          <p:cNvPr id="11" name="矩形 10"/>
          <p:cNvSpPr/>
          <p:nvPr/>
        </p:nvSpPr>
        <p:spPr>
          <a:xfrm>
            <a:off x="1689461" y="3685250"/>
            <a:ext cx="1045029" cy="461665"/>
          </a:xfrm>
          <a:prstGeom prst="rect">
            <a:avLst/>
          </a:prstGeom>
        </p:spPr>
        <p:txBody>
          <a:bodyPr wrap="square">
            <a:spAutoFit/>
          </a:bodyPr>
          <a:lstStyle/>
          <a:p>
            <a:r>
              <a:rPr lang="zh-CN" altLang="en-US" sz="2400" dirty="0">
                <a:latin typeface="微软雅黑" pitchFamily="34" charset="-122"/>
                <a:ea typeface="微软雅黑" pitchFamily="34" charset="-122"/>
                <a:cs typeface="经典粗黑简" pitchFamily="49" charset="-122"/>
              </a:rPr>
              <a:t>视频：</a:t>
            </a:r>
            <a:endParaRPr lang="en-US" altLang="zh-CN" sz="2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507E352F-E52C-B0FB-D720-AFA7C665547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5" name="矩形 4">
            <a:extLst>
              <a:ext uri="{FF2B5EF4-FFF2-40B4-BE49-F238E27FC236}">
                <a16:creationId xmlns:a16="http://schemas.microsoft.com/office/drawing/2014/main" id="{F32DE2AE-19F2-6B52-95BA-B0490487D47B}"/>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
        <p:nvSpPr>
          <p:cNvPr id="6" name="矩形 5">
            <a:extLst>
              <a:ext uri="{FF2B5EF4-FFF2-40B4-BE49-F238E27FC236}">
                <a16:creationId xmlns:a16="http://schemas.microsoft.com/office/drawing/2014/main" id="{275B8DD6-F822-6B61-4FFC-68A32C2E9697}"/>
              </a:ext>
            </a:extLst>
          </p:cNvPr>
          <p:cNvSpPr/>
          <p:nvPr/>
        </p:nvSpPr>
        <p:spPr>
          <a:xfrm>
            <a:off x="1051237" y="1525348"/>
            <a:ext cx="2520280" cy="523220"/>
          </a:xfrm>
          <a:prstGeom prst="rect">
            <a:avLst/>
          </a:prstGeom>
        </p:spPr>
        <p:txBody>
          <a:bodyPr wrap="square">
            <a:spAutoFit/>
          </a:bodyPr>
          <a:lstStyle/>
          <a:p>
            <a:r>
              <a:rPr lang="en-US" altLang="zh-CN" sz="2800" dirty="0">
                <a:latin typeface="黑体" pitchFamily="49" charset="-122"/>
                <a:ea typeface="黑体" pitchFamily="49" charset="-122"/>
              </a:rPr>
              <a:t>1</a:t>
            </a:r>
            <a:r>
              <a:rPr lang="zh-CN" altLang="en-US" sz="2800" dirty="0">
                <a:latin typeface="黑体" pitchFamily="49" charset="-122"/>
                <a:ea typeface="黑体" pitchFamily="49" charset="-122"/>
              </a:rPr>
              <a:t>、什么是数据？</a:t>
            </a:r>
          </a:p>
        </p:txBody>
      </p:sp>
    </p:spTree>
    <p:extLst>
      <p:ext uri="{BB962C8B-B14F-4D97-AF65-F5344CB8AC3E}">
        <p14:creationId xmlns:p14="http://schemas.microsoft.com/office/powerpoint/2010/main" val="396613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455461" y="2463738"/>
            <a:ext cx="8252935" cy="1631216"/>
          </a:xfrm>
          <a:prstGeom prst="rect">
            <a:avLst/>
          </a:prstGeom>
        </p:spPr>
        <p:txBody>
          <a:bodyPr wrap="square">
            <a:spAutoFit/>
          </a:bodyPr>
          <a:lstStyle/>
          <a:p>
            <a:r>
              <a:rPr lang="zh-CN" altLang="en-US" sz="2800" b="1" dirty="0">
                <a:solidFill>
                  <a:srgbClr val="FF0000"/>
                </a:solidFill>
                <a:latin typeface="黑体" pitchFamily="49" charset="-122"/>
                <a:ea typeface="黑体" pitchFamily="49" charset="-122"/>
              </a:rPr>
              <a:t>数据元素</a:t>
            </a:r>
            <a:r>
              <a:rPr lang="zh-CN" altLang="en-US" sz="2800" b="1" dirty="0">
                <a:solidFill>
                  <a:srgbClr val="FF0000"/>
                </a:solidFill>
                <a:latin typeface="方正特雅宋_GBK" pitchFamily="2" charset="-122"/>
                <a:ea typeface="方正特雅宋_GBK" pitchFamily="2" charset="-122"/>
              </a:rPr>
              <a:t>(</a:t>
            </a:r>
            <a:r>
              <a:rPr lang="en-US" altLang="zh-CN" sz="2800" b="1" dirty="0">
                <a:solidFill>
                  <a:srgbClr val="FF0000"/>
                </a:solidFill>
                <a:latin typeface="Times New Roman" pitchFamily="18" charset="0"/>
                <a:ea typeface="方正特雅宋_GBK" pitchFamily="2" charset="-122"/>
                <a:cs typeface="Times New Roman" pitchFamily="18" charset="0"/>
              </a:rPr>
              <a:t>Data Element</a:t>
            </a:r>
            <a:r>
              <a:rPr lang="en-US" altLang="zh-CN" sz="2800" b="1" dirty="0">
                <a:solidFill>
                  <a:srgbClr val="FF0000"/>
                </a:solidFill>
                <a:latin typeface="方正特雅宋_GBK" pitchFamily="2" charset="-122"/>
                <a:ea typeface="方正特雅宋_GBK" pitchFamily="2" charset="-122"/>
              </a:rPr>
              <a:t>)</a:t>
            </a:r>
            <a:r>
              <a:rPr lang="zh-CN" altLang="en-US" sz="2800" b="1" dirty="0">
                <a:solidFill>
                  <a:srgbClr val="FF0000"/>
                </a:solidFill>
                <a:latin typeface="方正特雅宋_GBK" pitchFamily="2" charset="-122"/>
                <a:ea typeface="方正特雅宋_GBK" pitchFamily="2" charset="-122"/>
              </a:rPr>
              <a:t> ：</a:t>
            </a:r>
            <a:r>
              <a:rPr lang="zh-CN" altLang="en-US" sz="2400" dirty="0">
                <a:latin typeface="微软雅黑" pitchFamily="34" charset="-122"/>
                <a:ea typeface="微软雅黑" pitchFamily="34" charset="-122"/>
                <a:cs typeface="经典粗黑简" pitchFamily="49" charset="-122"/>
              </a:rPr>
              <a:t>是数据的基本单位（与现实世界中的一个实体对应），在计算机程序中通常作为一个整体进行处理和考虑，，也称之为</a:t>
            </a:r>
            <a:r>
              <a:rPr lang="zh-CN" altLang="en-US" sz="2400" dirty="0">
                <a:solidFill>
                  <a:srgbClr val="FF0000"/>
                </a:solidFill>
                <a:latin typeface="微软雅黑" pitchFamily="34" charset="-122"/>
                <a:ea typeface="微软雅黑" pitchFamily="34" charset="-122"/>
                <a:cs typeface="经典粗黑简" pitchFamily="49" charset="-122"/>
              </a:rPr>
              <a:t>元素</a:t>
            </a: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Element</a:t>
            </a:r>
            <a:r>
              <a:rPr lang="zh-CN" altLang="en-US" sz="2400" dirty="0">
                <a:latin typeface="微软雅黑" pitchFamily="34" charset="-122"/>
                <a:ea typeface="微软雅黑" pitchFamily="34" charset="-122"/>
                <a:cs typeface="经典粗黑简" pitchFamily="49" charset="-122"/>
              </a:rPr>
              <a:t>）、</a:t>
            </a:r>
            <a:r>
              <a:rPr lang="zh-CN" altLang="en-US" sz="2400" dirty="0">
                <a:solidFill>
                  <a:srgbClr val="FF0000"/>
                </a:solidFill>
                <a:latin typeface="微软雅黑" pitchFamily="34" charset="-122"/>
                <a:ea typeface="微软雅黑" pitchFamily="34" charset="-122"/>
                <a:cs typeface="经典粗黑简" pitchFamily="49" charset="-122"/>
              </a:rPr>
              <a:t>记录</a:t>
            </a:r>
            <a:r>
              <a:rPr lang="zh-CN" altLang="en-US" sz="2400" dirty="0">
                <a:latin typeface="微软雅黑" pitchFamily="34" charset="-122"/>
                <a:ea typeface="微软雅黑" pitchFamily="34" charset="-122"/>
                <a:cs typeface="经典粗黑简" pitchFamily="49" charset="-122"/>
              </a:rPr>
              <a:t>（</a:t>
            </a:r>
            <a:r>
              <a:rPr lang="en-US" altLang="zh-CN" sz="2400" dirty="0">
                <a:latin typeface="微软雅黑" pitchFamily="34" charset="-122"/>
                <a:ea typeface="微软雅黑" pitchFamily="34" charset="-122"/>
                <a:cs typeface="经典粗黑简" pitchFamily="49" charset="-122"/>
              </a:rPr>
              <a:t>Record</a:t>
            </a:r>
            <a:r>
              <a:rPr lang="zh-CN" altLang="en-US" sz="2400" dirty="0">
                <a:latin typeface="微软雅黑" pitchFamily="34" charset="-122"/>
                <a:ea typeface="微软雅黑" pitchFamily="34" charset="-122"/>
                <a:cs typeface="经典粗黑简" pitchFamily="49" charset="-122"/>
              </a:rPr>
              <a:t>）、</a:t>
            </a:r>
            <a:r>
              <a:rPr lang="zh-CN" altLang="en-US" sz="2400" dirty="0">
                <a:solidFill>
                  <a:srgbClr val="FF0000"/>
                </a:solidFill>
                <a:latin typeface="微软雅黑" pitchFamily="34" charset="-122"/>
                <a:ea typeface="微软雅黑" pitchFamily="34" charset="-122"/>
                <a:cs typeface="经典粗黑简" pitchFamily="49" charset="-122"/>
              </a:rPr>
              <a:t>结点</a:t>
            </a:r>
            <a:r>
              <a:rPr lang="en-US" altLang="zh-CN" sz="2400" dirty="0">
                <a:latin typeface="微软雅黑" pitchFamily="34" charset="-122"/>
                <a:ea typeface="微软雅黑" pitchFamily="34" charset="-122"/>
                <a:cs typeface="经典粗黑简" pitchFamily="49" charset="-122"/>
              </a:rPr>
              <a:t>(Node</a:t>
            </a:r>
            <a:r>
              <a:rPr lang="zh-CN" altLang="en-US" sz="2400" dirty="0">
                <a:latin typeface="微软雅黑" pitchFamily="34" charset="-122"/>
                <a:ea typeface="微软雅黑" pitchFamily="34" charset="-122"/>
                <a:cs typeface="经典粗黑简" pitchFamily="49" charset="-122"/>
              </a:rPr>
              <a:t>，节点</a:t>
            </a:r>
            <a:r>
              <a:rPr lang="en-US" altLang="zh-CN" sz="2400" dirty="0">
                <a:latin typeface="微软雅黑" pitchFamily="34" charset="-122"/>
                <a:ea typeface="微软雅黑" pitchFamily="34" charset="-122"/>
                <a:cs typeface="经典粗黑简" pitchFamily="49" charset="-122"/>
              </a:rPr>
              <a:t>) </a:t>
            </a:r>
            <a:r>
              <a:rPr lang="zh-CN" altLang="en-US" sz="2400" dirty="0">
                <a:latin typeface="微软雅黑" pitchFamily="34" charset="-122"/>
                <a:ea typeface="微软雅黑" pitchFamily="34" charset="-122"/>
                <a:cs typeface="经典粗黑简" pitchFamily="49" charset="-122"/>
              </a:rPr>
              <a:t>、</a:t>
            </a:r>
            <a:r>
              <a:rPr lang="zh-CN" altLang="en-US" sz="2400" dirty="0">
                <a:solidFill>
                  <a:srgbClr val="FF0000"/>
                </a:solidFill>
                <a:latin typeface="微软雅黑" pitchFamily="34" charset="-122"/>
                <a:ea typeface="微软雅黑" pitchFamily="34" charset="-122"/>
                <a:cs typeface="经典粗黑简" pitchFamily="49" charset="-122"/>
              </a:rPr>
              <a:t>顶点</a:t>
            </a:r>
            <a:r>
              <a:rPr lang="en-US" altLang="zh-CN" sz="2400" dirty="0">
                <a:latin typeface="微软雅黑" pitchFamily="34" charset="-122"/>
                <a:ea typeface="微软雅黑" pitchFamily="34" charset="-122"/>
                <a:cs typeface="经典粗黑简" pitchFamily="49" charset="-122"/>
              </a:rPr>
              <a:t>(Vertex)</a:t>
            </a:r>
            <a:r>
              <a:rPr lang="zh-CN" altLang="en-US" sz="2400" dirty="0">
                <a:latin typeface="微软雅黑" pitchFamily="34" charset="-122"/>
                <a:ea typeface="微软雅黑" pitchFamily="34" charset="-122"/>
                <a:cs typeface="经典粗黑简" pitchFamily="49" charset="-122"/>
              </a:rPr>
              <a:t> 。</a:t>
            </a:r>
          </a:p>
        </p:txBody>
      </p:sp>
      <p:sp>
        <p:nvSpPr>
          <p:cNvPr id="2" name="Rectangle 2">
            <a:extLst>
              <a:ext uri="{FF2B5EF4-FFF2-40B4-BE49-F238E27FC236}">
                <a16:creationId xmlns:a16="http://schemas.microsoft.com/office/drawing/2014/main" id="{14421127-000F-8E7E-07EA-AFCCB2B2120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5" name="矩形 4">
            <a:extLst>
              <a:ext uri="{FF2B5EF4-FFF2-40B4-BE49-F238E27FC236}">
                <a16:creationId xmlns:a16="http://schemas.microsoft.com/office/drawing/2014/main" id="{374E9FEE-5D38-B046-B512-136896E2F4AF}"/>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
        <p:nvSpPr>
          <p:cNvPr id="6" name="矩形 5">
            <a:extLst>
              <a:ext uri="{FF2B5EF4-FFF2-40B4-BE49-F238E27FC236}">
                <a16:creationId xmlns:a16="http://schemas.microsoft.com/office/drawing/2014/main" id="{7AF2DBB9-CC92-E0FF-513C-2E61C77D1C8B}"/>
              </a:ext>
            </a:extLst>
          </p:cNvPr>
          <p:cNvSpPr/>
          <p:nvPr/>
        </p:nvSpPr>
        <p:spPr>
          <a:xfrm>
            <a:off x="1051237" y="1652240"/>
            <a:ext cx="3520763" cy="523220"/>
          </a:xfrm>
          <a:prstGeom prst="rect">
            <a:avLst/>
          </a:prstGeom>
        </p:spPr>
        <p:txBody>
          <a:bodyPr wrap="square">
            <a:spAutoFit/>
          </a:bodyPr>
          <a:lstStyle/>
          <a:p>
            <a:r>
              <a:rPr lang="en-US" altLang="zh-CN" sz="2800" dirty="0">
                <a:latin typeface="黑体" pitchFamily="49" charset="-122"/>
                <a:ea typeface="黑体" pitchFamily="49" charset="-122"/>
              </a:rPr>
              <a:t>2</a:t>
            </a:r>
            <a:r>
              <a:rPr lang="zh-CN" altLang="en-US" sz="2800" dirty="0">
                <a:latin typeface="黑体" pitchFamily="49" charset="-122"/>
                <a:ea typeface="黑体" pitchFamily="49" charset="-122"/>
              </a:rPr>
              <a:t>、什么是数据元素？</a:t>
            </a:r>
          </a:p>
        </p:txBody>
      </p:sp>
    </p:spTree>
    <p:extLst>
      <p:ext uri="{BB962C8B-B14F-4D97-AF65-F5344CB8AC3E}">
        <p14:creationId xmlns:p14="http://schemas.microsoft.com/office/powerpoint/2010/main" val="82758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03721" y="2212750"/>
            <a:ext cx="8586427" cy="830997"/>
          </a:xfrm>
          <a:prstGeom prst="rect">
            <a:avLst/>
          </a:prstGeom>
        </p:spPr>
        <p:txBody>
          <a:bodyPr wrap="square">
            <a:spAutoFit/>
          </a:bodyPr>
          <a:lstStyle/>
          <a:p>
            <a:r>
              <a:rPr lang="en-US" altLang="zh-CN" sz="1600" dirty="0">
                <a:latin typeface="微软雅黑" pitchFamily="34" charset="-122"/>
                <a:ea typeface="微软雅黑" pitchFamily="34" charset="-122"/>
                <a:cs typeface="经典粗黑简" pitchFamily="49" charset="-122"/>
              </a:rPr>
              <a:t>       </a:t>
            </a:r>
            <a:r>
              <a:rPr lang="zh-CN" altLang="zh-CN" sz="1600" dirty="0">
                <a:latin typeface="微软雅黑" pitchFamily="34" charset="-122"/>
                <a:ea typeface="微软雅黑" pitchFamily="34" charset="-122"/>
                <a:cs typeface="经典粗黑简" pitchFamily="49" charset="-122"/>
              </a:rPr>
              <a:t>一个数据元素可以由若干个</a:t>
            </a:r>
            <a:r>
              <a:rPr lang="zh-CN" altLang="zh-CN" sz="1600" dirty="0">
                <a:solidFill>
                  <a:srgbClr val="FF0000"/>
                </a:solidFill>
                <a:latin typeface="微软雅黑" pitchFamily="34" charset="-122"/>
                <a:ea typeface="微软雅黑" pitchFamily="34" charset="-122"/>
                <a:cs typeface="经典粗黑简" pitchFamily="49" charset="-122"/>
              </a:rPr>
              <a:t>数据项</a:t>
            </a:r>
            <a:r>
              <a:rPr lang="zh-CN" altLang="zh-CN" sz="1600" dirty="0">
                <a:latin typeface="微软雅黑" pitchFamily="34" charset="-122"/>
                <a:ea typeface="微软雅黑" pitchFamily="34" charset="-122"/>
                <a:cs typeface="经典粗黑简" pitchFamily="49" charset="-122"/>
              </a:rPr>
              <a:t>（Item</a:t>
            </a:r>
            <a:r>
              <a:rPr lang="zh-CN" altLang="en-US" sz="1600" dirty="0">
                <a:latin typeface="微软雅黑" pitchFamily="34" charset="-122"/>
                <a:ea typeface="微软雅黑" pitchFamily="34" charset="-122"/>
                <a:cs typeface="经典粗黑简" pitchFamily="49" charset="-122"/>
              </a:rPr>
              <a:t>）</a:t>
            </a:r>
            <a:r>
              <a:rPr lang="zh-CN" altLang="zh-CN" sz="1600" dirty="0">
                <a:latin typeface="微软雅黑" pitchFamily="34" charset="-122"/>
                <a:ea typeface="微软雅黑" pitchFamily="34" charset="-122"/>
                <a:cs typeface="经典粗黑简" pitchFamily="49" charset="-122"/>
              </a:rPr>
              <a:t>组成，</a:t>
            </a:r>
            <a:r>
              <a:rPr lang="zh-CN" altLang="en-US" sz="1600" dirty="0">
                <a:latin typeface="微软雅黑" pitchFamily="34" charset="-122"/>
                <a:ea typeface="微软雅黑" pitchFamily="34" charset="-122"/>
                <a:cs typeface="经典粗黑简" pitchFamily="49" charset="-122"/>
              </a:rPr>
              <a:t>与实体的某个方面的属性（</a:t>
            </a:r>
            <a:r>
              <a:rPr lang="en-US" altLang="zh-CN" sz="1600" dirty="0">
                <a:latin typeface="微软雅黑" pitchFamily="34" charset="-122"/>
                <a:ea typeface="微软雅黑" pitchFamily="34" charset="-122"/>
                <a:cs typeface="经典粗黑简" pitchFamily="49" charset="-122"/>
              </a:rPr>
              <a:t> Attribute </a:t>
            </a:r>
            <a:r>
              <a:rPr lang="zh-CN" altLang="en-US" sz="1600" dirty="0">
                <a:latin typeface="微软雅黑" pitchFamily="34" charset="-122"/>
                <a:ea typeface="微软雅黑" pitchFamily="34" charset="-122"/>
                <a:cs typeface="经典粗黑简" pitchFamily="49" charset="-122"/>
              </a:rPr>
              <a:t>）相对应，也</a:t>
            </a:r>
            <a:r>
              <a:rPr lang="zh-CN" altLang="zh-CN" sz="1600" dirty="0">
                <a:latin typeface="微软雅黑" pitchFamily="34" charset="-122"/>
                <a:ea typeface="微软雅黑" pitchFamily="34" charset="-122"/>
                <a:cs typeface="经典粗黑简" pitchFamily="49" charset="-122"/>
              </a:rPr>
              <a:t>称之为字段</a:t>
            </a:r>
            <a:r>
              <a:rPr lang="zh-CN" altLang="en-US" sz="1600" dirty="0">
                <a:latin typeface="微软雅黑" pitchFamily="34" charset="-122"/>
                <a:ea typeface="微软雅黑" pitchFamily="34" charset="-122"/>
                <a:cs typeface="经典粗黑简" pitchFamily="49" charset="-122"/>
              </a:rPr>
              <a:t>或者</a:t>
            </a:r>
            <a:r>
              <a:rPr lang="zh-CN" altLang="zh-CN" sz="1600" dirty="0">
                <a:latin typeface="微软雅黑" pitchFamily="34" charset="-122"/>
                <a:ea typeface="微软雅黑" pitchFamily="34" charset="-122"/>
                <a:cs typeface="经典粗黑简" pitchFamily="49" charset="-122"/>
              </a:rPr>
              <a:t>域</a:t>
            </a:r>
            <a:r>
              <a:rPr lang="zh-CN" altLang="en-US" sz="1600" dirty="0">
                <a:latin typeface="微软雅黑" pitchFamily="34" charset="-122"/>
                <a:ea typeface="微软雅黑" pitchFamily="34" charset="-122"/>
                <a:cs typeface="经典粗黑简" pitchFamily="49" charset="-122"/>
              </a:rPr>
              <a:t>（</a:t>
            </a:r>
            <a:r>
              <a:rPr lang="en-US" altLang="zh-CN" sz="1600" dirty="0">
                <a:latin typeface="微软雅黑" pitchFamily="34" charset="-122"/>
                <a:ea typeface="微软雅黑" pitchFamily="34" charset="-122"/>
                <a:cs typeface="经典粗黑简" pitchFamily="49" charset="-122"/>
              </a:rPr>
              <a:t>Field</a:t>
            </a:r>
            <a:r>
              <a:rPr lang="zh-CN" altLang="en-US" sz="1600" dirty="0">
                <a:latin typeface="微软雅黑" pitchFamily="34" charset="-122"/>
                <a:ea typeface="微软雅黑" pitchFamily="34" charset="-122"/>
                <a:cs typeface="经典粗黑简" pitchFamily="49" charset="-122"/>
              </a:rPr>
              <a:t>）。</a:t>
            </a:r>
            <a:r>
              <a:rPr lang="zh-CN" altLang="zh-CN" sz="1600" dirty="0">
                <a:latin typeface="微软雅黑" pitchFamily="34" charset="-122"/>
                <a:ea typeface="微软雅黑" pitchFamily="34" charset="-122"/>
                <a:cs typeface="经典粗黑简" pitchFamily="49" charset="-122"/>
              </a:rPr>
              <a:t>如</a:t>
            </a:r>
            <a:r>
              <a:rPr lang="zh-CN" altLang="en-US" sz="1600" dirty="0">
                <a:latin typeface="微软雅黑" pitchFamily="34" charset="-122"/>
                <a:ea typeface="微软雅黑" pitchFamily="34" charset="-122"/>
                <a:cs typeface="经典粗黑简" pitchFamily="49" charset="-122"/>
              </a:rPr>
              <a:t>学生成绩</a:t>
            </a:r>
            <a:r>
              <a:rPr lang="zh-CN" altLang="zh-CN" sz="1600" dirty="0">
                <a:latin typeface="微软雅黑" pitchFamily="34" charset="-122"/>
                <a:ea typeface="微软雅黑" pitchFamily="34" charset="-122"/>
                <a:cs typeface="经典粗黑简" pitchFamily="49" charset="-122"/>
              </a:rPr>
              <a:t>表中的某一行信息就是一个数据元素，它含有学生</a:t>
            </a:r>
            <a:r>
              <a:rPr lang="zh-CN" altLang="en-US" sz="1600" dirty="0">
                <a:latin typeface="微软雅黑" pitchFamily="34" charset="-122"/>
                <a:ea typeface="微软雅黑" pitchFamily="34" charset="-122"/>
                <a:cs typeface="经典粗黑简" pitchFamily="49" charset="-122"/>
              </a:rPr>
              <a:t>的学号、</a:t>
            </a:r>
            <a:r>
              <a:rPr lang="zh-CN" altLang="zh-CN" sz="1600" dirty="0">
                <a:latin typeface="微软雅黑" pitchFamily="34" charset="-122"/>
                <a:ea typeface="微软雅黑" pitchFamily="34" charset="-122"/>
                <a:cs typeface="经典粗黑简" pitchFamily="49" charset="-122"/>
              </a:rPr>
              <a:t>姓名、</a:t>
            </a:r>
            <a:r>
              <a:rPr lang="zh-CN" altLang="en-US" sz="1600" dirty="0">
                <a:latin typeface="微软雅黑" pitchFamily="34" charset="-122"/>
                <a:ea typeface="微软雅黑" pitchFamily="34" charset="-122"/>
                <a:cs typeface="经典粗黑简" pitchFamily="49" charset="-122"/>
              </a:rPr>
              <a:t>课程成绩</a:t>
            </a:r>
            <a:r>
              <a:rPr lang="zh-CN" altLang="zh-CN" sz="1600" dirty="0">
                <a:latin typeface="微软雅黑" pitchFamily="34" charset="-122"/>
                <a:ea typeface="微软雅黑" pitchFamily="34" charset="-122"/>
                <a:cs typeface="经典粗黑简" pitchFamily="49" charset="-122"/>
              </a:rPr>
              <a:t>等数据项。</a:t>
            </a:r>
            <a:endParaRPr lang="zh-CN" altLang="en-US" sz="1600" dirty="0">
              <a:solidFill>
                <a:srgbClr val="FF0000"/>
              </a:solidFill>
              <a:latin typeface="微软雅黑" pitchFamily="34" charset="-122"/>
              <a:ea typeface="微软雅黑" pitchFamily="34" charset="-122"/>
              <a:cs typeface="经典粗黑简" pitchFamily="49" charset="-122"/>
            </a:endParaRPr>
          </a:p>
        </p:txBody>
      </p:sp>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9" y="3145726"/>
            <a:ext cx="8567964" cy="194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0" name="组合 19"/>
          <p:cNvGrpSpPr/>
          <p:nvPr/>
        </p:nvGrpSpPr>
        <p:grpSpPr>
          <a:xfrm>
            <a:off x="5300997" y="2919619"/>
            <a:ext cx="1724297" cy="400943"/>
            <a:chOff x="7071359" y="2843520"/>
            <a:chExt cx="1724297" cy="534591"/>
          </a:xfrm>
        </p:grpSpPr>
        <p:sp>
          <p:nvSpPr>
            <p:cNvPr id="21" name="矩形标注 20"/>
            <p:cNvSpPr/>
            <p:nvPr/>
          </p:nvSpPr>
          <p:spPr>
            <a:xfrm>
              <a:off x="7071359" y="2843520"/>
              <a:ext cx="1724297" cy="453628"/>
            </a:xfrm>
            <a:prstGeom prst="wedgeRectCallout">
              <a:avLst>
                <a:gd name="adj1" fmla="val -42705"/>
                <a:gd name="adj2" fmla="val 1661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extBox 21"/>
            <p:cNvSpPr txBox="1"/>
            <p:nvPr/>
          </p:nvSpPr>
          <p:spPr>
            <a:xfrm>
              <a:off x="7189515" y="2885668"/>
              <a:ext cx="1432561" cy="492443"/>
            </a:xfrm>
            <a:prstGeom prst="rect">
              <a:avLst/>
            </a:prstGeom>
            <a:noFill/>
          </p:spPr>
          <p:txBody>
            <a:bodyPr wrap="square" rtlCol="0">
              <a:spAutoFit/>
            </a:bodyPr>
            <a:lstStyle/>
            <a:p>
              <a:r>
                <a:rPr lang="zh-CN" altLang="en-US" dirty="0"/>
                <a:t>字段（</a:t>
              </a:r>
              <a:r>
                <a:rPr lang="en-US" altLang="zh-CN" dirty="0"/>
                <a:t>Field</a:t>
              </a:r>
              <a:r>
                <a:rPr lang="zh-CN" altLang="en-US" dirty="0"/>
                <a:t>）</a:t>
              </a:r>
            </a:p>
          </p:txBody>
        </p:sp>
      </p:grpSp>
      <p:sp>
        <p:nvSpPr>
          <p:cNvPr id="23" name="矩形 22"/>
          <p:cNvSpPr/>
          <p:nvPr/>
        </p:nvSpPr>
        <p:spPr>
          <a:xfrm>
            <a:off x="4554752" y="3543858"/>
            <a:ext cx="1330982" cy="1542018"/>
          </a:xfrm>
          <a:prstGeom prst="rect">
            <a:avLst/>
          </a:prstGeom>
          <a:solidFill>
            <a:srgbClr val="FFC000">
              <a:alpha val="4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70819" y="4314867"/>
            <a:ext cx="8564516" cy="255105"/>
          </a:xfrm>
          <a:prstGeom prst="rect">
            <a:avLst/>
          </a:prstGeom>
          <a:solidFill>
            <a:srgbClr val="FFC000">
              <a:alpha val="4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1824564" y="3000019"/>
            <a:ext cx="1689463" cy="424313"/>
            <a:chOff x="10398033" y="3641968"/>
            <a:chExt cx="1689463" cy="565750"/>
          </a:xfrm>
        </p:grpSpPr>
        <p:sp>
          <p:nvSpPr>
            <p:cNvPr id="26" name="矩形标注 25"/>
            <p:cNvSpPr/>
            <p:nvPr/>
          </p:nvSpPr>
          <p:spPr>
            <a:xfrm>
              <a:off x="10398033" y="3641968"/>
              <a:ext cx="1602377" cy="453628"/>
            </a:xfrm>
            <a:prstGeom prst="wedgeRectCallout">
              <a:avLst>
                <a:gd name="adj1" fmla="val -65696"/>
                <a:gd name="adj2" fmla="val 35006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10398033" y="3715275"/>
              <a:ext cx="1689463" cy="492443"/>
            </a:xfrm>
            <a:prstGeom prst="rect">
              <a:avLst/>
            </a:prstGeom>
            <a:noFill/>
          </p:spPr>
          <p:txBody>
            <a:bodyPr wrap="square" rtlCol="0">
              <a:spAutoFit/>
            </a:bodyPr>
            <a:lstStyle/>
            <a:p>
              <a:r>
                <a:rPr lang="zh-CN" altLang="en-US" dirty="0"/>
                <a:t>记录（</a:t>
              </a:r>
              <a:r>
                <a:rPr lang="en-US" altLang="zh-CN" dirty="0"/>
                <a:t>Record</a:t>
              </a:r>
              <a:r>
                <a:rPr lang="zh-CN" altLang="en-US" dirty="0"/>
                <a:t>）</a:t>
              </a:r>
            </a:p>
          </p:txBody>
        </p:sp>
      </p:grpSp>
      <p:sp>
        <p:nvSpPr>
          <p:cNvPr id="2" name="Rectangle 2">
            <a:extLst>
              <a:ext uri="{FF2B5EF4-FFF2-40B4-BE49-F238E27FC236}">
                <a16:creationId xmlns:a16="http://schemas.microsoft.com/office/drawing/2014/main" id="{B70D3A9F-9DAF-D174-4663-871A673C589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9F118EB7-B9CD-D74C-3208-4473FC1AA42C}"/>
              </a:ext>
            </a:extLst>
          </p:cNvPr>
          <p:cNvSpPr/>
          <p:nvPr/>
        </p:nvSpPr>
        <p:spPr>
          <a:xfrm>
            <a:off x="1115616" y="1524551"/>
            <a:ext cx="3240360" cy="523220"/>
          </a:xfrm>
          <a:prstGeom prst="rect">
            <a:avLst/>
          </a:prstGeom>
        </p:spPr>
        <p:txBody>
          <a:bodyPr wrap="square">
            <a:spAutoFit/>
          </a:bodyPr>
          <a:lstStyle/>
          <a:p>
            <a:r>
              <a:rPr lang="en-US" altLang="zh-CN" sz="2800" dirty="0">
                <a:latin typeface="黑体" pitchFamily="49" charset="-122"/>
                <a:ea typeface="黑体" pitchFamily="49" charset="-122"/>
              </a:rPr>
              <a:t>3</a:t>
            </a:r>
            <a:r>
              <a:rPr lang="zh-CN" altLang="en-US" sz="2800" dirty="0">
                <a:latin typeface="黑体" pitchFamily="49" charset="-122"/>
                <a:ea typeface="黑体" pitchFamily="49" charset="-122"/>
              </a:rPr>
              <a:t>、什么是数据项？</a:t>
            </a:r>
          </a:p>
        </p:txBody>
      </p:sp>
      <p:sp>
        <p:nvSpPr>
          <p:cNvPr id="4" name="矩形 3">
            <a:extLst>
              <a:ext uri="{FF2B5EF4-FFF2-40B4-BE49-F238E27FC236}">
                <a16:creationId xmlns:a16="http://schemas.microsoft.com/office/drawing/2014/main" id="{C3757F15-B9C8-30B5-9332-D0BA853BE1D7}"/>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142307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78787" y="2321471"/>
            <a:ext cx="8586427" cy="1323439"/>
          </a:xfrm>
          <a:prstGeom prst="rect">
            <a:avLst/>
          </a:prstGeom>
        </p:spPr>
        <p:txBody>
          <a:bodyPr wrap="square">
            <a:spAutoFit/>
          </a:bodyPr>
          <a:lstStyle/>
          <a:p>
            <a:r>
              <a:rPr lang="en-US" altLang="zh-CN" sz="2000" dirty="0">
                <a:latin typeface="微软雅黑" pitchFamily="34" charset="-122"/>
                <a:ea typeface="微软雅黑" pitchFamily="34" charset="-122"/>
                <a:cs typeface="经典粗黑简" pitchFamily="49" charset="-122"/>
              </a:rPr>
              <a:t>       </a:t>
            </a:r>
            <a:r>
              <a:rPr lang="zh-CN" altLang="zh-CN" sz="2000" dirty="0">
                <a:latin typeface="微软雅黑" pitchFamily="34" charset="-122"/>
                <a:ea typeface="微软雅黑" pitchFamily="34" charset="-122"/>
                <a:cs typeface="经典粗黑简" pitchFamily="49" charset="-122"/>
              </a:rPr>
              <a:t>一个数据元素可以由若干个</a:t>
            </a:r>
            <a:r>
              <a:rPr lang="zh-CN" altLang="zh-CN" sz="2000" dirty="0">
                <a:solidFill>
                  <a:srgbClr val="FF0000"/>
                </a:solidFill>
                <a:latin typeface="微软雅黑" pitchFamily="34" charset="-122"/>
                <a:ea typeface="微软雅黑" pitchFamily="34" charset="-122"/>
                <a:cs typeface="经典粗黑简" pitchFamily="49" charset="-122"/>
              </a:rPr>
              <a:t>数据项</a:t>
            </a:r>
            <a:r>
              <a:rPr lang="zh-CN" altLang="zh-CN" sz="2000" dirty="0">
                <a:latin typeface="微软雅黑" pitchFamily="34" charset="-122"/>
                <a:ea typeface="微软雅黑" pitchFamily="34" charset="-122"/>
                <a:cs typeface="经典粗黑简" pitchFamily="49" charset="-122"/>
              </a:rPr>
              <a:t>（Item</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组成，</a:t>
            </a:r>
            <a:r>
              <a:rPr lang="zh-CN" altLang="en-US" sz="2000" dirty="0">
                <a:latin typeface="微软雅黑" pitchFamily="34" charset="-122"/>
                <a:ea typeface="微软雅黑" pitchFamily="34" charset="-122"/>
                <a:cs typeface="经典粗黑简" pitchFamily="49" charset="-122"/>
              </a:rPr>
              <a:t>与实体的某个方面的属性（</a:t>
            </a:r>
            <a:r>
              <a:rPr lang="en-US" altLang="zh-CN" sz="2000" dirty="0">
                <a:latin typeface="微软雅黑" pitchFamily="34" charset="-122"/>
                <a:ea typeface="微软雅黑" pitchFamily="34" charset="-122"/>
                <a:cs typeface="经典粗黑简" pitchFamily="49" charset="-122"/>
              </a:rPr>
              <a:t> Attribute </a:t>
            </a:r>
            <a:r>
              <a:rPr lang="zh-CN" altLang="en-US" sz="2000" dirty="0">
                <a:latin typeface="微软雅黑" pitchFamily="34" charset="-122"/>
                <a:ea typeface="微软雅黑" pitchFamily="34" charset="-122"/>
                <a:cs typeface="经典粗黑简" pitchFamily="49" charset="-122"/>
              </a:rPr>
              <a:t>）相对应，也</a:t>
            </a:r>
            <a:r>
              <a:rPr lang="zh-CN" altLang="zh-CN" sz="2000" dirty="0">
                <a:latin typeface="微软雅黑" pitchFamily="34" charset="-122"/>
                <a:ea typeface="微软雅黑" pitchFamily="34" charset="-122"/>
                <a:cs typeface="经典粗黑简" pitchFamily="49" charset="-122"/>
              </a:rPr>
              <a:t>称之为字段</a:t>
            </a:r>
            <a:r>
              <a:rPr lang="zh-CN" altLang="en-US" sz="2000" dirty="0">
                <a:latin typeface="微软雅黑" pitchFamily="34" charset="-122"/>
                <a:ea typeface="微软雅黑" pitchFamily="34" charset="-122"/>
                <a:cs typeface="经典粗黑简" pitchFamily="49" charset="-122"/>
              </a:rPr>
              <a:t>或者</a:t>
            </a:r>
            <a:r>
              <a:rPr lang="zh-CN" altLang="zh-CN" sz="2000" dirty="0">
                <a:latin typeface="微软雅黑" pitchFamily="34" charset="-122"/>
                <a:ea typeface="微软雅黑" pitchFamily="34" charset="-122"/>
                <a:cs typeface="经典粗黑简" pitchFamily="49" charset="-122"/>
              </a:rPr>
              <a:t>域</a:t>
            </a: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Field</a:t>
            </a:r>
            <a:r>
              <a:rPr lang="zh-CN" altLang="en-US" sz="2000" dirty="0">
                <a:latin typeface="微软雅黑" pitchFamily="34" charset="-122"/>
                <a:ea typeface="微软雅黑" pitchFamily="34" charset="-122"/>
                <a:cs typeface="经典粗黑简" pitchFamily="49" charset="-122"/>
              </a:rPr>
              <a:t>）。</a:t>
            </a:r>
            <a:r>
              <a:rPr lang="zh-CN" altLang="zh-CN" sz="2000" dirty="0">
                <a:latin typeface="微软雅黑" pitchFamily="34" charset="-122"/>
                <a:ea typeface="微软雅黑" pitchFamily="34" charset="-122"/>
                <a:cs typeface="经典粗黑简" pitchFamily="49" charset="-122"/>
              </a:rPr>
              <a:t>如</a:t>
            </a:r>
            <a:r>
              <a:rPr lang="zh-CN" altLang="en-US" sz="2000" dirty="0">
                <a:latin typeface="微软雅黑" pitchFamily="34" charset="-122"/>
                <a:ea typeface="微软雅黑" pitchFamily="34" charset="-122"/>
                <a:cs typeface="经典粗黑简" pitchFamily="49" charset="-122"/>
              </a:rPr>
              <a:t>学生成绩</a:t>
            </a:r>
            <a:r>
              <a:rPr lang="zh-CN" altLang="zh-CN" sz="2000" dirty="0">
                <a:latin typeface="微软雅黑" pitchFamily="34" charset="-122"/>
                <a:ea typeface="微软雅黑" pitchFamily="34" charset="-122"/>
                <a:cs typeface="经典粗黑简" pitchFamily="49" charset="-122"/>
              </a:rPr>
              <a:t>表中的某一行信息就是一个数据元素，它含有学生</a:t>
            </a:r>
            <a:r>
              <a:rPr lang="zh-CN" altLang="en-US" sz="2000" dirty="0">
                <a:latin typeface="微软雅黑" pitchFamily="34" charset="-122"/>
                <a:ea typeface="微软雅黑" pitchFamily="34" charset="-122"/>
                <a:cs typeface="经典粗黑简" pitchFamily="49" charset="-122"/>
              </a:rPr>
              <a:t>的学号、</a:t>
            </a:r>
            <a:r>
              <a:rPr lang="zh-CN" altLang="zh-CN" sz="2000" dirty="0">
                <a:latin typeface="微软雅黑" pitchFamily="34" charset="-122"/>
                <a:ea typeface="微软雅黑" pitchFamily="34" charset="-122"/>
                <a:cs typeface="经典粗黑简" pitchFamily="49" charset="-122"/>
              </a:rPr>
              <a:t>姓名、</a:t>
            </a:r>
            <a:r>
              <a:rPr lang="zh-CN" altLang="en-US" sz="2000" dirty="0">
                <a:latin typeface="微软雅黑" pitchFamily="34" charset="-122"/>
                <a:ea typeface="微软雅黑" pitchFamily="34" charset="-122"/>
                <a:cs typeface="经典粗黑简" pitchFamily="49" charset="-122"/>
              </a:rPr>
              <a:t>课程成绩</a:t>
            </a:r>
            <a:r>
              <a:rPr lang="zh-CN" altLang="zh-CN" sz="2000" dirty="0">
                <a:latin typeface="微软雅黑" pitchFamily="34" charset="-122"/>
                <a:ea typeface="微软雅黑" pitchFamily="34" charset="-122"/>
                <a:cs typeface="经典粗黑简" pitchFamily="49" charset="-122"/>
              </a:rPr>
              <a:t>等数据项。</a:t>
            </a:r>
            <a:endParaRPr lang="zh-CN" altLang="en-US" sz="2000" dirty="0">
              <a:solidFill>
                <a:srgbClr val="FF0000"/>
              </a:solidFill>
              <a:latin typeface="微软雅黑" pitchFamily="34" charset="-122"/>
              <a:ea typeface="微软雅黑" pitchFamily="34" charset="-122"/>
              <a:cs typeface="经典粗黑简" pitchFamily="49" charset="-122"/>
            </a:endParaRPr>
          </a:p>
        </p:txBody>
      </p:sp>
      <p:sp>
        <p:nvSpPr>
          <p:cNvPr id="28" name="矩形 27"/>
          <p:cNvSpPr/>
          <p:nvPr/>
        </p:nvSpPr>
        <p:spPr>
          <a:xfrm>
            <a:off x="617575" y="3735081"/>
            <a:ext cx="7908849" cy="400110"/>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数据项是具有独立含义的最小标识单位，是</a:t>
            </a:r>
            <a:r>
              <a:rPr lang="zh-CN" altLang="zh-CN" sz="2000" dirty="0">
                <a:solidFill>
                  <a:srgbClr val="FF0000"/>
                </a:solidFill>
                <a:latin typeface="微软雅黑" pitchFamily="34" charset="-122"/>
                <a:ea typeface="微软雅黑" pitchFamily="34" charset="-122"/>
                <a:cs typeface="经典粗黑简" pitchFamily="49" charset="-122"/>
              </a:rPr>
              <a:t>不可分割</a:t>
            </a:r>
            <a:r>
              <a:rPr lang="zh-CN" altLang="zh-CN" sz="2000" dirty="0">
                <a:latin typeface="微软雅黑" pitchFamily="34" charset="-122"/>
                <a:ea typeface="微软雅黑" pitchFamily="34" charset="-122"/>
                <a:cs typeface="经典粗黑简" pitchFamily="49" charset="-122"/>
              </a:rPr>
              <a:t>的最小单位。</a:t>
            </a:r>
            <a:endParaRPr lang="zh-CN" altLang="en-US" sz="20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E561A103-9CBA-CDD7-643C-98AE4DF98D5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5" name="矩形 4">
            <a:extLst>
              <a:ext uri="{FF2B5EF4-FFF2-40B4-BE49-F238E27FC236}">
                <a16:creationId xmlns:a16="http://schemas.microsoft.com/office/drawing/2014/main" id="{48474DE0-245D-390A-25B0-6554F7D98AD3}"/>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
        <p:nvSpPr>
          <p:cNvPr id="6" name="矩形 5">
            <a:extLst>
              <a:ext uri="{FF2B5EF4-FFF2-40B4-BE49-F238E27FC236}">
                <a16:creationId xmlns:a16="http://schemas.microsoft.com/office/drawing/2014/main" id="{051384CF-099E-611C-DDFB-57A7F9900F3D}"/>
              </a:ext>
            </a:extLst>
          </p:cNvPr>
          <p:cNvSpPr/>
          <p:nvPr/>
        </p:nvSpPr>
        <p:spPr>
          <a:xfrm>
            <a:off x="1115616" y="1524551"/>
            <a:ext cx="3240360" cy="523220"/>
          </a:xfrm>
          <a:prstGeom prst="rect">
            <a:avLst/>
          </a:prstGeom>
        </p:spPr>
        <p:txBody>
          <a:bodyPr wrap="square">
            <a:spAutoFit/>
          </a:bodyPr>
          <a:lstStyle/>
          <a:p>
            <a:r>
              <a:rPr lang="en-US" altLang="zh-CN" sz="2800" dirty="0">
                <a:latin typeface="黑体" pitchFamily="49" charset="-122"/>
                <a:ea typeface="黑体" pitchFamily="49" charset="-122"/>
              </a:rPr>
              <a:t>3</a:t>
            </a:r>
            <a:r>
              <a:rPr lang="zh-CN" altLang="en-US" sz="2800" dirty="0">
                <a:latin typeface="黑体" pitchFamily="49" charset="-122"/>
                <a:ea typeface="黑体" pitchFamily="49" charset="-122"/>
              </a:rPr>
              <a:t>、什么是数据项？</a:t>
            </a:r>
          </a:p>
        </p:txBody>
      </p:sp>
    </p:spTree>
    <p:extLst>
      <p:ext uri="{BB962C8B-B14F-4D97-AF65-F5344CB8AC3E}">
        <p14:creationId xmlns:p14="http://schemas.microsoft.com/office/powerpoint/2010/main" val="3638645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551209" y="2283718"/>
            <a:ext cx="8414700" cy="892552"/>
          </a:xfrm>
          <a:prstGeom prst="rect">
            <a:avLst/>
          </a:prstGeom>
        </p:spPr>
        <p:txBody>
          <a:bodyPr wrap="square">
            <a:spAutoFit/>
          </a:bodyPr>
          <a:lstStyle/>
          <a:p>
            <a:r>
              <a:rPr lang="zh-CN" altLang="en-US" sz="2800" b="1" dirty="0">
                <a:solidFill>
                  <a:srgbClr val="FF0000"/>
                </a:solidFill>
                <a:latin typeface="黑体" pitchFamily="49" charset="-122"/>
                <a:ea typeface="黑体" pitchFamily="49" charset="-122"/>
              </a:rPr>
              <a:t>数据对象</a:t>
            </a:r>
            <a:r>
              <a:rPr lang="zh-CN" altLang="en-US" sz="2800" b="1" dirty="0">
                <a:solidFill>
                  <a:srgbClr val="FF0000"/>
                </a:solidFill>
                <a:latin typeface="方正特雅宋_GBK" pitchFamily="2" charset="-122"/>
                <a:ea typeface="方正特雅宋_GBK" pitchFamily="2" charset="-122"/>
              </a:rPr>
              <a:t>(</a:t>
            </a:r>
            <a:r>
              <a:rPr lang="en-US" altLang="zh-CN" sz="2800" b="1" dirty="0">
                <a:solidFill>
                  <a:srgbClr val="FF0000"/>
                </a:solidFill>
                <a:latin typeface="Times New Roman" pitchFamily="18" charset="0"/>
                <a:ea typeface="方正特雅宋_GBK" pitchFamily="2" charset="-122"/>
                <a:cs typeface="Times New Roman" pitchFamily="18" charset="0"/>
              </a:rPr>
              <a:t>Data Object</a:t>
            </a:r>
            <a:r>
              <a:rPr lang="en-US" altLang="zh-CN" sz="2800" b="1" dirty="0">
                <a:solidFill>
                  <a:srgbClr val="FF0000"/>
                </a:solidFill>
                <a:latin typeface="方正特雅宋_GBK" pitchFamily="2" charset="-122"/>
                <a:ea typeface="方正特雅宋_GBK" pitchFamily="2" charset="-122"/>
              </a:rPr>
              <a:t>)</a:t>
            </a:r>
            <a:r>
              <a:rPr lang="zh-CN" altLang="en-US" sz="2800" b="1" dirty="0">
                <a:solidFill>
                  <a:srgbClr val="FF0000"/>
                </a:solidFill>
                <a:latin typeface="方正特雅宋_GBK" pitchFamily="2" charset="-122"/>
                <a:ea typeface="方正特雅宋_GBK" pitchFamily="2" charset="-122"/>
              </a:rPr>
              <a:t> ：</a:t>
            </a:r>
            <a:r>
              <a:rPr lang="zh-CN" altLang="en-US" sz="2400" dirty="0">
                <a:latin typeface="微软雅黑" pitchFamily="34" charset="-122"/>
                <a:ea typeface="微软雅黑" pitchFamily="34" charset="-122"/>
                <a:cs typeface="经典粗黑简" pitchFamily="49" charset="-122"/>
              </a:rPr>
              <a:t>是性质相同的数据元素的集合，是数据的一个子集。</a:t>
            </a:r>
          </a:p>
        </p:txBody>
      </p:sp>
      <p:sp>
        <p:nvSpPr>
          <p:cNvPr id="14" name="Rectangle 4"/>
          <p:cNvSpPr>
            <a:spLocks noChangeArrowheads="1"/>
          </p:cNvSpPr>
          <p:nvPr/>
        </p:nvSpPr>
        <p:spPr bwMode="auto">
          <a:xfrm>
            <a:off x="769972" y="3219822"/>
            <a:ext cx="7920037"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266700"/>
            <a:r>
              <a:rPr lang="zh-CN" altLang="en-US" sz="2400" dirty="0">
                <a:latin typeface="Adobe 楷体 Std R" pitchFamily="18" charset="-122"/>
                <a:ea typeface="Adobe 楷体 Std R" pitchFamily="18" charset="-122"/>
              </a:rPr>
              <a:t>     比如，在</a:t>
            </a:r>
            <a:r>
              <a:rPr lang="en-US" altLang="zh-CN" sz="2400" dirty="0">
                <a:latin typeface="Adobe 楷体 Std R" pitchFamily="18" charset="-122"/>
                <a:ea typeface="Adobe 楷体 Std R" pitchFamily="18" charset="-122"/>
              </a:rPr>
              <a:t>C</a:t>
            </a:r>
            <a:r>
              <a:rPr lang="zh-CN" altLang="en-US" sz="2400" dirty="0">
                <a:latin typeface="Adobe 楷体 Std R" pitchFamily="18" charset="-122"/>
                <a:ea typeface="Adobe 楷体 Std R" pitchFamily="18" charset="-122"/>
              </a:rPr>
              <a:t>语言程序中我们定义了一个整型变量</a:t>
            </a:r>
          </a:p>
          <a:p>
            <a:pPr indent="266700"/>
            <a:r>
              <a:rPr lang="en-US" altLang="zh-CN" sz="2000" dirty="0">
                <a:latin typeface="微软雅黑" pitchFamily="34" charset="-122"/>
                <a:ea typeface="微软雅黑" pitchFamily="34" charset="-122"/>
                <a:cs typeface="经典粗黑简" pitchFamily="49" charset="-122"/>
              </a:rPr>
              <a:t>      </a:t>
            </a:r>
            <a:r>
              <a:rPr lang="en-US" altLang="zh-CN" sz="2000" dirty="0" err="1">
                <a:latin typeface="微软雅黑" pitchFamily="34" charset="-122"/>
                <a:ea typeface="微软雅黑" pitchFamily="34" charset="-122"/>
                <a:cs typeface="经典粗黑简" pitchFamily="49" charset="-122"/>
              </a:rPr>
              <a:t>int</a:t>
            </a:r>
            <a:r>
              <a:rPr lang="en-US" altLang="zh-CN" sz="2000" dirty="0">
                <a:latin typeface="微软雅黑" pitchFamily="34" charset="-122"/>
                <a:ea typeface="微软雅黑" pitchFamily="34" charset="-122"/>
                <a:cs typeface="经典粗黑简" pitchFamily="49" charset="-122"/>
              </a:rPr>
              <a:t> i</a:t>
            </a:r>
            <a:r>
              <a:rPr lang="zh-CN" altLang="en-US" sz="2000" dirty="0">
                <a:latin typeface="微软雅黑" pitchFamily="34" charset="-122"/>
                <a:ea typeface="微软雅黑" pitchFamily="34" charset="-122"/>
                <a:cs typeface="经典粗黑简" pitchFamily="49" charset="-122"/>
              </a:rPr>
              <a:t>；</a:t>
            </a:r>
          </a:p>
          <a:p>
            <a:pPr indent="266700"/>
            <a:r>
              <a:rPr lang="zh-CN" altLang="en-US" sz="2400" dirty="0">
                <a:latin typeface="Adobe 楷体 Std R" pitchFamily="18" charset="-122"/>
                <a:ea typeface="Adobe 楷体 Std R" pitchFamily="18" charset="-122"/>
              </a:rPr>
              <a:t>    实际上是定义了一个整数数据对象，它是一种数据，是数据的子集。 </a:t>
            </a:r>
          </a:p>
        </p:txBody>
      </p:sp>
      <p:sp>
        <p:nvSpPr>
          <p:cNvPr id="2" name="Rectangle 2">
            <a:extLst>
              <a:ext uri="{FF2B5EF4-FFF2-40B4-BE49-F238E27FC236}">
                <a16:creationId xmlns:a16="http://schemas.microsoft.com/office/drawing/2014/main" id="{65756C02-9E3E-74AE-9066-074FFEBA9C9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4" name="矩形 3">
            <a:extLst>
              <a:ext uri="{FF2B5EF4-FFF2-40B4-BE49-F238E27FC236}">
                <a16:creationId xmlns:a16="http://schemas.microsoft.com/office/drawing/2014/main" id="{2F222245-7575-010A-5E9F-98313C63C4B1}"/>
              </a:ext>
            </a:extLst>
          </p:cNvPr>
          <p:cNvSpPr/>
          <p:nvPr/>
        </p:nvSpPr>
        <p:spPr>
          <a:xfrm>
            <a:off x="1115616" y="1580908"/>
            <a:ext cx="3960440" cy="523220"/>
          </a:xfrm>
          <a:prstGeom prst="rect">
            <a:avLst/>
          </a:prstGeom>
        </p:spPr>
        <p:txBody>
          <a:bodyPr wrap="square">
            <a:spAutoFit/>
          </a:bodyPr>
          <a:lstStyle/>
          <a:p>
            <a:r>
              <a:rPr lang="en-US" altLang="zh-CN" sz="2800" dirty="0">
                <a:latin typeface="黑体" pitchFamily="49" charset="-122"/>
                <a:ea typeface="黑体" pitchFamily="49" charset="-122"/>
              </a:rPr>
              <a:t>4</a:t>
            </a:r>
            <a:r>
              <a:rPr lang="zh-CN" altLang="en-US" sz="2800" dirty="0">
                <a:latin typeface="黑体" pitchFamily="49" charset="-122"/>
                <a:ea typeface="黑体" pitchFamily="49" charset="-122"/>
              </a:rPr>
              <a:t>、什么是数据对象？</a:t>
            </a:r>
          </a:p>
        </p:txBody>
      </p:sp>
      <p:sp>
        <p:nvSpPr>
          <p:cNvPr id="5" name="矩形 4">
            <a:extLst>
              <a:ext uri="{FF2B5EF4-FFF2-40B4-BE49-F238E27FC236}">
                <a16:creationId xmlns:a16="http://schemas.microsoft.com/office/drawing/2014/main" id="{A9D5EF11-83AD-2D01-1AA3-89702C512D55}"/>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709918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A710B-6589-53E9-8183-98198F210FDD}"/>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E40A2647-42CB-9641-FF13-DC27EB9F30E6}"/>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F0B1C227-E862-7467-F352-7B605349B315}"/>
              </a:ext>
            </a:extLst>
          </p:cNvPr>
          <p:cNvSpPr/>
          <p:nvPr/>
        </p:nvSpPr>
        <p:spPr>
          <a:xfrm>
            <a:off x="971599" y="2283718"/>
            <a:ext cx="7200801" cy="954107"/>
          </a:xfrm>
          <a:prstGeom prst="rect">
            <a:avLst/>
          </a:prstGeom>
        </p:spPr>
        <p:txBody>
          <a:bodyPr wrap="square">
            <a:spAutoFit/>
          </a:bodyPr>
          <a:lstStyle/>
          <a:p>
            <a:r>
              <a:rPr lang="zh-CN" altLang="en-US" sz="2800" b="1" dirty="0">
                <a:solidFill>
                  <a:srgbClr val="FF0000"/>
                </a:solidFill>
                <a:latin typeface="黑体" pitchFamily="49" charset="-122"/>
                <a:ea typeface="黑体" pitchFamily="49" charset="-122"/>
              </a:rPr>
              <a:t>数据运算</a:t>
            </a:r>
            <a:r>
              <a:rPr lang="zh-CN" altLang="en-US" sz="2800" b="1" dirty="0">
                <a:solidFill>
                  <a:srgbClr val="FF0000"/>
                </a:solidFill>
                <a:latin typeface="方正特雅宋_GBK" pitchFamily="2" charset="-122"/>
                <a:ea typeface="方正特雅宋_GBK" pitchFamily="2" charset="-122"/>
              </a:rPr>
              <a:t>(</a:t>
            </a:r>
            <a:r>
              <a:rPr lang="en-US" altLang="zh-CN" sz="2800" b="1" dirty="0">
                <a:solidFill>
                  <a:srgbClr val="FF0000"/>
                </a:solidFill>
                <a:latin typeface="Times New Roman" pitchFamily="18" charset="0"/>
                <a:ea typeface="方正特雅宋_GBK" pitchFamily="2" charset="-122"/>
                <a:cs typeface="Times New Roman" pitchFamily="18" charset="0"/>
              </a:rPr>
              <a:t>Data Operation</a:t>
            </a:r>
            <a:r>
              <a:rPr lang="en-US" altLang="zh-CN" sz="2800" b="1" dirty="0">
                <a:solidFill>
                  <a:srgbClr val="FF0000"/>
                </a:solidFill>
                <a:latin typeface="方正特雅宋_GBK" pitchFamily="2" charset="-122"/>
                <a:ea typeface="方正特雅宋_GBK" pitchFamily="2" charset="-122"/>
              </a:rPr>
              <a:t>)</a:t>
            </a:r>
            <a:r>
              <a:rPr lang="zh-CN" altLang="en-US" sz="2800" b="1" dirty="0">
                <a:solidFill>
                  <a:srgbClr val="FF0000"/>
                </a:solidFill>
                <a:latin typeface="方正特雅宋_GBK" pitchFamily="2" charset="-122"/>
                <a:ea typeface="方正特雅宋_GBK" pitchFamily="2" charset="-122"/>
              </a:rPr>
              <a:t> ：</a:t>
            </a:r>
            <a:r>
              <a:rPr lang="zh-CN" altLang="en-US" sz="2800" dirty="0">
                <a:latin typeface="黑体" pitchFamily="49" charset="-122"/>
                <a:ea typeface="黑体" pitchFamily="49" charset="-122"/>
              </a:rPr>
              <a:t>施加在数据上的一些</a:t>
            </a:r>
            <a:r>
              <a:rPr lang="zh-CN" altLang="en-US" sz="2800" dirty="0">
                <a:solidFill>
                  <a:srgbClr val="FF0000"/>
                </a:solidFill>
                <a:latin typeface="黑体" pitchFamily="49" charset="-122"/>
                <a:ea typeface="黑体" pitchFamily="49" charset="-122"/>
              </a:rPr>
              <a:t>操作</a:t>
            </a:r>
            <a:r>
              <a:rPr lang="zh-CN" altLang="en-US" sz="2800" dirty="0">
                <a:latin typeface="黑体" pitchFamily="49" charset="-122"/>
                <a:ea typeface="黑体" pitchFamily="49" charset="-122"/>
              </a:rPr>
              <a:t>。</a:t>
            </a:r>
          </a:p>
        </p:txBody>
      </p:sp>
      <p:sp>
        <p:nvSpPr>
          <p:cNvPr id="2" name="Rectangle 2">
            <a:extLst>
              <a:ext uri="{FF2B5EF4-FFF2-40B4-BE49-F238E27FC236}">
                <a16:creationId xmlns:a16="http://schemas.microsoft.com/office/drawing/2014/main" id="{BC377BE7-8F96-DCCE-E8D0-23F5A9B906B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4" name="矩形 3">
            <a:extLst>
              <a:ext uri="{FF2B5EF4-FFF2-40B4-BE49-F238E27FC236}">
                <a16:creationId xmlns:a16="http://schemas.microsoft.com/office/drawing/2014/main" id="{5F2F4DA2-DAB1-7419-95F6-DFE94552CAE0}"/>
              </a:ext>
            </a:extLst>
          </p:cNvPr>
          <p:cNvSpPr/>
          <p:nvPr/>
        </p:nvSpPr>
        <p:spPr>
          <a:xfrm>
            <a:off x="1115616" y="1580908"/>
            <a:ext cx="3960440" cy="523220"/>
          </a:xfrm>
          <a:prstGeom prst="rect">
            <a:avLst/>
          </a:prstGeom>
        </p:spPr>
        <p:txBody>
          <a:bodyPr wrap="square">
            <a:spAutoFit/>
          </a:bodyPr>
          <a:lstStyle/>
          <a:p>
            <a:r>
              <a:rPr lang="en-US" altLang="zh-CN" sz="2800" dirty="0">
                <a:latin typeface="黑体" pitchFamily="49" charset="-122"/>
                <a:ea typeface="黑体" pitchFamily="49" charset="-122"/>
              </a:rPr>
              <a:t>5</a:t>
            </a:r>
            <a:r>
              <a:rPr lang="zh-CN" altLang="en-US" sz="2800" dirty="0">
                <a:latin typeface="黑体" pitchFamily="49" charset="-122"/>
                <a:ea typeface="黑体" pitchFamily="49" charset="-122"/>
              </a:rPr>
              <a:t>、什么是数据的运算？</a:t>
            </a:r>
          </a:p>
        </p:txBody>
      </p:sp>
      <p:sp>
        <p:nvSpPr>
          <p:cNvPr id="5" name="矩形 4">
            <a:extLst>
              <a:ext uri="{FF2B5EF4-FFF2-40B4-BE49-F238E27FC236}">
                <a16:creationId xmlns:a16="http://schemas.microsoft.com/office/drawing/2014/main" id="{E10961EA-108B-7549-77DB-D9350C913E82}"/>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64066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092756" y="3651012"/>
            <a:ext cx="7223659" cy="488577"/>
          </a:xfrm>
          <a:prstGeom prst="rect">
            <a:avLst/>
          </a:prstGeom>
          <a:noFill/>
          <a:ln w="57150" algn="ctr">
            <a:noFill/>
            <a:miter lim="800000"/>
            <a:headEnd/>
            <a:tailEnd type="none" w="lg" len="lg"/>
          </a:ln>
          <a:effectLst/>
        </p:spPr>
        <p:txBody>
          <a:bodyPr wrap="square" tIns="57132" bIns="0">
            <a:spAutoFit/>
          </a:bodyPr>
          <a:lstStyle/>
          <a:p>
            <a:pPr marL="342900" indent="-342900"/>
            <a:r>
              <a:rPr lang="zh-CN" altLang="en-US" sz="2800" b="1" dirty="0">
                <a:solidFill>
                  <a:srgbClr val="FF0000"/>
                </a:solidFill>
                <a:latin typeface="微软雅黑" pitchFamily="34" charset="-122"/>
                <a:ea typeface="微软雅黑" pitchFamily="34" charset="-122"/>
                <a:cs typeface="Times New Roman" pitchFamily="18" charset="0"/>
              </a:rPr>
              <a:t>数据结构</a:t>
            </a:r>
            <a:r>
              <a:rPr lang="zh-CN" altLang="en-US" sz="2800" b="1" dirty="0">
                <a:solidFill>
                  <a:srgbClr val="0000FF"/>
                </a:solidFill>
                <a:latin typeface="Times New Roman" pitchFamily="18" charset="0"/>
                <a:ea typeface="楷体" pitchFamily="49" charset="-122"/>
                <a:cs typeface="Times New Roman" pitchFamily="18" charset="0"/>
              </a:rPr>
              <a:t>    ＝      </a:t>
            </a:r>
            <a:r>
              <a:rPr lang="zh-CN" altLang="en-US" sz="2800" b="1" dirty="0">
                <a:solidFill>
                  <a:srgbClr val="C00000"/>
                </a:solidFill>
                <a:latin typeface="Times New Roman" pitchFamily="18" charset="0"/>
                <a:ea typeface="楷体" pitchFamily="49" charset="-122"/>
                <a:cs typeface="Times New Roman" pitchFamily="18" charset="0"/>
              </a:rPr>
              <a:t>数据对象</a:t>
            </a:r>
            <a:r>
              <a:rPr lang="zh-CN" altLang="en-US" sz="2800" b="1" dirty="0">
                <a:solidFill>
                  <a:srgbClr val="0000FF"/>
                </a:solidFill>
                <a:latin typeface="Times New Roman" pitchFamily="18" charset="0"/>
                <a:ea typeface="楷体" pitchFamily="49" charset="-122"/>
                <a:cs typeface="Times New Roman" pitchFamily="18" charset="0"/>
              </a:rPr>
              <a:t>　　＋　   </a:t>
            </a:r>
            <a:r>
              <a:rPr lang="zh-CN" altLang="en-US" sz="2800" b="1" dirty="0">
                <a:solidFill>
                  <a:srgbClr val="C00000"/>
                </a:solidFill>
                <a:latin typeface="Times New Roman" pitchFamily="18" charset="0"/>
                <a:ea typeface="楷体" pitchFamily="49" charset="-122"/>
                <a:cs typeface="Times New Roman" pitchFamily="18" charset="0"/>
              </a:rPr>
              <a:t>结构</a:t>
            </a:r>
          </a:p>
        </p:txBody>
      </p:sp>
      <p:sp>
        <p:nvSpPr>
          <p:cNvPr id="10" name="TextBox 9"/>
          <p:cNvSpPr txBox="1"/>
          <p:nvPr/>
        </p:nvSpPr>
        <p:spPr>
          <a:xfrm>
            <a:off x="6156177" y="4115862"/>
            <a:ext cx="2304256" cy="984500"/>
          </a:xfrm>
          <a:prstGeom prst="rect">
            <a:avLst/>
          </a:prstGeom>
          <a:noFill/>
        </p:spPr>
        <p:txBody>
          <a:bodyPr wrap="square" rtlCol="0">
            <a:spAutoFit/>
          </a:bodyPr>
          <a:lstStyle/>
          <a:p>
            <a:pPr algn="ctr">
              <a:lnSpc>
                <a:spcPct val="130000"/>
              </a:lnSpc>
            </a:pPr>
            <a:r>
              <a:rPr lang="zh-CN" altLang="en-US" sz="2400" dirty="0">
                <a:latin typeface="黑体" pitchFamily="49" charset="-122"/>
                <a:ea typeface="黑体" pitchFamily="49" charset="-122"/>
              </a:rPr>
              <a:t>数据元素之间关系构成结构</a:t>
            </a:r>
          </a:p>
        </p:txBody>
      </p:sp>
      <p:sp>
        <p:nvSpPr>
          <p:cNvPr id="11" name="TextBox 10"/>
          <p:cNvSpPr txBox="1"/>
          <p:nvPr/>
        </p:nvSpPr>
        <p:spPr>
          <a:xfrm>
            <a:off x="3534442" y="4082311"/>
            <a:ext cx="2075115" cy="984500"/>
          </a:xfrm>
          <a:prstGeom prst="rect">
            <a:avLst/>
          </a:prstGeom>
          <a:noFill/>
        </p:spPr>
        <p:txBody>
          <a:bodyPr wrap="square" rtlCol="0">
            <a:spAutoFit/>
          </a:bodyPr>
          <a:lstStyle/>
          <a:p>
            <a:pPr>
              <a:lnSpc>
                <a:spcPct val="130000"/>
              </a:lnSpc>
            </a:pPr>
            <a:r>
              <a:rPr lang="zh-CN" altLang="en-US" sz="2400" dirty="0">
                <a:latin typeface="黑体" pitchFamily="49" charset="-122"/>
                <a:ea typeface="黑体" pitchFamily="49" charset="-122"/>
              </a:rPr>
              <a:t>相同性质的数据元素的集合</a:t>
            </a:r>
          </a:p>
        </p:txBody>
      </p:sp>
      <p:cxnSp>
        <p:nvCxnSpPr>
          <p:cNvPr id="6" name="直接连接符 5">
            <a:extLst>
              <a:ext uri="{FF2B5EF4-FFF2-40B4-BE49-F238E27FC236}">
                <a16:creationId xmlns:a16="http://schemas.microsoft.com/office/drawing/2014/main" id="{1341771B-6895-281D-B01B-98EB63A8DA37}"/>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 name="Rectangle 2">
            <a:extLst>
              <a:ext uri="{FF2B5EF4-FFF2-40B4-BE49-F238E27FC236}">
                <a16:creationId xmlns:a16="http://schemas.microsoft.com/office/drawing/2014/main" id="{7F2C0508-740B-DF19-E6C5-565A39F0B85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8" name="矩形 7">
            <a:extLst>
              <a:ext uri="{FF2B5EF4-FFF2-40B4-BE49-F238E27FC236}">
                <a16:creationId xmlns:a16="http://schemas.microsoft.com/office/drawing/2014/main" id="{5E943ED5-9B98-5B04-EA2D-D49076B84ABB}"/>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
        <p:nvSpPr>
          <p:cNvPr id="9" name="矩形 8">
            <a:extLst>
              <a:ext uri="{FF2B5EF4-FFF2-40B4-BE49-F238E27FC236}">
                <a16:creationId xmlns:a16="http://schemas.microsoft.com/office/drawing/2014/main" id="{C62FC57F-A843-606B-793A-5EE26F13850D}"/>
              </a:ext>
            </a:extLst>
          </p:cNvPr>
          <p:cNvSpPr/>
          <p:nvPr/>
        </p:nvSpPr>
        <p:spPr>
          <a:xfrm>
            <a:off x="395537" y="1491630"/>
            <a:ext cx="8352926" cy="1569660"/>
          </a:xfrm>
          <a:prstGeom prst="rect">
            <a:avLst/>
          </a:prstGeom>
          <a:noFill/>
          <a:ln>
            <a:noFill/>
          </a:ln>
        </p:spPr>
        <p:txBody>
          <a:bodyPr wrap="square">
            <a:spAutoFit/>
          </a:bodyPr>
          <a:lstStyle/>
          <a:p>
            <a:r>
              <a:rPr lang="en-US" altLang="zh-CN" sz="2400" dirty="0">
                <a:latin typeface="黑体" pitchFamily="49" charset="-122"/>
                <a:ea typeface="黑体" pitchFamily="49" charset="-122"/>
              </a:rPr>
              <a:t>    </a:t>
            </a:r>
            <a:r>
              <a:rPr lang="zh-CN" altLang="zh-CN" sz="2400" dirty="0">
                <a:latin typeface="黑体" pitchFamily="49" charset="-122"/>
                <a:ea typeface="黑体" pitchFamily="49" charset="-122"/>
              </a:rPr>
              <a:t>数据结构就是研究</a:t>
            </a:r>
            <a:r>
              <a:rPr lang="zh-CN" altLang="zh-CN" sz="2400" u="sng" dirty="0">
                <a:solidFill>
                  <a:srgbClr val="FF0000"/>
                </a:solidFill>
                <a:latin typeface="黑体" pitchFamily="49" charset="-122"/>
                <a:ea typeface="黑体" pitchFamily="49" charset="-122"/>
              </a:rPr>
              <a:t>非数值计算</a:t>
            </a:r>
            <a:r>
              <a:rPr lang="zh-CN" altLang="zh-CN" sz="2400" dirty="0">
                <a:latin typeface="黑体" pitchFamily="49" charset="-122"/>
                <a:ea typeface="黑体" pitchFamily="49" charset="-122"/>
              </a:rPr>
              <a:t>问题中的</a:t>
            </a:r>
            <a:r>
              <a:rPr lang="zh-CN" altLang="zh-CN" sz="2400" dirty="0">
                <a:solidFill>
                  <a:srgbClr val="FF0000"/>
                </a:solidFill>
                <a:latin typeface="黑体" pitchFamily="49" charset="-122"/>
                <a:ea typeface="黑体" pitchFamily="49" charset="-122"/>
              </a:rPr>
              <a:t>数据</a:t>
            </a:r>
            <a:r>
              <a:rPr lang="zh-CN" altLang="zh-CN" sz="2400" dirty="0">
                <a:latin typeface="黑体" pitchFamily="49" charset="-122"/>
                <a:ea typeface="黑体" pitchFamily="49" charset="-122"/>
              </a:rPr>
              <a:t>以及它们之间的</a:t>
            </a:r>
            <a:r>
              <a:rPr lang="zh-CN" altLang="zh-CN" sz="2400" dirty="0">
                <a:solidFill>
                  <a:srgbClr val="FF0000"/>
                </a:solidFill>
                <a:latin typeface="黑体" pitchFamily="49" charset="-122"/>
                <a:ea typeface="黑体" pitchFamily="49" charset="-122"/>
              </a:rPr>
              <a:t>关系</a:t>
            </a:r>
            <a:r>
              <a:rPr lang="zh-CN" altLang="zh-CN" sz="2400" dirty="0">
                <a:latin typeface="黑体" pitchFamily="49" charset="-122"/>
                <a:ea typeface="黑体" pitchFamily="49" charset="-122"/>
              </a:rPr>
              <a:t>和</a:t>
            </a:r>
            <a:r>
              <a:rPr lang="zh-CN" altLang="zh-CN" sz="2400" dirty="0">
                <a:solidFill>
                  <a:srgbClr val="FF0000"/>
                </a:solidFill>
                <a:latin typeface="黑体" pitchFamily="49" charset="-122"/>
                <a:ea typeface="黑体" pitchFamily="49" charset="-122"/>
              </a:rPr>
              <a:t>操作</a:t>
            </a:r>
            <a:r>
              <a:rPr lang="zh-CN" altLang="zh-CN" sz="2400" dirty="0">
                <a:latin typeface="黑体" pitchFamily="49" charset="-122"/>
                <a:ea typeface="黑体" pitchFamily="49" charset="-122"/>
              </a:rPr>
              <a:t>算法的学科，具体主要包含</a:t>
            </a:r>
            <a:r>
              <a:rPr lang="en-US" altLang="zh-CN" sz="2400" dirty="0">
                <a:latin typeface="黑体" pitchFamily="49" charset="-122"/>
                <a:ea typeface="黑体" pitchFamily="49" charset="-122"/>
              </a:rPr>
              <a:t>3</a:t>
            </a:r>
            <a:r>
              <a:rPr lang="zh-CN" altLang="zh-CN" sz="2400" dirty="0">
                <a:latin typeface="黑体" pitchFamily="49" charset="-122"/>
                <a:ea typeface="黑体" pitchFamily="49" charset="-122"/>
              </a:rPr>
              <a:t>个方面的内容：数据的</a:t>
            </a:r>
            <a:r>
              <a:rPr lang="zh-CN" altLang="zh-CN" sz="2400" dirty="0">
                <a:solidFill>
                  <a:srgbClr val="FF0000"/>
                </a:solidFill>
                <a:latin typeface="黑体" pitchFamily="49" charset="-122"/>
                <a:ea typeface="黑体" pitchFamily="49" charset="-122"/>
              </a:rPr>
              <a:t>逻辑结构</a:t>
            </a:r>
            <a:r>
              <a:rPr lang="zh-CN" altLang="zh-CN" sz="2400" dirty="0">
                <a:latin typeface="黑体" pitchFamily="49" charset="-122"/>
                <a:ea typeface="黑体" pitchFamily="49" charset="-122"/>
              </a:rPr>
              <a:t>、数据的</a:t>
            </a:r>
            <a:r>
              <a:rPr lang="zh-CN" altLang="zh-CN" sz="2400" dirty="0">
                <a:solidFill>
                  <a:srgbClr val="FF0000"/>
                </a:solidFill>
                <a:latin typeface="黑体" pitchFamily="49" charset="-122"/>
                <a:ea typeface="黑体" pitchFamily="49" charset="-122"/>
              </a:rPr>
              <a:t>存储结构</a:t>
            </a:r>
            <a:r>
              <a:rPr lang="zh-CN" altLang="zh-CN" sz="2400" dirty="0">
                <a:latin typeface="黑体" pitchFamily="49" charset="-122"/>
                <a:ea typeface="黑体" pitchFamily="49" charset="-122"/>
              </a:rPr>
              <a:t>（物理结构）和数据的操作</a:t>
            </a:r>
            <a:r>
              <a:rPr lang="zh-CN" altLang="zh-CN" sz="2400" dirty="0">
                <a:solidFill>
                  <a:srgbClr val="FF0000"/>
                </a:solidFill>
                <a:latin typeface="黑体" pitchFamily="49" charset="-122"/>
                <a:ea typeface="黑体" pitchFamily="49" charset="-122"/>
              </a:rPr>
              <a:t>算法</a:t>
            </a:r>
            <a:r>
              <a:rPr lang="zh-CN" altLang="en-US" sz="2400" dirty="0">
                <a:latin typeface="黑体" pitchFamily="49" charset="-122"/>
                <a:ea typeface="黑体" pitchFamily="49" charset="-122"/>
              </a:rPr>
              <a:t>。</a:t>
            </a:r>
          </a:p>
        </p:txBody>
      </p:sp>
      <p:sp>
        <p:nvSpPr>
          <p:cNvPr id="14" name="文本框 13">
            <a:extLst>
              <a:ext uri="{FF2B5EF4-FFF2-40B4-BE49-F238E27FC236}">
                <a16:creationId xmlns:a16="http://schemas.microsoft.com/office/drawing/2014/main" id="{C485C36E-9E45-2F59-1E02-46282CA90CFC}"/>
              </a:ext>
            </a:extLst>
          </p:cNvPr>
          <p:cNvSpPr txBox="1"/>
          <p:nvPr/>
        </p:nvSpPr>
        <p:spPr>
          <a:xfrm>
            <a:off x="1078252" y="3048231"/>
            <a:ext cx="5976272" cy="476669"/>
          </a:xfrm>
          <a:prstGeom prst="rect">
            <a:avLst/>
          </a:prstGeom>
          <a:noFill/>
        </p:spPr>
        <p:txBody>
          <a:bodyPr wrap="square">
            <a:spAutoFit/>
          </a:bodyPr>
          <a:lstStyle/>
          <a:p>
            <a:pPr>
              <a:lnSpc>
                <a:spcPct val="120000"/>
              </a:lnSpc>
            </a:pPr>
            <a:r>
              <a:rPr lang="zh-CN" altLang="en-US" sz="2400" dirty="0">
                <a:latin typeface="黑体" pitchFamily="49" charset="-122"/>
                <a:ea typeface="黑体" pitchFamily="49" charset="-122"/>
              </a:rPr>
              <a:t>数据结构：是指带结构的数据元素的集合。</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6565-71F5-D92C-69FF-8CC3315CD014}"/>
            </a:ext>
          </a:extLst>
        </p:cNvPr>
        <p:cNvGrpSpPr/>
        <p:nvPr/>
      </p:nvGrpSpPr>
      <p:grpSpPr>
        <a:xfrm>
          <a:off x="0" y="0"/>
          <a:ext cx="0" cy="0"/>
          <a:chOff x="0" y="0"/>
          <a:chExt cx="0" cy="0"/>
        </a:xfrm>
      </p:grpSpPr>
      <p:cxnSp>
        <p:nvCxnSpPr>
          <p:cNvPr id="13" name="直接连接符 12">
            <a:extLst>
              <a:ext uri="{FF2B5EF4-FFF2-40B4-BE49-F238E27FC236}">
                <a16:creationId xmlns:a16="http://schemas.microsoft.com/office/drawing/2014/main" id="{E5065E92-E9FC-3A24-4EE2-DB0E7034B721}"/>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E9256E11-3ABA-5531-26DF-414B7B15F7A6}"/>
              </a:ext>
            </a:extLst>
          </p:cNvPr>
          <p:cNvSpPr/>
          <p:nvPr/>
        </p:nvSpPr>
        <p:spPr>
          <a:xfrm>
            <a:off x="395537" y="1491630"/>
            <a:ext cx="8352926" cy="1569660"/>
          </a:xfrm>
          <a:prstGeom prst="rect">
            <a:avLst/>
          </a:prstGeom>
          <a:noFill/>
          <a:ln>
            <a:noFill/>
          </a:ln>
        </p:spPr>
        <p:txBody>
          <a:bodyPr wrap="square">
            <a:spAutoFit/>
          </a:bodyPr>
          <a:lstStyle/>
          <a:p>
            <a:r>
              <a:rPr lang="en-US" altLang="zh-CN" sz="2400" dirty="0">
                <a:latin typeface="黑体" pitchFamily="49" charset="-122"/>
                <a:ea typeface="黑体" pitchFamily="49" charset="-122"/>
              </a:rPr>
              <a:t>    </a:t>
            </a:r>
            <a:r>
              <a:rPr lang="zh-CN" altLang="zh-CN" sz="2400" dirty="0">
                <a:latin typeface="黑体" pitchFamily="49" charset="-122"/>
                <a:ea typeface="黑体" pitchFamily="49" charset="-122"/>
              </a:rPr>
              <a:t>数据结构就是研究</a:t>
            </a:r>
            <a:r>
              <a:rPr lang="zh-CN" altLang="zh-CN" sz="2400" u="sng" dirty="0">
                <a:solidFill>
                  <a:srgbClr val="FF0000"/>
                </a:solidFill>
                <a:latin typeface="黑体" pitchFamily="49" charset="-122"/>
                <a:ea typeface="黑体" pitchFamily="49" charset="-122"/>
              </a:rPr>
              <a:t>非数值计算</a:t>
            </a:r>
            <a:r>
              <a:rPr lang="zh-CN" altLang="zh-CN" sz="2400" dirty="0">
                <a:latin typeface="黑体" pitchFamily="49" charset="-122"/>
                <a:ea typeface="黑体" pitchFamily="49" charset="-122"/>
              </a:rPr>
              <a:t>问题中的</a:t>
            </a:r>
            <a:r>
              <a:rPr lang="zh-CN" altLang="zh-CN" sz="2400" dirty="0">
                <a:solidFill>
                  <a:srgbClr val="FF0000"/>
                </a:solidFill>
                <a:latin typeface="黑体" pitchFamily="49" charset="-122"/>
                <a:ea typeface="黑体" pitchFamily="49" charset="-122"/>
              </a:rPr>
              <a:t>数据</a:t>
            </a:r>
            <a:r>
              <a:rPr lang="zh-CN" altLang="zh-CN" sz="2400" dirty="0">
                <a:latin typeface="黑体" pitchFamily="49" charset="-122"/>
                <a:ea typeface="黑体" pitchFamily="49" charset="-122"/>
              </a:rPr>
              <a:t>以及它们之间的</a:t>
            </a:r>
            <a:r>
              <a:rPr lang="zh-CN" altLang="zh-CN" sz="2400" dirty="0">
                <a:solidFill>
                  <a:srgbClr val="FF0000"/>
                </a:solidFill>
                <a:latin typeface="黑体" pitchFamily="49" charset="-122"/>
                <a:ea typeface="黑体" pitchFamily="49" charset="-122"/>
              </a:rPr>
              <a:t>关系</a:t>
            </a:r>
            <a:r>
              <a:rPr lang="zh-CN" altLang="zh-CN" sz="2400" dirty="0">
                <a:latin typeface="黑体" pitchFamily="49" charset="-122"/>
                <a:ea typeface="黑体" pitchFamily="49" charset="-122"/>
              </a:rPr>
              <a:t>和</a:t>
            </a:r>
            <a:r>
              <a:rPr lang="zh-CN" altLang="zh-CN" sz="2400" dirty="0">
                <a:solidFill>
                  <a:srgbClr val="FF0000"/>
                </a:solidFill>
                <a:latin typeface="黑体" pitchFamily="49" charset="-122"/>
                <a:ea typeface="黑体" pitchFamily="49" charset="-122"/>
              </a:rPr>
              <a:t>操作</a:t>
            </a:r>
            <a:r>
              <a:rPr lang="zh-CN" altLang="zh-CN" sz="2400" dirty="0">
                <a:latin typeface="黑体" pitchFamily="49" charset="-122"/>
                <a:ea typeface="黑体" pitchFamily="49" charset="-122"/>
              </a:rPr>
              <a:t>算法的学科，具体主要包含</a:t>
            </a:r>
            <a:r>
              <a:rPr lang="en-US" altLang="zh-CN" sz="2400" dirty="0">
                <a:latin typeface="黑体" pitchFamily="49" charset="-122"/>
                <a:ea typeface="黑体" pitchFamily="49" charset="-122"/>
              </a:rPr>
              <a:t>3</a:t>
            </a:r>
            <a:r>
              <a:rPr lang="zh-CN" altLang="zh-CN" sz="2400" dirty="0">
                <a:latin typeface="黑体" pitchFamily="49" charset="-122"/>
                <a:ea typeface="黑体" pitchFamily="49" charset="-122"/>
              </a:rPr>
              <a:t>个方面的内容：数据的</a:t>
            </a:r>
            <a:r>
              <a:rPr lang="zh-CN" altLang="zh-CN" sz="2400" dirty="0">
                <a:solidFill>
                  <a:srgbClr val="FF0000"/>
                </a:solidFill>
                <a:latin typeface="黑体" pitchFamily="49" charset="-122"/>
                <a:ea typeface="黑体" pitchFamily="49" charset="-122"/>
              </a:rPr>
              <a:t>逻辑结构</a:t>
            </a:r>
            <a:r>
              <a:rPr lang="zh-CN" altLang="zh-CN" sz="2400" dirty="0">
                <a:latin typeface="黑体" pitchFamily="49" charset="-122"/>
                <a:ea typeface="黑体" pitchFamily="49" charset="-122"/>
              </a:rPr>
              <a:t>、数据的</a:t>
            </a:r>
            <a:r>
              <a:rPr lang="zh-CN" altLang="zh-CN" sz="2400" dirty="0">
                <a:solidFill>
                  <a:srgbClr val="FF0000"/>
                </a:solidFill>
                <a:latin typeface="黑体" pitchFamily="49" charset="-122"/>
                <a:ea typeface="黑体" pitchFamily="49" charset="-122"/>
              </a:rPr>
              <a:t>存储结构</a:t>
            </a:r>
            <a:r>
              <a:rPr lang="zh-CN" altLang="zh-CN" sz="2400" dirty="0">
                <a:latin typeface="黑体" pitchFamily="49" charset="-122"/>
                <a:ea typeface="黑体" pitchFamily="49" charset="-122"/>
              </a:rPr>
              <a:t>（物理结构）和数据的操作</a:t>
            </a:r>
            <a:r>
              <a:rPr lang="zh-CN" altLang="zh-CN" sz="2400" dirty="0">
                <a:solidFill>
                  <a:srgbClr val="FF0000"/>
                </a:solidFill>
                <a:latin typeface="黑体" pitchFamily="49" charset="-122"/>
                <a:ea typeface="黑体" pitchFamily="49" charset="-122"/>
              </a:rPr>
              <a:t>算法</a:t>
            </a:r>
            <a:r>
              <a:rPr lang="zh-CN" altLang="en-US" sz="2400" dirty="0">
                <a:latin typeface="黑体" pitchFamily="49" charset="-122"/>
                <a:ea typeface="黑体" pitchFamily="49" charset="-122"/>
              </a:rPr>
              <a:t>。</a:t>
            </a:r>
          </a:p>
        </p:txBody>
      </p:sp>
      <p:sp>
        <p:nvSpPr>
          <p:cNvPr id="2" name="Rectangle 2">
            <a:extLst>
              <a:ext uri="{FF2B5EF4-FFF2-40B4-BE49-F238E27FC236}">
                <a16:creationId xmlns:a16="http://schemas.microsoft.com/office/drawing/2014/main" id="{776FC554-5DE2-A2B0-B14F-47924DCD5CB7}"/>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pic>
        <p:nvPicPr>
          <p:cNvPr id="11" name="Picture 2">
            <a:extLst>
              <a:ext uri="{FF2B5EF4-FFF2-40B4-BE49-F238E27FC236}">
                <a16:creationId xmlns:a16="http://schemas.microsoft.com/office/drawing/2014/main" id="{3B7E87B4-7ED9-355B-1A6B-F45F25B6A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909884"/>
            <a:ext cx="5520647" cy="1951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a:extLst>
              <a:ext uri="{FF2B5EF4-FFF2-40B4-BE49-F238E27FC236}">
                <a16:creationId xmlns:a16="http://schemas.microsoft.com/office/drawing/2014/main" id="{76547679-90D8-2261-2B9D-1A3099791D3D}"/>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561515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1115616" y="1456766"/>
            <a:ext cx="3528392" cy="523220"/>
          </a:xfrm>
          <a:prstGeom prst="rect">
            <a:avLst/>
          </a:prstGeom>
        </p:spPr>
        <p:txBody>
          <a:bodyPr wrap="square">
            <a:spAutoFit/>
          </a:bodyPr>
          <a:lstStyle/>
          <a:p>
            <a:pPr marL="0" lvl="1"/>
            <a:r>
              <a:rPr lang="zh-CN" altLang="en-US" sz="2800" dirty="0">
                <a:latin typeface="黑体" pitchFamily="49" charset="-122"/>
                <a:ea typeface="黑体" pitchFamily="49" charset="-122"/>
              </a:rPr>
              <a:t>数据结构的三个要素</a:t>
            </a:r>
            <a:endParaRPr lang="en-US" altLang="zh-CN" sz="2800" dirty="0">
              <a:latin typeface="黑体" pitchFamily="49" charset="-122"/>
              <a:ea typeface="黑体" pitchFamily="49" charset="-122"/>
            </a:endParaRPr>
          </a:p>
        </p:txBody>
      </p:sp>
      <p:sp>
        <p:nvSpPr>
          <p:cNvPr id="3" name="矩形 2"/>
          <p:cNvSpPr/>
          <p:nvPr/>
        </p:nvSpPr>
        <p:spPr>
          <a:xfrm>
            <a:off x="1115616" y="2063082"/>
            <a:ext cx="6264696" cy="2062103"/>
          </a:xfrm>
          <a:prstGeom prst="rect">
            <a:avLst/>
          </a:prstGeom>
        </p:spPr>
        <p:txBody>
          <a:bodyPr wrap="square">
            <a:spAutoFit/>
          </a:bodyPr>
          <a:lstStyle/>
          <a:p>
            <a:r>
              <a:rPr lang="zh-CN" altLang="zh-CN" sz="3200" dirty="0">
                <a:latin typeface="黑体" pitchFamily="49" charset="-122"/>
                <a:ea typeface="黑体" pitchFamily="49" charset="-122"/>
              </a:rPr>
              <a:t>数据结构涉及三个要素，分别是</a:t>
            </a:r>
            <a:r>
              <a:rPr lang="zh-CN" altLang="en-US" sz="3200" dirty="0">
                <a:latin typeface="黑体" pitchFamily="49" charset="-122"/>
                <a:ea typeface="黑体" pitchFamily="49" charset="-122"/>
              </a:rPr>
              <a:t>：</a:t>
            </a:r>
            <a:endParaRPr lang="en-US" altLang="zh-CN" sz="3200" dirty="0">
              <a:latin typeface="黑体" pitchFamily="49" charset="-122"/>
              <a:ea typeface="黑体" pitchFamily="49" charset="-122"/>
            </a:endParaRPr>
          </a:p>
          <a:p>
            <a:r>
              <a:rPr lang="en-US" altLang="zh-CN" sz="3200" dirty="0">
                <a:latin typeface="黑体" pitchFamily="49" charset="-122"/>
                <a:ea typeface="黑体" pitchFamily="49" charset="-122"/>
              </a:rPr>
              <a:t>1</a:t>
            </a:r>
            <a:r>
              <a:rPr lang="zh-CN" altLang="en-US" sz="3200" dirty="0">
                <a:latin typeface="黑体" pitchFamily="49" charset="-122"/>
                <a:ea typeface="黑体" pitchFamily="49" charset="-122"/>
              </a:rPr>
              <a:t>、</a:t>
            </a:r>
            <a:r>
              <a:rPr lang="zh-CN" altLang="zh-CN" sz="3200" dirty="0">
                <a:latin typeface="黑体" pitchFamily="49" charset="-122"/>
                <a:ea typeface="黑体" pitchFamily="49" charset="-122"/>
              </a:rPr>
              <a:t>数据的逻辑结构</a:t>
            </a:r>
            <a:endParaRPr lang="en-US" altLang="zh-CN" sz="3200" dirty="0">
              <a:latin typeface="黑体" pitchFamily="49" charset="-122"/>
              <a:ea typeface="黑体" pitchFamily="49" charset="-122"/>
            </a:endParaRPr>
          </a:p>
          <a:p>
            <a:r>
              <a:rPr lang="en-US" altLang="zh-CN" sz="3200" dirty="0">
                <a:latin typeface="黑体" pitchFamily="49" charset="-122"/>
                <a:ea typeface="黑体" pitchFamily="49" charset="-122"/>
              </a:rPr>
              <a:t>2</a:t>
            </a:r>
            <a:r>
              <a:rPr lang="zh-CN" altLang="en-US" sz="3200" dirty="0">
                <a:latin typeface="黑体" pitchFamily="49" charset="-122"/>
                <a:ea typeface="黑体" pitchFamily="49" charset="-122"/>
              </a:rPr>
              <a:t>、</a:t>
            </a:r>
            <a:r>
              <a:rPr lang="zh-CN" altLang="zh-CN" sz="3200" dirty="0">
                <a:latin typeface="黑体" pitchFamily="49" charset="-122"/>
                <a:ea typeface="黑体" pitchFamily="49" charset="-122"/>
              </a:rPr>
              <a:t>存储结构</a:t>
            </a:r>
            <a:r>
              <a:rPr lang="zh-CN" altLang="en-US" sz="3200" dirty="0">
                <a:latin typeface="黑体" pitchFamily="49" charset="-122"/>
                <a:ea typeface="黑体" pitchFamily="49" charset="-122"/>
              </a:rPr>
              <a:t>（物理结构）</a:t>
            </a:r>
            <a:endParaRPr lang="en-US" altLang="zh-CN" sz="3200" dirty="0">
              <a:latin typeface="黑体" pitchFamily="49" charset="-122"/>
              <a:ea typeface="黑体" pitchFamily="49" charset="-122"/>
            </a:endParaRPr>
          </a:p>
          <a:p>
            <a:r>
              <a:rPr lang="en-US" altLang="zh-CN" sz="3200" dirty="0">
                <a:latin typeface="黑体" pitchFamily="49" charset="-122"/>
                <a:ea typeface="黑体" pitchFamily="49" charset="-122"/>
              </a:rPr>
              <a:t>3</a:t>
            </a:r>
            <a:r>
              <a:rPr lang="zh-CN" altLang="en-US" sz="3200" dirty="0">
                <a:latin typeface="黑体" pitchFamily="49" charset="-122"/>
                <a:ea typeface="黑体" pitchFamily="49" charset="-122"/>
              </a:rPr>
              <a:t>、</a:t>
            </a:r>
            <a:r>
              <a:rPr lang="zh-CN" altLang="zh-CN" sz="3200" dirty="0">
                <a:latin typeface="黑体" pitchFamily="49" charset="-122"/>
                <a:ea typeface="黑体" pitchFamily="49" charset="-122"/>
              </a:rPr>
              <a:t>操作</a:t>
            </a:r>
            <a:r>
              <a:rPr lang="zh-CN" altLang="en-US" sz="3200" dirty="0">
                <a:latin typeface="黑体" pitchFamily="49" charset="-122"/>
                <a:ea typeface="黑体" pitchFamily="49" charset="-122"/>
              </a:rPr>
              <a:t>算法</a:t>
            </a:r>
            <a:endParaRPr lang="zh-CN" altLang="en-US" sz="3200" dirty="0"/>
          </a:p>
        </p:txBody>
      </p:sp>
      <p:sp>
        <p:nvSpPr>
          <p:cNvPr id="2" name="Rectangle 2">
            <a:extLst>
              <a:ext uri="{FF2B5EF4-FFF2-40B4-BE49-F238E27FC236}">
                <a16:creationId xmlns:a16="http://schemas.microsoft.com/office/drawing/2014/main" id="{32A4A88E-7549-2C71-96AA-86FC809E7C00}"/>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4" name="矩形 3">
            <a:extLst>
              <a:ext uri="{FF2B5EF4-FFF2-40B4-BE49-F238E27FC236}">
                <a16:creationId xmlns:a16="http://schemas.microsoft.com/office/drawing/2014/main" id="{CA166343-3159-FBA1-A5B7-D34A165F2FA8}"/>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583666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467544" y="1551272"/>
            <a:ext cx="8496944" cy="1138773"/>
          </a:xfrm>
          <a:prstGeom prst="rect">
            <a:avLst/>
          </a:prstGeom>
        </p:spPr>
        <p:txBody>
          <a:bodyPr wrap="square">
            <a:spAutoFit/>
          </a:bodyPr>
          <a:lstStyle/>
          <a:p>
            <a:r>
              <a:rPr lang="zh-CN" altLang="en-US" sz="2800" b="1" dirty="0">
                <a:solidFill>
                  <a:srgbClr val="FF0000"/>
                </a:solidFill>
                <a:latin typeface="黑体" pitchFamily="49" charset="-122"/>
                <a:ea typeface="黑体" pitchFamily="49" charset="-122"/>
              </a:rPr>
              <a:t>数据结构</a:t>
            </a:r>
            <a:r>
              <a:rPr lang="zh-CN" altLang="en-US" sz="2800" b="1" dirty="0">
                <a:solidFill>
                  <a:srgbClr val="FF0000"/>
                </a:solidFill>
                <a:latin typeface="方正特雅宋_GBK" pitchFamily="2" charset="-122"/>
                <a:ea typeface="方正特雅宋_GBK" pitchFamily="2" charset="-122"/>
              </a:rPr>
              <a:t>(</a:t>
            </a:r>
            <a:r>
              <a:rPr lang="en-US" altLang="zh-CN" sz="2800" b="1" dirty="0">
                <a:solidFill>
                  <a:srgbClr val="FF0000"/>
                </a:solidFill>
                <a:latin typeface="Times New Roman" pitchFamily="18" charset="0"/>
                <a:ea typeface="方正特雅宋_GBK" pitchFamily="2" charset="-122"/>
                <a:cs typeface="Times New Roman" pitchFamily="18" charset="0"/>
              </a:rPr>
              <a:t>Data Structure</a:t>
            </a:r>
            <a:r>
              <a:rPr lang="en-US" altLang="zh-CN" sz="2800" b="1" dirty="0">
                <a:solidFill>
                  <a:srgbClr val="FF0000"/>
                </a:solidFill>
                <a:latin typeface="方正特雅宋_GBK" pitchFamily="2" charset="-122"/>
                <a:ea typeface="方正特雅宋_GBK" pitchFamily="2" charset="-122"/>
              </a:rPr>
              <a:t>) ：</a:t>
            </a:r>
            <a:r>
              <a:rPr lang="zh-CN" altLang="en-US" sz="2000" dirty="0">
                <a:latin typeface="微软雅黑" pitchFamily="34" charset="-122"/>
                <a:ea typeface="微软雅黑" pitchFamily="34" charset="-122"/>
                <a:cs typeface="经典粗黑简" pitchFamily="49" charset="-122"/>
              </a:rPr>
              <a:t>是相互之间存在一种或多种特定关系的数据元素的集合。数据元素之间的关系称为“结构”</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也称为逻辑结构。 </a:t>
            </a:r>
          </a:p>
        </p:txBody>
      </p:sp>
      <p:sp>
        <p:nvSpPr>
          <p:cNvPr id="75" name="Rectangle 6"/>
          <p:cNvSpPr>
            <a:spLocks noChangeArrowheads="1"/>
          </p:cNvSpPr>
          <p:nvPr/>
        </p:nvSpPr>
        <p:spPr bwMode="auto">
          <a:xfrm>
            <a:off x="467544" y="2710995"/>
            <a:ext cx="59653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000" dirty="0">
                <a:latin typeface="微软雅黑" pitchFamily="34" charset="-122"/>
                <a:ea typeface="微软雅黑" pitchFamily="34" charset="-122"/>
                <a:cs typeface="经典粗黑简" pitchFamily="49" charset="-122"/>
              </a:rPr>
              <a:t>数据结构课程中主要介绍四种类型的基本数据结构：</a:t>
            </a:r>
          </a:p>
        </p:txBody>
      </p:sp>
      <p:sp>
        <p:nvSpPr>
          <p:cNvPr id="76" name="矩形 75"/>
          <p:cNvSpPr/>
          <p:nvPr/>
        </p:nvSpPr>
        <p:spPr>
          <a:xfrm>
            <a:off x="930012" y="3511444"/>
            <a:ext cx="6096000" cy="369332"/>
          </a:xfrm>
          <a:prstGeom prst="rect">
            <a:avLst/>
          </a:prstGeom>
        </p:spPr>
        <p:txBody>
          <a:bodyPr>
            <a:spAutoFit/>
          </a:bodyPr>
          <a:lstStyle/>
          <a:p>
            <a:r>
              <a:rPr lang="en-US" altLang="zh-CN" dirty="0">
                <a:latin typeface="微软雅黑" pitchFamily="34" charset="-122"/>
                <a:ea typeface="微软雅黑" pitchFamily="34" charset="-122"/>
                <a:cs typeface="经典粗黑简" pitchFamily="49" charset="-122"/>
              </a:rPr>
              <a:t>Ⅱ</a:t>
            </a:r>
            <a:r>
              <a:rPr lang="zh-CN" altLang="en-US" dirty="0">
                <a:latin typeface="微软雅黑" pitchFamily="34" charset="-122"/>
                <a:ea typeface="微软雅黑" pitchFamily="34" charset="-122"/>
                <a:cs typeface="经典粗黑简" pitchFamily="49" charset="-122"/>
              </a:rPr>
              <a:t>、树形结构（</a:t>
            </a:r>
            <a:r>
              <a:rPr lang="en-US" altLang="zh-CN" dirty="0">
                <a:latin typeface="微软雅黑" pitchFamily="34" charset="-122"/>
                <a:ea typeface="微软雅黑" pitchFamily="34" charset="-122"/>
                <a:cs typeface="经典粗黑简" pitchFamily="49" charset="-122"/>
              </a:rPr>
              <a:t>Tree</a:t>
            </a:r>
            <a:r>
              <a:rPr lang="zh-CN" altLang="en-US" dirty="0">
                <a:latin typeface="微软雅黑" pitchFamily="34" charset="-122"/>
                <a:ea typeface="微软雅黑" pitchFamily="34" charset="-122"/>
                <a:cs typeface="经典粗黑简" pitchFamily="49" charset="-122"/>
              </a:rPr>
              <a:t>）：数据元素之间是一对多的关系；</a:t>
            </a:r>
          </a:p>
        </p:txBody>
      </p:sp>
      <p:grpSp>
        <p:nvGrpSpPr>
          <p:cNvPr id="77" name="组合 76"/>
          <p:cNvGrpSpPr/>
          <p:nvPr/>
        </p:nvGrpSpPr>
        <p:grpSpPr>
          <a:xfrm rot="16200000">
            <a:off x="7767769" y="2447646"/>
            <a:ext cx="165116" cy="1506581"/>
            <a:chOff x="557347" y="4028837"/>
            <a:chExt cx="252549" cy="1759128"/>
          </a:xfrm>
        </p:grpSpPr>
        <p:sp>
          <p:nvSpPr>
            <p:cNvPr id="78" name="椭圆 77"/>
            <p:cNvSpPr/>
            <p:nvPr/>
          </p:nvSpPr>
          <p:spPr>
            <a:xfrm>
              <a:off x="557347" y="4028837"/>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557347" y="4411452"/>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557347" y="478648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557347" y="514465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557347" y="5535416"/>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3" name="直接连接符 82"/>
            <p:cNvCxnSpPr>
              <a:stCxn id="78" idx="4"/>
              <a:endCxn id="79" idx="0"/>
            </p:cNvCxnSpPr>
            <p:nvPr/>
          </p:nvCxnSpPr>
          <p:spPr>
            <a:xfrm>
              <a:off x="683622" y="4281386"/>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683622" y="4664001"/>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683622" y="5021614"/>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696683" y="5405350"/>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7" name="矩形 86"/>
          <p:cNvSpPr/>
          <p:nvPr/>
        </p:nvSpPr>
        <p:spPr>
          <a:xfrm>
            <a:off x="930012" y="3101628"/>
            <a:ext cx="5867312" cy="369332"/>
          </a:xfrm>
          <a:prstGeom prst="rect">
            <a:avLst/>
          </a:prstGeom>
        </p:spPr>
        <p:txBody>
          <a:bodyPr wrap="none">
            <a:spAutoFit/>
          </a:bodyPr>
          <a:lstStyle/>
          <a:p>
            <a:r>
              <a:rPr lang="en-US" altLang="zh-CN" dirty="0">
                <a:latin typeface="微软雅黑" pitchFamily="34" charset="-122"/>
                <a:ea typeface="微软雅黑" pitchFamily="34" charset="-122"/>
                <a:cs typeface="经典粗黑简" pitchFamily="49" charset="-122"/>
              </a:rPr>
              <a:t>Ⅰ</a:t>
            </a:r>
            <a:r>
              <a:rPr lang="zh-CN" altLang="en-US" dirty="0">
                <a:latin typeface="微软雅黑" pitchFamily="34" charset="-122"/>
                <a:ea typeface="微软雅黑" pitchFamily="34" charset="-122"/>
                <a:cs typeface="经典粗黑简" pitchFamily="49" charset="-122"/>
              </a:rPr>
              <a:t>、线性结构（</a:t>
            </a:r>
            <a:r>
              <a:rPr lang="en-US" altLang="zh-CN" dirty="0">
                <a:latin typeface="微软雅黑" pitchFamily="34" charset="-122"/>
                <a:ea typeface="微软雅黑" pitchFamily="34" charset="-122"/>
                <a:cs typeface="经典粗黑简" pitchFamily="49" charset="-122"/>
              </a:rPr>
              <a:t>List</a:t>
            </a:r>
            <a:r>
              <a:rPr lang="zh-CN" altLang="en-US" dirty="0">
                <a:latin typeface="微软雅黑" pitchFamily="34" charset="-122"/>
                <a:ea typeface="微软雅黑" pitchFamily="34" charset="-122"/>
                <a:cs typeface="经典粗黑简" pitchFamily="49" charset="-122"/>
              </a:rPr>
              <a:t>）：数据元素之间是一对一的关系；</a:t>
            </a:r>
          </a:p>
        </p:txBody>
      </p:sp>
      <p:sp>
        <p:nvSpPr>
          <p:cNvPr id="88" name="矩形 87"/>
          <p:cNvSpPr/>
          <p:nvPr/>
        </p:nvSpPr>
        <p:spPr>
          <a:xfrm>
            <a:off x="930012" y="3921261"/>
            <a:ext cx="6096000" cy="646331"/>
          </a:xfrm>
          <a:prstGeom prst="rect">
            <a:avLst/>
          </a:prstGeom>
        </p:spPr>
        <p:txBody>
          <a:bodyPr>
            <a:spAutoFit/>
          </a:bodyPr>
          <a:lstStyle/>
          <a:p>
            <a:r>
              <a:rPr lang="en-US" altLang="zh-CN" dirty="0">
                <a:latin typeface="微软雅黑" pitchFamily="34" charset="-122"/>
                <a:ea typeface="微软雅黑" pitchFamily="34" charset="-122"/>
                <a:cs typeface="经典粗黑简" pitchFamily="49" charset="-122"/>
              </a:rPr>
              <a:t>Ⅲ</a:t>
            </a:r>
            <a:r>
              <a:rPr lang="zh-CN" altLang="en-US" dirty="0">
                <a:latin typeface="微软雅黑" pitchFamily="34" charset="-122"/>
                <a:ea typeface="微软雅黑" pitchFamily="34" charset="-122"/>
                <a:cs typeface="经典粗黑简" pitchFamily="49" charset="-122"/>
              </a:rPr>
              <a:t>、图形结构</a:t>
            </a:r>
            <a:r>
              <a:rPr lang="zh-CN" altLang="en-US" dirty="0">
                <a:latin typeface="微软雅黑" pitchFamily="34" charset="-122"/>
                <a:ea typeface="微软雅黑" pitchFamily="34" charset="-122"/>
                <a:cs typeface="经典粗黑简" pitchFamily="49" charset="-122"/>
                <a:sym typeface="Wingdings" pitchFamily="2" charset="2"/>
              </a:rPr>
              <a:t>（</a:t>
            </a:r>
            <a:r>
              <a:rPr lang="en-US" altLang="zh-CN" dirty="0">
                <a:latin typeface="微软雅黑" pitchFamily="34" charset="-122"/>
                <a:ea typeface="微软雅黑" pitchFamily="34" charset="-122"/>
                <a:cs typeface="经典粗黑简" pitchFamily="49" charset="-122"/>
                <a:sym typeface="Wingdings" pitchFamily="2" charset="2"/>
              </a:rPr>
              <a:t>Graph</a:t>
            </a:r>
            <a:r>
              <a:rPr lang="zh-CN" altLang="en-US" dirty="0">
                <a:latin typeface="微软雅黑" pitchFamily="34" charset="-122"/>
                <a:ea typeface="微软雅黑" pitchFamily="34" charset="-122"/>
                <a:cs typeface="经典粗黑简" pitchFamily="49" charset="-122"/>
                <a:sym typeface="Wingdings" pitchFamily="2" charset="2"/>
              </a:rPr>
              <a:t>）：</a:t>
            </a:r>
            <a:r>
              <a:rPr lang="zh-CN" altLang="en-US" dirty="0">
                <a:latin typeface="微软雅黑" pitchFamily="34" charset="-122"/>
                <a:ea typeface="微软雅黑" pitchFamily="34" charset="-122"/>
                <a:cs typeface="经典粗黑简" pitchFamily="49" charset="-122"/>
              </a:rPr>
              <a:t>数据元素之间是多对多的关系（有的地方称为网状结构）；</a:t>
            </a:r>
          </a:p>
        </p:txBody>
      </p:sp>
      <p:sp>
        <p:nvSpPr>
          <p:cNvPr id="89" name="矩形 88"/>
          <p:cNvSpPr/>
          <p:nvPr/>
        </p:nvSpPr>
        <p:spPr>
          <a:xfrm>
            <a:off x="930012" y="4538827"/>
            <a:ext cx="5152373" cy="369332"/>
          </a:xfrm>
          <a:prstGeom prst="rect">
            <a:avLst/>
          </a:prstGeom>
        </p:spPr>
        <p:txBody>
          <a:bodyPr wrap="none">
            <a:spAutoFit/>
          </a:bodyPr>
          <a:lstStyle/>
          <a:p>
            <a:r>
              <a:rPr lang="en-US" altLang="zh-CN" dirty="0">
                <a:latin typeface="微软雅黑" pitchFamily="34" charset="-122"/>
                <a:ea typeface="微软雅黑" pitchFamily="34" charset="-122"/>
                <a:cs typeface="经典粗黑简" pitchFamily="49" charset="-122"/>
              </a:rPr>
              <a:t>Ⅵ</a:t>
            </a:r>
            <a:r>
              <a:rPr lang="zh-CN" altLang="en-US" dirty="0">
                <a:latin typeface="微软雅黑" pitchFamily="34" charset="-122"/>
                <a:ea typeface="微软雅黑" pitchFamily="34" charset="-122"/>
                <a:cs typeface="经典粗黑简" pitchFamily="49" charset="-122"/>
              </a:rPr>
              <a:t>、集合（</a:t>
            </a:r>
            <a:r>
              <a:rPr lang="en-US" altLang="zh-CN" dirty="0">
                <a:latin typeface="微软雅黑" pitchFamily="34" charset="-122"/>
                <a:ea typeface="微软雅黑" pitchFamily="34" charset="-122"/>
                <a:cs typeface="经典粗黑简" pitchFamily="49" charset="-122"/>
              </a:rPr>
              <a:t>Set</a:t>
            </a:r>
            <a:r>
              <a:rPr lang="zh-CN" altLang="en-US" dirty="0">
                <a:latin typeface="微软雅黑" pitchFamily="34" charset="-122"/>
                <a:ea typeface="微软雅黑" pitchFamily="34" charset="-122"/>
                <a:cs typeface="经典粗黑简" pitchFamily="49" charset="-122"/>
              </a:rPr>
              <a:t>）：数据元素之间是松散的关系。</a:t>
            </a:r>
          </a:p>
        </p:txBody>
      </p:sp>
      <p:grpSp>
        <p:nvGrpSpPr>
          <p:cNvPr id="90" name="Group 9"/>
          <p:cNvGrpSpPr>
            <a:grpSpLocks/>
          </p:cNvGrpSpPr>
          <p:nvPr/>
        </p:nvGrpSpPr>
        <p:grpSpPr bwMode="auto">
          <a:xfrm>
            <a:off x="7251966" y="3410515"/>
            <a:ext cx="1404256" cy="426235"/>
            <a:chOff x="3198" y="2704"/>
            <a:chExt cx="1451" cy="1180"/>
          </a:xfrm>
        </p:grpSpPr>
        <p:sp>
          <p:nvSpPr>
            <p:cNvPr id="91" name="Oval 10"/>
            <p:cNvSpPr>
              <a:spLocks noChangeArrowheads="1"/>
            </p:cNvSpPr>
            <p:nvPr/>
          </p:nvSpPr>
          <p:spPr bwMode="auto">
            <a:xfrm>
              <a:off x="3923" y="270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 name="Oval 11"/>
            <p:cNvSpPr>
              <a:spLocks noChangeArrowheads="1"/>
            </p:cNvSpPr>
            <p:nvPr/>
          </p:nvSpPr>
          <p:spPr bwMode="auto">
            <a:xfrm>
              <a:off x="3560" y="3022"/>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 name="Oval 12"/>
            <p:cNvSpPr>
              <a:spLocks noChangeArrowheads="1"/>
            </p:cNvSpPr>
            <p:nvPr/>
          </p:nvSpPr>
          <p:spPr bwMode="auto">
            <a:xfrm>
              <a:off x="4332" y="3022"/>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4" name="Oval 13"/>
            <p:cNvSpPr>
              <a:spLocks noChangeArrowheads="1"/>
            </p:cNvSpPr>
            <p:nvPr/>
          </p:nvSpPr>
          <p:spPr bwMode="auto">
            <a:xfrm>
              <a:off x="3198" y="338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5" name="Oval 14"/>
            <p:cNvSpPr>
              <a:spLocks noChangeArrowheads="1"/>
            </p:cNvSpPr>
            <p:nvPr/>
          </p:nvSpPr>
          <p:spPr bwMode="auto">
            <a:xfrm>
              <a:off x="3560" y="338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96" name="Oval 15"/>
            <p:cNvSpPr>
              <a:spLocks noChangeArrowheads="1"/>
            </p:cNvSpPr>
            <p:nvPr/>
          </p:nvSpPr>
          <p:spPr bwMode="auto">
            <a:xfrm>
              <a:off x="4241" y="338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 name="Oval 16"/>
            <p:cNvSpPr>
              <a:spLocks noChangeArrowheads="1"/>
            </p:cNvSpPr>
            <p:nvPr/>
          </p:nvSpPr>
          <p:spPr bwMode="auto">
            <a:xfrm>
              <a:off x="4513" y="3339"/>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 name="Oval 17"/>
            <p:cNvSpPr>
              <a:spLocks noChangeArrowheads="1"/>
            </p:cNvSpPr>
            <p:nvPr/>
          </p:nvSpPr>
          <p:spPr bwMode="auto">
            <a:xfrm>
              <a:off x="3560" y="3748"/>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99" name="Oval 18"/>
            <p:cNvSpPr>
              <a:spLocks noChangeArrowheads="1"/>
            </p:cNvSpPr>
            <p:nvPr/>
          </p:nvSpPr>
          <p:spPr bwMode="auto">
            <a:xfrm>
              <a:off x="3878" y="338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100" name="Line 19"/>
            <p:cNvSpPr>
              <a:spLocks noChangeShapeType="1"/>
            </p:cNvSpPr>
            <p:nvPr/>
          </p:nvSpPr>
          <p:spPr bwMode="auto">
            <a:xfrm>
              <a:off x="4059" y="2795"/>
              <a:ext cx="318"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20"/>
            <p:cNvSpPr>
              <a:spLocks noChangeShapeType="1"/>
            </p:cNvSpPr>
            <p:nvPr/>
          </p:nvSpPr>
          <p:spPr bwMode="auto">
            <a:xfrm flipV="1">
              <a:off x="4286" y="3158"/>
              <a:ext cx="91"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21"/>
            <p:cNvSpPr>
              <a:spLocks noChangeShapeType="1"/>
            </p:cNvSpPr>
            <p:nvPr/>
          </p:nvSpPr>
          <p:spPr bwMode="auto">
            <a:xfrm>
              <a:off x="4422" y="3158"/>
              <a:ext cx="182"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22"/>
            <p:cNvSpPr>
              <a:spLocks noChangeShapeType="1"/>
            </p:cNvSpPr>
            <p:nvPr/>
          </p:nvSpPr>
          <p:spPr bwMode="auto">
            <a:xfrm>
              <a:off x="3696" y="3113"/>
              <a:ext cx="273"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23"/>
            <p:cNvSpPr>
              <a:spLocks noChangeShapeType="1"/>
            </p:cNvSpPr>
            <p:nvPr/>
          </p:nvSpPr>
          <p:spPr bwMode="auto">
            <a:xfrm>
              <a:off x="3651" y="3521"/>
              <a:ext cx="0"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24"/>
            <p:cNvSpPr>
              <a:spLocks noChangeShapeType="1"/>
            </p:cNvSpPr>
            <p:nvPr/>
          </p:nvSpPr>
          <p:spPr bwMode="auto">
            <a:xfrm flipV="1">
              <a:off x="3243" y="3113"/>
              <a:ext cx="318"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25"/>
            <p:cNvSpPr>
              <a:spLocks noChangeShapeType="1"/>
            </p:cNvSpPr>
            <p:nvPr/>
          </p:nvSpPr>
          <p:spPr bwMode="auto">
            <a:xfrm flipH="1">
              <a:off x="3606" y="3158"/>
              <a:ext cx="45"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26"/>
            <p:cNvSpPr>
              <a:spLocks noChangeShapeType="1"/>
            </p:cNvSpPr>
            <p:nvPr/>
          </p:nvSpPr>
          <p:spPr bwMode="auto">
            <a:xfrm flipH="1">
              <a:off x="3651" y="2795"/>
              <a:ext cx="273"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8" name="Group 9"/>
          <p:cNvGrpSpPr>
            <a:grpSpLocks/>
          </p:cNvGrpSpPr>
          <p:nvPr/>
        </p:nvGrpSpPr>
        <p:grpSpPr bwMode="auto">
          <a:xfrm>
            <a:off x="7205184" y="3836750"/>
            <a:ext cx="1624811" cy="451073"/>
            <a:chOff x="385" y="2704"/>
            <a:chExt cx="1542" cy="953"/>
          </a:xfrm>
        </p:grpSpPr>
        <p:sp>
          <p:nvSpPr>
            <p:cNvPr id="109" name="Oval 10"/>
            <p:cNvSpPr>
              <a:spLocks noChangeArrowheads="1"/>
            </p:cNvSpPr>
            <p:nvPr/>
          </p:nvSpPr>
          <p:spPr bwMode="auto">
            <a:xfrm>
              <a:off x="431" y="279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0" name="Oval 11"/>
            <p:cNvSpPr>
              <a:spLocks noChangeArrowheads="1"/>
            </p:cNvSpPr>
            <p:nvPr/>
          </p:nvSpPr>
          <p:spPr bwMode="auto">
            <a:xfrm>
              <a:off x="1292" y="279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 name="Oval 12"/>
            <p:cNvSpPr>
              <a:spLocks noChangeArrowheads="1"/>
            </p:cNvSpPr>
            <p:nvPr/>
          </p:nvSpPr>
          <p:spPr bwMode="auto">
            <a:xfrm>
              <a:off x="385" y="329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 name="Oval 13"/>
            <p:cNvSpPr>
              <a:spLocks noChangeArrowheads="1"/>
            </p:cNvSpPr>
            <p:nvPr/>
          </p:nvSpPr>
          <p:spPr bwMode="auto">
            <a:xfrm>
              <a:off x="884" y="297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 name="Oval 14"/>
            <p:cNvSpPr>
              <a:spLocks noChangeArrowheads="1"/>
            </p:cNvSpPr>
            <p:nvPr/>
          </p:nvSpPr>
          <p:spPr bwMode="auto">
            <a:xfrm>
              <a:off x="1474" y="3249"/>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4" name="Oval 15"/>
            <p:cNvSpPr>
              <a:spLocks noChangeArrowheads="1"/>
            </p:cNvSpPr>
            <p:nvPr/>
          </p:nvSpPr>
          <p:spPr bwMode="auto">
            <a:xfrm>
              <a:off x="839" y="3521"/>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 name="Oval 16"/>
            <p:cNvSpPr>
              <a:spLocks noChangeArrowheads="1"/>
            </p:cNvSpPr>
            <p:nvPr/>
          </p:nvSpPr>
          <p:spPr bwMode="auto">
            <a:xfrm>
              <a:off x="1791" y="270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6" name="Line 17"/>
            <p:cNvSpPr>
              <a:spLocks noChangeShapeType="1"/>
            </p:cNvSpPr>
            <p:nvPr/>
          </p:nvSpPr>
          <p:spPr bwMode="auto">
            <a:xfrm>
              <a:off x="567" y="2886"/>
              <a:ext cx="317"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18"/>
            <p:cNvSpPr>
              <a:spLocks noChangeShapeType="1"/>
            </p:cNvSpPr>
            <p:nvPr/>
          </p:nvSpPr>
          <p:spPr bwMode="auto">
            <a:xfrm flipV="1">
              <a:off x="975" y="3339"/>
              <a:ext cx="499"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19"/>
            <p:cNvSpPr>
              <a:spLocks noChangeShapeType="1"/>
            </p:cNvSpPr>
            <p:nvPr/>
          </p:nvSpPr>
          <p:spPr bwMode="auto">
            <a:xfrm>
              <a:off x="521" y="2931"/>
              <a:ext cx="409" cy="59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20"/>
            <p:cNvSpPr>
              <a:spLocks noChangeShapeType="1"/>
            </p:cNvSpPr>
            <p:nvPr/>
          </p:nvSpPr>
          <p:spPr bwMode="auto">
            <a:xfrm flipH="1">
              <a:off x="476" y="2931"/>
              <a:ext cx="0" cy="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 name="Line 21"/>
            <p:cNvSpPr>
              <a:spLocks noChangeShapeType="1"/>
            </p:cNvSpPr>
            <p:nvPr/>
          </p:nvSpPr>
          <p:spPr bwMode="auto">
            <a:xfrm>
              <a:off x="521" y="3385"/>
              <a:ext cx="318"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 name="Line 22"/>
            <p:cNvSpPr>
              <a:spLocks noChangeShapeType="1"/>
            </p:cNvSpPr>
            <p:nvPr/>
          </p:nvSpPr>
          <p:spPr bwMode="auto">
            <a:xfrm flipV="1">
              <a:off x="1429" y="2795"/>
              <a:ext cx="362"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Line 23"/>
            <p:cNvSpPr>
              <a:spLocks noChangeShapeType="1"/>
            </p:cNvSpPr>
            <p:nvPr/>
          </p:nvSpPr>
          <p:spPr bwMode="auto">
            <a:xfrm>
              <a:off x="1429" y="2886"/>
              <a:ext cx="90" cy="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Line 24"/>
            <p:cNvSpPr>
              <a:spLocks noChangeShapeType="1"/>
            </p:cNvSpPr>
            <p:nvPr/>
          </p:nvSpPr>
          <p:spPr bwMode="auto">
            <a:xfrm>
              <a:off x="1020" y="3067"/>
              <a:ext cx="454"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Line 25"/>
            <p:cNvSpPr>
              <a:spLocks noChangeShapeType="1"/>
            </p:cNvSpPr>
            <p:nvPr/>
          </p:nvSpPr>
          <p:spPr bwMode="auto">
            <a:xfrm flipV="1">
              <a:off x="1020" y="2886"/>
              <a:ext cx="272"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 name="Line 26"/>
            <p:cNvSpPr>
              <a:spLocks noChangeShapeType="1"/>
            </p:cNvSpPr>
            <p:nvPr/>
          </p:nvSpPr>
          <p:spPr bwMode="auto">
            <a:xfrm flipV="1">
              <a:off x="1610" y="2840"/>
              <a:ext cx="227" cy="4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6" name="组合 125"/>
          <p:cNvGrpSpPr/>
          <p:nvPr/>
        </p:nvGrpSpPr>
        <p:grpSpPr>
          <a:xfrm>
            <a:off x="7313328" y="4430815"/>
            <a:ext cx="1312364" cy="443945"/>
            <a:chOff x="8717635" y="5707941"/>
            <a:chExt cx="1487716" cy="702003"/>
          </a:xfrm>
        </p:grpSpPr>
        <p:sp>
          <p:nvSpPr>
            <p:cNvPr id="127" name="椭圆 126"/>
            <p:cNvSpPr/>
            <p:nvPr/>
          </p:nvSpPr>
          <p:spPr>
            <a:xfrm rot="16200000">
              <a:off x="8715704" y="5821484"/>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rot="16200000">
              <a:off x="8924037" y="6046446"/>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rot="16200000">
              <a:off x="9130247" y="5819949"/>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nvSpPr>
          <p:spPr>
            <a:xfrm rot="16200000">
              <a:off x="9436696" y="5709872"/>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p:nvSpPr>
          <p:spPr>
            <a:xfrm rot="16200000">
              <a:off x="9360133" y="5951564"/>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nvSpPr>
          <p:spPr>
            <a:xfrm rot="16200000">
              <a:off x="9676857" y="5904013"/>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nvSpPr>
          <p:spPr>
            <a:xfrm rot="16200000">
              <a:off x="9192681" y="6191721"/>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nvSpPr>
          <p:spPr>
            <a:xfrm rot="16200000">
              <a:off x="9987128" y="5930026"/>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a:extLst>
              <a:ext uri="{FF2B5EF4-FFF2-40B4-BE49-F238E27FC236}">
                <a16:creationId xmlns:a16="http://schemas.microsoft.com/office/drawing/2014/main" id="{4A33B06E-95C0-F53C-FDCC-35CF0A7B6A45}"/>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172E845A-0585-BA39-D55E-633D3D2E879F}"/>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1.1.2 </a:t>
            </a:r>
            <a:r>
              <a:rPr lang="zh-CN" altLang="en-US" sz="2800" b="1" dirty="0">
                <a:solidFill>
                  <a:schemeClr val="bg1"/>
                </a:solidFill>
                <a:latin typeface="经典粗黑简" pitchFamily="49" charset="-122"/>
                <a:ea typeface="经典粗黑简" pitchFamily="49" charset="-122"/>
                <a:cs typeface="经典粗黑简" pitchFamily="49" charset="-122"/>
              </a:rPr>
              <a:t>数据的逻辑结构</a:t>
            </a:r>
          </a:p>
        </p:txBody>
      </p:sp>
    </p:spTree>
    <p:extLst>
      <p:ext uri="{BB962C8B-B14F-4D97-AF65-F5344CB8AC3E}">
        <p14:creationId xmlns:p14="http://schemas.microsoft.com/office/powerpoint/2010/main" val="141393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P spid="76" grpId="0"/>
      <p:bldP spid="87" grpId="0"/>
      <p:bldP spid="88" grpId="0"/>
      <p:bldP spid="8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93C5761D-F0D3-3801-9473-F4A6E4C1D52B}"/>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A2C46CF7-43FC-CCC0-AA46-8749837A8EE0}"/>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1.1.2 </a:t>
            </a:r>
            <a:r>
              <a:rPr lang="zh-CN" altLang="en-US" sz="2800" b="1" dirty="0">
                <a:solidFill>
                  <a:schemeClr val="bg1"/>
                </a:solidFill>
                <a:latin typeface="经典粗黑简" pitchFamily="49" charset="-122"/>
                <a:ea typeface="经典粗黑简" pitchFamily="49" charset="-122"/>
                <a:cs typeface="经典粗黑简" pitchFamily="49" charset="-122"/>
              </a:rPr>
              <a:t>数据的逻辑结构</a:t>
            </a:r>
          </a:p>
        </p:txBody>
      </p:sp>
      <p:sp>
        <p:nvSpPr>
          <p:cNvPr id="4" name="矩形 3">
            <a:extLst>
              <a:ext uri="{FF2B5EF4-FFF2-40B4-BE49-F238E27FC236}">
                <a16:creationId xmlns:a16="http://schemas.microsoft.com/office/drawing/2014/main" id="{1E8BA742-BC49-7CCE-F0AC-D48DF07258A9}"/>
              </a:ext>
            </a:extLst>
          </p:cNvPr>
          <p:cNvSpPr/>
          <p:nvPr/>
        </p:nvSpPr>
        <p:spPr>
          <a:xfrm>
            <a:off x="1043608" y="1471252"/>
            <a:ext cx="3528392" cy="523220"/>
          </a:xfrm>
          <a:prstGeom prst="rect">
            <a:avLst/>
          </a:prstGeom>
        </p:spPr>
        <p:txBody>
          <a:bodyPr wrap="square">
            <a:spAutoFit/>
          </a:bodyPr>
          <a:lstStyle/>
          <a:p>
            <a:pPr marL="0" lvl="1"/>
            <a:r>
              <a:rPr lang="zh-CN" altLang="en-US" sz="2800" dirty="0">
                <a:latin typeface="黑体" pitchFamily="49" charset="-122"/>
                <a:ea typeface="黑体" pitchFamily="49" charset="-122"/>
              </a:rPr>
              <a:t>逻辑结构的表示方法</a:t>
            </a:r>
            <a:endParaRPr lang="en-US" altLang="zh-CN" sz="2800" dirty="0">
              <a:latin typeface="黑体" pitchFamily="49" charset="-122"/>
              <a:ea typeface="黑体" pitchFamily="49" charset="-122"/>
            </a:endParaRPr>
          </a:p>
        </p:txBody>
      </p:sp>
      <p:sp>
        <p:nvSpPr>
          <p:cNvPr id="5" name="TextBox 2">
            <a:extLst>
              <a:ext uri="{FF2B5EF4-FFF2-40B4-BE49-F238E27FC236}">
                <a16:creationId xmlns:a16="http://schemas.microsoft.com/office/drawing/2014/main" id="{DBCCFF3D-DD4F-BE66-C4B0-6ED4DABC8F6B}"/>
              </a:ext>
            </a:extLst>
          </p:cNvPr>
          <p:cNvSpPr txBox="1"/>
          <p:nvPr/>
        </p:nvSpPr>
        <p:spPr>
          <a:xfrm>
            <a:off x="1066893" y="1906742"/>
            <a:ext cx="6050442" cy="435697"/>
          </a:xfrm>
          <a:prstGeom prst="rect">
            <a:avLst/>
          </a:prstGeom>
          <a:noFill/>
        </p:spPr>
        <p:txBody>
          <a:bodyPr wrap="square" rtlCol="0">
            <a:spAutoFit/>
          </a:bodyPr>
          <a:lstStyle/>
          <a:p>
            <a:pPr algn="l">
              <a:lnSpc>
                <a:spcPct val="130000"/>
              </a:lnSpc>
            </a:pPr>
            <a:r>
              <a:rPr lang="zh-CN" altLang="en-US" sz="2000" dirty="0">
                <a:latin typeface="黑体" pitchFamily="49" charset="-122"/>
                <a:ea typeface="黑体" pitchFamily="49" charset="-122"/>
              </a:rPr>
              <a:t>数据的逻辑结构是面向用户的，它有多种表示形式。</a:t>
            </a:r>
          </a:p>
        </p:txBody>
      </p:sp>
      <p:sp>
        <p:nvSpPr>
          <p:cNvPr id="8" name="右大括号 7">
            <a:extLst>
              <a:ext uri="{FF2B5EF4-FFF2-40B4-BE49-F238E27FC236}">
                <a16:creationId xmlns:a16="http://schemas.microsoft.com/office/drawing/2014/main" id="{0718EE88-C315-9C72-2826-224D279886D1}"/>
              </a:ext>
            </a:extLst>
          </p:cNvPr>
          <p:cNvSpPr/>
          <p:nvPr/>
        </p:nvSpPr>
        <p:spPr>
          <a:xfrm>
            <a:off x="8107396" y="3160416"/>
            <a:ext cx="285752" cy="1753268"/>
          </a:xfrm>
          <a:prstGeom prst="rightBrace">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TextBox 8">
            <a:extLst>
              <a:ext uri="{FF2B5EF4-FFF2-40B4-BE49-F238E27FC236}">
                <a16:creationId xmlns:a16="http://schemas.microsoft.com/office/drawing/2014/main" id="{1569EA12-558A-D981-C6ED-4697FDDBF510}"/>
              </a:ext>
            </a:extLst>
          </p:cNvPr>
          <p:cNvSpPr txBox="1"/>
          <p:nvPr/>
        </p:nvSpPr>
        <p:spPr>
          <a:xfrm>
            <a:off x="8303495" y="2911193"/>
            <a:ext cx="492443" cy="2232307"/>
          </a:xfrm>
          <a:prstGeom prst="rect">
            <a:avLst/>
          </a:prstGeom>
          <a:noFill/>
        </p:spPr>
        <p:txBody>
          <a:bodyPr vert="eaVert" wrap="square" rtlCol="0">
            <a:spAutoFit/>
          </a:bodyPr>
          <a:lstStyle/>
          <a:p>
            <a:pPr algn="l">
              <a:lnSpc>
                <a:spcPts val="2400"/>
              </a:lnSpc>
              <a:spcBef>
                <a:spcPts val="0"/>
              </a:spcBef>
            </a:pPr>
            <a:r>
              <a:rPr lang="zh-CN" altLang="en-US" dirty="0">
                <a:latin typeface="黑体" pitchFamily="49" charset="-122"/>
                <a:ea typeface="黑体" pitchFamily="49" charset="-122"/>
              </a:rPr>
              <a:t>直接来源于现实世界</a:t>
            </a:r>
          </a:p>
        </p:txBody>
      </p:sp>
      <p:sp>
        <p:nvSpPr>
          <p:cNvPr id="11" name="TextBox 9">
            <a:extLst>
              <a:ext uri="{FF2B5EF4-FFF2-40B4-BE49-F238E27FC236}">
                <a16:creationId xmlns:a16="http://schemas.microsoft.com/office/drawing/2014/main" id="{9F422F42-3043-1B86-0608-CB2720B2B3B0}"/>
              </a:ext>
            </a:extLst>
          </p:cNvPr>
          <p:cNvSpPr txBox="1"/>
          <p:nvPr/>
        </p:nvSpPr>
        <p:spPr>
          <a:xfrm>
            <a:off x="899592" y="2400952"/>
            <a:ext cx="5688632" cy="400110"/>
          </a:xfrm>
          <a:prstGeom prst="rect">
            <a:avLst/>
          </a:prstGeom>
          <a:noFill/>
        </p:spPr>
        <p:txBody>
          <a:bodyPr wrap="square" rtlCol="0">
            <a:spAutoFit/>
          </a:bodyPr>
          <a:lstStyle/>
          <a:p>
            <a:pPr algn="l">
              <a:lnSpc>
                <a:spcPts val="2400"/>
              </a:lnSpc>
              <a:spcBef>
                <a:spcPts val="0"/>
              </a:spcBef>
            </a:pPr>
            <a:r>
              <a:rPr kumimoji="0" lang="zh-CN" altLang="en-US" sz="2000" dirty="0">
                <a:solidFill>
                  <a:srgbClr val="FF0000"/>
                </a:solidFill>
                <a:latin typeface="Consolas" pitchFamily="49" charset="0"/>
                <a:ea typeface="楷体" pitchFamily="49" charset="-122"/>
                <a:cs typeface="Consolas" pitchFamily="49" charset="0"/>
              </a:rPr>
              <a:t> </a:t>
            </a:r>
            <a:r>
              <a:rPr kumimoji="0" lang="zh-CN" altLang="en-US" sz="2000" dirty="0">
                <a:solidFill>
                  <a:srgbClr val="FF0000"/>
                </a:solidFill>
                <a:latin typeface="Consolas" pitchFamily="49" charset="0"/>
                <a:ea typeface="楷体" pitchFamily="49" charset="-122"/>
                <a:cs typeface="Consolas" pitchFamily="49" charset="0"/>
                <a:sym typeface="Wingdings"/>
              </a:rPr>
              <a:t> </a:t>
            </a:r>
            <a:r>
              <a:rPr lang="zh-CN" altLang="en-US" sz="2000" dirty="0">
                <a:latin typeface="黑体" pitchFamily="49" charset="-122"/>
                <a:ea typeface="黑体" pitchFamily="49" charset="-122"/>
              </a:rPr>
              <a:t>学生表的逻辑结构表示</a:t>
            </a:r>
            <a:r>
              <a:rPr lang="en-US" altLang="zh-CN" sz="2000" dirty="0">
                <a:latin typeface="黑体" pitchFamily="49" charset="-122"/>
                <a:ea typeface="黑体" pitchFamily="49" charset="-122"/>
              </a:rPr>
              <a:t>1-</a:t>
            </a:r>
            <a:r>
              <a:rPr lang="zh-CN" altLang="en-US" sz="2000" dirty="0">
                <a:solidFill>
                  <a:srgbClr val="FF0000"/>
                </a:solidFill>
                <a:latin typeface="黑体" pitchFamily="49" charset="-122"/>
                <a:ea typeface="黑体" pitchFamily="49" charset="-122"/>
              </a:rPr>
              <a:t>图表表示法</a:t>
            </a:r>
            <a:r>
              <a:rPr lang="zh-CN" altLang="en-US" sz="2000" dirty="0">
                <a:latin typeface="黑体" pitchFamily="49" charset="-122"/>
                <a:ea typeface="黑体" pitchFamily="49" charset="-122"/>
              </a:rPr>
              <a:t>：表格</a:t>
            </a:r>
          </a:p>
        </p:txBody>
      </p:sp>
      <p:pic>
        <p:nvPicPr>
          <p:cNvPr id="13" name="Picture 2">
            <a:extLst>
              <a:ext uri="{FF2B5EF4-FFF2-40B4-BE49-F238E27FC236}">
                <a16:creationId xmlns:a16="http://schemas.microsoft.com/office/drawing/2014/main" id="{017F07F2-D944-28BF-6F87-AF1AF7A6BD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86" y="2708077"/>
            <a:ext cx="7987557" cy="2205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组合 21">
            <a:extLst>
              <a:ext uri="{FF2B5EF4-FFF2-40B4-BE49-F238E27FC236}">
                <a16:creationId xmlns:a16="http://schemas.microsoft.com/office/drawing/2014/main" id="{2EBF91AB-AA93-1FCB-5A94-8BF0ED847170}"/>
              </a:ext>
            </a:extLst>
          </p:cNvPr>
          <p:cNvGrpSpPr/>
          <p:nvPr/>
        </p:nvGrpSpPr>
        <p:grpSpPr>
          <a:xfrm>
            <a:off x="7891468" y="3507854"/>
            <a:ext cx="252549" cy="1319346"/>
            <a:chOff x="557347" y="4028837"/>
            <a:chExt cx="252549" cy="1759128"/>
          </a:xfrm>
        </p:grpSpPr>
        <p:sp>
          <p:nvSpPr>
            <p:cNvPr id="23" name="椭圆 22">
              <a:extLst>
                <a:ext uri="{FF2B5EF4-FFF2-40B4-BE49-F238E27FC236}">
                  <a16:creationId xmlns:a16="http://schemas.microsoft.com/office/drawing/2014/main" id="{E886DDC1-85E4-86C1-169F-DEC41A80CBB3}"/>
                </a:ext>
              </a:extLst>
            </p:cNvPr>
            <p:cNvSpPr/>
            <p:nvPr/>
          </p:nvSpPr>
          <p:spPr>
            <a:xfrm>
              <a:off x="557347" y="4028837"/>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5E382859-1AA6-B65D-B426-9A314CE0B8C2}"/>
                </a:ext>
              </a:extLst>
            </p:cNvPr>
            <p:cNvSpPr/>
            <p:nvPr/>
          </p:nvSpPr>
          <p:spPr>
            <a:xfrm>
              <a:off x="557347" y="4411452"/>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EA410020-147A-30DF-BE64-E3FB5B371666}"/>
                </a:ext>
              </a:extLst>
            </p:cNvPr>
            <p:cNvSpPr/>
            <p:nvPr/>
          </p:nvSpPr>
          <p:spPr>
            <a:xfrm>
              <a:off x="557347" y="478648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EFC13F23-71AD-2822-2A47-0D959B2AFD4A}"/>
                </a:ext>
              </a:extLst>
            </p:cNvPr>
            <p:cNvSpPr/>
            <p:nvPr/>
          </p:nvSpPr>
          <p:spPr>
            <a:xfrm>
              <a:off x="557347" y="514465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0E0D68BD-97FD-3189-C965-3E9CE44701B3}"/>
                </a:ext>
              </a:extLst>
            </p:cNvPr>
            <p:cNvSpPr/>
            <p:nvPr/>
          </p:nvSpPr>
          <p:spPr>
            <a:xfrm>
              <a:off x="557347" y="5535416"/>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a:extLst>
                <a:ext uri="{FF2B5EF4-FFF2-40B4-BE49-F238E27FC236}">
                  <a16:creationId xmlns:a16="http://schemas.microsoft.com/office/drawing/2014/main" id="{4F721A38-1540-A830-7707-E6536CF56F81}"/>
                </a:ext>
              </a:extLst>
            </p:cNvPr>
            <p:cNvCxnSpPr>
              <a:stCxn id="23" idx="4"/>
              <a:endCxn id="24" idx="0"/>
            </p:cNvCxnSpPr>
            <p:nvPr/>
          </p:nvCxnSpPr>
          <p:spPr>
            <a:xfrm>
              <a:off x="683622" y="4281386"/>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93799568-C463-0B16-C264-25E3CF409A14}"/>
                </a:ext>
              </a:extLst>
            </p:cNvPr>
            <p:cNvCxnSpPr/>
            <p:nvPr/>
          </p:nvCxnSpPr>
          <p:spPr>
            <a:xfrm>
              <a:off x="683622" y="4664001"/>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070A50D-15BB-68DC-FA2B-641AF2C2C3EF}"/>
                </a:ext>
              </a:extLst>
            </p:cNvPr>
            <p:cNvCxnSpPr/>
            <p:nvPr/>
          </p:nvCxnSpPr>
          <p:spPr>
            <a:xfrm>
              <a:off x="683622" y="5021614"/>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6D447606-D7D2-F6DC-A003-E2E54BF6CD0B}"/>
                </a:ext>
              </a:extLst>
            </p:cNvPr>
            <p:cNvCxnSpPr/>
            <p:nvPr/>
          </p:nvCxnSpPr>
          <p:spPr>
            <a:xfrm>
              <a:off x="696683" y="5405350"/>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40017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07E70-56DA-AE5E-9E33-7E08339A5F30}"/>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CAAAE698-CA47-E800-58C7-7F8B06C3A399}"/>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8" name="Rectangle 3">
            <a:extLst>
              <a:ext uri="{FF2B5EF4-FFF2-40B4-BE49-F238E27FC236}">
                <a16:creationId xmlns:a16="http://schemas.microsoft.com/office/drawing/2014/main" id="{03E30C43-EF25-5F61-8402-69AD2AE12F9D}"/>
              </a:ext>
            </a:extLst>
          </p:cNvPr>
          <p:cNvSpPr>
            <a:spLocks noChangeArrowheads="1"/>
          </p:cNvSpPr>
          <p:nvPr/>
        </p:nvSpPr>
        <p:spPr bwMode="auto">
          <a:xfrm>
            <a:off x="1446099" y="3318726"/>
            <a:ext cx="6251801" cy="1469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 typeface="Arial" pitchFamily="34" charset="0"/>
              <a:buNone/>
            </a:pPr>
            <a:r>
              <a:rPr lang="zh-CN" altLang="en-US" sz="2000" dirty="0">
                <a:latin typeface="微软雅黑" pitchFamily="34" charset="-122"/>
                <a:ea typeface="微软雅黑" pitchFamily="34" charset="-122"/>
                <a:cs typeface="经典粗黑简" pitchFamily="49" charset="-122"/>
              </a:rPr>
              <a:t>数据结构的形式化定义：</a:t>
            </a:r>
          </a:p>
          <a:p>
            <a:pPr marL="742950" lvl="1" indent="-285750">
              <a:spcBef>
                <a:spcPct val="5000"/>
              </a:spcBef>
              <a:buFont typeface="Arial" pitchFamily="34" charset="0"/>
              <a:buNone/>
            </a:pPr>
            <a:r>
              <a:rPr lang="en-US" altLang="zh-CN" sz="2000" dirty="0">
                <a:latin typeface="微软雅黑" pitchFamily="34" charset="-122"/>
                <a:ea typeface="微软雅黑" pitchFamily="34" charset="-122"/>
                <a:cs typeface="经典粗黑简" pitchFamily="49" charset="-122"/>
              </a:rPr>
              <a:t>		　</a:t>
            </a:r>
            <a:r>
              <a:rPr lang="en-US" altLang="zh-CN" sz="2000" dirty="0" err="1">
                <a:latin typeface="微软雅黑" pitchFamily="34" charset="-122"/>
                <a:ea typeface="微软雅黑" pitchFamily="34" charset="-122"/>
                <a:cs typeface="经典粗黑简" pitchFamily="49" charset="-122"/>
              </a:rPr>
              <a:t>Data_Structure</a:t>
            </a:r>
            <a:r>
              <a:rPr lang="en-US" altLang="zh-CN" sz="2000" dirty="0">
                <a:latin typeface="微软雅黑" pitchFamily="34" charset="-122"/>
                <a:ea typeface="微软雅黑" pitchFamily="34" charset="-122"/>
                <a:cs typeface="经典粗黑简" pitchFamily="49" charset="-122"/>
              </a:rPr>
              <a:t>=（D，S）</a:t>
            </a:r>
          </a:p>
          <a:p>
            <a:pPr marL="1143000" lvl="2" indent="-228600">
              <a:spcBef>
                <a:spcPct val="5000"/>
              </a:spcBef>
              <a:buFont typeface="Arial" pitchFamily="34" charset="0"/>
              <a:buNone/>
            </a:pPr>
            <a:r>
              <a:rPr lang="en-US" altLang="zh-CN" sz="2000" dirty="0">
                <a:latin typeface="微软雅黑" pitchFamily="34" charset="-122"/>
                <a:ea typeface="微软雅黑" pitchFamily="34" charset="-122"/>
                <a:cs typeface="经典粗黑简" pitchFamily="49" charset="-122"/>
              </a:rPr>
              <a:t>		</a:t>
            </a:r>
            <a:r>
              <a:rPr lang="zh-CN" altLang="en-US" sz="2000" dirty="0">
                <a:latin typeface="微软雅黑" pitchFamily="34" charset="-122"/>
                <a:ea typeface="微软雅黑" pitchFamily="34" charset="-122"/>
                <a:cs typeface="经典粗黑简" pitchFamily="49" charset="-122"/>
              </a:rPr>
              <a:t>其中：</a:t>
            </a:r>
            <a:r>
              <a:rPr lang="en-US" altLang="zh-CN" sz="2000" dirty="0">
                <a:latin typeface="微软雅黑" pitchFamily="34" charset="-122"/>
                <a:ea typeface="微软雅黑" pitchFamily="34" charset="-122"/>
                <a:cs typeface="经典粗黑简" pitchFamily="49" charset="-122"/>
              </a:rPr>
              <a:t>D= {</a:t>
            </a:r>
            <a:r>
              <a:rPr lang="zh-CN" altLang="en-US" sz="2000" dirty="0">
                <a:latin typeface="微软雅黑" pitchFamily="34" charset="-122"/>
                <a:ea typeface="微软雅黑" pitchFamily="34" charset="-122"/>
                <a:cs typeface="经典粗黑简" pitchFamily="49" charset="-122"/>
              </a:rPr>
              <a:t>数据元素的有限集合}</a:t>
            </a:r>
          </a:p>
          <a:p>
            <a:pPr marL="1143000" lvl="2" indent="-228600">
              <a:spcBef>
                <a:spcPct val="5000"/>
              </a:spcBef>
              <a:buFont typeface="Arial" pitchFamily="34" charset="0"/>
              <a:buNone/>
            </a:pPr>
            <a:r>
              <a:rPr lang="en-US" altLang="zh-CN" sz="2000" dirty="0">
                <a:latin typeface="微软雅黑" pitchFamily="34" charset="-122"/>
                <a:ea typeface="微软雅黑" pitchFamily="34" charset="-122"/>
                <a:cs typeface="经典粗黑简" pitchFamily="49" charset="-122"/>
              </a:rPr>
              <a:t>		          S = {D</a:t>
            </a:r>
            <a:r>
              <a:rPr lang="zh-CN" altLang="en-US" sz="2000" dirty="0">
                <a:latin typeface="微软雅黑" pitchFamily="34" charset="-122"/>
                <a:ea typeface="微软雅黑" pitchFamily="34" charset="-122"/>
                <a:cs typeface="经典粗黑简" pitchFamily="49" charset="-122"/>
              </a:rPr>
              <a:t>上关系的有限集合}</a:t>
            </a:r>
          </a:p>
        </p:txBody>
      </p:sp>
      <p:sp>
        <p:nvSpPr>
          <p:cNvPr id="2" name="Rectangle 2">
            <a:extLst>
              <a:ext uri="{FF2B5EF4-FFF2-40B4-BE49-F238E27FC236}">
                <a16:creationId xmlns:a16="http://schemas.microsoft.com/office/drawing/2014/main" id="{EF75B153-7E0A-7335-6985-8C7226620EE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CE6EA93F-A8CA-D8E4-8571-4FB91F700C11}"/>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1.1.2 </a:t>
            </a:r>
            <a:r>
              <a:rPr lang="zh-CN" altLang="en-US" sz="2800" b="1" dirty="0">
                <a:solidFill>
                  <a:schemeClr val="bg1"/>
                </a:solidFill>
                <a:latin typeface="经典粗黑简" pitchFamily="49" charset="-122"/>
                <a:ea typeface="经典粗黑简" pitchFamily="49" charset="-122"/>
                <a:cs typeface="经典粗黑简" pitchFamily="49" charset="-122"/>
              </a:rPr>
              <a:t>数据的逻辑结构</a:t>
            </a:r>
          </a:p>
        </p:txBody>
      </p:sp>
      <p:sp>
        <p:nvSpPr>
          <p:cNvPr id="5" name="TextBox 6">
            <a:extLst>
              <a:ext uri="{FF2B5EF4-FFF2-40B4-BE49-F238E27FC236}">
                <a16:creationId xmlns:a16="http://schemas.microsoft.com/office/drawing/2014/main" id="{F9BE74DA-86A9-A7C0-51B7-8F2D12F5A408}"/>
              </a:ext>
            </a:extLst>
          </p:cNvPr>
          <p:cNvSpPr txBox="1"/>
          <p:nvPr/>
        </p:nvSpPr>
        <p:spPr>
          <a:xfrm>
            <a:off x="899592" y="2319300"/>
            <a:ext cx="5616624" cy="400110"/>
          </a:xfrm>
          <a:prstGeom prst="rect">
            <a:avLst/>
          </a:prstGeom>
          <a:noFill/>
        </p:spPr>
        <p:txBody>
          <a:bodyPr wrap="square" rtlCol="0">
            <a:spAutoFit/>
          </a:bodyPr>
          <a:lstStyle/>
          <a:p>
            <a:pPr algn="l"/>
            <a:r>
              <a:rPr kumimoji="0" lang="zh-CN" altLang="en-US" sz="2000" dirty="0">
                <a:solidFill>
                  <a:srgbClr val="FF0000"/>
                </a:solidFill>
                <a:latin typeface="Consolas" pitchFamily="49" charset="0"/>
                <a:ea typeface="微软雅黑" pitchFamily="34" charset="-122"/>
                <a:cs typeface="Consolas" pitchFamily="49" charset="0"/>
              </a:rPr>
              <a:t> </a:t>
            </a:r>
            <a:r>
              <a:rPr kumimoji="0" lang="zh-CN" altLang="en-US" sz="2000" dirty="0">
                <a:solidFill>
                  <a:srgbClr val="FF0000"/>
                </a:solidFill>
                <a:latin typeface="Consolas" pitchFamily="49" charset="0"/>
                <a:ea typeface="微软雅黑" pitchFamily="34" charset="-122"/>
                <a:cs typeface="Consolas" pitchFamily="49" charset="0"/>
                <a:sym typeface="Wingdings"/>
              </a:rPr>
              <a:t> </a:t>
            </a:r>
            <a:r>
              <a:rPr lang="zh-CN" altLang="en-US" sz="2000" dirty="0">
                <a:latin typeface="黑体" pitchFamily="49" charset="-122"/>
                <a:ea typeface="黑体" pitchFamily="49" charset="-122"/>
              </a:rPr>
              <a:t>学生表的逻辑结构表示</a:t>
            </a:r>
            <a:r>
              <a:rPr lang="en-US" altLang="zh-CN" sz="2000" dirty="0">
                <a:latin typeface="黑体" pitchFamily="49" charset="-122"/>
                <a:ea typeface="黑体" pitchFamily="49" charset="-122"/>
              </a:rPr>
              <a:t>2-</a:t>
            </a:r>
            <a:r>
              <a:rPr lang="zh-CN" altLang="en-US" sz="2000" dirty="0">
                <a:solidFill>
                  <a:srgbClr val="FF0000"/>
                </a:solidFill>
                <a:latin typeface="黑体" pitchFamily="49" charset="-122"/>
                <a:ea typeface="黑体" pitchFamily="49" charset="-122"/>
              </a:rPr>
              <a:t>二元组表示法</a:t>
            </a:r>
            <a:endParaRPr lang="en-US" altLang="zh-CN" sz="2000" dirty="0">
              <a:solidFill>
                <a:srgbClr val="FF0000"/>
              </a:solidFill>
              <a:latin typeface="黑体" pitchFamily="49" charset="-122"/>
              <a:ea typeface="黑体" pitchFamily="49" charset="-122"/>
            </a:endParaRPr>
          </a:p>
        </p:txBody>
      </p:sp>
      <p:sp>
        <p:nvSpPr>
          <p:cNvPr id="6" name="矩形 5">
            <a:extLst>
              <a:ext uri="{FF2B5EF4-FFF2-40B4-BE49-F238E27FC236}">
                <a16:creationId xmlns:a16="http://schemas.microsoft.com/office/drawing/2014/main" id="{98DEC71D-046B-69A6-5FD5-9F803EB83392}"/>
              </a:ext>
            </a:extLst>
          </p:cNvPr>
          <p:cNvSpPr/>
          <p:nvPr/>
        </p:nvSpPr>
        <p:spPr>
          <a:xfrm>
            <a:off x="1043608" y="1471252"/>
            <a:ext cx="3528392" cy="523220"/>
          </a:xfrm>
          <a:prstGeom prst="rect">
            <a:avLst/>
          </a:prstGeom>
        </p:spPr>
        <p:txBody>
          <a:bodyPr wrap="square">
            <a:spAutoFit/>
          </a:bodyPr>
          <a:lstStyle/>
          <a:p>
            <a:pPr marL="0" lvl="1"/>
            <a:r>
              <a:rPr lang="zh-CN" altLang="en-US" sz="2800" dirty="0">
                <a:latin typeface="黑体" pitchFamily="49" charset="-122"/>
                <a:ea typeface="黑体" pitchFamily="49" charset="-122"/>
              </a:rPr>
              <a:t>逻辑结构的表示方法</a:t>
            </a:r>
            <a:endParaRPr lang="en-US" altLang="zh-CN" sz="2800" dirty="0">
              <a:latin typeface="黑体" pitchFamily="49" charset="-122"/>
              <a:ea typeface="黑体" pitchFamily="49" charset="-122"/>
            </a:endParaRPr>
          </a:p>
        </p:txBody>
      </p:sp>
      <p:sp>
        <p:nvSpPr>
          <p:cNvPr id="7" name="TextBox 2">
            <a:extLst>
              <a:ext uri="{FF2B5EF4-FFF2-40B4-BE49-F238E27FC236}">
                <a16:creationId xmlns:a16="http://schemas.microsoft.com/office/drawing/2014/main" id="{FED3C1BF-BAC4-29F1-4C80-DCFD9C24CC30}"/>
              </a:ext>
            </a:extLst>
          </p:cNvPr>
          <p:cNvSpPr txBox="1"/>
          <p:nvPr/>
        </p:nvSpPr>
        <p:spPr>
          <a:xfrm>
            <a:off x="1066893" y="1906742"/>
            <a:ext cx="6050442" cy="435697"/>
          </a:xfrm>
          <a:prstGeom prst="rect">
            <a:avLst/>
          </a:prstGeom>
          <a:noFill/>
        </p:spPr>
        <p:txBody>
          <a:bodyPr wrap="square" rtlCol="0">
            <a:spAutoFit/>
          </a:bodyPr>
          <a:lstStyle/>
          <a:p>
            <a:pPr algn="l">
              <a:lnSpc>
                <a:spcPct val="130000"/>
              </a:lnSpc>
            </a:pPr>
            <a:r>
              <a:rPr lang="zh-CN" altLang="en-US" sz="2000" dirty="0">
                <a:latin typeface="黑体" pitchFamily="49" charset="-122"/>
                <a:ea typeface="黑体" pitchFamily="49" charset="-122"/>
              </a:rPr>
              <a:t>数据的逻辑结构是面向用户的，它有多种表示形式。</a:t>
            </a:r>
          </a:p>
        </p:txBody>
      </p:sp>
      <p:sp>
        <p:nvSpPr>
          <p:cNvPr id="9" name="Text Box 25">
            <a:extLst>
              <a:ext uri="{FF2B5EF4-FFF2-40B4-BE49-F238E27FC236}">
                <a16:creationId xmlns:a16="http://schemas.microsoft.com/office/drawing/2014/main" id="{492FB451-7887-23D4-903B-A0C910D31687}"/>
              </a:ext>
            </a:extLst>
          </p:cNvPr>
          <p:cNvSpPr txBox="1">
            <a:spLocks noChangeArrowheads="1"/>
          </p:cNvSpPr>
          <p:nvPr/>
        </p:nvSpPr>
        <p:spPr bwMode="auto">
          <a:xfrm>
            <a:off x="1066893" y="2727784"/>
            <a:ext cx="6357982" cy="389530"/>
          </a:xfrm>
          <a:prstGeom prst="rect">
            <a:avLst/>
          </a:prstGeom>
          <a:noFill/>
          <a:ln w="9525" algn="ctr">
            <a:noFill/>
            <a:miter lim="800000"/>
            <a:headEnd/>
            <a:tailEnd/>
          </a:ln>
          <a:effectLst/>
        </p:spPr>
        <p:txBody>
          <a:bodyPr wrap="square">
            <a:spAutoFit/>
          </a:bodyPr>
          <a:lstStyle/>
          <a:p>
            <a:pPr marL="457200" indent="-457200" algn="just">
              <a:lnSpc>
                <a:spcPct val="110000"/>
              </a:lnSpc>
            </a:pPr>
            <a:r>
              <a:rPr lang="zh-CN" altLang="en-US" sz="2000" b="1" dirty="0">
                <a:solidFill>
                  <a:srgbClr val="FF0000"/>
                </a:solidFill>
                <a:latin typeface="黑体" pitchFamily="49" charset="-122"/>
                <a:ea typeface="黑体" pitchFamily="49" charset="-122"/>
                <a:cs typeface="Times New Roman" pitchFamily="18" charset="0"/>
              </a:rPr>
              <a:t>二元组</a:t>
            </a:r>
            <a:r>
              <a:rPr lang="zh-CN" altLang="en-US" sz="2000" b="1" dirty="0">
                <a:solidFill>
                  <a:srgbClr val="0000FF"/>
                </a:solidFill>
                <a:latin typeface="楷体" pitchFamily="49" charset="-122"/>
                <a:ea typeface="楷体" pitchFamily="49" charset="-122"/>
                <a:cs typeface="Times New Roman" pitchFamily="18" charset="0"/>
              </a:rPr>
              <a:t>是</a:t>
            </a:r>
            <a:r>
              <a:rPr kumimoji="0" lang="zh-CN" altLang="en-US" sz="2000" dirty="0">
                <a:solidFill>
                  <a:srgbClr val="0000FF"/>
                </a:solidFill>
                <a:ea typeface="楷体" pitchFamily="49" charset="-122"/>
                <a:cs typeface="Times New Roman" pitchFamily="18" charset="0"/>
              </a:rPr>
              <a:t>一种通用的逻辑结构表示方法</a:t>
            </a:r>
            <a:endParaRPr kumimoji="0" lang="zh-CN" altLang="en-US" sz="2000" b="1" dirty="0">
              <a:solidFill>
                <a:srgbClr val="0000FF"/>
              </a:solidFill>
              <a:latin typeface="黑体" pitchFamily="49" charset="-122"/>
              <a:ea typeface="黑体" pitchFamily="49" charset="-122"/>
              <a:cs typeface="Times New Roman" pitchFamily="18" charset="0"/>
            </a:endParaRPr>
          </a:p>
        </p:txBody>
      </p:sp>
    </p:spTree>
    <p:extLst>
      <p:ext uri="{BB962C8B-B14F-4D97-AF65-F5344CB8AC3E}">
        <p14:creationId xmlns:p14="http://schemas.microsoft.com/office/powerpoint/2010/main" val="3250022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44BBA-FE7B-F158-9D23-4E6EEE2682C3}"/>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A1607D57-25F1-6959-AB03-5355092CB29A}"/>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7D06EB8E-26CE-B21D-0FF7-8184B85AAE2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508B8356-FB25-138D-8696-14FAB3219224}"/>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1.1.2 </a:t>
            </a:r>
            <a:r>
              <a:rPr lang="zh-CN" altLang="en-US" sz="2800" b="1" dirty="0">
                <a:solidFill>
                  <a:schemeClr val="bg1"/>
                </a:solidFill>
                <a:latin typeface="经典粗黑简" pitchFamily="49" charset="-122"/>
                <a:ea typeface="经典粗黑简" pitchFamily="49" charset="-122"/>
                <a:cs typeface="经典粗黑简" pitchFamily="49" charset="-122"/>
              </a:rPr>
              <a:t>数据的逻辑结构</a:t>
            </a:r>
          </a:p>
        </p:txBody>
      </p:sp>
      <p:sp>
        <p:nvSpPr>
          <p:cNvPr id="5" name="TextBox 6">
            <a:extLst>
              <a:ext uri="{FF2B5EF4-FFF2-40B4-BE49-F238E27FC236}">
                <a16:creationId xmlns:a16="http://schemas.microsoft.com/office/drawing/2014/main" id="{2723E5CA-B0CC-0AFA-2AE0-858EDD0A1212}"/>
              </a:ext>
            </a:extLst>
          </p:cNvPr>
          <p:cNvSpPr txBox="1"/>
          <p:nvPr/>
        </p:nvSpPr>
        <p:spPr>
          <a:xfrm>
            <a:off x="899592" y="2319300"/>
            <a:ext cx="5616624" cy="400110"/>
          </a:xfrm>
          <a:prstGeom prst="rect">
            <a:avLst/>
          </a:prstGeom>
          <a:noFill/>
        </p:spPr>
        <p:txBody>
          <a:bodyPr wrap="square" rtlCol="0">
            <a:spAutoFit/>
          </a:bodyPr>
          <a:lstStyle/>
          <a:p>
            <a:pPr algn="l"/>
            <a:r>
              <a:rPr kumimoji="0" lang="zh-CN" altLang="en-US" sz="2000" dirty="0">
                <a:solidFill>
                  <a:srgbClr val="FF0000"/>
                </a:solidFill>
                <a:latin typeface="Consolas" pitchFamily="49" charset="0"/>
                <a:ea typeface="微软雅黑" pitchFamily="34" charset="-122"/>
                <a:cs typeface="Consolas" pitchFamily="49" charset="0"/>
              </a:rPr>
              <a:t> </a:t>
            </a:r>
            <a:r>
              <a:rPr kumimoji="0" lang="zh-CN" altLang="en-US" sz="2000" dirty="0">
                <a:solidFill>
                  <a:srgbClr val="FF0000"/>
                </a:solidFill>
                <a:latin typeface="Consolas" pitchFamily="49" charset="0"/>
                <a:ea typeface="微软雅黑" pitchFamily="34" charset="-122"/>
                <a:cs typeface="Consolas" pitchFamily="49" charset="0"/>
                <a:sym typeface="Wingdings"/>
              </a:rPr>
              <a:t> </a:t>
            </a:r>
            <a:r>
              <a:rPr lang="zh-CN" altLang="en-US" sz="2000" dirty="0">
                <a:latin typeface="黑体" pitchFamily="49" charset="-122"/>
                <a:ea typeface="黑体" pitchFamily="49" charset="-122"/>
              </a:rPr>
              <a:t>学生表的逻辑结构表示</a:t>
            </a:r>
            <a:r>
              <a:rPr lang="en-US" altLang="zh-CN" sz="2000" dirty="0">
                <a:latin typeface="黑体" pitchFamily="49" charset="-122"/>
                <a:ea typeface="黑体" pitchFamily="49" charset="-122"/>
              </a:rPr>
              <a:t>2-</a:t>
            </a:r>
            <a:r>
              <a:rPr lang="zh-CN" altLang="en-US" sz="2000" dirty="0">
                <a:solidFill>
                  <a:srgbClr val="FF0000"/>
                </a:solidFill>
                <a:latin typeface="黑体" pitchFamily="49" charset="-122"/>
                <a:ea typeface="黑体" pitchFamily="49" charset="-122"/>
              </a:rPr>
              <a:t>二元组表示法</a:t>
            </a:r>
            <a:endParaRPr lang="en-US" altLang="zh-CN" sz="2000" dirty="0">
              <a:solidFill>
                <a:srgbClr val="FF0000"/>
              </a:solidFill>
              <a:latin typeface="黑体" pitchFamily="49" charset="-122"/>
              <a:ea typeface="黑体" pitchFamily="49" charset="-122"/>
            </a:endParaRPr>
          </a:p>
        </p:txBody>
      </p:sp>
      <p:sp>
        <p:nvSpPr>
          <p:cNvPr id="6" name="矩形 5">
            <a:extLst>
              <a:ext uri="{FF2B5EF4-FFF2-40B4-BE49-F238E27FC236}">
                <a16:creationId xmlns:a16="http://schemas.microsoft.com/office/drawing/2014/main" id="{74917C88-ED63-9528-3585-8DF1504D4882}"/>
              </a:ext>
            </a:extLst>
          </p:cNvPr>
          <p:cNvSpPr/>
          <p:nvPr/>
        </p:nvSpPr>
        <p:spPr>
          <a:xfrm>
            <a:off x="1043608" y="1471252"/>
            <a:ext cx="3528392" cy="523220"/>
          </a:xfrm>
          <a:prstGeom prst="rect">
            <a:avLst/>
          </a:prstGeom>
        </p:spPr>
        <p:txBody>
          <a:bodyPr wrap="square">
            <a:spAutoFit/>
          </a:bodyPr>
          <a:lstStyle/>
          <a:p>
            <a:pPr marL="0" lvl="1"/>
            <a:r>
              <a:rPr lang="zh-CN" altLang="en-US" sz="2800" dirty="0">
                <a:latin typeface="黑体" pitchFamily="49" charset="-122"/>
                <a:ea typeface="黑体" pitchFamily="49" charset="-122"/>
              </a:rPr>
              <a:t>逻辑结构的表示方法</a:t>
            </a:r>
            <a:endParaRPr lang="en-US" altLang="zh-CN" sz="2800" dirty="0">
              <a:latin typeface="黑体" pitchFamily="49" charset="-122"/>
              <a:ea typeface="黑体" pitchFamily="49" charset="-122"/>
            </a:endParaRPr>
          </a:p>
        </p:txBody>
      </p:sp>
      <p:sp>
        <p:nvSpPr>
          <p:cNvPr id="7" name="TextBox 2">
            <a:extLst>
              <a:ext uri="{FF2B5EF4-FFF2-40B4-BE49-F238E27FC236}">
                <a16:creationId xmlns:a16="http://schemas.microsoft.com/office/drawing/2014/main" id="{048353DF-1507-5ACE-0129-E51848A2EE9A}"/>
              </a:ext>
            </a:extLst>
          </p:cNvPr>
          <p:cNvSpPr txBox="1"/>
          <p:nvPr/>
        </p:nvSpPr>
        <p:spPr>
          <a:xfrm>
            <a:off x="1066893" y="1906742"/>
            <a:ext cx="6050442" cy="435697"/>
          </a:xfrm>
          <a:prstGeom prst="rect">
            <a:avLst/>
          </a:prstGeom>
          <a:noFill/>
        </p:spPr>
        <p:txBody>
          <a:bodyPr wrap="square" rtlCol="0">
            <a:spAutoFit/>
          </a:bodyPr>
          <a:lstStyle/>
          <a:p>
            <a:pPr algn="l">
              <a:lnSpc>
                <a:spcPct val="130000"/>
              </a:lnSpc>
            </a:pPr>
            <a:r>
              <a:rPr lang="zh-CN" altLang="en-US" sz="2000" dirty="0">
                <a:latin typeface="黑体" pitchFamily="49" charset="-122"/>
                <a:ea typeface="黑体" pitchFamily="49" charset="-122"/>
              </a:rPr>
              <a:t>数据的逻辑结构是面向用户的，它有多种表示形式。</a:t>
            </a:r>
          </a:p>
        </p:txBody>
      </p:sp>
      <p:sp>
        <p:nvSpPr>
          <p:cNvPr id="15" name="TextBox 5">
            <a:extLst>
              <a:ext uri="{FF2B5EF4-FFF2-40B4-BE49-F238E27FC236}">
                <a16:creationId xmlns:a16="http://schemas.microsoft.com/office/drawing/2014/main" id="{92C43B7A-1E4D-CF6C-CBA7-2FAEF4377B03}"/>
              </a:ext>
            </a:extLst>
          </p:cNvPr>
          <p:cNvSpPr txBox="1"/>
          <p:nvPr/>
        </p:nvSpPr>
        <p:spPr>
          <a:xfrm>
            <a:off x="1083294" y="2747919"/>
            <a:ext cx="4064770" cy="400110"/>
          </a:xfrm>
          <a:prstGeom prst="rect">
            <a:avLst/>
          </a:prstGeom>
          <a:noFill/>
        </p:spPr>
        <p:txBody>
          <a:bodyPr wrap="square" rtlCol="0">
            <a:spAutoFit/>
          </a:bodyPr>
          <a:lstStyle/>
          <a:p>
            <a:pPr algn="l">
              <a:lnSpc>
                <a:spcPct val="100000"/>
              </a:lnSpc>
            </a:pPr>
            <a:r>
              <a:rPr lang="zh-CN" altLang="en-US" sz="2000" dirty="0">
                <a:latin typeface="黑体" pitchFamily="49" charset="-122"/>
                <a:ea typeface="黑体" pitchFamily="49" charset="-122"/>
              </a:rPr>
              <a:t>每个关系的用若干个序偶来表示：</a:t>
            </a:r>
          </a:p>
        </p:txBody>
      </p:sp>
      <p:sp>
        <p:nvSpPr>
          <p:cNvPr id="17" name="文本框 16">
            <a:extLst>
              <a:ext uri="{FF2B5EF4-FFF2-40B4-BE49-F238E27FC236}">
                <a16:creationId xmlns:a16="http://schemas.microsoft.com/office/drawing/2014/main" id="{3FA15ED1-37A5-9359-2870-AC688688E3FF}"/>
              </a:ext>
            </a:extLst>
          </p:cNvPr>
          <p:cNvSpPr txBox="1"/>
          <p:nvPr/>
        </p:nvSpPr>
        <p:spPr>
          <a:xfrm>
            <a:off x="1078157" y="3848754"/>
            <a:ext cx="6624736" cy="822020"/>
          </a:xfrm>
          <a:prstGeom prst="rect">
            <a:avLst/>
          </a:prstGeom>
          <a:noFill/>
        </p:spPr>
        <p:txBody>
          <a:bodyPr wrap="square">
            <a:spAutoFit/>
          </a:bodyPr>
          <a:lstStyle/>
          <a:p>
            <a:pPr marL="457200" indent="-457200" algn="just">
              <a:lnSpc>
                <a:spcPts val="3000"/>
              </a:lnSpc>
              <a:spcBef>
                <a:spcPts val="1200"/>
              </a:spcBef>
              <a:buFontTx/>
              <a:buBlip>
                <a:blip r:embed="rId2"/>
              </a:buBlip>
            </a:pPr>
            <a:r>
              <a:rPr lang="zh-CN" altLang="en-US" sz="2000" dirty="0">
                <a:latin typeface="黑体" pitchFamily="49" charset="-122"/>
                <a:ea typeface="黑体" pitchFamily="49" charset="-122"/>
              </a:rPr>
              <a:t>若某个元素没有前驱元素，则称该元素为</a:t>
            </a:r>
            <a:r>
              <a:rPr lang="zh-CN" altLang="en-US" sz="2000" dirty="0">
                <a:solidFill>
                  <a:srgbClr val="FF0000"/>
                </a:solidFill>
                <a:latin typeface="黑体" pitchFamily="49" charset="-122"/>
                <a:ea typeface="黑体" pitchFamily="49" charset="-122"/>
              </a:rPr>
              <a:t>开始元素</a:t>
            </a:r>
            <a:r>
              <a:rPr lang="zh-CN" altLang="en-US" sz="2000" dirty="0">
                <a:latin typeface="黑体" pitchFamily="49" charset="-122"/>
                <a:ea typeface="黑体" pitchFamily="49" charset="-122"/>
              </a:rPr>
              <a:t>；若某个元素没有后继元素，则称该元素为</a:t>
            </a:r>
            <a:r>
              <a:rPr lang="zh-CN" altLang="en-US" sz="2000" dirty="0">
                <a:solidFill>
                  <a:srgbClr val="FF0000"/>
                </a:solidFill>
                <a:latin typeface="黑体" pitchFamily="49" charset="-122"/>
                <a:ea typeface="黑体" pitchFamily="49" charset="-122"/>
              </a:rPr>
              <a:t>终端元素</a:t>
            </a:r>
            <a:r>
              <a:rPr lang="zh-CN" altLang="en-US" sz="1800" b="1" dirty="0">
                <a:solidFill>
                  <a:srgbClr val="0000FF"/>
                </a:solidFill>
                <a:latin typeface="Consolas" pitchFamily="49" charset="0"/>
                <a:ea typeface="仿宋" pitchFamily="49" charset="-122"/>
                <a:cs typeface="Consolas" pitchFamily="49" charset="0"/>
              </a:rPr>
              <a:t>。</a:t>
            </a:r>
          </a:p>
        </p:txBody>
      </p:sp>
      <p:sp>
        <p:nvSpPr>
          <p:cNvPr id="19" name="文本框 18">
            <a:extLst>
              <a:ext uri="{FF2B5EF4-FFF2-40B4-BE49-F238E27FC236}">
                <a16:creationId xmlns:a16="http://schemas.microsoft.com/office/drawing/2014/main" id="{2755F0A3-3FD7-BA69-4E3D-617E97BD25A2}"/>
              </a:ext>
            </a:extLst>
          </p:cNvPr>
          <p:cNvSpPr txBox="1"/>
          <p:nvPr/>
        </p:nvSpPr>
        <p:spPr>
          <a:xfrm>
            <a:off x="1102123" y="3044238"/>
            <a:ext cx="6251456" cy="804516"/>
          </a:xfrm>
          <a:prstGeom prst="rect">
            <a:avLst/>
          </a:prstGeom>
          <a:noFill/>
        </p:spPr>
        <p:txBody>
          <a:bodyPr wrap="square">
            <a:spAutoFit/>
          </a:bodyPr>
          <a:lstStyle/>
          <a:p>
            <a:pPr marL="457200" indent="-457200" algn="just">
              <a:lnSpc>
                <a:spcPts val="3000"/>
              </a:lnSpc>
              <a:spcBef>
                <a:spcPts val="1200"/>
              </a:spcBef>
              <a:buFontTx/>
              <a:buBlip>
                <a:blip r:embed="rId2"/>
              </a:buBlip>
            </a:pPr>
            <a:r>
              <a:rPr lang="zh-CN" altLang="en-US" sz="1800" dirty="0">
                <a:latin typeface="黑体" pitchFamily="49" charset="-122"/>
                <a:ea typeface="黑体" pitchFamily="49" charset="-122"/>
              </a:rPr>
              <a:t>序偶</a:t>
            </a:r>
            <a:r>
              <a:rPr lang="en-US" altLang="zh-CN" sz="1800" dirty="0">
                <a:latin typeface="黑体" pitchFamily="49" charset="-122"/>
                <a:ea typeface="黑体" pitchFamily="49" charset="-122"/>
              </a:rPr>
              <a:t>&lt;x</a:t>
            </a:r>
            <a:r>
              <a:rPr lang="zh-CN" altLang="en-US" sz="1800" dirty="0">
                <a:latin typeface="黑体" pitchFamily="49" charset="-122"/>
                <a:ea typeface="黑体" pitchFamily="49" charset="-122"/>
              </a:rPr>
              <a:t>，</a:t>
            </a:r>
            <a:r>
              <a:rPr lang="en-US" altLang="zh-CN" sz="1800" dirty="0">
                <a:latin typeface="黑体" pitchFamily="49" charset="-122"/>
                <a:ea typeface="黑体" pitchFamily="49" charset="-122"/>
              </a:rPr>
              <a:t>y&gt;</a:t>
            </a:r>
            <a:r>
              <a:rPr lang="zh-CN" altLang="en-US" sz="1800" dirty="0">
                <a:latin typeface="黑体" pitchFamily="49" charset="-122"/>
                <a:ea typeface="黑体" pitchFamily="49" charset="-122"/>
              </a:rPr>
              <a:t>（</a:t>
            </a:r>
            <a:r>
              <a:rPr lang="en-US" altLang="zh-CN" sz="1800" dirty="0">
                <a:latin typeface="黑体" pitchFamily="49" charset="-122"/>
                <a:ea typeface="黑体" pitchFamily="49" charset="-122"/>
              </a:rPr>
              <a:t>x</a:t>
            </a:r>
            <a:r>
              <a:rPr lang="zh-CN" altLang="en-US" sz="1800" dirty="0">
                <a:latin typeface="黑体" pitchFamily="49" charset="-122"/>
                <a:ea typeface="黑体" pitchFamily="49" charset="-122"/>
              </a:rPr>
              <a:t>，</a:t>
            </a:r>
            <a:r>
              <a:rPr lang="en-US" altLang="zh-CN" sz="1800" dirty="0" err="1">
                <a:latin typeface="黑体" pitchFamily="49" charset="-122"/>
                <a:ea typeface="黑体" pitchFamily="49" charset="-122"/>
              </a:rPr>
              <a:t>y∈D</a:t>
            </a:r>
            <a:r>
              <a:rPr lang="zh-CN" altLang="en-US" sz="1800" dirty="0">
                <a:latin typeface="黑体" pitchFamily="49" charset="-122"/>
                <a:ea typeface="黑体" pitchFamily="49" charset="-122"/>
              </a:rPr>
              <a:t>）</a:t>
            </a:r>
            <a:r>
              <a:rPr lang="zh-CN" altLang="en-US" sz="1800" dirty="0">
                <a:latin typeface="黑体" pitchFamily="49" charset="-122"/>
                <a:ea typeface="黑体" pitchFamily="49" charset="-122"/>
                <a:sym typeface="Symbol" pitchFamily="18" charset="2"/>
              </a:rPr>
              <a:t> </a:t>
            </a:r>
            <a:r>
              <a:rPr lang="en-US" altLang="zh-CN" sz="1800" dirty="0">
                <a:latin typeface="黑体" pitchFamily="49" charset="-122"/>
                <a:ea typeface="黑体" pitchFamily="49" charset="-122"/>
              </a:rPr>
              <a:t>x</a:t>
            </a:r>
            <a:r>
              <a:rPr lang="zh-CN" altLang="en-US" sz="1800" dirty="0">
                <a:latin typeface="黑体" pitchFamily="49" charset="-122"/>
                <a:ea typeface="黑体" pitchFamily="49" charset="-122"/>
              </a:rPr>
              <a:t>为第一元素，</a:t>
            </a:r>
            <a:r>
              <a:rPr lang="en-US" altLang="zh-CN" sz="1800" dirty="0">
                <a:latin typeface="黑体" pitchFamily="49" charset="-122"/>
                <a:ea typeface="黑体" pitchFamily="49" charset="-122"/>
              </a:rPr>
              <a:t>y</a:t>
            </a:r>
            <a:r>
              <a:rPr lang="zh-CN" altLang="en-US" sz="1800" dirty="0">
                <a:latin typeface="黑体" pitchFamily="49" charset="-122"/>
                <a:ea typeface="黑体" pitchFamily="49" charset="-122"/>
              </a:rPr>
              <a:t>为第二元素，</a:t>
            </a:r>
            <a:r>
              <a:rPr lang="en-US" altLang="zh-CN" dirty="0">
                <a:latin typeface="黑体" pitchFamily="49" charset="-122"/>
                <a:ea typeface="黑体" pitchFamily="49" charset="-122"/>
              </a:rPr>
              <a:t> x</a:t>
            </a:r>
            <a:r>
              <a:rPr lang="zh-CN" altLang="en-US" dirty="0">
                <a:latin typeface="黑体" pitchFamily="49" charset="-122"/>
                <a:ea typeface="黑体" pitchFamily="49" charset="-122"/>
              </a:rPr>
              <a:t>为</a:t>
            </a:r>
            <a:r>
              <a:rPr lang="en-US" altLang="zh-CN" dirty="0">
                <a:latin typeface="黑体" pitchFamily="49" charset="-122"/>
                <a:ea typeface="黑体" pitchFamily="49" charset="-122"/>
              </a:rPr>
              <a:t>y</a:t>
            </a:r>
            <a:r>
              <a:rPr lang="zh-CN" altLang="en-US" dirty="0">
                <a:latin typeface="黑体" pitchFamily="49" charset="-122"/>
                <a:ea typeface="黑体" pitchFamily="49" charset="-122"/>
              </a:rPr>
              <a:t>的（直接）前驱元素，</a:t>
            </a:r>
            <a:r>
              <a:rPr lang="en-US" altLang="zh-CN" dirty="0">
                <a:latin typeface="黑体" pitchFamily="49" charset="-122"/>
                <a:ea typeface="黑体" pitchFamily="49" charset="-122"/>
              </a:rPr>
              <a:t> y</a:t>
            </a:r>
            <a:r>
              <a:rPr lang="zh-CN" altLang="en-US" dirty="0">
                <a:latin typeface="黑体" pitchFamily="49" charset="-122"/>
                <a:ea typeface="黑体" pitchFamily="49" charset="-122"/>
              </a:rPr>
              <a:t>为</a:t>
            </a:r>
            <a:r>
              <a:rPr lang="en-US" altLang="zh-CN" dirty="0">
                <a:latin typeface="黑体" pitchFamily="49" charset="-122"/>
                <a:ea typeface="黑体" pitchFamily="49" charset="-122"/>
              </a:rPr>
              <a:t>x</a:t>
            </a:r>
            <a:r>
              <a:rPr lang="zh-CN" altLang="en-US" dirty="0">
                <a:latin typeface="黑体" pitchFamily="49" charset="-122"/>
                <a:ea typeface="黑体" pitchFamily="49" charset="-122"/>
              </a:rPr>
              <a:t>的（直接）后继元素</a:t>
            </a:r>
            <a:r>
              <a:rPr lang="zh-CN" altLang="en-US" sz="1800" dirty="0">
                <a:latin typeface="黑体" pitchFamily="49" charset="-122"/>
                <a:ea typeface="黑体" pitchFamily="49" charset="-122"/>
              </a:rPr>
              <a:t>。</a:t>
            </a:r>
          </a:p>
        </p:txBody>
      </p:sp>
      <p:sp>
        <p:nvSpPr>
          <p:cNvPr id="21" name="文本框 20">
            <a:extLst>
              <a:ext uri="{FF2B5EF4-FFF2-40B4-BE49-F238E27FC236}">
                <a16:creationId xmlns:a16="http://schemas.microsoft.com/office/drawing/2014/main" id="{300C5AEE-5165-3999-02F0-E1C16962DA52}"/>
              </a:ext>
            </a:extLst>
          </p:cNvPr>
          <p:cNvSpPr txBox="1"/>
          <p:nvPr/>
        </p:nvSpPr>
        <p:spPr>
          <a:xfrm>
            <a:off x="1136010" y="4638999"/>
            <a:ext cx="7612453" cy="400110"/>
          </a:xfrm>
          <a:prstGeom prst="rect">
            <a:avLst/>
          </a:prstGeom>
          <a:noFill/>
        </p:spPr>
        <p:txBody>
          <a:bodyPr wrap="square">
            <a:spAutoFit/>
          </a:bodyPr>
          <a:lstStyle/>
          <a:p>
            <a:pPr algn="l">
              <a:lnSpc>
                <a:spcPct val="100000"/>
              </a:lnSpc>
            </a:pPr>
            <a:r>
              <a:rPr lang="zh-CN" altLang="en-US" sz="2000" dirty="0">
                <a:latin typeface="黑体" pitchFamily="49" charset="-122"/>
                <a:ea typeface="黑体" pitchFamily="49" charset="-122"/>
              </a:rPr>
              <a:t>序偶</a:t>
            </a:r>
            <a:r>
              <a:rPr lang="en-US" altLang="zh-CN" sz="2000" dirty="0">
                <a:latin typeface="黑体" pitchFamily="49" charset="-122"/>
                <a:ea typeface="黑体" pitchFamily="49" charset="-122"/>
              </a:rPr>
              <a:t>&lt;x</a:t>
            </a:r>
            <a:r>
              <a:rPr lang="zh-CN" altLang="en-US" sz="2000" dirty="0">
                <a:latin typeface="黑体" pitchFamily="49" charset="-122"/>
                <a:ea typeface="黑体" pitchFamily="49" charset="-122"/>
              </a:rPr>
              <a:t>，</a:t>
            </a:r>
            <a:r>
              <a:rPr lang="en-US" altLang="zh-CN" sz="2000" dirty="0">
                <a:latin typeface="黑体" pitchFamily="49" charset="-122"/>
                <a:ea typeface="黑体" pitchFamily="49" charset="-122"/>
              </a:rPr>
              <a:t>y&gt;</a:t>
            </a:r>
            <a:r>
              <a:rPr lang="zh-CN" altLang="en-US" sz="2000" dirty="0">
                <a:latin typeface="黑体" pitchFamily="49" charset="-122"/>
                <a:ea typeface="黑体" pitchFamily="49" charset="-122"/>
              </a:rPr>
              <a:t>表示</a:t>
            </a:r>
            <a:r>
              <a:rPr lang="en-US" altLang="zh-CN" sz="2000" dirty="0">
                <a:latin typeface="黑体" pitchFamily="49" charset="-122"/>
                <a:ea typeface="黑体" pitchFamily="49" charset="-122"/>
              </a:rPr>
              <a:t>x</a:t>
            </a:r>
            <a:r>
              <a:rPr lang="zh-CN" altLang="en-US" sz="2000" dirty="0">
                <a:latin typeface="黑体" pitchFamily="49" charset="-122"/>
                <a:ea typeface="黑体" pitchFamily="49" charset="-122"/>
              </a:rPr>
              <a:t>、</a:t>
            </a:r>
            <a:r>
              <a:rPr lang="en-US" altLang="zh-CN" sz="2000" dirty="0">
                <a:latin typeface="黑体" pitchFamily="49" charset="-122"/>
                <a:ea typeface="黑体" pitchFamily="49" charset="-122"/>
              </a:rPr>
              <a:t>y</a:t>
            </a:r>
            <a:r>
              <a:rPr lang="zh-CN" altLang="en-US" sz="2000" dirty="0">
                <a:latin typeface="黑体" pitchFamily="49" charset="-122"/>
                <a:ea typeface="黑体" pitchFamily="49" charset="-122"/>
              </a:rPr>
              <a:t>是有向的，序偶</a:t>
            </a:r>
            <a:r>
              <a:rPr lang="en-US" altLang="zh-CN" sz="2000" dirty="0">
                <a:latin typeface="黑体" pitchFamily="49" charset="-122"/>
                <a:ea typeface="黑体" pitchFamily="49" charset="-122"/>
              </a:rPr>
              <a:t>(x</a:t>
            </a:r>
            <a:r>
              <a:rPr lang="zh-CN" altLang="en-US" sz="2000" dirty="0">
                <a:latin typeface="黑体" pitchFamily="49" charset="-122"/>
                <a:ea typeface="黑体" pitchFamily="49" charset="-122"/>
              </a:rPr>
              <a:t>，</a:t>
            </a:r>
            <a:r>
              <a:rPr lang="en-US" altLang="zh-CN" sz="2000" dirty="0">
                <a:latin typeface="黑体" pitchFamily="49" charset="-122"/>
                <a:ea typeface="黑体" pitchFamily="49" charset="-122"/>
              </a:rPr>
              <a:t>y)</a:t>
            </a:r>
            <a:r>
              <a:rPr lang="zh-CN" altLang="en-US" sz="2000" dirty="0">
                <a:latin typeface="黑体" pitchFamily="49" charset="-122"/>
                <a:ea typeface="黑体" pitchFamily="49" charset="-122"/>
              </a:rPr>
              <a:t>表示</a:t>
            </a:r>
            <a:r>
              <a:rPr lang="en-US" altLang="zh-CN" sz="2000" dirty="0">
                <a:latin typeface="黑体" pitchFamily="49" charset="-122"/>
                <a:ea typeface="黑体" pitchFamily="49" charset="-122"/>
              </a:rPr>
              <a:t>x</a:t>
            </a:r>
            <a:r>
              <a:rPr lang="zh-CN" altLang="en-US" sz="2000" dirty="0">
                <a:latin typeface="黑体" pitchFamily="49" charset="-122"/>
                <a:ea typeface="黑体" pitchFamily="49" charset="-122"/>
              </a:rPr>
              <a:t>、</a:t>
            </a:r>
            <a:r>
              <a:rPr lang="en-US" altLang="zh-CN" sz="2000" dirty="0">
                <a:latin typeface="黑体" pitchFamily="49" charset="-122"/>
                <a:ea typeface="黑体" pitchFamily="49" charset="-122"/>
              </a:rPr>
              <a:t>y</a:t>
            </a:r>
            <a:r>
              <a:rPr lang="zh-CN" altLang="en-US" sz="2000" dirty="0">
                <a:latin typeface="黑体" pitchFamily="49" charset="-122"/>
                <a:ea typeface="黑体" pitchFamily="49" charset="-122"/>
              </a:rPr>
              <a:t>是无向的</a:t>
            </a:r>
          </a:p>
        </p:txBody>
      </p:sp>
    </p:spTree>
    <p:extLst>
      <p:ext uri="{BB962C8B-B14F-4D97-AF65-F5344CB8AC3E}">
        <p14:creationId xmlns:p14="http://schemas.microsoft.com/office/powerpoint/2010/main" val="2625143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1CB9-65CD-8B01-19F9-C4638E4B9020}"/>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75ACDEB8-360F-E329-3FEB-E4C7617EEA24}"/>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32156D10-F413-5BA6-D0A9-1C4D61609D2C}"/>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0EF2693E-AF4D-4BBD-DAD7-C58CA25F1FF5}"/>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1.1.2 </a:t>
            </a:r>
            <a:r>
              <a:rPr lang="zh-CN" altLang="en-US" sz="2800" b="1" dirty="0">
                <a:solidFill>
                  <a:schemeClr val="bg1"/>
                </a:solidFill>
                <a:latin typeface="经典粗黑简" pitchFamily="49" charset="-122"/>
                <a:ea typeface="经典粗黑简" pitchFamily="49" charset="-122"/>
                <a:cs typeface="经典粗黑简" pitchFamily="49" charset="-122"/>
              </a:rPr>
              <a:t>数据的逻辑结构</a:t>
            </a:r>
          </a:p>
        </p:txBody>
      </p:sp>
      <p:sp>
        <p:nvSpPr>
          <p:cNvPr id="5" name="TextBox 6">
            <a:extLst>
              <a:ext uri="{FF2B5EF4-FFF2-40B4-BE49-F238E27FC236}">
                <a16:creationId xmlns:a16="http://schemas.microsoft.com/office/drawing/2014/main" id="{EE5A411F-A379-A6D1-1BD7-E5572AC915E0}"/>
              </a:ext>
            </a:extLst>
          </p:cNvPr>
          <p:cNvSpPr txBox="1"/>
          <p:nvPr/>
        </p:nvSpPr>
        <p:spPr>
          <a:xfrm>
            <a:off x="899592" y="2319300"/>
            <a:ext cx="5616624" cy="400110"/>
          </a:xfrm>
          <a:prstGeom prst="rect">
            <a:avLst/>
          </a:prstGeom>
          <a:noFill/>
        </p:spPr>
        <p:txBody>
          <a:bodyPr wrap="square" rtlCol="0">
            <a:spAutoFit/>
          </a:bodyPr>
          <a:lstStyle/>
          <a:p>
            <a:pPr algn="l"/>
            <a:r>
              <a:rPr kumimoji="0" lang="zh-CN" altLang="en-US" sz="2000" dirty="0">
                <a:solidFill>
                  <a:srgbClr val="FF0000"/>
                </a:solidFill>
                <a:latin typeface="Consolas" pitchFamily="49" charset="0"/>
                <a:ea typeface="微软雅黑" pitchFamily="34" charset="-122"/>
                <a:cs typeface="Consolas" pitchFamily="49" charset="0"/>
              </a:rPr>
              <a:t> </a:t>
            </a:r>
            <a:r>
              <a:rPr kumimoji="0" lang="zh-CN" altLang="en-US" sz="2000" dirty="0">
                <a:solidFill>
                  <a:srgbClr val="FF0000"/>
                </a:solidFill>
                <a:latin typeface="Consolas" pitchFamily="49" charset="0"/>
                <a:ea typeface="微软雅黑" pitchFamily="34" charset="-122"/>
                <a:cs typeface="Consolas" pitchFamily="49" charset="0"/>
                <a:sym typeface="Wingdings"/>
              </a:rPr>
              <a:t> </a:t>
            </a:r>
            <a:r>
              <a:rPr lang="zh-CN" altLang="en-US" sz="2000" dirty="0">
                <a:latin typeface="黑体" pitchFamily="49" charset="-122"/>
                <a:ea typeface="黑体" pitchFamily="49" charset="-122"/>
              </a:rPr>
              <a:t>学生表的逻辑结构表示</a:t>
            </a:r>
            <a:r>
              <a:rPr lang="en-US" altLang="zh-CN" sz="2000" dirty="0">
                <a:latin typeface="黑体" pitchFamily="49" charset="-122"/>
                <a:ea typeface="黑体" pitchFamily="49" charset="-122"/>
              </a:rPr>
              <a:t>2-</a:t>
            </a:r>
            <a:r>
              <a:rPr lang="zh-CN" altLang="en-US" sz="2000" dirty="0">
                <a:solidFill>
                  <a:srgbClr val="FF0000"/>
                </a:solidFill>
                <a:latin typeface="黑体" pitchFamily="49" charset="-122"/>
                <a:ea typeface="黑体" pitchFamily="49" charset="-122"/>
              </a:rPr>
              <a:t>二元组表示法</a:t>
            </a:r>
            <a:endParaRPr lang="en-US" altLang="zh-CN" sz="2000" dirty="0">
              <a:solidFill>
                <a:srgbClr val="FF0000"/>
              </a:solidFill>
              <a:latin typeface="黑体" pitchFamily="49" charset="-122"/>
              <a:ea typeface="黑体" pitchFamily="49" charset="-122"/>
            </a:endParaRPr>
          </a:p>
        </p:txBody>
      </p:sp>
      <p:sp>
        <p:nvSpPr>
          <p:cNvPr id="6" name="矩形 5">
            <a:extLst>
              <a:ext uri="{FF2B5EF4-FFF2-40B4-BE49-F238E27FC236}">
                <a16:creationId xmlns:a16="http://schemas.microsoft.com/office/drawing/2014/main" id="{D82181ED-163A-139F-591F-186B5F8F41F2}"/>
              </a:ext>
            </a:extLst>
          </p:cNvPr>
          <p:cNvSpPr/>
          <p:nvPr/>
        </p:nvSpPr>
        <p:spPr>
          <a:xfrm>
            <a:off x="1043608" y="1471252"/>
            <a:ext cx="3528392" cy="523220"/>
          </a:xfrm>
          <a:prstGeom prst="rect">
            <a:avLst/>
          </a:prstGeom>
        </p:spPr>
        <p:txBody>
          <a:bodyPr wrap="square">
            <a:spAutoFit/>
          </a:bodyPr>
          <a:lstStyle/>
          <a:p>
            <a:pPr marL="0" lvl="1"/>
            <a:r>
              <a:rPr lang="zh-CN" altLang="en-US" sz="2800" dirty="0">
                <a:latin typeface="黑体" pitchFamily="49" charset="-122"/>
                <a:ea typeface="黑体" pitchFamily="49" charset="-122"/>
              </a:rPr>
              <a:t>逻辑结构的表示方法</a:t>
            </a:r>
            <a:endParaRPr lang="en-US" altLang="zh-CN" sz="2800" dirty="0">
              <a:latin typeface="黑体" pitchFamily="49" charset="-122"/>
              <a:ea typeface="黑体" pitchFamily="49" charset="-122"/>
            </a:endParaRPr>
          </a:p>
        </p:txBody>
      </p:sp>
      <p:sp>
        <p:nvSpPr>
          <p:cNvPr id="7" name="TextBox 2">
            <a:extLst>
              <a:ext uri="{FF2B5EF4-FFF2-40B4-BE49-F238E27FC236}">
                <a16:creationId xmlns:a16="http://schemas.microsoft.com/office/drawing/2014/main" id="{987410AE-B6C6-C274-27AA-037444E79B8A}"/>
              </a:ext>
            </a:extLst>
          </p:cNvPr>
          <p:cNvSpPr txBox="1"/>
          <p:nvPr/>
        </p:nvSpPr>
        <p:spPr>
          <a:xfrm>
            <a:off x="1066893" y="1906742"/>
            <a:ext cx="6050442" cy="435697"/>
          </a:xfrm>
          <a:prstGeom prst="rect">
            <a:avLst/>
          </a:prstGeom>
          <a:noFill/>
        </p:spPr>
        <p:txBody>
          <a:bodyPr wrap="square" rtlCol="0">
            <a:spAutoFit/>
          </a:bodyPr>
          <a:lstStyle/>
          <a:p>
            <a:pPr algn="l">
              <a:lnSpc>
                <a:spcPct val="130000"/>
              </a:lnSpc>
            </a:pPr>
            <a:r>
              <a:rPr lang="zh-CN" altLang="en-US" sz="2000" dirty="0">
                <a:latin typeface="黑体" pitchFamily="49" charset="-122"/>
                <a:ea typeface="黑体" pitchFamily="49" charset="-122"/>
              </a:rPr>
              <a:t>数据的逻辑结构是面向用户的，它有多种表示形式。</a:t>
            </a:r>
          </a:p>
        </p:txBody>
      </p:sp>
      <p:graphicFrame>
        <p:nvGraphicFramePr>
          <p:cNvPr id="8" name="表格 7">
            <a:extLst>
              <a:ext uri="{FF2B5EF4-FFF2-40B4-BE49-F238E27FC236}">
                <a16:creationId xmlns:a16="http://schemas.microsoft.com/office/drawing/2014/main" id="{6A6E1853-5B2E-24DC-E9D0-235DFD663178}"/>
              </a:ext>
            </a:extLst>
          </p:cNvPr>
          <p:cNvGraphicFramePr>
            <a:graphicFrameLocks noGrp="1"/>
          </p:cNvGraphicFramePr>
          <p:nvPr>
            <p:extLst>
              <p:ext uri="{D42A27DB-BD31-4B8C-83A1-F6EECF244321}">
                <p14:modId xmlns:p14="http://schemas.microsoft.com/office/powerpoint/2010/main" val="3369695440"/>
              </p:ext>
            </p:extLst>
          </p:nvPr>
        </p:nvGraphicFramePr>
        <p:xfrm>
          <a:off x="2004984" y="2667266"/>
          <a:ext cx="5375327" cy="1950720"/>
        </p:xfrm>
        <a:graphic>
          <a:graphicData uri="http://schemas.openxmlformats.org/drawingml/2006/table">
            <a:tbl>
              <a:tblPr>
                <a:effectLst>
                  <a:outerShdw blurRad="50800" dist="38100" dir="2700000" algn="tl" rotWithShape="0">
                    <a:prstClr val="black">
                      <a:alpha val="40000"/>
                    </a:prstClr>
                  </a:outerShdw>
                </a:effectLst>
                <a:tableStyleId>{16D9F66E-5EB9-4882-86FB-DCBF35E3C3E4}</a:tableStyleId>
              </a:tblPr>
              <a:tblGrid>
                <a:gridCol w="1404167">
                  <a:extLst>
                    <a:ext uri="{9D8B030D-6E8A-4147-A177-3AD203B41FA5}">
                      <a16:colId xmlns:a16="http://schemas.microsoft.com/office/drawing/2014/main" val="20000"/>
                    </a:ext>
                  </a:extLst>
                </a:gridCol>
                <a:gridCol w="1404167">
                  <a:extLst>
                    <a:ext uri="{9D8B030D-6E8A-4147-A177-3AD203B41FA5}">
                      <a16:colId xmlns:a16="http://schemas.microsoft.com/office/drawing/2014/main" val="20001"/>
                    </a:ext>
                  </a:extLst>
                </a:gridCol>
                <a:gridCol w="1404167">
                  <a:extLst>
                    <a:ext uri="{9D8B030D-6E8A-4147-A177-3AD203B41FA5}">
                      <a16:colId xmlns:a16="http://schemas.microsoft.com/office/drawing/2014/main" val="20002"/>
                    </a:ext>
                  </a:extLst>
                </a:gridCol>
                <a:gridCol w="1162826">
                  <a:extLst>
                    <a:ext uri="{9D8B030D-6E8A-4147-A177-3AD203B41FA5}">
                      <a16:colId xmlns:a16="http://schemas.microsoft.com/office/drawing/2014/main" val="20003"/>
                    </a:ext>
                  </a:extLst>
                </a:gridCol>
              </a:tblGrid>
              <a:tr h="168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C00000"/>
                          </a:solidFill>
                          <a:effectLst/>
                          <a:latin typeface="Consolas" pitchFamily="49" charset="0"/>
                          <a:ea typeface="楷体" pitchFamily="49" charset="-122"/>
                          <a:cs typeface="Consolas" pitchFamily="49" charset="0"/>
                        </a:rPr>
                        <a:t>学号</a:t>
                      </a:r>
                      <a:endParaRPr kumimoji="0" lang="zh-CN" altLang="en-US" sz="800" b="1" i="0" u="none" strike="noStrike" cap="none" normalizeH="0" baseline="0" dirty="0">
                        <a:ln>
                          <a:noFill/>
                        </a:ln>
                        <a:solidFill>
                          <a:srgbClr val="C00000"/>
                        </a:solidFill>
                        <a:effectLst/>
                        <a:latin typeface="Consolas" pitchFamily="49" charset="0"/>
                        <a:ea typeface="楷体"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C00000"/>
                          </a:solidFill>
                          <a:effectLst/>
                          <a:latin typeface="Consolas" pitchFamily="49" charset="0"/>
                          <a:ea typeface="楷体" pitchFamily="49" charset="-122"/>
                          <a:cs typeface="Consolas" pitchFamily="49" charset="0"/>
                        </a:rPr>
                        <a:t>姓名</a:t>
                      </a:r>
                      <a:endParaRPr kumimoji="0" lang="zh-CN" altLang="en-US" sz="800" b="1" i="0" u="none" strike="noStrike" cap="none" normalizeH="0" baseline="0" dirty="0">
                        <a:ln>
                          <a:noFill/>
                        </a:ln>
                        <a:solidFill>
                          <a:srgbClr val="C00000"/>
                        </a:solidFill>
                        <a:effectLst/>
                        <a:latin typeface="Consolas" pitchFamily="49" charset="0"/>
                        <a:ea typeface="楷体"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C00000"/>
                          </a:solidFill>
                          <a:effectLst/>
                          <a:latin typeface="Consolas" pitchFamily="49" charset="0"/>
                          <a:ea typeface="楷体" pitchFamily="49" charset="-122"/>
                          <a:cs typeface="Consolas" pitchFamily="49" charset="0"/>
                        </a:rPr>
                        <a:t>性别</a:t>
                      </a:r>
                      <a:endParaRPr kumimoji="0" lang="zh-CN" altLang="en-US" sz="800" b="1" i="0" u="none" strike="noStrike" cap="none" normalizeH="0" baseline="0" dirty="0">
                        <a:ln>
                          <a:noFill/>
                        </a:ln>
                        <a:solidFill>
                          <a:srgbClr val="C00000"/>
                        </a:solidFill>
                        <a:effectLst/>
                        <a:latin typeface="Consolas" pitchFamily="49" charset="0"/>
                        <a:ea typeface="楷体"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C00000"/>
                          </a:solidFill>
                          <a:effectLst/>
                          <a:latin typeface="Consolas" pitchFamily="49" charset="0"/>
                          <a:ea typeface="楷体" pitchFamily="49" charset="-122"/>
                          <a:cs typeface="Consolas" pitchFamily="49" charset="0"/>
                        </a:rPr>
                        <a:t>班号</a:t>
                      </a:r>
                      <a:endParaRPr kumimoji="0" lang="zh-CN" altLang="en-US" sz="800" b="1" i="0" u="none" strike="noStrike" cap="none" normalizeH="0" baseline="0" dirty="0">
                        <a:ln>
                          <a:noFill/>
                        </a:ln>
                        <a:solidFill>
                          <a:srgbClr val="C00000"/>
                        </a:solidFill>
                        <a:effectLst/>
                        <a:latin typeface="Consolas" pitchFamily="49" charset="0"/>
                        <a:ea typeface="楷体" pitchFamily="49" charset="-122"/>
                        <a:cs typeface="Consolas" pitchFamily="49" charset="0"/>
                      </a:endParaRPr>
                    </a:p>
                  </a:txBody>
                  <a:tcPr marT="60960" marB="60960" horzOverflow="overflow">
                    <a:solidFill>
                      <a:srgbClr val="92D050"/>
                    </a:solidFill>
                  </a:tcPr>
                </a:tc>
                <a:extLst>
                  <a:ext uri="{0D108BD9-81ED-4DB2-BD59-A6C34878D82A}">
                    <a16:rowId xmlns:a16="http://schemas.microsoft.com/office/drawing/2014/main" val="10000"/>
                  </a:ext>
                </a:extLst>
              </a:tr>
              <a:tr h="168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1</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张斌</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a:ln>
                            <a:noFill/>
                          </a:ln>
                          <a:solidFill>
                            <a:srgbClr val="3333CC"/>
                          </a:solidFill>
                          <a:effectLst/>
                          <a:latin typeface="Consolas" pitchFamily="49" charset="0"/>
                          <a:ea typeface="楷体" pitchFamily="49" charset="-122"/>
                          <a:cs typeface="Consolas" pitchFamily="49" charset="0"/>
                        </a:rPr>
                        <a:t>男</a:t>
                      </a:r>
                      <a:endParaRPr kumimoji="0" lang="zh-CN" altLang="en-US"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a:ln>
                            <a:noFill/>
                          </a:ln>
                          <a:solidFill>
                            <a:srgbClr val="3333CC"/>
                          </a:solidFill>
                          <a:effectLst/>
                          <a:latin typeface="Consolas" pitchFamily="49" charset="0"/>
                          <a:ea typeface="楷体" pitchFamily="49" charset="-122"/>
                          <a:cs typeface="Consolas" pitchFamily="49" charset="0"/>
                        </a:rPr>
                        <a:t>9901</a:t>
                      </a:r>
                      <a:endParaRPr kumimoji="0" lang="en-US" altLang="zh-CN"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1"/>
                  </a:ext>
                </a:extLst>
              </a:tr>
              <a:tr h="168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8</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刘丽</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女</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a:ln>
                            <a:noFill/>
                          </a:ln>
                          <a:solidFill>
                            <a:srgbClr val="3333CC"/>
                          </a:solidFill>
                          <a:effectLst/>
                          <a:latin typeface="Consolas" pitchFamily="49" charset="0"/>
                          <a:ea typeface="楷体" pitchFamily="49" charset="-122"/>
                          <a:cs typeface="Consolas" pitchFamily="49" charset="0"/>
                        </a:rPr>
                        <a:t>9902</a:t>
                      </a:r>
                      <a:endParaRPr kumimoji="0" lang="en-US" altLang="zh-CN"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2"/>
                  </a:ext>
                </a:extLst>
              </a:tr>
              <a:tr h="168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34</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李英</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女</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9901</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3"/>
                  </a:ext>
                </a:extLst>
              </a:tr>
              <a:tr h="168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20</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陈华</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男</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9902</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4"/>
                  </a:ext>
                </a:extLst>
              </a:tr>
              <a:tr h="168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a:ln>
                            <a:noFill/>
                          </a:ln>
                          <a:solidFill>
                            <a:srgbClr val="3333CC"/>
                          </a:solidFill>
                          <a:effectLst/>
                          <a:latin typeface="Consolas" pitchFamily="49" charset="0"/>
                          <a:ea typeface="楷体" pitchFamily="49" charset="-122"/>
                          <a:cs typeface="Consolas" pitchFamily="49" charset="0"/>
                        </a:rPr>
                        <a:t>12</a:t>
                      </a:r>
                      <a:endParaRPr kumimoji="0" lang="en-US" altLang="zh-CN"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a:ln>
                            <a:noFill/>
                          </a:ln>
                          <a:solidFill>
                            <a:srgbClr val="3333CC"/>
                          </a:solidFill>
                          <a:effectLst/>
                          <a:latin typeface="Consolas" pitchFamily="49" charset="0"/>
                          <a:ea typeface="楷体" pitchFamily="49" charset="-122"/>
                          <a:cs typeface="Consolas" pitchFamily="49" charset="0"/>
                        </a:rPr>
                        <a:t>王奇</a:t>
                      </a:r>
                      <a:endParaRPr kumimoji="0" lang="zh-CN" altLang="en-US"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男</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9901</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5"/>
                  </a:ext>
                </a:extLst>
              </a:tr>
              <a:tr h="168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a:ln>
                            <a:noFill/>
                          </a:ln>
                          <a:solidFill>
                            <a:srgbClr val="3333CC"/>
                          </a:solidFill>
                          <a:effectLst/>
                          <a:latin typeface="Consolas" pitchFamily="49" charset="0"/>
                          <a:ea typeface="楷体" pitchFamily="49" charset="-122"/>
                          <a:cs typeface="Consolas" pitchFamily="49" charset="0"/>
                        </a:rPr>
                        <a:t>26</a:t>
                      </a:r>
                      <a:endParaRPr kumimoji="0" lang="en-US" altLang="zh-CN"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董强</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男</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9902</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6"/>
                  </a:ext>
                </a:extLst>
              </a:tr>
              <a:tr h="168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5</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a:ln>
                            <a:noFill/>
                          </a:ln>
                          <a:solidFill>
                            <a:srgbClr val="3333CC"/>
                          </a:solidFill>
                          <a:effectLst/>
                          <a:latin typeface="Consolas" pitchFamily="49" charset="0"/>
                          <a:ea typeface="楷体" pitchFamily="49" charset="-122"/>
                          <a:cs typeface="Consolas" pitchFamily="49" charset="0"/>
                        </a:rPr>
                        <a:t>王萍</a:t>
                      </a:r>
                      <a:endParaRPr kumimoji="0" lang="zh-CN" altLang="en-US"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女</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9901</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7"/>
                  </a:ext>
                </a:extLst>
              </a:tr>
            </a:tbl>
          </a:graphicData>
        </a:graphic>
      </p:graphicFrame>
      <p:sp>
        <p:nvSpPr>
          <p:cNvPr id="11" name="文本框 10">
            <a:extLst>
              <a:ext uri="{FF2B5EF4-FFF2-40B4-BE49-F238E27FC236}">
                <a16:creationId xmlns:a16="http://schemas.microsoft.com/office/drawing/2014/main" id="{A8D30BC4-B67F-74FF-ADFA-5642874A8933}"/>
              </a:ext>
            </a:extLst>
          </p:cNvPr>
          <p:cNvSpPr txBox="1"/>
          <p:nvPr/>
        </p:nvSpPr>
        <p:spPr>
          <a:xfrm>
            <a:off x="1691680" y="4758147"/>
            <a:ext cx="6336704" cy="369332"/>
          </a:xfrm>
          <a:prstGeom prst="rect">
            <a:avLst/>
          </a:prstGeom>
          <a:noFill/>
        </p:spPr>
        <p:txBody>
          <a:bodyPr wrap="square">
            <a:spAutoFit/>
          </a:bodyPr>
          <a:lstStyle/>
          <a:p>
            <a:r>
              <a:rPr lang="en-US" altLang="zh-CN" dirty="0">
                <a:solidFill>
                  <a:schemeClr val="tx1"/>
                </a:solidFill>
                <a:latin typeface="黑体" pitchFamily="49" charset="-122"/>
                <a:ea typeface="黑体" pitchFamily="49" charset="-122"/>
              </a:rPr>
              <a:t>&lt;1,8&gt;</a:t>
            </a:r>
            <a:r>
              <a:rPr lang="zh-CN" altLang="en-US" dirty="0">
                <a:solidFill>
                  <a:schemeClr val="tx1"/>
                </a:solidFill>
                <a:latin typeface="黑体" pitchFamily="49" charset="-122"/>
                <a:ea typeface="黑体" pitchFamily="49" charset="-122"/>
              </a:rPr>
              <a:t>，</a:t>
            </a:r>
            <a:r>
              <a:rPr lang="en-US" altLang="zh-CN" dirty="0">
                <a:solidFill>
                  <a:schemeClr val="tx1"/>
                </a:solidFill>
                <a:latin typeface="黑体" pitchFamily="49" charset="-122"/>
                <a:ea typeface="黑体" pitchFamily="49" charset="-122"/>
              </a:rPr>
              <a:t>&lt;8,34&gt;</a:t>
            </a:r>
            <a:r>
              <a:rPr lang="zh-CN" altLang="en-US" dirty="0">
                <a:solidFill>
                  <a:schemeClr val="tx1"/>
                </a:solidFill>
                <a:latin typeface="黑体" pitchFamily="49" charset="-122"/>
                <a:ea typeface="黑体" pitchFamily="49" charset="-122"/>
              </a:rPr>
              <a:t>，</a:t>
            </a:r>
            <a:r>
              <a:rPr lang="en-US" altLang="zh-CN" dirty="0">
                <a:solidFill>
                  <a:schemeClr val="tx1"/>
                </a:solidFill>
                <a:latin typeface="黑体" pitchFamily="49" charset="-122"/>
                <a:ea typeface="黑体" pitchFamily="49" charset="-122"/>
              </a:rPr>
              <a:t>&lt;34,20&gt;</a:t>
            </a:r>
            <a:r>
              <a:rPr lang="zh-CN" altLang="en-US" dirty="0">
                <a:solidFill>
                  <a:schemeClr val="tx1"/>
                </a:solidFill>
                <a:latin typeface="黑体" pitchFamily="49" charset="-122"/>
                <a:ea typeface="黑体" pitchFamily="49" charset="-122"/>
              </a:rPr>
              <a:t>，</a:t>
            </a:r>
            <a:r>
              <a:rPr lang="en-US" altLang="zh-CN" dirty="0">
                <a:solidFill>
                  <a:schemeClr val="tx1"/>
                </a:solidFill>
                <a:latin typeface="黑体" pitchFamily="49" charset="-122"/>
                <a:ea typeface="黑体" pitchFamily="49" charset="-122"/>
              </a:rPr>
              <a:t>&lt;20,12&gt;</a:t>
            </a:r>
            <a:r>
              <a:rPr lang="zh-CN" altLang="en-US" dirty="0">
                <a:solidFill>
                  <a:schemeClr val="tx1"/>
                </a:solidFill>
                <a:latin typeface="黑体" pitchFamily="49" charset="-122"/>
                <a:ea typeface="黑体" pitchFamily="49" charset="-122"/>
              </a:rPr>
              <a:t>，</a:t>
            </a:r>
            <a:r>
              <a:rPr lang="en-US" altLang="zh-CN" dirty="0">
                <a:solidFill>
                  <a:schemeClr val="tx1"/>
                </a:solidFill>
                <a:latin typeface="黑体" pitchFamily="49" charset="-122"/>
                <a:ea typeface="黑体" pitchFamily="49" charset="-122"/>
              </a:rPr>
              <a:t> &lt;12,26&gt;</a:t>
            </a:r>
            <a:r>
              <a:rPr lang="zh-CN" altLang="en-US" dirty="0">
                <a:solidFill>
                  <a:schemeClr val="tx1"/>
                </a:solidFill>
                <a:latin typeface="黑体" pitchFamily="49" charset="-122"/>
                <a:ea typeface="黑体" pitchFamily="49" charset="-122"/>
              </a:rPr>
              <a:t>，</a:t>
            </a:r>
            <a:r>
              <a:rPr lang="en-US" altLang="zh-CN" dirty="0">
                <a:solidFill>
                  <a:schemeClr val="tx1"/>
                </a:solidFill>
                <a:latin typeface="黑体" pitchFamily="49" charset="-122"/>
                <a:ea typeface="黑体" pitchFamily="49" charset="-122"/>
              </a:rPr>
              <a:t>&lt;26,5&gt;</a:t>
            </a:r>
            <a:endParaRPr lang="zh-CN" altLang="en-US" dirty="0"/>
          </a:p>
        </p:txBody>
      </p:sp>
    </p:spTree>
    <p:extLst>
      <p:ext uri="{BB962C8B-B14F-4D97-AF65-F5344CB8AC3E}">
        <p14:creationId xmlns:p14="http://schemas.microsoft.com/office/powerpoint/2010/main" val="381368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7918D-380C-FDF4-970B-4EE41DF89C6B}"/>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4671506B-1EA5-830E-75E9-5BD3655354C6}"/>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69" name="Rectangle 4">
            <a:extLst>
              <a:ext uri="{FF2B5EF4-FFF2-40B4-BE49-F238E27FC236}">
                <a16:creationId xmlns:a16="http://schemas.microsoft.com/office/drawing/2014/main" id="{018B24FE-6B7D-C7CC-4DB6-33E45D19681E}"/>
              </a:ext>
            </a:extLst>
          </p:cNvPr>
          <p:cNvSpPr>
            <a:spLocks noChangeArrowheads="1"/>
          </p:cNvSpPr>
          <p:nvPr/>
        </p:nvSpPr>
        <p:spPr bwMode="auto">
          <a:xfrm>
            <a:off x="1331640" y="2833060"/>
            <a:ext cx="670709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000" dirty="0">
                <a:latin typeface="微软雅黑" pitchFamily="34" charset="-122"/>
                <a:ea typeface="微软雅黑" pitchFamily="34" charset="-122"/>
                <a:cs typeface="经典粗黑简" pitchFamily="49" charset="-122"/>
              </a:rPr>
              <a:t>例如：复数 </a:t>
            </a:r>
            <a:r>
              <a:rPr lang="en-US" altLang="zh-CN" sz="2000" dirty="0">
                <a:latin typeface="微软雅黑" pitchFamily="34" charset="-122"/>
                <a:ea typeface="微软雅黑" pitchFamily="34" charset="-122"/>
                <a:cs typeface="经典粗黑简" pitchFamily="49" charset="-122"/>
              </a:rPr>
              <a:t>Complex=(C,R)</a:t>
            </a:r>
            <a:r>
              <a:rPr lang="zh-CN" altLang="en-US" sz="2000" dirty="0">
                <a:latin typeface="微软雅黑" pitchFamily="34" charset="-122"/>
                <a:ea typeface="微软雅黑" pitchFamily="34" charset="-122"/>
                <a:cs typeface="经典粗黑简" pitchFamily="49" charset="-122"/>
              </a:rPr>
              <a:t>，</a:t>
            </a:r>
          </a:p>
          <a:p>
            <a:r>
              <a:rPr lang="zh-CN" altLang="en-US" sz="2000" dirty="0">
                <a:latin typeface="微软雅黑" pitchFamily="34" charset="-122"/>
                <a:ea typeface="微软雅黑" pitchFamily="34" charset="-122"/>
                <a:cs typeface="经典粗黑简" pitchFamily="49" charset="-122"/>
              </a:rPr>
              <a:t>这里</a:t>
            </a:r>
            <a:r>
              <a:rPr lang="en-US" altLang="zh-CN" sz="2000" dirty="0">
                <a:latin typeface="微软雅黑" pitchFamily="34" charset="-122"/>
                <a:ea typeface="微软雅黑" pitchFamily="34" charset="-122"/>
                <a:cs typeface="经典粗黑简" pitchFamily="49" charset="-122"/>
              </a:rPr>
              <a:t>C</a:t>
            </a:r>
            <a:r>
              <a:rPr lang="zh-CN" altLang="en-US" sz="2000" dirty="0">
                <a:latin typeface="微软雅黑" pitchFamily="34" charset="-122"/>
                <a:ea typeface="微软雅黑" pitchFamily="34" charset="-122"/>
                <a:cs typeface="经典粗黑简" pitchFamily="49" charset="-122"/>
              </a:rPr>
              <a:t>是两个实数的集合</a:t>
            </a:r>
            <a:r>
              <a:rPr lang="en-US" altLang="zh-CN" sz="2000" dirty="0">
                <a:latin typeface="微软雅黑" pitchFamily="34" charset="-122"/>
                <a:ea typeface="微软雅黑" pitchFamily="34" charset="-122"/>
                <a:cs typeface="经典粗黑简" pitchFamily="49" charset="-122"/>
              </a:rPr>
              <a:t>{c1</a:t>
            </a: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c2}</a:t>
            </a:r>
            <a:r>
              <a:rPr lang="zh-CN" altLang="en-US" sz="2000" dirty="0">
                <a:latin typeface="微软雅黑" pitchFamily="34" charset="-122"/>
                <a:ea typeface="微软雅黑" pitchFamily="34" charset="-122"/>
                <a:cs typeface="经典粗黑简" pitchFamily="49" charset="-122"/>
              </a:rPr>
              <a:t>，</a:t>
            </a:r>
          </a:p>
          <a:p>
            <a:r>
              <a:rPr lang="en-US" altLang="zh-CN" sz="2000" dirty="0">
                <a:latin typeface="微软雅黑" pitchFamily="34" charset="-122"/>
                <a:ea typeface="微软雅黑" pitchFamily="34" charset="-122"/>
                <a:cs typeface="经典粗黑简" pitchFamily="49" charset="-122"/>
              </a:rPr>
              <a:t>R={P}</a:t>
            </a:r>
            <a:r>
              <a:rPr lang="zh-CN" altLang="en-US" sz="2000" dirty="0">
                <a:latin typeface="微软雅黑" pitchFamily="34" charset="-122"/>
                <a:ea typeface="微软雅黑" pitchFamily="34" charset="-122"/>
                <a:cs typeface="经典粗黑简" pitchFamily="49" charset="-122"/>
              </a:rPr>
              <a:t>是关系</a:t>
            </a:r>
            <a:r>
              <a:rPr lang="en-US" altLang="zh-CN" sz="2000" dirty="0">
                <a:latin typeface="微软雅黑" pitchFamily="34" charset="-122"/>
                <a:ea typeface="微软雅黑" pitchFamily="34" charset="-122"/>
                <a:cs typeface="经典粗黑简" pitchFamily="49" charset="-122"/>
              </a:rPr>
              <a:t>{&lt;c1,c2&gt;}</a:t>
            </a:r>
            <a:r>
              <a:rPr lang="zh-CN" altLang="en-US" sz="2000" dirty="0">
                <a:latin typeface="微软雅黑" pitchFamily="34" charset="-122"/>
                <a:ea typeface="微软雅黑" pitchFamily="34" charset="-122"/>
                <a:cs typeface="经典粗黑简" pitchFamily="49" charset="-122"/>
              </a:rPr>
              <a:t>的集合，</a:t>
            </a:r>
          </a:p>
          <a:p>
            <a:r>
              <a:rPr lang="en-US" altLang="zh-CN" sz="2000" dirty="0">
                <a:latin typeface="微软雅黑" pitchFamily="34" charset="-122"/>
                <a:ea typeface="微软雅黑" pitchFamily="34" charset="-122"/>
                <a:cs typeface="经典粗黑简" pitchFamily="49" charset="-122"/>
              </a:rPr>
              <a:t>&lt;c1,c2&gt;</a:t>
            </a:r>
            <a:r>
              <a:rPr lang="zh-CN" altLang="en-US" sz="2000" dirty="0">
                <a:latin typeface="微软雅黑" pitchFamily="34" charset="-122"/>
                <a:ea typeface="微软雅黑" pitchFamily="34" charset="-122"/>
                <a:cs typeface="经典粗黑简" pitchFamily="49" charset="-122"/>
              </a:rPr>
              <a:t>为一个序偶，</a:t>
            </a:r>
            <a:r>
              <a:rPr lang="en-US" altLang="zh-CN" sz="2000" dirty="0">
                <a:latin typeface="微软雅黑" pitchFamily="34" charset="-122"/>
                <a:ea typeface="微软雅黑" pitchFamily="34" charset="-122"/>
                <a:cs typeface="经典粗黑简" pitchFamily="49" charset="-122"/>
              </a:rPr>
              <a:t>c1</a:t>
            </a:r>
            <a:r>
              <a:rPr lang="zh-CN" altLang="en-US" sz="2000" dirty="0">
                <a:latin typeface="微软雅黑" pitchFamily="34" charset="-122"/>
                <a:ea typeface="微软雅黑" pitchFamily="34" charset="-122"/>
                <a:cs typeface="经典粗黑简" pitchFamily="49" charset="-122"/>
              </a:rPr>
              <a:t>为复数的实部</a:t>
            </a:r>
            <a:r>
              <a:rPr lang="en-US" altLang="zh-CN" sz="2000" dirty="0">
                <a:latin typeface="微软雅黑" pitchFamily="34" charset="-122"/>
                <a:ea typeface="微软雅黑" pitchFamily="34" charset="-122"/>
                <a:cs typeface="经典粗黑简" pitchFamily="49" charset="-122"/>
              </a:rPr>
              <a:t>,c2</a:t>
            </a:r>
            <a:r>
              <a:rPr lang="zh-CN" altLang="en-US" sz="2000" dirty="0">
                <a:latin typeface="微软雅黑" pitchFamily="34" charset="-122"/>
                <a:ea typeface="微软雅黑" pitchFamily="34" charset="-122"/>
                <a:cs typeface="经典粗黑简" pitchFamily="49" charset="-122"/>
              </a:rPr>
              <a:t>为复数的虚部。</a:t>
            </a:r>
          </a:p>
        </p:txBody>
      </p:sp>
      <p:sp>
        <p:nvSpPr>
          <p:cNvPr id="2" name="Rectangle 2">
            <a:extLst>
              <a:ext uri="{FF2B5EF4-FFF2-40B4-BE49-F238E27FC236}">
                <a16:creationId xmlns:a16="http://schemas.microsoft.com/office/drawing/2014/main" id="{41BED581-3107-718B-5A65-EB7D64680EAE}"/>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3095BD99-E7DD-45B5-C3DA-8D1CC765EF84}"/>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1.1.2 </a:t>
            </a:r>
            <a:r>
              <a:rPr lang="zh-CN" altLang="en-US" sz="2800" b="1" dirty="0">
                <a:solidFill>
                  <a:schemeClr val="bg1"/>
                </a:solidFill>
                <a:latin typeface="经典粗黑简" pitchFamily="49" charset="-122"/>
                <a:ea typeface="经典粗黑简" pitchFamily="49" charset="-122"/>
                <a:cs typeface="经典粗黑简" pitchFamily="49" charset="-122"/>
              </a:rPr>
              <a:t>数据的逻辑结构</a:t>
            </a:r>
          </a:p>
        </p:txBody>
      </p:sp>
      <p:sp>
        <p:nvSpPr>
          <p:cNvPr id="5" name="TextBox 6">
            <a:extLst>
              <a:ext uri="{FF2B5EF4-FFF2-40B4-BE49-F238E27FC236}">
                <a16:creationId xmlns:a16="http://schemas.microsoft.com/office/drawing/2014/main" id="{7A2DB93B-FABB-7E50-C61C-12E0AB933B13}"/>
              </a:ext>
            </a:extLst>
          </p:cNvPr>
          <p:cNvSpPr txBox="1"/>
          <p:nvPr/>
        </p:nvSpPr>
        <p:spPr>
          <a:xfrm>
            <a:off x="899592" y="2319300"/>
            <a:ext cx="5616624" cy="400110"/>
          </a:xfrm>
          <a:prstGeom prst="rect">
            <a:avLst/>
          </a:prstGeom>
          <a:noFill/>
        </p:spPr>
        <p:txBody>
          <a:bodyPr wrap="square" rtlCol="0">
            <a:spAutoFit/>
          </a:bodyPr>
          <a:lstStyle/>
          <a:p>
            <a:pPr algn="l"/>
            <a:r>
              <a:rPr kumimoji="0" lang="zh-CN" altLang="en-US" sz="2000" dirty="0">
                <a:solidFill>
                  <a:srgbClr val="FF0000"/>
                </a:solidFill>
                <a:latin typeface="Consolas" pitchFamily="49" charset="0"/>
                <a:ea typeface="微软雅黑" pitchFamily="34" charset="-122"/>
                <a:cs typeface="Consolas" pitchFamily="49" charset="0"/>
              </a:rPr>
              <a:t> </a:t>
            </a:r>
            <a:r>
              <a:rPr kumimoji="0" lang="zh-CN" altLang="en-US" sz="2000" dirty="0">
                <a:solidFill>
                  <a:srgbClr val="FF0000"/>
                </a:solidFill>
                <a:latin typeface="Consolas" pitchFamily="49" charset="0"/>
                <a:ea typeface="微软雅黑" pitchFamily="34" charset="-122"/>
                <a:cs typeface="Consolas" pitchFamily="49" charset="0"/>
                <a:sym typeface="Wingdings"/>
              </a:rPr>
              <a:t> </a:t>
            </a:r>
            <a:r>
              <a:rPr lang="zh-CN" altLang="en-US" sz="2000" dirty="0">
                <a:latin typeface="黑体" pitchFamily="49" charset="-122"/>
                <a:ea typeface="黑体" pitchFamily="49" charset="-122"/>
              </a:rPr>
              <a:t>学生表的逻辑结构表示</a:t>
            </a:r>
            <a:r>
              <a:rPr lang="en-US" altLang="zh-CN" sz="2000" dirty="0">
                <a:latin typeface="黑体" pitchFamily="49" charset="-122"/>
                <a:ea typeface="黑体" pitchFamily="49" charset="-122"/>
              </a:rPr>
              <a:t>2-</a:t>
            </a:r>
            <a:r>
              <a:rPr lang="zh-CN" altLang="en-US" sz="2000" dirty="0">
                <a:solidFill>
                  <a:srgbClr val="FF0000"/>
                </a:solidFill>
                <a:latin typeface="黑体" pitchFamily="49" charset="-122"/>
                <a:ea typeface="黑体" pitchFamily="49" charset="-122"/>
              </a:rPr>
              <a:t>二元组表示法</a:t>
            </a:r>
            <a:endParaRPr lang="en-US" altLang="zh-CN" sz="2000" dirty="0">
              <a:solidFill>
                <a:srgbClr val="FF0000"/>
              </a:solidFill>
              <a:latin typeface="黑体" pitchFamily="49" charset="-122"/>
              <a:ea typeface="黑体" pitchFamily="49" charset="-122"/>
            </a:endParaRPr>
          </a:p>
        </p:txBody>
      </p:sp>
      <p:sp>
        <p:nvSpPr>
          <p:cNvPr id="6" name="矩形 5">
            <a:extLst>
              <a:ext uri="{FF2B5EF4-FFF2-40B4-BE49-F238E27FC236}">
                <a16:creationId xmlns:a16="http://schemas.microsoft.com/office/drawing/2014/main" id="{4B196F74-1779-DF66-8ACB-E0BCCC684C3F}"/>
              </a:ext>
            </a:extLst>
          </p:cNvPr>
          <p:cNvSpPr/>
          <p:nvPr/>
        </p:nvSpPr>
        <p:spPr>
          <a:xfrm>
            <a:off x="1043608" y="1471252"/>
            <a:ext cx="3528392" cy="523220"/>
          </a:xfrm>
          <a:prstGeom prst="rect">
            <a:avLst/>
          </a:prstGeom>
        </p:spPr>
        <p:txBody>
          <a:bodyPr wrap="square">
            <a:spAutoFit/>
          </a:bodyPr>
          <a:lstStyle/>
          <a:p>
            <a:pPr marL="0" lvl="1"/>
            <a:r>
              <a:rPr lang="zh-CN" altLang="en-US" sz="2800" dirty="0">
                <a:latin typeface="黑体" pitchFamily="49" charset="-122"/>
                <a:ea typeface="黑体" pitchFamily="49" charset="-122"/>
              </a:rPr>
              <a:t>逻辑结构的表示方法</a:t>
            </a:r>
            <a:endParaRPr lang="en-US" altLang="zh-CN" sz="2800" dirty="0">
              <a:latin typeface="黑体" pitchFamily="49" charset="-122"/>
              <a:ea typeface="黑体" pitchFamily="49" charset="-122"/>
            </a:endParaRPr>
          </a:p>
        </p:txBody>
      </p:sp>
      <p:sp>
        <p:nvSpPr>
          <p:cNvPr id="7" name="TextBox 2">
            <a:extLst>
              <a:ext uri="{FF2B5EF4-FFF2-40B4-BE49-F238E27FC236}">
                <a16:creationId xmlns:a16="http://schemas.microsoft.com/office/drawing/2014/main" id="{AB4BE53F-5275-514B-9140-23FDC78E73A3}"/>
              </a:ext>
            </a:extLst>
          </p:cNvPr>
          <p:cNvSpPr txBox="1"/>
          <p:nvPr/>
        </p:nvSpPr>
        <p:spPr>
          <a:xfrm>
            <a:off x="1066893" y="1906742"/>
            <a:ext cx="6050442" cy="435697"/>
          </a:xfrm>
          <a:prstGeom prst="rect">
            <a:avLst/>
          </a:prstGeom>
          <a:noFill/>
        </p:spPr>
        <p:txBody>
          <a:bodyPr wrap="square" rtlCol="0">
            <a:spAutoFit/>
          </a:bodyPr>
          <a:lstStyle/>
          <a:p>
            <a:pPr algn="l">
              <a:lnSpc>
                <a:spcPct val="130000"/>
              </a:lnSpc>
            </a:pPr>
            <a:r>
              <a:rPr lang="zh-CN" altLang="en-US" sz="2000" dirty="0">
                <a:latin typeface="黑体" pitchFamily="49" charset="-122"/>
                <a:ea typeface="黑体" pitchFamily="49" charset="-122"/>
              </a:rPr>
              <a:t>数据的逻辑结构是面向用户的，它有多种表示形式。</a:t>
            </a:r>
          </a:p>
        </p:txBody>
      </p:sp>
    </p:spTree>
    <p:extLst>
      <p:ext uri="{BB962C8B-B14F-4D97-AF65-F5344CB8AC3E}">
        <p14:creationId xmlns:p14="http://schemas.microsoft.com/office/powerpoint/2010/main" val="81634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B0EEF-FC29-F91E-3CBE-3B047766E329}"/>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6D5E51CB-56E8-F462-89A3-6A67659FA5F0}"/>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E1AC0ECF-4240-5A79-FB53-55335794EDFB}"/>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AAE0F57C-F5DA-1293-1035-CF2E7B47702E}"/>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1.1.2 </a:t>
            </a:r>
            <a:r>
              <a:rPr lang="zh-CN" altLang="en-US" sz="2800" b="1" dirty="0">
                <a:solidFill>
                  <a:schemeClr val="bg1"/>
                </a:solidFill>
                <a:latin typeface="经典粗黑简" pitchFamily="49" charset="-122"/>
                <a:ea typeface="经典粗黑简" pitchFamily="49" charset="-122"/>
                <a:cs typeface="经典粗黑简" pitchFamily="49" charset="-122"/>
              </a:rPr>
              <a:t>数据的逻辑结构</a:t>
            </a:r>
          </a:p>
        </p:txBody>
      </p:sp>
      <p:sp>
        <p:nvSpPr>
          <p:cNvPr id="5" name="TextBox 6">
            <a:extLst>
              <a:ext uri="{FF2B5EF4-FFF2-40B4-BE49-F238E27FC236}">
                <a16:creationId xmlns:a16="http://schemas.microsoft.com/office/drawing/2014/main" id="{8CD1B3A3-88D2-1FE7-1743-3488C14F4168}"/>
              </a:ext>
            </a:extLst>
          </p:cNvPr>
          <p:cNvSpPr txBox="1"/>
          <p:nvPr/>
        </p:nvSpPr>
        <p:spPr>
          <a:xfrm>
            <a:off x="899592" y="2319300"/>
            <a:ext cx="5616624" cy="400110"/>
          </a:xfrm>
          <a:prstGeom prst="rect">
            <a:avLst/>
          </a:prstGeom>
          <a:noFill/>
        </p:spPr>
        <p:txBody>
          <a:bodyPr wrap="square" rtlCol="0">
            <a:spAutoFit/>
          </a:bodyPr>
          <a:lstStyle/>
          <a:p>
            <a:r>
              <a:rPr kumimoji="0" lang="zh-CN" altLang="en-US" sz="2000" dirty="0">
                <a:solidFill>
                  <a:srgbClr val="FF0000"/>
                </a:solidFill>
                <a:latin typeface="Consolas" pitchFamily="49" charset="0"/>
                <a:ea typeface="微软雅黑" pitchFamily="34" charset="-122"/>
                <a:cs typeface="Consolas" pitchFamily="49" charset="0"/>
              </a:rPr>
              <a:t> </a:t>
            </a:r>
            <a:r>
              <a:rPr lang="zh-CN" altLang="en-US" sz="2000" dirty="0">
                <a:solidFill>
                  <a:srgbClr val="FF0000"/>
                </a:solidFill>
                <a:latin typeface="Consolas" pitchFamily="49" charset="0"/>
                <a:ea typeface="微软雅黑" pitchFamily="34" charset="-122"/>
                <a:cs typeface="Consolas" pitchFamily="49" charset="0"/>
                <a:sym typeface="Wingdings"/>
              </a:rPr>
              <a:t></a:t>
            </a:r>
            <a:r>
              <a:rPr kumimoji="0" lang="zh-CN" altLang="en-US" sz="2000" dirty="0">
                <a:solidFill>
                  <a:srgbClr val="FF0000"/>
                </a:solidFill>
                <a:latin typeface="Consolas" pitchFamily="49" charset="0"/>
                <a:ea typeface="微软雅黑" pitchFamily="34" charset="-122"/>
                <a:cs typeface="Consolas" pitchFamily="49" charset="0"/>
                <a:sym typeface="Wingdings"/>
              </a:rPr>
              <a:t> </a:t>
            </a:r>
            <a:r>
              <a:rPr lang="zh-CN" altLang="en-US" sz="2000" dirty="0">
                <a:latin typeface="黑体" pitchFamily="49" charset="-122"/>
                <a:ea typeface="黑体" pitchFamily="49" charset="-122"/>
              </a:rPr>
              <a:t>学生表的逻辑结构表示</a:t>
            </a:r>
            <a:r>
              <a:rPr lang="en-US" altLang="zh-CN" sz="2000" dirty="0">
                <a:latin typeface="黑体" pitchFamily="49" charset="-122"/>
                <a:ea typeface="黑体" pitchFamily="49" charset="-122"/>
              </a:rPr>
              <a:t>3-</a:t>
            </a:r>
            <a:r>
              <a:rPr lang="zh-CN" altLang="en-US" sz="2000" dirty="0">
                <a:solidFill>
                  <a:srgbClr val="FF0000"/>
                </a:solidFill>
                <a:latin typeface="黑体" pitchFamily="49" charset="-122"/>
                <a:ea typeface="黑体" pitchFamily="49" charset="-122"/>
              </a:rPr>
              <a:t>图形表示法</a:t>
            </a:r>
            <a:endParaRPr lang="en-US" altLang="zh-CN" sz="2000" dirty="0">
              <a:solidFill>
                <a:srgbClr val="FF0000"/>
              </a:solidFill>
              <a:latin typeface="黑体" pitchFamily="49" charset="-122"/>
              <a:ea typeface="黑体" pitchFamily="49" charset="-122"/>
            </a:endParaRPr>
          </a:p>
        </p:txBody>
      </p:sp>
      <p:sp>
        <p:nvSpPr>
          <p:cNvPr id="6" name="矩形 5">
            <a:extLst>
              <a:ext uri="{FF2B5EF4-FFF2-40B4-BE49-F238E27FC236}">
                <a16:creationId xmlns:a16="http://schemas.microsoft.com/office/drawing/2014/main" id="{62FE9259-61BF-0566-55B2-636BBE843BB8}"/>
              </a:ext>
            </a:extLst>
          </p:cNvPr>
          <p:cNvSpPr/>
          <p:nvPr/>
        </p:nvSpPr>
        <p:spPr>
          <a:xfrm>
            <a:off x="1043608" y="1471252"/>
            <a:ext cx="3528392" cy="523220"/>
          </a:xfrm>
          <a:prstGeom prst="rect">
            <a:avLst/>
          </a:prstGeom>
        </p:spPr>
        <p:txBody>
          <a:bodyPr wrap="square">
            <a:spAutoFit/>
          </a:bodyPr>
          <a:lstStyle/>
          <a:p>
            <a:pPr marL="0" lvl="1"/>
            <a:r>
              <a:rPr lang="zh-CN" altLang="en-US" sz="2800" dirty="0">
                <a:latin typeface="黑体" pitchFamily="49" charset="-122"/>
                <a:ea typeface="黑体" pitchFamily="49" charset="-122"/>
              </a:rPr>
              <a:t>逻辑结构的表示方法</a:t>
            </a:r>
            <a:endParaRPr lang="en-US" altLang="zh-CN" sz="2800" dirty="0">
              <a:latin typeface="黑体" pitchFamily="49" charset="-122"/>
              <a:ea typeface="黑体" pitchFamily="49" charset="-122"/>
            </a:endParaRPr>
          </a:p>
        </p:txBody>
      </p:sp>
      <p:sp>
        <p:nvSpPr>
          <p:cNvPr id="7" name="TextBox 2">
            <a:extLst>
              <a:ext uri="{FF2B5EF4-FFF2-40B4-BE49-F238E27FC236}">
                <a16:creationId xmlns:a16="http://schemas.microsoft.com/office/drawing/2014/main" id="{CD694001-31EC-D7B2-D291-77AE152B4574}"/>
              </a:ext>
            </a:extLst>
          </p:cNvPr>
          <p:cNvSpPr txBox="1"/>
          <p:nvPr/>
        </p:nvSpPr>
        <p:spPr>
          <a:xfrm>
            <a:off x="1066893" y="1906742"/>
            <a:ext cx="6050442" cy="435697"/>
          </a:xfrm>
          <a:prstGeom prst="rect">
            <a:avLst/>
          </a:prstGeom>
          <a:noFill/>
        </p:spPr>
        <p:txBody>
          <a:bodyPr wrap="square" rtlCol="0">
            <a:spAutoFit/>
          </a:bodyPr>
          <a:lstStyle/>
          <a:p>
            <a:pPr algn="l">
              <a:lnSpc>
                <a:spcPct val="130000"/>
              </a:lnSpc>
            </a:pPr>
            <a:r>
              <a:rPr lang="zh-CN" altLang="en-US" sz="2000" dirty="0">
                <a:latin typeface="黑体" pitchFamily="49" charset="-122"/>
                <a:ea typeface="黑体" pitchFamily="49" charset="-122"/>
              </a:rPr>
              <a:t>数据的逻辑结构是面向用户的，它有多种表示形式。</a:t>
            </a:r>
          </a:p>
        </p:txBody>
      </p:sp>
      <p:sp>
        <p:nvSpPr>
          <p:cNvPr id="8" name="椭圆 7">
            <a:extLst>
              <a:ext uri="{FF2B5EF4-FFF2-40B4-BE49-F238E27FC236}">
                <a16:creationId xmlns:a16="http://schemas.microsoft.com/office/drawing/2014/main" id="{0319A463-9DBA-AD7D-09E9-3326B311500A}"/>
              </a:ext>
            </a:extLst>
          </p:cNvPr>
          <p:cNvSpPr/>
          <p:nvPr/>
        </p:nvSpPr>
        <p:spPr>
          <a:xfrm>
            <a:off x="1749106" y="4705112"/>
            <a:ext cx="502252" cy="362253"/>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800" dirty="0">
                <a:solidFill>
                  <a:srgbClr val="3333CC"/>
                </a:solidFill>
                <a:latin typeface="Consolas" pitchFamily="49" charset="0"/>
                <a:cs typeface="Consolas" pitchFamily="49" charset="0"/>
              </a:rPr>
              <a:t>1</a:t>
            </a:r>
            <a:endParaRPr lang="zh-CN" altLang="en-US" sz="1800" dirty="0">
              <a:solidFill>
                <a:srgbClr val="3333CC"/>
              </a:solidFill>
              <a:latin typeface="Consolas" pitchFamily="49" charset="0"/>
              <a:cs typeface="Consolas" pitchFamily="49" charset="0"/>
            </a:endParaRPr>
          </a:p>
        </p:txBody>
      </p:sp>
      <p:sp>
        <p:nvSpPr>
          <p:cNvPr id="9" name="椭圆 8">
            <a:extLst>
              <a:ext uri="{FF2B5EF4-FFF2-40B4-BE49-F238E27FC236}">
                <a16:creationId xmlns:a16="http://schemas.microsoft.com/office/drawing/2014/main" id="{5123545B-3F7E-EF13-E198-A8D756EA65A6}"/>
              </a:ext>
            </a:extLst>
          </p:cNvPr>
          <p:cNvSpPr/>
          <p:nvPr/>
        </p:nvSpPr>
        <p:spPr>
          <a:xfrm>
            <a:off x="2606362" y="4705112"/>
            <a:ext cx="502252" cy="362253"/>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800" dirty="0">
                <a:solidFill>
                  <a:srgbClr val="3333CC"/>
                </a:solidFill>
                <a:latin typeface="Consolas" pitchFamily="49" charset="0"/>
                <a:cs typeface="Consolas" pitchFamily="49" charset="0"/>
              </a:rPr>
              <a:t>8</a:t>
            </a:r>
            <a:endParaRPr lang="zh-CN" altLang="en-US" sz="1800" dirty="0">
              <a:solidFill>
                <a:srgbClr val="3333CC"/>
              </a:solidFill>
              <a:latin typeface="Consolas" pitchFamily="49" charset="0"/>
              <a:cs typeface="Consolas" pitchFamily="49" charset="0"/>
            </a:endParaRPr>
          </a:p>
        </p:txBody>
      </p:sp>
      <p:sp>
        <p:nvSpPr>
          <p:cNvPr id="11" name="椭圆 10">
            <a:extLst>
              <a:ext uri="{FF2B5EF4-FFF2-40B4-BE49-F238E27FC236}">
                <a16:creationId xmlns:a16="http://schemas.microsoft.com/office/drawing/2014/main" id="{9DCDEF8C-A3A0-C6C9-0168-96CE0EFF6A0F}"/>
              </a:ext>
            </a:extLst>
          </p:cNvPr>
          <p:cNvSpPr/>
          <p:nvPr/>
        </p:nvSpPr>
        <p:spPr>
          <a:xfrm>
            <a:off x="3463618" y="4705112"/>
            <a:ext cx="502252" cy="362253"/>
          </a:xfrm>
          <a:prstGeom prst="ellipse">
            <a:avLst/>
          </a:prstGeom>
          <a:ln/>
        </p:spPr>
        <p:style>
          <a:lnRef idx="0">
            <a:schemeClr val="accent5"/>
          </a:lnRef>
          <a:fillRef idx="3">
            <a:schemeClr val="accent5"/>
          </a:fillRef>
          <a:effectRef idx="3">
            <a:schemeClr val="accent5"/>
          </a:effectRef>
          <a:fontRef idx="minor">
            <a:schemeClr val="lt1"/>
          </a:fontRef>
        </p:style>
        <p:txBody>
          <a:bodyPr lIns="0" rIns="0" rtlCol="0" anchor="ctr"/>
          <a:lstStyle/>
          <a:p>
            <a:pPr algn="ctr"/>
            <a:r>
              <a:rPr lang="en-US" altLang="zh-CN" sz="1800" dirty="0">
                <a:solidFill>
                  <a:srgbClr val="3333CC"/>
                </a:solidFill>
                <a:latin typeface="Consolas" pitchFamily="49" charset="0"/>
                <a:cs typeface="Consolas" pitchFamily="49" charset="0"/>
              </a:rPr>
              <a:t>34</a:t>
            </a:r>
            <a:endParaRPr lang="zh-CN" altLang="en-US" sz="1800" dirty="0">
              <a:solidFill>
                <a:srgbClr val="3333CC"/>
              </a:solidFill>
              <a:latin typeface="Consolas" pitchFamily="49" charset="0"/>
              <a:cs typeface="Consolas" pitchFamily="49" charset="0"/>
            </a:endParaRPr>
          </a:p>
        </p:txBody>
      </p:sp>
      <p:sp>
        <p:nvSpPr>
          <p:cNvPr id="12" name="椭圆 11">
            <a:extLst>
              <a:ext uri="{FF2B5EF4-FFF2-40B4-BE49-F238E27FC236}">
                <a16:creationId xmlns:a16="http://schemas.microsoft.com/office/drawing/2014/main" id="{F8073701-D7BB-E36F-D553-E500BC98FB11}"/>
              </a:ext>
            </a:extLst>
          </p:cNvPr>
          <p:cNvSpPr/>
          <p:nvPr/>
        </p:nvSpPr>
        <p:spPr>
          <a:xfrm>
            <a:off x="4320874" y="4705112"/>
            <a:ext cx="502252" cy="362253"/>
          </a:xfrm>
          <a:prstGeom prst="ellipse">
            <a:avLst/>
          </a:prstGeom>
          <a:ln/>
        </p:spPr>
        <p:style>
          <a:lnRef idx="0">
            <a:schemeClr val="accent5"/>
          </a:lnRef>
          <a:fillRef idx="3">
            <a:schemeClr val="accent5"/>
          </a:fillRef>
          <a:effectRef idx="3">
            <a:schemeClr val="accent5"/>
          </a:effectRef>
          <a:fontRef idx="minor">
            <a:schemeClr val="lt1"/>
          </a:fontRef>
        </p:style>
        <p:txBody>
          <a:bodyPr lIns="0" rIns="0" rtlCol="0" anchor="ctr"/>
          <a:lstStyle/>
          <a:p>
            <a:pPr algn="ctr"/>
            <a:r>
              <a:rPr lang="en-US" altLang="zh-CN" sz="1800" dirty="0">
                <a:solidFill>
                  <a:srgbClr val="3333CC"/>
                </a:solidFill>
                <a:latin typeface="Consolas" pitchFamily="49" charset="0"/>
                <a:cs typeface="Consolas" pitchFamily="49" charset="0"/>
              </a:rPr>
              <a:t>20</a:t>
            </a:r>
            <a:endParaRPr lang="zh-CN" altLang="en-US" sz="1800" dirty="0">
              <a:solidFill>
                <a:srgbClr val="3333CC"/>
              </a:solidFill>
              <a:latin typeface="Consolas" pitchFamily="49" charset="0"/>
              <a:cs typeface="Consolas" pitchFamily="49" charset="0"/>
            </a:endParaRPr>
          </a:p>
        </p:txBody>
      </p:sp>
      <p:cxnSp>
        <p:nvCxnSpPr>
          <p:cNvPr id="13" name="直接箭头连接符 12">
            <a:extLst>
              <a:ext uri="{FF2B5EF4-FFF2-40B4-BE49-F238E27FC236}">
                <a16:creationId xmlns:a16="http://schemas.microsoft.com/office/drawing/2014/main" id="{0FA77CA4-BC5C-3FE7-6373-A0D237568F24}"/>
              </a:ext>
            </a:extLst>
          </p:cNvPr>
          <p:cNvCxnSpPr>
            <a:cxnSpLocks/>
          </p:cNvCxnSpPr>
          <p:nvPr/>
        </p:nvCxnSpPr>
        <p:spPr>
          <a:xfrm>
            <a:off x="2283259" y="4885541"/>
            <a:ext cx="301351" cy="697"/>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C08D3E12-4F37-F1A8-29DC-DBBC293B1B7C}"/>
              </a:ext>
            </a:extLst>
          </p:cNvPr>
          <p:cNvCxnSpPr>
            <a:cxnSpLocks/>
          </p:cNvCxnSpPr>
          <p:nvPr/>
        </p:nvCxnSpPr>
        <p:spPr>
          <a:xfrm>
            <a:off x="3140515" y="4867066"/>
            <a:ext cx="301351" cy="697"/>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7C1E511D-ACD1-B717-6DF8-2F7DED6C4411}"/>
              </a:ext>
            </a:extLst>
          </p:cNvPr>
          <p:cNvCxnSpPr>
            <a:cxnSpLocks/>
          </p:cNvCxnSpPr>
          <p:nvPr/>
        </p:nvCxnSpPr>
        <p:spPr>
          <a:xfrm>
            <a:off x="3973664" y="4884844"/>
            <a:ext cx="301351" cy="697"/>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9BDC5177-80E1-FE06-0612-DA489C1DC34D}"/>
              </a:ext>
            </a:extLst>
          </p:cNvPr>
          <p:cNvSpPr/>
          <p:nvPr/>
        </p:nvSpPr>
        <p:spPr>
          <a:xfrm>
            <a:off x="5178130" y="4705112"/>
            <a:ext cx="502252" cy="362253"/>
          </a:xfrm>
          <a:prstGeom prst="ellipse">
            <a:avLst/>
          </a:prstGeom>
          <a:ln/>
        </p:spPr>
        <p:style>
          <a:lnRef idx="0">
            <a:schemeClr val="accent5"/>
          </a:lnRef>
          <a:fillRef idx="3">
            <a:schemeClr val="accent5"/>
          </a:fillRef>
          <a:effectRef idx="3">
            <a:schemeClr val="accent5"/>
          </a:effectRef>
          <a:fontRef idx="minor">
            <a:schemeClr val="lt1"/>
          </a:fontRef>
        </p:style>
        <p:txBody>
          <a:bodyPr lIns="0" rIns="0" rtlCol="0" anchor="ctr"/>
          <a:lstStyle/>
          <a:p>
            <a:pPr algn="ctr"/>
            <a:r>
              <a:rPr lang="en-US" altLang="zh-CN" sz="1800" dirty="0">
                <a:solidFill>
                  <a:srgbClr val="3333CC"/>
                </a:solidFill>
                <a:latin typeface="Consolas" pitchFamily="49" charset="0"/>
                <a:cs typeface="Consolas" pitchFamily="49" charset="0"/>
              </a:rPr>
              <a:t>12</a:t>
            </a:r>
            <a:endParaRPr lang="zh-CN" altLang="en-US" sz="1800" dirty="0">
              <a:solidFill>
                <a:srgbClr val="3333CC"/>
              </a:solidFill>
              <a:latin typeface="Consolas" pitchFamily="49" charset="0"/>
              <a:cs typeface="Consolas" pitchFamily="49" charset="0"/>
            </a:endParaRPr>
          </a:p>
        </p:txBody>
      </p:sp>
      <p:sp>
        <p:nvSpPr>
          <p:cNvPr id="17" name="椭圆 16">
            <a:extLst>
              <a:ext uri="{FF2B5EF4-FFF2-40B4-BE49-F238E27FC236}">
                <a16:creationId xmlns:a16="http://schemas.microsoft.com/office/drawing/2014/main" id="{FF034553-0886-6DA4-FD1C-340AB31C85A7}"/>
              </a:ext>
            </a:extLst>
          </p:cNvPr>
          <p:cNvSpPr/>
          <p:nvPr/>
        </p:nvSpPr>
        <p:spPr>
          <a:xfrm>
            <a:off x="6035386" y="4705112"/>
            <a:ext cx="502252" cy="362253"/>
          </a:xfrm>
          <a:prstGeom prst="ellipse">
            <a:avLst/>
          </a:prstGeom>
          <a:ln/>
        </p:spPr>
        <p:style>
          <a:lnRef idx="0">
            <a:schemeClr val="accent5"/>
          </a:lnRef>
          <a:fillRef idx="3">
            <a:schemeClr val="accent5"/>
          </a:fillRef>
          <a:effectRef idx="3">
            <a:schemeClr val="accent5"/>
          </a:effectRef>
          <a:fontRef idx="minor">
            <a:schemeClr val="lt1"/>
          </a:fontRef>
        </p:style>
        <p:txBody>
          <a:bodyPr lIns="0" rIns="0" rtlCol="0" anchor="ctr"/>
          <a:lstStyle/>
          <a:p>
            <a:pPr algn="ctr"/>
            <a:r>
              <a:rPr lang="en-US" altLang="zh-CN" sz="1800" dirty="0">
                <a:solidFill>
                  <a:srgbClr val="3333CC"/>
                </a:solidFill>
                <a:latin typeface="Consolas" pitchFamily="49" charset="0"/>
                <a:cs typeface="Consolas" pitchFamily="49" charset="0"/>
              </a:rPr>
              <a:t>26</a:t>
            </a:r>
            <a:endParaRPr lang="zh-CN" altLang="en-US" sz="1800" dirty="0">
              <a:solidFill>
                <a:srgbClr val="3333CC"/>
              </a:solidFill>
              <a:latin typeface="Consolas" pitchFamily="49" charset="0"/>
              <a:cs typeface="Consolas" pitchFamily="49" charset="0"/>
            </a:endParaRPr>
          </a:p>
        </p:txBody>
      </p:sp>
      <p:sp>
        <p:nvSpPr>
          <p:cNvPr id="18" name="椭圆 17">
            <a:extLst>
              <a:ext uri="{FF2B5EF4-FFF2-40B4-BE49-F238E27FC236}">
                <a16:creationId xmlns:a16="http://schemas.microsoft.com/office/drawing/2014/main" id="{36CF8C33-36BF-D7A0-6559-3CDDF17713CA}"/>
              </a:ext>
            </a:extLst>
          </p:cNvPr>
          <p:cNvSpPr/>
          <p:nvPr/>
        </p:nvSpPr>
        <p:spPr>
          <a:xfrm>
            <a:off x="6892642" y="4705112"/>
            <a:ext cx="502252" cy="362253"/>
          </a:xfrm>
          <a:prstGeom prst="ellipse">
            <a:avLst/>
          </a:prstGeom>
          <a:ln/>
        </p:spPr>
        <p:style>
          <a:lnRef idx="0">
            <a:schemeClr val="accent5"/>
          </a:lnRef>
          <a:fillRef idx="3">
            <a:schemeClr val="accent5"/>
          </a:fillRef>
          <a:effectRef idx="3">
            <a:schemeClr val="accent5"/>
          </a:effectRef>
          <a:fontRef idx="minor">
            <a:schemeClr val="lt1"/>
          </a:fontRef>
        </p:style>
        <p:txBody>
          <a:bodyPr lIns="0" rIns="0" rtlCol="0" anchor="ctr"/>
          <a:lstStyle/>
          <a:p>
            <a:pPr algn="ctr"/>
            <a:r>
              <a:rPr lang="en-US" altLang="zh-CN" sz="1800" dirty="0">
                <a:solidFill>
                  <a:srgbClr val="3333CC"/>
                </a:solidFill>
                <a:latin typeface="Consolas" pitchFamily="49" charset="0"/>
                <a:cs typeface="Consolas" pitchFamily="49" charset="0"/>
              </a:rPr>
              <a:t>5</a:t>
            </a:r>
            <a:endParaRPr lang="zh-CN" altLang="en-US" sz="1800" dirty="0">
              <a:solidFill>
                <a:srgbClr val="3333CC"/>
              </a:solidFill>
              <a:latin typeface="Consolas" pitchFamily="49" charset="0"/>
              <a:cs typeface="Consolas" pitchFamily="49" charset="0"/>
            </a:endParaRPr>
          </a:p>
        </p:txBody>
      </p:sp>
      <p:cxnSp>
        <p:nvCxnSpPr>
          <p:cNvPr id="19" name="直接箭头连接符 18">
            <a:extLst>
              <a:ext uri="{FF2B5EF4-FFF2-40B4-BE49-F238E27FC236}">
                <a16:creationId xmlns:a16="http://schemas.microsoft.com/office/drawing/2014/main" id="{71E7AD52-B3CC-6D11-1979-4142CA988F55}"/>
              </a:ext>
            </a:extLst>
          </p:cNvPr>
          <p:cNvCxnSpPr>
            <a:cxnSpLocks/>
          </p:cNvCxnSpPr>
          <p:nvPr/>
        </p:nvCxnSpPr>
        <p:spPr>
          <a:xfrm>
            <a:off x="5702737" y="4867066"/>
            <a:ext cx="301351" cy="697"/>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27CFDA96-DEE8-9EAA-8D0E-BF97A6E12821}"/>
              </a:ext>
            </a:extLst>
          </p:cNvPr>
          <p:cNvCxnSpPr>
            <a:cxnSpLocks/>
          </p:cNvCxnSpPr>
          <p:nvPr/>
        </p:nvCxnSpPr>
        <p:spPr>
          <a:xfrm>
            <a:off x="6557807" y="4867066"/>
            <a:ext cx="334835" cy="0"/>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238EE06-085C-9CD9-0DC3-0F6A7723435F}"/>
              </a:ext>
            </a:extLst>
          </p:cNvPr>
          <p:cNvCxnSpPr>
            <a:cxnSpLocks/>
          </p:cNvCxnSpPr>
          <p:nvPr/>
        </p:nvCxnSpPr>
        <p:spPr>
          <a:xfrm>
            <a:off x="4868985" y="4884844"/>
            <a:ext cx="301351" cy="697"/>
          </a:xfrm>
          <a:prstGeom prst="straightConnector1">
            <a:avLst/>
          </a:prstGeom>
          <a:ln w="28575">
            <a:solidFill>
              <a:srgbClr val="339933"/>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1" name="表格 30"/>
          <p:cNvGraphicFramePr>
            <a:graphicFrameLocks noGrp="1"/>
          </p:cNvGraphicFramePr>
          <p:nvPr>
            <p:extLst>
              <p:ext uri="{D42A27DB-BD31-4B8C-83A1-F6EECF244321}">
                <p14:modId xmlns:p14="http://schemas.microsoft.com/office/powerpoint/2010/main" val="672060768"/>
              </p:ext>
            </p:extLst>
          </p:nvPr>
        </p:nvGraphicFramePr>
        <p:xfrm>
          <a:off x="2200582" y="2667267"/>
          <a:ext cx="4742836" cy="1950720"/>
        </p:xfrm>
        <a:graphic>
          <a:graphicData uri="http://schemas.openxmlformats.org/drawingml/2006/table">
            <a:tbl>
              <a:tblPr>
                <a:effectLst>
                  <a:outerShdw blurRad="50800" dist="38100" dir="2700000" algn="tl" rotWithShape="0">
                    <a:prstClr val="black">
                      <a:alpha val="40000"/>
                    </a:prstClr>
                  </a:outerShdw>
                </a:effectLst>
                <a:tableStyleId>{16D9F66E-5EB9-4882-86FB-DCBF35E3C3E4}</a:tableStyleId>
              </a:tblPr>
              <a:tblGrid>
                <a:gridCol w="1238945">
                  <a:extLst>
                    <a:ext uri="{9D8B030D-6E8A-4147-A177-3AD203B41FA5}">
                      <a16:colId xmlns:a16="http://schemas.microsoft.com/office/drawing/2014/main" val="20000"/>
                    </a:ext>
                  </a:extLst>
                </a:gridCol>
                <a:gridCol w="1238945">
                  <a:extLst>
                    <a:ext uri="{9D8B030D-6E8A-4147-A177-3AD203B41FA5}">
                      <a16:colId xmlns:a16="http://schemas.microsoft.com/office/drawing/2014/main" val="20001"/>
                    </a:ext>
                  </a:extLst>
                </a:gridCol>
                <a:gridCol w="1238945">
                  <a:extLst>
                    <a:ext uri="{9D8B030D-6E8A-4147-A177-3AD203B41FA5}">
                      <a16:colId xmlns:a16="http://schemas.microsoft.com/office/drawing/2014/main" val="20002"/>
                    </a:ext>
                  </a:extLst>
                </a:gridCol>
                <a:gridCol w="1026001">
                  <a:extLst>
                    <a:ext uri="{9D8B030D-6E8A-4147-A177-3AD203B41FA5}">
                      <a16:colId xmlns:a16="http://schemas.microsoft.com/office/drawing/2014/main" val="20003"/>
                    </a:ext>
                  </a:extLst>
                </a:gridCol>
              </a:tblGrid>
              <a:tr h="1777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C00000"/>
                          </a:solidFill>
                          <a:effectLst/>
                          <a:latin typeface="Consolas" pitchFamily="49" charset="0"/>
                          <a:ea typeface="楷体" pitchFamily="49" charset="-122"/>
                          <a:cs typeface="Consolas" pitchFamily="49" charset="0"/>
                        </a:rPr>
                        <a:t>学号</a:t>
                      </a:r>
                      <a:endParaRPr kumimoji="0" lang="zh-CN" altLang="en-US" sz="800" b="1" i="0" u="none" strike="noStrike" cap="none" normalizeH="0" baseline="0" dirty="0">
                        <a:ln>
                          <a:noFill/>
                        </a:ln>
                        <a:solidFill>
                          <a:srgbClr val="C00000"/>
                        </a:solidFill>
                        <a:effectLst/>
                        <a:latin typeface="Consolas" pitchFamily="49" charset="0"/>
                        <a:ea typeface="楷体"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C00000"/>
                          </a:solidFill>
                          <a:effectLst/>
                          <a:latin typeface="Consolas" pitchFamily="49" charset="0"/>
                          <a:ea typeface="楷体" pitchFamily="49" charset="-122"/>
                          <a:cs typeface="Consolas" pitchFamily="49" charset="0"/>
                        </a:rPr>
                        <a:t>姓名</a:t>
                      </a:r>
                      <a:endParaRPr kumimoji="0" lang="zh-CN" altLang="en-US" sz="800" b="1" i="0" u="none" strike="noStrike" cap="none" normalizeH="0" baseline="0" dirty="0">
                        <a:ln>
                          <a:noFill/>
                        </a:ln>
                        <a:solidFill>
                          <a:srgbClr val="C00000"/>
                        </a:solidFill>
                        <a:effectLst/>
                        <a:latin typeface="Consolas" pitchFamily="49" charset="0"/>
                        <a:ea typeface="楷体"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C00000"/>
                          </a:solidFill>
                          <a:effectLst/>
                          <a:latin typeface="Consolas" pitchFamily="49" charset="0"/>
                          <a:ea typeface="楷体" pitchFamily="49" charset="-122"/>
                          <a:cs typeface="Consolas" pitchFamily="49" charset="0"/>
                        </a:rPr>
                        <a:t>性别</a:t>
                      </a:r>
                      <a:endParaRPr kumimoji="0" lang="zh-CN" altLang="en-US" sz="800" b="1" i="0" u="none" strike="noStrike" cap="none" normalizeH="0" baseline="0" dirty="0">
                        <a:ln>
                          <a:noFill/>
                        </a:ln>
                        <a:solidFill>
                          <a:srgbClr val="C00000"/>
                        </a:solidFill>
                        <a:effectLst/>
                        <a:latin typeface="Consolas" pitchFamily="49" charset="0"/>
                        <a:ea typeface="楷体" pitchFamily="49" charset="-122"/>
                        <a:cs typeface="Consolas" pitchFamily="49" charset="0"/>
                      </a:endParaRPr>
                    </a:p>
                  </a:txBody>
                  <a:tcPr marT="60960" marB="60960" horzOverflow="overflow">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C00000"/>
                          </a:solidFill>
                          <a:effectLst/>
                          <a:latin typeface="Consolas" pitchFamily="49" charset="0"/>
                          <a:ea typeface="楷体" pitchFamily="49" charset="-122"/>
                          <a:cs typeface="Consolas" pitchFamily="49" charset="0"/>
                        </a:rPr>
                        <a:t>班号</a:t>
                      </a:r>
                      <a:endParaRPr kumimoji="0" lang="zh-CN" altLang="en-US" sz="800" b="1" i="0" u="none" strike="noStrike" cap="none" normalizeH="0" baseline="0" dirty="0">
                        <a:ln>
                          <a:noFill/>
                        </a:ln>
                        <a:solidFill>
                          <a:srgbClr val="C00000"/>
                        </a:solidFill>
                        <a:effectLst/>
                        <a:latin typeface="Consolas" pitchFamily="49" charset="0"/>
                        <a:ea typeface="楷体" pitchFamily="49" charset="-122"/>
                        <a:cs typeface="Consolas" pitchFamily="49" charset="0"/>
                      </a:endParaRPr>
                    </a:p>
                  </a:txBody>
                  <a:tcPr marT="60960" marB="60960" horzOverflow="overflow">
                    <a:solidFill>
                      <a:srgbClr val="92D050"/>
                    </a:solidFill>
                  </a:tcPr>
                </a:tc>
                <a:extLst>
                  <a:ext uri="{0D108BD9-81ED-4DB2-BD59-A6C34878D82A}">
                    <a16:rowId xmlns:a16="http://schemas.microsoft.com/office/drawing/2014/main" val="10000"/>
                  </a:ext>
                </a:extLst>
              </a:tr>
              <a:tr h="1777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1</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张斌</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a:ln>
                            <a:noFill/>
                          </a:ln>
                          <a:solidFill>
                            <a:srgbClr val="3333CC"/>
                          </a:solidFill>
                          <a:effectLst/>
                          <a:latin typeface="Consolas" pitchFamily="49" charset="0"/>
                          <a:ea typeface="楷体" pitchFamily="49" charset="-122"/>
                          <a:cs typeface="Consolas" pitchFamily="49" charset="0"/>
                        </a:rPr>
                        <a:t>男</a:t>
                      </a:r>
                      <a:endParaRPr kumimoji="0" lang="zh-CN" altLang="en-US"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a:ln>
                            <a:noFill/>
                          </a:ln>
                          <a:solidFill>
                            <a:srgbClr val="3333CC"/>
                          </a:solidFill>
                          <a:effectLst/>
                          <a:latin typeface="Consolas" pitchFamily="49" charset="0"/>
                          <a:ea typeface="楷体" pitchFamily="49" charset="-122"/>
                          <a:cs typeface="Consolas" pitchFamily="49" charset="0"/>
                        </a:rPr>
                        <a:t>9901</a:t>
                      </a:r>
                      <a:endParaRPr kumimoji="0" lang="en-US" altLang="zh-CN"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1"/>
                  </a:ext>
                </a:extLst>
              </a:tr>
              <a:tr h="1777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8</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刘丽</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女</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a:ln>
                            <a:noFill/>
                          </a:ln>
                          <a:solidFill>
                            <a:srgbClr val="3333CC"/>
                          </a:solidFill>
                          <a:effectLst/>
                          <a:latin typeface="Consolas" pitchFamily="49" charset="0"/>
                          <a:ea typeface="楷体" pitchFamily="49" charset="-122"/>
                          <a:cs typeface="Consolas" pitchFamily="49" charset="0"/>
                        </a:rPr>
                        <a:t>9902</a:t>
                      </a:r>
                      <a:endParaRPr kumimoji="0" lang="en-US" altLang="zh-CN"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2"/>
                  </a:ext>
                </a:extLst>
              </a:tr>
              <a:tr h="1777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34</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李英</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女</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9901</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3"/>
                  </a:ext>
                </a:extLst>
              </a:tr>
              <a:tr h="1777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20</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陈华</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男</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9902</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4"/>
                  </a:ext>
                </a:extLst>
              </a:tr>
              <a:tr h="1777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a:ln>
                            <a:noFill/>
                          </a:ln>
                          <a:solidFill>
                            <a:srgbClr val="3333CC"/>
                          </a:solidFill>
                          <a:effectLst/>
                          <a:latin typeface="Consolas" pitchFamily="49" charset="0"/>
                          <a:ea typeface="楷体" pitchFamily="49" charset="-122"/>
                          <a:cs typeface="Consolas" pitchFamily="49" charset="0"/>
                        </a:rPr>
                        <a:t>12</a:t>
                      </a:r>
                      <a:endParaRPr kumimoji="0" lang="en-US" altLang="zh-CN"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a:ln>
                            <a:noFill/>
                          </a:ln>
                          <a:solidFill>
                            <a:srgbClr val="3333CC"/>
                          </a:solidFill>
                          <a:effectLst/>
                          <a:latin typeface="Consolas" pitchFamily="49" charset="0"/>
                          <a:ea typeface="楷体" pitchFamily="49" charset="-122"/>
                          <a:cs typeface="Consolas" pitchFamily="49" charset="0"/>
                        </a:rPr>
                        <a:t>王奇</a:t>
                      </a:r>
                      <a:endParaRPr kumimoji="0" lang="zh-CN" altLang="en-US"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男</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9901</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5"/>
                  </a:ext>
                </a:extLst>
              </a:tr>
              <a:tr h="1777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a:ln>
                            <a:noFill/>
                          </a:ln>
                          <a:solidFill>
                            <a:srgbClr val="3333CC"/>
                          </a:solidFill>
                          <a:effectLst/>
                          <a:latin typeface="Consolas" pitchFamily="49" charset="0"/>
                          <a:ea typeface="楷体" pitchFamily="49" charset="-122"/>
                          <a:cs typeface="Consolas" pitchFamily="49" charset="0"/>
                        </a:rPr>
                        <a:t>26</a:t>
                      </a:r>
                      <a:endParaRPr kumimoji="0" lang="en-US" altLang="zh-CN"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a:ln>
                            <a:noFill/>
                          </a:ln>
                          <a:solidFill>
                            <a:srgbClr val="3333CC"/>
                          </a:solidFill>
                          <a:effectLst/>
                          <a:latin typeface="Consolas" pitchFamily="49" charset="0"/>
                          <a:ea typeface="楷体" pitchFamily="49" charset="-122"/>
                          <a:cs typeface="Consolas" pitchFamily="49" charset="0"/>
                        </a:rPr>
                        <a:t>董强</a:t>
                      </a:r>
                      <a:endParaRPr kumimoji="0" lang="zh-CN" altLang="en-US"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男</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9902</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6"/>
                  </a:ext>
                </a:extLst>
              </a:tr>
              <a:tr h="1777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5</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a:ln>
                            <a:noFill/>
                          </a:ln>
                          <a:solidFill>
                            <a:srgbClr val="3333CC"/>
                          </a:solidFill>
                          <a:effectLst/>
                          <a:latin typeface="Consolas" pitchFamily="49" charset="0"/>
                          <a:ea typeface="楷体" pitchFamily="49" charset="-122"/>
                          <a:cs typeface="Consolas" pitchFamily="49" charset="0"/>
                        </a:rPr>
                        <a:t>王萍</a:t>
                      </a:r>
                      <a:endParaRPr kumimoji="0" lang="zh-CN" altLang="en-US" sz="800" b="1" i="0" u="none" strike="noStrike" cap="none" normalizeH="0" baseline="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800" b="1" u="none" strike="noStrike" cap="none" normalizeH="0" baseline="0" dirty="0">
                          <a:ln>
                            <a:noFill/>
                          </a:ln>
                          <a:solidFill>
                            <a:srgbClr val="3333CC"/>
                          </a:solidFill>
                          <a:effectLst/>
                          <a:latin typeface="Consolas" pitchFamily="49" charset="0"/>
                          <a:ea typeface="楷体" pitchFamily="49" charset="-122"/>
                          <a:cs typeface="Consolas" pitchFamily="49" charset="0"/>
                        </a:rPr>
                        <a:t>女</a:t>
                      </a:r>
                      <a:endParaRPr kumimoji="0" lang="zh-CN" altLang="en-US"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800" b="1" u="none" strike="noStrike" cap="none" normalizeH="0" baseline="0" dirty="0">
                          <a:ln>
                            <a:noFill/>
                          </a:ln>
                          <a:solidFill>
                            <a:srgbClr val="3333CC"/>
                          </a:solidFill>
                          <a:effectLst/>
                          <a:latin typeface="Consolas" pitchFamily="49" charset="0"/>
                          <a:ea typeface="楷体" pitchFamily="49" charset="-122"/>
                          <a:cs typeface="Consolas" pitchFamily="49" charset="0"/>
                        </a:rPr>
                        <a:t>9901</a:t>
                      </a:r>
                      <a:endParaRPr kumimoji="0" lang="en-US" altLang="zh-CN" sz="800" b="1" i="0" u="none" strike="noStrike" cap="none" normalizeH="0" baseline="0" dirty="0">
                        <a:ln>
                          <a:noFill/>
                        </a:ln>
                        <a:solidFill>
                          <a:srgbClr val="3333CC"/>
                        </a:solidFill>
                        <a:effectLst/>
                        <a:latin typeface="Consolas" pitchFamily="49" charset="0"/>
                        <a:ea typeface="楷体" pitchFamily="49" charset="-122"/>
                        <a:cs typeface="Consolas" pitchFamily="49" charset="0"/>
                      </a:endParaRPr>
                    </a:p>
                  </a:txBody>
                  <a:tcPr marT="60960" marB="60960" horzOverflow="overflow"/>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73277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DFD14-5E70-2648-793A-B444C8BE7CCE}"/>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7B147A1D-00EB-0ECF-58EF-CF6CCE33B1B6}"/>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75" name="Rectangle 6">
            <a:extLst>
              <a:ext uri="{FF2B5EF4-FFF2-40B4-BE49-F238E27FC236}">
                <a16:creationId xmlns:a16="http://schemas.microsoft.com/office/drawing/2014/main" id="{1BB070CC-44E9-9C34-639A-E28368495925}"/>
              </a:ext>
            </a:extLst>
          </p:cNvPr>
          <p:cNvSpPr>
            <a:spLocks noChangeArrowheads="1"/>
          </p:cNvSpPr>
          <p:nvPr/>
        </p:nvSpPr>
        <p:spPr bwMode="auto">
          <a:xfrm>
            <a:off x="395536" y="2171640"/>
            <a:ext cx="59653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000" dirty="0">
                <a:latin typeface="微软雅黑" pitchFamily="34" charset="-122"/>
                <a:ea typeface="微软雅黑" pitchFamily="34" charset="-122"/>
                <a:cs typeface="经典粗黑简" pitchFamily="49" charset="-122"/>
              </a:rPr>
              <a:t>数据结构课程中主要介绍四种类型的基本数据结构：</a:t>
            </a:r>
          </a:p>
        </p:txBody>
      </p:sp>
      <p:sp>
        <p:nvSpPr>
          <p:cNvPr id="76" name="矩形 75">
            <a:extLst>
              <a:ext uri="{FF2B5EF4-FFF2-40B4-BE49-F238E27FC236}">
                <a16:creationId xmlns:a16="http://schemas.microsoft.com/office/drawing/2014/main" id="{B5A0AF90-1A47-F6F4-3120-08AA2A6E9B61}"/>
              </a:ext>
            </a:extLst>
          </p:cNvPr>
          <p:cNvSpPr/>
          <p:nvPr/>
        </p:nvSpPr>
        <p:spPr>
          <a:xfrm>
            <a:off x="858004" y="2972089"/>
            <a:ext cx="6096000" cy="369332"/>
          </a:xfrm>
          <a:prstGeom prst="rect">
            <a:avLst/>
          </a:prstGeom>
        </p:spPr>
        <p:txBody>
          <a:bodyPr>
            <a:spAutoFit/>
          </a:bodyPr>
          <a:lstStyle/>
          <a:p>
            <a:r>
              <a:rPr lang="en-US" altLang="zh-CN" dirty="0">
                <a:latin typeface="微软雅黑" pitchFamily="34" charset="-122"/>
                <a:ea typeface="微软雅黑" pitchFamily="34" charset="-122"/>
                <a:cs typeface="经典粗黑简" pitchFamily="49" charset="-122"/>
              </a:rPr>
              <a:t>Ⅱ</a:t>
            </a:r>
            <a:r>
              <a:rPr lang="zh-CN" altLang="en-US" dirty="0">
                <a:latin typeface="微软雅黑" pitchFamily="34" charset="-122"/>
                <a:ea typeface="微软雅黑" pitchFamily="34" charset="-122"/>
                <a:cs typeface="经典粗黑简" pitchFamily="49" charset="-122"/>
              </a:rPr>
              <a:t>、树形结构（</a:t>
            </a:r>
            <a:r>
              <a:rPr lang="en-US" altLang="zh-CN" dirty="0">
                <a:latin typeface="微软雅黑" pitchFamily="34" charset="-122"/>
                <a:ea typeface="微软雅黑" pitchFamily="34" charset="-122"/>
                <a:cs typeface="经典粗黑简" pitchFamily="49" charset="-122"/>
              </a:rPr>
              <a:t>Tree</a:t>
            </a:r>
            <a:r>
              <a:rPr lang="zh-CN" altLang="en-US" dirty="0">
                <a:latin typeface="微软雅黑" pitchFamily="34" charset="-122"/>
                <a:ea typeface="微软雅黑" pitchFamily="34" charset="-122"/>
                <a:cs typeface="经典粗黑简" pitchFamily="49" charset="-122"/>
              </a:rPr>
              <a:t>）：数据元素之间是一对多的关系；</a:t>
            </a:r>
          </a:p>
        </p:txBody>
      </p:sp>
      <p:grpSp>
        <p:nvGrpSpPr>
          <p:cNvPr id="77" name="组合 76">
            <a:extLst>
              <a:ext uri="{FF2B5EF4-FFF2-40B4-BE49-F238E27FC236}">
                <a16:creationId xmlns:a16="http://schemas.microsoft.com/office/drawing/2014/main" id="{E1A0EB58-82AA-D891-F6B6-C4572F7B48F1}"/>
              </a:ext>
            </a:extLst>
          </p:cNvPr>
          <p:cNvGrpSpPr/>
          <p:nvPr/>
        </p:nvGrpSpPr>
        <p:grpSpPr>
          <a:xfrm rot="16200000">
            <a:off x="7695761" y="1908291"/>
            <a:ext cx="165116" cy="1506581"/>
            <a:chOff x="557347" y="4028837"/>
            <a:chExt cx="252549" cy="1759128"/>
          </a:xfrm>
        </p:grpSpPr>
        <p:sp>
          <p:nvSpPr>
            <p:cNvPr id="78" name="椭圆 77">
              <a:extLst>
                <a:ext uri="{FF2B5EF4-FFF2-40B4-BE49-F238E27FC236}">
                  <a16:creationId xmlns:a16="http://schemas.microsoft.com/office/drawing/2014/main" id="{15CA25BD-D8A6-0809-10AD-BB2163FE897A}"/>
                </a:ext>
              </a:extLst>
            </p:cNvPr>
            <p:cNvSpPr/>
            <p:nvPr/>
          </p:nvSpPr>
          <p:spPr>
            <a:xfrm>
              <a:off x="557347" y="4028837"/>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96708CC5-8E51-F374-ADDF-722C2E9206F0}"/>
                </a:ext>
              </a:extLst>
            </p:cNvPr>
            <p:cNvSpPr/>
            <p:nvPr/>
          </p:nvSpPr>
          <p:spPr>
            <a:xfrm>
              <a:off x="557347" y="4411452"/>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0E60F999-AB57-E3D8-F290-D921A2D55CED}"/>
                </a:ext>
              </a:extLst>
            </p:cNvPr>
            <p:cNvSpPr/>
            <p:nvPr/>
          </p:nvSpPr>
          <p:spPr>
            <a:xfrm>
              <a:off x="557347" y="478648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B589185D-BFEA-3CFD-DF9F-A2B428F5D082}"/>
                </a:ext>
              </a:extLst>
            </p:cNvPr>
            <p:cNvSpPr/>
            <p:nvPr/>
          </p:nvSpPr>
          <p:spPr>
            <a:xfrm>
              <a:off x="557347" y="5144653"/>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99C15679-390B-6BE1-7786-FAD40934523D}"/>
                </a:ext>
              </a:extLst>
            </p:cNvPr>
            <p:cNvSpPr/>
            <p:nvPr/>
          </p:nvSpPr>
          <p:spPr>
            <a:xfrm>
              <a:off x="557347" y="5535416"/>
              <a:ext cx="252549" cy="25254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3" name="直接连接符 82">
              <a:extLst>
                <a:ext uri="{FF2B5EF4-FFF2-40B4-BE49-F238E27FC236}">
                  <a16:creationId xmlns:a16="http://schemas.microsoft.com/office/drawing/2014/main" id="{024AA4D4-5A87-18A7-0196-11577463AF56}"/>
                </a:ext>
              </a:extLst>
            </p:cNvPr>
            <p:cNvCxnSpPr>
              <a:stCxn id="78" idx="4"/>
              <a:endCxn id="79" idx="0"/>
            </p:cNvCxnSpPr>
            <p:nvPr/>
          </p:nvCxnSpPr>
          <p:spPr>
            <a:xfrm>
              <a:off x="683622" y="4281386"/>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2E7667C-C934-C896-57C0-451834E3E2C6}"/>
                </a:ext>
              </a:extLst>
            </p:cNvPr>
            <p:cNvCxnSpPr/>
            <p:nvPr/>
          </p:nvCxnSpPr>
          <p:spPr>
            <a:xfrm>
              <a:off x="683622" y="4664001"/>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89CE289A-1D47-99E4-A549-84FF8BC79520}"/>
                </a:ext>
              </a:extLst>
            </p:cNvPr>
            <p:cNvCxnSpPr/>
            <p:nvPr/>
          </p:nvCxnSpPr>
          <p:spPr>
            <a:xfrm>
              <a:off x="683622" y="5021614"/>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3D83069-F220-4429-ED3F-640E2935F801}"/>
                </a:ext>
              </a:extLst>
            </p:cNvPr>
            <p:cNvCxnSpPr/>
            <p:nvPr/>
          </p:nvCxnSpPr>
          <p:spPr>
            <a:xfrm>
              <a:off x="696683" y="5405350"/>
              <a:ext cx="0" cy="13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7" name="矩形 86">
            <a:extLst>
              <a:ext uri="{FF2B5EF4-FFF2-40B4-BE49-F238E27FC236}">
                <a16:creationId xmlns:a16="http://schemas.microsoft.com/office/drawing/2014/main" id="{54EB67F6-B27D-6C31-633E-E4221FB5586A}"/>
              </a:ext>
            </a:extLst>
          </p:cNvPr>
          <p:cNvSpPr/>
          <p:nvPr/>
        </p:nvSpPr>
        <p:spPr>
          <a:xfrm>
            <a:off x="858004" y="2562273"/>
            <a:ext cx="5867312" cy="369332"/>
          </a:xfrm>
          <a:prstGeom prst="rect">
            <a:avLst/>
          </a:prstGeom>
        </p:spPr>
        <p:txBody>
          <a:bodyPr wrap="none">
            <a:spAutoFit/>
          </a:bodyPr>
          <a:lstStyle/>
          <a:p>
            <a:r>
              <a:rPr lang="en-US" altLang="zh-CN" dirty="0">
                <a:latin typeface="微软雅黑" pitchFamily="34" charset="-122"/>
                <a:ea typeface="微软雅黑" pitchFamily="34" charset="-122"/>
                <a:cs typeface="经典粗黑简" pitchFamily="49" charset="-122"/>
              </a:rPr>
              <a:t>Ⅰ</a:t>
            </a:r>
            <a:r>
              <a:rPr lang="zh-CN" altLang="en-US" dirty="0">
                <a:latin typeface="微软雅黑" pitchFamily="34" charset="-122"/>
                <a:ea typeface="微软雅黑" pitchFamily="34" charset="-122"/>
                <a:cs typeface="经典粗黑简" pitchFamily="49" charset="-122"/>
              </a:rPr>
              <a:t>、线性结构（</a:t>
            </a:r>
            <a:r>
              <a:rPr lang="en-US" altLang="zh-CN" dirty="0">
                <a:latin typeface="微软雅黑" pitchFamily="34" charset="-122"/>
                <a:ea typeface="微软雅黑" pitchFamily="34" charset="-122"/>
                <a:cs typeface="经典粗黑简" pitchFamily="49" charset="-122"/>
              </a:rPr>
              <a:t>List</a:t>
            </a:r>
            <a:r>
              <a:rPr lang="zh-CN" altLang="en-US" dirty="0">
                <a:latin typeface="微软雅黑" pitchFamily="34" charset="-122"/>
                <a:ea typeface="微软雅黑" pitchFamily="34" charset="-122"/>
                <a:cs typeface="经典粗黑简" pitchFamily="49" charset="-122"/>
              </a:rPr>
              <a:t>）：数据元素之间是一对一的关系；</a:t>
            </a:r>
          </a:p>
        </p:txBody>
      </p:sp>
      <p:sp>
        <p:nvSpPr>
          <p:cNvPr id="88" name="矩形 87">
            <a:extLst>
              <a:ext uri="{FF2B5EF4-FFF2-40B4-BE49-F238E27FC236}">
                <a16:creationId xmlns:a16="http://schemas.microsoft.com/office/drawing/2014/main" id="{7CBB0D49-1587-69E5-A907-08B210C172DF}"/>
              </a:ext>
            </a:extLst>
          </p:cNvPr>
          <p:cNvSpPr/>
          <p:nvPr/>
        </p:nvSpPr>
        <p:spPr>
          <a:xfrm>
            <a:off x="858004" y="3381906"/>
            <a:ext cx="6096000" cy="646331"/>
          </a:xfrm>
          <a:prstGeom prst="rect">
            <a:avLst/>
          </a:prstGeom>
        </p:spPr>
        <p:txBody>
          <a:bodyPr>
            <a:spAutoFit/>
          </a:bodyPr>
          <a:lstStyle/>
          <a:p>
            <a:r>
              <a:rPr lang="en-US" altLang="zh-CN" dirty="0">
                <a:latin typeface="微软雅黑" pitchFamily="34" charset="-122"/>
                <a:ea typeface="微软雅黑" pitchFamily="34" charset="-122"/>
                <a:cs typeface="经典粗黑简" pitchFamily="49" charset="-122"/>
              </a:rPr>
              <a:t>Ⅲ</a:t>
            </a:r>
            <a:r>
              <a:rPr lang="zh-CN" altLang="en-US" dirty="0">
                <a:latin typeface="微软雅黑" pitchFamily="34" charset="-122"/>
                <a:ea typeface="微软雅黑" pitchFamily="34" charset="-122"/>
                <a:cs typeface="经典粗黑简" pitchFamily="49" charset="-122"/>
              </a:rPr>
              <a:t>、图形结构</a:t>
            </a:r>
            <a:r>
              <a:rPr lang="zh-CN" altLang="en-US" dirty="0">
                <a:latin typeface="微软雅黑" pitchFamily="34" charset="-122"/>
                <a:ea typeface="微软雅黑" pitchFamily="34" charset="-122"/>
                <a:cs typeface="经典粗黑简" pitchFamily="49" charset="-122"/>
                <a:sym typeface="Wingdings" pitchFamily="2" charset="2"/>
              </a:rPr>
              <a:t>（</a:t>
            </a:r>
            <a:r>
              <a:rPr lang="en-US" altLang="zh-CN" dirty="0">
                <a:latin typeface="微软雅黑" pitchFamily="34" charset="-122"/>
                <a:ea typeface="微软雅黑" pitchFamily="34" charset="-122"/>
                <a:cs typeface="经典粗黑简" pitchFamily="49" charset="-122"/>
                <a:sym typeface="Wingdings" pitchFamily="2" charset="2"/>
              </a:rPr>
              <a:t>Graph</a:t>
            </a:r>
            <a:r>
              <a:rPr lang="zh-CN" altLang="en-US" dirty="0">
                <a:latin typeface="微软雅黑" pitchFamily="34" charset="-122"/>
                <a:ea typeface="微软雅黑" pitchFamily="34" charset="-122"/>
                <a:cs typeface="经典粗黑简" pitchFamily="49" charset="-122"/>
                <a:sym typeface="Wingdings" pitchFamily="2" charset="2"/>
              </a:rPr>
              <a:t>）：</a:t>
            </a:r>
            <a:r>
              <a:rPr lang="zh-CN" altLang="en-US" dirty="0">
                <a:latin typeface="微软雅黑" pitchFamily="34" charset="-122"/>
                <a:ea typeface="微软雅黑" pitchFamily="34" charset="-122"/>
                <a:cs typeface="经典粗黑简" pitchFamily="49" charset="-122"/>
              </a:rPr>
              <a:t>数据元素之间是多对多的关系（有的地方称为网状结构）；</a:t>
            </a:r>
          </a:p>
        </p:txBody>
      </p:sp>
      <p:sp>
        <p:nvSpPr>
          <p:cNvPr id="89" name="矩形 88">
            <a:extLst>
              <a:ext uri="{FF2B5EF4-FFF2-40B4-BE49-F238E27FC236}">
                <a16:creationId xmlns:a16="http://schemas.microsoft.com/office/drawing/2014/main" id="{D5F1FEC3-4247-F7B2-3AAD-9A9246E5E16E}"/>
              </a:ext>
            </a:extLst>
          </p:cNvPr>
          <p:cNvSpPr/>
          <p:nvPr/>
        </p:nvSpPr>
        <p:spPr>
          <a:xfrm>
            <a:off x="858004" y="3999472"/>
            <a:ext cx="5152373" cy="369332"/>
          </a:xfrm>
          <a:prstGeom prst="rect">
            <a:avLst/>
          </a:prstGeom>
        </p:spPr>
        <p:txBody>
          <a:bodyPr wrap="none">
            <a:spAutoFit/>
          </a:bodyPr>
          <a:lstStyle/>
          <a:p>
            <a:r>
              <a:rPr lang="en-US" altLang="zh-CN" dirty="0">
                <a:latin typeface="微软雅黑" pitchFamily="34" charset="-122"/>
                <a:ea typeface="微软雅黑" pitchFamily="34" charset="-122"/>
                <a:cs typeface="经典粗黑简" pitchFamily="49" charset="-122"/>
              </a:rPr>
              <a:t>Ⅵ</a:t>
            </a:r>
            <a:r>
              <a:rPr lang="zh-CN" altLang="en-US" dirty="0">
                <a:latin typeface="微软雅黑" pitchFamily="34" charset="-122"/>
                <a:ea typeface="微软雅黑" pitchFamily="34" charset="-122"/>
                <a:cs typeface="经典粗黑简" pitchFamily="49" charset="-122"/>
              </a:rPr>
              <a:t>、集合（</a:t>
            </a:r>
            <a:r>
              <a:rPr lang="en-US" altLang="zh-CN" dirty="0">
                <a:latin typeface="微软雅黑" pitchFamily="34" charset="-122"/>
                <a:ea typeface="微软雅黑" pitchFamily="34" charset="-122"/>
                <a:cs typeface="经典粗黑简" pitchFamily="49" charset="-122"/>
              </a:rPr>
              <a:t>Set</a:t>
            </a:r>
            <a:r>
              <a:rPr lang="zh-CN" altLang="en-US" dirty="0">
                <a:latin typeface="微软雅黑" pitchFamily="34" charset="-122"/>
                <a:ea typeface="微软雅黑" pitchFamily="34" charset="-122"/>
                <a:cs typeface="经典粗黑简" pitchFamily="49" charset="-122"/>
              </a:rPr>
              <a:t>）：数据元素之间是松散的关系。</a:t>
            </a:r>
          </a:p>
        </p:txBody>
      </p:sp>
      <p:grpSp>
        <p:nvGrpSpPr>
          <p:cNvPr id="90" name="Group 9">
            <a:extLst>
              <a:ext uri="{FF2B5EF4-FFF2-40B4-BE49-F238E27FC236}">
                <a16:creationId xmlns:a16="http://schemas.microsoft.com/office/drawing/2014/main" id="{11A01936-87C6-91EC-4B7B-751ED523A448}"/>
              </a:ext>
            </a:extLst>
          </p:cNvPr>
          <p:cNvGrpSpPr>
            <a:grpSpLocks/>
          </p:cNvGrpSpPr>
          <p:nvPr/>
        </p:nvGrpSpPr>
        <p:grpSpPr bwMode="auto">
          <a:xfrm>
            <a:off x="7179958" y="2871160"/>
            <a:ext cx="1404256" cy="426235"/>
            <a:chOff x="3198" y="2704"/>
            <a:chExt cx="1451" cy="1180"/>
          </a:xfrm>
        </p:grpSpPr>
        <p:sp>
          <p:nvSpPr>
            <p:cNvPr id="91" name="Oval 10">
              <a:extLst>
                <a:ext uri="{FF2B5EF4-FFF2-40B4-BE49-F238E27FC236}">
                  <a16:creationId xmlns:a16="http://schemas.microsoft.com/office/drawing/2014/main" id="{E1F22B4F-5B68-056E-A3C2-60AD86701D1E}"/>
                </a:ext>
              </a:extLst>
            </p:cNvPr>
            <p:cNvSpPr>
              <a:spLocks noChangeArrowheads="1"/>
            </p:cNvSpPr>
            <p:nvPr/>
          </p:nvSpPr>
          <p:spPr bwMode="auto">
            <a:xfrm>
              <a:off x="3923" y="270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 name="Oval 11">
              <a:extLst>
                <a:ext uri="{FF2B5EF4-FFF2-40B4-BE49-F238E27FC236}">
                  <a16:creationId xmlns:a16="http://schemas.microsoft.com/office/drawing/2014/main" id="{86F8AD0D-7722-200D-5AAF-6AA07E68E77C}"/>
                </a:ext>
              </a:extLst>
            </p:cNvPr>
            <p:cNvSpPr>
              <a:spLocks noChangeArrowheads="1"/>
            </p:cNvSpPr>
            <p:nvPr/>
          </p:nvSpPr>
          <p:spPr bwMode="auto">
            <a:xfrm>
              <a:off x="3560" y="3022"/>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3" name="Oval 12">
              <a:extLst>
                <a:ext uri="{FF2B5EF4-FFF2-40B4-BE49-F238E27FC236}">
                  <a16:creationId xmlns:a16="http://schemas.microsoft.com/office/drawing/2014/main" id="{918D7218-D2B2-E3CC-9DD3-6CDDD848666D}"/>
                </a:ext>
              </a:extLst>
            </p:cNvPr>
            <p:cNvSpPr>
              <a:spLocks noChangeArrowheads="1"/>
            </p:cNvSpPr>
            <p:nvPr/>
          </p:nvSpPr>
          <p:spPr bwMode="auto">
            <a:xfrm>
              <a:off x="4332" y="3022"/>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4" name="Oval 13">
              <a:extLst>
                <a:ext uri="{FF2B5EF4-FFF2-40B4-BE49-F238E27FC236}">
                  <a16:creationId xmlns:a16="http://schemas.microsoft.com/office/drawing/2014/main" id="{41950AFF-ED1F-BB33-4C08-A282959FF2A7}"/>
                </a:ext>
              </a:extLst>
            </p:cNvPr>
            <p:cNvSpPr>
              <a:spLocks noChangeArrowheads="1"/>
            </p:cNvSpPr>
            <p:nvPr/>
          </p:nvSpPr>
          <p:spPr bwMode="auto">
            <a:xfrm>
              <a:off x="3198" y="338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5" name="Oval 14">
              <a:extLst>
                <a:ext uri="{FF2B5EF4-FFF2-40B4-BE49-F238E27FC236}">
                  <a16:creationId xmlns:a16="http://schemas.microsoft.com/office/drawing/2014/main" id="{133DE255-7CAA-2148-2C8E-6DCEC7598EDE}"/>
                </a:ext>
              </a:extLst>
            </p:cNvPr>
            <p:cNvSpPr>
              <a:spLocks noChangeArrowheads="1"/>
            </p:cNvSpPr>
            <p:nvPr/>
          </p:nvSpPr>
          <p:spPr bwMode="auto">
            <a:xfrm>
              <a:off x="3560" y="338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96" name="Oval 15">
              <a:extLst>
                <a:ext uri="{FF2B5EF4-FFF2-40B4-BE49-F238E27FC236}">
                  <a16:creationId xmlns:a16="http://schemas.microsoft.com/office/drawing/2014/main" id="{055D3651-7A0D-14A8-F763-C27C7836BC90}"/>
                </a:ext>
              </a:extLst>
            </p:cNvPr>
            <p:cNvSpPr>
              <a:spLocks noChangeArrowheads="1"/>
            </p:cNvSpPr>
            <p:nvPr/>
          </p:nvSpPr>
          <p:spPr bwMode="auto">
            <a:xfrm>
              <a:off x="4241" y="338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7" name="Oval 16">
              <a:extLst>
                <a:ext uri="{FF2B5EF4-FFF2-40B4-BE49-F238E27FC236}">
                  <a16:creationId xmlns:a16="http://schemas.microsoft.com/office/drawing/2014/main" id="{E37AABF5-CA7B-0389-DE63-E96BCE18DF55}"/>
                </a:ext>
              </a:extLst>
            </p:cNvPr>
            <p:cNvSpPr>
              <a:spLocks noChangeArrowheads="1"/>
            </p:cNvSpPr>
            <p:nvPr/>
          </p:nvSpPr>
          <p:spPr bwMode="auto">
            <a:xfrm>
              <a:off x="4513" y="3339"/>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8" name="Oval 17">
              <a:extLst>
                <a:ext uri="{FF2B5EF4-FFF2-40B4-BE49-F238E27FC236}">
                  <a16:creationId xmlns:a16="http://schemas.microsoft.com/office/drawing/2014/main" id="{3355DE9D-8EDD-5147-CC2F-3FF90EAB6DB3}"/>
                </a:ext>
              </a:extLst>
            </p:cNvPr>
            <p:cNvSpPr>
              <a:spLocks noChangeArrowheads="1"/>
            </p:cNvSpPr>
            <p:nvPr/>
          </p:nvSpPr>
          <p:spPr bwMode="auto">
            <a:xfrm>
              <a:off x="3560" y="3748"/>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99" name="Oval 18">
              <a:extLst>
                <a:ext uri="{FF2B5EF4-FFF2-40B4-BE49-F238E27FC236}">
                  <a16:creationId xmlns:a16="http://schemas.microsoft.com/office/drawing/2014/main" id="{E37FB46E-BA41-4BCB-3B91-4739B003A529}"/>
                </a:ext>
              </a:extLst>
            </p:cNvPr>
            <p:cNvSpPr>
              <a:spLocks noChangeArrowheads="1"/>
            </p:cNvSpPr>
            <p:nvPr/>
          </p:nvSpPr>
          <p:spPr bwMode="auto">
            <a:xfrm>
              <a:off x="3878" y="338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en-US">
                <a:latin typeface="Tahoma" pitchFamily="34" charset="0"/>
              </a:endParaRPr>
            </a:p>
          </p:txBody>
        </p:sp>
        <p:sp>
          <p:nvSpPr>
            <p:cNvPr id="100" name="Line 19">
              <a:extLst>
                <a:ext uri="{FF2B5EF4-FFF2-40B4-BE49-F238E27FC236}">
                  <a16:creationId xmlns:a16="http://schemas.microsoft.com/office/drawing/2014/main" id="{991C632E-789F-BB8F-7D17-97FE35891461}"/>
                </a:ext>
              </a:extLst>
            </p:cNvPr>
            <p:cNvSpPr>
              <a:spLocks noChangeShapeType="1"/>
            </p:cNvSpPr>
            <p:nvPr/>
          </p:nvSpPr>
          <p:spPr bwMode="auto">
            <a:xfrm>
              <a:off x="4059" y="2795"/>
              <a:ext cx="318"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20">
              <a:extLst>
                <a:ext uri="{FF2B5EF4-FFF2-40B4-BE49-F238E27FC236}">
                  <a16:creationId xmlns:a16="http://schemas.microsoft.com/office/drawing/2014/main" id="{93B6AF70-B819-C465-6C06-B302BE52D8D6}"/>
                </a:ext>
              </a:extLst>
            </p:cNvPr>
            <p:cNvSpPr>
              <a:spLocks noChangeShapeType="1"/>
            </p:cNvSpPr>
            <p:nvPr/>
          </p:nvSpPr>
          <p:spPr bwMode="auto">
            <a:xfrm flipV="1">
              <a:off x="4286" y="3158"/>
              <a:ext cx="91"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21">
              <a:extLst>
                <a:ext uri="{FF2B5EF4-FFF2-40B4-BE49-F238E27FC236}">
                  <a16:creationId xmlns:a16="http://schemas.microsoft.com/office/drawing/2014/main" id="{52780FE9-1148-4ADF-EDB8-E4A2A222FDDB}"/>
                </a:ext>
              </a:extLst>
            </p:cNvPr>
            <p:cNvSpPr>
              <a:spLocks noChangeShapeType="1"/>
            </p:cNvSpPr>
            <p:nvPr/>
          </p:nvSpPr>
          <p:spPr bwMode="auto">
            <a:xfrm>
              <a:off x="4422" y="3158"/>
              <a:ext cx="182"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22">
              <a:extLst>
                <a:ext uri="{FF2B5EF4-FFF2-40B4-BE49-F238E27FC236}">
                  <a16:creationId xmlns:a16="http://schemas.microsoft.com/office/drawing/2014/main" id="{91EC81EE-F9A9-27CD-ADCA-CCC7976D0CAB}"/>
                </a:ext>
              </a:extLst>
            </p:cNvPr>
            <p:cNvSpPr>
              <a:spLocks noChangeShapeType="1"/>
            </p:cNvSpPr>
            <p:nvPr/>
          </p:nvSpPr>
          <p:spPr bwMode="auto">
            <a:xfrm>
              <a:off x="3696" y="3113"/>
              <a:ext cx="273"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23">
              <a:extLst>
                <a:ext uri="{FF2B5EF4-FFF2-40B4-BE49-F238E27FC236}">
                  <a16:creationId xmlns:a16="http://schemas.microsoft.com/office/drawing/2014/main" id="{AA6FAE45-B830-15D8-A2EE-F16E8E9CED40}"/>
                </a:ext>
              </a:extLst>
            </p:cNvPr>
            <p:cNvSpPr>
              <a:spLocks noChangeShapeType="1"/>
            </p:cNvSpPr>
            <p:nvPr/>
          </p:nvSpPr>
          <p:spPr bwMode="auto">
            <a:xfrm>
              <a:off x="3651" y="3521"/>
              <a:ext cx="0"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24">
              <a:extLst>
                <a:ext uri="{FF2B5EF4-FFF2-40B4-BE49-F238E27FC236}">
                  <a16:creationId xmlns:a16="http://schemas.microsoft.com/office/drawing/2014/main" id="{AFBD7ACA-16C1-B184-05EF-76ED42A08459}"/>
                </a:ext>
              </a:extLst>
            </p:cNvPr>
            <p:cNvSpPr>
              <a:spLocks noChangeShapeType="1"/>
            </p:cNvSpPr>
            <p:nvPr/>
          </p:nvSpPr>
          <p:spPr bwMode="auto">
            <a:xfrm flipV="1">
              <a:off x="3243" y="3113"/>
              <a:ext cx="318" cy="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25">
              <a:extLst>
                <a:ext uri="{FF2B5EF4-FFF2-40B4-BE49-F238E27FC236}">
                  <a16:creationId xmlns:a16="http://schemas.microsoft.com/office/drawing/2014/main" id="{0BF766BD-73C8-E4D5-D894-FC2C43F1BE68}"/>
                </a:ext>
              </a:extLst>
            </p:cNvPr>
            <p:cNvSpPr>
              <a:spLocks noChangeShapeType="1"/>
            </p:cNvSpPr>
            <p:nvPr/>
          </p:nvSpPr>
          <p:spPr bwMode="auto">
            <a:xfrm flipH="1">
              <a:off x="3606" y="3158"/>
              <a:ext cx="45"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26">
              <a:extLst>
                <a:ext uri="{FF2B5EF4-FFF2-40B4-BE49-F238E27FC236}">
                  <a16:creationId xmlns:a16="http://schemas.microsoft.com/office/drawing/2014/main" id="{32FAFB7E-54C8-3E11-58BD-BD3F48BF334B}"/>
                </a:ext>
              </a:extLst>
            </p:cNvPr>
            <p:cNvSpPr>
              <a:spLocks noChangeShapeType="1"/>
            </p:cNvSpPr>
            <p:nvPr/>
          </p:nvSpPr>
          <p:spPr bwMode="auto">
            <a:xfrm flipH="1">
              <a:off x="3651" y="2795"/>
              <a:ext cx="273"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8" name="Group 9">
            <a:extLst>
              <a:ext uri="{FF2B5EF4-FFF2-40B4-BE49-F238E27FC236}">
                <a16:creationId xmlns:a16="http://schemas.microsoft.com/office/drawing/2014/main" id="{0203767B-7BED-ABB4-E03C-758EB01C2D5C}"/>
              </a:ext>
            </a:extLst>
          </p:cNvPr>
          <p:cNvGrpSpPr>
            <a:grpSpLocks/>
          </p:cNvGrpSpPr>
          <p:nvPr/>
        </p:nvGrpSpPr>
        <p:grpSpPr bwMode="auto">
          <a:xfrm>
            <a:off x="7133176" y="3297395"/>
            <a:ext cx="1624811" cy="451073"/>
            <a:chOff x="385" y="2704"/>
            <a:chExt cx="1542" cy="953"/>
          </a:xfrm>
        </p:grpSpPr>
        <p:sp>
          <p:nvSpPr>
            <p:cNvPr id="109" name="Oval 10">
              <a:extLst>
                <a:ext uri="{FF2B5EF4-FFF2-40B4-BE49-F238E27FC236}">
                  <a16:creationId xmlns:a16="http://schemas.microsoft.com/office/drawing/2014/main" id="{79ECA2CC-18B6-A60B-F040-07FB337FD536}"/>
                </a:ext>
              </a:extLst>
            </p:cNvPr>
            <p:cNvSpPr>
              <a:spLocks noChangeArrowheads="1"/>
            </p:cNvSpPr>
            <p:nvPr/>
          </p:nvSpPr>
          <p:spPr bwMode="auto">
            <a:xfrm>
              <a:off x="431" y="279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0" name="Oval 11">
              <a:extLst>
                <a:ext uri="{FF2B5EF4-FFF2-40B4-BE49-F238E27FC236}">
                  <a16:creationId xmlns:a16="http://schemas.microsoft.com/office/drawing/2014/main" id="{723726C8-DE80-E453-D70A-D0337B73A9F3}"/>
                </a:ext>
              </a:extLst>
            </p:cNvPr>
            <p:cNvSpPr>
              <a:spLocks noChangeArrowheads="1"/>
            </p:cNvSpPr>
            <p:nvPr/>
          </p:nvSpPr>
          <p:spPr bwMode="auto">
            <a:xfrm>
              <a:off x="1292" y="2795"/>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1" name="Oval 12">
              <a:extLst>
                <a:ext uri="{FF2B5EF4-FFF2-40B4-BE49-F238E27FC236}">
                  <a16:creationId xmlns:a16="http://schemas.microsoft.com/office/drawing/2014/main" id="{8A855BCF-1248-79DB-2297-014413680712}"/>
                </a:ext>
              </a:extLst>
            </p:cNvPr>
            <p:cNvSpPr>
              <a:spLocks noChangeArrowheads="1"/>
            </p:cNvSpPr>
            <p:nvPr/>
          </p:nvSpPr>
          <p:spPr bwMode="auto">
            <a:xfrm>
              <a:off x="385" y="329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 name="Oval 13">
              <a:extLst>
                <a:ext uri="{FF2B5EF4-FFF2-40B4-BE49-F238E27FC236}">
                  <a16:creationId xmlns:a16="http://schemas.microsoft.com/office/drawing/2014/main" id="{176C1C72-0CE8-BABA-AFE7-E5A0084A82D2}"/>
                </a:ext>
              </a:extLst>
            </p:cNvPr>
            <p:cNvSpPr>
              <a:spLocks noChangeArrowheads="1"/>
            </p:cNvSpPr>
            <p:nvPr/>
          </p:nvSpPr>
          <p:spPr bwMode="auto">
            <a:xfrm>
              <a:off x="884" y="2976"/>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 name="Oval 14">
              <a:extLst>
                <a:ext uri="{FF2B5EF4-FFF2-40B4-BE49-F238E27FC236}">
                  <a16:creationId xmlns:a16="http://schemas.microsoft.com/office/drawing/2014/main" id="{4980E56D-E3E5-E97E-7B0B-C3FC906BA141}"/>
                </a:ext>
              </a:extLst>
            </p:cNvPr>
            <p:cNvSpPr>
              <a:spLocks noChangeArrowheads="1"/>
            </p:cNvSpPr>
            <p:nvPr/>
          </p:nvSpPr>
          <p:spPr bwMode="auto">
            <a:xfrm>
              <a:off x="1474" y="3249"/>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4" name="Oval 15">
              <a:extLst>
                <a:ext uri="{FF2B5EF4-FFF2-40B4-BE49-F238E27FC236}">
                  <a16:creationId xmlns:a16="http://schemas.microsoft.com/office/drawing/2014/main" id="{1450E97A-2F53-E3C2-0F8B-523CFAE4A0BC}"/>
                </a:ext>
              </a:extLst>
            </p:cNvPr>
            <p:cNvSpPr>
              <a:spLocks noChangeArrowheads="1"/>
            </p:cNvSpPr>
            <p:nvPr/>
          </p:nvSpPr>
          <p:spPr bwMode="auto">
            <a:xfrm>
              <a:off x="839" y="3521"/>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 name="Oval 16">
              <a:extLst>
                <a:ext uri="{FF2B5EF4-FFF2-40B4-BE49-F238E27FC236}">
                  <a16:creationId xmlns:a16="http://schemas.microsoft.com/office/drawing/2014/main" id="{5C91C202-599A-2AAF-5855-28E90DC10DA8}"/>
                </a:ext>
              </a:extLst>
            </p:cNvPr>
            <p:cNvSpPr>
              <a:spLocks noChangeArrowheads="1"/>
            </p:cNvSpPr>
            <p:nvPr/>
          </p:nvSpPr>
          <p:spPr bwMode="auto">
            <a:xfrm>
              <a:off x="1791" y="2704"/>
              <a:ext cx="136" cy="1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6" name="Line 17">
              <a:extLst>
                <a:ext uri="{FF2B5EF4-FFF2-40B4-BE49-F238E27FC236}">
                  <a16:creationId xmlns:a16="http://schemas.microsoft.com/office/drawing/2014/main" id="{557D60A7-F467-E20F-49C1-9D64E2EFD7A5}"/>
                </a:ext>
              </a:extLst>
            </p:cNvPr>
            <p:cNvSpPr>
              <a:spLocks noChangeShapeType="1"/>
            </p:cNvSpPr>
            <p:nvPr/>
          </p:nvSpPr>
          <p:spPr bwMode="auto">
            <a:xfrm>
              <a:off x="567" y="2886"/>
              <a:ext cx="317"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18">
              <a:extLst>
                <a:ext uri="{FF2B5EF4-FFF2-40B4-BE49-F238E27FC236}">
                  <a16:creationId xmlns:a16="http://schemas.microsoft.com/office/drawing/2014/main" id="{54F1A437-35B1-78E9-BBA4-D4EF550F29FF}"/>
                </a:ext>
              </a:extLst>
            </p:cNvPr>
            <p:cNvSpPr>
              <a:spLocks noChangeShapeType="1"/>
            </p:cNvSpPr>
            <p:nvPr/>
          </p:nvSpPr>
          <p:spPr bwMode="auto">
            <a:xfrm flipV="1">
              <a:off x="975" y="3339"/>
              <a:ext cx="499"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19">
              <a:extLst>
                <a:ext uri="{FF2B5EF4-FFF2-40B4-BE49-F238E27FC236}">
                  <a16:creationId xmlns:a16="http://schemas.microsoft.com/office/drawing/2014/main" id="{EBE9E3E5-218F-305E-30E3-D383E9A4BE4F}"/>
                </a:ext>
              </a:extLst>
            </p:cNvPr>
            <p:cNvSpPr>
              <a:spLocks noChangeShapeType="1"/>
            </p:cNvSpPr>
            <p:nvPr/>
          </p:nvSpPr>
          <p:spPr bwMode="auto">
            <a:xfrm>
              <a:off x="521" y="2931"/>
              <a:ext cx="409" cy="59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20">
              <a:extLst>
                <a:ext uri="{FF2B5EF4-FFF2-40B4-BE49-F238E27FC236}">
                  <a16:creationId xmlns:a16="http://schemas.microsoft.com/office/drawing/2014/main" id="{8EF176C1-C52A-B126-9854-8118B1A8E669}"/>
                </a:ext>
              </a:extLst>
            </p:cNvPr>
            <p:cNvSpPr>
              <a:spLocks noChangeShapeType="1"/>
            </p:cNvSpPr>
            <p:nvPr/>
          </p:nvSpPr>
          <p:spPr bwMode="auto">
            <a:xfrm flipH="1">
              <a:off x="476" y="2931"/>
              <a:ext cx="0" cy="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 name="Line 21">
              <a:extLst>
                <a:ext uri="{FF2B5EF4-FFF2-40B4-BE49-F238E27FC236}">
                  <a16:creationId xmlns:a16="http://schemas.microsoft.com/office/drawing/2014/main" id="{C4A3EA84-B1F5-C13F-A8CB-62CF5B4CE3EB}"/>
                </a:ext>
              </a:extLst>
            </p:cNvPr>
            <p:cNvSpPr>
              <a:spLocks noChangeShapeType="1"/>
            </p:cNvSpPr>
            <p:nvPr/>
          </p:nvSpPr>
          <p:spPr bwMode="auto">
            <a:xfrm>
              <a:off x="521" y="3385"/>
              <a:ext cx="318"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 name="Line 22">
              <a:extLst>
                <a:ext uri="{FF2B5EF4-FFF2-40B4-BE49-F238E27FC236}">
                  <a16:creationId xmlns:a16="http://schemas.microsoft.com/office/drawing/2014/main" id="{51FBD5B2-8B7E-4CCA-0BBB-D26E00B031B6}"/>
                </a:ext>
              </a:extLst>
            </p:cNvPr>
            <p:cNvSpPr>
              <a:spLocks noChangeShapeType="1"/>
            </p:cNvSpPr>
            <p:nvPr/>
          </p:nvSpPr>
          <p:spPr bwMode="auto">
            <a:xfrm flipV="1">
              <a:off x="1429" y="2795"/>
              <a:ext cx="362" cy="4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Line 23">
              <a:extLst>
                <a:ext uri="{FF2B5EF4-FFF2-40B4-BE49-F238E27FC236}">
                  <a16:creationId xmlns:a16="http://schemas.microsoft.com/office/drawing/2014/main" id="{901B0F8E-4D03-965F-BE78-BFE391946D93}"/>
                </a:ext>
              </a:extLst>
            </p:cNvPr>
            <p:cNvSpPr>
              <a:spLocks noChangeShapeType="1"/>
            </p:cNvSpPr>
            <p:nvPr/>
          </p:nvSpPr>
          <p:spPr bwMode="auto">
            <a:xfrm>
              <a:off x="1429" y="2886"/>
              <a:ext cx="90" cy="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Line 24">
              <a:extLst>
                <a:ext uri="{FF2B5EF4-FFF2-40B4-BE49-F238E27FC236}">
                  <a16:creationId xmlns:a16="http://schemas.microsoft.com/office/drawing/2014/main" id="{55DC41EA-8026-19A5-AE34-C8A12CDD2C62}"/>
                </a:ext>
              </a:extLst>
            </p:cNvPr>
            <p:cNvSpPr>
              <a:spLocks noChangeShapeType="1"/>
            </p:cNvSpPr>
            <p:nvPr/>
          </p:nvSpPr>
          <p:spPr bwMode="auto">
            <a:xfrm>
              <a:off x="1020" y="3067"/>
              <a:ext cx="454" cy="2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4" name="Line 25">
              <a:extLst>
                <a:ext uri="{FF2B5EF4-FFF2-40B4-BE49-F238E27FC236}">
                  <a16:creationId xmlns:a16="http://schemas.microsoft.com/office/drawing/2014/main" id="{FA0B9090-9734-8983-C822-D51D68722F25}"/>
                </a:ext>
              </a:extLst>
            </p:cNvPr>
            <p:cNvSpPr>
              <a:spLocks noChangeShapeType="1"/>
            </p:cNvSpPr>
            <p:nvPr/>
          </p:nvSpPr>
          <p:spPr bwMode="auto">
            <a:xfrm flipV="1">
              <a:off x="1020" y="2886"/>
              <a:ext cx="272"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 name="Line 26">
              <a:extLst>
                <a:ext uri="{FF2B5EF4-FFF2-40B4-BE49-F238E27FC236}">
                  <a16:creationId xmlns:a16="http://schemas.microsoft.com/office/drawing/2014/main" id="{D8B6AB8C-0A3F-B23F-E056-C65E8A28C361}"/>
                </a:ext>
              </a:extLst>
            </p:cNvPr>
            <p:cNvSpPr>
              <a:spLocks noChangeShapeType="1"/>
            </p:cNvSpPr>
            <p:nvPr/>
          </p:nvSpPr>
          <p:spPr bwMode="auto">
            <a:xfrm flipV="1">
              <a:off x="1610" y="2840"/>
              <a:ext cx="227" cy="4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6" name="组合 125">
            <a:extLst>
              <a:ext uri="{FF2B5EF4-FFF2-40B4-BE49-F238E27FC236}">
                <a16:creationId xmlns:a16="http://schemas.microsoft.com/office/drawing/2014/main" id="{A5A3E207-DB89-500F-EF35-BD938BFF0575}"/>
              </a:ext>
            </a:extLst>
          </p:cNvPr>
          <p:cNvGrpSpPr/>
          <p:nvPr/>
        </p:nvGrpSpPr>
        <p:grpSpPr>
          <a:xfrm>
            <a:off x="7241320" y="3891460"/>
            <a:ext cx="1312364" cy="443945"/>
            <a:chOff x="8717635" y="5707941"/>
            <a:chExt cx="1487716" cy="702003"/>
          </a:xfrm>
        </p:grpSpPr>
        <p:sp>
          <p:nvSpPr>
            <p:cNvPr id="127" name="椭圆 126">
              <a:extLst>
                <a:ext uri="{FF2B5EF4-FFF2-40B4-BE49-F238E27FC236}">
                  <a16:creationId xmlns:a16="http://schemas.microsoft.com/office/drawing/2014/main" id="{43C9FF34-D1B6-F034-08B8-12263F203F4A}"/>
                </a:ext>
              </a:extLst>
            </p:cNvPr>
            <p:cNvSpPr/>
            <p:nvPr/>
          </p:nvSpPr>
          <p:spPr>
            <a:xfrm rot="16200000">
              <a:off x="8715704" y="5821484"/>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a:extLst>
                <a:ext uri="{FF2B5EF4-FFF2-40B4-BE49-F238E27FC236}">
                  <a16:creationId xmlns:a16="http://schemas.microsoft.com/office/drawing/2014/main" id="{78D12881-0530-8227-9D91-F11B14586504}"/>
                </a:ext>
              </a:extLst>
            </p:cNvPr>
            <p:cNvSpPr/>
            <p:nvPr/>
          </p:nvSpPr>
          <p:spPr>
            <a:xfrm rot="16200000">
              <a:off x="8924037" y="6046446"/>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a:extLst>
                <a:ext uri="{FF2B5EF4-FFF2-40B4-BE49-F238E27FC236}">
                  <a16:creationId xmlns:a16="http://schemas.microsoft.com/office/drawing/2014/main" id="{F0374689-122F-DDE7-244E-F080EFA3E966}"/>
                </a:ext>
              </a:extLst>
            </p:cNvPr>
            <p:cNvSpPr/>
            <p:nvPr/>
          </p:nvSpPr>
          <p:spPr>
            <a:xfrm rot="16200000">
              <a:off x="9130247" y="5819949"/>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1B766328-5525-D459-36A7-9EE34CE78430}"/>
                </a:ext>
              </a:extLst>
            </p:cNvPr>
            <p:cNvSpPr/>
            <p:nvPr/>
          </p:nvSpPr>
          <p:spPr>
            <a:xfrm rot="16200000">
              <a:off x="9436696" y="5709872"/>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a:extLst>
                <a:ext uri="{FF2B5EF4-FFF2-40B4-BE49-F238E27FC236}">
                  <a16:creationId xmlns:a16="http://schemas.microsoft.com/office/drawing/2014/main" id="{3BF5853A-C557-2F86-8184-B331D2580954}"/>
                </a:ext>
              </a:extLst>
            </p:cNvPr>
            <p:cNvSpPr/>
            <p:nvPr/>
          </p:nvSpPr>
          <p:spPr>
            <a:xfrm rot="16200000">
              <a:off x="9360133" y="5951564"/>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a:extLst>
                <a:ext uri="{FF2B5EF4-FFF2-40B4-BE49-F238E27FC236}">
                  <a16:creationId xmlns:a16="http://schemas.microsoft.com/office/drawing/2014/main" id="{9F6A2C95-7FB7-225F-84E4-EFF607E3641D}"/>
                </a:ext>
              </a:extLst>
            </p:cNvPr>
            <p:cNvSpPr/>
            <p:nvPr/>
          </p:nvSpPr>
          <p:spPr>
            <a:xfrm rot="16200000">
              <a:off x="9676857" y="5904013"/>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a:extLst>
                <a:ext uri="{FF2B5EF4-FFF2-40B4-BE49-F238E27FC236}">
                  <a16:creationId xmlns:a16="http://schemas.microsoft.com/office/drawing/2014/main" id="{99119493-5EA3-5C2F-1D86-38A7805D197D}"/>
                </a:ext>
              </a:extLst>
            </p:cNvPr>
            <p:cNvSpPr/>
            <p:nvPr/>
          </p:nvSpPr>
          <p:spPr>
            <a:xfrm rot="16200000">
              <a:off x="9192681" y="6191721"/>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a:extLst>
                <a:ext uri="{FF2B5EF4-FFF2-40B4-BE49-F238E27FC236}">
                  <a16:creationId xmlns:a16="http://schemas.microsoft.com/office/drawing/2014/main" id="{34004B6A-AA33-D9BF-4412-CF09420A4978}"/>
                </a:ext>
              </a:extLst>
            </p:cNvPr>
            <p:cNvSpPr/>
            <p:nvPr/>
          </p:nvSpPr>
          <p:spPr>
            <a:xfrm rot="16200000">
              <a:off x="9987128" y="5930026"/>
              <a:ext cx="220154" cy="21629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a:extLst>
              <a:ext uri="{FF2B5EF4-FFF2-40B4-BE49-F238E27FC236}">
                <a16:creationId xmlns:a16="http://schemas.microsoft.com/office/drawing/2014/main" id="{3B532ADD-A094-C677-A0C2-31C3E5477D6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AB8BF0FC-DC78-DB13-DF82-B857DFF62F8A}"/>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1.1.2 </a:t>
            </a:r>
            <a:r>
              <a:rPr lang="zh-CN" altLang="en-US" sz="2800" b="1" dirty="0">
                <a:solidFill>
                  <a:schemeClr val="bg1"/>
                </a:solidFill>
                <a:latin typeface="经典粗黑简" pitchFamily="49" charset="-122"/>
                <a:ea typeface="经典粗黑简" pitchFamily="49" charset="-122"/>
                <a:cs typeface="经典粗黑简" pitchFamily="49" charset="-122"/>
              </a:rPr>
              <a:t>数据的逻辑结构</a:t>
            </a:r>
          </a:p>
        </p:txBody>
      </p:sp>
      <p:sp>
        <p:nvSpPr>
          <p:cNvPr id="4" name="矩形 3">
            <a:extLst>
              <a:ext uri="{FF2B5EF4-FFF2-40B4-BE49-F238E27FC236}">
                <a16:creationId xmlns:a16="http://schemas.microsoft.com/office/drawing/2014/main" id="{FA5151F8-3749-8750-6FC9-F2FEC6A6177C}"/>
              </a:ext>
            </a:extLst>
          </p:cNvPr>
          <p:cNvSpPr/>
          <p:nvPr/>
        </p:nvSpPr>
        <p:spPr>
          <a:xfrm>
            <a:off x="1043608" y="1471252"/>
            <a:ext cx="3528392" cy="523220"/>
          </a:xfrm>
          <a:prstGeom prst="rect">
            <a:avLst/>
          </a:prstGeom>
        </p:spPr>
        <p:txBody>
          <a:bodyPr wrap="square">
            <a:spAutoFit/>
          </a:bodyPr>
          <a:lstStyle/>
          <a:p>
            <a:pPr marL="0" lvl="1"/>
            <a:r>
              <a:rPr lang="zh-CN" altLang="en-US" sz="2800" dirty="0">
                <a:latin typeface="黑体" pitchFamily="49" charset="-122"/>
                <a:ea typeface="黑体" pitchFamily="49" charset="-122"/>
              </a:rPr>
              <a:t>逻辑结构的类型</a:t>
            </a:r>
            <a:endParaRPr lang="en-US" altLang="zh-CN" sz="2800" dirty="0">
              <a:latin typeface="黑体" pitchFamily="49" charset="-122"/>
              <a:ea typeface="黑体" pitchFamily="49" charset="-122"/>
            </a:endParaRPr>
          </a:p>
        </p:txBody>
      </p:sp>
    </p:spTree>
    <p:extLst>
      <p:ext uri="{BB962C8B-B14F-4D97-AF65-F5344CB8AC3E}">
        <p14:creationId xmlns:p14="http://schemas.microsoft.com/office/powerpoint/2010/main" val="375585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6" grpId="0"/>
      <p:bldP spid="87" grpId="0"/>
      <p:bldP spid="88" grpId="0"/>
      <p:bldP spid="8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6E9E-E8F8-767A-E965-94DC59EFCFDC}"/>
            </a:ext>
          </a:extLst>
        </p:cNvPr>
        <p:cNvGrpSpPr/>
        <p:nvPr/>
      </p:nvGrpSpPr>
      <p:grpSpPr>
        <a:xfrm>
          <a:off x="0" y="0"/>
          <a:ext cx="0" cy="0"/>
          <a:chOff x="0" y="0"/>
          <a:chExt cx="0" cy="0"/>
        </a:xfrm>
      </p:grpSpPr>
      <p:cxnSp>
        <p:nvCxnSpPr>
          <p:cNvPr id="13" name="直接连接符 12">
            <a:extLst>
              <a:ext uri="{FF2B5EF4-FFF2-40B4-BE49-F238E27FC236}">
                <a16:creationId xmlns:a16="http://schemas.microsoft.com/office/drawing/2014/main" id="{D36A913A-0ACB-3906-F373-79988803D451}"/>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9CDFADD9-89A1-660E-6D49-3009A663D27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15" name="矩形 14">
            <a:extLst>
              <a:ext uri="{FF2B5EF4-FFF2-40B4-BE49-F238E27FC236}">
                <a16:creationId xmlns:a16="http://schemas.microsoft.com/office/drawing/2014/main" id="{3FF8F390-A338-6D8C-0329-E50F6A0C8E10}"/>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1.1.3 </a:t>
            </a:r>
            <a:r>
              <a:rPr lang="zh-CN" altLang="en-US" sz="2800" b="1" dirty="0">
                <a:solidFill>
                  <a:schemeClr val="bg1"/>
                </a:solidFill>
                <a:latin typeface="经典粗黑简" pitchFamily="49" charset="-122"/>
                <a:ea typeface="经典粗黑简" pitchFamily="49" charset="-122"/>
                <a:cs typeface="经典粗黑简" pitchFamily="49" charset="-122"/>
              </a:rPr>
              <a:t>数据的存储结构</a:t>
            </a:r>
          </a:p>
        </p:txBody>
      </p:sp>
      <p:sp>
        <p:nvSpPr>
          <p:cNvPr id="16" name="Rectangle 2"/>
          <p:cNvSpPr>
            <a:spLocks noChangeArrowheads="1"/>
          </p:cNvSpPr>
          <p:nvPr/>
        </p:nvSpPr>
        <p:spPr bwMode="auto">
          <a:xfrm>
            <a:off x="1043607" y="2721371"/>
            <a:ext cx="7344817" cy="637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zh-CN" altLang="en-US" sz="2000" dirty="0">
                <a:latin typeface="微软雅黑" pitchFamily="34" charset="-122"/>
                <a:ea typeface="微软雅黑" pitchFamily="34" charset="-122"/>
                <a:cs typeface="经典粗黑简" pitchFamily="49" charset="-122"/>
              </a:rPr>
              <a:t>数据元素之间的存储结构 (</a:t>
            </a:r>
            <a:r>
              <a:rPr lang="zh-CN" altLang="en-US" sz="2000" dirty="0">
                <a:solidFill>
                  <a:srgbClr val="FF0000"/>
                </a:solidFill>
                <a:latin typeface="微软雅黑" pitchFamily="34" charset="-122"/>
                <a:ea typeface="微软雅黑" pitchFamily="34" charset="-122"/>
                <a:cs typeface="经典粗黑简" pitchFamily="49" charset="-122"/>
              </a:rPr>
              <a:t>物理结构</a:t>
            </a:r>
            <a:r>
              <a:rPr lang="zh-CN" altLang="en-US" sz="2000" dirty="0">
                <a:latin typeface="微软雅黑" pitchFamily="34" charset="-122"/>
                <a:ea typeface="微软雅黑" pitchFamily="34" charset="-122"/>
                <a:cs typeface="经典粗黑简" pitchFamily="49" charset="-122"/>
              </a:rPr>
              <a:t>)：</a:t>
            </a:r>
            <a:r>
              <a:rPr lang="zh-CN" altLang="en-US" sz="2000" dirty="0">
                <a:solidFill>
                  <a:srgbClr val="FF0000"/>
                </a:solidFill>
                <a:latin typeface="微软雅黑" pitchFamily="34" charset="-122"/>
                <a:ea typeface="微软雅黑" pitchFamily="34" charset="-122"/>
                <a:cs typeface="经典粗黑简" pitchFamily="49" charset="-122"/>
              </a:rPr>
              <a:t>数据元素</a:t>
            </a:r>
            <a:r>
              <a:rPr lang="zh-CN" altLang="en-US" sz="2000" dirty="0">
                <a:latin typeface="微软雅黑" pitchFamily="34" charset="-122"/>
                <a:ea typeface="微软雅黑" pitchFamily="34" charset="-122"/>
                <a:cs typeface="经典粗黑简" pitchFamily="49" charset="-122"/>
              </a:rPr>
              <a:t>及其</a:t>
            </a:r>
            <a:r>
              <a:rPr lang="zh-CN" altLang="en-US" sz="2000" dirty="0">
                <a:solidFill>
                  <a:srgbClr val="FF0000"/>
                </a:solidFill>
                <a:latin typeface="微软雅黑" pitchFamily="34" charset="-122"/>
                <a:ea typeface="微软雅黑" pitchFamily="34" charset="-122"/>
                <a:cs typeface="经典粗黑简" pitchFamily="49" charset="-122"/>
              </a:rPr>
              <a:t>关系</a:t>
            </a:r>
            <a:r>
              <a:rPr lang="zh-CN" altLang="en-US" sz="2000" dirty="0">
                <a:latin typeface="微软雅黑" pitchFamily="34" charset="-122"/>
                <a:ea typeface="微软雅黑" pitchFamily="34" charset="-122"/>
                <a:cs typeface="经典粗黑简" pitchFamily="49" charset="-122"/>
              </a:rPr>
              <a:t>在计算机存储器的表示和实现（又称为映像）。</a:t>
            </a:r>
          </a:p>
        </p:txBody>
      </p:sp>
      <p:sp>
        <p:nvSpPr>
          <p:cNvPr id="17" name="矩形 16"/>
          <p:cNvSpPr/>
          <p:nvPr/>
        </p:nvSpPr>
        <p:spPr>
          <a:xfrm>
            <a:off x="1043608" y="1863864"/>
            <a:ext cx="7344816" cy="707886"/>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数据元素之间的关系，称为数据元素之间的</a:t>
            </a:r>
            <a:r>
              <a:rPr lang="zh-CN" altLang="en-US" sz="2000" dirty="0">
                <a:solidFill>
                  <a:srgbClr val="FF0000"/>
                </a:solidFill>
                <a:latin typeface="微软雅黑" pitchFamily="34" charset="-122"/>
                <a:ea typeface="微软雅黑" pitchFamily="34" charset="-122"/>
                <a:cs typeface="经典粗黑简" pitchFamily="49" charset="-122"/>
              </a:rPr>
              <a:t>逻辑结构</a:t>
            </a:r>
            <a:r>
              <a:rPr lang="zh-CN" altLang="en-US" sz="2000" dirty="0">
                <a:latin typeface="微软雅黑" pitchFamily="34" charset="-122"/>
                <a:ea typeface="微软雅黑" pitchFamily="34" charset="-122"/>
                <a:cs typeface="经典粗黑简" pitchFamily="49" charset="-122"/>
              </a:rPr>
              <a:t>，它在计算机中的表示和实现称为存储结构（</a:t>
            </a:r>
            <a:r>
              <a:rPr lang="zh-CN" altLang="en-US" sz="2000" dirty="0">
                <a:solidFill>
                  <a:srgbClr val="FF0000"/>
                </a:solidFill>
                <a:latin typeface="微软雅黑" pitchFamily="34" charset="-122"/>
                <a:ea typeface="微软雅黑" pitchFamily="34" charset="-122"/>
                <a:cs typeface="经典粗黑简" pitchFamily="49" charset="-122"/>
              </a:rPr>
              <a:t>物理结构</a:t>
            </a:r>
            <a:r>
              <a:rPr lang="zh-CN" altLang="en-US" sz="2000" dirty="0">
                <a:latin typeface="微软雅黑" pitchFamily="34" charset="-122"/>
                <a:ea typeface="微软雅黑" pitchFamily="34" charset="-122"/>
                <a:cs typeface="经典粗黑简" pitchFamily="49" charset="-122"/>
              </a:rPr>
              <a:t>）。</a:t>
            </a:r>
          </a:p>
        </p:txBody>
      </p:sp>
      <p:sp>
        <p:nvSpPr>
          <p:cNvPr id="18" name="矩形 17"/>
          <p:cNvSpPr/>
          <p:nvPr/>
        </p:nvSpPr>
        <p:spPr>
          <a:xfrm>
            <a:off x="1043608" y="3508448"/>
            <a:ext cx="7549794" cy="707886"/>
          </a:xfrm>
          <a:prstGeom prst="rect">
            <a:avLst/>
          </a:prstGeom>
        </p:spPr>
        <p:txBody>
          <a:bodyPr wrap="square">
            <a:spAutoFit/>
          </a:bodyPr>
          <a:lstStyle/>
          <a:p>
            <a:pPr>
              <a:spcBef>
                <a:spcPct val="20000"/>
              </a:spcBef>
            </a:pPr>
            <a:r>
              <a:rPr lang="zh-CN" altLang="en-US" sz="2000" dirty="0">
                <a:latin typeface="微软雅黑" pitchFamily="34" charset="-122"/>
                <a:ea typeface="微软雅黑" pitchFamily="34" charset="-122"/>
                <a:cs typeface="经典粗黑简" pitchFamily="49" charset="-122"/>
              </a:rPr>
              <a:t>数据元素之间的物理结构：主要包括</a:t>
            </a:r>
            <a:r>
              <a:rPr lang="zh-CN" altLang="en-US" sz="2000" dirty="0">
                <a:solidFill>
                  <a:srgbClr val="FF0000"/>
                </a:solidFill>
                <a:latin typeface="微软雅黑" pitchFamily="34" charset="-122"/>
                <a:ea typeface="微软雅黑" pitchFamily="34" charset="-122"/>
                <a:cs typeface="经典粗黑简" pitchFamily="49" charset="-122"/>
              </a:rPr>
              <a:t>顺序存储结构</a:t>
            </a:r>
            <a:r>
              <a:rPr lang="zh-CN" altLang="en-US" sz="2000" dirty="0">
                <a:latin typeface="微软雅黑" pitchFamily="34" charset="-122"/>
                <a:ea typeface="微软雅黑" pitchFamily="34" charset="-122"/>
                <a:cs typeface="经典粗黑简" pitchFamily="49" charset="-122"/>
              </a:rPr>
              <a:t>和</a:t>
            </a:r>
            <a:r>
              <a:rPr lang="zh-CN" altLang="en-US" sz="2000" dirty="0">
                <a:solidFill>
                  <a:srgbClr val="FF0000"/>
                </a:solidFill>
                <a:latin typeface="微软雅黑" pitchFamily="34" charset="-122"/>
                <a:ea typeface="微软雅黑" pitchFamily="34" charset="-122"/>
                <a:cs typeface="经典粗黑简" pitchFamily="49" charset="-122"/>
              </a:rPr>
              <a:t>链式存储结构</a:t>
            </a:r>
            <a:r>
              <a:rPr lang="zh-CN" altLang="en-US" sz="2000" dirty="0">
                <a:latin typeface="微软雅黑" pitchFamily="34" charset="-122"/>
                <a:ea typeface="微软雅黑" pitchFamily="34" charset="-122"/>
                <a:cs typeface="经典粗黑简" pitchFamily="49" charset="-122"/>
              </a:rPr>
              <a:t>两种。</a:t>
            </a:r>
          </a:p>
        </p:txBody>
      </p:sp>
    </p:spTree>
    <p:extLst>
      <p:ext uri="{BB962C8B-B14F-4D97-AF65-F5344CB8AC3E}">
        <p14:creationId xmlns:p14="http://schemas.microsoft.com/office/powerpoint/2010/main" val="185825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1632424" y="2363829"/>
            <a:ext cx="2433964" cy="369332"/>
            <a:chOff x="3930822" y="3725168"/>
            <a:chExt cx="2433964" cy="492443"/>
          </a:xfrm>
        </p:grpSpPr>
        <p:sp>
          <p:nvSpPr>
            <p:cNvPr id="16" name="Text Box 24"/>
            <p:cNvSpPr txBox="1">
              <a:spLocks noChangeArrowheads="1"/>
            </p:cNvSpPr>
            <p:nvPr/>
          </p:nvSpPr>
          <p:spPr bwMode="auto">
            <a:xfrm>
              <a:off x="3930822" y="3725168"/>
              <a:ext cx="111144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dirty="0">
                  <a:latin typeface="楷体_GB2312" pitchFamily="49" charset="-122"/>
                  <a:ea typeface="楷体_GB2312" pitchFamily="49" charset="-122"/>
                </a:rPr>
                <a:t>存储地址</a:t>
              </a:r>
            </a:p>
          </p:txBody>
        </p:sp>
        <p:sp>
          <p:nvSpPr>
            <p:cNvPr id="17" name="Text Box 25"/>
            <p:cNvSpPr txBox="1">
              <a:spLocks noChangeArrowheads="1"/>
            </p:cNvSpPr>
            <p:nvPr/>
          </p:nvSpPr>
          <p:spPr bwMode="auto">
            <a:xfrm>
              <a:off x="5243975" y="3725168"/>
              <a:ext cx="112081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dirty="0">
                  <a:latin typeface="楷体_GB2312" pitchFamily="49" charset="-122"/>
                  <a:ea typeface="楷体_GB2312" pitchFamily="49" charset="-122"/>
                </a:rPr>
                <a:t>存储内容</a:t>
              </a:r>
            </a:p>
          </p:txBody>
        </p:sp>
      </p:grpSp>
      <p:sp>
        <p:nvSpPr>
          <p:cNvPr id="18" name="Rectangle 32"/>
          <p:cNvSpPr>
            <a:spLocks noChangeArrowheads="1"/>
          </p:cNvSpPr>
          <p:nvPr/>
        </p:nvSpPr>
        <p:spPr bwMode="auto">
          <a:xfrm>
            <a:off x="683568" y="1447059"/>
            <a:ext cx="813914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FF0000"/>
                </a:solidFill>
                <a:latin typeface="微软雅黑" pitchFamily="34" charset="-122"/>
                <a:ea typeface="微软雅黑" pitchFamily="34" charset="-122"/>
                <a:cs typeface="经典粗黑简" pitchFamily="49" charset="-122"/>
              </a:rPr>
              <a:t>Ⅰ</a:t>
            </a:r>
            <a:r>
              <a:rPr lang="zh-CN" altLang="en-US" sz="2000" dirty="0">
                <a:solidFill>
                  <a:srgbClr val="FF0000"/>
                </a:solidFill>
                <a:latin typeface="微软雅黑" pitchFamily="34" charset="-122"/>
                <a:ea typeface="微软雅黑" pitchFamily="34" charset="-122"/>
                <a:cs typeface="经典粗黑简" pitchFamily="49" charset="-122"/>
              </a:rPr>
              <a:t>、顺序存储结构：</a:t>
            </a:r>
            <a:r>
              <a:rPr lang="zh-CN" altLang="en-US" sz="2000" dirty="0">
                <a:latin typeface="微软雅黑" pitchFamily="34" charset="-122"/>
                <a:ea typeface="微软雅黑" pitchFamily="34" charset="-122"/>
                <a:cs typeface="经典粗黑简" pitchFamily="49" charset="-122"/>
              </a:rPr>
              <a:t>把逻辑上相邻的结点存储在物理位置上相邻的存储单元里，结点间的逻辑关系由存储单元的邻接关系来体现。</a:t>
            </a:r>
          </a:p>
        </p:txBody>
      </p:sp>
      <p:graphicFrame>
        <p:nvGraphicFramePr>
          <p:cNvPr id="19" name="表格 18"/>
          <p:cNvGraphicFramePr>
            <a:graphicFrameLocks noGrp="1"/>
          </p:cNvGraphicFramePr>
          <p:nvPr>
            <p:extLst>
              <p:ext uri="{D42A27DB-BD31-4B8C-83A1-F6EECF244321}">
                <p14:modId xmlns:p14="http://schemas.microsoft.com/office/powerpoint/2010/main" val="1017591735"/>
              </p:ext>
            </p:extLst>
          </p:nvPr>
        </p:nvGraphicFramePr>
        <p:xfrm>
          <a:off x="2838480" y="2679356"/>
          <a:ext cx="1245326" cy="1691640"/>
        </p:xfrm>
        <a:graphic>
          <a:graphicData uri="http://schemas.openxmlformats.org/drawingml/2006/table">
            <a:tbl>
              <a:tblPr firstRow="1" bandRow="1">
                <a:tableStyleId>{5940675A-B579-460E-94D1-54222C63F5DA}</a:tableStyleId>
              </a:tblPr>
              <a:tblGrid>
                <a:gridCol w="1245326">
                  <a:extLst>
                    <a:ext uri="{9D8B030D-6E8A-4147-A177-3AD203B41FA5}">
                      <a16:colId xmlns:a16="http://schemas.microsoft.com/office/drawing/2014/main" val="20000"/>
                    </a:ext>
                  </a:extLst>
                </a:gridCol>
              </a:tblGrid>
              <a:tr h="2781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b="0" dirty="0">
                          <a:latin typeface="楷体_GB2312" pitchFamily="49" charset="-122"/>
                          <a:ea typeface="楷体_GB2312" pitchFamily="49" charset="-122"/>
                        </a:rPr>
                        <a:t>元素</a:t>
                      </a:r>
                      <a:r>
                        <a:rPr lang="en-US" altLang="zh-CN" sz="1400" b="0" dirty="0">
                          <a:latin typeface="楷体_GB2312" pitchFamily="49" charset="-122"/>
                          <a:ea typeface="楷体_GB2312" pitchFamily="49" charset="-122"/>
                        </a:rPr>
                        <a:t>1</a:t>
                      </a:r>
                    </a:p>
                  </a:txBody>
                  <a:tcPr marT="34290" marB="34290"/>
                </a:tc>
                <a:extLst>
                  <a:ext uri="{0D108BD9-81ED-4DB2-BD59-A6C34878D82A}">
                    <a16:rowId xmlns:a16="http://schemas.microsoft.com/office/drawing/2014/main" val="10000"/>
                  </a:ext>
                </a:extLst>
              </a:tr>
              <a:tr h="2781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b="0" dirty="0">
                          <a:latin typeface="楷体_GB2312" pitchFamily="49" charset="-122"/>
                          <a:ea typeface="楷体_GB2312" pitchFamily="49" charset="-122"/>
                        </a:rPr>
                        <a:t>元素</a:t>
                      </a:r>
                      <a:r>
                        <a:rPr lang="en-US" altLang="zh-CN" sz="1400" b="0" dirty="0">
                          <a:latin typeface="楷体_GB2312" pitchFamily="49" charset="-122"/>
                          <a:ea typeface="楷体_GB2312" pitchFamily="49" charset="-122"/>
                        </a:rPr>
                        <a:t>2</a:t>
                      </a:r>
                    </a:p>
                  </a:txBody>
                  <a:tcPr marT="34290" marB="34290"/>
                </a:tc>
                <a:extLst>
                  <a:ext uri="{0D108BD9-81ED-4DB2-BD59-A6C34878D82A}">
                    <a16:rowId xmlns:a16="http://schemas.microsoft.com/office/drawing/2014/main" val="10001"/>
                  </a:ext>
                </a:extLst>
              </a:tr>
              <a:tr h="278130">
                <a:tc>
                  <a:txBody>
                    <a:bodyPr/>
                    <a:lstStyle/>
                    <a:p>
                      <a:pPr algn="ctr"/>
                      <a:r>
                        <a:rPr lang="en-US" altLang="zh-CN" sz="1400" b="0" dirty="0">
                          <a:latin typeface="楷体_GB2312" pitchFamily="49" charset="-122"/>
                          <a:ea typeface="楷体_GB2312" pitchFamily="49" charset="-122"/>
                        </a:rPr>
                        <a:t>……</a:t>
                      </a:r>
                      <a:endParaRPr lang="zh-CN" altLang="en-US" sz="1400" b="0" dirty="0"/>
                    </a:p>
                  </a:txBody>
                  <a:tcPr marT="34290" marB="34290"/>
                </a:tc>
                <a:extLst>
                  <a:ext uri="{0D108BD9-81ED-4DB2-BD59-A6C34878D82A}">
                    <a16:rowId xmlns:a16="http://schemas.microsoft.com/office/drawing/2014/main" val="10002"/>
                  </a:ext>
                </a:extLst>
              </a:tr>
              <a:tr h="2781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b="0" dirty="0">
                          <a:latin typeface="楷体_GB2312" pitchFamily="49" charset="-122"/>
                          <a:ea typeface="楷体_GB2312" pitchFamily="49" charset="-122"/>
                        </a:rPr>
                        <a:t>元素</a:t>
                      </a:r>
                      <a:r>
                        <a:rPr lang="en-US" altLang="zh-CN" sz="1400" b="0" dirty="0">
                          <a:latin typeface="楷体_GB2312" pitchFamily="49" charset="-122"/>
                          <a:ea typeface="楷体_GB2312" pitchFamily="49" charset="-122"/>
                        </a:rPr>
                        <a:t>i</a:t>
                      </a:r>
                    </a:p>
                  </a:txBody>
                  <a:tcPr marT="34290" marB="34290"/>
                </a:tc>
                <a:extLst>
                  <a:ext uri="{0D108BD9-81ED-4DB2-BD59-A6C34878D82A}">
                    <a16:rowId xmlns:a16="http://schemas.microsoft.com/office/drawing/2014/main" val="10003"/>
                  </a:ext>
                </a:extLst>
              </a:tr>
              <a:tr h="278130">
                <a:tc>
                  <a:txBody>
                    <a:bodyPr/>
                    <a:lstStyle/>
                    <a:p>
                      <a:pPr algn="ctr"/>
                      <a:endParaRPr lang="zh-CN" altLang="en-US" sz="1400" b="0" dirty="0"/>
                    </a:p>
                  </a:txBody>
                  <a:tcPr marT="34290" marB="34290"/>
                </a:tc>
                <a:extLst>
                  <a:ext uri="{0D108BD9-81ED-4DB2-BD59-A6C34878D82A}">
                    <a16:rowId xmlns:a16="http://schemas.microsoft.com/office/drawing/2014/main" val="10004"/>
                  </a:ext>
                </a:extLst>
              </a:tr>
              <a:tr h="27813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400" b="0" dirty="0">
                          <a:latin typeface="楷体_GB2312" pitchFamily="49" charset="-122"/>
                          <a:ea typeface="楷体_GB2312" pitchFamily="49" charset="-122"/>
                        </a:rPr>
                        <a:t>元素</a:t>
                      </a:r>
                      <a:r>
                        <a:rPr lang="en-US" altLang="zh-CN" sz="1400" b="0" dirty="0">
                          <a:latin typeface="楷体_GB2312" pitchFamily="49" charset="-122"/>
                          <a:ea typeface="楷体_GB2312" pitchFamily="49" charset="-122"/>
                        </a:rPr>
                        <a:t>n</a:t>
                      </a:r>
                    </a:p>
                  </a:txBody>
                  <a:tcPr marT="34290" marB="34290"/>
                </a:tc>
                <a:extLst>
                  <a:ext uri="{0D108BD9-81ED-4DB2-BD59-A6C34878D82A}">
                    <a16:rowId xmlns:a16="http://schemas.microsoft.com/office/drawing/2014/main" val="10005"/>
                  </a:ext>
                </a:extLst>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3913322522"/>
              </p:ext>
            </p:extLst>
          </p:nvPr>
        </p:nvGraphicFramePr>
        <p:xfrm>
          <a:off x="1254701" y="2669247"/>
          <a:ext cx="1489167" cy="1691640"/>
        </p:xfrm>
        <a:graphic>
          <a:graphicData uri="http://schemas.openxmlformats.org/drawingml/2006/table">
            <a:tbl>
              <a:tblPr firstRow="1" bandRow="1">
                <a:tableStyleId>{2D5ABB26-0587-4C30-8999-92F81FD0307C}</a:tableStyleId>
              </a:tblPr>
              <a:tblGrid>
                <a:gridCol w="1489167">
                  <a:extLst>
                    <a:ext uri="{9D8B030D-6E8A-4147-A177-3AD203B41FA5}">
                      <a16:colId xmlns:a16="http://schemas.microsoft.com/office/drawing/2014/main" val="20000"/>
                    </a:ext>
                  </a:extLst>
                </a:gridCol>
              </a:tblGrid>
              <a:tr h="278130">
                <a:tc>
                  <a:txBody>
                    <a:bodyPr/>
                    <a:lstStyle/>
                    <a:p>
                      <a:pPr algn="r" eaLnBrk="1" hangingPunct="1">
                        <a:spcBef>
                          <a:spcPct val="50000"/>
                        </a:spcBef>
                      </a:pPr>
                      <a:r>
                        <a:rPr kumimoji="1" lang="en-US" altLang="zh-CN" sz="1400" b="1" dirty="0">
                          <a:latin typeface="Times New Roman" pitchFamily="18" charset="0"/>
                        </a:rPr>
                        <a:t>L</a:t>
                      </a:r>
                      <a:r>
                        <a:rPr kumimoji="1" lang="en-US" altLang="zh-CN" sz="1400" b="1" baseline="-25000" dirty="0">
                          <a:latin typeface="Times New Roman" pitchFamily="18" charset="0"/>
                        </a:rPr>
                        <a:t>o</a:t>
                      </a:r>
                      <a:endParaRPr kumimoji="1" lang="en-US" altLang="zh-CN" sz="1400" b="1" dirty="0">
                        <a:latin typeface="Times New Roman" pitchFamily="18" charset="0"/>
                      </a:endParaRPr>
                    </a:p>
                  </a:txBody>
                  <a:tcPr marT="34290" marB="34290"/>
                </a:tc>
                <a:extLst>
                  <a:ext uri="{0D108BD9-81ED-4DB2-BD59-A6C34878D82A}">
                    <a16:rowId xmlns:a16="http://schemas.microsoft.com/office/drawing/2014/main" val="10000"/>
                  </a:ext>
                </a:extLst>
              </a:tr>
              <a:tr h="278130">
                <a:tc>
                  <a:txBody>
                    <a:bodyPr/>
                    <a:lstStyle/>
                    <a:p>
                      <a:pPr algn="r" eaLnBrk="1" hangingPunct="1">
                        <a:spcBef>
                          <a:spcPct val="50000"/>
                        </a:spcBef>
                      </a:pPr>
                      <a:r>
                        <a:rPr kumimoji="1" lang="en-US" altLang="zh-CN" sz="1400" b="1" dirty="0" err="1">
                          <a:latin typeface="Times New Roman" pitchFamily="18" charset="0"/>
                        </a:rPr>
                        <a:t>L</a:t>
                      </a:r>
                      <a:r>
                        <a:rPr kumimoji="1" lang="en-US" altLang="zh-CN" sz="900" b="1" dirty="0" err="1">
                          <a:latin typeface="Times New Roman" pitchFamily="18" charset="0"/>
                        </a:rPr>
                        <a:t>o</a:t>
                      </a:r>
                      <a:r>
                        <a:rPr kumimoji="1" lang="en-US" altLang="zh-CN" sz="1400" b="1" dirty="0" err="1">
                          <a:latin typeface="Times New Roman" pitchFamily="18" charset="0"/>
                        </a:rPr>
                        <a:t>+m</a:t>
                      </a:r>
                      <a:endParaRPr kumimoji="1" lang="en-US" altLang="zh-CN" sz="1400" b="1" dirty="0">
                        <a:latin typeface="Times New Roman" pitchFamily="18" charset="0"/>
                      </a:endParaRPr>
                    </a:p>
                  </a:txBody>
                  <a:tcPr marT="34290" marB="34290"/>
                </a:tc>
                <a:extLst>
                  <a:ext uri="{0D108BD9-81ED-4DB2-BD59-A6C34878D82A}">
                    <a16:rowId xmlns:a16="http://schemas.microsoft.com/office/drawing/2014/main" val="10001"/>
                  </a:ext>
                </a:extLst>
              </a:tr>
              <a:tr h="278130">
                <a:tc>
                  <a:txBody>
                    <a:bodyPr/>
                    <a:lstStyle/>
                    <a:p>
                      <a:pPr algn="r"/>
                      <a:r>
                        <a:rPr lang="en-US" altLang="zh-CN" sz="1400" dirty="0"/>
                        <a:t>……</a:t>
                      </a:r>
                      <a:endParaRPr lang="zh-CN" altLang="en-US" sz="1400" b="0" dirty="0"/>
                    </a:p>
                  </a:txBody>
                  <a:tcPr marT="34290" marB="34290"/>
                </a:tc>
                <a:extLst>
                  <a:ext uri="{0D108BD9-81ED-4DB2-BD59-A6C34878D82A}">
                    <a16:rowId xmlns:a16="http://schemas.microsoft.com/office/drawing/2014/main" val="10002"/>
                  </a:ext>
                </a:extLst>
              </a:tr>
              <a:tr h="278130">
                <a:tc>
                  <a:txBody>
                    <a:bodyPr/>
                    <a:lstStyle/>
                    <a:p>
                      <a:pPr algn="r" eaLnBrk="1" hangingPunct="1">
                        <a:spcBef>
                          <a:spcPct val="50000"/>
                        </a:spcBef>
                      </a:pPr>
                      <a:r>
                        <a:rPr kumimoji="1" lang="en-US" altLang="zh-CN" sz="1400" b="1" dirty="0">
                          <a:latin typeface="Times New Roman" pitchFamily="18" charset="0"/>
                        </a:rPr>
                        <a:t>L</a:t>
                      </a:r>
                      <a:r>
                        <a:rPr kumimoji="1" lang="en-US" altLang="zh-CN" sz="900" b="1" dirty="0">
                          <a:latin typeface="Times New Roman" pitchFamily="18" charset="0"/>
                        </a:rPr>
                        <a:t>o</a:t>
                      </a:r>
                      <a:r>
                        <a:rPr kumimoji="1" lang="en-US" altLang="zh-CN" sz="1400" b="1" dirty="0">
                          <a:latin typeface="Times New Roman" pitchFamily="18" charset="0"/>
                        </a:rPr>
                        <a:t>+(i-1)*m</a:t>
                      </a:r>
                    </a:p>
                  </a:txBody>
                  <a:tcPr marT="34290" marB="34290"/>
                </a:tc>
                <a:extLst>
                  <a:ext uri="{0D108BD9-81ED-4DB2-BD59-A6C34878D82A}">
                    <a16:rowId xmlns:a16="http://schemas.microsoft.com/office/drawing/2014/main" val="10003"/>
                  </a:ext>
                </a:extLst>
              </a:tr>
              <a:tr h="278130">
                <a:tc>
                  <a:txBody>
                    <a:bodyPr/>
                    <a:lstStyle/>
                    <a:p>
                      <a:pPr algn="r"/>
                      <a:endParaRPr lang="zh-CN" altLang="en-US" sz="1400" b="0" dirty="0"/>
                    </a:p>
                  </a:txBody>
                  <a:tcPr marT="34290" marB="34290"/>
                </a:tc>
                <a:extLst>
                  <a:ext uri="{0D108BD9-81ED-4DB2-BD59-A6C34878D82A}">
                    <a16:rowId xmlns:a16="http://schemas.microsoft.com/office/drawing/2014/main" val="10004"/>
                  </a:ext>
                </a:extLst>
              </a:tr>
              <a:tr h="278130">
                <a:tc>
                  <a:txBody>
                    <a:bodyPr/>
                    <a:lstStyle/>
                    <a:p>
                      <a:pPr algn="r" eaLnBrk="1" hangingPunct="1">
                        <a:spcBef>
                          <a:spcPct val="50000"/>
                        </a:spcBef>
                      </a:pPr>
                      <a:r>
                        <a:rPr kumimoji="1" lang="en-US" altLang="zh-CN" sz="1400" b="1" dirty="0">
                          <a:latin typeface="Times New Roman" pitchFamily="18" charset="0"/>
                        </a:rPr>
                        <a:t>L</a:t>
                      </a:r>
                      <a:r>
                        <a:rPr kumimoji="1" lang="en-US" altLang="zh-CN" sz="900" b="1" dirty="0">
                          <a:latin typeface="Times New Roman" pitchFamily="18" charset="0"/>
                        </a:rPr>
                        <a:t>o</a:t>
                      </a:r>
                      <a:r>
                        <a:rPr kumimoji="1" lang="en-US" altLang="zh-CN" sz="1400" b="1" dirty="0">
                          <a:latin typeface="Times New Roman" pitchFamily="18" charset="0"/>
                        </a:rPr>
                        <a:t>+</a:t>
                      </a:r>
                      <a:r>
                        <a:rPr kumimoji="1" lang="zh-CN" altLang="en-US" sz="1400" b="1" dirty="0">
                          <a:latin typeface="Times New Roman" pitchFamily="18" charset="0"/>
                        </a:rPr>
                        <a:t>（</a:t>
                      </a:r>
                      <a:r>
                        <a:rPr kumimoji="1" lang="en-US" altLang="zh-CN" sz="1400" b="1" dirty="0">
                          <a:latin typeface="Times New Roman" pitchFamily="18" charset="0"/>
                        </a:rPr>
                        <a:t>n-1)*m</a:t>
                      </a:r>
                    </a:p>
                  </a:txBody>
                  <a:tcPr marT="34290" marB="34290"/>
                </a:tc>
                <a:extLst>
                  <a:ext uri="{0D108BD9-81ED-4DB2-BD59-A6C34878D82A}">
                    <a16:rowId xmlns:a16="http://schemas.microsoft.com/office/drawing/2014/main" val="10005"/>
                  </a:ext>
                </a:extLst>
              </a:tr>
            </a:tbl>
          </a:graphicData>
        </a:graphic>
      </p:graphicFrame>
      <p:sp>
        <p:nvSpPr>
          <p:cNvPr id="21" name="矩形 20"/>
          <p:cNvSpPr/>
          <p:nvPr/>
        </p:nvSpPr>
        <p:spPr>
          <a:xfrm>
            <a:off x="4385807" y="2845080"/>
            <a:ext cx="4303727" cy="1015663"/>
          </a:xfrm>
          <a:prstGeom prst="rect">
            <a:avLst/>
          </a:prstGeom>
        </p:spPr>
        <p:txBody>
          <a:bodyPr wrap="square">
            <a:spAutoFit/>
          </a:bodyPr>
          <a:lstStyle/>
          <a:p>
            <a:r>
              <a:rPr lang="zh-CN" altLang="en-US" sz="2000" dirty="0">
                <a:latin typeface="微软雅黑" pitchFamily="34" charset="-122"/>
                <a:ea typeface="微软雅黑" pitchFamily="34" charset="-122"/>
                <a:cs typeface="经典粗黑简" pitchFamily="49" charset="-122"/>
              </a:rPr>
              <a:t>顺序存储结构通过相邻</a:t>
            </a:r>
            <a:r>
              <a:rPr lang="zh-CN" altLang="en-US" sz="2000" dirty="0">
                <a:solidFill>
                  <a:srgbClr val="FF0000"/>
                </a:solidFill>
                <a:latin typeface="微软雅黑" pitchFamily="34" charset="-122"/>
                <a:ea typeface="微软雅黑" pitchFamily="34" charset="-122"/>
                <a:cs typeface="经典粗黑简" pitchFamily="49" charset="-122"/>
              </a:rPr>
              <a:t>位置表示关系</a:t>
            </a:r>
            <a:r>
              <a:rPr lang="zh-CN" altLang="en-US" sz="2000" dirty="0">
                <a:latin typeface="微软雅黑" pitchFamily="34" charset="-122"/>
                <a:ea typeface="微软雅黑" pitchFamily="34" charset="-122"/>
                <a:cs typeface="经典粗黑简" pitchFamily="49" charset="-122"/>
              </a:rPr>
              <a:t>，通常借助于计算机语言中的数组来描述和实现。</a:t>
            </a:r>
          </a:p>
        </p:txBody>
      </p:sp>
      <p:sp>
        <p:nvSpPr>
          <p:cNvPr id="2" name="Rectangle 2">
            <a:extLst>
              <a:ext uri="{FF2B5EF4-FFF2-40B4-BE49-F238E27FC236}">
                <a16:creationId xmlns:a16="http://schemas.microsoft.com/office/drawing/2014/main" id="{BB705D76-6428-1557-3DE8-32CE9862391F}"/>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F58BAE2A-592F-B5F7-2948-F056CAFB91AB}"/>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1.1.3 </a:t>
            </a:r>
            <a:r>
              <a:rPr lang="zh-CN" altLang="en-US" sz="2800" b="1" dirty="0">
                <a:solidFill>
                  <a:schemeClr val="bg1"/>
                </a:solidFill>
                <a:latin typeface="经典粗黑简" pitchFamily="49" charset="-122"/>
                <a:ea typeface="经典粗黑简" pitchFamily="49" charset="-122"/>
                <a:cs typeface="经典粗黑简" pitchFamily="49" charset="-122"/>
              </a:rPr>
              <a:t>数据的存储结构</a:t>
            </a:r>
          </a:p>
        </p:txBody>
      </p:sp>
    </p:spTree>
    <p:extLst>
      <p:ext uri="{BB962C8B-B14F-4D97-AF65-F5344CB8AC3E}">
        <p14:creationId xmlns:p14="http://schemas.microsoft.com/office/powerpoint/2010/main" val="17674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70133-13C2-2198-A36D-C9E2EE6E8166}"/>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3C71A922-A0BB-AE9C-691A-0934B255FEBD}"/>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5BF9839C-CBEA-9871-D090-7BDA97C018A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7D1ED901-86E8-4326-E3C4-E3B7ED81CAAF}"/>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1.1.3 </a:t>
            </a:r>
            <a:r>
              <a:rPr lang="zh-CN" altLang="en-US" sz="2800" b="1" dirty="0">
                <a:solidFill>
                  <a:schemeClr val="bg1"/>
                </a:solidFill>
                <a:latin typeface="经典粗黑简" pitchFamily="49" charset="-122"/>
                <a:ea typeface="经典粗黑简" pitchFamily="49" charset="-122"/>
                <a:cs typeface="经典粗黑简" pitchFamily="49" charset="-122"/>
              </a:rPr>
              <a:t>数据的存储结构</a:t>
            </a:r>
          </a:p>
        </p:txBody>
      </p:sp>
      <p:sp>
        <p:nvSpPr>
          <p:cNvPr id="4" name="Rectangle 32">
            <a:extLst>
              <a:ext uri="{FF2B5EF4-FFF2-40B4-BE49-F238E27FC236}">
                <a16:creationId xmlns:a16="http://schemas.microsoft.com/office/drawing/2014/main" id="{CEACC8A2-DAC9-B7CC-5631-D74A9D13910E}"/>
              </a:ext>
            </a:extLst>
          </p:cNvPr>
          <p:cNvSpPr>
            <a:spLocks noChangeArrowheads="1"/>
          </p:cNvSpPr>
          <p:nvPr/>
        </p:nvSpPr>
        <p:spPr bwMode="auto">
          <a:xfrm>
            <a:off x="755576" y="1460389"/>
            <a:ext cx="808896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FF0000"/>
                </a:solidFill>
                <a:latin typeface="微软雅黑" pitchFamily="34" charset="-122"/>
                <a:ea typeface="微软雅黑" pitchFamily="34" charset="-122"/>
                <a:cs typeface="经典粗黑简" pitchFamily="49" charset="-122"/>
              </a:rPr>
              <a:t>Ⅱ</a:t>
            </a:r>
            <a:r>
              <a:rPr lang="zh-CN" altLang="en-US" sz="2000" dirty="0">
                <a:solidFill>
                  <a:srgbClr val="FF0000"/>
                </a:solidFill>
                <a:latin typeface="微软雅黑" pitchFamily="34" charset="-122"/>
                <a:ea typeface="微软雅黑" pitchFamily="34" charset="-122"/>
                <a:cs typeface="经典粗黑简" pitchFamily="49" charset="-122"/>
              </a:rPr>
              <a:t>、链式存储结构：</a:t>
            </a:r>
            <a:r>
              <a:rPr lang="zh-CN" altLang="en-US" dirty="0">
                <a:latin typeface="微软雅黑" pitchFamily="34" charset="-122"/>
                <a:ea typeface="微软雅黑" pitchFamily="34" charset="-122"/>
                <a:cs typeface="经典粗黑简" pitchFamily="49" charset="-122"/>
              </a:rPr>
              <a:t>不要求逻辑上相邻的结点物理上也相邻，结点间的逻辑关系是由附加的指针（</a:t>
            </a:r>
            <a:r>
              <a:rPr lang="en-US" altLang="zh-CN" dirty="0">
                <a:latin typeface="微软雅黑" pitchFamily="34" charset="-122"/>
                <a:ea typeface="微软雅黑" pitchFamily="34" charset="-122"/>
                <a:cs typeface="经典粗黑简" pitchFamily="49" charset="-122"/>
              </a:rPr>
              <a:t>Pointer</a:t>
            </a:r>
            <a:r>
              <a:rPr lang="zh-CN" altLang="en-US" dirty="0">
                <a:latin typeface="微软雅黑" pitchFamily="34" charset="-122"/>
                <a:ea typeface="微软雅黑" pitchFamily="34" charset="-122"/>
                <a:cs typeface="经典粗黑简" pitchFamily="49" charset="-122"/>
              </a:rPr>
              <a:t>）字段表示的，通常要借助于计算机语言的指针类型来描述。</a:t>
            </a:r>
          </a:p>
        </p:txBody>
      </p:sp>
      <p:graphicFrame>
        <p:nvGraphicFramePr>
          <p:cNvPr id="5" name="Group 76">
            <a:extLst>
              <a:ext uri="{FF2B5EF4-FFF2-40B4-BE49-F238E27FC236}">
                <a16:creationId xmlns:a16="http://schemas.microsoft.com/office/drawing/2014/main" id="{01484DCC-6136-FFFD-BF19-667A759C7802}"/>
              </a:ext>
            </a:extLst>
          </p:cNvPr>
          <p:cNvGraphicFramePr>
            <a:graphicFrameLocks noGrp="1"/>
          </p:cNvGraphicFramePr>
          <p:nvPr>
            <p:extLst>
              <p:ext uri="{D42A27DB-BD31-4B8C-83A1-F6EECF244321}">
                <p14:modId xmlns:p14="http://schemas.microsoft.com/office/powerpoint/2010/main" val="157901406"/>
              </p:ext>
            </p:extLst>
          </p:nvPr>
        </p:nvGraphicFramePr>
        <p:xfrm>
          <a:off x="2266298" y="2335742"/>
          <a:ext cx="5314542" cy="2081114"/>
        </p:xfrm>
        <a:graphic>
          <a:graphicData uri="http://schemas.openxmlformats.org/drawingml/2006/table">
            <a:tbl>
              <a:tblPr/>
              <a:tblGrid>
                <a:gridCol w="1726666">
                  <a:extLst>
                    <a:ext uri="{9D8B030D-6E8A-4147-A177-3AD203B41FA5}">
                      <a16:colId xmlns:a16="http://schemas.microsoft.com/office/drawing/2014/main" val="20000"/>
                    </a:ext>
                  </a:extLst>
                </a:gridCol>
                <a:gridCol w="2107877">
                  <a:extLst>
                    <a:ext uri="{9D8B030D-6E8A-4147-A177-3AD203B41FA5}">
                      <a16:colId xmlns:a16="http://schemas.microsoft.com/office/drawing/2014/main" val="20001"/>
                    </a:ext>
                  </a:extLst>
                </a:gridCol>
                <a:gridCol w="1479999">
                  <a:extLst>
                    <a:ext uri="{9D8B030D-6E8A-4147-A177-3AD203B41FA5}">
                      <a16:colId xmlns:a16="http://schemas.microsoft.com/office/drawing/2014/main" val="20002"/>
                    </a:ext>
                  </a:extLst>
                </a:gridCol>
              </a:tblGrid>
              <a:tr h="2973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存储地址</a:t>
                      </a:r>
                    </a:p>
                  </a:txBody>
                  <a:tcPr marT="34293" marB="342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a:ln>
                            <a:noFill/>
                          </a:ln>
                          <a:solidFill>
                            <a:schemeClr val="tx1"/>
                          </a:solidFill>
                          <a:effectLst/>
                          <a:latin typeface="楷体_GB2312" pitchFamily="49" charset="-122"/>
                          <a:ea typeface="楷体_GB2312" pitchFamily="49" charset="-122"/>
                        </a:rPr>
                        <a:t>  存储内容</a:t>
                      </a:r>
                    </a:p>
                  </a:txBody>
                  <a:tcPr marT="34293" marB="342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a:ln>
                            <a:noFill/>
                          </a:ln>
                          <a:solidFill>
                            <a:schemeClr val="tx1"/>
                          </a:solidFill>
                          <a:effectLst/>
                          <a:latin typeface="楷体_GB2312" pitchFamily="49" charset="-122"/>
                          <a:ea typeface="楷体_GB2312" pitchFamily="49" charset="-122"/>
                        </a:rPr>
                        <a:t>  指针</a:t>
                      </a:r>
                    </a:p>
                  </a:txBody>
                  <a:tcPr marT="34293" marB="342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73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1345</a:t>
                      </a:r>
                    </a:p>
                  </a:txBody>
                  <a:tcPr marT="34293" marB="342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元素</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1</a:t>
                      </a:r>
                    </a:p>
                  </a:txBody>
                  <a:tcPr marT="34293" marB="342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1400</a:t>
                      </a:r>
                    </a:p>
                  </a:txBody>
                  <a:tcPr marT="34293" marB="342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73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1346</a:t>
                      </a:r>
                    </a:p>
                  </a:txBody>
                  <a:tcPr marT="34293" marB="342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元素</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4</a:t>
                      </a:r>
                    </a:p>
                  </a:txBody>
                  <a:tcPr marT="34293" marB="342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p>
                  </a:txBody>
                  <a:tcPr marT="34293" marB="342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73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Calibri"/>
                          <a:ea typeface="楷体_GB2312" pitchFamily="49" charset="-122"/>
                        </a:rPr>
                        <a:t>……</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a:t>
                      </a:r>
                    </a:p>
                  </a:txBody>
                  <a:tcPr marT="34293" marB="342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Calibri"/>
                          <a:ea typeface="楷体_GB2312" pitchFamily="49" charset="-122"/>
                        </a:rPr>
                        <a:t>……</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a:t>
                      </a:r>
                    </a:p>
                  </a:txBody>
                  <a:tcPr marT="34293" marB="342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Calibri"/>
                          <a:ea typeface="楷体_GB2312" pitchFamily="49" charset="-122"/>
                        </a:rPr>
                        <a:t>……</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a:t>
                      </a:r>
                    </a:p>
                  </a:txBody>
                  <a:tcPr marT="34293" marB="342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73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a:ln>
                            <a:noFill/>
                          </a:ln>
                          <a:solidFill>
                            <a:schemeClr val="tx1"/>
                          </a:solidFill>
                          <a:effectLst/>
                          <a:latin typeface="楷体_GB2312" pitchFamily="49" charset="-122"/>
                          <a:ea typeface="楷体_GB2312" pitchFamily="49" charset="-122"/>
                        </a:rPr>
                        <a:t>1400</a:t>
                      </a:r>
                    </a:p>
                  </a:txBody>
                  <a:tcPr marT="34293" marB="342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元素</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2</a:t>
                      </a:r>
                    </a:p>
                  </a:txBody>
                  <a:tcPr marT="34293" marB="342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1536</a:t>
                      </a:r>
                    </a:p>
                  </a:txBody>
                  <a:tcPr marT="34293" marB="342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73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a:ln>
                            <a:noFill/>
                          </a:ln>
                          <a:solidFill>
                            <a:schemeClr val="tx1"/>
                          </a:solidFill>
                          <a:effectLst/>
                          <a:latin typeface="Calibri"/>
                          <a:ea typeface="楷体_GB2312" pitchFamily="49" charset="-122"/>
                        </a:rPr>
                        <a:t>……</a:t>
                      </a:r>
                      <a:r>
                        <a:rPr kumimoji="0" lang="en-US" altLang="zh-CN" sz="1500" b="0" i="0" u="none" strike="noStrike" cap="none" normalizeH="0" baseline="0">
                          <a:ln>
                            <a:noFill/>
                          </a:ln>
                          <a:solidFill>
                            <a:schemeClr val="tx1"/>
                          </a:solidFill>
                          <a:effectLst/>
                          <a:latin typeface="楷体_GB2312" pitchFamily="49" charset="-122"/>
                          <a:ea typeface="楷体_GB2312" pitchFamily="49" charset="-122"/>
                        </a:rPr>
                        <a:t>.</a:t>
                      </a:r>
                    </a:p>
                  </a:txBody>
                  <a:tcPr marT="34293" marB="342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Calibri"/>
                          <a:ea typeface="楷体_GB2312" pitchFamily="49" charset="-122"/>
                        </a:rPr>
                        <a:t>……</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a:t>
                      </a:r>
                    </a:p>
                  </a:txBody>
                  <a:tcPr marT="34293" marB="342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Calibri"/>
                          <a:ea typeface="楷体_GB2312" pitchFamily="49" charset="-122"/>
                        </a:rPr>
                        <a:t>……</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a:t>
                      </a:r>
                    </a:p>
                  </a:txBody>
                  <a:tcPr marT="34293" marB="342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7302">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1536</a:t>
                      </a:r>
                    </a:p>
                  </a:txBody>
                  <a:tcPr marT="34293" marB="342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元素</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3</a:t>
                      </a:r>
                    </a:p>
                  </a:txBody>
                  <a:tcPr marT="34293" marB="342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itchFamily="34" charset="0"/>
                        <a:buNone/>
                        <a:tabLst/>
                      </a:pPr>
                      <a:r>
                        <a:rPr kumimoji="0" lang="zh-CN" altLang="en-US" sz="1500" b="0" i="0" u="none" strike="noStrike" cap="none" normalizeH="0" baseline="0" dirty="0">
                          <a:ln>
                            <a:noFill/>
                          </a:ln>
                          <a:solidFill>
                            <a:schemeClr val="tx1"/>
                          </a:solidFill>
                          <a:effectLst/>
                          <a:latin typeface="楷体_GB2312" pitchFamily="49" charset="-122"/>
                          <a:ea typeface="楷体_GB2312" pitchFamily="49" charset="-122"/>
                        </a:rPr>
                        <a:t> </a:t>
                      </a:r>
                      <a:r>
                        <a:rPr kumimoji="0" lang="en-US" altLang="zh-CN" sz="1500" b="0" i="0" u="none" strike="noStrike" cap="none" normalizeH="0" baseline="0" dirty="0">
                          <a:ln>
                            <a:noFill/>
                          </a:ln>
                          <a:solidFill>
                            <a:schemeClr val="tx1"/>
                          </a:solidFill>
                          <a:effectLst/>
                          <a:latin typeface="楷体_GB2312" pitchFamily="49" charset="-122"/>
                          <a:ea typeface="楷体_GB2312" pitchFamily="49" charset="-122"/>
                        </a:rPr>
                        <a:t>1346</a:t>
                      </a:r>
                    </a:p>
                  </a:txBody>
                  <a:tcPr marT="34293" marB="342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Rectangle 6">
            <a:extLst>
              <a:ext uri="{FF2B5EF4-FFF2-40B4-BE49-F238E27FC236}">
                <a16:creationId xmlns:a16="http://schemas.microsoft.com/office/drawing/2014/main" id="{B06D4E29-7D82-69D6-CE18-6CBA4B2C59AE}"/>
              </a:ext>
            </a:extLst>
          </p:cNvPr>
          <p:cNvSpPr>
            <a:spLocks noChangeArrowheads="1"/>
          </p:cNvSpPr>
          <p:nvPr/>
        </p:nvSpPr>
        <p:spPr bwMode="auto">
          <a:xfrm>
            <a:off x="4391040" y="4491792"/>
            <a:ext cx="838200" cy="341710"/>
          </a:xfrm>
          <a:prstGeom prst="rect">
            <a:avLst/>
          </a:prstGeom>
          <a:noFill/>
          <a:ln>
            <a:noFill/>
          </a:ln>
          <a:effectLst/>
        </p:spPr>
        <p:txBody>
          <a:bodyPr/>
          <a:lstStyle/>
          <a:p>
            <a:pPr>
              <a:spcBef>
                <a:spcPct val="20000"/>
              </a:spcBef>
              <a:buFont typeface="Arial" pitchFamily="34" charset="0"/>
              <a:buNone/>
            </a:pPr>
            <a:r>
              <a:rPr lang="en-US" altLang="zh-CN" sz="2000" b="1">
                <a:latin typeface="楷体_GB2312" pitchFamily="49" charset="-122"/>
                <a:ea typeface="楷体_GB2312" pitchFamily="49" charset="-122"/>
              </a:rPr>
              <a:t>1536</a:t>
            </a:r>
          </a:p>
        </p:txBody>
      </p:sp>
      <p:sp>
        <p:nvSpPr>
          <p:cNvPr id="7" name="Rectangle 7">
            <a:extLst>
              <a:ext uri="{FF2B5EF4-FFF2-40B4-BE49-F238E27FC236}">
                <a16:creationId xmlns:a16="http://schemas.microsoft.com/office/drawing/2014/main" id="{62677F95-8D63-9BFA-CFC6-6B45ADC9057A}"/>
              </a:ext>
            </a:extLst>
          </p:cNvPr>
          <p:cNvSpPr>
            <a:spLocks noChangeArrowheads="1"/>
          </p:cNvSpPr>
          <p:nvPr/>
        </p:nvSpPr>
        <p:spPr bwMode="auto">
          <a:xfrm>
            <a:off x="3400440" y="4491792"/>
            <a:ext cx="990600" cy="341710"/>
          </a:xfrm>
          <a:prstGeom prst="rect">
            <a:avLst/>
          </a:prstGeom>
          <a:noFill/>
          <a:ln>
            <a:noFill/>
          </a:ln>
          <a:effectLst/>
        </p:spPr>
        <p:txBody>
          <a:bodyPr/>
          <a:lstStyle/>
          <a:p>
            <a:pPr>
              <a:spcBef>
                <a:spcPct val="20000"/>
              </a:spcBef>
              <a:buFont typeface="Arial" pitchFamily="34" charset="0"/>
              <a:buNone/>
            </a:pPr>
            <a:r>
              <a:rPr lang="zh-CN" altLang="en-US" sz="2000" dirty="0">
                <a:latin typeface="楷体_GB2312" pitchFamily="49" charset="-122"/>
                <a:ea typeface="楷体_GB2312" pitchFamily="49" charset="-122"/>
              </a:rPr>
              <a:t>元素</a:t>
            </a:r>
            <a:r>
              <a:rPr lang="en-US" altLang="zh-CN" sz="2000" dirty="0">
                <a:latin typeface="楷体_GB2312" pitchFamily="49" charset="-122"/>
                <a:ea typeface="楷体_GB2312" pitchFamily="49" charset="-122"/>
              </a:rPr>
              <a:t>2</a:t>
            </a:r>
          </a:p>
        </p:txBody>
      </p:sp>
      <p:sp>
        <p:nvSpPr>
          <p:cNvPr id="8" name="Line 8">
            <a:extLst>
              <a:ext uri="{FF2B5EF4-FFF2-40B4-BE49-F238E27FC236}">
                <a16:creationId xmlns:a16="http://schemas.microsoft.com/office/drawing/2014/main" id="{9A997938-C2C0-FDD2-FD84-71B37DBC51CD}"/>
              </a:ext>
            </a:extLst>
          </p:cNvPr>
          <p:cNvSpPr>
            <a:spLocks noChangeShapeType="1"/>
          </p:cNvSpPr>
          <p:nvPr/>
        </p:nvSpPr>
        <p:spPr bwMode="auto">
          <a:xfrm>
            <a:off x="3400440" y="4491792"/>
            <a:ext cx="18288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9" name="Line 9">
            <a:extLst>
              <a:ext uri="{FF2B5EF4-FFF2-40B4-BE49-F238E27FC236}">
                <a16:creationId xmlns:a16="http://schemas.microsoft.com/office/drawing/2014/main" id="{BB936135-7F05-AA50-98E7-6FCB93316968}"/>
              </a:ext>
            </a:extLst>
          </p:cNvPr>
          <p:cNvSpPr>
            <a:spLocks noChangeShapeType="1"/>
          </p:cNvSpPr>
          <p:nvPr/>
        </p:nvSpPr>
        <p:spPr bwMode="auto">
          <a:xfrm>
            <a:off x="3400440" y="4833501"/>
            <a:ext cx="18288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11" name="Line 10">
            <a:extLst>
              <a:ext uri="{FF2B5EF4-FFF2-40B4-BE49-F238E27FC236}">
                <a16:creationId xmlns:a16="http://schemas.microsoft.com/office/drawing/2014/main" id="{79DABCA4-80FF-C2EF-BD37-BF436C470133}"/>
              </a:ext>
            </a:extLst>
          </p:cNvPr>
          <p:cNvSpPr>
            <a:spLocks noChangeShapeType="1"/>
          </p:cNvSpPr>
          <p:nvPr/>
        </p:nvSpPr>
        <p:spPr bwMode="auto">
          <a:xfrm>
            <a:off x="3400440" y="4491792"/>
            <a:ext cx="0" cy="34171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12" name="Line 11">
            <a:extLst>
              <a:ext uri="{FF2B5EF4-FFF2-40B4-BE49-F238E27FC236}">
                <a16:creationId xmlns:a16="http://schemas.microsoft.com/office/drawing/2014/main" id="{EAA7C810-790E-A7E8-3643-26BFBE942943}"/>
              </a:ext>
            </a:extLst>
          </p:cNvPr>
          <p:cNvSpPr>
            <a:spLocks noChangeShapeType="1"/>
          </p:cNvSpPr>
          <p:nvPr/>
        </p:nvSpPr>
        <p:spPr bwMode="auto">
          <a:xfrm>
            <a:off x="4391040" y="4491792"/>
            <a:ext cx="0" cy="3417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13" name="Line 12">
            <a:extLst>
              <a:ext uri="{FF2B5EF4-FFF2-40B4-BE49-F238E27FC236}">
                <a16:creationId xmlns:a16="http://schemas.microsoft.com/office/drawing/2014/main" id="{9629B9EC-239C-79AC-5498-B485239CAB57}"/>
              </a:ext>
            </a:extLst>
          </p:cNvPr>
          <p:cNvSpPr>
            <a:spLocks noChangeShapeType="1"/>
          </p:cNvSpPr>
          <p:nvPr/>
        </p:nvSpPr>
        <p:spPr bwMode="auto">
          <a:xfrm>
            <a:off x="5229240" y="4491792"/>
            <a:ext cx="0" cy="34171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14" name="Rectangle 13">
            <a:extLst>
              <a:ext uri="{FF2B5EF4-FFF2-40B4-BE49-F238E27FC236}">
                <a16:creationId xmlns:a16="http://schemas.microsoft.com/office/drawing/2014/main" id="{F5AC4F4C-B4F5-05D0-D678-C1C7D38E2508}"/>
              </a:ext>
            </a:extLst>
          </p:cNvPr>
          <p:cNvSpPr>
            <a:spLocks noChangeArrowheads="1"/>
          </p:cNvSpPr>
          <p:nvPr/>
        </p:nvSpPr>
        <p:spPr bwMode="auto">
          <a:xfrm>
            <a:off x="2105040" y="4492983"/>
            <a:ext cx="838200" cy="341709"/>
          </a:xfrm>
          <a:prstGeom prst="rect">
            <a:avLst/>
          </a:prstGeom>
          <a:noFill/>
          <a:ln>
            <a:noFill/>
          </a:ln>
          <a:effectLst/>
        </p:spPr>
        <p:txBody>
          <a:bodyPr/>
          <a:lstStyle/>
          <a:p>
            <a:pPr>
              <a:spcBef>
                <a:spcPct val="20000"/>
              </a:spcBef>
              <a:buFont typeface="Arial" pitchFamily="34" charset="0"/>
              <a:buNone/>
            </a:pPr>
            <a:r>
              <a:rPr lang="en-US" altLang="zh-CN" sz="2000" b="1" dirty="0">
                <a:latin typeface="楷体_GB2312" pitchFamily="49" charset="-122"/>
                <a:ea typeface="楷体_GB2312" pitchFamily="49" charset="-122"/>
              </a:rPr>
              <a:t>1400</a:t>
            </a:r>
          </a:p>
        </p:txBody>
      </p:sp>
      <p:sp>
        <p:nvSpPr>
          <p:cNvPr id="22" name="Rectangle 14">
            <a:extLst>
              <a:ext uri="{FF2B5EF4-FFF2-40B4-BE49-F238E27FC236}">
                <a16:creationId xmlns:a16="http://schemas.microsoft.com/office/drawing/2014/main" id="{3FB79BEA-64F3-D9C9-EB74-D8ADF1CEA8B4}"/>
              </a:ext>
            </a:extLst>
          </p:cNvPr>
          <p:cNvSpPr>
            <a:spLocks noChangeArrowheads="1"/>
          </p:cNvSpPr>
          <p:nvPr/>
        </p:nvSpPr>
        <p:spPr bwMode="auto">
          <a:xfrm>
            <a:off x="1114440" y="4492983"/>
            <a:ext cx="990600" cy="341709"/>
          </a:xfrm>
          <a:prstGeom prst="rect">
            <a:avLst/>
          </a:prstGeom>
          <a:noFill/>
          <a:ln>
            <a:noFill/>
          </a:ln>
          <a:effectLst/>
        </p:spPr>
        <p:txBody>
          <a:bodyPr/>
          <a:lstStyle/>
          <a:p>
            <a:pPr>
              <a:spcBef>
                <a:spcPct val="20000"/>
              </a:spcBef>
              <a:buFont typeface="Arial" pitchFamily="34" charset="0"/>
              <a:buNone/>
            </a:pPr>
            <a:r>
              <a:rPr lang="zh-CN" altLang="en-US" sz="2000" dirty="0">
                <a:latin typeface="楷体_GB2312" pitchFamily="49" charset="-122"/>
                <a:ea typeface="楷体_GB2312" pitchFamily="49" charset="-122"/>
              </a:rPr>
              <a:t>元素</a:t>
            </a:r>
            <a:r>
              <a:rPr lang="en-US" altLang="zh-CN" sz="2000" dirty="0">
                <a:latin typeface="楷体_GB2312" pitchFamily="49" charset="-122"/>
                <a:ea typeface="楷体_GB2312" pitchFamily="49" charset="-122"/>
              </a:rPr>
              <a:t>1</a:t>
            </a:r>
          </a:p>
        </p:txBody>
      </p:sp>
      <p:sp>
        <p:nvSpPr>
          <p:cNvPr id="23" name="Line 15">
            <a:extLst>
              <a:ext uri="{FF2B5EF4-FFF2-40B4-BE49-F238E27FC236}">
                <a16:creationId xmlns:a16="http://schemas.microsoft.com/office/drawing/2014/main" id="{F112586C-3DAD-CC89-9EC2-0F42D0BD9831}"/>
              </a:ext>
            </a:extLst>
          </p:cNvPr>
          <p:cNvSpPr>
            <a:spLocks noChangeShapeType="1"/>
          </p:cNvSpPr>
          <p:nvPr/>
        </p:nvSpPr>
        <p:spPr bwMode="auto">
          <a:xfrm>
            <a:off x="1114440" y="4492983"/>
            <a:ext cx="18288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4" name="Line 16">
            <a:extLst>
              <a:ext uri="{FF2B5EF4-FFF2-40B4-BE49-F238E27FC236}">
                <a16:creationId xmlns:a16="http://schemas.microsoft.com/office/drawing/2014/main" id="{5E5EB51D-81AA-1A4F-80A0-FDAAB1B7082D}"/>
              </a:ext>
            </a:extLst>
          </p:cNvPr>
          <p:cNvSpPr>
            <a:spLocks noChangeShapeType="1"/>
          </p:cNvSpPr>
          <p:nvPr/>
        </p:nvSpPr>
        <p:spPr bwMode="auto">
          <a:xfrm>
            <a:off x="1114440" y="4834692"/>
            <a:ext cx="18288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5" name="Line 17">
            <a:extLst>
              <a:ext uri="{FF2B5EF4-FFF2-40B4-BE49-F238E27FC236}">
                <a16:creationId xmlns:a16="http://schemas.microsoft.com/office/drawing/2014/main" id="{C658A794-1755-5B39-73D9-2E678AB98647}"/>
              </a:ext>
            </a:extLst>
          </p:cNvPr>
          <p:cNvSpPr>
            <a:spLocks noChangeShapeType="1"/>
          </p:cNvSpPr>
          <p:nvPr/>
        </p:nvSpPr>
        <p:spPr bwMode="auto">
          <a:xfrm>
            <a:off x="1114440" y="4492983"/>
            <a:ext cx="0" cy="341709"/>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6" name="Line 18">
            <a:extLst>
              <a:ext uri="{FF2B5EF4-FFF2-40B4-BE49-F238E27FC236}">
                <a16:creationId xmlns:a16="http://schemas.microsoft.com/office/drawing/2014/main" id="{6BCF4B3F-FC4A-9ABC-49B4-2788B5840980}"/>
              </a:ext>
            </a:extLst>
          </p:cNvPr>
          <p:cNvSpPr>
            <a:spLocks noChangeShapeType="1"/>
          </p:cNvSpPr>
          <p:nvPr/>
        </p:nvSpPr>
        <p:spPr bwMode="auto">
          <a:xfrm>
            <a:off x="1955715" y="4492983"/>
            <a:ext cx="0" cy="34170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7" name="Line 19">
            <a:extLst>
              <a:ext uri="{FF2B5EF4-FFF2-40B4-BE49-F238E27FC236}">
                <a16:creationId xmlns:a16="http://schemas.microsoft.com/office/drawing/2014/main" id="{176D05A2-759C-AA68-2E25-33A8ADD332E3}"/>
              </a:ext>
            </a:extLst>
          </p:cNvPr>
          <p:cNvSpPr>
            <a:spLocks noChangeShapeType="1"/>
          </p:cNvSpPr>
          <p:nvPr/>
        </p:nvSpPr>
        <p:spPr bwMode="auto">
          <a:xfrm>
            <a:off x="2943240" y="4492983"/>
            <a:ext cx="0" cy="341709"/>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28" name="Rectangle 20">
            <a:extLst>
              <a:ext uri="{FF2B5EF4-FFF2-40B4-BE49-F238E27FC236}">
                <a16:creationId xmlns:a16="http://schemas.microsoft.com/office/drawing/2014/main" id="{4648D525-96E2-8D06-52F6-27176B639703}"/>
              </a:ext>
            </a:extLst>
          </p:cNvPr>
          <p:cNvSpPr>
            <a:spLocks noChangeArrowheads="1"/>
          </p:cNvSpPr>
          <p:nvPr/>
        </p:nvSpPr>
        <p:spPr bwMode="auto">
          <a:xfrm>
            <a:off x="6600840" y="4491792"/>
            <a:ext cx="838200" cy="342900"/>
          </a:xfrm>
          <a:prstGeom prst="rect">
            <a:avLst/>
          </a:prstGeom>
          <a:noFill/>
          <a:ln>
            <a:noFill/>
          </a:ln>
          <a:effectLst/>
        </p:spPr>
        <p:txBody>
          <a:bodyPr/>
          <a:lstStyle/>
          <a:p>
            <a:pPr>
              <a:spcBef>
                <a:spcPct val="20000"/>
              </a:spcBef>
              <a:buFont typeface="Arial" pitchFamily="34" charset="0"/>
              <a:buNone/>
            </a:pPr>
            <a:r>
              <a:rPr lang="en-US" altLang="zh-CN" sz="2000" b="1">
                <a:latin typeface="楷体_GB2312" pitchFamily="49" charset="-122"/>
                <a:ea typeface="楷体_GB2312" pitchFamily="49" charset="-122"/>
              </a:rPr>
              <a:t>1346</a:t>
            </a:r>
          </a:p>
        </p:txBody>
      </p:sp>
      <p:sp>
        <p:nvSpPr>
          <p:cNvPr id="29" name="Rectangle 21">
            <a:extLst>
              <a:ext uri="{FF2B5EF4-FFF2-40B4-BE49-F238E27FC236}">
                <a16:creationId xmlns:a16="http://schemas.microsoft.com/office/drawing/2014/main" id="{7888D56A-750A-DA1D-78F5-F72D43CB1234}"/>
              </a:ext>
            </a:extLst>
          </p:cNvPr>
          <p:cNvSpPr>
            <a:spLocks noChangeArrowheads="1"/>
          </p:cNvSpPr>
          <p:nvPr/>
        </p:nvSpPr>
        <p:spPr bwMode="auto">
          <a:xfrm>
            <a:off x="5610240" y="4491792"/>
            <a:ext cx="990600" cy="342900"/>
          </a:xfrm>
          <a:prstGeom prst="rect">
            <a:avLst/>
          </a:prstGeom>
          <a:noFill/>
          <a:ln>
            <a:noFill/>
          </a:ln>
          <a:effectLst/>
        </p:spPr>
        <p:txBody>
          <a:bodyPr/>
          <a:lstStyle/>
          <a:p>
            <a:pPr>
              <a:spcBef>
                <a:spcPct val="20000"/>
              </a:spcBef>
              <a:buFont typeface="Arial" pitchFamily="34" charset="0"/>
              <a:buNone/>
            </a:pPr>
            <a:r>
              <a:rPr lang="zh-CN" altLang="en-US" sz="2000" dirty="0">
                <a:latin typeface="楷体_GB2312" pitchFamily="49" charset="-122"/>
                <a:ea typeface="楷体_GB2312" pitchFamily="49" charset="-122"/>
              </a:rPr>
              <a:t>元素</a:t>
            </a:r>
            <a:r>
              <a:rPr lang="en-US" altLang="zh-CN" sz="2000" dirty="0">
                <a:latin typeface="楷体_GB2312" pitchFamily="49" charset="-122"/>
                <a:ea typeface="楷体_GB2312" pitchFamily="49" charset="-122"/>
              </a:rPr>
              <a:t>3</a:t>
            </a:r>
          </a:p>
        </p:txBody>
      </p:sp>
      <p:sp>
        <p:nvSpPr>
          <p:cNvPr id="30" name="Line 22">
            <a:extLst>
              <a:ext uri="{FF2B5EF4-FFF2-40B4-BE49-F238E27FC236}">
                <a16:creationId xmlns:a16="http://schemas.microsoft.com/office/drawing/2014/main" id="{E00F5EBB-95FE-C1BA-3B02-62DF627A5C98}"/>
              </a:ext>
            </a:extLst>
          </p:cNvPr>
          <p:cNvSpPr>
            <a:spLocks noChangeShapeType="1"/>
          </p:cNvSpPr>
          <p:nvPr/>
        </p:nvSpPr>
        <p:spPr bwMode="auto">
          <a:xfrm>
            <a:off x="5610240" y="4491792"/>
            <a:ext cx="18288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31" name="Line 23">
            <a:extLst>
              <a:ext uri="{FF2B5EF4-FFF2-40B4-BE49-F238E27FC236}">
                <a16:creationId xmlns:a16="http://schemas.microsoft.com/office/drawing/2014/main" id="{DA4F370E-4DB1-5C37-B69C-7BF883BA51D7}"/>
              </a:ext>
            </a:extLst>
          </p:cNvPr>
          <p:cNvSpPr>
            <a:spLocks noChangeShapeType="1"/>
          </p:cNvSpPr>
          <p:nvPr/>
        </p:nvSpPr>
        <p:spPr bwMode="auto">
          <a:xfrm>
            <a:off x="5610240" y="4834692"/>
            <a:ext cx="182880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32" name="Line 24">
            <a:extLst>
              <a:ext uri="{FF2B5EF4-FFF2-40B4-BE49-F238E27FC236}">
                <a16:creationId xmlns:a16="http://schemas.microsoft.com/office/drawing/2014/main" id="{D1156F0A-1EE8-FE74-2538-B8D40D1301DF}"/>
              </a:ext>
            </a:extLst>
          </p:cNvPr>
          <p:cNvSpPr>
            <a:spLocks noChangeShapeType="1"/>
          </p:cNvSpPr>
          <p:nvPr/>
        </p:nvSpPr>
        <p:spPr bwMode="auto">
          <a:xfrm>
            <a:off x="5610240" y="4491792"/>
            <a:ext cx="0" cy="34290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33" name="Line 25">
            <a:extLst>
              <a:ext uri="{FF2B5EF4-FFF2-40B4-BE49-F238E27FC236}">
                <a16:creationId xmlns:a16="http://schemas.microsoft.com/office/drawing/2014/main" id="{337204B3-84A3-9085-6159-A055D313C9C0}"/>
              </a:ext>
            </a:extLst>
          </p:cNvPr>
          <p:cNvSpPr>
            <a:spLocks noChangeShapeType="1"/>
          </p:cNvSpPr>
          <p:nvPr/>
        </p:nvSpPr>
        <p:spPr bwMode="auto">
          <a:xfrm>
            <a:off x="6600840" y="4491792"/>
            <a:ext cx="0" cy="342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34" name="Line 26">
            <a:extLst>
              <a:ext uri="{FF2B5EF4-FFF2-40B4-BE49-F238E27FC236}">
                <a16:creationId xmlns:a16="http://schemas.microsoft.com/office/drawing/2014/main" id="{63CE60EC-DF9C-D0AA-0BDD-1A7748B12621}"/>
              </a:ext>
            </a:extLst>
          </p:cNvPr>
          <p:cNvSpPr>
            <a:spLocks noChangeShapeType="1"/>
          </p:cNvSpPr>
          <p:nvPr/>
        </p:nvSpPr>
        <p:spPr bwMode="auto">
          <a:xfrm>
            <a:off x="7439040" y="4491792"/>
            <a:ext cx="0" cy="34290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35" name="Rectangle 27">
            <a:extLst>
              <a:ext uri="{FF2B5EF4-FFF2-40B4-BE49-F238E27FC236}">
                <a16:creationId xmlns:a16="http://schemas.microsoft.com/office/drawing/2014/main" id="{04F44B81-4CC8-F89C-DAFD-ECDF59752717}"/>
              </a:ext>
            </a:extLst>
          </p:cNvPr>
          <p:cNvSpPr>
            <a:spLocks noChangeArrowheads="1"/>
          </p:cNvSpPr>
          <p:nvPr/>
        </p:nvSpPr>
        <p:spPr bwMode="auto">
          <a:xfrm>
            <a:off x="8513009" y="4512220"/>
            <a:ext cx="611559" cy="341710"/>
          </a:xfrm>
          <a:prstGeom prst="rect">
            <a:avLst/>
          </a:prstGeom>
          <a:noFill/>
          <a:ln>
            <a:noFill/>
          </a:ln>
          <a:effectLst/>
        </p:spPr>
        <p:txBody>
          <a:bodyPr/>
          <a:lstStyle/>
          <a:p>
            <a:pPr>
              <a:spcBef>
                <a:spcPct val="20000"/>
              </a:spcBef>
              <a:buFont typeface="Arial" pitchFamily="34" charset="0"/>
              <a:buNone/>
            </a:pPr>
            <a:r>
              <a:rPr lang="zh-CN" altLang="en-US" sz="2000" b="1" dirty="0">
                <a:latin typeface="楷体_GB2312" pitchFamily="49" charset="-122"/>
                <a:ea typeface="楷体_GB2312" pitchFamily="49" charset="-122"/>
              </a:rPr>
              <a:t> ∧</a:t>
            </a:r>
          </a:p>
        </p:txBody>
      </p:sp>
      <p:sp>
        <p:nvSpPr>
          <p:cNvPr id="36" name="Rectangle 28">
            <a:extLst>
              <a:ext uri="{FF2B5EF4-FFF2-40B4-BE49-F238E27FC236}">
                <a16:creationId xmlns:a16="http://schemas.microsoft.com/office/drawing/2014/main" id="{2D575320-EA62-3DEA-FD8E-B21A6E1D3B57}"/>
              </a:ext>
            </a:extLst>
          </p:cNvPr>
          <p:cNvSpPr>
            <a:spLocks noChangeArrowheads="1"/>
          </p:cNvSpPr>
          <p:nvPr/>
        </p:nvSpPr>
        <p:spPr bwMode="auto">
          <a:xfrm>
            <a:off x="7820040" y="4491792"/>
            <a:ext cx="990600" cy="341710"/>
          </a:xfrm>
          <a:prstGeom prst="rect">
            <a:avLst/>
          </a:prstGeom>
          <a:noFill/>
          <a:ln>
            <a:noFill/>
          </a:ln>
          <a:effectLst/>
        </p:spPr>
        <p:txBody>
          <a:bodyPr/>
          <a:lstStyle/>
          <a:p>
            <a:pPr>
              <a:spcBef>
                <a:spcPct val="20000"/>
              </a:spcBef>
              <a:buFont typeface="Arial" pitchFamily="34" charset="0"/>
              <a:buNone/>
            </a:pPr>
            <a:r>
              <a:rPr lang="zh-CN" altLang="en-US" sz="2000" dirty="0">
                <a:latin typeface="楷体_GB2312" pitchFamily="49" charset="-122"/>
                <a:ea typeface="楷体_GB2312" pitchFamily="49" charset="-122"/>
              </a:rPr>
              <a:t>元素</a:t>
            </a:r>
            <a:r>
              <a:rPr lang="en-US" altLang="zh-CN" sz="2000" dirty="0">
                <a:latin typeface="楷体_GB2312" pitchFamily="49" charset="-122"/>
                <a:ea typeface="楷体_GB2312" pitchFamily="49" charset="-122"/>
              </a:rPr>
              <a:t>4</a:t>
            </a:r>
          </a:p>
        </p:txBody>
      </p:sp>
      <p:sp>
        <p:nvSpPr>
          <p:cNvPr id="37" name="Line 29">
            <a:extLst>
              <a:ext uri="{FF2B5EF4-FFF2-40B4-BE49-F238E27FC236}">
                <a16:creationId xmlns:a16="http://schemas.microsoft.com/office/drawing/2014/main" id="{CEA13B45-FFF1-EDFD-AC08-7F80515FFD4A}"/>
              </a:ext>
            </a:extLst>
          </p:cNvPr>
          <p:cNvSpPr>
            <a:spLocks noChangeShapeType="1"/>
          </p:cNvSpPr>
          <p:nvPr/>
        </p:nvSpPr>
        <p:spPr bwMode="auto">
          <a:xfrm>
            <a:off x="7820040" y="4491791"/>
            <a:ext cx="1197024" cy="884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38" name="Line 30">
            <a:extLst>
              <a:ext uri="{FF2B5EF4-FFF2-40B4-BE49-F238E27FC236}">
                <a16:creationId xmlns:a16="http://schemas.microsoft.com/office/drawing/2014/main" id="{4860FA4C-7D43-6822-2541-150C4E8E43CB}"/>
              </a:ext>
            </a:extLst>
          </p:cNvPr>
          <p:cNvSpPr>
            <a:spLocks noChangeShapeType="1"/>
          </p:cNvSpPr>
          <p:nvPr/>
        </p:nvSpPr>
        <p:spPr bwMode="auto">
          <a:xfrm>
            <a:off x="7820040" y="4833501"/>
            <a:ext cx="1197024" cy="884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39" name="Line 31">
            <a:extLst>
              <a:ext uri="{FF2B5EF4-FFF2-40B4-BE49-F238E27FC236}">
                <a16:creationId xmlns:a16="http://schemas.microsoft.com/office/drawing/2014/main" id="{26DBB72C-62A3-4612-F292-1B2647DA75BD}"/>
              </a:ext>
            </a:extLst>
          </p:cNvPr>
          <p:cNvSpPr>
            <a:spLocks noChangeShapeType="1"/>
          </p:cNvSpPr>
          <p:nvPr/>
        </p:nvSpPr>
        <p:spPr bwMode="auto">
          <a:xfrm>
            <a:off x="7820040" y="4491792"/>
            <a:ext cx="0" cy="34171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40" name="Line 32">
            <a:extLst>
              <a:ext uri="{FF2B5EF4-FFF2-40B4-BE49-F238E27FC236}">
                <a16:creationId xmlns:a16="http://schemas.microsoft.com/office/drawing/2014/main" id="{461394CA-8A01-ACAB-D842-90A8FEC6A75C}"/>
              </a:ext>
            </a:extLst>
          </p:cNvPr>
          <p:cNvSpPr>
            <a:spLocks noChangeShapeType="1"/>
          </p:cNvSpPr>
          <p:nvPr/>
        </p:nvSpPr>
        <p:spPr bwMode="auto">
          <a:xfrm>
            <a:off x="8657024" y="4491792"/>
            <a:ext cx="0" cy="3417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sp>
        <p:nvSpPr>
          <p:cNvPr id="41" name="Line 33">
            <a:extLst>
              <a:ext uri="{FF2B5EF4-FFF2-40B4-BE49-F238E27FC236}">
                <a16:creationId xmlns:a16="http://schemas.microsoft.com/office/drawing/2014/main" id="{8ECB5B71-E8F2-3BED-BA5E-362EFECD3A9C}"/>
              </a:ext>
            </a:extLst>
          </p:cNvPr>
          <p:cNvSpPr>
            <a:spLocks noChangeShapeType="1"/>
          </p:cNvSpPr>
          <p:nvPr/>
        </p:nvSpPr>
        <p:spPr bwMode="auto">
          <a:xfrm>
            <a:off x="9017064" y="4500634"/>
            <a:ext cx="0" cy="34171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sz="2000"/>
          </a:p>
        </p:txBody>
      </p:sp>
      <p:cxnSp>
        <p:nvCxnSpPr>
          <p:cNvPr id="42" name="AutoShape 36">
            <a:extLst>
              <a:ext uri="{FF2B5EF4-FFF2-40B4-BE49-F238E27FC236}">
                <a16:creationId xmlns:a16="http://schemas.microsoft.com/office/drawing/2014/main" id="{FD308905-B6CF-53D1-F1CC-1C9B5291A5F6}"/>
              </a:ext>
            </a:extLst>
          </p:cNvPr>
          <p:cNvCxnSpPr>
            <a:cxnSpLocks noChangeShapeType="1"/>
            <a:stCxn id="14" idx="3"/>
            <a:endCxn id="7" idx="1"/>
          </p:cNvCxnSpPr>
          <p:nvPr/>
        </p:nvCxnSpPr>
        <p:spPr bwMode="auto">
          <a:xfrm flipV="1">
            <a:off x="2943240" y="4663242"/>
            <a:ext cx="457200" cy="1191"/>
          </a:xfrm>
          <a:prstGeom prst="straightConnector1">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cxnSp>
      <p:cxnSp>
        <p:nvCxnSpPr>
          <p:cNvPr id="43" name="AutoShape 37">
            <a:extLst>
              <a:ext uri="{FF2B5EF4-FFF2-40B4-BE49-F238E27FC236}">
                <a16:creationId xmlns:a16="http://schemas.microsoft.com/office/drawing/2014/main" id="{E86B8547-C93A-6A5E-DC56-C20E3830ACAC}"/>
              </a:ext>
            </a:extLst>
          </p:cNvPr>
          <p:cNvCxnSpPr>
            <a:cxnSpLocks noChangeShapeType="1"/>
            <a:stCxn id="6" idx="3"/>
            <a:endCxn id="29" idx="1"/>
          </p:cNvCxnSpPr>
          <p:nvPr/>
        </p:nvCxnSpPr>
        <p:spPr bwMode="auto">
          <a:xfrm>
            <a:off x="5229240" y="4663242"/>
            <a:ext cx="381000" cy="0"/>
          </a:xfrm>
          <a:prstGeom prst="straightConnector1">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cxnSp>
      <p:cxnSp>
        <p:nvCxnSpPr>
          <p:cNvPr id="44" name="AutoShape 38">
            <a:extLst>
              <a:ext uri="{FF2B5EF4-FFF2-40B4-BE49-F238E27FC236}">
                <a16:creationId xmlns:a16="http://schemas.microsoft.com/office/drawing/2014/main" id="{0B53AD83-F954-ECC2-A9CE-D94418B4A6A4}"/>
              </a:ext>
            </a:extLst>
          </p:cNvPr>
          <p:cNvCxnSpPr>
            <a:cxnSpLocks noChangeShapeType="1"/>
            <a:stCxn id="28" idx="3"/>
            <a:endCxn id="36" idx="1"/>
          </p:cNvCxnSpPr>
          <p:nvPr/>
        </p:nvCxnSpPr>
        <p:spPr bwMode="auto">
          <a:xfrm>
            <a:off x="7439040" y="4663242"/>
            <a:ext cx="381000" cy="0"/>
          </a:xfrm>
          <a:prstGeom prst="straightConnector1">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cxnSp>
      <p:sp>
        <p:nvSpPr>
          <p:cNvPr id="45" name="Line 74">
            <a:extLst>
              <a:ext uri="{FF2B5EF4-FFF2-40B4-BE49-F238E27FC236}">
                <a16:creationId xmlns:a16="http://schemas.microsoft.com/office/drawing/2014/main" id="{C3D1EDB8-8FFD-5B22-3B82-73717EB51A3F}"/>
              </a:ext>
            </a:extLst>
          </p:cNvPr>
          <p:cNvSpPr>
            <a:spLocks noChangeShapeType="1"/>
          </p:cNvSpPr>
          <p:nvPr/>
        </p:nvSpPr>
        <p:spPr bwMode="auto">
          <a:xfrm flipV="1">
            <a:off x="709038" y="4683075"/>
            <a:ext cx="405402"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Text Box 75" descr="蓝色砂纸">
            <a:extLst>
              <a:ext uri="{FF2B5EF4-FFF2-40B4-BE49-F238E27FC236}">
                <a16:creationId xmlns:a16="http://schemas.microsoft.com/office/drawing/2014/main" id="{0155281F-A3AE-AAC1-351A-233E339BC46D}"/>
              </a:ext>
            </a:extLst>
          </p:cNvPr>
          <p:cNvSpPr txBox="1">
            <a:spLocks noChangeArrowheads="1"/>
          </p:cNvSpPr>
          <p:nvPr/>
        </p:nvSpPr>
        <p:spPr bwMode="auto">
          <a:xfrm>
            <a:off x="273166" y="4374807"/>
            <a:ext cx="381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800" b="1" dirty="0">
                <a:latin typeface="Times New Roman" pitchFamily="18" charset="0"/>
              </a:rPr>
              <a:t>h</a:t>
            </a:r>
          </a:p>
        </p:txBody>
      </p:sp>
      <p:sp>
        <p:nvSpPr>
          <p:cNvPr id="47" name="Text Box 75" descr="蓝色砂纸">
            <a:extLst>
              <a:ext uri="{FF2B5EF4-FFF2-40B4-BE49-F238E27FC236}">
                <a16:creationId xmlns:a16="http://schemas.microsoft.com/office/drawing/2014/main" id="{930B1C4B-C138-61B0-7404-6D6D61384249}"/>
              </a:ext>
            </a:extLst>
          </p:cNvPr>
          <p:cNvSpPr txBox="1">
            <a:spLocks noChangeArrowheads="1"/>
          </p:cNvSpPr>
          <p:nvPr/>
        </p:nvSpPr>
        <p:spPr bwMode="auto">
          <a:xfrm>
            <a:off x="1577981" y="2608361"/>
            <a:ext cx="381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kumimoji="1" lang="en-US" altLang="zh-CN" sz="2800" b="1" dirty="0">
                <a:latin typeface="Times New Roman" pitchFamily="18" charset="0"/>
              </a:rPr>
              <a:t>h</a:t>
            </a:r>
          </a:p>
        </p:txBody>
      </p:sp>
      <p:sp>
        <p:nvSpPr>
          <p:cNvPr id="48" name="Line 74">
            <a:extLst>
              <a:ext uri="{FF2B5EF4-FFF2-40B4-BE49-F238E27FC236}">
                <a16:creationId xmlns:a16="http://schemas.microsoft.com/office/drawing/2014/main" id="{14ACAA16-5D87-59EF-3A86-8B884C87B64F}"/>
              </a:ext>
            </a:extLst>
          </p:cNvPr>
          <p:cNvSpPr>
            <a:spLocks noChangeShapeType="1"/>
          </p:cNvSpPr>
          <p:nvPr/>
        </p:nvSpPr>
        <p:spPr bwMode="auto">
          <a:xfrm flipV="1">
            <a:off x="1858379" y="2806209"/>
            <a:ext cx="405402"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9" name="组合 48">
            <a:extLst>
              <a:ext uri="{FF2B5EF4-FFF2-40B4-BE49-F238E27FC236}">
                <a16:creationId xmlns:a16="http://schemas.microsoft.com/office/drawing/2014/main" id="{4FA26A02-9F96-D2F1-8969-810E3DD028E5}"/>
              </a:ext>
            </a:extLst>
          </p:cNvPr>
          <p:cNvGrpSpPr/>
          <p:nvPr/>
        </p:nvGrpSpPr>
        <p:grpSpPr>
          <a:xfrm>
            <a:off x="1858379" y="2803028"/>
            <a:ext cx="6120402" cy="881744"/>
            <a:chOff x="2777105" y="3865860"/>
            <a:chExt cx="6120402" cy="1175658"/>
          </a:xfrm>
        </p:grpSpPr>
        <p:sp>
          <p:nvSpPr>
            <p:cNvPr id="50" name="Line 74">
              <a:extLst>
                <a:ext uri="{FF2B5EF4-FFF2-40B4-BE49-F238E27FC236}">
                  <a16:creationId xmlns:a16="http://schemas.microsoft.com/office/drawing/2014/main" id="{D5E0E308-77DA-D235-CBD3-030C40BDB660}"/>
                </a:ext>
              </a:extLst>
            </p:cNvPr>
            <p:cNvSpPr>
              <a:spLocks noChangeShapeType="1"/>
            </p:cNvSpPr>
            <p:nvPr/>
          </p:nvSpPr>
          <p:spPr bwMode="auto">
            <a:xfrm flipV="1">
              <a:off x="8492105" y="3865860"/>
              <a:ext cx="405402" cy="0"/>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74">
              <a:extLst>
                <a:ext uri="{FF2B5EF4-FFF2-40B4-BE49-F238E27FC236}">
                  <a16:creationId xmlns:a16="http://schemas.microsoft.com/office/drawing/2014/main" id="{1BD83463-3607-C41A-9F74-0B55ACE5C575}"/>
                </a:ext>
              </a:extLst>
            </p:cNvPr>
            <p:cNvSpPr>
              <a:spLocks noChangeShapeType="1"/>
            </p:cNvSpPr>
            <p:nvPr/>
          </p:nvSpPr>
          <p:spPr bwMode="auto">
            <a:xfrm flipV="1">
              <a:off x="2777105" y="5041517"/>
              <a:ext cx="405402"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74">
              <a:extLst>
                <a:ext uri="{FF2B5EF4-FFF2-40B4-BE49-F238E27FC236}">
                  <a16:creationId xmlns:a16="http://schemas.microsoft.com/office/drawing/2014/main" id="{047EAB8A-E281-CE89-F087-36CE7897CE1F}"/>
                </a:ext>
              </a:extLst>
            </p:cNvPr>
            <p:cNvSpPr>
              <a:spLocks noChangeShapeType="1"/>
            </p:cNvSpPr>
            <p:nvPr/>
          </p:nvSpPr>
          <p:spPr bwMode="auto">
            <a:xfrm>
              <a:off x="8897507" y="3870101"/>
              <a:ext cx="0" cy="780275"/>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74">
              <a:extLst>
                <a:ext uri="{FF2B5EF4-FFF2-40B4-BE49-F238E27FC236}">
                  <a16:creationId xmlns:a16="http://schemas.microsoft.com/office/drawing/2014/main" id="{5C9AE22B-0D46-D4DD-B647-A1D79DA69771}"/>
                </a:ext>
              </a:extLst>
            </p:cNvPr>
            <p:cNvSpPr>
              <a:spLocks noChangeShapeType="1"/>
            </p:cNvSpPr>
            <p:nvPr/>
          </p:nvSpPr>
          <p:spPr bwMode="auto">
            <a:xfrm flipV="1">
              <a:off x="2777105" y="4650376"/>
              <a:ext cx="6120402" cy="0"/>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74">
              <a:extLst>
                <a:ext uri="{FF2B5EF4-FFF2-40B4-BE49-F238E27FC236}">
                  <a16:creationId xmlns:a16="http://schemas.microsoft.com/office/drawing/2014/main" id="{C7499460-2A94-7C99-ED46-0DD49E0389A6}"/>
                </a:ext>
              </a:extLst>
            </p:cNvPr>
            <p:cNvSpPr>
              <a:spLocks noChangeShapeType="1"/>
            </p:cNvSpPr>
            <p:nvPr/>
          </p:nvSpPr>
          <p:spPr bwMode="auto">
            <a:xfrm>
              <a:off x="2777105" y="4651380"/>
              <a:ext cx="0" cy="390138"/>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5" name="组合 54">
            <a:extLst>
              <a:ext uri="{FF2B5EF4-FFF2-40B4-BE49-F238E27FC236}">
                <a16:creationId xmlns:a16="http://schemas.microsoft.com/office/drawing/2014/main" id="{D743E328-F68E-22AF-44E0-CAE862BCB3BE}"/>
              </a:ext>
            </a:extLst>
          </p:cNvPr>
          <p:cNvGrpSpPr/>
          <p:nvPr/>
        </p:nvGrpSpPr>
        <p:grpSpPr>
          <a:xfrm>
            <a:off x="1877270" y="3684771"/>
            <a:ext cx="6131742" cy="568234"/>
            <a:chOff x="2795996" y="5041517"/>
            <a:chExt cx="6131742" cy="757645"/>
          </a:xfrm>
        </p:grpSpPr>
        <p:sp>
          <p:nvSpPr>
            <p:cNvPr id="56" name="Line 74">
              <a:extLst>
                <a:ext uri="{FF2B5EF4-FFF2-40B4-BE49-F238E27FC236}">
                  <a16:creationId xmlns:a16="http://schemas.microsoft.com/office/drawing/2014/main" id="{5717B97E-CCCA-96C6-24C8-EA06CBFA492D}"/>
                </a:ext>
              </a:extLst>
            </p:cNvPr>
            <p:cNvSpPr>
              <a:spLocks noChangeShapeType="1"/>
            </p:cNvSpPr>
            <p:nvPr/>
          </p:nvSpPr>
          <p:spPr bwMode="auto">
            <a:xfrm flipV="1">
              <a:off x="8504306" y="5041517"/>
              <a:ext cx="405402" cy="0"/>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74">
              <a:extLst>
                <a:ext uri="{FF2B5EF4-FFF2-40B4-BE49-F238E27FC236}">
                  <a16:creationId xmlns:a16="http://schemas.microsoft.com/office/drawing/2014/main" id="{DFDCA8B6-C964-01B6-2F80-3BADE35D2396}"/>
                </a:ext>
              </a:extLst>
            </p:cNvPr>
            <p:cNvSpPr>
              <a:spLocks noChangeShapeType="1"/>
            </p:cNvSpPr>
            <p:nvPr/>
          </p:nvSpPr>
          <p:spPr bwMode="auto">
            <a:xfrm flipH="1">
              <a:off x="8897507" y="5041518"/>
              <a:ext cx="12201" cy="358799"/>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74">
              <a:extLst>
                <a:ext uri="{FF2B5EF4-FFF2-40B4-BE49-F238E27FC236}">
                  <a16:creationId xmlns:a16="http://schemas.microsoft.com/office/drawing/2014/main" id="{2AD9EC62-58B4-DBD1-6C9D-06F58F39A524}"/>
                </a:ext>
              </a:extLst>
            </p:cNvPr>
            <p:cNvSpPr>
              <a:spLocks noChangeShapeType="1"/>
            </p:cNvSpPr>
            <p:nvPr/>
          </p:nvSpPr>
          <p:spPr bwMode="auto">
            <a:xfrm flipV="1">
              <a:off x="2807336" y="5400317"/>
              <a:ext cx="6120402" cy="0"/>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74">
              <a:extLst>
                <a:ext uri="{FF2B5EF4-FFF2-40B4-BE49-F238E27FC236}">
                  <a16:creationId xmlns:a16="http://schemas.microsoft.com/office/drawing/2014/main" id="{CE889143-D5AF-565A-26B8-5FE348EF62EE}"/>
                </a:ext>
              </a:extLst>
            </p:cNvPr>
            <p:cNvSpPr>
              <a:spLocks noChangeShapeType="1"/>
            </p:cNvSpPr>
            <p:nvPr/>
          </p:nvSpPr>
          <p:spPr bwMode="auto">
            <a:xfrm flipH="1">
              <a:off x="2795996" y="5400317"/>
              <a:ext cx="0" cy="398845"/>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74">
              <a:extLst>
                <a:ext uri="{FF2B5EF4-FFF2-40B4-BE49-F238E27FC236}">
                  <a16:creationId xmlns:a16="http://schemas.microsoft.com/office/drawing/2014/main" id="{D19B7481-648C-FC6C-1ADE-81A235A1521D}"/>
                </a:ext>
              </a:extLst>
            </p:cNvPr>
            <p:cNvSpPr>
              <a:spLocks noChangeShapeType="1"/>
            </p:cNvSpPr>
            <p:nvPr/>
          </p:nvSpPr>
          <p:spPr bwMode="auto">
            <a:xfrm flipV="1">
              <a:off x="2795997" y="5799162"/>
              <a:ext cx="405402"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1" name="组合 60">
            <a:extLst>
              <a:ext uri="{FF2B5EF4-FFF2-40B4-BE49-F238E27FC236}">
                <a16:creationId xmlns:a16="http://schemas.microsoft.com/office/drawing/2014/main" id="{F2441979-1243-61AA-FCDD-046C8F1DB6C7}"/>
              </a:ext>
            </a:extLst>
          </p:cNvPr>
          <p:cNvGrpSpPr/>
          <p:nvPr/>
        </p:nvGrpSpPr>
        <p:grpSpPr>
          <a:xfrm>
            <a:off x="1493549" y="2659895"/>
            <a:ext cx="6775269" cy="1664396"/>
            <a:chOff x="2412274" y="3675017"/>
            <a:chExt cx="6775269" cy="2219194"/>
          </a:xfrm>
        </p:grpSpPr>
        <p:sp>
          <p:nvSpPr>
            <p:cNvPr id="62" name="Line 74">
              <a:extLst>
                <a:ext uri="{FF2B5EF4-FFF2-40B4-BE49-F238E27FC236}">
                  <a16:creationId xmlns:a16="http://schemas.microsoft.com/office/drawing/2014/main" id="{DA979BC1-B110-4A3D-FF9A-655353FA5888}"/>
                </a:ext>
              </a:extLst>
            </p:cNvPr>
            <p:cNvSpPr>
              <a:spLocks noChangeShapeType="1"/>
            </p:cNvSpPr>
            <p:nvPr/>
          </p:nvSpPr>
          <p:spPr bwMode="auto">
            <a:xfrm flipV="1">
              <a:off x="8492105" y="5894211"/>
              <a:ext cx="695438" cy="0"/>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74">
              <a:extLst>
                <a:ext uri="{FF2B5EF4-FFF2-40B4-BE49-F238E27FC236}">
                  <a16:creationId xmlns:a16="http://schemas.microsoft.com/office/drawing/2014/main" id="{DC4B604A-E1BE-15A5-9ECE-DDFC27D1DA66}"/>
                </a:ext>
              </a:extLst>
            </p:cNvPr>
            <p:cNvSpPr>
              <a:spLocks noChangeShapeType="1"/>
            </p:cNvSpPr>
            <p:nvPr/>
          </p:nvSpPr>
          <p:spPr bwMode="auto">
            <a:xfrm>
              <a:off x="9187543" y="3675017"/>
              <a:ext cx="0" cy="2219194"/>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74">
              <a:extLst>
                <a:ext uri="{FF2B5EF4-FFF2-40B4-BE49-F238E27FC236}">
                  <a16:creationId xmlns:a16="http://schemas.microsoft.com/office/drawing/2014/main" id="{856A5562-CE79-56CC-7138-83F3E4D69C7E}"/>
                </a:ext>
              </a:extLst>
            </p:cNvPr>
            <p:cNvSpPr>
              <a:spLocks noChangeShapeType="1"/>
            </p:cNvSpPr>
            <p:nvPr/>
          </p:nvSpPr>
          <p:spPr bwMode="auto">
            <a:xfrm flipV="1">
              <a:off x="2412274" y="3693437"/>
              <a:ext cx="6774407" cy="0"/>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74">
              <a:extLst>
                <a:ext uri="{FF2B5EF4-FFF2-40B4-BE49-F238E27FC236}">
                  <a16:creationId xmlns:a16="http://schemas.microsoft.com/office/drawing/2014/main" id="{39F87014-B723-99C1-B1FE-512F1460190D}"/>
                </a:ext>
              </a:extLst>
            </p:cNvPr>
            <p:cNvSpPr>
              <a:spLocks noChangeShapeType="1"/>
            </p:cNvSpPr>
            <p:nvPr/>
          </p:nvSpPr>
          <p:spPr bwMode="auto">
            <a:xfrm>
              <a:off x="2428762" y="3705642"/>
              <a:ext cx="0" cy="554596"/>
            </a:xfrm>
            <a:prstGeom prst="line">
              <a:avLst/>
            </a:prstGeom>
            <a:noFill/>
            <a:ln w="38100">
              <a:solidFill>
                <a:srgbClr val="FF3300"/>
              </a:solidFill>
              <a:round/>
              <a:headEnd/>
              <a:tailEnd type="non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74">
              <a:extLst>
                <a:ext uri="{FF2B5EF4-FFF2-40B4-BE49-F238E27FC236}">
                  <a16:creationId xmlns:a16="http://schemas.microsoft.com/office/drawing/2014/main" id="{5AA8B140-8686-3DB8-5D6E-B660E7E94F16}"/>
                </a:ext>
              </a:extLst>
            </p:cNvPr>
            <p:cNvSpPr>
              <a:spLocks noChangeShapeType="1"/>
            </p:cNvSpPr>
            <p:nvPr/>
          </p:nvSpPr>
          <p:spPr bwMode="auto">
            <a:xfrm flipV="1">
              <a:off x="2428762" y="4260238"/>
              <a:ext cx="737802"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194878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animBg="1"/>
      <p:bldP spid="11" grpId="0" animBg="1"/>
      <p:bldP spid="12" grpId="0" animBg="1"/>
      <p:bldP spid="13" grpId="0" animBg="1"/>
      <p:bldP spid="14" grpId="0"/>
      <p:bldP spid="22" grpId="0"/>
      <p:bldP spid="23" grpId="0" animBg="1"/>
      <p:bldP spid="24" grpId="0" animBg="1"/>
      <p:bldP spid="25" grpId="0" animBg="1"/>
      <p:bldP spid="26" grpId="0" animBg="1"/>
      <p:bldP spid="27" grpId="0" animBg="1"/>
      <p:bldP spid="28" grpId="0"/>
      <p:bldP spid="29" grpId="0"/>
      <p:bldP spid="30" grpId="0" animBg="1"/>
      <p:bldP spid="31" grpId="0" animBg="1"/>
      <p:bldP spid="32" grpId="0" animBg="1"/>
      <p:bldP spid="33" grpId="0" animBg="1"/>
      <p:bldP spid="34" grpId="0" animBg="1"/>
      <p:bldP spid="35" grpId="0"/>
      <p:bldP spid="36" grpId="0"/>
      <p:bldP spid="37" grpId="0" animBg="1"/>
      <p:bldP spid="38" grpId="0" animBg="1"/>
      <p:bldP spid="39" grpId="0" animBg="1"/>
      <p:bldP spid="40" grpId="0" animBg="1"/>
      <p:bldP spid="41" grpId="0" animBg="1"/>
      <p:bldP spid="45" grpId="0" animBg="1"/>
      <p:bldP spid="46" grpId="0"/>
      <p:bldP spid="47" grpId="0"/>
      <p:bldP spid="4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76497-C567-B574-7EE2-88E21475E302}"/>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58F907D6-3F53-7010-610C-A0D7E777E699}"/>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262B7F97-6C28-DF2D-5589-D22A1B1D8135}"/>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E6AED7BE-CFEF-91C2-1340-774EEF9A39CC}"/>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1.1.3 </a:t>
            </a:r>
            <a:r>
              <a:rPr lang="zh-CN" altLang="en-US" sz="2800" b="1" dirty="0">
                <a:solidFill>
                  <a:schemeClr val="bg1"/>
                </a:solidFill>
                <a:latin typeface="经典粗黑简" pitchFamily="49" charset="-122"/>
                <a:ea typeface="经典粗黑简" pitchFamily="49" charset="-122"/>
                <a:cs typeface="经典粗黑简" pitchFamily="49" charset="-122"/>
              </a:rPr>
              <a:t>数据的存储结构</a:t>
            </a:r>
          </a:p>
        </p:txBody>
      </p:sp>
      <p:sp>
        <p:nvSpPr>
          <p:cNvPr id="15" name="Text Box 6">
            <a:extLst>
              <a:ext uri="{FF2B5EF4-FFF2-40B4-BE49-F238E27FC236}">
                <a16:creationId xmlns:a16="http://schemas.microsoft.com/office/drawing/2014/main" id="{7BB24326-29F8-0104-8C05-4480D5A271A1}"/>
              </a:ext>
            </a:extLst>
          </p:cNvPr>
          <p:cNvSpPr txBox="1">
            <a:spLocks noChangeArrowheads="1"/>
          </p:cNvSpPr>
          <p:nvPr/>
        </p:nvSpPr>
        <p:spPr bwMode="auto">
          <a:xfrm>
            <a:off x="1835696" y="1923678"/>
            <a:ext cx="4896544" cy="1804492"/>
          </a:xfrm>
          <a:prstGeom prst="rect">
            <a:avLst/>
          </a:prstGeom>
          <a:solidFill>
            <a:schemeClr val="bg1">
              <a:lumMod val="95000"/>
            </a:schemeClr>
          </a:solidFill>
          <a:ln>
            <a:headEnd/>
            <a:tailEnd/>
          </a:ln>
        </p:spPr>
        <p:style>
          <a:lnRef idx="1">
            <a:schemeClr val="accent4"/>
          </a:lnRef>
          <a:fillRef idx="3">
            <a:schemeClr val="accent4"/>
          </a:fillRef>
          <a:effectRef idx="2">
            <a:schemeClr val="accent4"/>
          </a:effectRef>
          <a:fontRef idx="minor">
            <a:schemeClr val="lt1"/>
          </a:fontRef>
        </p:style>
        <p:txBody>
          <a:bodyPr wrap="square" lIns="144000" tIns="180000" bIns="144000">
            <a:spAutoFit/>
          </a:bodyPr>
          <a:lstStyle/>
          <a:p>
            <a:pPr algn="l" fontAlgn="t">
              <a:lnSpc>
                <a:spcPct val="100000"/>
              </a:lnSpc>
            </a:pPr>
            <a:r>
              <a:rPr lang="zh-CN" altLang="en-US" sz="2400" dirty="0">
                <a:solidFill>
                  <a:schemeClr val="tx1"/>
                </a:solidFill>
                <a:latin typeface="微软雅黑" pitchFamily="34" charset="-122"/>
                <a:ea typeface="微软雅黑" pitchFamily="34" charset="-122"/>
                <a:cs typeface="经典粗黑简" pitchFamily="49" charset="-122"/>
              </a:rPr>
              <a:t>（</a:t>
            </a:r>
            <a:r>
              <a:rPr lang="en-US" altLang="zh-CN" sz="2400" dirty="0">
                <a:solidFill>
                  <a:schemeClr val="tx1"/>
                </a:solidFill>
                <a:latin typeface="微软雅黑" pitchFamily="34" charset="-122"/>
                <a:ea typeface="微软雅黑" pitchFamily="34" charset="-122"/>
                <a:cs typeface="经典粗黑简" pitchFamily="49" charset="-122"/>
              </a:rPr>
              <a:t>1</a:t>
            </a:r>
            <a:r>
              <a:rPr lang="zh-CN" altLang="en-US" sz="2400" dirty="0">
                <a:solidFill>
                  <a:schemeClr val="tx1"/>
                </a:solidFill>
                <a:latin typeface="微软雅黑" pitchFamily="34" charset="-122"/>
                <a:ea typeface="微软雅黑" pitchFamily="34" charset="-122"/>
                <a:cs typeface="经典粗黑简" pitchFamily="49" charset="-122"/>
              </a:rPr>
              <a:t>）顺序存储结构</a:t>
            </a:r>
            <a:endParaRPr lang="en-US" altLang="zh-CN" sz="2400" dirty="0">
              <a:solidFill>
                <a:schemeClr val="tx1"/>
              </a:solidFill>
              <a:latin typeface="微软雅黑" pitchFamily="34" charset="-122"/>
              <a:ea typeface="微软雅黑" pitchFamily="34" charset="-122"/>
              <a:cs typeface="经典粗黑简" pitchFamily="49" charset="-122"/>
            </a:endParaRPr>
          </a:p>
          <a:p>
            <a:pPr algn="l" fontAlgn="t">
              <a:lnSpc>
                <a:spcPct val="100000"/>
              </a:lnSpc>
            </a:pPr>
            <a:r>
              <a:rPr lang="zh-CN" altLang="en-US" sz="2400" dirty="0">
                <a:solidFill>
                  <a:schemeClr val="tx1"/>
                </a:solidFill>
                <a:latin typeface="微软雅黑" pitchFamily="34" charset="-122"/>
                <a:ea typeface="微软雅黑" pitchFamily="34" charset="-122"/>
                <a:cs typeface="经典粗黑简" pitchFamily="49" charset="-122"/>
              </a:rPr>
              <a:t>（</a:t>
            </a:r>
            <a:r>
              <a:rPr lang="en-US" altLang="zh-CN" sz="2400" dirty="0">
                <a:solidFill>
                  <a:schemeClr val="tx1"/>
                </a:solidFill>
                <a:latin typeface="微软雅黑" pitchFamily="34" charset="-122"/>
                <a:ea typeface="微软雅黑" pitchFamily="34" charset="-122"/>
                <a:cs typeface="经典粗黑简" pitchFamily="49" charset="-122"/>
              </a:rPr>
              <a:t>2</a:t>
            </a:r>
            <a:r>
              <a:rPr lang="zh-CN" altLang="en-US" sz="2400" dirty="0">
                <a:solidFill>
                  <a:schemeClr val="tx1"/>
                </a:solidFill>
                <a:latin typeface="微软雅黑" pitchFamily="34" charset="-122"/>
                <a:ea typeface="微软雅黑" pitchFamily="34" charset="-122"/>
                <a:cs typeface="经典粗黑简" pitchFamily="49" charset="-122"/>
              </a:rPr>
              <a:t>）链式存储结构</a:t>
            </a:r>
            <a:endParaRPr lang="en-US" altLang="zh-CN" sz="2400" dirty="0">
              <a:solidFill>
                <a:schemeClr val="tx1"/>
              </a:solidFill>
              <a:latin typeface="微软雅黑" pitchFamily="34" charset="-122"/>
              <a:ea typeface="微软雅黑" pitchFamily="34" charset="-122"/>
              <a:cs typeface="经典粗黑简" pitchFamily="49" charset="-122"/>
            </a:endParaRPr>
          </a:p>
          <a:p>
            <a:pPr algn="l" fontAlgn="t">
              <a:lnSpc>
                <a:spcPct val="100000"/>
              </a:lnSpc>
            </a:pPr>
            <a:r>
              <a:rPr lang="zh-CN" altLang="en-US" sz="2400" dirty="0">
                <a:solidFill>
                  <a:schemeClr val="tx1"/>
                </a:solidFill>
                <a:latin typeface="微软雅黑" pitchFamily="34" charset="-122"/>
                <a:ea typeface="微软雅黑" pitchFamily="34" charset="-122"/>
                <a:cs typeface="经典粗黑简" pitchFamily="49" charset="-122"/>
              </a:rPr>
              <a:t>（</a:t>
            </a:r>
            <a:r>
              <a:rPr lang="en-US" altLang="zh-CN" sz="2400" dirty="0">
                <a:solidFill>
                  <a:schemeClr val="tx1"/>
                </a:solidFill>
                <a:latin typeface="微软雅黑" pitchFamily="34" charset="-122"/>
                <a:ea typeface="微软雅黑" pitchFamily="34" charset="-122"/>
                <a:cs typeface="经典粗黑简" pitchFamily="49" charset="-122"/>
              </a:rPr>
              <a:t>3</a:t>
            </a:r>
            <a:r>
              <a:rPr lang="zh-CN" altLang="en-US" sz="2400" dirty="0">
                <a:solidFill>
                  <a:schemeClr val="tx1"/>
                </a:solidFill>
                <a:latin typeface="微软雅黑" pitchFamily="34" charset="-122"/>
                <a:ea typeface="微软雅黑" pitchFamily="34" charset="-122"/>
                <a:cs typeface="经典粗黑简" pitchFamily="49" charset="-122"/>
              </a:rPr>
              <a:t>）索引存储结构</a:t>
            </a:r>
            <a:endParaRPr lang="en-US" altLang="zh-CN" sz="2400" dirty="0">
              <a:solidFill>
                <a:schemeClr val="tx1"/>
              </a:solidFill>
              <a:latin typeface="微软雅黑" pitchFamily="34" charset="-122"/>
              <a:ea typeface="微软雅黑" pitchFamily="34" charset="-122"/>
              <a:cs typeface="经典粗黑简" pitchFamily="49" charset="-122"/>
            </a:endParaRPr>
          </a:p>
          <a:p>
            <a:pPr algn="l" fontAlgn="t">
              <a:lnSpc>
                <a:spcPct val="100000"/>
              </a:lnSpc>
            </a:pPr>
            <a:r>
              <a:rPr lang="zh-CN" altLang="en-US" sz="2400" dirty="0">
                <a:solidFill>
                  <a:schemeClr val="tx1"/>
                </a:solidFill>
                <a:latin typeface="微软雅黑" pitchFamily="34" charset="-122"/>
                <a:ea typeface="微软雅黑" pitchFamily="34" charset="-122"/>
                <a:cs typeface="经典粗黑简" pitchFamily="49" charset="-122"/>
              </a:rPr>
              <a:t>（</a:t>
            </a:r>
            <a:r>
              <a:rPr lang="en-US" altLang="zh-CN" sz="2400" dirty="0">
                <a:solidFill>
                  <a:schemeClr val="tx1"/>
                </a:solidFill>
                <a:latin typeface="微软雅黑" pitchFamily="34" charset="-122"/>
                <a:ea typeface="微软雅黑" pitchFamily="34" charset="-122"/>
                <a:cs typeface="经典粗黑简" pitchFamily="49" charset="-122"/>
              </a:rPr>
              <a:t>4</a:t>
            </a:r>
            <a:r>
              <a:rPr lang="zh-CN" altLang="en-US" sz="2400" dirty="0">
                <a:solidFill>
                  <a:schemeClr val="tx1"/>
                </a:solidFill>
                <a:latin typeface="微软雅黑" pitchFamily="34" charset="-122"/>
                <a:ea typeface="微软雅黑" pitchFamily="34" charset="-122"/>
                <a:cs typeface="经典粗黑简" pitchFamily="49" charset="-122"/>
              </a:rPr>
              <a:t>）哈希（散列）存储结构</a:t>
            </a:r>
          </a:p>
        </p:txBody>
      </p:sp>
    </p:spTree>
    <p:extLst>
      <p:ext uri="{BB962C8B-B14F-4D97-AF65-F5344CB8AC3E}">
        <p14:creationId xmlns:p14="http://schemas.microsoft.com/office/powerpoint/2010/main" val="4284874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3AE6A-3DE4-473A-A2AB-F58F5FB17E54}"/>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4D3E6D42-C507-71E7-7191-4EB428E4718F}"/>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2E01EE5A-3B53-1C62-E4AD-334F8AAC615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A38B8B05-3A0F-AF2C-9A7F-41633C8725BE}"/>
              </a:ext>
            </a:extLst>
          </p:cNvPr>
          <p:cNvSpPr/>
          <p:nvPr/>
        </p:nvSpPr>
        <p:spPr>
          <a:xfrm>
            <a:off x="177957" y="840743"/>
            <a:ext cx="324191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1.1.4 </a:t>
            </a:r>
            <a:r>
              <a:rPr lang="zh-CN" altLang="en-US" sz="2800" b="1" dirty="0">
                <a:solidFill>
                  <a:schemeClr val="bg1"/>
                </a:solidFill>
                <a:latin typeface="经典粗黑简" pitchFamily="49" charset="-122"/>
                <a:ea typeface="经典粗黑简" pitchFamily="49" charset="-122"/>
                <a:cs typeface="经典粗黑简" pitchFamily="49" charset="-122"/>
              </a:rPr>
              <a:t>数据运算</a:t>
            </a:r>
          </a:p>
        </p:txBody>
      </p:sp>
      <p:sp>
        <p:nvSpPr>
          <p:cNvPr id="4" name="矩形 3">
            <a:extLst>
              <a:ext uri="{FF2B5EF4-FFF2-40B4-BE49-F238E27FC236}">
                <a16:creationId xmlns:a16="http://schemas.microsoft.com/office/drawing/2014/main" id="{A3548305-6D6D-0345-EF65-D94CB1C40C59}"/>
              </a:ext>
            </a:extLst>
          </p:cNvPr>
          <p:cNvSpPr/>
          <p:nvPr/>
        </p:nvSpPr>
        <p:spPr>
          <a:xfrm>
            <a:off x="1043608" y="1563638"/>
            <a:ext cx="7704856" cy="830997"/>
          </a:xfrm>
          <a:prstGeom prst="rect">
            <a:avLst/>
          </a:prstGeom>
        </p:spPr>
        <p:txBody>
          <a:bodyPr wrap="square">
            <a:spAutoFit/>
          </a:bodyPr>
          <a:lstStyle/>
          <a:p>
            <a:r>
              <a:rPr lang="zh-CN" altLang="en-US" sz="2400" b="1" dirty="0">
                <a:solidFill>
                  <a:srgbClr val="FF0000"/>
                </a:solidFill>
                <a:latin typeface="黑体" pitchFamily="49" charset="-122"/>
                <a:ea typeface="黑体" pitchFamily="49" charset="-122"/>
              </a:rPr>
              <a:t>数据运算</a:t>
            </a:r>
            <a:r>
              <a:rPr lang="zh-CN" altLang="en-US" sz="2400" b="1" dirty="0">
                <a:solidFill>
                  <a:srgbClr val="FF0000"/>
                </a:solidFill>
                <a:latin typeface="方正特雅宋_GBK" pitchFamily="2" charset="-122"/>
                <a:ea typeface="方正特雅宋_GBK" pitchFamily="2" charset="-122"/>
              </a:rPr>
              <a:t>(</a:t>
            </a:r>
            <a:r>
              <a:rPr lang="en-US" altLang="zh-CN" sz="2400" b="1" dirty="0">
                <a:solidFill>
                  <a:srgbClr val="FF0000"/>
                </a:solidFill>
                <a:latin typeface="Times New Roman" pitchFamily="18" charset="0"/>
                <a:ea typeface="方正特雅宋_GBK" pitchFamily="2" charset="-122"/>
                <a:cs typeface="Times New Roman" pitchFamily="18" charset="0"/>
              </a:rPr>
              <a:t>Data Operation</a:t>
            </a:r>
            <a:r>
              <a:rPr lang="en-US" altLang="zh-CN" sz="2400" b="1" dirty="0">
                <a:solidFill>
                  <a:srgbClr val="FF0000"/>
                </a:solidFill>
                <a:latin typeface="方正特雅宋_GBK" pitchFamily="2" charset="-122"/>
                <a:ea typeface="方正特雅宋_GBK" pitchFamily="2" charset="-122"/>
              </a:rPr>
              <a:t>)</a:t>
            </a:r>
            <a:r>
              <a:rPr lang="zh-CN" altLang="en-US" sz="2400" b="1" dirty="0">
                <a:solidFill>
                  <a:srgbClr val="FF0000"/>
                </a:solidFill>
                <a:latin typeface="方正特雅宋_GBK" pitchFamily="2" charset="-122"/>
                <a:ea typeface="方正特雅宋_GBK" pitchFamily="2" charset="-122"/>
              </a:rPr>
              <a:t> ：</a:t>
            </a:r>
            <a:r>
              <a:rPr lang="zh-CN" altLang="en-US" sz="2400" dirty="0">
                <a:latin typeface="黑体" pitchFamily="49" charset="-122"/>
                <a:ea typeface="黑体" pitchFamily="49" charset="-122"/>
              </a:rPr>
              <a:t>施加在数据上的一些</a:t>
            </a:r>
            <a:r>
              <a:rPr lang="zh-CN" altLang="en-US" sz="2400" dirty="0">
                <a:solidFill>
                  <a:srgbClr val="FF0000"/>
                </a:solidFill>
                <a:latin typeface="黑体" pitchFamily="49" charset="-122"/>
                <a:ea typeface="黑体" pitchFamily="49" charset="-122"/>
              </a:rPr>
              <a:t>操作</a:t>
            </a:r>
            <a:r>
              <a:rPr lang="zh-CN" altLang="en-US" sz="2400" dirty="0">
                <a:latin typeface="黑体" pitchFamily="49" charset="-122"/>
                <a:ea typeface="黑体" pitchFamily="49" charset="-122"/>
              </a:rPr>
              <a:t>分为两个层次：运算描述和运算实现</a:t>
            </a:r>
          </a:p>
        </p:txBody>
      </p:sp>
      <p:sp>
        <p:nvSpPr>
          <p:cNvPr id="9" name="Text Box 6">
            <a:extLst>
              <a:ext uri="{FF2B5EF4-FFF2-40B4-BE49-F238E27FC236}">
                <a16:creationId xmlns:a16="http://schemas.microsoft.com/office/drawing/2014/main" id="{75F08D90-CF30-A14C-9625-0F4638CEAAF5}"/>
              </a:ext>
            </a:extLst>
          </p:cNvPr>
          <p:cNvSpPr txBox="1">
            <a:spLocks noChangeArrowheads="1"/>
          </p:cNvSpPr>
          <p:nvPr/>
        </p:nvSpPr>
        <p:spPr bwMode="auto">
          <a:xfrm>
            <a:off x="6425627" y="3297578"/>
            <a:ext cx="492443" cy="1584325"/>
          </a:xfrm>
          <a:prstGeom prst="rect">
            <a:avLst/>
          </a:prstGeom>
          <a:noFill/>
          <a:ln w="57150" algn="ctr">
            <a:noFill/>
            <a:miter lim="800000"/>
            <a:headEnd/>
            <a:tailEnd type="none" w="lg" len="lg"/>
          </a:ln>
          <a:effectLst/>
        </p:spPr>
        <p:txBody>
          <a:bodyPr vert="eaVert" tIns="76176" bIns="0">
            <a:spAutoFit/>
          </a:bodyPr>
          <a:lstStyle/>
          <a:p>
            <a:pPr marL="457200" indent="-457200"/>
            <a:r>
              <a:rPr lang="zh-CN" altLang="en-US" sz="2000" dirty="0">
                <a:latin typeface="黑体" pitchFamily="49" charset="-122"/>
                <a:ea typeface="黑体" pitchFamily="49" charset="-122"/>
              </a:rPr>
              <a:t>运算描述</a:t>
            </a:r>
          </a:p>
        </p:txBody>
      </p:sp>
      <p:sp>
        <p:nvSpPr>
          <p:cNvPr id="11" name="右大括号 10">
            <a:extLst>
              <a:ext uri="{FF2B5EF4-FFF2-40B4-BE49-F238E27FC236}">
                <a16:creationId xmlns:a16="http://schemas.microsoft.com/office/drawing/2014/main" id="{D4E7FD95-AF79-3089-1229-F2503592E024}"/>
              </a:ext>
            </a:extLst>
          </p:cNvPr>
          <p:cNvSpPr/>
          <p:nvPr/>
        </p:nvSpPr>
        <p:spPr>
          <a:xfrm>
            <a:off x="6228184" y="2931790"/>
            <a:ext cx="45719" cy="1864454"/>
          </a:xfrm>
          <a:prstGeom prst="rightBrace">
            <a:avLst/>
          </a:prstGeom>
          <a:ln w="22225">
            <a:solidFill>
              <a:srgbClr val="C0000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9" name="Text Box 2">
            <a:extLst>
              <a:ext uri="{FF2B5EF4-FFF2-40B4-BE49-F238E27FC236}">
                <a16:creationId xmlns:a16="http://schemas.microsoft.com/office/drawing/2014/main" id="{8D89DA03-E6B5-9267-9C1A-6A14A5ED834E}"/>
              </a:ext>
            </a:extLst>
          </p:cNvPr>
          <p:cNvSpPr txBox="1">
            <a:spLocks noChangeArrowheads="1"/>
          </p:cNvSpPr>
          <p:nvPr/>
        </p:nvSpPr>
        <p:spPr bwMode="auto">
          <a:xfrm>
            <a:off x="1043608" y="2423469"/>
            <a:ext cx="7929618" cy="412613"/>
          </a:xfrm>
          <a:prstGeom prst="rect">
            <a:avLst/>
          </a:prstGeom>
          <a:noFill/>
          <a:ln w="9525">
            <a:noFill/>
            <a:miter lim="800000"/>
            <a:headEnd/>
            <a:tailEnd/>
          </a:ln>
          <a:effectLst/>
        </p:spPr>
        <p:txBody>
          <a:bodyPr wrap="square">
            <a:spAutoFit/>
          </a:bodyPr>
          <a:lstStyle/>
          <a:p>
            <a:pPr algn="l">
              <a:lnSpc>
                <a:spcPct val="120000"/>
              </a:lnSpc>
            </a:pPr>
            <a:r>
              <a:rPr lang="zh-CN" altLang="en-US" sz="2000" dirty="0">
                <a:latin typeface="黑体" pitchFamily="49" charset="-122"/>
                <a:ea typeface="黑体" pitchFamily="49" charset="-122"/>
              </a:rPr>
              <a:t>对于“学生表”这种数据结构，可以进行一系列的运算：</a:t>
            </a:r>
          </a:p>
        </p:txBody>
      </p:sp>
      <p:sp>
        <p:nvSpPr>
          <p:cNvPr id="21" name="文本框 20">
            <a:extLst>
              <a:ext uri="{FF2B5EF4-FFF2-40B4-BE49-F238E27FC236}">
                <a16:creationId xmlns:a16="http://schemas.microsoft.com/office/drawing/2014/main" id="{BCE81676-2E64-C1D6-D0E4-E8DAC9067A12}"/>
              </a:ext>
            </a:extLst>
          </p:cNvPr>
          <p:cNvSpPr txBox="1"/>
          <p:nvPr/>
        </p:nvSpPr>
        <p:spPr>
          <a:xfrm>
            <a:off x="2123728" y="2931790"/>
            <a:ext cx="4579620" cy="2042547"/>
          </a:xfrm>
          <a:prstGeom prst="rect">
            <a:avLst/>
          </a:prstGeom>
          <a:noFill/>
        </p:spPr>
        <p:txBody>
          <a:bodyPr wrap="square">
            <a:spAutoFit/>
          </a:bodyPr>
          <a:lstStyle/>
          <a:p>
            <a:pPr marL="457200" indent="-457200" algn="just">
              <a:lnSpc>
                <a:spcPct val="120000"/>
              </a:lnSpc>
              <a:buFontTx/>
              <a:buBlip>
                <a:blip r:embed="rId2"/>
              </a:buBlip>
            </a:pPr>
            <a:r>
              <a:rPr lang="zh-CN" altLang="en-US" dirty="0">
                <a:latin typeface="黑体" pitchFamily="49" charset="-122"/>
                <a:ea typeface="黑体" pitchFamily="49" charset="-122"/>
              </a:rPr>
              <a:t>查找序号为</a:t>
            </a:r>
            <a:r>
              <a:rPr lang="en-US" altLang="zh-CN" dirty="0">
                <a:latin typeface="黑体" pitchFamily="49" charset="-122"/>
                <a:ea typeface="黑体" pitchFamily="49" charset="-122"/>
              </a:rPr>
              <a:t>2</a:t>
            </a:r>
            <a:r>
              <a:rPr lang="zh-CN" altLang="en-US" dirty="0">
                <a:latin typeface="黑体" pitchFamily="49" charset="-122"/>
                <a:ea typeface="黑体" pitchFamily="49" charset="-122"/>
              </a:rPr>
              <a:t>的学生姓名</a:t>
            </a:r>
            <a:endParaRPr lang="en-US" altLang="zh-CN" dirty="0">
              <a:latin typeface="黑体" pitchFamily="49" charset="-122"/>
              <a:ea typeface="黑体" pitchFamily="49" charset="-122"/>
            </a:endParaRPr>
          </a:p>
          <a:p>
            <a:pPr marL="457200" indent="-457200" algn="just">
              <a:lnSpc>
                <a:spcPct val="120000"/>
              </a:lnSpc>
              <a:buFontTx/>
              <a:buBlip>
                <a:blip r:embed="rId2"/>
              </a:buBlip>
            </a:pPr>
            <a:r>
              <a:rPr lang="zh-CN" altLang="en-US" dirty="0">
                <a:latin typeface="黑体" pitchFamily="49" charset="-122"/>
                <a:ea typeface="黑体" pitchFamily="49" charset="-122"/>
              </a:rPr>
              <a:t>增加一个学生记录；</a:t>
            </a:r>
          </a:p>
          <a:p>
            <a:pPr marL="457200" indent="-457200" algn="just">
              <a:lnSpc>
                <a:spcPct val="120000"/>
              </a:lnSpc>
              <a:buFontTx/>
              <a:buBlip>
                <a:blip r:embed="rId2"/>
              </a:buBlip>
            </a:pPr>
            <a:r>
              <a:rPr lang="zh-CN" altLang="en-US" dirty="0">
                <a:latin typeface="黑体" pitchFamily="49" charset="-122"/>
                <a:ea typeface="黑体" pitchFamily="49" charset="-122"/>
              </a:rPr>
              <a:t>删除一个学生记录；</a:t>
            </a:r>
          </a:p>
          <a:p>
            <a:pPr marL="457200" indent="-457200" algn="just">
              <a:lnSpc>
                <a:spcPct val="120000"/>
              </a:lnSpc>
              <a:buFontTx/>
              <a:buBlip>
                <a:blip r:embed="rId2"/>
              </a:buBlip>
            </a:pPr>
            <a:r>
              <a:rPr lang="zh-CN" altLang="en-US" dirty="0">
                <a:latin typeface="黑体" pitchFamily="49" charset="-122"/>
                <a:ea typeface="黑体" pitchFamily="49" charset="-122"/>
              </a:rPr>
              <a:t>查找性别为“女”的学生记录；</a:t>
            </a:r>
          </a:p>
          <a:p>
            <a:pPr marL="457200" indent="-457200" algn="just">
              <a:lnSpc>
                <a:spcPct val="120000"/>
              </a:lnSpc>
              <a:buFontTx/>
              <a:buBlip>
                <a:blip r:embed="rId2"/>
              </a:buBlip>
            </a:pPr>
            <a:r>
              <a:rPr lang="zh-CN" altLang="en-US" dirty="0">
                <a:latin typeface="黑体" pitchFamily="49" charset="-122"/>
                <a:ea typeface="黑体" pitchFamily="49" charset="-122"/>
              </a:rPr>
              <a:t>查找班号为“</a:t>
            </a:r>
            <a:r>
              <a:rPr lang="en-US" altLang="zh-CN" dirty="0">
                <a:latin typeface="黑体" pitchFamily="49" charset="-122"/>
                <a:ea typeface="黑体" pitchFamily="49" charset="-122"/>
              </a:rPr>
              <a:t>9902”</a:t>
            </a:r>
            <a:r>
              <a:rPr lang="zh-CN" altLang="en-US" dirty="0">
                <a:latin typeface="黑体" pitchFamily="49" charset="-122"/>
                <a:ea typeface="黑体" pitchFamily="49" charset="-122"/>
              </a:rPr>
              <a:t>的学生记录；</a:t>
            </a:r>
          </a:p>
          <a:p>
            <a:pPr marL="457200" indent="-457200" algn="just">
              <a:lnSpc>
                <a:spcPct val="120000"/>
              </a:lnSpc>
              <a:buFontTx/>
              <a:buBlip>
                <a:blip r:embed="rId2"/>
              </a:buBlip>
            </a:pPr>
            <a:r>
              <a:rPr lang="en-US" altLang="zh-CN" dirty="0">
                <a:latin typeface="黑体" pitchFamily="49" charset="-122"/>
                <a:ea typeface="黑体" pitchFamily="49" charset="-122"/>
              </a:rPr>
              <a:t>……</a:t>
            </a:r>
          </a:p>
        </p:txBody>
      </p:sp>
    </p:spTree>
    <p:extLst>
      <p:ext uri="{BB962C8B-B14F-4D97-AF65-F5344CB8AC3E}">
        <p14:creationId xmlns:p14="http://schemas.microsoft.com/office/powerpoint/2010/main" val="20134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1214C-4534-0C9C-05C3-80FB077E1593}"/>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63495F94-7607-6C09-F3C2-BA6BD3B62556}"/>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BDD7D78C-7C28-9928-9366-1529AAD2310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F74CB178-2757-813F-47F3-DECF5F5FC2B6}"/>
              </a:ext>
            </a:extLst>
          </p:cNvPr>
          <p:cNvSpPr/>
          <p:nvPr/>
        </p:nvSpPr>
        <p:spPr>
          <a:xfrm>
            <a:off x="177957" y="840743"/>
            <a:ext cx="324191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1.1.4 </a:t>
            </a:r>
            <a:r>
              <a:rPr lang="zh-CN" altLang="en-US" sz="2800" b="1" dirty="0">
                <a:solidFill>
                  <a:schemeClr val="bg1"/>
                </a:solidFill>
                <a:latin typeface="经典粗黑简" pitchFamily="49" charset="-122"/>
                <a:ea typeface="经典粗黑简" pitchFamily="49" charset="-122"/>
                <a:cs typeface="经典粗黑简" pitchFamily="49" charset="-122"/>
              </a:rPr>
              <a:t>数据运算</a:t>
            </a:r>
          </a:p>
        </p:txBody>
      </p:sp>
      <p:sp>
        <p:nvSpPr>
          <p:cNvPr id="4" name="矩形 3">
            <a:extLst>
              <a:ext uri="{FF2B5EF4-FFF2-40B4-BE49-F238E27FC236}">
                <a16:creationId xmlns:a16="http://schemas.microsoft.com/office/drawing/2014/main" id="{E86A2DBF-17C7-51BC-B055-9FA4C4603F77}"/>
              </a:ext>
            </a:extLst>
          </p:cNvPr>
          <p:cNvSpPr/>
          <p:nvPr/>
        </p:nvSpPr>
        <p:spPr>
          <a:xfrm>
            <a:off x="1043608" y="1563638"/>
            <a:ext cx="7704856" cy="830997"/>
          </a:xfrm>
          <a:prstGeom prst="rect">
            <a:avLst/>
          </a:prstGeom>
        </p:spPr>
        <p:txBody>
          <a:bodyPr wrap="square">
            <a:spAutoFit/>
          </a:bodyPr>
          <a:lstStyle/>
          <a:p>
            <a:r>
              <a:rPr lang="zh-CN" altLang="en-US" sz="2400" b="1" dirty="0">
                <a:solidFill>
                  <a:srgbClr val="FF0000"/>
                </a:solidFill>
                <a:latin typeface="黑体" pitchFamily="49" charset="-122"/>
                <a:ea typeface="黑体" pitchFamily="49" charset="-122"/>
              </a:rPr>
              <a:t>数据运算</a:t>
            </a:r>
            <a:r>
              <a:rPr lang="zh-CN" altLang="en-US" sz="2400" b="1" dirty="0">
                <a:solidFill>
                  <a:srgbClr val="FF0000"/>
                </a:solidFill>
                <a:latin typeface="方正特雅宋_GBK" pitchFamily="2" charset="-122"/>
                <a:ea typeface="方正特雅宋_GBK" pitchFamily="2" charset="-122"/>
              </a:rPr>
              <a:t>(</a:t>
            </a:r>
            <a:r>
              <a:rPr lang="en-US" altLang="zh-CN" sz="2400" b="1" dirty="0">
                <a:solidFill>
                  <a:srgbClr val="FF0000"/>
                </a:solidFill>
                <a:latin typeface="Times New Roman" pitchFamily="18" charset="0"/>
                <a:ea typeface="方正特雅宋_GBK" pitchFamily="2" charset="-122"/>
                <a:cs typeface="Times New Roman" pitchFamily="18" charset="0"/>
              </a:rPr>
              <a:t>Data Operation</a:t>
            </a:r>
            <a:r>
              <a:rPr lang="en-US" altLang="zh-CN" sz="2400" b="1" dirty="0">
                <a:solidFill>
                  <a:srgbClr val="FF0000"/>
                </a:solidFill>
                <a:latin typeface="方正特雅宋_GBK" pitchFamily="2" charset="-122"/>
                <a:ea typeface="方正特雅宋_GBK" pitchFamily="2" charset="-122"/>
              </a:rPr>
              <a:t>)</a:t>
            </a:r>
            <a:r>
              <a:rPr lang="zh-CN" altLang="en-US" sz="2400" b="1" dirty="0">
                <a:solidFill>
                  <a:srgbClr val="FF0000"/>
                </a:solidFill>
                <a:latin typeface="方正特雅宋_GBK" pitchFamily="2" charset="-122"/>
                <a:ea typeface="方正特雅宋_GBK" pitchFamily="2" charset="-122"/>
              </a:rPr>
              <a:t> ：</a:t>
            </a:r>
            <a:r>
              <a:rPr lang="zh-CN" altLang="en-US" sz="2400" dirty="0">
                <a:latin typeface="黑体" pitchFamily="49" charset="-122"/>
                <a:ea typeface="黑体" pitchFamily="49" charset="-122"/>
              </a:rPr>
              <a:t>施加在数据上的一些</a:t>
            </a:r>
            <a:r>
              <a:rPr lang="zh-CN" altLang="en-US" sz="2400" dirty="0">
                <a:solidFill>
                  <a:srgbClr val="FF0000"/>
                </a:solidFill>
                <a:latin typeface="黑体" pitchFamily="49" charset="-122"/>
                <a:ea typeface="黑体" pitchFamily="49" charset="-122"/>
              </a:rPr>
              <a:t>操作</a:t>
            </a:r>
            <a:r>
              <a:rPr lang="zh-CN" altLang="en-US" sz="2400" dirty="0">
                <a:latin typeface="黑体" pitchFamily="49" charset="-122"/>
                <a:ea typeface="黑体" pitchFamily="49" charset="-122"/>
              </a:rPr>
              <a:t>分为两个层次：运算描述和运算实现</a:t>
            </a:r>
          </a:p>
        </p:txBody>
      </p:sp>
      <p:sp>
        <p:nvSpPr>
          <p:cNvPr id="9" name="Text Box 6">
            <a:extLst>
              <a:ext uri="{FF2B5EF4-FFF2-40B4-BE49-F238E27FC236}">
                <a16:creationId xmlns:a16="http://schemas.microsoft.com/office/drawing/2014/main" id="{28B9A692-5625-A562-E3FE-81AFB58D76B4}"/>
              </a:ext>
            </a:extLst>
          </p:cNvPr>
          <p:cNvSpPr txBox="1">
            <a:spLocks noChangeArrowheads="1"/>
          </p:cNvSpPr>
          <p:nvPr/>
        </p:nvSpPr>
        <p:spPr bwMode="auto">
          <a:xfrm>
            <a:off x="6425627" y="3297578"/>
            <a:ext cx="492443" cy="1584325"/>
          </a:xfrm>
          <a:prstGeom prst="rect">
            <a:avLst/>
          </a:prstGeom>
          <a:noFill/>
          <a:ln w="57150" algn="ctr">
            <a:noFill/>
            <a:miter lim="800000"/>
            <a:headEnd/>
            <a:tailEnd type="none" w="lg" len="lg"/>
          </a:ln>
          <a:effectLst/>
        </p:spPr>
        <p:txBody>
          <a:bodyPr vert="eaVert" tIns="76176" bIns="0">
            <a:spAutoFit/>
          </a:bodyPr>
          <a:lstStyle/>
          <a:p>
            <a:pPr marL="457200" indent="-457200"/>
            <a:r>
              <a:rPr lang="zh-CN" altLang="en-US" sz="2000" dirty="0">
                <a:latin typeface="黑体" pitchFamily="49" charset="-122"/>
                <a:ea typeface="黑体" pitchFamily="49" charset="-122"/>
              </a:rPr>
              <a:t>运算描述</a:t>
            </a:r>
          </a:p>
        </p:txBody>
      </p:sp>
      <p:sp>
        <p:nvSpPr>
          <p:cNvPr id="11" name="右大括号 10">
            <a:extLst>
              <a:ext uri="{FF2B5EF4-FFF2-40B4-BE49-F238E27FC236}">
                <a16:creationId xmlns:a16="http://schemas.microsoft.com/office/drawing/2014/main" id="{C3050965-1519-0F16-3D76-62944CDE1C75}"/>
              </a:ext>
            </a:extLst>
          </p:cNvPr>
          <p:cNvSpPr/>
          <p:nvPr/>
        </p:nvSpPr>
        <p:spPr>
          <a:xfrm>
            <a:off x="6228184" y="2931790"/>
            <a:ext cx="45719" cy="1864454"/>
          </a:xfrm>
          <a:prstGeom prst="rightBrace">
            <a:avLst/>
          </a:prstGeom>
          <a:ln w="22225">
            <a:solidFill>
              <a:srgbClr val="C00000"/>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9" name="Text Box 2">
            <a:extLst>
              <a:ext uri="{FF2B5EF4-FFF2-40B4-BE49-F238E27FC236}">
                <a16:creationId xmlns:a16="http://schemas.microsoft.com/office/drawing/2014/main" id="{9315827F-07DD-B7A2-ACDE-636D2E90B0FB}"/>
              </a:ext>
            </a:extLst>
          </p:cNvPr>
          <p:cNvSpPr txBox="1">
            <a:spLocks noChangeArrowheads="1"/>
          </p:cNvSpPr>
          <p:nvPr/>
        </p:nvSpPr>
        <p:spPr bwMode="auto">
          <a:xfrm>
            <a:off x="1043608" y="2423469"/>
            <a:ext cx="7929618" cy="412613"/>
          </a:xfrm>
          <a:prstGeom prst="rect">
            <a:avLst/>
          </a:prstGeom>
          <a:noFill/>
          <a:ln w="9525">
            <a:noFill/>
            <a:miter lim="800000"/>
            <a:headEnd/>
            <a:tailEnd/>
          </a:ln>
          <a:effectLst/>
        </p:spPr>
        <p:txBody>
          <a:bodyPr wrap="square">
            <a:spAutoFit/>
          </a:bodyPr>
          <a:lstStyle/>
          <a:p>
            <a:pPr algn="l">
              <a:lnSpc>
                <a:spcPct val="120000"/>
              </a:lnSpc>
            </a:pPr>
            <a:r>
              <a:rPr lang="zh-CN" altLang="en-US" sz="2000" dirty="0">
                <a:latin typeface="黑体" pitchFamily="49" charset="-122"/>
                <a:ea typeface="黑体" pitchFamily="49" charset="-122"/>
              </a:rPr>
              <a:t>对于“学生表”这种数据结构，可以进行一系列的运算：</a:t>
            </a:r>
          </a:p>
        </p:txBody>
      </p:sp>
      <p:sp>
        <p:nvSpPr>
          <p:cNvPr id="21" name="文本框 20">
            <a:extLst>
              <a:ext uri="{FF2B5EF4-FFF2-40B4-BE49-F238E27FC236}">
                <a16:creationId xmlns:a16="http://schemas.microsoft.com/office/drawing/2014/main" id="{5DEA6046-7C70-E2C2-0EAD-651B2257AEEA}"/>
              </a:ext>
            </a:extLst>
          </p:cNvPr>
          <p:cNvSpPr txBox="1"/>
          <p:nvPr/>
        </p:nvSpPr>
        <p:spPr>
          <a:xfrm>
            <a:off x="2123728" y="2931790"/>
            <a:ext cx="4579620" cy="2042547"/>
          </a:xfrm>
          <a:prstGeom prst="rect">
            <a:avLst/>
          </a:prstGeom>
          <a:noFill/>
        </p:spPr>
        <p:txBody>
          <a:bodyPr wrap="square">
            <a:spAutoFit/>
          </a:bodyPr>
          <a:lstStyle/>
          <a:p>
            <a:pPr marL="457200" indent="-457200" algn="just">
              <a:lnSpc>
                <a:spcPct val="120000"/>
              </a:lnSpc>
              <a:buFontTx/>
              <a:buBlip>
                <a:blip r:embed="rId2"/>
              </a:buBlip>
            </a:pPr>
            <a:r>
              <a:rPr lang="zh-CN" altLang="en-US" dirty="0">
                <a:latin typeface="黑体" pitchFamily="49" charset="-122"/>
                <a:ea typeface="黑体" pitchFamily="49" charset="-122"/>
              </a:rPr>
              <a:t>查找序号为</a:t>
            </a:r>
            <a:r>
              <a:rPr lang="en-US" altLang="zh-CN" dirty="0">
                <a:latin typeface="黑体" pitchFamily="49" charset="-122"/>
                <a:ea typeface="黑体" pitchFamily="49" charset="-122"/>
              </a:rPr>
              <a:t>2</a:t>
            </a:r>
            <a:r>
              <a:rPr lang="zh-CN" altLang="en-US" dirty="0">
                <a:latin typeface="黑体" pitchFamily="49" charset="-122"/>
                <a:ea typeface="黑体" pitchFamily="49" charset="-122"/>
              </a:rPr>
              <a:t>的学生姓名</a:t>
            </a:r>
            <a:endParaRPr lang="en-US" altLang="zh-CN" dirty="0">
              <a:latin typeface="黑体" pitchFamily="49" charset="-122"/>
              <a:ea typeface="黑体" pitchFamily="49" charset="-122"/>
            </a:endParaRPr>
          </a:p>
          <a:p>
            <a:pPr marL="457200" indent="-457200" algn="just">
              <a:lnSpc>
                <a:spcPct val="120000"/>
              </a:lnSpc>
              <a:buFontTx/>
              <a:buBlip>
                <a:blip r:embed="rId2"/>
              </a:buBlip>
            </a:pPr>
            <a:r>
              <a:rPr lang="zh-CN" altLang="en-US" dirty="0">
                <a:latin typeface="黑体" pitchFamily="49" charset="-122"/>
                <a:ea typeface="黑体" pitchFamily="49" charset="-122"/>
              </a:rPr>
              <a:t>增加一个学生记录；</a:t>
            </a:r>
          </a:p>
          <a:p>
            <a:pPr marL="457200" indent="-457200" algn="just">
              <a:lnSpc>
                <a:spcPct val="120000"/>
              </a:lnSpc>
              <a:buFontTx/>
              <a:buBlip>
                <a:blip r:embed="rId2"/>
              </a:buBlip>
            </a:pPr>
            <a:r>
              <a:rPr lang="zh-CN" altLang="en-US" dirty="0">
                <a:latin typeface="黑体" pitchFamily="49" charset="-122"/>
                <a:ea typeface="黑体" pitchFamily="49" charset="-122"/>
              </a:rPr>
              <a:t>删除一个学生记录；</a:t>
            </a:r>
          </a:p>
          <a:p>
            <a:pPr marL="457200" indent="-457200" algn="just">
              <a:lnSpc>
                <a:spcPct val="120000"/>
              </a:lnSpc>
              <a:buFontTx/>
              <a:buBlip>
                <a:blip r:embed="rId2"/>
              </a:buBlip>
            </a:pPr>
            <a:r>
              <a:rPr lang="zh-CN" altLang="en-US" dirty="0">
                <a:latin typeface="黑体" pitchFamily="49" charset="-122"/>
                <a:ea typeface="黑体" pitchFamily="49" charset="-122"/>
              </a:rPr>
              <a:t>查找性别为“女”的学生记录；</a:t>
            </a:r>
          </a:p>
          <a:p>
            <a:pPr marL="457200" indent="-457200" algn="just">
              <a:lnSpc>
                <a:spcPct val="120000"/>
              </a:lnSpc>
              <a:buFontTx/>
              <a:buBlip>
                <a:blip r:embed="rId2"/>
              </a:buBlip>
            </a:pPr>
            <a:r>
              <a:rPr lang="zh-CN" altLang="en-US" dirty="0">
                <a:latin typeface="黑体" pitchFamily="49" charset="-122"/>
                <a:ea typeface="黑体" pitchFamily="49" charset="-122"/>
              </a:rPr>
              <a:t>查找班号为“</a:t>
            </a:r>
            <a:r>
              <a:rPr lang="en-US" altLang="zh-CN" dirty="0">
                <a:latin typeface="黑体" pitchFamily="49" charset="-122"/>
                <a:ea typeface="黑体" pitchFamily="49" charset="-122"/>
              </a:rPr>
              <a:t>9902”</a:t>
            </a:r>
            <a:r>
              <a:rPr lang="zh-CN" altLang="en-US" dirty="0">
                <a:latin typeface="黑体" pitchFamily="49" charset="-122"/>
                <a:ea typeface="黑体" pitchFamily="49" charset="-122"/>
              </a:rPr>
              <a:t>的学生记录；</a:t>
            </a:r>
          </a:p>
          <a:p>
            <a:pPr marL="457200" indent="-457200" algn="just">
              <a:lnSpc>
                <a:spcPct val="120000"/>
              </a:lnSpc>
              <a:buFontTx/>
              <a:buBlip>
                <a:blip r:embed="rId2"/>
              </a:buBlip>
            </a:pPr>
            <a:r>
              <a:rPr lang="en-US" altLang="zh-CN" dirty="0">
                <a:latin typeface="黑体" pitchFamily="49" charset="-122"/>
                <a:ea typeface="黑体" pitchFamily="49" charset="-122"/>
              </a:rPr>
              <a:t>……</a:t>
            </a:r>
          </a:p>
        </p:txBody>
      </p:sp>
    </p:spTree>
    <p:extLst>
      <p:ext uri="{BB962C8B-B14F-4D97-AF65-F5344CB8AC3E}">
        <p14:creationId xmlns:p14="http://schemas.microsoft.com/office/powerpoint/2010/main" val="426236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728E9-84DF-6E3F-F80F-277346972230}"/>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39429720-BB54-C4AF-5102-EB5FDB4EA5E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0" name="矩形 79">
            <a:extLst>
              <a:ext uri="{FF2B5EF4-FFF2-40B4-BE49-F238E27FC236}">
                <a16:creationId xmlns:a16="http://schemas.microsoft.com/office/drawing/2014/main" id="{54FE90FE-216B-CD05-6443-7CA50BF65BAD}"/>
              </a:ext>
            </a:extLst>
          </p:cNvPr>
          <p:cNvSpPr/>
          <p:nvPr/>
        </p:nvSpPr>
        <p:spPr>
          <a:xfrm>
            <a:off x="971600" y="2592110"/>
            <a:ext cx="2700300"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CN" altLang="zh-CN" sz="2800" dirty="0">
                <a:latin typeface="黑体" pitchFamily="49" charset="-122"/>
                <a:ea typeface="黑体" pitchFamily="49" charset="-122"/>
              </a:rPr>
              <a:t>数据的</a:t>
            </a:r>
            <a:r>
              <a:rPr lang="zh-CN" altLang="en-US" sz="2800" dirty="0">
                <a:latin typeface="黑体" pitchFamily="49" charset="-122"/>
                <a:ea typeface="黑体" pitchFamily="49" charset="-122"/>
              </a:rPr>
              <a:t>运算</a:t>
            </a:r>
            <a:endParaRPr lang="en-US" altLang="zh-CN" sz="2800" dirty="0">
              <a:latin typeface="黑体" pitchFamily="49" charset="-122"/>
              <a:ea typeface="黑体" pitchFamily="49" charset="-122"/>
            </a:endParaRPr>
          </a:p>
        </p:txBody>
      </p:sp>
      <p:sp>
        <p:nvSpPr>
          <p:cNvPr id="81" name="矩形 80">
            <a:extLst>
              <a:ext uri="{FF2B5EF4-FFF2-40B4-BE49-F238E27FC236}">
                <a16:creationId xmlns:a16="http://schemas.microsoft.com/office/drawing/2014/main" id="{12A54753-5B5F-6C14-6758-8BD30DEEC958}"/>
              </a:ext>
            </a:extLst>
          </p:cNvPr>
          <p:cNvSpPr/>
          <p:nvPr/>
        </p:nvSpPr>
        <p:spPr>
          <a:xfrm>
            <a:off x="4788024" y="1912502"/>
            <a:ext cx="3031123" cy="400110"/>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r>
              <a:rPr lang="zh-CN" altLang="en-US" sz="2000" dirty="0">
                <a:latin typeface="黑体" pitchFamily="49" charset="-122"/>
                <a:ea typeface="黑体" pitchFamily="49" charset="-122"/>
              </a:rPr>
              <a:t>运算的描述</a:t>
            </a:r>
            <a:endParaRPr lang="en-US" altLang="zh-CN" sz="2000" dirty="0">
              <a:latin typeface="黑体" pitchFamily="49" charset="-122"/>
              <a:ea typeface="黑体" pitchFamily="49" charset="-122"/>
            </a:endParaRPr>
          </a:p>
        </p:txBody>
      </p:sp>
      <p:sp>
        <p:nvSpPr>
          <p:cNvPr id="82" name="矩形 81">
            <a:extLst>
              <a:ext uri="{FF2B5EF4-FFF2-40B4-BE49-F238E27FC236}">
                <a16:creationId xmlns:a16="http://schemas.microsoft.com/office/drawing/2014/main" id="{73D32B30-19E4-51A4-4B2E-5DFB2C494232}"/>
              </a:ext>
            </a:extLst>
          </p:cNvPr>
          <p:cNvSpPr/>
          <p:nvPr/>
        </p:nvSpPr>
        <p:spPr>
          <a:xfrm>
            <a:off x="4788025" y="2298126"/>
            <a:ext cx="3031123"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2000" dirty="0">
                <a:latin typeface="黑体" pitchFamily="49" charset="-122"/>
                <a:ea typeface="黑体" pitchFamily="49" charset="-122"/>
              </a:rPr>
              <a:t>建立在数据的逻辑结构上</a:t>
            </a:r>
            <a:endParaRPr lang="en-US" altLang="zh-CN" sz="2000" dirty="0">
              <a:latin typeface="黑体" pitchFamily="49" charset="-122"/>
              <a:ea typeface="黑体" pitchFamily="49" charset="-122"/>
            </a:endParaRPr>
          </a:p>
        </p:txBody>
      </p:sp>
      <p:sp>
        <p:nvSpPr>
          <p:cNvPr id="85" name="矩形 84">
            <a:extLst>
              <a:ext uri="{FF2B5EF4-FFF2-40B4-BE49-F238E27FC236}">
                <a16:creationId xmlns:a16="http://schemas.microsoft.com/office/drawing/2014/main" id="{E2C22DFE-3F64-5B00-4CF6-AA35CC09EDFC}"/>
              </a:ext>
            </a:extLst>
          </p:cNvPr>
          <p:cNvSpPr/>
          <p:nvPr/>
        </p:nvSpPr>
        <p:spPr>
          <a:xfrm>
            <a:off x="4770331" y="2936909"/>
            <a:ext cx="3031123" cy="400110"/>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r>
              <a:rPr lang="zh-CN" altLang="en-US" sz="2000" dirty="0">
                <a:latin typeface="黑体" pitchFamily="49" charset="-122"/>
                <a:ea typeface="黑体" pitchFamily="49" charset="-122"/>
              </a:rPr>
              <a:t>运算的实现</a:t>
            </a:r>
            <a:endParaRPr lang="en-US" altLang="zh-CN" sz="2000" dirty="0">
              <a:latin typeface="黑体" pitchFamily="49" charset="-122"/>
              <a:ea typeface="黑体" pitchFamily="49" charset="-122"/>
            </a:endParaRPr>
          </a:p>
        </p:txBody>
      </p:sp>
      <p:sp>
        <p:nvSpPr>
          <p:cNvPr id="86" name="矩形 85">
            <a:extLst>
              <a:ext uri="{FF2B5EF4-FFF2-40B4-BE49-F238E27FC236}">
                <a16:creationId xmlns:a16="http://schemas.microsoft.com/office/drawing/2014/main" id="{070DD824-7572-6B85-CF63-4AB72FC91E74}"/>
              </a:ext>
            </a:extLst>
          </p:cNvPr>
          <p:cNvSpPr/>
          <p:nvPr/>
        </p:nvSpPr>
        <p:spPr>
          <a:xfrm>
            <a:off x="4770332" y="3347410"/>
            <a:ext cx="3031123"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2000" dirty="0">
                <a:latin typeface="黑体" pitchFamily="49" charset="-122"/>
                <a:ea typeface="黑体" pitchFamily="49" charset="-122"/>
              </a:rPr>
              <a:t>建立在数据的存储结构上</a:t>
            </a:r>
            <a:endParaRPr lang="en-US" altLang="zh-CN" sz="2000" dirty="0">
              <a:latin typeface="黑体" pitchFamily="49" charset="-122"/>
              <a:ea typeface="黑体" pitchFamily="49" charset="-122"/>
            </a:endParaRPr>
          </a:p>
        </p:txBody>
      </p:sp>
      <p:cxnSp>
        <p:nvCxnSpPr>
          <p:cNvPr id="3" name="直接箭头连接符 2">
            <a:extLst>
              <a:ext uri="{FF2B5EF4-FFF2-40B4-BE49-F238E27FC236}">
                <a16:creationId xmlns:a16="http://schemas.microsoft.com/office/drawing/2014/main" id="{0BC8446B-7666-BF5E-6943-FBD49DD3B354}"/>
              </a:ext>
            </a:extLst>
          </p:cNvPr>
          <p:cNvCxnSpPr/>
          <p:nvPr/>
        </p:nvCxnSpPr>
        <p:spPr>
          <a:xfrm flipV="1">
            <a:off x="3671900" y="2298126"/>
            <a:ext cx="1098430" cy="401996"/>
          </a:xfrm>
          <a:prstGeom prst="straightConnector1">
            <a:avLst/>
          </a:prstGeom>
          <a:ln w="1905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E1BA8FB9-1FBF-8B0D-C74B-5A582F90D1B6}"/>
              </a:ext>
            </a:extLst>
          </p:cNvPr>
          <p:cNvCxnSpPr/>
          <p:nvPr/>
        </p:nvCxnSpPr>
        <p:spPr>
          <a:xfrm>
            <a:off x="3689594" y="2870905"/>
            <a:ext cx="1080737" cy="476505"/>
          </a:xfrm>
          <a:prstGeom prst="straightConnector1">
            <a:avLst/>
          </a:prstGeom>
          <a:ln w="1905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F3157CCE-B682-20C9-8A2A-9C0C5C6FB16B}"/>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4" name="矩形 3">
            <a:extLst>
              <a:ext uri="{FF2B5EF4-FFF2-40B4-BE49-F238E27FC236}">
                <a16:creationId xmlns:a16="http://schemas.microsoft.com/office/drawing/2014/main" id="{76C19741-0AD6-B2DD-FE10-0EAF7B24E9BF}"/>
              </a:ext>
            </a:extLst>
          </p:cNvPr>
          <p:cNvSpPr/>
          <p:nvPr/>
        </p:nvSpPr>
        <p:spPr>
          <a:xfrm>
            <a:off x="177957" y="840743"/>
            <a:ext cx="324191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1.1.4 </a:t>
            </a:r>
            <a:r>
              <a:rPr lang="zh-CN" altLang="en-US" sz="2800" b="1" dirty="0">
                <a:solidFill>
                  <a:schemeClr val="bg1"/>
                </a:solidFill>
                <a:latin typeface="经典粗黑简" pitchFamily="49" charset="-122"/>
                <a:ea typeface="经典粗黑简" pitchFamily="49" charset="-122"/>
                <a:cs typeface="经典粗黑简" pitchFamily="49" charset="-122"/>
              </a:rPr>
              <a:t>数据运算</a:t>
            </a:r>
          </a:p>
        </p:txBody>
      </p:sp>
    </p:spTree>
    <p:extLst>
      <p:ext uri="{BB962C8B-B14F-4D97-AF65-F5344CB8AC3E}">
        <p14:creationId xmlns:p14="http://schemas.microsoft.com/office/powerpoint/2010/main" val="2296853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0499B-9605-04FD-BF5E-39C0A15B92AB}"/>
            </a:ext>
          </a:extLst>
        </p:cNvPr>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7C6AD8F0-E05C-85C3-60CD-D5D6765B5457}"/>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D93D652C-B34A-6D3A-1AEB-B9391B15FAD5}"/>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DA97633E-BCFF-FFB9-7CBE-82F0BFA9AB22}"/>
              </a:ext>
            </a:extLst>
          </p:cNvPr>
          <p:cNvSpPr/>
          <p:nvPr/>
        </p:nvSpPr>
        <p:spPr>
          <a:xfrm>
            <a:off x="177957" y="840743"/>
            <a:ext cx="511412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1.1.5 </a:t>
            </a:r>
            <a:r>
              <a:rPr lang="zh-CN" altLang="en-US" sz="2800" b="1" dirty="0">
                <a:solidFill>
                  <a:schemeClr val="bg1"/>
                </a:solidFill>
                <a:latin typeface="经典粗黑简" pitchFamily="49" charset="-122"/>
                <a:ea typeface="经典粗黑简" pitchFamily="49" charset="-122"/>
                <a:cs typeface="经典粗黑简" pitchFamily="49" charset="-122"/>
              </a:rPr>
              <a:t>数据类型和抽象数据类型</a:t>
            </a:r>
          </a:p>
        </p:txBody>
      </p:sp>
      <p:sp>
        <p:nvSpPr>
          <p:cNvPr id="13" name="矩形 12"/>
          <p:cNvSpPr/>
          <p:nvPr/>
        </p:nvSpPr>
        <p:spPr>
          <a:xfrm>
            <a:off x="1065673" y="1589146"/>
            <a:ext cx="3960440" cy="523220"/>
          </a:xfrm>
          <a:prstGeom prst="rect">
            <a:avLst/>
          </a:prstGeom>
        </p:spPr>
        <p:txBody>
          <a:bodyPr wrap="square">
            <a:spAutoFit/>
          </a:bodyPr>
          <a:lstStyle/>
          <a:p>
            <a:r>
              <a:rPr lang="en-US" altLang="zh-CN" sz="2800" dirty="0">
                <a:solidFill>
                  <a:schemeClr val="tx1"/>
                </a:solidFill>
                <a:latin typeface="黑体" pitchFamily="49" charset="-122"/>
                <a:ea typeface="黑体" pitchFamily="49" charset="-122"/>
              </a:rPr>
              <a:t>1</a:t>
            </a:r>
            <a:r>
              <a:rPr lang="zh-CN" altLang="en-US" sz="2800" dirty="0">
                <a:latin typeface="黑体" pitchFamily="49" charset="-122"/>
                <a:ea typeface="黑体" pitchFamily="49" charset="-122"/>
              </a:rPr>
              <a:t>、</a:t>
            </a:r>
            <a:r>
              <a:rPr lang="zh-CN" altLang="en-US" sz="2800" dirty="0">
                <a:solidFill>
                  <a:schemeClr val="tx1"/>
                </a:solidFill>
                <a:latin typeface="黑体" pitchFamily="49" charset="-122"/>
                <a:ea typeface="黑体" pitchFamily="49" charset="-122"/>
              </a:rPr>
              <a:t>什么是数据类型？</a:t>
            </a:r>
          </a:p>
        </p:txBody>
      </p:sp>
      <p:sp>
        <p:nvSpPr>
          <p:cNvPr id="15" name="Rectangle 3"/>
          <p:cNvSpPr>
            <a:spLocks noChangeArrowheads="1"/>
          </p:cNvSpPr>
          <p:nvPr/>
        </p:nvSpPr>
        <p:spPr bwMode="auto">
          <a:xfrm>
            <a:off x="774015" y="2247714"/>
            <a:ext cx="8064896" cy="692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zh-CN" altLang="en-US" sz="2800" b="1" dirty="0">
                <a:solidFill>
                  <a:srgbClr val="FF0000"/>
                </a:solidFill>
                <a:latin typeface="方正特雅宋_GBK" pitchFamily="2" charset="-122"/>
                <a:ea typeface="方正特雅宋_GBK" pitchFamily="2" charset="-122"/>
              </a:rPr>
              <a:t>数据类型（</a:t>
            </a:r>
            <a:r>
              <a:rPr lang="en-US" altLang="zh-CN" sz="2800" b="1" dirty="0">
                <a:solidFill>
                  <a:srgbClr val="FF0000"/>
                </a:solidFill>
                <a:latin typeface="方正特雅宋_GBK" pitchFamily="2" charset="-122"/>
                <a:ea typeface="方正特雅宋_GBK" pitchFamily="2" charset="-122"/>
              </a:rPr>
              <a:t>Data Type</a:t>
            </a:r>
            <a:r>
              <a:rPr lang="zh-CN" altLang="en-US" sz="2800" b="1" dirty="0">
                <a:solidFill>
                  <a:srgbClr val="FF0000"/>
                </a:solidFill>
                <a:latin typeface="方正特雅宋_GBK" pitchFamily="2" charset="-122"/>
                <a:ea typeface="方正特雅宋_GBK" pitchFamily="2" charset="-122"/>
              </a:rPr>
              <a:t>）：</a:t>
            </a:r>
            <a:r>
              <a:rPr lang="zh-CN" altLang="en-US" sz="2000" dirty="0">
                <a:latin typeface="微软雅黑" pitchFamily="34" charset="-122"/>
                <a:ea typeface="微软雅黑" pitchFamily="34" charset="-122"/>
                <a:cs typeface="经典粗黑简" pitchFamily="49" charset="-122"/>
              </a:rPr>
              <a:t>一组性质相同的</a:t>
            </a:r>
            <a:r>
              <a:rPr lang="zh-CN" altLang="en-US" sz="2000" dirty="0">
                <a:solidFill>
                  <a:srgbClr val="FF0000"/>
                </a:solidFill>
                <a:latin typeface="微软雅黑" pitchFamily="34" charset="-122"/>
                <a:ea typeface="微软雅黑" pitchFamily="34" charset="-122"/>
                <a:cs typeface="经典粗黑简" pitchFamily="49" charset="-122"/>
              </a:rPr>
              <a:t>值的集合</a:t>
            </a:r>
            <a:r>
              <a:rPr lang="zh-CN" altLang="en-US" sz="2000" dirty="0">
                <a:latin typeface="微软雅黑" pitchFamily="34" charset="-122"/>
                <a:ea typeface="微软雅黑" pitchFamily="34" charset="-122"/>
                <a:cs typeface="经典粗黑简" pitchFamily="49" charset="-122"/>
              </a:rPr>
              <a:t>, 以及定义于这个值集合上的</a:t>
            </a:r>
            <a:r>
              <a:rPr lang="zh-CN" altLang="en-US" sz="2000" dirty="0">
                <a:solidFill>
                  <a:srgbClr val="FF0000"/>
                </a:solidFill>
                <a:latin typeface="微软雅黑" pitchFamily="34" charset="-122"/>
                <a:ea typeface="微软雅黑" pitchFamily="34" charset="-122"/>
                <a:cs typeface="经典粗黑简" pitchFamily="49" charset="-122"/>
              </a:rPr>
              <a:t>一组操作</a:t>
            </a:r>
            <a:r>
              <a:rPr lang="zh-CN" altLang="en-US" sz="2000" dirty="0">
                <a:latin typeface="微软雅黑" pitchFamily="34" charset="-122"/>
                <a:ea typeface="微软雅黑" pitchFamily="34" charset="-122"/>
                <a:cs typeface="经典粗黑简" pitchFamily="49" charset="-122"/>
              </a:rPr>
              <a:t>的总称。</a:t>
            </a:r>
            <a:endParaRPr lang="en-US" altLang="zh-CN" sz="2000" dirty="0">
              <a:latin typeface="微软雅黑" pitchFamily="34" charset="-122"/>
              <a:ea typeface="微软雅黑" pitchFamily="34" charset="-122"/>
              <a:cs typeface="经典粗黑简" pitchFamily="49" charset="-122"/>
            </a:endParaRPr>
          </a:p>
        </p:txBody>
      </p:sp>
      <p:sp>
        <p:nvSpPr>
          <p:cNvPr id="16" name="矩形 15"/>
          <p:cNvSpPr/>
          <p:nvPr/>
        </p:nvSpPr>
        <p:spPr>
          <a:xfrm>
            <a:off x="1060305" y="4070886"/>
            <a:ext cx="7346136" cy="929485"/>
          </a:xfrm>
          <a:prstGeom prst="rect">
            <a:avLst/>
          </a:prstGeom>
        </p:spPr>
        <p:txBody>
          <a:bodyPr wrap="square" lIns="0" rIns="0">
            <a:spAutoFit/>
          </a:bodyPr>
          <a:lstStyle/>
          <a:p>
            <a:pPr marL="742950" lvl="1" indent="-285750">
              <a:spcBef>
                <a:spcPct val="20000"/>
              </a:spcBef>
              <a:buFont typeface="Arial" pitchFamily="34" charset="0"/>
              <a:buNone/>
            </a:pPr>
            <a:r>
              <a:rPr lang="zh-CN" altLang="en-US" sz="1600" dirty="0">
                <a:latin typeface="微软雅黑" pitchFamily="34" charset="-122"/>
                <a:ea typeface="微软雅黑" pitchFamily="34" charset="-122"/>
                <a:cs typeface="经典粗黑简" pitchFamily="49" charset="-122"/>
              </a:rPr>
              <a:t>分类：</a:t>
            </a:r>
            <a:endParaRPr lang="en-US" altLang="zh-CN" sz="1600" dirty="0">
              <a:latin typeface="微软雅黑" pitchFamily="34" charset="-122"/>
              <a:ea typeface="微软雅黑" pitchFamily="34" charset="-122"/>
              <a:cs typeface="经典粗黑简" pitchFamily="49" charset="-122"/>
            </a:endParaRPr>
          </a:p>
          <a:p>
            <a:pPr marL="742950" lvl="1" indent="-285750">
              <a:spcBef>
                <a:spcPct val="20000"/>
              </a:spcBef>
              <a:buFont typeface="Arial" pitchFamily="34" charset="0"/>
              <a:buNone/>
            </a:pPr>
            <a:r>
              <a:rPr lang="zh-CN" altLang="en-US" sz="1600" dirty="0">
                <a:latin typeface="微软雅黑" pitchFamily="34" charset="-122"/>
                <a:ea typeface="微软雅黑" pitchFamily="34" charset="-122"/>
                <a:cs typeface="经典粗黑简" pitchFamily="49" charset="-122"/>
              </a:rPr>
              <a:t>原子类型：值不可分解，如整型、指针类型等。</a:t>
            </a:r>
            <a:endParaRPr lang="en-US" altLang="zh-CN" sz="1600" dirty="0">
              <a:latin typeface="微软雅黑" pitchFamily="34" charset="-122"/>
              <a:ea typeface="微软雅黑" pitchFamily="34" charset="-122"/>
              <a:cs typeface="经典粗黑简" pitchFamily="49" charset="-122"/>
            </a:endParaRPr>
          </a:p>
          <a:p>
            <a:pPr marL="742950" lvl="1" indent="-285750">
              <a:spcBef>
                <a:spcPct val="20000"/>
              </a:spcBef>
              <a:buFont typeface="Arial" pitchFamily="34" charset="0"/>
              <a:buNone/>
            </a:pPr>
            <a:r>
              <a:rPr lang="zh-CN" altLang="en-US" sz="1600" dirty="0">
                <a:latin typeface="微软雅黑" pitchFamily="34" charset="-122"/>
                <a:ea typeface="微软雅黑" pitchFamily="34" charset="-122"/>
                <a:cs typeface="经典粗黑简" pitchFamily="49" charset="-122"/>
              </a:rPr>
              <a:t>结构类型：值由若干成分按照某种结构组成，如数组、结构体（记录）等。</a:t>
            </a:r>
          </a:p>
        </p:txBody>
      </p:sp>
      <p:sp>
        <p:nvSpPr>
          <p:cNvPr id="17" name="矩形 16"/>
          <p:cNvSpPr/>
          <p:nvPr/>
        </p:nvSpPr>
        <p:spPr>
          <a:xfrm>
            <a:off x="1299920" y="3003798"/>
            <a:ext cx="6866907" cy="1224951"/>
          </a:xfrm>
          <a:prstGeom prst="rect">
            <a:avLst/>
          </a:prstGeom>
        </p:spPr>
        <p:txBody>
          <a:bodyPr wrap="square">
            <a:spAutoFit/>
          </a:bodyPr>
          <a:lstStyle/>
          <a:p>
            <a:pPr>
              <a:spcBef>
                <a:spcPct val="20000"/>
              </a:spcBef>
            </a:pPr>
            <a:r>
              <a:rPr lang="zh-CN" altLang="en-US" sz="1600" dirty="0">
                <a:latin typeface="微软雅黑" pitchFamily="34" charset="-122"/>
                <a:ea typeface="微软雅黑" pitchFamily="34" charset="-122"/>
                <a:cs typeface="经典粗黑简" pitchFamily="49" charset="-122"/>
              </a:rPr>
              <a:t>数据类型通常由高级语言提供。</a:t>
            </a:r>
          </a:p>
          <a:p>
            <a:pPr marL="742950" lvl="1" indent="-285750">
              <a:spcBef>
                <a:spcPct val="20000"/>
              </a:spcBef>
              <a:buFont typeface="Arial" pitchFamily="34" charset="0"/>
              <a:buNone/>
            </a:pPr>
            <a:r>
              <a:rPr lang="zh-CN" altLang="en-US" sz="1600" dirty="0">
                <a:latin typeface="微软雅黑" pitchFamily="34" charset="-122"/>
                <a:ea typeface="微软雅黑" pitchFamily="34" charset="-122"/>
                <a:cs typeface="经典粗黑简" pitchFamily="49" charset="-122"/>
              </a:rPr>
              <a:t>如</a:t>
            </a:r>
            <a:r>
              <a:rPr lang="en-US" altLang="zh-CN" sz="1600" dirty="0">
                <a:latin typeface="微软雅黑" pitchFamily="34" charset="-122"/>
                <a:ea typeface="微软雅黑" pitchFamily="34" charset="-122"/>
                <a:cs typeface="经典粗黑简" pitchFamily="49" charset="-122"/>
              </a:rPr>
              <a:t>C</a:t>
            </a:r>
            <a:r>
              <a:rPr lang="zh-CN" altLang="zh-CN" sz="1600" dirty="0">
                <a:latin typeface="微软雅黑" pitchFamily="34" charset="-122"/>
                <a:ea typeface="微软雅黑" pitchFamily="34" charset="-122"/>
                <a:cs typeface="经典粗黑简" pitchFamily="49" charset="-122"/>
              </a:rPr>
              <a:t>语言中的数据类型</a:t>
            </a:r>
            <a:r>
              <a:rPr lang="zh-CN" altLang="en-US" sz="1600" dirty="0">
                <a:latin typeface="微软雅黑" pitchFamily="34" charset="-122"/>
                <a:ea typeface="微软雅黑" pitchFamily="34" charset="-122"/>
                <a:cs typeface="经典粗黑简" pitchFamily="49" charset="-122"/>
              </a:rPr>
              <a:t>:</a:t>
            </a:r>
            <a:endParaRPr lang="zh-CN" altLang="zh-CN" sz="1600" dirty="0">
              <a:latin typeface="微软雅黑" pitchFamily="34" charset="-122"/>
              <a:ea typeface="微软雅黑" pitchFamily="34" charset="-122"/>
              <a:cs typeface="经典粗黑简" pitchFamily="49" charset="-122"/>
            </a:endParaRPr>
          </a:p>
          <a:p>
            <a:pPr marL="1143000" lvl="2" indent="-228600">
              <a:spcBef>
                <a:spcPct val="20000"/>
              </a:spcBef>
              <a:buFont typeface="Arial" pitchFamily="34" charset="0"/>
              <a:buNone/>
            </a:pPr>
            <a:r>
              <a:rPr lang="en-US" altLang="zh-CN" sz="1600" dirty="0">
                <a:latin typeface="微软雅黑" pitchFamily="34" charset="-122"/>
                <a:ea typeface="微软雅黑" pitchFamily="34" charset="-122"/>
                <a:cs typeface="经典粗黑简" pitchFamily="49" charset="-122"/>
              </a:rPr>
              <a:t>	　char      </a:t>
            </a:r>
            <a:r>
              <a:rPr lang="en-US" altLang="zh-CN" sz="1600" dirty="0" err="1">
                <a:latin typeface="微软雅黑" pitchFamily="34" charset="-122"/>
                <a:ea typeface="微软雅黑" pitchFamily="34" charset="-122"/>
                <a:cs typeface="经典粗黑简" pitchFamily="49" charset="-122"/>
              </a:rPr>
              <a:t>int</a:t>
            </a:r>
            <a:r>
              <a:rPr lang="en-US" altLang="zh-CN" sz="1600" dirty="0">
                <a:latin typeface="微软雅黑" pitchFamily="34" charset="-122"/>
                <a:ea typeface="微软雅黑" pitchFamily="34" charset="-122"/>
                <a:cs typeface="经典粗黑简" pitchFamily="49" charset="-122"/>
              </a:rPr>
              <a:t>     float      double     void</a:t>
            </a:r>
          </a:p>
          <a:p>
            <a:pPr marL="1600200" lvl="3" indent="-228600">
              <a:spcBef>
                <a:spcPct val="20000"/>
              </a:spcBef>
              <a:buFont typeface="Arial" pitchFamily="34" charset="0"/>
              <a:buNone/>
            </a:pPr>
            <a:r>
              <a:rPr lang="zh-CN" altLang="en-US" sz="1600" dirty="0">
                <a:latin typeface="微软雅黑" pitchFamily="34" charset="-122"/>
                <a:ea typeface="微软雅黑" pitchFamily="34" charset="-122"/>
                <a:cs typeface="经典粗黑简" pitchFamily="49" charset="-122"/>
              </a:rPr>
              <a:t>字符型  整型  浮点型   双精度型     无值</a:t>
            </a:r>
          </a:p>
        </p:txBody>
      </p:sp>
    </p:spTree>
    <p:extLst>
      <p:ext uri="{BB962C8B-B14F-4D97-AF65-F5344CB8AC3E}">
        <p14:creationId xmlns:p14="http://schemas.microsoft.com/office/powerpoint/2010/main" val="423960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539551" y="2321401"/>
            <a:ext cx="8064896" cy="864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zh-CN" altLang="en-US" sz="2800" b="1" dirty="0">
                <a:solidFill>
                  <a:srgbClr val="FF0000"/>
                </a:solidFill>
                <a:latin typeface="黑体" pitchFamily="49" charset="-122"/>
                <a:ea typeface="黑体" pitchFamily="49" charset="-122"/>
              </a:rPr>
              <a:t>抽象数据类型</a:t>
            </a:r>
            <a:r>
              <a:rPr lang="zh-CN" altLang="en-US" sz="2800" b="1" dirty="0">
                <a:solidFill>
                  <a:srgbClr val="FF0000"/>
                </a:solidFill>
                <a:latin typeface="方正特雅宋_GBK" pitchFamily="2" charset="-122"/>
                <a:ea typeface="方正特雅宋_GBK" pitchFamily="2" charset="-122"/>
              </a:rPr>
              <a:t>(</a:t>
            </a:r>
            <a:r>
              <a:rPr lang="en-US" altLang="zh-CN" sz="2400" b="1" dirty="0">
                <a:solidFill>
                  <a:srgbClr val="FF0000"/>
                </a:solidFill>
                <a:latin typeface="方正特雅宋_GBK" pitchFamily="2" charset="-122"/>
                <a:ea typeface="方正特雅宋_GBK" pitchFamily="2" charset="-122"/>
              </a:rPr>
              <a:t>Abstract  Data </a:t>
            </a:r>
            <a:r>
              <a:rPr lang="en-US" altLang="zh-CN" sz="2400" b="1" dirty="0" err="1">
                <a:solidFill>
                  <a:srgbClr val="FF0000"/>
                </a:solidFill>
                <a:latin typeface="方正特雅宋_GBK" pitchFamily="2" charset="-122"/>
                <a:ea typeface="方正特雅宋_GBK" pitchFamily="2" charset="-122"/>
              </a:rPr>
              <a:t>Type，ADT</a:t>
            </a:r>
            <a:r>
              <a:rPr lang="en-US" altLang="zh-CN" sz="2800" b="1" dirty="0">
                <a:solidFill>
                  <a:srgbClr val="FF0000"/>
                </a:solidFill>
                <a:latin typeface="方正特雅宋_GBK" pitchFamily="2" charset="-122"/>
                <a:ea typeface="方正特雅宋_GBK" pitchFamily="2" charset="-122"/>
              </a:rPr>
              <a:t>)</a:t>
            </a:r>
            <a:r>
              <a:rPr lang="zh-CN" altLang="en-US" sz="2800" b="1" dirty="0">
                <a:solidFill>
                  <a:srgbClr val="FF0000"/>
                </a:solidFill>
                <a:latin typeface="方正特雅宋_GBK" pitchFamily="2" charset="-122"/>
                <a:ea typeface="方正特雅宋_GBK" pitchFamily="2" charset="-122"/>
              </a:rPr>
              <a:t>：</a:t>
            </a:r>
            <a:endParaRPr lang="en-US" altLang="zh-CN" sz="2800" b="1" dirty="0">
              <a:solidFill>
                <a:srgbClr val="FF0000"/>
              </a:solidFill>
              <a:latin typeface="方正特雅宋_GBK" pitchFamily="2" charset="-122"/>
              <a:ea typeface="方正特雅宋_GBK" pitchFamily="2" charset="-122"/>
            </a:endParaRPr>
          </a:p>
          <a:p>
            <a:pPr>
              <a:spcBef>
                <a:spcPct val="20000"/>
              </a:spcBef>
            </a:pPr>
            <a:r>
              <a:rPr lang="en-US" altLang="zh-CN" sz="2800" b="1" dirty="0">
                <a:solidFill>
                  <a:srgbClr val="FF0000"/>
                </a:solidFill>
                <a:latin typeface="方正特雅宋_GBK" pitchFamily="2" charset="-122"/>
                <a:ea typeface="方正特雅宋_GBK" pitchFamily="2" charset="-122"/>
                <a:cs typeface="经典粗黑简" pitchFamily="49" charset="-122"/>
              </a:rPr>
              <a:t>   </a:t>
            </a:r>
            <a:r>
              <a:rPr lang="zh-CN" altLang="en-US" sz="2000" dirty="0">
                <a:latin typeface="微软雅黑" pitchFamily="34" charset="-122"/>
                <a:ea typeface="微软雅黑" pitchFamily="34" charset="-122"/>
                <a:cs typeface="经典粗黑简" pitchFamily="49" charset="-122"/>
              </a:rPr>
              <a:t>指一个</a:t>
            </a:r>
            <a:r>
              <a:rPr lang="zh-CN" altLang="en-US" sz="2000" dirty="0">
                <a:solidFill>
                  <a:srgbClr val="FF0000"/>
                </a:solidFill>
                <a:latin typeface="微软雅黑" pitchFamily="34" charset="-122"/>
                <a:ea typeface="微软雅黑" pitchFamily="34" charset="-122"/>
                <a:cs typeface="经典粗黑简" pitchFamily="49" charset="-122"/>
              </a:rPr>
              <a:t>数学模型</a:t>
            </a:r>
            <a:r>
              <a:rPr lang="zh-CN" altLang="en-US" sz="2000" dirty="0">
                <a:latin typeface="微软雅黑" pitchFamily="34" charset="-122"/>
                <a:ea typeface="微软雅黑" pitchFamily="34" charset="-122"/>
                <a:cs typeface="经典粗黑简" pitchFamily="49" charset="-122"/>
              </a:rPr>
              <a:t>以及定义在该模型上的</a:t>
            </a:r>
            <a:r>
              <a:rPr lang="zh-CN" altLang="en-US" sz="2000" dirty="0">
                <a:solidFill>
                  <a:srgbClr val="FF0000"/>
                </a:solidFill>
                <a:latin typeface="微软雅黑" pitchFamily="34" charset="-122"/>
                <a:ea typeface="微软雅黑" pitchFamily="34" charset="-122"/>
                <a:cs typeface="经典粗黑简" pitchFamily="49" charset="-122"/>
              </a:rPr>
              <a:t>一组操作</a:t>
            </a:r>
            <a:r>
              <a:rPr lang="zh-CN" altLang="en-US" sz="2000" dirty="0">
                <a:latin typeface="微软雅黑" pitchFamily="34" charset="-122"/>
                <a:ea typeface="微软雅黑" pitchFamily="34" charset="-122"/>
                <a:cs typeface="经典粗黑简" pitchFamily="49" charset="-122"/>
              </a:rPr>
              <a:t>。</a:t>
            </a:r>
          </a:p>
        </p:txBody>
      </p:sp>
      <p:sp>
        <p:nvSpPr>
          <p:cNvPr id="11" name="矩形 10"/>
          <p:cNvSpPr/>
          <p:nvPr/>
        </p:nvSpPr>
        <p:spPr>
          <a:xfrm>
            <a:off x="1115614" y="3331842"/>
            <a:ext cx="7488833" cy="757130"/>
          </a:xfrm>
          <a:prstGeom prst="rect">
            <a:avLst/>
          </a:prstGeom>
        </p:spPr>
        <p:txBody>
          <a:bodyPr wrap="square">
            <a:spAutoFit/>
          </a:bodyPr>
          <a:lstStyle/>
          <a:p>
            <a:pPr>
              <a:lnSpc>
                <a:spcPct val="120000"/>
              </a:lnSpc>
              <a:spcBef>
                <a:spcPct val="0"/>
              </a:spcBef>
            </a:pPr>
            <a:r>
              <a:rPr lang="zh-CN" altLang="en-US" dirty="0">
                <a:latin typeface="微软雅黑" pitchFamily="34" charset="-122"/>
                <a:ea typeface="微软雅黑" pitchFamily="34" charset="-122"/>
                <a:cs typeface="经典粗黑简" pitchFamily="49" charset="-122"/>
              </a:rPr>
              <a:t>数据抽象：用</a:t>
            </a:r>
            <a:r>
              <a:rPr lang="en-US" altLang="zh-CN" dirty="0">
                <a:latin typeface="微软雅黑" pitchFamily="34" charset="-122"/>
                <a:ea typeface="微软雅黑" pitchFamily="34" charset="-122"/>
                <a:cs typeface="经典粗黑简" pitchFamily="49" charset="-122"/>
              </a:rPr>
              <a:t>ADT</a:t>
            </a:r>
            <a:r>
              <a:rPr lang="zh-CN" altLang="en-US" dirty="0">
                <a:latin typeface="微软雅黑" pitchFamily="34" charset="-122"/>
                <a:ea typeface="微软雅黑" pitchFamily="34" charset="-122"/>
                <a:cs typeface="经典粗黑简" pitchFamily="49" charset="-122"/>
              </a:rPr>
              <a:t>描述程序处理的实体时，强调的是其本质的特征、其所能完成的功能以及它和外部用户的接口（即外界使用它的方法）。</a:t>
            </a:r>
          </a:p>
        </p:txBody>
      </p:sp>
      <p:sp>
        <p:nvSpPr>
          <p:cNvPr id="14" name="矩形 13"/>
          <p:cNvSpPr/>
          <p:nvPr/>
        </p:nvSpPr>
        <p:spPr>
          <a:xfrm>
            <a:off x="1115614" y="4099007"/>
            <a:ext cx="7488833" cy="757130"/>
          </a:xfrm>
          <a:prstGeom prst="rect">
            <a:avLst/>
          </a:prstGeom>
        </p:spPr>
        <p:txBody>
          <a:bodyPr wrap="square">
            <a:spAutoFit/>
          </a:bodyPr>
          <a:lstStyle/>
          <a:p>
            <a:pPr>
              <a:lnSpc>
                <a:spcPct val="120000"/>
              </a:lnSpc>
              <a:spcBef>
                <a:spcPct val="0"/>
              </a:spcBef>
            </a:pPr>
            <a:r>
              <a:rPr lang="zh-CN" altLang="en-US" dirty="0">
                <a:latin typeface="微软雅黑" pitchFamily="34" charset="-122"/>
                <a:ea typeface="微软雅黑" pitchFamily="34" charset="-122"/>
                <a:cs typeface="经典粗黑简" pitchFamily="49" charset="-122"/>
              </a:rPr>
              <a:t>数据封装：将实体的外部特性和其内部实现细节分离，并且对外部用户隐藏其内部实现细节。</a:t>
            </a:r>
          </a:p>
        </p:txBody>
      </p:sp>
      <p:sp>
        <p:nvSpPr>
          <p:cNvPr id="2" name="Rectangle 2">
            <a:extLst>
              <a:ext uri="{FF2B5EF4-FFF2-40B4-BE49-F238E27FC236}">
                <a16:creationId xmlns:a16="http://schemas.microsoft.com/office/drawing/2014/main" id="{B8FB9BAC-2E05-DB28-C9BE-CBF3E5A5E0D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7" name="矩形 6">
            <a:extLst>
              <a:ext uri="{FF2B5EF4-FFF2-40B4-BE49-F238E27FC236}">
                <a16:creationId xmlns:a16="http://schemas.microsoft.com/office/drawing/2014/main" id="{06BD1874-5A32-069E-5157-BD552A0A29C8}"/>
              </a:ext>
            </a:extLst>
          </p:cNvPr>
          <p:cNvSpPr/>
          <p:nvPr/>
        </p:nvSpPr>
        <p:spPr>
          <a:xfrm>
            <a:off x="1115616" y="1664547"/>
            <a:ext cx="4752528" cy="523220"/>
          </a:xfrm>
          <a:prstGeom prst="rect">
            <a:avLst/>
          </a:prstGeom>
        </p:spPr>
        <p:txBody>
          <a:bodyPr wrap="square">
            <a:spAutoFit/>
          </a:bodyPr>
          <a:lstStyle/>
          <a:p>
            <a:r>
              <a:rPr lang="en-US" altLang="zh-CN" sz="2800" dirty="0">
                <a:solidFill>
                  <a:schemeClr val="tx1"/>
                </a:solidFill>
                <a:latin typeface="黑体" pitchFamily="49" charset="-122"/>
                <a:ea typeface="黑体" pitchFamily="49" charset="-122"/>
              </a:rPr>
              <a:t>2</a:t>
            </a:r>
            <a:r>
              <a:rPr lang="zh-CN" altLang="en-US" sz="2800" dirty="0">
                <a:solidFill>
                  <a:schemeClr val="tx1"/>
                </a:solidFill>
                <a:latin typeface="黑体" pitchFamily="49" charset="-122"/>
                <a:ea typeface="黑体" pitchFamily="49" charset="-122"/>
              </a:rPr>
              <a:t>、什么是</a:t>
            </a:r>
            <a:r>
              <a:rPr lang="zh-CN" altLang="en-US" sz="2800" dirty="0">
                <a:latin typeface="微软雅黑" pitchFamily="34" charset="-122"/>
                <a:ea typeface="微软雅黑" pitchFamily="34" charset="-122"/>
                <a:cs typeface="经典粗黑简" pitchFamily="49" charset="-122"/>
              </a:rPr>
              <a:t>抽象</a:t>
            </a:r>
            <a:r>
              <a:rPr lang="zh-CN" altLang="en-US" sz="2800" dirty="0">
                <a:solidFill>
                  <a:schemeClr val="tx1"/>
                </a:solidFill>
                <a:latin typeface="黑体" pitchFamily="49" charset="-122"/>
                <a:ea typeface="黑体" pitchFamily="49" charset="-122"/>
              </a:rPr>
              <a:t>数据类型？</a:t>
            </a:r>
          </a:p>
        </p:txBody>
      </p:sp>
      <p:sp>
        <p:nvSpPr>
          <p:cNvPr id="15" name="矩形 14">
            <a:extLst>
              <a:ext uri="{FF2B5EF4-FFF2-40B4-BE49-F238E27FC236}">
                <a16:creationId xmlns:a16="http://schemas.microsoft.com/office/drawing/2014/main" id="{7994C039-0905-01AF-8CC3-84C76409401D}"/>
              </a:ext>
            </a:extLst>
          </p:cNvPr>
          <p:cNvSpPr/>
          <p:nvPr/>
        </p:nvSpPr>
        <p:spPr>
          <a:xfrm>
            <a:off x="177957" y="840743"/>
            <a:ext cx="511412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1.1.5 </a:t>
            </a:r>
            <a:r>
              <a:rPr lang="zh-CN" altLang="en-US" sz="2800" b="1" dirty="0">
                <a:solidFill>
                  <a:schemeClr val="bg1"/>
                </a:solidFill>
                <a:latin typeface="经典粗黑简" pitchFamily="49" charset="-122"/>
                <a:ea typeface="经典粗黑简" pitchFamily="49" charset="-122"/>
                <a:cs typeface="经典粗黑简" pitchFamily="49" charset="-122"/>
              </a:rPr>
              <a:t>数据类型和抽象数据类型</a:t>
            </a:r>
          </a:p>
        </p:txBody>
      </p:sp>
    </p:spTree>
    <p:extLst>
      <p:ext uri="{BB962C8B-B14F-4D97-AF65-F5344CB8AC3E}">
        <p14:creationId xmlns:p14="http://schemas.microsoft.com/office/powerpoint/2010/main" val="254161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115616" y="1664547"/>
            <a:ext cx="4752528" cy="523220"/>
          </a:xfrm>
          <a:prstGeom prst="rect">
            <a:avLst/>
          </a:prstGeom>
        </p:spPr>
        <p:txBody>
          <a:bodyPr wrap="square">
            <a:spAutoFit/>
          </a:bodyPr>
          <a:lstStyle/>
          <a:p>
            <a:r>
              <a:rPr lang="en-US" altLang="zh-CN" sz="2800" dirty="0">
                <a:solidFill>
                  <a:schemeClr val="tx1"/>
                </a:solidFill>
                <a:latin typeface="黑体" pitchFamily="49" charset="-122"/>
                <a:ea typeface="黑体" pitchFamily="49" charset="-122"/>
              </a:rPr>
              <a:t>6</a:t>
            </a:r>
            <a:r>
              <a:rPr lang="zh-CN" altLang="en-US" sz="2800" dirty="0">
                <a:solidFill>
                  <a:schemeClr val="tx1"/>
                </a:solidFill>
                <a:latin typeface="黑体" pitchFamily="49" charset="-122"/>
                <a:ea typeface="黑体" pitchFamily="49" charset="-122"/>
              </a:rPr>
              <a:t>、什么是</a:t>
            </a:r>
            <a:r>
              <a:rPr lang="zh-CN" altLang="en-US" sz="2800" dirty="0">
                <a:latin typeface="微软雅黑" pitchFamily="34" charset="-122"/>
                <a:ea typeface="微软雅黑" pitchFamily="34" charset="-122"/>
                <a:cs typeface="经典粗黑简" pitchFamily="49" charset="-122"/>
              </a:rPr>
              <a:t>抽象</a:t>
            </a:r>
            <a:r>
              <a:rPr lang="zh-CN" altLang="en-US" sz="2800" dirty="0">
                <a:solidFill>
                  <a:schemeClr val="tx1"/>
                </a:solidFill>
                <a:latin typeface="黑体" pitchFamily="49" charset="-122"/>
                <a:ea typeface="黑体" pitchFamily="49" charset="-122"/>
              </a:rPr>
              <a:t>数据类型？</a:t>
            </a:r>
          </a:p>
        </p:txBody>
      </p:sp>
      <p:sp>
        <p:nvSpPr>
          <p:cNvPr id="11" name="Rectangle 3"/>
          <p:cNvSpPr>
            <a:spLocks noChangeArrowheads="1"/>
          </p:cNvSpPr>
          <p:nvPr/>
        </p:nvSpPr>
        <p:spPr bwMode="auto">
          <a:xfrm>
            <a:off x="525144" y="2355726"/>
            <a:ext cx="8064896" cy="864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zh-CN" altLang="en-US" sz="2800" b="1" dirty="0">
                <a:solidFill>
                  <a:srgbClr val="FF0000"/>
                </a:solidFill>
                <a:latin typeface="黑体" pitchFamily="49" charset="-122"/>
                <a:ea typeface="黑体" pitchFamily="49" charset="-122"/>
              </a:rPr>
              <a:t>抽象数据类型</a:t>
            </a:r>
            <a:r>
              <a:rPr lang="zh-CN" altLang="en-US" sz="2800" b="1" dirty="0">
                <a:solidFill>
                  <a:srgbClr val="FF0000"/>
                </a:solidFill>
                <a:latin typeface="方正特雅宋_GBK" pitchFamily="2" charset="-122"/>
                <a:ea typeface="方正特雅宋_GBK" pitchFamily="2" charset="-122"/>
              </a:rPr>
              <a:t>(</a:t>
            </a:r>
            <a:r>
              <a:rPr lang="en-US" altLang="zh-CN" sz="2400" b="1" dirty="0">
                <a:solidFill>
                  <a:srgbClr val="FF0000"/>
                </a:solidFill>
                <a:latin typeface="方正特雅宋_GBK" pitchFamily="2" charset="-122"/>
                <a:ea typeface="方正特雅宋_GBK" pitchFamily="2" charset="-122"/>
              </a:rPr>
              <a:t>Abstract  Data </a:t>
            </a:r>
            <a:r>
              <a:rPr lang="en-US" altLang="zh-CN" sz="2400" b="1" dirty="0" err="1">
                <a:solidFill>
                  <a:srgbClr val="FF0000"/>
                </a:solidFill>
                <a:latin typeface="方正特雅宋_GBK" pitchFamily="2" charset="-122"/>
                <a:ea typeface="方正特雅宋_GBK" pitchFamily="2" charset="-122"/>
              </a:rPr>
              <a:t>Type，ADT</a:t>
            </a:r>
            <a:r>
              <a:rPr lang="en-US" altLang="zh-CN" sz="2800" b="1" dirty="0">
                <a:solidFill>
                  <a:srgbClr val="FF0000"/>
                </a:solidFill>
                <a:latin typeface="方正特雅宋_GBK" pitchFamily="2" charset="-122"/>
                <a:ea typeface="方正特雅宋_GBK" pitchFamily="2" charset="-122"/>
              </a:rPr>
              <a:t>)</a:t>
            </a:r>
            <a:r>
              <a:rPr lang="zh-CN" altLang="en-US" sz="2800" b="1" dirty="0">
                <a:solidFill>
                  <a:srgbClr val="FF0000"/>
                </a:solidFill>
                <a:latin typeface="方正特雅宋_GBK" pitchFamily="2" charset="-122"/>
                <a:ea typeface="方正特雅宋_GBK" pitchFamily="2" charset="-122"/>
              </a:rPr>
              <a:t>：</a:t>
            </a:r>
            <a:endParaRPr lang="en-US" altLang="zh-CN" sz="2800" b="1" dirty="0">
              <a:solidFill>
                <a:srgbClr val="FF0000"/>
              </a:solidFill>
              <a:latin typeface="方正特雅宋_GBK" pitchFamily="2" charset="-122"/>
              <a:ea typeface="方正特雅宋_GBK" pitchFamily="2" charset="-122"/>
            </a:endParaRPr>
          </a:p>
          <a:p>
            <a:pPr>
              <a:spcBef>
                <a:spcPct val="20000"/>
              </a:spcBef>
            </a:pPr>
            <a:r>
              <a:rPr lang="en-US" altLang="zh-CN" sz="2800" b="1" dirty="0">
                <a:solidFill>
                  <a:srgbClr val="FF0000"/>
                </a:solidFill>
                <a:latin typeface="方正特雅宋_GBK" pitchFamily="2" charset="-122"/>
                <a:ea typeface="方正特雅宋_GBK" pitchFamily="2" charset="-122"/>
                <a:cs typeface="经典粗黑简" pitchFamily="49" charset="-122"/>
              </a:rPr>
              <a:t>   </a:t>
            </a:r>
            <a:r>
              <a:rPr lang="zh-CN" altLang="en-US" sz="2000" dirty="0">
                <a:latin typeface="微软雅黑" pitchFamily="34" charset="-122"/>
                <a:ea typeface="微软雅黑" pitchFamily="34" charset="-122"/>
                <a:cs typeface="经典粗黑简" pitchFamily="49" charset="-122"/>
              </a:rPr>
              <a:t>指一个</a:t>
            </a:r>
            <a:r>
              <a:rPr lang="zh-CN" altLang="en-US" sz="2000" dirty="0">
                <a:solidFill>
                  <a:srgbClr val="FF0000"/>
                </a:solidFill>
                <a:latin typeface="微软雅黑" pitchFamily="34" charset="-122"/>
                <a:ea typeface="微软雅黑" pitchFamily="34" charset="-122"/>
                <a:cs typeface="经典粗黑简" pitchFamily="49" charset="-122"/>
              </a:rPr>
              <a:t>数学模型</a:t>
            </a:r>
            <a:r>
              <a:rPr lang="zh-CN" altLang="en-US" sz="2000" dirty="0">
                <a:latin typeface="微软雅黑" pitchFamily="34" charset="-122"/>
                <a:ea typeface="微软雅黑" pitchFamily="34" charset="-122"/>
                <a:cs typeface="经典粗黑简" pitchFamily="49" charset="-122"/>
              </a:rPr>
              <a:t>以及定义在该模型上的</a:t>
            </a:r>
            <a:r>
              <a:rPr lang="zh-CN" altLang="en-US" sz="2000" dirty="0">
                <a:solidFill>
                  <a:srgbClr val="FF0000"/>
                </a:solidFill>
                <a:latin typeface="微软雅黑" pitchFamily="34" charset="-122"/>
                <a:ea typeface="微软雅黑" pitchFamily="34" charset="-122"/>
                <a:cs typeface="经典粗黑简" pitchFamily="49" charset="-122"/>
              </a:rPr>
              <a:t>一组操作</a:t>
            </a:r>
            <a:r>
              <a:rPr lang="zh-CN" altLang="en-US" sz="2000" dirty="0">
                <a:latin typeface="微软雅黑" pitchFamily="34" charset="-122"/>
                <a:ea typeface="微软雅黑" pitchFamily="34" charset="-122"/>
                <a:cs typeface="经典粗黑简" pitchFamily="49" charset="-122"/>
              </a:rPr>
              <a:t>。</a:t>
            </a:r>
          </a:p>
        </p:txBody>
      </p:sp>
      <p:sp>
        <p:nvSpPr>
          <p:cNvPr id="14" name="Rectangle 5"/>
          <p:cNvSpPr>
            <a:spLocks noChangeArrowheads="1"/>
          </p:cNvSpPr>
          <p:nvPr/>
        </p:nvSpPr>
        <p:spPr bwMode="auto">
          <a:xfrm>
            <a:off x="611560" y="3421493"/>
            <a:ext cx="3299964" cy="1536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10000"/>
              </a:lnSpc>
              <a:spcBef>
                <a:spcPct val="20000"/>
              </a:spcBef>
              <a:buFont typeface="Arial" pitchFamily="34" charset="0"/>
              <a:buNone/>
            </a:pPr>
            <a:r>
              <a:rPr lang="zh-CN" altLang="en-US" sz="1600" dirty="0">
                <a:latin typeface="微软雅黑" pitchFamily="34" charset="-122"/>
                <a:ea typeface="微软雅黑" pitchFamily="34" charset="-122"/>
                <a:cs typeface="经典粗黑简" pitchFamily="49" charset="-122"/>
              </a:rPr>
              <a:t>抽象数据类型形式化定义：</a:t>
            </a:r>
          </a:p>
          <a:p>
            <a:pPr marL="342900" indent="-342900">
              <a:lnSpc>
                <a:spcPct val="110000"/>
              </a:lnSpc>
              <a:spcBef>
                <a:spcPct val="20000"/>
              </a:spcBef>
              <a:buFont typeface="Arial" pitchFamily="34" charset="0"/>
              <a:buNone/>
            </a:pPr>
            <a:r>
              <a:rPr lang="en-US" altLang="zh-CN" sz="1600" dirty="0">
                <a:latin typeface="微软雅黑" pitchFamily="34" charset="-122"/>
                <a:ea typeface="微软雅黑" pitchFamily="34" charset="-122"/>
                <a:cs typeface="经典粗黑简" pitchFamily="49" charset="-122"/>
              </a:rPr>
              <a:t>ADT=（D，S，P）</a:t>
            </a:r>
          </a:p>
          <a:p>
            <a:pPr marL="342900" indent="-342900">
              <a:lnSpc>
                <a:spcPct val="110000"/>
              </a:lnSpc>
              <a:spcBef>
                <a:spcPct val="20000"/>
              </a:spcBef>
              <a:buFont typeface="Arial" pitchFamily="34" charset="0"/>
              <a:buNone/>
            </a:pPr>
            <a:r>
              <a:rPr lang="en-US" altLang="zh-CN" sz="1600" dirty="0">
                <a:latin typeface="微软雅黑" pitchFamily="34" charset="-122"/>
                <a:ea typeface="微软雅黑" pitchFamily="34" charset="-122"/>
                <a:cs typeface="经典粗黑简" pitchFamily="49" charset="-122"/>
              </a:rPr>
              <a:t>D={</a:t>
            </a:r>
            <a:r>
              <a:rPr lang="zh-CN" altLang="en-US" sz="1600" dirty="0">
                <a:latin typeface="微软雅黑" pitchFamily="34" charset="-122"/>
                <a:ea typeface="微软雅黑" pitchFamily="34" charset="-122"/>
                <a:cs typeface="经典粗黑简" pitchFamily="49" charset="-122"/>
              </a:rPr>
              <a:t>数据对象}</a:t>
            </a:r>
          </a:p>
          <a:p>
            <a:pPr marL="342900" indent="-342900">
              <a:lnSpc>
                <a:spcPct val="110000"/>
              </a:lnSpc>
              <a:spcBef>
                <a:spcPct val="20000"/>
              </a:spcBef>
              <a:buFont typeface="Arial" pitchFamily="34" charset="0"/>
              <a:buNone/>
            </a:pPr>
            <a:r>
              <a:rPr lang="en-US" altLang="zh-CN" sz="1600" dirty="0">
                <a:latin typeface="微软雅黑" pitchFamily="34" charset="-122"/>
                <a:ea typeface="微软雅黑" pitchFamily="34" charset="-122"/>
                <a:cs typeface="经典粗黑简" pitchFamily="49" charset="-122"/>
              </a:rPr>
              <a:t>S={D</a:t>
            </a:r>
            <a:r>
              <a:rPr lang="zh-CN" altLang="en-US" sz="1600" dirty="0">
                <a:latin typeface="微软雅黑" pitchFamily="34" charset="-122"/>
                <a:ea typeface="微软雅黑" pitchFamily="34" charset="-122"/>
                <a:cs typeface="经典粗黑简" pitchFamily="49" charset="-122"/>
              </a:rPr>
              <a:t>上的关系集}</a:t>
            </a:r>
          </a:p>
          <a:p>
            <a:pPr marL="342900" indent="-342900">
              <a:lnSpc>
                <a:spcPct val="110000"/>
              </a:lnSpc>
              <a:spcBef>
                <a:spcPct val="20000"/>
              </a:spcBef>
              <a:buFont typeface="Arial" pitchFamily="34" charset="0"/>
              <a:buNone/>
            </a:pPr>
            <a:r>
              <a:rPr lang="en-US" altLang="zh-CN" sz="1600" dirty="0">
                <a:latin typeface="微软雅黑" pitchFamily="34" charset="-122"/>
                <a:ea typeface="微软雅黑" pitchFamily="34" charset="-122"/>
                <a:cs typeface="经典粗黑简" pitchFamily="49" charset="-122"/>
              </a:rPr>
              <a:t>P={</a:t>
            </a:r>
            <a:r>
              <a:rPr lang="zh-CN" altLang="en-US" sz="1600" dirty="0">
                <a:latin typeface="微软雅黑" pitchFamily="34" charset="-122"/>
                <a:ea typeface="微软雅黑" pitchFamily="34" charset="-122"/>
                <a:cs typeface="经典粗黑简" pitchFamily="49" charset="-122"/>
              </a:rPr>
              <a:t>对</a:t>
            </a:r>
            <a:r>
              <a:rPr lang="en-US" altLang="zh-CN" sz="1600" dirty="0">
                <a:latin typeface="微软雅黑" pitchFamily="34" charset="-122"/>
                <a:ea typeface="微软雅黑" pitchFamily="34" charset="-122"/>
                <a:cs typeface="经典粗黑简" pitchFamily="49" charset="-122"/>
              </a:rPr>
              <a:t>D</a:t>
            </a:r>
            <a:r>
              <a:rPr lang="zh-CN" altLang="en-US" sz="1600" dirty="0">
                <a:latin typeface="微软雅黑" pitchFamily="34" charset="-122"/>
                <a:ea typeface="微软雅黑" pitchFamily="34" charset="-122"/>
                <a:cs typeface="经典粗黑简" pitchFamily="49" charset="-122"/>
              </a:rPr>
              <a:t>的基本操作集}</a:t>
            </a:r>
          </a:p>
        </p:txBody>
      </p:sp>
      <p:sp>
        <p:nvSpPr>
          <p:cNvPr id="18" name="Rectangle 6"/>
          <p:cNvSpPr>
            <a:spLocks noChangeArrowheads="1"/>
          </p:cNvSpPr>
          <p:nvPr/>
        </p:nvSpPr>
        <p:spPr bwMode="auto">
          <a:xfrm>
            <a:off x="3795868" y="3388079"/>
            <a:ext cx="495259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1"/>
            <a:r>
              <a:rPr lang="zh-CN" altLang="en-US" sz="1600" dirty="0">
                <a:latin typeface="微软雅黑" pitchFamily="34" charset="-122"/>
                <a:ea typeface="微软雅黑" pitchFamily="34" charset="-122"/>
                <a:cs typeface="经典粗黑简" pitchFamily="49" charset="-122"/>
              </a:rPr>
              <a:t>定义形式：</a:t>
            </a:r>
          </a:p>
          <a:p>
            <a:pPr lvl="1"/>
            <a:r>
              <a:rPr lang="en-US" altLang="zh-CN" sz="1600" dirty="0">
                <a:latin typeface="微软雅黑" pitchFamily="34" charset="-122"/>
                <a:ea typeface="微软雅黑" pitchFamily="34" charset="-122"/>
                <a:cs typeface="经典粗黑简" pitchFamily="49" charset="-122"/>
              </a:rPr>
              <a:t>ADT </a:t>
            </a:r>
            <a:r>
              <a:rPr lang="zh-CN" altLang="en-US" sz="1600" dirty="0">
                <a:latin typeface="微软雅黑" pitchFamily="34" charset="-122"/>
                <a:ea typeface="微软雅黑" pitchFamily="34" charset="-122"/>
                <a:cs typeface="经典粗黑简" pitchFamily="49" charset="-122"/>
              </a:rPr>
              <a:t>抽象数据类型名{</a:t>
            </a:r>
          </a:p>
          <a:p>
            <a:pPr lvl="3"/>
            <a:r>
              <a:rPr lang="zh-CN" altLang="en-US" sz="1600" dirty="0">
                <a:latin typeface="微软雅黑" pitchFamily="34" charset="-122"/>
                <a:ea typeface="微软雅黑" pitchFamily="34" charset="-122"/>
                <a:cs typeface="经典粗黑简" pitchFamily="49" charset="-122"/>
              </a:rPr>
              <a:t>	数据对象：</a:t>
            </a:r>
            <a:r>
              <a:rPr lang="en-US" altLang="zh-CN" sz="1600" dirty="0">
                <a:latin typeface="微软雅黑" pitchFamily="34" charset="-122"/>
                <a:ea typeface="微软雅黑" pitchFamily="34" charset="-122"/>
                <a:cs typeface="经典粗黑简" pitchFamily="49" charset="-122"/>
              </a:rPr>
              <a:t>&lt;</a:t>
            </a:r>
            <a:r>
              <a:rPr lang="zh-CN" altLang="en-US" sz="1600" dirty="0">
                <a:latin typeface="微软雅黑" pitchFamily="34" charset="-122"/>
                <a:ea typeface="微软雅黑" pitchFamily="34" charset="-122"/>
                <a:cs typeface="经典粗黑简" pitchFamily="49" charset="-122"/>
              </a:rPr>
              <a:t>数据对象的定义</a:t>
            </a:r>
            <a:r>
              <a:rPr lang="en-US" altLang="zh-CN" sz="1600" dirty="0">
                <a:latin typeface="微软雅黑" pitchFamily="34" charset="-122"/>
                <a:ea typeface="微软雅黑" pitchFamily="34" charset="-122"/>
                <a:cs typeface="经典粗黑简" pitchFamily="49" charset="-122"/>
              </a:rPr>
              <a:t>&gt;</a:t>
            </a:r>
            <a:endParaRPr lang="zh-CN" altLang="en-US" sz="1600" dirty="0">
              <a:latin typeface="微软雅黑" pitchFamily="34" charset="-122"/>
              <a:ea typeface="微软雅黑" pitchFamily="34" charset="-122"/>
              <a:cs typeface="经典粗黑简" pitchFamily="49" charset="-122"/>
            </a:endParaRPr>
          </a:p>
          <a:p>
            <a:pPr lvl="3"/>
            <a:r>
              <a:rPr lang="zh-CN" altLang="en-US" sz="1600" dirty="0">
                <a:latin typeface="微软雅黑" pitchFamily="34" charset="-122"/>
                <a:ea typeface="微软雅黑" pitchFamily="34" charset="-122"/>
                <a:cs typeface="经典粗黑简" pitchFamily="49" charset="-122"/>
              </a:rPr>
              <a:t>	数据关系：</a:t>
            </a:r>
            <a:r>
              <a:rPr lang="en-US" altLang="zh-CN" sz="1600" dirty="0">
                <a:latin typeface="微软雅黑" pitchFamily="34" charset="-122"/>
                <a:ea typeface="微软雅黑" pitchFamily="34" charset="-122"/>
                <a:cs typeface="经典粗黑简" pitchFamily="49" charset="-122"/>
              </a:rPr>
              <a:t>&lt;</a:t>
            </a:r>
            <a:r>
              <a:rPr lang="zh-CN" altLang="en-US" sz="1600" dirty="0">
                <a:latin typeface="微软雅黑" pitchFamily="34" charset="-122"/>
                <a:ea typeface="微软雅黑" pitchFamily="34" charset="-122"/>
                <a:cs typeface="经典粗黑简" pitchFamily="49" charset="-122"/>
              </a:rPr>
              <a:t>数据关系的定义</a:t>
            </a:r>
            <a:r>
              <a:rPr lang="en-US" altLang="zh-CN" sz="1600" dirty="0">
                <a:latin typeface="微软雅黑" pitchFamily="34" charset="-122"/>
                <a:ea typeface="微软雅黑" pitchFamily="34" charset="-122"/>
                <a:cs typeface="经典粗黑简" pitchFamily="49" charset="-122"/>
              </a:rPr>
              <a:t>&gt;</a:t>
            </a:r>
            <a:endParaRPr lang="zh-CN" altLang="en-US" sz="1600" dirty="0">
              <a:latin typeface="微软雅黑" pitchFamily="34" charset="-122"/>
              <a:ea typeface="微软雅黑" pitchFamily="34" charset="-122"/>
              <a:cs typeface="经典粗黑简" pitchFamily="49" charset="-122"/>
            </a:endParaRPr>
          </a:p>
          <a:p>
            <a:pPr lvl="3"/>
            <a:r>
              <a:rPr lang="zh-CN" altLang="en-US" sz="1600" dirty="0">
                <a:latin typeface="微软雅黑" pitchFamily="34" charset="-122"/>
                <a:ea typeface="微软雅黑" pitchFamily="34" charset="-122"/>
                <a:cs typeface="经典粗黑简" pitchFamily="49" charset="-122"/>
              </a:rPr>
              <a:t>	基本操作：</a:t>
            </a:r>
            <a:r>
              <a:rPr lang="en-US" altLang="zh-CN" sz="1600" dirty="0">
                <a:latin typeface="微软雅黑" pitchFamily="34" charset="-122"/>
                <a:ea typeface="微软雅黑" pitchFamily="34" charset="-122"/>
                <a:cs typeface="经典粗黑简" pitchFamily="49" charset="-122"/>
              </a:rPr>
              <a:t>&lt;</a:t>
            </a:r>
            <a:r>
              <a:rPr lang="zh-CN" altLang="en-US" sz="1600" dirty="0">
                <a:latin typeface="微软雅黑" pitchFamily="34" charset="-122"/>
                <a:ea typeface="微软雅黑" pitchFamily="34" charset="-122"/>
                <a:cs typeface="经典粗黑简" pitchFamily="49" charset="-122"/>
              </a:rPr>
              <a:t>基本操作的定义</a:t>
            </a:r>
            <a:r>
              <a:rPr lang="en-US" altLang="zh-CN" sz="1600" dirty="0">
                <a:latin typeface="微软雅黑" pitchFamily="34" charset="-122"/>
                <a:ea typeface="微软雅黑" pitchFamily="34" charset="-122"/>
                <a:cs typeface="经典粗黑简" pitchFamily="49" charset="-122"/>
              </a:rPr>
              <a:t>&gt;</a:t>
            </a:r>
            <a:endParaRPr lang="zh-CN" altLang="en-US" sz="1600" dirty="0">
              <a:latin typeface="微软雅黑" pitchFamily="34" charset="-122"/>
              <a:ea typeface="微软雅黑" pitchFamily="34" charset="-122"/>
              <a:cs typeface="经典粗黑简" pitchFamily="49" charset="-122"/>
            </a:endParaRPr>
          </a:p>
          <a:p>
            <a:pPr lvl="3"/>
            <a:r>
              <a:rPr lang="zh-CN" altLang="en-US" sz="1600" dirty="0">
                <a:latin typeface="微软雅黑" pitchFamily="34" charset="-122"/>
                <a:ea typeface="微软雅黑" pitchFamily="34" charset="-122"/>
                <a:cs typeface="经典粗黑简" pitchFamily="49" charset="-122"/>
              </a:rPr>
              <a:t>} </a:t>
            </a:r>
            <a:r>
              <a:rPr lang="en-US" altLang="zh-CN" sz="1600" dirty="0">
                <a:latin typeface="微软雅黑" pitchFamily="34" charset="-122"/>
                <a:ea typeface="微软雅黑" pitchFamily="34" charset="-122"/>
                <a:cs typeface="经典粗黑简" pitchFamily="49" charset="-122"/>
              </a:rPr>
              <a:t>ADT </a:t>
            </a:r>
            <a:r>
              <a:rPr lang="zh-CN" altLang="en-US" sz="1600" dirty="0">
                <a:latin typeface="微软雅黑" pitchFamily="34" charset="-122"/>
                <a:ea typeface="微软雅黑" pitchFamily="34" charset="-122"/>
                <a:cs typeface="经典粗黑简" pitchFamily="49" charset="-122"/>
              </a:rPr>
              <a:t>抽象数据类型名</a:t>
            </a:r>
          </a:p>
        </p:txBody>
      </p:sp>
      <p:sp>
        <p:nvSpPr>
          <p:cNvPr id="2" name="Rectangle 2">
            <a:extLst>
              <a:ext uri="{FF2B5EF4-FFF2-40B4-BE49-F238E27FC236}">
                <a16:creationId xmlns:a16="http://schemas.microsoft.com/office/drawing/2014/main" id="{E1E63F46-15BC-51F8-CB7F-B9D84B715E9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5" name="矩形 4">
            <a:extLst>
              <a:ext uri="{FF2B5EF4-FFF2-40B4-BE49-F238E27FC236}">
                <a16:creationId xmlns:a16="http://schemas.microsoft.com/office/drawing/2014/main" id="{777F7624-84AE-5218-1B3C-19F91BC25821}"/>
              </a:ext>
            </a:extLst>
          </p:cNvPr>
          <p:cNvSpPr/>
          <p:nvPr/>
        </p:nvSpPr>
        <p:spPr>
          <a:xfrm>
            <a:off x="177957" y="840743"/>
            <a:ext cx="388843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1.1.1 </a:t>
            </a:r>
            <a:r>
              <a:rPr lang="zh-CN" altLang="en-US" sz="2800" b="1" dirty="0">
                <a:solidFill>
                  <a:schemeClr val="bg1"/>
                </a:solidFill>
                <a:latin typeface="经典粗黑简" pitchFamily="49" charset="-122"/>
                <a:ea typeface="经典粗黑简" pitchFamily="49" charset="-122"/>
                <a:cs typeface="经典粗黑简" pitchFamily="49" charset="-122"/>
              </a:rPr>
              <a:t>数据结构的定义</a:t>
            </a:r>
          </a:p>
        </p:txBody>
      </p:sp>
    </p:spTree>
    <p:extLst>
      <p:ext uri="{BB962C8B-B14F-4D97-AF65-F5344CB8AC3E}">
        <p14:creationId xmlns:p14="http://schemas.microsoft.com/office/powerpoint/2010/main" val="3535315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5" name="Rectangle 5"/>
          <p:cNvSpPr>
            <a:spLocks noChangeArrowheads="1"/>
          </p:cNvSpPr>
          <p:nvPr/>
        </p:nvSpPr>
        <p:spPr bwMode="auto">
          <a:xfrm>
            <a:off x="1259632" y="2303826"/>
            <a:ext cx="6336704"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42950" lvl="1" indent="-285750">
              <a:spcBef>
                <a:spcPct val="20000"/>
              </a:spcBef>
              <a:buFont typeface="Arial" pitchFamily="34" charset="0"/>
              <a:buNone/>
            </a:pPr>
            <a:r>
              <a:rPr lang="zh-CN" altLang="en-US" sz="1400" dirty="0">
                <a:latin typeface="微软雅黑" pitchFamily="34" charset="-122"/>
                <a:ea typeface="微软雅黑" pitchFamily="34" charset="-122"/>
                <a:cs typeface="经典粗黑简" pitchFamily="49" charset="-122"/>
              </a:rPr>
              <a:t>抽象数据类型示例（三元组）</a:t>
            </a:r>
          </a:p>
          <a:p>
            <a:pPr marL="1143000" lvl="2" indent="-228600">
              <a:spcBef>
                <a:spcPct val="20000"/>
              </a:spcBef>
              <a:buFont typeface="Arial" pitchFamily="34" charset="0"/>
              <a:buNone/>
            </a:pPr>
            <a:r>
              <a:rPr lang="en-US" altLang="zh-CN" sz="1400" dirty="0">
                <a:latin typeface="微软雅黑" pitchFamily="34" charset="-122"/>
                <a:ea typeface="微软雅黑" pitchFamily="34" charset="-122"/>
                <a:cs typeface="经典粗黑简" pitchFamily="49" charset="-122"/>
              </a:rPr>
              <a:t>ADT Triplet {</a:t>
            </a:r>
          </a:p>
          <a:p>
            <a:pPr marL="1600200" lvl="3" indent="-228600">
              <a:spcBef>
                <a:spcPct val="20000"/>
              </a:spcBef>
              <a:buFont typeface="Arial" pitchFamily="34" charset="0"/>
              <a:buNone/>
            </a:pPr>
            <a:r>
              <a:rPr lang="zh-CN" altLang="en-US" sz="1400" dirty="0">
                <a:latin typeface="微软雅黑" pitchFamily="34" charset="-122"/>
                <a:ea typeface="微软雅黑" pitchFamily="34" charset="-122"/>
                <a:cs typeface="经典粗黑简" pitchFamily="49" charset="-122"/>
              </a:rPr>
              <a:t>数据对象：</a:t>
            </a:r>
            <a:r>
              <a:rPr lang="en-US" altLang="zh-CN" sz="1400" dirty="0">
                <a:latin typeface="微软雅黑" pitchFamily="34" charset="-122"/>
                <a:ea typeface="微软雅黑" pitchFamily="34" charset="-122"/>
                <a:cs typeface="经典粗黑简" pitchFamily="49" charset="-122"/>
              </a:rPr>
              <a:t>D = {e1,e2,e3| e1,e2,e3</a:t>
            </a:r>
            <a:r>
              <a:rPr lang="zh-CN" altLang="en-US" sz="1400" dirty="0">
                <a:latin typeface="微软雅黑" pitchFamily="34" charset="-122"/>
                <a:ea typeface="微软雅黑" pitchFamily="34" charset="-122"/>
                <a:cs typeface="经典粗黑简" pitchFamily="49" charset="-122"/>
              </a:rPr>
              <a:t>属于</a:t>
            </a:r>
            <a:r>
              <a:rPr lang="en-US" altLang="zh-CN" sz="1400" dirty="0" err="1">
                <a:latin typeface="微软雅黑" pitchFamily="34" charset="-122"/>
                <a:ea typeface="微软雅黑" pitchFamily="34" charset="-122"/>
                <a:cs typeface="经典粗黑简" pitchFamily="49" charset="-122"/>
              </a:rPr>
              <a:t>ElemSet</a:t>
            </a:r>
            <a:r>
              <a:rPr lang="en-US" altLang="zh-CN" sz="1400" dirty="0">
                <a:latin typeface="微软雅黑" pitchFamily="34" charset="-122"/>
                <a:ea typeface="微软雅黑" pitchFamily="34" charset="-122"/>
                <a:cs typeface="经典粗黑简" pitchFamily="49" charset="-122"/>
              </a:rPr>
              <a:t>}</a:t>
            </a:r>
          </a:p>
          <a:p>
            <a:pPr marL="1600200" lvl="3" indent="-228600">
              <a:spcBef>
                <a:spcPct val="20000"/>
              </a:spcBef>
              <a:buFont typeface="Arial" pitchFamily="34" charset="0"/>
              <a:buNone/>
            </a:pPr>
            <a:r>
              <a:rPr lang="zh-CN" altLang="en-US" sz="1400" dirty="0">
                <a:latin typeface="微软雅黑" pitchFamily="34" charset="-122"/>
                <a:ea typeface="微软雅黑" pitchFamily="34" charset="-122"/>
                <a:cs typeface="经典粗黑简" pitchFamily="49" charset="-122"/>
              </a:rPr>
              <a:t>数据关系：</a:t>
            </a:r>
            <a:r>
              <a:rPr lang="en-US" altLang="zh-CN" sz="1400" dirty="0">
                <a:latin typeface="微软雅黑" pitchFamily="34" charset="-122"/>
                <a:ea typeface="微软雅黑" pitchFamily="34" charset="-122"/>
                <a:cs typeface="经典粗黑简" pitchFamily="49" charset="-122"/>
              </a:rPr>
              <a:t>R = {&lt;e1,e2&gt;,&lt;e2,e3&gt;}</a:t>
            </a:r>
          </a:p>
          <a:p>
            <a:pPr marL="1600200" lvl="3" indent="-228600">
              <a:spcBef>
                <a:spcPct val="20000"/>
              </a:spcBef>
              <a:buFont typeface="Arial" pitchFamily="34" charset="0"/>
              <a:buNone/>
            </a:pPr>
            <a:r>
              <a:rPr lang="zh-CN" altLang="en-US" sz="1400" dirty="0">
                <a:latin typeface="微软雅黑" pitchFamily="34" charset="-122"/>
                <a:ea typeface="微软雅黑" pitchFamily="34" charset="-122"/>
                <a:cs typeface="经典粗黑简" pitchFamily="49" charset="-122"/>
              </a:rPr>
              <a:t>基本操作：</a:t>
            </a:r>
            <a:r>
              <a:rPr lang="en-US" altLang="zh-CN" sz="1400" dirty="0" err="1">
                <a:latin typeface="微软雅黑" pitchFamily="34" charset="-122"/>
                <a:ea typeface="微软雅黑" pitchFamily="34" charset="-122"/>
                <a:cs typeface="经典粗黑简" pitchFamily="49" charset="-122"/>
              </a:rPr>
              <a:t>InitTriplet</a:t>
            </a:r>
            <a:r>
              <a:rPr lang="en-US" altLang="zh-CN" sz="1400" dirty="0">
                <a:latin typeface="微软雅黑" pitchFamily="34" charset="-122"/>
                <a:ea typeface="微软雅黑" pitchFamily="34" charset="-122"/>
                <a:cs typeface="经典粗黑简" pitchFamily="49" charset="-122"/>
              </a:rPr>
              <a:t>(&amp;T,v1,v2,v3)</a:t>
            </a:r>
          </a:p>
          <a:p>
            <a:pPr marL="1600200" lvl="3" indent="-228600">
              <a:spcBef>
                <a:spcPct val="20000"/>
              </a:spcBef>
              <a:buFont typeface="Arial" pitchFamily="34" charset="0"/>
              <a:buNone/>
            </a:pPr>
            <a:r>
              <a:rPr lang="en-US" altLang="zh-CN" sz="1400" dirty="0">
                <a:latin typeface="微软雅黑" pitchFamily="34" charset="-122"/>
                <a:ea typeface="微软雅黑" pitchFamily="34" charset="-122"/>
                <a:cs typeface="经典粗黑简" pitchFamily="49" charset="-122"/>
              </a:rPr>
              <a:t>                 </a:t>
            </a:r>
            <a:r>
              <a:rPr lang="en-US" altLang="zh-CN" sz="1400" dirty="0" err="1">
                <a:latin typeface="微软雅黑" pitchFamily="34" charset="-122"/>
                <a:ea typeface="微软雅黑" pitchFamily="34" charset="-122"/>
                <a:cs typeface="经典粗黑简" pitchFamily="49" charset="-122"/>
              </a:rPr>
              <a:t>DestroyTriplet</a:t>
            </a:r>
            <a:r>
              <a:rPr lang="en-US" altLang="zh-CN" sz="1400" dirty="0">
                <a:latin typeface="微软雅黑" pitchFamily="34" charset="-122"/>
                <a:ea typeface="微软雅黑" pitchFamily="34" charset="-122"/>
                <a:cs typeface="经典粗黑简" pitchFamily="49" charset="-122"/>
              </a:rPr>
              <a:t>(&amp;T)</a:t>
            </a:r>
          </a:p>
          <a:p>
            <a:pPr marL="2057400" lvl="4" indent="-228600">
              <a:spcBef>
                <a:spcPct val="20000"/>
              </a:spcBef>
              <a:buFont typeface="Arial" pitchFamily="34" charset="0"/>
              <a:buNone/>
            </a:pPr>
            <a:r>
              <a:rPr lang="en-US" altLang="zh-CN" sz="1400" dirty="0">
                <a:latin typeface="微软雅黑" pitchFamily="34" charset="-122"/>
                <a:ea typeface="微软雅黑" pitchFamily="34" charset="-122"/>
                <a:cs typeface="经典粗黑简" pitchFamily="49" charset="-122"/>
              </a:rPr>
              <a:t>	    Get(T,</a:t>
            </a:r>
            <a:r>
              <a:rPr lang="en-US" altLang="zh-CN" sz="1400" dirty="0" err="1">
                <a:latin typeface="微软雅黑" pitchFamily="34" charset="-122"/>
                <a:ea typeface="微软雅黑" pitchFamily="34" charset="-122"/>
                <a:cs typeface="经典粗黑简" pitchFamily="49" charset="-122"/>
              </a:rPr>
              <a:t>i</a:t>
            </a:r>
            <a:r>
              <a:rPr lang="en-US" altLang="zh-CN" sz="1400" dirty="0">
                <a:latin typeface="微软雅黑" pitchFamily="34" charset="-122"/>
                <a:ea typeface="微软雅黑" pitchFamily="34" charset="-122"/>
                <a:cs typeface="经典粗黑简" pitchFamily="49" charset="-122"/>
              </a:rPr>
              <a:t>,&amp;e)</a:t>
            </a:r>
          </a:p>
          <a:p>
            <a:pPr marL="2057400" lvl="4" indent="-228600">
              <a:spcBef>
                <a:spcPct val="20000"/>
              </a:spcBef>
              <a:buFont typeface="Arial" pitchFamily="34" charset="0"/>
              <a:buNone/>
            </a:pPr>
            <a:r>
              <a:rPr lang="en-US" altLang="zh-CN" sz="1400" dirty="0">
                <a:latin typeface="微软雅黑" pitchFamily="34" charset="-122"/>
                <a:ea typeface="微软雅黑" pitchFamily="34" charset="-122"/>
                <a:cs typeface="经典粗黑简" pitchFamily="49" charset="-122"/>
              </a:rPr>
              <a:t>        Put(&amp;</a:t>
            </a:r>
            <a:r>
              <a:rPr lang="en-US" altLang="zh-CN" sz="1400" dirty="0" err="1">
                <a:latin typeface="微软雅黑" pitchFamily="34" charset="-122"/>
                <a:ea typeface="微软雅黑" pitchFamily="34" charset="-122"/>
                <a:cs typeface="经典粗黑简" pitchFamily="49" charset="-122"/>
              </a:rPr>
              <a:t>T,i,e</a:t>
            </a:r>
            <a:r>
              <a:rPr lang="en-US" altLang="zh-CN" sz="1400" dirty="0">
                <a:latin typeface="微软雅黑" pitchFamily="34" charset="-122"/>
                <a:ea typeface="微软雅黑" pitchFamily="34" charset="-122"/>
                <a:cs typeface="经典粗黑简" pitchFamily="49" charset="-122"/>
              </a:rPr>
              <a:t>)</a:t>
            </a:r>
            <a:endParaRPr lang="zh-CN" altLang="en-US" sz="1400" dirty="0">
              <a:latin typeface="微软雅黑" pitchFamily="34" charset="-122"/>
              <a:ea typeface="微软雅黑" pitchFamily="34" charset="-122"/>
              <a:cs typeface="经典粗黑简" pitchFamily="49" charset="-122"/>
            </a:endParaRPr>
          </a:p>
          <a:p>
            <a:pPr marL="2057400" lvl="4" indent="-228600">
              <a:spcBef>
                <a:spcPct val="20000"/>
              </a:spcBef>
              <a:buFont typeface="Arial" pitchFamily="34" charset="0"/>
              <a:buNone/>
            </a:pPr>
            <a:r>
              <a:rPr lang="zh-CN" altLang="en-US" sz="1400" dirty="0">
                <a:latin typeface="微软雅黑" pitchFamily="34" charset="-122"/>
                <a:ea typeface="微软雅黑" pitchFamily="34" charset="-122"/>
                <a:cs typeface="经典粗黑简" pitchFamily="49" charset="-122"/>
              </a:rPr>
              <a:t>		　　……</a:t>
            </a:r>
          </a:p>
          <a:p>
            <a:pPr marL="1600200" lvl="3" indent="-228600">
              <a:spcBef>
                <a:spcPct val="20000"/>
              </a:spcBef>
              <a:buFont typeface="Arial" pitchFamily="34" charset="0"/>
              <a:buNone/>
            </a:pPr>
            <a:r>
              <a:rPr lang="zh-CN" altLang="en-US" sz="1400" dirty="0">
                <a:latin typeface="微软雅黑" pitchFamily="34" charset="-122"/>
                <a:ea typeface="微软雅黑" pitchFamily="34" charset="-122"/>
                <a:cs typeface="经典粗黑简" pitchFamily="49" charset="-122"/>
              </a:rPr>
              <a:t>} </a:t>
            </a:r>
            <a:r>
              <a:rPr lang="en-US" altLang="zh-CN" sz="1400" dirty="0">
                <a:latin typeface="微软雅黑" pitchFamily="34" charset="-122"/>
                <a:ea typeface="微软雅黑" pitchFamily="34" charset="-122"/>
                <a:cs typeface="经典粗黑简" pitchFamily="49" charset="-122"/>
              </a:rPr>
              <a:t>ADT Triplet </a:t>
            </a:r>
            <a:endParaRPr lang="zh-CN" altLang="en-US" sz="1400" dirty="0">
              <a:latin typeface="微软雅黑" pitchFamily="34" charset="-122"/>
              <a:ea typeface="微软雅黑" pitchFamily="34" charset="-122"/>
              <a:cs typeface="经典粗黑简" pitchFamily="49" charset="-122"/>
            </a:endParaRPr>
          </a:p>
        </p:txBody>
      </p:sp>
      <p:sp>
        <p:nvSpPr>
          <p:cNvPr id="2" name="Rectangle 2">
            <a:extLst>
              <a:ext uri="{FF2B5EF4-FFF2-40B4-BE49-F238E27FC236}">
                <a16:creationId xmlns:a16="http://schemas.microsoft.com/office/drawing/2014/main" id="{310B808C-1261-2B16-5875-02E04C620EE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6" name="矩形 5">
            <a:extLst>
              <a:ext uri="{FF2B5EF4-FFF2-40B4-BE49-F238E27FC236}">
                <a16:creationId xmlns:a16="http://schemas.microsoft.com/office/drawing/2014/main" id="{1501B752-715F-A04B-C0E3-F9210AEDF634}"/>
              </a:ext>
            </a:extLst>
          </p:cNvPr>
          <p:cNvSpPr/>
          <p:nvPr/>
        </p:nvSpPr>
        <p:spPr>
          <a:xfrm>
            <a:off x="1115616" y="1664547"/>
            <a:ext cx="4752528" cy="523220"/>
          </a:xfrm>
          <a:prstGeom prst="rect">
            <a:avLst/>
          </a:prstGeom>
        </p:spPr>
        <p:txBody>
          <a:bodyPr wrap="square">
            <a:spAutoFit/>
          </a:bodyPr>
          <a:lstStyle/>
          <a:p>
            <a:r>
              <a:rPr lang="en-US" altLang="zh-CN" sz="2800" dirty="0">
                <a:solidFill>
                  <a:schemeClr val="tx1"/>
                </a:solidFill>
                <a:latin typeface="黑体" pitchFamily="49" charset="-122"/>
                <a:ea typeface="黑体" pitchFamily="49" charset="-122"/>
              </a:rPr>
              <a:t>2</a:t>
            </a:r>
            <a:r>
              <a:rPr lang="zh-CN" altLang="en-US" sz="2800" dirty="0">
                <a:solidFill>
                  <a:schemeClr val="tx1"/>
                </a:solidFill>
                <a:latin typeface="黑体" pitchFamily="49" charset="-122"/>
                <a:ea typeface="黑体" pitchFamily="49" charset="-122"/>
              </a:rPr>
              <a:t>、什么是</a:t>
            </a:r>
            <a:r>
              <a:rPr lang="zh-CN" altLang="en-US" sz="2800" dirty="0">
                <a:latin typeface="微软雅黑" pitchFamily="34" charset="-122"/>
                <a:ea typeface="微软雅黑" pitchFamily="34" charset="-122"/>
                <a:cs typeface="经典粗黑简" pitchFamily="49" charset="-122"/>
              </a:rPr>
              <a:t>抽象</a:t>
            </a:r>
            <a:r>
              <a:rPr lang="zh-CN" altLang="en-US" sz="2800" dirty="0">
                <a:solidFill>
                  <a:schemeClr val="tx1"/>
                </a:solidFill>
                <a:latin typeface="黑体" pitchFamily="49" charset="-122"/>
                <a:ea typeface="黑体" pitchFamily="49" charset="-122"/>
              </a:rPr>
              <a:t>数据类型？</a:t>
            </a:r>
          </a:p>
        </p:txBody>
      </p:sp>
      <p:sp>
        <p:nvSpPr>
          <p:cNvPr id="7" name="矩形 6">
            <a:extLst>
              <a:ext uri="{FF2B5EF4-FFF2-40B4-BE49-F238E27FC236}">
                <a16:creationId xmlns:a16="http://schemas.microsoft.com/office/drawing/2014/main" id="{A6815A74-3E92-FA13-7F71-F58870B6EAAB}"/>
              </a:ext>
            </a:extLst>
          </p:cNvPr>
          <p:cNvSpPr/>
          <p:nvPr/>
        </p:nvSpPr>
        <p:spPr>
          <a:xfrm>
            <a:off x="177957" y="840743"/>
            <a:ext cx="511412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1.1.5 </a:t>
            </a:r>
            <a:r>
              <a:rPr lang="zh-CN" altLang="en-US" sz="2800" b="1" dirty="0">
                <a:solidFill>
                  <a:schemeClr val="bg1"/>
                </a:solidFill>
                <a:latin typeface="经典粗黑简" pitchFamily="49" charset="-122"/>
                <a:ea typeface="经典粗黑简" pitchFamily="49" charset="-122"/>
                <a:cs typeface="经典粗黑简" pitchFamily="49" charset="-122"/>
              </a:rPr>
              <a:t>数据类型和抽象数据类型</a:t>
            </a:r>
          </a:p>
        </p:txBody>
      </p:sp>
    </p:spTree>
    <p:extLst>
      <p:ext uri="{BB962C8B-B14F-4D97-AF65-F5344CB8AC3E}">
        <p14:creationId xmlns:p14="http://schemas.microsoft.com/office/powerpoint/2010/main" val="29998300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5" name="Rectangle 2"/>
          <p:cNvSpPr>
            <a:spLocks noChangeArrowheads="1"/>
          </p:cNvSpPr>
          <p:nvPr/>
        </p:nvSpPr>
        <p:spPr bwMode="auto">
          <a:xfrm>
            <a:off x="1115615" y="2463739"/>
            <a:ext cx="6912768" cy="2052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spcBef>
                <a:spcPct val="20000"/>
              </a:spcBef>
            </a:pPr>
            <a:r>
              <a:rPr lang="zh-CN" altLang="en-US" sz="2000" dirty="0">
                <a:latin typeface="微软雅黑" pitchFamily="34" charset="-122"/>
                <a:ea typeface="微软雅黑" pitchFamily="34" charset="-122"/>
                <a:cs typeface="经典粗黑简" pitchFamily="49" charset="-122"/>
              </a:rPr>
              <a:t>抽象数据类型分类</a:t>
            </a:r>
            <a:endParaRPr lang="en-US" altLang="zh-CN" sz="2000" dirty="0">
              <a:latin typeface="微软雅黑" pitchFamily="34" charset="-122"/>
              <a:ea typeface="微软雅黑" pitchFamily="34" charset="-122"/>
              <a:cs typeface="经典粗黑简" pitchFamily="49" charset="-122"/>
            </a:endParaRPr>
          </a:p>
          <a:p>
            <a:pPr>
              <a:lnSpc>
                <a:spcPct val="90000"/>
              </a:lnSpc>
              <a:spcBef>
                <a:spcPct val="20000"/>
              </a:spcBef>
            </a:pPr>
            <a:r>
              <a:rPr lang="zh-CN" altLang="en-US" sz="2000" dirty="0">
                <a:latin typeface="微软雅黑" pitchFamily="34" charset="-122"/>
                <a:ea typeface="微软雅黑" pitchFamily="34" charset="-122"/>
                <a:cs typeface="经典粗黑简" pitchFamily="49" charset="-122"/>
              </a:rPr>
              <a:t>分类标准：按照值的不同特性</a:t>
            </a:r>
          </a:p>
          <a:p>
            <a:pPr marL="742950" lvl="1" indent="-285750">
              <a:lnSpc>
                <a:spcPct val="90000"/>
              </a:lnSpc>
              <a:spcBef>
                <a:spcPct val="20000"/>
              </a:spcBef>
              <a:buFont typeface="Arial" pitchFamily="34" charset="0"/>
              <a:buNone/>
            </a:pPr>
            <a:r>
              <a:rPr lang="zh-CN" altLang="en-US" sz="2000" dirty="0">
                <a:latin typeface="微软雅黑" pitchFamily="34" charset="-122"/>
                <a:ea typeface="微软雅黑" pitchFamily="34" charset="-122"/>
                <a:cs typeface="经典粗黑简" pitchFamily="49" charset="-122"/>
              </a:rPr>
              <a:t>原子类型：变量的值不可分解</a:t>
            </a:r>
          </a:p>
          <a:p>
            <a:pPr marL="742950" lvl="1" indent="-285750">
              <a:lnSpc>
                <a:spcPct val="90000"/>
              </a:lnSpc>
              <a:spcBef>
                <a:spcPct val="20000"/>
              </a:spcBef>
              <a:buFont typeface="Arial" pitchFamily="34" charset="0"/>
              <a:buNone/>
            </a:pPr>
            <a:r>
              <a:rPr lang="zh-CN" altLang="en-US" sz="2000" dirty="0">
                <a:latin typeface="微软雅黑" pitchFamily="34" charset="-122"/>
                <a:ea typeface="微软雅黑" pitchFamily="34" charset="-122"/>
                <a:cs typeface="经典粗黑简" pitchFamily="49" charset="-122"/>
              </a:rPr>
              <a:t>固定聚合类型：变量值的成分数目确定</a:t>
            </a:r>
          </a:p>
          <a:p>
            <a:pPr marL="742950" lvl="1" indent="-285750">
              <a:lnSpc>
                <a:spcPct val="90000"/>
              </a:lnSpc>
              <a:spcBef>
                <a:spcPct val="20000"/>
              </a:spcBef>
              <a:buFont typeface="Arial" pitchFamily="34" charset="0"/>
              <a:buNone/>
            </a:pPr>
            <a:r>
              <a:rPr lang="zh-CN" altLang="en-US" sz="2000" dirty="0">
                <a:latin typeface="微软雅黑" pitchFamily="34" charset="-122"/>
                <a:ea typeface="微软雅黑" pitchFamily="34" charset="-122"/>
                <a:cs typeface="经典粗黑简" pitchFamily="49" charset="-122"/>
              </a:rPr>
              <a:t>可变聚合类型：变量值的成分数目不确定</a:t>
            </a:r>
          </a:p>
          <a:p>
            <a:pPr marL="742950" lvl="1" indent="-285750">
              <a:lnSpc>
                <a:spcPct val="90000"/>
              </a:lnSpc>
              <a:spcBef>
                <a:spcPct val="20000"/>
              </a:spcBef>
              <a:buFont typeface="Arial" pitchFamily="34" charset="0"/>
              <a:buNone/>
            </a:pPr>
            <a:r>
              <a:rPr lang="zh-CN" altLang="en-US" sz="2000" dirty="0">
                <a:latin typeface="微软雅黑" pitchFamily="34" charset="-122"/>
                <a:ea typeface="微软雅黑" pitchFamily="34" charset="-122"/>
                <a:cs typeface="经典粗黑简" pitchFamily="49" charset="-122"/>
              </a:rPr>
              <a:t>多形数据类型：变量值的成分不确定（成分类型可变）</a:t>
            </a:r>
          </a:p>
        </p:txBody>
      </p:sp>
      <p:sp>
        <p:nvSpPr>
          <p:cNvPr id="2" name="Rectangle 2">
            <a:extLst>
              <a:ext uri="{FF2B5EF4-FFF2-40B4-BE49-F238E27FC236}">
                <a16:creationId xmlns:a16="http://schemas.microsoft.com/office/drawing/2014/main" id="{64A6A55F-2069-92F9-8FAF-634CE879CD0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sp>
        <p:nvSpPr>
          <p:cNvPr id="3" name="矩形 2">
            <a:extLst>
              <a:ext uri="{FF2B5EF4-FFF2-40B4-BE49-F238E27FC236}">
                <a16:creationId xmlns:a16="http://schemas.microsoft.com/office/drawing/2014/main" id="{C0FCB56B-C02D-3753-DD74-325970B5EFC4}"/>
              </a:ext>
            </a:extLst>
          </p:cNvPr>
          <p:cNvSpPr/>
          <p:nvPr/>
        </p:nvSpPr>
        <p:spPr>
          <a:xfrm>
            <a:off x="1115616" y="1664547"/>
            <a:ext cx="4752528" cy="523220"/>
          </a:xfrm>
          <a:prstGeom prst="rect">
            <a:avLst/>
          </a:prstGeom>
        </p:spPr>
        <p:txBody>
          <a:bodyPr wrap="square">
            <a:spAutoFit/>
          </a:bodyPr>
          <a:lstStyle/>
          <a:p>
            <a:r>
              <a:rPr lang="en-US" altLang="zh-CN" sz="2800" dirty="0">
                <a:solidFill>
                  <a:schemeClr val="tx1"/>
                </a:solidFill>
                <a:latin typeface="黑体" pitchFamily="49" charset="-122"/>
                <a:ea typeface="黑体" pitchFamily="49" charset="-122"/>
              </a:rPr>
              <a:t>2</a:t>
            </a:r>
            <a:r>
              <a:rPr lang="zh-CN" altLang="en-US" sz="2800" dirty="0">
                <a:solidFill>
                  <a:schemeClr val="tx1"/>
                </a:solidFill>
                <a:latin typeface="黑体" pitchFamily="49" charset="-122"/>
                <a:ea typeface="黑体" pitchFamily="49" charset="-122"/>
              </a:rPr>
              <a:t>、什么是</a:t>
            </a:r>
            <a:r>
              <a:rPr lang="zh-CN" altLang="en-US" sz="2800" dirty="0">
                <a:latin typeface="微软雅黑" pitchFamily="34" charset="-122"/>
                <a:ea typeface="微软雅黑" pitchFamily="34" charset="-122"/>
                <a:cs typeface="经典粗黑简" pitchFamily="49" charset="-122"/>
              </a:rPr>
              <a:t>抽象</a:t>
            </a:r>
            <a:r>
              <a:rPr lang="zh-CN" altLang="en-US" sz="2800" dirty="0">
                <a:solidFill>
                  <a:schemeClr val="tx1"/>
                </a:solidFill>
                <a:latin typeface="黑体" pitchFamily="49" charset="-122"/>
                <a:ea typeface="黑体" pitchFamily="49" charset="-122"/>
              </a:rPr>
              <a:t>数据类型？</a:t>
            </a:r>
          </a:p>
        </p:txBody>
      </p:sp>
      <p:sp>
        <p:nvSpPr>
          <p:cNvPr id="4" name="矩形 3">
            <a:extLst>
              <a:ext uri="{FF2B5EF4-FFF2-40B4-BE49-F238E27FC236}">
                <a16:creationId xmlns:a16="http://schemas.microsoft.com/office/drawing/2014/main" id="{0D0CA432-86C1-95BB-317D-B06FE4B3C50B}"/>
              </a:ext>
            </a:extLst>
          </p:cNvPr>
          <p:cNvSpPr/>
          <p:nvPr/>
        </p:nvSpPr>
        <p:spPr>
          <a:xfrm>
            <a:off x="177957" y="840743"/>
            <a:ext cx="511412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1.1.5 </a:t>
            </a:r>
            <a:r>
              <a:rPr lang="zh-CN" altLang="en-US" sz="2800" b="1" dirty="0">
                <a:solidFill>
                  <a:schemeClr val="bg1"/>
                </a:solidFill>
                <a:latin typeface="经典粗黑简" pitchFamily="49" charset="-122"/>
                <a:ea typeface="经典粗黑简" pitchFamily="49" charset="-122"/>
                <a:cs typeface="经典粗黑简" pitchFamily="49" charset="-122"/>
              </a:rPr>
              <a:t>数据类型和抽象数据类型</a:t>
            </a:r>
          </a:p>
        </p:txBody>
      </p:sp>
    </p:spTree>
    <p:extLst>
      <p:ext uri="{BB962C8B-B14F-4D97-AF65-F5344CB8AC3E}">
        <p14:creationId xmlns:p14="http://schemas.microsoft.com/office/powerpoint/2010/main" val="6065127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4131-1C34-0698-CAFD-64EA7045E07C}"/>
            </a:ext>
          </a:extLst>
        </p:cNvPr>
        <p:cNvGrpSpPr/>
        <p:nvPr/>
      </p:nvGrpSpPr>
      <p:grpSpPr>
        <a:xfrm>
          <a:off x="0" y="0"/>
          <a:ext cx="0" cy="0"/>
          <a:chOff x="0" y="0"/>
          <a:chExt cx="0" cy="0"/>
        </a:xfrm>
      </p:grpSpPr>
      <p:cxnSp>
        <p:nvCxnSpPr>
          <p:cNvPr id="13" name="直接连接符 12">
            <a:extLst>
              <a:ext uri="{FF2B5EF4-FFF2-40B4-BE49-F238E27FC236}">
                <a16:creationId xmlns:a16="http://schemas.microsoft.com/office/drawing/2014/main" id="{8BCD93F4-92EC-4475-5E99-75099C88E8FB}"/>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9444456A-3B8D-B7EC-6BCD-0460AADC07E6}"/>
              </a:ext>
            </a:extLst>
          </p:cNvPr>
          <p:cNvSpPr/>
          <p:nvPr/>
        </p:nvSpPr>
        <p:spPr>
          <a:xfrm>
            <a:off x="395537" y="1287972"/>
            <a:ext cx="8352926" cy="1569660"/>
          </a:xfrm>
          <a:prstGeom prst="rect">
            <a:avLst/>
          </a:prstGeom>
          <a:noFill/>
          <a:ln>
            <a:noFill/>
          </a:ln>
        </p:spPr>
        <p:txBody>
          <a:bodyPr wrap="square">
            <a:spAutoFit/>
          </a:bodyPr>
          <a:lstStyle/>
          <a:p>
            <a:r>
              <a:rPr lang="en-US" altLang="zh-CN" sz="2400" dirty="0">
                <a:latin typeface="黑体" pitchFamily="49" charset="-122"/>
                <a:ea typeface="黑体" pitchFamily="49" charset="-122"/>
              </a:rPr>
              <a:t>    </a:t>
            </a:r>
            <a:r>
              <a:rPr lang="zh-CN" altLang="zh-CN" sz="2400" dirty="0">
                <a:latin typeface="黑体" pitchFamily="49" charset="-122"/>
                <a:ea typeface="黑体" pitchFamily="49" charset="-122"/>
              </a:rPr>
              <a:t>数据结构就是研究</a:t>
            </a:r>
            <a:r>
              <a:rPr lang="zh-CN" altLang="zh-CN" sz="2400" u="sng" dirty="0">
                <a:solidFill>
                  <a:srgbClr val="FF0000"/>
                </a:solidFill>
                <a:latin typeface="黑体" pitchFamily="49" charset="-122"/>
                <a:ea typeface="黑体" pitchFamily="49" charset="-122"/>
              </a:rPr>
              <a:t>非数值计算</a:t>
            </a:r>
            <a:r>
              <a:rPr lang="zh-CN" altLang="zh-CN" sz="2400" dirty="0">
                <a:latin typeface="黑体" pitchFamily="49" charset="-122"/>
                <a:ea typeface="黑体" pitchFamily="49" charset="-122"/>
              </a:rPr>
              <a:t>问题中的</a:t>
            </a:r>
            <a:r>
              <a:rPr lang="zh-CN" altLang="zh-CN" sz="2400" dirty="0">
                <a:solidFill>
                  <a:srgbClr val="FF0000"/>
                </a:solidFill>
                <a:latin typeface="黑体" pitchFamily="49" charset="-122"/>
                <a:ea typeface="黑体" pitchFamily="49" charset="-122"/>
              </a:rPr>
              <a:t>数据</a:t>
            </a:r>
            <a:r>
              <a:rPr lang="zh-CN" altLang="zh-CN" sz="2400" dirty="0">
                <a:latin typeface="黑体" pitchFamily="49" charset="-122"/>
                <a:ea typeface="黑体" pitchFamily="49" charset="-122"/>
              </a:rPr>
              <a:t>以及它们之间的</a:t>
            </a:r>
            <a:r>
              <a:rPr lang="zh-CN" altLang="zh-CN" sz="2400" dirty="0">
                <a:solidFill>
                  <a:srgbClr val="FF0000"/>
                </a:solidFill>
                <a:latin typeface="黑体" pitchFamily="49" charset="-122"/>
                <a:ea typeface="黑体" pitchFamily="49" charset="-122"/>
              </a:rPr>
              <a:t>关系</a:t>
            </a:r>
            <a:r>
              <a:rPr lang="zh-CN" altLang="zh-CN" sz="2400" dirty="0">
                <a:latin typeface="黑体" pitchFamily="49" charset="-122"/>
                <a:ea typeface="黑体" pitchFamily="49" charset="-122"/>
              </a:rPr>
              <a:t>和</a:t>
            </a:r>
            <a:r>
              <a:rPr lang="zh-CN" altLang="zh-CN" sz="2400" dirty="0">
                <a:solidFill>
                  <a:srgbClr val="FF0000"/>
                </a:solidFill>
                <a:latin typeface="黑体" pitchFamily="49" charset="-122"/>
                <a:ea typeface="黑体" pitchFamily="49" charset="-122"/>
              </a:rPr>
              <a:t>操作</a:t>
            </a:r>
            <a:r>
              <a:rPr lang="zh-CN" altLang="zh-CN" sz="2400" dirty="0">
                <a:latin typeface="黑体" pitchFamily="49" charset="-122"/>
                <a:ea typeface="黑体" pitchFamily="49" charset="-122"/>
              </a:rPr>
              <a:t>算法的学科，具体主要包含</a:t>
            </a:r>
            <a:r>
              <a:rPr lang="en-US" altLang="zh-CN" sz="2400" dirty="0">
                <a:latin typeface="黑体" pitchFamily="49" charset="-122"/>
                <a:ea typeface="黑体" pitchFamily="49" charset="-122"/>
              </a:rPr>
              <a:t>3</a:t>
            </a:r>
            <a:r>
              <a:rPr lang="zh-CN" altLang="zh-CN" sz="2400" dirty="0">
                <a:latin typeface="黑体" pitchFamily="49" charset="-122"/>
                <a:ea typeface="黑体" pitchFamily="49" charset="-122"/>
              </a:rPr>
              <a:t>个方面的内容：数据的</a:t>
            </a:r>
            <a:r>
              <a:rPr lang="zh-CN" altLang="zh-CN" sz="2400" dirty="0">
                <a:solidFill>
                  <a:srgbClr val="FF0000"/>
                </a:solidFill>
                <a:latin typeface="黑体" pitchFamily="49" charset="-122"/>
                <a:ea typeface="黑体" pitchFamily="49" charset="-122"/>
              </a:rPr>
              <a:t>逻辑结构</a:t>
            </a:r>
            <a:r>
              <a:rPr lang="zh-CN" altLang="zh-CN" sz="2400" dirty="0">
                <a:latin typeface="黑体" pitchFamily="49" charset="-122"/>
                <a:ea typeface="黑体" pitchFamily="49" charset="-122"/>
              </a:rPr>
              <a:t>、数据的</a:t>
            </a:r>
            <a:r>
              <a:rPr lang="zh-CN" altLang="zh-CN" sz="2400" dirty="0">
                <a:solidFill>
                  <a:srgbClr val="FF0000"/>
                </a:solidFill>
                <a:latin typeface="黑体" pitchFamily="49" charset="-122"/>
                <a:ea typeface="黑体" pitchFamily="49" charset="-122"/>
              </a:rPr>
              <a:t>存储结构</a:t>
            </a:r>
            <a:r>
              <a:rPr lang="zh-CN" altLang="zh-CN" sz="2400" dirty="0">
                <a:latin typeface="黑体" pitchFamily="49" charset="-122"/>
                <a:ea typeface="黑体" pitchFamily="49" charset="-122"/>
              </a:rPr>
              <a:t>（物理结构）和数据的操作</a:t>
            </a:r>
            <a:r>
              <a:rPr lang="zh-CN" altLang="zh-CN" sz="2400" dirty="0">
                <a:solidFill>
                  <a:srgbClr val="FF0000"/>
                </a:solidFill>
                <a:latin typeface="黑体" pitchFamily="49" charset="-122"/>
                <a:ea typeface="黑体" pitchFamily="49" charset="-122"/>
              </a:rPr>
              <a:t>算法</a:t>
            </a:r>
            <a:r>
              <a:rPr lang="zh-CN" altLang="en-US" sz="2400" dirty="0">
                <a:latin typeface="黑体" pitchFamily="49" charset="-122"/>
                <a:ea typeface="黑体" pitchFamily="49" charset="-122"/>
              </a:rPr>
              <a:t>。</a:t>
            </a:r>
          </a:p>
        </p:txBody>
      </p:sp>
      <p:sp>
        <p:nvSpPr>
          <p:cNvPr id="2" name="Rectangle 2">
            <a:extLst>
              <a:ext uri="{FF2B5EF4-FFF2-40B4-BE49-F238E27FC236}">
                <a16:creationId xmlns:a16="http://schemas.microsoft.com/office/drawing/2014/main" id="{4DFF23F1-9012-31F2-6255-AA4E9E9E527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700" b="1" dirty="0">
                <a:latin typeface="黑体" pitchFamily="49" charset="-122"/>
                <a:ea typeface="黑体" pitchFamily="49" charset="-122"/>
                <a:cs typeface="+mn-cs"/>
              </a:rPr>
              <a:t>1.1 </a:t>
            </a:r>
            <a:r>
              <a:rPr lang="zh-CN" altLang="en-US" sz="3700" b="1" dirty="0">
                <a:latin typeface="黑体" pitchFamily="49" charset="-122"/>
                <a:ea typeface="黑体" pitchFamily="49" charset="-122"/>
                <a:cs typeface="+mn-cs"/>
              </a:rPr>
              <a:t>什么是数据结构</a:t>
            </a:r>
          </a:p>
        </p:txBody>
      </p:sp>
      <p:pic>
        <p:nvPicPr>
          <p:cNvPr id="11" name="Picture 2">
            <a:extLst>
              <a:ext uri="{FF2B5EF4-FFF2-40B4-BE49-F238E27FC236}">
                <a16:creationId xmlns:a16="http://schemas.microsoft.com/office/drawing/2014/main" id="{C91A0A9E-B64C-036A-1050-AFE1E14003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1676" y="2812044"/>
            <a:ext cx="5520647" cy="1951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9966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395537" y="961357"/>
            <a:ext cx="309634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1.2.1 </a:t>
            </a:r>
            <a:r>
              <a:rPr lang="zh-CN" altLang="en-US" sz="2800" b="1" dirty="0">
                <a:solidFill>
                  <a:schemeClr val="bg1"/>
                </a:solidFill>
                <a:latin typeface="经典粗黑简" pitchFamily="49" charset="-122"/>
                <a:ea typeface="经典粗黑简" pitchFamily="49" charset="-122"/>
                <a:cs typeface="经典粗黑简" pitchFamily="49" charset="-122"/>
              </a:rPr>
              <a:t>算法的定义</a:t>
            </a:r>
          </a:p>
        </p:txBody>
      </p:sp>
      <p:sp>
        <p:nvSpPr>
          <p:cNvPr id="9" name="Rectangle 2"/>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a:t>
            </a:r>
            <a:r>
              <a:rPr lang="zh-CN" altLang="en-US" sz="3600" b="1" dirty="0">
                <a:latin typeface="黑体" pitchFamily="49" charset="-122"/>
                <a:ea typeface="黑体" pitchFamily="49" charset="-122"/>
                <a:cs typeface="+mn-cs"/>
              </a:rPr>
              <a:t>.2 算法及其描述</a:t>
            </a:r>
          </a:p>
        </p:txBody>
      </p:sp>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755576" y="1779662"/>
            <a:ext cx="7985228" cy="707886"/>
          </a:xfrm>
          <a:prstGeom prst="rect">
            <a:avLst/>
          </a:prstGeom>
          <a:noFill/>
          <a:ln>
            <a:noFill/>
          </a:ln>
        </p:spPr>
        <p:txBody>
          <a:bodyPr wrap="square" anchor="ctr">
            <a:spAutoFit/>
          </a:bodyPr>
          <a:lstStyle/>
          <a:p>
            <a:pPr>
              <a:tabLst>
                <a:tab pos="533400" algn="l"/>
              </a:tabLst>
            </a:pPr>
            <a:r>
              <a:rPr lang="zh-CN" altLang="en-US" sz="2000" dirty="0">
                <a:latin typeface="微软雅黑" pitchFamily="34" charset="-122"/>
                <a:ea typeface="微软雅黑" pitchFamily="34" charset="-122"/>
                <a:cs typeface="经典粗黑简" pitchFamily="49" charset="-122"/>
              </a:rPr>
              <a:t>       算法</a:t>
            </a:r>
            <a:r>
              <a:rPr lang="en-US" altLang="zh-CN" sz="2000" dirty="0">
                <a:latin typeface="微软雅黑" pitchFamily="34" charset="-122"/>
                <a:ea typeface="微软雅黑" pitchFamily="34" charset="-122"/>
                <a:cs typeface="经典粗黑简" pitchFamily="49" charset="-122"/>
              </a:rPr>
              <a:t>(Algorithm)</a:t>
            </a:r>
            <a:r>
              <a:rPr lang="zh-CN" altLang="en-US" sz="2000" dirty="0">
                <a:latin typeface="微软雅黑" pitchFamily="34" charset="-122"/>
                <a:ea typeface="微软雅黑" pitchFamily="34" charset="-122"/>
                <a:cs typeface="经典粗黑简" pitchFamily="49" charset="-122"/>
              </a:rPr>
              <a:t>是对特定问题求解步骤的一种描述，它是指令的有限序列，其中每一条指令表示一个或多个操作，具有以下特征：</a:t>
            </a:r>
          </a:p>
        </p:txBody>
      </p:sp>
      <p:sp>
        <p:nvSpPr>
          <p:cNvPr id="16" name="矩形 15"/>
          <p:cNvSpPr/>
          <p:nvPr/>
        </p:nvSpPr>
        <p:spPr>
          <a:xfrm>
            <a:off x="1376532" y="3271611"/>
            <a:ext cx="7004232" cy="707886"/>
          </a:xfrm>
          <a:prstGeom prst="rect">
            <a:avLst/>
          </a:prstGeom>
        </p:spPr>
        <p:txBody>
          <a:bodyPr wrap="square">
            <a:spAutoFit/>
          </a:bodyPr>
          <a:lstStyle/>
          <a:p>
            <a:pPr marL="0" lvl="1">
              <a:tabLst>
                <a:tab pos="533400" algn="l"/>
              </a:tabLst>
            </a:pPr>
            <a:r>
              <a:rPr lang="zh-CN" altLang="en-US" sz="2000" dirty="0">
                <a:latin typeface="微软雅黑" pitchFamily="34" charset="-122"/>
                <a:ea typeface="微软雅黑" pitchFamily="34" charset="-122"/>
                <a:cs typeface="经典粗黑简" pitchFamily="49" charset="-122"/>
              </a:rPr>
              <a:t>可行性：算法能用基本操作完成</a:t>
            </a:r>
            <a:r>
              <a:rPr lang="en-US" altLang="zh-CN" sz="2000" dirty="0">
                <a:latin typeface="微软雅黑" pitchFamily="34" charset="-122"/>
                <a:ea typeface="微软雅黑" pitchFamily="34" charset="-122"/>
                <a:cs typeface="经典粗黑简" pitchFamily="49" charset="-122"/>
              </a:rPr>
              <a:t>,</a:t>
            </a:r>
            <a:r>
              <a:rPr lang="zh-CN" altLang="en-US" sz="2000" dirty="0">
                <a:latin typeface="微软雅黑" pitchFamily="34" charset="-122"/>
                <a:ea typeface="微软雅黑" pitchFamily="34" charset="-122"/>
                <a:cs typeface="经典粗黑简" pitchFamily="49" charset="-122"/>
              </a:rPr>
              <a:t>组成算法的操作必须能够在计算机上实现；</a:t>
            </a:r>
          </a:p>
        </p:txBody>
      </p:sp>
      <p:sp>
        <p:nvSpPr>
          <p:cNvPr id="17" name="矩形 16"/>
          <p:cNvSpPr/>
          <p:nvPr/>
        </p:nvSpPr>
        <p:spPr>
          <a:xfrm>
            <a:off x="1376532" y="3886025"/>
            <a:ext cx="4027720" cy="400110"/>
          </a:xfrm>
          <a:prstGeom prst="rect">
            <a:avLst/>
          </a:prstGeom>
        </p:spPr>
        <p:txBody>
          <a:bodyPr wrap="square">
            <a:spAutoFit/>
          </a:bodyPr>
          <a:lstStyle/>
          <a:p>
            <a:pPr marL="0" lvl="1">
              <a:tabLst>
                <a:tab pos="533400" algn="l"/>
              </a:tabLst>
            </a:pPr>
            <a:r>
              <a:rPr lang="zh-CN" altLang="en-US" sz="2000" dirty="0">
                <a:latin typeface="微软雅黑" pitchFamily="34" charset="-122"/>
                <a:ea typeface="微软雅黑" pitchFamily="34" charset="-122"/>
                <a:cs typeface="经典粗黑简" pitchFamily="49" charset="-122"/>
              </a:rPr>
              <a:t>输入：零个或多个输入；</a:t>
            </a:r>
          </a:p>
        </p:txBody>
      </p:sp>
      <p:sp>
        <p:nvSpPr>
          <p:cNvPr id="18" name="矩形 17"/>
          <p:cNvSpPr/>
          <p:nvPr/>
        </p:nvSpPr>
        <p:spPr>
          <a:xfrm>
            <a:off x="1376532" y="4269608"/>
            <a:ext cx="4781011" cy="400110"/>
          </a:xfrm>
          <a:prstGeom prst="rect">
            <a:avLst/>
          </a:prstGeom>
        </p:spPr>
        <p:txBody>
          <a:bodyPr wrap="square">
            <a:spAutoFit/>
          </a:bodyPr>
          <a:lstStyle/>
          <a:p>
            <a:pPr marL="0" lvl="1">
              <a:tabLst>
                <a:tab pos="533400" algn="l"/>
              </a:tabLst>
            </a:pPr>
            <a:r>
              <a:rPr lang="zh-CN" altLang="en-US" sz="2000" dirty="0">
                <a:latin typeface="微软雅黑" pitchFamily="34" charset="-122"/>
                <a:ea typeface="微软雅黑" pitchFamily="34" charset="-122"/>
                <a:cs typeface="经典粗黑简" pitchFamily="49" charset="-122"/>
              </a:rPr>
              <a:t>输出：一个或多个输出。</a:t>
            </a:r>
          </a:p>
        </p:txBody>
      </p:sp>
      <p:sp>
        <p:nvSpPr>
          <p:cNvPr id="20" name="矩形 19"/>
          <p:cNvSpPr/>
          <p:nvPr/>
        </p:nvSpPr>
        <p:spPr>
          <a:xfrm>
            <a:off x="1376532" y="2504446"/>
            <a:ext cx="4348918" cy="400110"/>
          </a:xfrm>
          <a:prstGeom prst="rect">
            <a:avLst/>
          </a:prstGeom>
        </p:spPr>
        <p:txBody>
          <a:bodyPr wrap="square">
            <a:spAutoFit/>
          </a:bodyPr>
          <a:lstStyle/>
          <a:p>
            <a:pPr marL="0" lvl="1">
              <a:tabLst>
                <a:tab pos="533400" algn="l"/>
              </a:tabLst>
            </a:pPr>
            <a:r>
              <a:rPr lang="zh-CN" altLang="en-US" sz="2000" dirty="0">
                <a:latin typeface="微软雅黑" pitchFamily="34" charset="-122"/>
                <a:ea typeface="微软雅黑" pitchFamily="34" charset="-122"/>
                <a:cs typeface="经典粗黑简" pitchFamily="49" charset="-122"/>
              </a:rPr>
              <a:t>有穷性：有穷步+每一步有穷时间； </a:t>
            </a:r>
            <a:endParaRPr lang="en-US" altLang="zh-CN" sz="2000" dirty="0">
              <a:latin typeface="微软雅黑" pitchFamily="34" charset="-122"/>
              <a:ea typeface="微软雅黑" pitchFamily="34" charset="-122"/>
              <a:cs typeface="经典粗黑简" pitchFamily="49" charset="-122"/>
            </a:endParaRPr>
          </a:p>
        </p:txBody>
      </p:sp>
      <p:sp>
        <p:nvSpPr>
          <p:cNvPr id="21" name="矩形 20"/>
          <p:cNvSpPr/>
          <p:nvPr/>
        </p:nvSpPr>
        <p:spPr>
          <a:xfrm>
            <a:off x="1376532" y="2888028"/>
            <a:ext cx="4348918" cy="400110"/>
          </a:xfrm>
          <a:prstGeom prst="rect">
            <a:avLst/>
          </a:prstGeom>
        </p:spPr>
        <p:txBody>
          <a:bodyPr wrap="square">
            <a:spAutoFit/>
          </a:bodyPr>
          <a:lstStyle/>
          <a:p>
            <a:pPr marL="0" lvl="1">
              <a:tabLst>
                <a:tab pos="533400" algn="l"/>
              </a:tabLst>
            </a:pPr>
            <a:r>
              <a:rPr lang="zh-CN" altLang="en-US" sz="2000" dirty="0">
                <a:latin typeface="微软雅黑" pitchFamily="34" charset="-122"/>
                <a:ea typeface="微软雅黑" pitchFamily="34" charset="-122"/>
                <a:cs typeface="经典粗黑简" pitchFamily="49" charset="-122"/>
              </a:rPr>
              <a:t>确定性：指令的语义无二义性； </a:t>
            </a:r>
            <a:endParaRPr lang="en-US" altLang="zh-CN" sz="2000" dirty="0">
              <a:latin typeface="微软雅黑" pitchFamily="34" charset="-122"/>
              <a:ea typeface="微软雅黑" pitchFamily="34" charset="-122"/>
              <a:cs typeface="经典粗黑简" pitchFamily="49" charset="-122"/>
            </a:endParaRPr>
          </a:p>
        </p:txBody>
      </p:sp>
    </p:spTree>
    <p:extLst>
      <p:ext uri="{BB962C8B-B14F-4D97-AF65-F5344CB8AC3E}">
        <p14:creationId xmlns:p14="http://schemas.microsoft.com/office/powerpoint/2010/main" val="1696156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20" grpId="0"/>
      <p:bldP spid="2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txBox="1">
            <a:spLocks noChangeArrowheads="1"/>
          </p:cNvSpPr>
          <p:nvPr/>
        </p:nvSpPr>
        <p:spPr>
          <a:xfrm>
            <a:off x="1259632" y="1617418"/>
            <a:ext cx="3209824" cy="523220"/>
          </a:xfrm>
          <a:prstGeom prst="rect">
            <a:avLst/>
          </a:prstGeom>
        </p:spPr>
        <p:txBody>
          <a:bodyPr wrap="square">
            <a:spAutoFit/>
          </a:bodyPr>
          <a:lstStyle>
            <a:defPPr>
              <a:defRPr lang="zh-CN"/>
            </a:defPPr>
            <a:lvl1pPr>
              <a:defRPr sz="2800">
                <a:solidFill>
                  <a:schemeClr val="tx1"/>
                </a:solidFill>
                <a:latin typeface="黑体" pitchFamily="49" charset="-122"/>
                <a:ea typeface="黑体" pitchFamily="49" charset="-122"/>
              </a:defRPr>
            </a:lvl1pPr>
            <a:lvl2pPr marL="0" lvl="1">
              <a:defRPr sz="2800">
                <a:solidFill>
                  <a:schemeClr val="tx1"/>
                </a:solidFill>
                <a:latin typeface="黑体" pitchFamily="49" charset="-122"/>
                <a:ea typeface="黑体" pitchFamily="49" charset="-122"/>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dirty="0"/>
              <a:t>算法的描述方式</a:t>
            </a:r>
          </a:p>
        </p:txBody>
      </p:sp>
      <p:sp>
        <p:nvSpPr>
          <p:cNvPr id="13" name="Rectangle 3"/>
          <p:cNvSpPr>
            <a:spLocks noChangeArrowheads="1"/>
          </p:cNvSpPr>
          <p:nvPr/>
        </p:nvSpPr>
        <p:spPr bwMode="auto">
          <a:xfrm>
            <a:off x="1043608" y="2244012"/>
            <a:ext cx="71856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tabLst>
                <a:tab pos="533400" algn="l"/>
              </a:tabLst>
            </a:pPr>
            <a:r>
              <a:rPr lang="zh-CN" altLang="en-US" sz="2400" dirty="0">
                <a:latin typeface="微软雅黑" pitchFamily="34" charset="-122"/>
                <a:ea typeface="微软雅黑" pitchFamily="34" charset="-122"/>
                <a:cs typeface="经典粗黑简" pitchFamily="49" charset="-122"/>
              </a:rPr>
              <a:t>自然语言：易于阅读，但是，不精确，或会有歧义； </a:t>
            </a:r>
            <a:endParaRPr lang="en-US" altLang="zh-CN" sz="2400" dirty="0">
              <a:latin typeface="微软雅黑" pitchFamily="34" charset="-122"/>
              <a:ea typeface="微软雅黑" pitchFamily="34" charset="-122"/>
              <a:cs typeface="经典粗黑简" pitchFamily="49" charset="-122"/>
            </a:endParaRPr>
          </a:p>
        </p:txBody>
      </p:sp>
      <p:sp>
        <p:nvSpPr>
          <p:cNvPr id="14" name="矩形 13"/>
          <p:cNvSpPr/>
          <p:nvPr/>
        </p:nvSpPr>
        <p:spPr>
          <a:xfrm>
            <a:off x="1043608" y="2709748"/>
            <a:ext cx="7724503" cy="461665"/>
          </a:xfrm>
          <a:prstGeom prst="rect">
            <a:avLst/>
          </a:prstGeom>
          <a:noFill/>
          <a:ln>
            <a:noFill/>
          </a:ln>
        </p:spPr>
        <p:txBody>
          <a:bodyPr wrap="square" anchor="ctr">
            <a:spAutoFit/>
          </a:bodyPr>
          <a:lstStyle/>
          <a:p>
            <a:pPr>
              <a:tabLst>
                <a:tab pos="533400" algn="l"/>
              </a:tabLst>
            </a:pPr>
            <a:r>
              <a:rPr lang="zh-CN" altLang="en-US" sz="2400" dirty="0">
                <a:latin typeface="微软雅黑" pitchFamily="34" charset="-122"/>
                <a:ea typeface="微软雅黑" pitchFamily="34" charset="-122"/>
                <a:cs typeface="经典粗黑简" pitchFamily="49" charset="-122"/>
              </a:rPr>
              <a:t>程序设计语言：精确，无歧义，但是，不便阅读；</a:t>
            </a:r>
            <a:endParaRPr lang="en-US" altLang="zh-CN" sz="2400" dirty="0">
              <a:latin typeface="微软雅黑" pitchFamily="34" charset="-122"/>
              <a:ea typeface="微软雅黑" pitchFamily="34" charset="-122"/>
              <a:cs typeface="经典粗黑简" pitchFamily="49" charset="-122"/>
            </a:endParaRPr>
          </a:p>
        </p:txBody>
      </p:sp>
      <p:sp>
        <p:nvSpPr>
          <p:cNvPr id="22" name="矩形 21"/>
          <p:cNvSpPr/>
          <p:nvPr/>
        </p:nvSpPr>
        <p:spPr>
          <a:xfrm>
            <a:off x="1043608" y="3175484"/>
            <a:ext cx="6096000" cy="461665"/>
          </a:xfrm>
          <a:prstGeom prst="rect">
            <a:avLst/>
          </a:prstGeom>
          <a:noFill/>
          <a:ln>
            <a:noFill/>
          </a:ln>
        </p:spPr>
        <p:txBody>
          <a:bodyPr wrap="square" anchor="ctr">
            <a:spAutoFit/>
          </a:bodyPr>
          <a:lstStyle/>
          <a:p>
            <a:pPr>
              <a:tabLst>
                <a:tab pos="533400" algn="l"/>
              </a:tabLst>
            </a:pPr>
            <a:r>
              <a:rPr lang="zh-CN" altLang="en-US" sz="2400" dirty="0">
                <a:latin typeface="微软雅黑" pitchFamily="34" charset="-122"/>
                <a:ea typeface="微软雅黑" pitchFamily="34" charset="-122"/>
                <a:cs typeface="经典粗黑简" pitchFamily="49" charset="-122"/>
              </a:rPr>
              <a:t>流程图：便于交流，不依赖于实现；</a:t>
            </a:r>
            <a:endParaRPr lang="en-US" altLang="zh-CN" sz="2400" dirty="0">
              <a:latin typeface="微软雅黑" pitchFamily="34" charset="-122"/>
              <a:ea typeface="微软雅黑" pitchFamily="34" charset="-122"/>
              <a:cs typeface="经典粗黑简" pitchFamily="49" charset="-122"/>
            </a:endParaRPr>
          </a:p>
        </p:txBody>
      </p:sp>
      <p:sp>
        <p:nvSpPr>
          <p:cNvPr id="23" name="矩形 22"/>
          <p:cNvSpPr/>
          <p:nvPr/>
        </p:nvSpPr>
        <p:spPr>
          <a:xfrm>
            <a:off x="1043608" y="3595054"/>
            <a:ext cx="7185660" cy="830997"/>
          </a:xfrm>
          <a:prstGeom prst="rect">
            <a:avLst/>
          </a:prstGeom>
          <a:noFill/>
          <a:ln>
            <a:noFill/>
          </a:ln>
        </p:spPr>
        <p:txBody>
          <a:bodyPr wrap="square" anchor="ctr">
            <a:spAutoFit/>
          </a:bodyPr>
          <a:lstStyle/>
          <a:p>
            <a:pPr>
              <a:tabLst>
                <a:tab pos="533400" algn="l"/>
              </a:tabLst>
            </a:pPr>
            <a:r>
              <a:rPr lang="zh-CN" altLang="en-US" sz="2400" dirty="0">
                <a:latin typeface="微软雅黑" pitchFamily="34" charset="-122"/>
                <a:ea typeface="微软雅黑" pitchFamily="34" charset="-122"/>
                <a:cs typeface="经典粗黑简" pitchFamily="49" charset="-122"/>
              </a:rPr>
              <a:t>类高级语言（类</a:t>
            </a:r>
            <a:r>
              <a:rPr lang="en-US" altLang="zh-CN" sz="2400" dirty="0">
                <a:latin typeface="微软雅黑" pitchFamily="34" charset="-122"/>
                <a:ea typeface="微软雅黑" pitchFamily="34" charset="-122"/>
                <a:cs typeface="经典粗黑简" pitchFamily="49" charset="-122"/>
              </a:rPr>
              <a:t>C</a:t>
            </a:r>
            <a:r>
              <a:rPr lang="zh-CN" altLang="en-US" sz="2400" dirty="0">
                <a:latin typeface="微软雅黑" pitchFamily="34" charset="-122"/>
                <a:ea typeface="微软雅黑" pitchFamily="34" charset="-122"/>
                <a:cs typeface="经典粗黑简" pitchFamily="49" charset="-122"/>
              </a:rPr>
              <a:t>语言、类</a:t>
            </a:r>
            <a:r>
              <a:rPr lang="en-US" altLang="zh-CN" sz="2400" dirty="0">
                <a:latin typeface="微软雅黑" pitchFamily="34" charset="-122"/>
                <a:ea typeface="微软雅黑" pitchFamily="34" charset="-122"/>
                <a:cs typeface="经典粗黑简" pitchFamily="49" charset="-122"/>
              </a:rPr>
              <a:t>Pascal</a:t>
            </a:r>
            <a:r>
              <a:rPr lang="zh-CN" altLang="en-US" sz="2400" dirty="0">
                <a:latin typeface="微软雅黑" pitchFamily="34" charset="-122"/>
                <a:ea typeface="微软雅黑" pitchFamily="34" charset="-122"/>
                <a:cs typeface="经典粗黑简" pitchFamily="49" charset="-122"/>
              </a:rPr>
              <a:t>语言等）：介于自然语言和程序设计语言的伪代码。</a:t>
            </a:r>
          </a:p>
        </p:txBody>
      </p:sp>
      <p:sp>
        <p:nvSpPr>
          <p:cNvPr id="3" name="矩形 2">
            <a:extLst>
              <a:ext uri="{FF2B5EF4-FFF2-40B4-BE49-F238E27FC236}">
                <a16:creationId xmlns:a16="http://schemas.microsoft.com/office/drawing/2014/main" id="{1209FD49-8E09-6137-9273-3F08A5C580B0}"/>
              </a:ext>
            </a:extLst>
          </p:cNvPr>
          <p:cNvSpPr/>
          <p:nvPr/>
        </p:nvSpPr>
        <p:spPr>
          <a:xfrm>
            <a:off x="395537" y="961357"/>
            <a:ext cx="309634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1.2.2 </a:t>
            </a:r>
            <a:r>
              <a:rPr lang="zh-CN" altLang="en-US" sz="2800" b="1" dirty="0">
                <a:solidFill>
                  <a:schemeClr val="bg1"/>
                </a:solidFill>
                <a:latin typeface="经典粗黑简" pitchFamily="49" charset="-122"/>
                <a:ea typeface="经典粗黑简" pitchFamily="49" charset="-122"/>
                <a:cs typeface="经典粗黑简" pitchFamily="49" charset="-122"/>
              </a:rPr>
              <a:t>算法的描述</a:t>
            </a:r>
          </a:p>
        </p:txBody>
      </p:sp>
      <p:sp>
        <p:nvSpPr>
          <p:cNvPr id="4" name="Rectangle 2">
            <a:extLst>
              <a:ext uri="{FF2B5EF4-FFF2-40B4-BE49-F238E27FC236}">
                <a16:creationId xmlns:a16="http://schemas.microsoft.com/office/drawing/2014/main" id="{D3EEDBC6-39C1-DAF7-5820-30113C39FE9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a:t>
            </a:r>
            <a:r>
              <a:rPr lang="zh-CN" altLang="en-US" sz="3600" b="1" dirty="0">
                <a:latin typeface="黑体" pitchFamily="49" charset="-122"/>
                <a:ea typeface="黑体" pitchFamily="49" charset="-122"/>
                <a:cs typeface="+mn-cs"/>
              </a:rPr>
              <a:t>.2 算法及其描述</a:t>
            </a:r>
          </a:p>
        </p:txBody>
      </p:sp>
      <p:cxnSp>
        <p:nvCxnSpPr>
          <p:cNvPr id="5" name="直接连接符 4">
            <a:extLst>
              <a:ext uri="{FF2B5EF4-FFF2-40B4-BE49-F238E27FC236}">
                <a16:creationId xmlns:a16="http://schemas.microsoft.com/office/drawing/2014/main" id="{F0BB2576-5DAD-1F07-F6CC-82A58B3BA5D7}"/>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343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2" grpId="0"/>
      <p:bldP spid="2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395537" y="961357"/>
            <a:ext cx="381642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1.2.3 </a:t>
            </a:r>
            <a:r>
              <a:rPr lang="zh-CN" altLang="en-US" sz="2800" b="1" dirty="0">
                <a:solidFill>
                  <a:schemeClr val="bg1"/>
                </a:solidFill>
                <a:latin typeface="经典粗黑简" pitchFamily="49" charset="-122"/>
                <a:ea typeface="经典粗黑简" pitchFamily="49" charset="-122"/>
                <a:cs typeface="经典粗黑简" pitchFamily="49" charset="-122"/>
              </a:rPr>
              <a:t>算法设计的目标</a:t>
            </a:r>
          </a:p>
        </p:txBody>
      </p:sp>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2" name="Rectangle 2"/>
          <p:cNvSpPr txBox="1">
            <a:spLocks noChangeArrowheads="1"/>
          </p:cNvSpPr>
          <p:nvPr/>
        </p:nvSpPr>
        <p:spPr>
          <a:xfrm>
            <a:off x="1295115" y="1437624"/>
            <a:ext cx="3126376" cy="523220"/>
          </a:xfrm>
          <a:prstGeom prst="rect">
            <a:avLst/>
          </a:prstGeom>
        </p:spPr>
        <p:txBody>
          <a:bodyPr wrap="square">
            <a:spAutoFit/>
          </a:bodyPr>
          <a:lstStyle>
            <a:defPPr>
              <a:defRPr lang="zh-CN"/>
            </a:defPPr>
            <a:lvl1pPr>
              <a:defRPr sz="2800">
                <a:solidFill>
                  <a:schemeClr val="tx1"/>
                </a:solidFill>
                <a:latin typeface="黑体" pitchFamily="49" charset="-122"/>
                <a:ea typeface="黑体" pitchFamily="49" charset="-122"/>
              </a:defRPr>
            </a:lvl1pPr>
            <a:lvl2pPr marL="0" lvl="1">
              <a:defRPr sz="2800">
                <a:solidFill>
                  <a:schemeClr val="tx1"/>
                </a:solidFill>
                <a:latin typeface="黑体" pitchFamily="49" charset="-122"/>
                <a:ea typeface="黑体" pitchFamily="49" charset="-122"/>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dirty="0"/>
              <a:t>算法的评价</a:t>
            </a:r>
            <a:endParaRPr lang="en-US" altLang="zh-CN" dirty="0"/>
          </a:p>
        </p:txBody>
      </p:sp>
      <p:sp>
        <p:nvSpPr>
          <p:cNvPr id="13" name="矩形 12"/>
          <p:cNvSpPr/>
          <p:nvPr/>
        </p:nvSpPr>
        <p:spPr>
          <a:xfrm>
            <a:off x="1295115" y="2303025"/>
            <a:ext cx="7566842" cy="923330"/>
          </a:xfrm>
          <a:prstGeom prst="rect">
            <a:avLst/>
          </a:prstGeom>
          <a:noFill/>
          <a:ln>
            <a:noFill/>
          </a:ln>
        </p:spPr>
        <p:txBody>
          <a:bodyPr wrap="square" anchor="ctr">
            <a:spAutoFit/>
          </a:bodyPr>
          <a:lstStyle/>
          <a:p>
            <a:pPr marL="0" lvl="1">
              <a:tabLst>
                <a:tab pos="533400" algn="l"/>
              </a:tabLst>
            </a:pPr>
            <a:r>
              <a:rPr lang="en-US" altLang="zh-CN" dirty="0">
                <a:latin typeface="微软雅黑" pitchFamily="34" charset="-122"/>
                <a:ea typeface="微软雅黑" pitchFamily="34" charset="-122"/>
                <a:cs typeface="经典粗黑简" pitchFamily="49" charset="-122"/>
              </a:rPr>
              <a:t>1</a:t>
            </a:r>
            <a:r>
              <a:rPr lang="zh-CN" altLang="en-US" dirty="0">
                <a:latin typeface="微软雅黑" pitchFamily="34" charset="-122"/>
                <a:ea typeface="微软雅黑" pitchFamily="34" charset="-122"/>
                <a:cs typeface="经典粗黑简" pitchFamily="49" charset="-122"/>
              </a:rPr>
              <a:t>、正确性（</a:t>
            </a:r>
            <a:r>
              <a:rPr lang="en-US" altLang="zh-CN" dirty="0">
                <a:latin typeface="微软雅黑" pitchFamily="34" charset="-122"/>
                <a:ea typeface="微软雅黑" pitchFamily="34" charset="-122"/>
                <a:cs typeface="经典粗黑简" pitchFamily="49" charset="-122"/>
              </a:rPr>
              <a:t>Correctness）</a:t>
            </a:r>
            <a:r>
              <a:rPr lang="zh-CN" altLang="en-US" dirty="0">
                <a:latin typeface="微软雅黑" pitchFamily="34" charset="-122"/>
                <a:ea typeface="微软雅黑" pitchFamily="34" charset="-122"/>
                <a:cs typeface="经典粗黑简" pitchFamily="49" charset="-122"/>
              </a:rPr>
              <a:t>：对于合法的输入产生符合要求的输出；要求算法的执行能够完成预先规定的功能，并达到所期望的性能要求。</a:t>
            </a:r>
            <a:endParaRPr lang="en-US" altLang="zh-CN" dirty="0">
              <a:latin typeface="微软雅黑" pitchFamily="34" charset="-122"/>
              <a:ea typeface="微软雅黑" pitchFamily="34" charset="-122"/>
              <a:cs typeface="经典粗黑简" pitchFamily="49" charset="-122"/>
            </a:endParaRPr>
          </a:p>
          <a:p>
            <a:pPr marL="0" lvl="1">
              <a:tabLst>
                <a:tab pos="533400" algn="l"/>
              </a:tabLst>
            </a:pPr>
            <a:r>
              <a:rPr lang="zh-CN" altLang="en-US" dirty="0">
                <a:latin typeface="微软雅黑" pitchFamily="34" charset="-122"/>
                <a:ea typeface="微软雅黑" pitchFamily="34" charset="-122"/>
                <a:cs typeface="经典粗黑简" pitchFamily="49" charset="-122"/>
              </a:rPr>
              <a:t> </a:t>
            </a:r>
            <a:r>
              <a:rPr lang="zh-CN" altLang="en-US" dirty="0">
                <a:solidFill>
                  <a:srgbClr val="FF0000"/>
                </a:solidFill>
                <a:latin typeface="楷体_GB2312" pitchFamily="49" charset="-122"/>
                <a:ea typeface="楷体_GB2312" pitchFamily="49" charset="-122"/>
                <a:cs typeface="经典粗黑简" pitchFamily="49" charset="-122"/>
              </a:rPr>
              <a:t>（</a:t>
            </a:r>
            <a:r>
              <a:rPr lang="en-US" altLang="zh-CN" dirty="0">
                <a:solidFill>
                  <a:srgbClr val="FF0000"/>
                </a:solidFill>
                <a:latin typeface="楷体_GB2312" pitchFamily="49" charset="-122"/>
                <a:ea typeface="楷体_GB2312" pitchFamily="49" charset="-122"/>
                <a:cs typeface="经典粗黑简" pitchFamily="49" charset="-122"/>
              </a:rPr>
              <a:t>4</a:t>
            </a:r>
            <a:r>
              <a:rPr lang="zh-CN" altLang="en-US" dirty="0">
                <a:solidFill>
                  <a:srgbClr val="FF0000"/>
                </a:solidFill>
                <a:latin typeface="楷体_GB2312" pitchFamily="49" charset="-122"/>
                <a:ea typeface="楷体_GB2312" pitchFamily="49" charset="-122"/>
                <a:cs typeface="经典粗黑简" pitchFamily="49" charset="-122"/>
              </a:rPr>
              <a:t>个层次）</a:t>
            </a:r>
            <a:endParaRPr lang="en-US" altLang="zh-CN" dirty="0">
              <a:solidFill>
                <a:srgbClr val="FF0000"/>
              </a:solidFill>
              <a:latin typeface="楷体_GB2312" pitchFamily="49" charset="-122"/>
              <a:ea typeface="楷体_GB2312" pitchFamily="49" charset="-122"/>
              <a:cs typeface="经典粗黑简" pitchFamily="49" charset="-122"/>
            </a:endParaRPr>
          </a:p>
        </p:txBody>
      </p:sp>
      <p:sp>
        <p:nvSpPr>
          <p:cNvPr id="14" name="矩形 13"/>
          <p:cNvSpPr/>
          <p:nvPr/>
        </p:nvSpPr>
        <p:spPr>
          <a:xfrm>
            <a:off x="1405547" y="3191381"/>
            <a:ext cx="3334907" cy="400110"/>
          </a:xfrm>
          <a:prstGeom prst="rect">
            <a:avLst/>
          </a:prstGeom>
          <a:noFill/>
          <a:ln>
            <a:noFill/>
          </a:ln>
        </p:spPr>
        <p:txBody>
          <a:bodyPr wrap="square" anchor="ctr">
            <a:spAutoFit/>
          </a:bodyPr>
          <a:lstStyle/>
          <a:p>
            <a:r>
              <a:rPr lang="en-US" altLang="zh-CN" sz="2000" dirty="0">
                <a:latin typeface="楷体_GB2312" pitchFamily="49" charset="-122"/>
                <a:ea typeface="楷体_GB2312" pitchFamily="49" charset="-122"/>
                <a:cs typeface="经典粗黑简" pitchFamily="49" charset="-122"/>
              </a:rPr>
              <a:t>(a)</a:t>
            </a:r>
            <a:r>
              <a:rPr lang="zh-CN" altLang="zh-CN" sz="2000" dirty="0">
                <a:latin typeface="楷体_GB2312" pitchFamily="49" charset="-122"/>
                <a:ea typeface="楷体_GB2312" pitchFamily="49" charset="-122"/>
                <a:cs typeface="经典粗黑简" pitchFamily="49" charset="-122"/>
              </a:rPr>
              <a:t> 没有语法错误；</a:t>
            </a:r>
          </a:p>
        </p:txBody>
      </p:sp>
      <p:sp>
        <p:nvSpPr>
          <p:cNvPr id="20" name="Rectangle 3"/>
          <p:cNvSpPr txBox="1">
            <a:spLocks noChangeArrowheads="1"/>
          </p:cNvSpPr>
          <p:nvPr/>
        </p:nvSpPr>
        <p:spPr bwMode="auto">
          <a:xfrm>
            <a:off x="1338209" y="1935669"/>
            <a:ext cx="76456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zh-CN"/>
            </a:defPPr>
            <a:lvl2pPr marL="0" lvl="1">
              <a:tabLst>
                <a:tab pos="533400" algn="l"/>
              </a:tabLst>
              <a:defRPr sz="2000">
                <a:latin typeface="微软雅黑" pitchFamily="34" charset="-122"/>
                <a:ea typeface="微软雅黑" pitchFamily="34" charset="-122"/>
                <a:cs typeface="经典粗黑简" pitchFamily="49" charset="-122"/>
              </a:defRPr>
            </a:lvl2pPr>
          </a:lstStyle>
          <a:p>
            <a:r>
              <a:rPr lang="zh-CN" altLang="en-US" dirty="0">
                <a:latin typeface="微软雅黑" pitchFamily="34" charset="-122"/>
                <a:ea typeface="微软雅黑" pitchFamily="34" charset="-122"/>
                <a:cs typeface="经典粗黑简" pitchFamily="49" charset="-122"/>
              </a:rPr>
              <a:t>解决同一问题的算法可以有多种， 我们希望从中选出最优的算法。</a:t>
            </a:r>
          </a:p>
        </p:txBody>
      </p:sp>
      <p:sp>
        <p:nvSpPr>
          <p:cNvPr id="21" name="矩形 20"/>
          <p:cNvSpPr/>
          <p:nvPr/>
        </p:nvSpPr>
        <p:spPr>
          <a:xfrm>
            <a:off x="1405548" y="3533562"/>
            <a:ext cx="7582979" cy="400110"/>
          </a:xfrm>
          <a:prstGeom prst="rect">
            <a:avLst/>
          </a:prstGeom>
        </p:spPr>
        <p:txBody>
          <a:bodyPr wrap="square">
            <a:spAutoFit/>
          </a:bodyPr>
          <a:lstStyle/>
          <a:p>
            <a:r>
              <a:rPr lang="en-US" altLang="zh-CN" sz="2000" dirty="0">
                <a:latin typeface="楷体_GB2312" pitchFamily="49" charset="-122"/>
                <a:ea typeface="楷体_GB2312" pitchFamily="49" charset="-122"/>
                <a:cs typeface="经典粗黑简" pitchFamily="49" charset="-122"/>
              </a:rPr>
              <a:t>(b)</a:t>
            </a:r>
            <a:r>
              <a:rPr lang="zh-CN" altLang="zh-CN" sz="2000" dirty="0">
                <a:latin typeface="楷体_GB2312" pitchFamily="49" charset="-122"/>
                <a:ea typeface="楷体_GB2312" pitchFamily="49" charset="-122"/>
                <a:cs typeface="经典粗黑简" pitchFamily="49" charset="-122"/>
              </a:rPr>
              <a:t> 只对特定的几组输入数据能够得出满足规格说明要求的结果；</a:t>
            </a:r>
          </a:p>
        </p:txBody>
      </p:sp>
      <p:sp>
        <p:nvSpPr>
          <p:cNvPr id="22" name="矩形 21"/>
          <p:cNvSpPr/>
          <p:nvPr/>
        </p:nvSpPr>
        <p:spPr>
          <a:xfrm>
            <a:off x="1405547" y="3891413"/>
            <a:ext cx="7366956" cy="707886"/>
          </a:xfrm>
          <a:prstGeom prst="rect">
            <a:avLst/>
          </a:prstGeom>
        </p:spPr>
        <p:txBody>
          <a:bodyPr wrap="square">
            <a:spAutoFit/>
          </a:bodyPr>
          <a:lstStyle/>
          <a:p>
            <a:r>
              <a:rPr lang="en-US" altLang="zh-CN" sz="2000" dirty="0">
                <a:latin typeface="楷体_GB2312" pitchFamily="49" charset="-122"/>
                <a:ea typeface="楷体_GB2312" pitchFamily="49" charset="-122"/>
                <a:cs typeface="经典粗黑简" pitchFamily="49" charset="-122"/>
              </a:rPr>
              <a:t>(c)</a:t>
            </a:r>
            <a:r>
              <a:rPr lang="zh-CN" altLang="zh-CN" sz="2000" dirty="0">
                <a:latin typeface="楷体_GB2312" pitchFamily="49" charset="-122"/>
                <a:ea typeface="楷体_GB2312" pitchFamily="49" charset="-122"/>
                <a:cs typeface="经典粗黑简" pitchFamily="49" charset="-122"/>
              </a:rPr>
              <a:t> 对于所有精心挑选出来的典型、苛刻甚至是带有刁难性的测试输入数据均能够得出满足规格说明要求的结果；</a:t>
            </a:r>
          </a:p>
        </p:txBody>
      </p:sp>
      <p:sp>
        <p:nvSpPr>
          <p:cNvPr id="23" name="矩形 22"/>
          <p:cNvSpPr/>
          <p:nvPr/>
        </p:nvSpPr>
        <p:spPr>
          <a:xfrm>
            <a:off x="1405548" y="4480096"/>
            <a:ext cx="7510972" cy="400110"/>
          </a:xfrm>
          <a:prstGeom prst="rect">
            <a:avLst/>
          </a:prstGeom>
        </p:spPr>
        <p:txBody>
          <a:bodyPr wrap="square">
            <a:spAutoFit/>
          </a:bodyPr>
          <a:lstStyle/>
          <a:p>
            <a:r>
              <a:rPr lang="en-US" altLang="zh-CN" sz="2000" dirty="0">
                <a:latin typeface="楷体_GB2312" pitchFamily="49" charset="-122"/>
                <a:ea typeface="楷体_GB2312" pitchFamily="49" charset="-122"/>
                <a:cs typeface="经典粗黑简" pitchFamily="49" charset="-122"/>
              </a:rPr>
              <a:t>(d)</a:t>
            </a:r>
            <a:r>
              <a:rPr lang="zh-CN" altLang="zh-CN" sz="2000" dirty="0">
                <a:latin typeface="楷体_GB2312" pitchFamily="49" charset="-122"/>
                <a:ea typeface="楷体_GB2312" pitchFamily="49" charset="-122"/>
                <a:cs typeface="经典粗黑简" pitchFamily="49" charset="-122"/>
              </a:rPr>
              <a:t> 对于一切合法的输入数据都能产生满足规格说明要求的结果。</a:t>
            </a:r>
          </a:p>
        </p:txBody>
      </p:sp>
      <p:sp>
        <p:nvSpPr>
          <p:cNvPr id="2" name="Rectangle 2">
            <a:extLst>
              <a:ext uri="{FF2B5EF4-FFF2-40B4-BE49-F238E27FC236}">
                <a16:creationId xmlns:a16="http://schemas.microsoft.com/office/drawing/2014/main" id="{477FBFC6-12AA-4632-41E1-B58834CFD52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a:t>
            </a:r>
            <a:r>
              <a:rPr lang="zh-CN" altLang="en-US" sz="3600" b="1" dirty="0">
                <a:latin typeface="黑体" pitchFamily="49" charset="-122"/>
                <a:ea typeface="黑体" pitchFamily="49" charset="-122"/>
                <a:cs typeface="+mn-cs"/>
              </a:rPr>
              <a:t>.2 算法及其描述</a:t>
            </a:r>
          </a:p>
        </p:txBody>
      </p:sp>
    </p:spTree>
    <p:extLst>
      <p:ext uri="{BB962C8B-B14F-4D97-AF65-F5344CB8AC3E}">
        <p14:creationId xmlns:p14="http://schemas.microsoft.com/office/powerpoint/2010/main" val="3255558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0" grpId="0"/>
      <p:bldP spid="21" grpId="0"/>
      <p:bldP spid="22" grpId="0"/>
      <p:bldP spid="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42933" y="2283718"/>
            <a:ext cx="7566842" cy="584775"/>
          </a:xfrm>
          <a:prstGeom prst="rect">
            <a:avLst/>
          </a:prstGeom>
          <a:noFill/>
          <a:ln>
            <a:noFill/>
          </a:ln>
        </p:spPr>
        <p:txBody>
          <a:bodyPr wrap="square" anchor="ctr">
            <a:spAutoFit/>
          </a:bodyPr>
          <a:lstStyle/>
          <a:p>
            <a:pPr marL="0" lvl="1">
              <a:tabLst>
                <a:tab pos="533400" algn="l"/>
              </a:tabLst>
            </a:pPr>
            <a:r>
              <a:rPr lang="en-US" altLang="zh-CN" sz="1600" dirty="0">
                <a:latin typeface="微软雅黑" pitchFamily="34" charset="-122"/>
                <a:ea typeface="微软雅黑" pitchFamily="34" charset="-122"/>
                <a:cs typeface="经典粗黑简" pitchFamily="49" charset="-122"/>
              </a:rPr>
              <a:t>1</a:t>
            </a:r>
            <a:r>
              <a:rPr lang="zh-CN" altLang="en-US" sz="1600" dirty="0">
                <a:latin typeface="微软雅黑" pitchFamily="34" charset="-122"/>
                <a:ea typeface="微软雅黑" pitchFamily="34" charset="-122"/>
                <a:cs typeface="经典粗黑简" pitchFamily="49" charset="-122"/>
              </a:rPr>
              <a:t>、正确性（</a:t>
            </a:r>
            <a:r>
              <a:rPr lang="en-US" altLang="zh-CN" sz="1600" dirty="0">
                <a:latin typeface="微软雅黑" pitchFamily="34" charset="-122"/>
                <a:ea typeface="微软雅黑" pitchFamily="34" charset="-122"/>
                <a:cs typeface="经典粗黑简" pitchFamily="49" charset="-122"/>
              </a:rPr>
              <a:t>Correctness）</a:t>
            </a:r>
            <a:r>
              <a:rPr lang="zh-CN" altLang="en-US" sz="1600" dirty="0">
                <a:latin typeface="微软雅黑" pitchFamily="34" charset="-122"/>
                <a:ea typeface="微软雅黑" pitchFamily="34" charset="-122"/>
                <a:cs typeface="经典粗黑简" pitchFamily="49" charset="-122"/>
              </a:rPr>
              <a:t>：对于合法的输入产生符合要求的输出；要求算法的执行能够完成预先规定的功能，并达到所期望的性能要求。 </a:t>
            </a:r>
            <a:r>
              <a:rPr lang="zh-CN" altLang="en-US" sz="1600" dirty="0">
                <a:solidFill>
                  <a:srgbClr val="FF0000"/>
                </a:solidFill>
                <a:latin typeface="楷体_GB2312" pitchFamily="49" charset="-122"/>
                <a:ea typeface="楷体_GB2312" pitchFamily="49" charset="-122"/>
                <a:cs typeface="经典粗黑简" pitchFamily="49" charset="-122"/>
              </a:rPr>
              <a:t>（</a:t>
            </a:r>
            <a:r>
              <a:rPr lang="en-US" altLang="zh-CN" sz="1600" dirty="0">
                <a:solidFill>
                  <a:srgbClr val="FF0000"/>
                </a:solidFill>
                <a:latin typeface="楷体_GB2312" pitchFamily="49" charset="-122"/>
                <a:ea typeface="楷体_GB2312" pitchFamily="49" charset="-122"/>
                <a:cs typeface="经典粗黑简" pitchFamily="49" charset="-122"/>
              </a:rPr>
              <a:t>4</a:t>
            </a:r>
            <a:r>
              <a:rPr lang="zh-CN" altLang="en-US" sz="1600" dirty="0">
                <a:solidFill>
                  <a:srgbClr val="FF0000"/>
                </a:solidFill>
                <a:latin typeface="楷体_GB2312" pitchFamily="49" charset="-122"/>
                <a:ea typeface="楷体_GB2312" pitchFamily="49" charset="-122"/>
                <a:cs typeface="经典粗黑简" pitchFamily="49" charset="-122"/>
              </a:rPr>
              <a:t>个层次）</a:t>
            </a:r>
            <a:endParaRPr lang="en-US" altLang="zh-CN" sz="1600" dirty="0">
              <a:solidFill>
                <a:srgbClr val="FF0000"/>
              </a:solidFill>
              <a:latin typeface="楷体_GB2312" pitchFamily="49" charset="-122"/>
              <a:ea typeface="楷体_GB2312" pitchFamily="49" charset="-122"/>
              <a:cs typeface="经典粗黑简" pitchFamily="49" charset="-122"/>
            </a:endParaRPr>
          </a:p>
        </p:txBody>
      </p:sp>
      <p:sp>
        <p:nvSpPr>
          <p:cNvPr id="20" name="Rectangle 3"/>
          <p:cNvSpPr txBox="1">
            <a:spLocks noChangeArrowheads="1"/>
          </p:cNvSpPr>
          <p:nvPr/>
        </p:nvSpPr>
        <p:spPr bwMode="auto">
          <a:xfrm>
            <a:off x="1042933" y="1930704"/>
            <a:ext cx="76456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zh-CN"/>
            </a:defPPr>
            <a:lvl2pPr marL="0" lvl="1">
              <a:tabLst>
                <a:tab pos="533400" algn="l"/>
              </a:tabLst>
              <a:defRPr sz="2000">
                <a:latin typeface="微软雅黑" pitchFamily="34" charset="-122"/>
                <a:ea typeface="微软雅黑" pitchFamily="34" charset="-122"/>
                <a:cs typeface="经典粗黑简" pitchFamily="49" charset="-122"/>
              </a:defRPr>
            </a:lvl2pPr>
          </a:lstStyle>
          <a:p>
            <a:r>
              <a:rPr lang="zh-CN" altLang="en-US" sz="1600" dirty="0">
                <a:latin typeface="微软雅黑" pitchFamily="34" charset="-122"/>
                <a:ea typeface="微软雅黑" pitchFamily="34" charset="-122"/>
                <a:cs typeface="经典粗黑简" pitchFamily="49" charset="-122"/>
              </a:rPr>
              <a:t>解决同一问题的算法可以有多种， 我们希望从中选出最优的算法。</a:t>
            </a:r>
          </a:p>
        </p:txBody>
      </p:sp>
      <p:sp>
        <p:nvSpPr>
          <p:cNvPr id="15" name="矩形 14"/>
          <p:cNvSpPr/>
          <p:nvPr/>
        </p:nvSpPr>
        <p:spPr>
          <a:xfrm>
            <a:off x="1030807" y="2818892"/>
            <a:ext cx="7645649" cy="584775"/>
          </a:xfrm>
          <a:prstGeom prst="rect">
            <a:avLst/>
          </a:prstGeom>
          <a:noFill/>
          <a:ln>
            <a:noFill/>
          </a:ln>
        </p:spPr>
        <p:txBody>
          <a:bodyPr wrap="square" anchor="ctr">
            <a:spAutoFit/>
          </a:bodyPr>
          <a:lstStyle/>
          <a:p>
            <a:pPr marL="0" lvl="1">
              <a:tabLst>
                <a:tab pos="533400" algn="l"/>
              </a:tabLst>
            </a:pPr>
            <a:r>
              <a:rPr lang="en-US" altLang="zh-CN" sz="1600" dirty="0">
                <a:latin typeface="微软雅黑" pitchFamily="34" charset="-122"/>
                <a:ea typeface="微软雅黑" pitchFamily="34" charset="-122"/>
                <a:cs typeface="经典粗黑简" pitchFamily="49" charset="-122"/>
              </a:rPr>
              <a:t>2</a:t>
            </a:r>
            <a:r>
              <a:rPr lang="zh-CN" altLang="en-US" sz="1600" dirty="0">
                <a:latin typeface="微软雅黑" pitchFamily="34" charset="-122"/>
                <a:ea typeface="微软雅黑" pitchFamily="34" charset="-122"/>
                <a:cs typeface="经典粗黑简" pitchFamily="49" charset="-122"/>
              </a:rPr>
              <a:t>、可读性（</a:t>
            </a:r>
            <a:r>
              <a:rPr lang="en-US" altLang="zh-CN" sz="1600" dirty="0">
                <a:latin typeface="微软雅黑" pitchFamily="34" charset="-122"/>
                <a:ea typeface="微软雅黑" pitchFamily="34" charset="-122"/>
                <a:cs typeface="经典粗黑简" pitchFamily="49" charset="-122"/>
              </a:rPr>
              <a:t>Readability）</a:t>
            </a:r>
            <a:r>
              <a:rPr lang="zh-CN" altLang="en-US" sz="1600" dirty="0">
                <a:latin typeface="微软雅黑" pitchFamily="34" charset="-122"/>
                <a:ea typeface="微软雅黑" pitchFamily="34" charset="-122"/>
                <a:cs typeface="经典粗黑简" pitchFamily="49" charset="-122"/>
              </a:rPr>
              <a:t>：算法应该易读、便于交流， 这也是保证算法正确性的前提；注释是一种增加可读性的办法；</a:t>
            </a:r>
            <a:endParaRPr lang="en-US" altLang="zh-CN" sz="1600" dirty="0">
              <a:latin typeface="微软雅黑" pitchFamily="34" charset="-122"/>
              <a:ea typeface="微软雅黑" pitchFamily="34" charset="-122"/>
              <a:cs typeface="经典粗黑简" pitchFamily="49" charset="-122"/>
            </a:endParaRPr>
          </a:p>
        </p:txBody>
      </p:sp>
      <p:sp>
        <p:nvSpPr>
          <p:cNvPr id="16" name="矩形 15"/>
          <p:cNvSpPr/>
          <p:nvPr/>
        </p:nvSpPr>
        <p:spPr>
          <a:xfrm>
            <a:off x="1037606" y="4340134"/>
            <a:ext cx="7782866" cy="584775"/>
          </a:xfrm>
          <a:prstGeom prst="rect">
            <a:avLst/>
          </a:prstGeom>
          <a:noFill/>
          <a:ln>
            <a:noFill/>
          </a:ln>
        </p:spPr>
        <p:txBody>
          <a:bodyPr wrap="square" anchor="ctr">
            <a:spAutoFit/>
          </a:bodyPr>
          <a:lstStyle/>
          <a:p>
            <a:pPr marL="0" lvl="1">
              <a:tabLst>
                <a:tab pos="533400" algn="l"/>
              </a:tabLst>
            </a:pPr>
            <a:r>
              <a:rPr lang="en-US" altLang="zh-CN" sz="1600" dirty="0">
                <a:latin typeface="微软雅黑" pitchFamily="34" charset="-122"/>
                <a:ea typeface="微软雅黑" pitchFamily="34" charset="-122"/>
                <a:cs typeface="经典粗黑简" pitchFamily="49" charset="-122"/>
              </a:rPr>
              <a:t>4</a:t>
            </a:r>
            <a:r>
              <a:rPr lang="zh-CN" altLang="en-US" sz="1600" dirty="0">
                <a:latin typeface="微软雅黑" pitchFamily="34" charset="-122"/>
                <a:ea typeface="微软雅黑" pitchFamily="34" charset="-122"/>
                <a:cs typeface="经典粗黑简" pitchFamily="49" charset="-122"/>
              </a:rPr>
              <a:t>、高时间效率与低存储量需求：效率指算法执行的时间。存储量是指算法执行过程中所需的最大存储空间。</a:t>
            </a:r>
          </a:p>
        </p:txBody>
      </p:sp>
      <p:sp>
        <p:nvSpPr>
          <p:cNvPr id="17" name="矩形 16"/>
          <p:cNvSpPr/>
          <p:nvPr/>
        </p:nvSpPr>
        <p:spPr>
          <a:xfrm>
            <a:off x="1037606" y="3322948"/>
            <a:ext cx="7710858" cy="1077218"/>
          </a:xfrm>
          <a:prstGeom prst="rect">
            <a:avLst/>
          </a:prstGeom>
          <a:noFill/>
          <a:ln>
            <a:noFill/>
          </a:ln>
        </p:spPr>
        <p:txBody>
          <a:bodyPr wrap="square" anchor="ctr">
            <a:spAutoFit/>
          </a:bodyPr>
          <a:lstStyle/>
          <a:p>
            <a:pPr marL="0" lvl="1">
              <a:tabLst>
                <a:tab pos="533400" algn="l"/>
              </a:tabLst>
            </a:pPr>
            <a:r>
              <a:rPr lang="en-US" altLang="zh-CN" sz="1600" dirty="0">
                <a:latin typeface="微软雅黑" pitchFamily="34" charset="-122"/>
                <a:ea typeface="微软雅黑" pitchFamily="34" charset="-122"/>
                <a:cs typeface="经典粗黑简" pitchFamily="49" charset="-122"/>
              </a:rPr>
              <a:t>3</a:t>
            </a:r>
            <a:r>
              <a:rPr lang="zh-CN" altLang="en-US" sz="1600" dirty="0">
                <a:latin typeface="微软雅黑" pitchFamily="34" charset="-122"/>
                <a:ea typeface="微软雅黑" pitchFamily="34" charset="-122"/>
                <a:cs typeface="经典粗黑简" pitchFamily="49" charset="-122"/>
              </a:rPr>
              <a:t>、健壮性（</a:t>
            </a:r>
            <a:r>
              <a:rPr lang="en-US" altLang="zh-CN" sz="1600" dirty="0">
                <a:latin typeface="微软雅黑" pitchFamily="34" charset="-122"/>
                <a:ea typeface="微软雅黑" pitchFamily="34" charset="-122"/>
                <a:cs typeface="经典粗黑简" pitchFamily="49" charset="-122"/>
              </a:rPr>
              <a:t>Robustness）</a:t>
            </a:r>
            <a:r>
              <a:rPr lang="zh-CN" altLang="en-US" sz="1600" dirty="0">
                <a:latin typeface="微软雅黑" pitchFamily="34" charset="-122"/>
                <a:ea typeface="微软雅黑" pitchFamily="34" charset="-122"/>
                <a:cs typeface="经典粗黑简" pitchFamily="49" charset="-122"/>
              </a:rPr>
              <a:t>：输入非法时， 算法还能做出适当的反应而不会崩溃，算法中拥有对输入数据、打开文件、读取文件记录、分配内存空间等操作的结果检测，并通过与用户对话的形式做出相应的处理选择。 如输出错误信息；算法中应该考虑适当的错误处理；</a:t>
            </a:r>
            <a:endParaRPr lang="en-US" altLang="zh-CN" sz="1600" dirty="0">
              <a:latin typeface="微软雅黑" pitchFamily="34" charset="-122"/>
              <a:ea typeface="微软雅黑" pitchFamily="34" charset="-122"/>
              <a:cs typeface="经典粗黑简" pitchFamily="49" charset="-122"/>
            </a:endParaRPr>
          </a:p>
        </p:txBody>
      </p:sp>
      <p:sp>
        <p:nvSpPr>
          <p:cNvPr id="3" name="矩形 2">
            <a:extLst>
              <a:ext uri="{FF2B5EF4-FFF2-40B4-BE49-F238E27FC236}">
                <a16:creationId xmlns:a16="http://schemas.microsoft.com/office/drawing/2014/main" id="{CED124CF-C2E2-14D6-31DF-4B40C6360640}"/>
              </a:ext>
            </a:extLst>
          </p:cNvPr>
          <p:cNvSpPr/>
          <p:nvPr/>
        </p:nvSpPr>
        <p:spPr>
          <a:xfrm>
            <a:off x="395537" y="961357"/>
            <a:ext cx="3816423"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1.2.3 </a:t>
            </a:r>
            <a:r>
              <a:rPr lang="zh-CN" altLang="en-US" sz="2800" b="1" dirty="0">
                <a:solidFill>
                  <a:schemeClr val="bg1"/>
                </a:solidFill>
                <a:latin typeface="经典粗黑简" pitchFamily="49" charset="-122"/>
                <a:ea typeface="经典粗黑简" pitchFamily="49" charset="-122"/>
                <a:cs typeface="经典粗黑简" pitchFamily="49" charset="-122"/>
              </a:rPr>
              <a:t>算法设计的目标</a:t>
            </a:r>
          </a:p>
        </p:txBody>
      </p:sp>
      <p:sp>
        <p:nvSpPr>
          <p:cNvPr id="4" name="Rectangle 2">
            <a:extLst>
              <a:ext uri="{FF2B5EF4-FFF2-40B4-BE49-F238E27FC236}">
                <a16:creationId xmlns:a16="http://schemas.microsoft.com/office/drawing/2014/main" id="{0B7A3D2C-ECC5-9C35-1651-B6370CBBD9D1}"/>
              </a:ext>
            </a:extLst>
          </p:cNvPr>
          <p:cNvSpPr txBox="1">
            <a:spLocks noChangeArrowheads="1"/>
          </p:cNvSpPr>
          <p:nvPr/>
        </p:nvSpPr>
        <p:spPr>
          <a:xfrm>
            <a:off x="1295115" y="1437624"/>
            <a:ext cx="3126376" cy="523220"/>
          </a:xfrm>
          <a:prstGeom prst="rect">
            <a:avLst/>
          </a:prstGeom>
        </p:spPr>
        <p:txBody>
          <a:bodyPr wrap="square">
            <a:spAutoFit/>
          </a:bodyPr>
          <a:lstStyle>
            <a:defPPr>
              <a:defRPr lang="zh-CN"/>
            </a:defPPr>
            <a:lvl1pPr>
              <a:defRPr sz="2800">
                <a:solidFill>
                  <a:schemeClr val="tx1"/>
                </a:solidFill>
                <a:latin typeface="黑体" pitchFamily="49" charset="-122"/>
                <a:ea typeface="黑体" pitchFamily="49" charset="-122"/>
              </a:defRPr>
            </a:lvl1pPr>
            <a:lvl2pPr marL="0" lvl="1">
              <a:defRPr sz="2800">
                <a:solidFill>
                  <a:schemeClr val="tx1"/>
                </a:solidFill>
                <a:latin typeface="黑体" pitchFamily="49" charset="-122"/>
                <a:ea typeface="黑体" pitchFamily="49" charset="-122"/>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dirty="0"/>
              <a:t>算法的评价</a:t>
            </a:r>
            <a:endParaRPr lang="en-US" altLang="zh-CN" dirty="0"/>
          </a:p>
        </p:txBody>
      </p:sp>
      <p:sp>
        <p:nvSpPr>
          <p:cNvPr id="5" name="Rectangle 2">
            <a:extLst>
              <a:ext uri="{FF2B5EF4-FFF2-40B4-BE49-F238E27FC236}">
                <a16:creationId xmlns:a16="http://schemas.microsoft.com/office/drawing/2014/main" id="{2126B4AE-41FF-2DD4-C0C5-C380AB68C8F6}"/>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a:t>
            </a:r>
            <a:r>
              <a:rPr lang="zh-CN" altLang="en-US" sz="3600" b="1" dirty="0">
                <a:latin typeface="黑体" pitchFamily="49" charset="-122"/>
                <a:ea typeface="黑体" pitchFamily="49" charset="-122"/>
                <a:cs typeface="+mn-cs"/>
              </a:rPr>
              <a:t>.2 算法及其描述</a:t>
            </a:r>
          </a:p>
        </p:txBody>
      </p:sp>
    </p:spTree>
    <p:extLst>
      <p:ext uri="{BB962C8B-B14F-4D97-AF65-F5344CB8AC3E}">
        <p14:creationId xmlns:p14="http://schemas.microsoft.com/office/powerpoint/2010/main" val="72869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8520-E62E-9DFA-7DC2-77E16246F28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76FC1528-3FD1-94CC-41CC-57732C3B9140}"/>
              </a:ext>
            </a:extLst>
          </p:cNvPr>
          <p:cNvSpPr/>
          <p:nvPr/>
        </p:nvSpPr>
        <p:spPr>
          <a:xfrm>
            <a:off x="395537" y="961357"/>
            <a:ext cx="410445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1.3.1 </a:t>
            </a:r>
            <a:r>
              <a:rPr lang="zh-CN" altLang="en-US" sz="2800" b="1" dirty="0">
                <a:solidFill>
                  <a:schemeClr val="bg1"/>
                </a:solidFill>
                <a:latin typeface="经典粗黑简" pitchFamily="49" charset="-122"/>
                <a:ea typeface="经典粗黑简" pitchFamily="49" charset="-122"/>
                <a:cs typeface="经典粗黑简" pitchFamily="49" charset="-122"/>
              </a:rPr>
              <a:t>算法分析概述</a:t>
            </a:r>
          </a:p>
        </p:txBody>
      </p:sp>
      <p:cxnSp>
        <p:nvCxnSpPr>
          <p:cNvPr id="10" name="直接连接符 9">
            <a:extLst>
              <a:ext uri="{FF2B5EF4-FFF2-40B4-BE49-F238E27FC236}">
                <a16:creationId xmlns:a16="http://schemas.microsoft.com/office/drawing/2014/main" id="{A8C73AFD-A1EF-808E-580C-C2E1D0C6EA4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Rectangle 3">
            <a:extLst>
              <a:ext uri="{FF2B5EF4-FFF2-40B4-BE49-F238E27FC236}">
                <a16:creationId xmlns:a16="http://schemas.microsoft.com/office/drawing/2014/main" id="{2E01797B-F6CE-5AC9-1BE4-6BF362A52305}"/>
              </a:ext>
            </a:extLst>
          </p:cNvPr>
          <p:cNvSpPr txBox="1">
            <a:spLocks noChangeArrowheads="1"/>
          </p:cNvSpPr>
          <p:nvPr/>
        </p:nvSpPr>
        <p:spPr bwMode="auto">
          <a:xfrm>
            <a:off x="683568" y="1713821"/>
            <a:ext cx="7971131"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zh-CN"/>
            </a:defPPr>
            <a:lvl2pPr marL="0" lvl="1">
              <a:tabLst>
                <a:tab pos="533400" algn="l"/>
              </a:tabLst>
              <a:defRPr sz="2000">
                <a:latin typeface="微软雅黑" pitchFamily="34" charset="-122"/>
                <a:ea typeface="微软雅黑" pitchFamily="34" charset="-122"/>
                <a:cs typeface="经典粗黑简" pitchFamily="49" charset="-122"/>
              </a:defRPr>
            </a:lvl2pPr>
          </a:lstStyle>
          <a:p>
            <a:r>
              <a:rPr lang="zh-CN" altLang="en-US" sz="2000" dirty="0">
                <a:latin typeface="微软雅黑" pitchFamily="34" charset="-122"/>
                <a:ea typeface="微软雅黑" pitchFamily="34" charset="-122"/>
                <a:cs typeface="经典粗黑简" pitchFamily="49" charset="-122"/>
              </a:rPr>
              <a:t>       </a:t>
            </a:r>
            <a:r>
              <a:rPr lang="zh-CN" altLang="en-US" dirty="0">
                <a:latin typeface="微软雅黑" pitchFamily="34" charset="-122"/>
                <a:ea typeface="微软雅黑" pitchFamily="34" charset="-122"/>
                <a:cs typeface="经典粗黑简" pitchFamily="49" charset="-122"/>
              </a:rPr>
              <a:t>解决同一问题的算法可以有多种。 我们希望从中选出最优的算法，效率高或者存储空间小。 为此，我们需要对算法进行评估和分析。</a:t>
            </a:r>
          </a:p>
        </p:txBody>
      </p:sp>
      <p:sp>
        <p:nvSpPr>
          <p:cNvPr id="2" name="Rectangle 2">
            <a:extLst>
              <a:ext uri="{FF2B5EF4-FFF2-40B4-BE49-F238E27FC236}">
                <a16:creationId xmlns:a16="http://schemas.microsoft.com/office/drawing/2014/main" id="{431E5FCA-65B5-F19F-9495-4BF7A9C5CDB0}"/>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TextBox 4">
            <a:extLst>
              <a:ext uri="{FF2B5EF4-FFF2-40B4-BE49-F238E27FC236}">
                <a16:creationId xmlns:a16="http://schemas.microsoft.com/office/drawing/2014/main" id="{150C7712-AC7E-D26F-12FC-E7C1CCAE1F95}"/>
              </a:ext>
            </a:extLst>
          </p:cNvPr>
          <p:cNvSpPr txBox="1"/>
          <p:nvPr/>
        </p:nvSpPr>
        <p:spPr>
          <a:xfrm>
            <a:off x="1004090" y="3187813"/>
            <a:ext cx="2643206" cy="407676"/>
          </a:xfrm>
          <a:prstGeom prst="rect">
            <a:avLst/>
          </a:prstGeom>
          <a:noFill/>
        </p:spPr>
        <p:txBody>
          <a:bodyPr wrap="square" rtlCol="0">
            <a:spAutoFit/>
          </a:bodyPr>
          <a:lstStyle>
            <a:defPPr>
              <a:defRPr lang="zh-CN"/>
            </a:defPPr>
            <a:lvl1pPr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l"/>
            <a:r>
              <a:rPr lang="zh-CN" altLang="en-US" sz="2000">
                <a:solidFill>
                  <a:srgbClr val="0000FF"/>
                </a:solidFill>
                <a:latin typeface="Consolas" pitchFamily="49" charset="0"/>
                <a:ea typeface="楷体" pitchFamily="49" charset="-122"/>
                <a:cs typeface="Consolas" pitchFamily="49" charset="0"/>
              </a:rPr>
              <a:t>分析算法</a:t>
            </a:r>
            <a:r>
              <a:rPr lang="zh-CN" altLang="en-US" sz="2000" dirty="0">
                <a:solidFill>
                  <a:srgbClr val="0000FF"/>
                </a:solidFill>
                <a:latin typeface="Consolas" pitchFamily="49" charset="0"/>
                <a:ea typeface="楷体" pitchFamily="49" charset="-122"/>
                <a:cs typeface="Consolas" pitchFamily="49" charset="0"/>
              </a:rPr>
              <a:t>占用的资源</a:t>
            </a:r>
          </a:p>
        </p:txBody>
      </p:sp>
      <p:sp>
        <p:nvSpPr>
          <p:cNvPr id="4" name="左大括号 3">
            <a:extLst>
              <a:ext uri="{FF2B5EF4-FFF2-40B4-BE49-F238E27FC236}">
                <a16:creationId xmlns:a16="http://schemas.microsoft.com/office/drawing/2014/main" id="{01797792-7B42-43E9-178F-933DC3DF1FD4}"/>
              </a:ext>
            </a:extLst>
          </p:cNvPr>
          <p:cNvSpPr/>
          <p:nvPr/>
        </p:nvSpPr>
        <p:spPr bwMode="auto">
          <a:xfrm>
            <a:off x="3504420" y="2759304"/>
            <a:ext cx="214314" cy="1214446"/>
          </a:xfrm>
          <a:prstGeom prst="leftBrac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txBody>
          <a:bodyPr vert="horz" wrap="none" lIns="91440" tIns="45720" rIns="91440" bIns="45720" numCol="1" rtlCol="0" anchor="ctr" anchorCtr="0" compatLnSpc="1">
            <a:prstTxWarp prst="textNoShape">
              <a:avLst/>
            </a:prstTxWarp>
            <a:noAutofit/>
          </a:bodyPr>
          <a:lstStyle>
            <a:defPPr>
              <a:defRPr lang="zh-CN"/>
            </a:defPPr>
            <a:lvl1pPr algn="ctr" rtl="0" fontAlgn="base">
              <a:lnSpc>
                <a:spcPct val="110000"/>
              </a:lnSpc>
              <a:spcBef>
                <a:spcPct val="50000"/>
              </a:spcBef>
              <a:spcAft>
                <a:spcPct val="0"/>
              </a:spcAft>
              <a:defRPr kumimoji="1" sz="2400" b="1" kern="1200">
                <a:solidFill>
                  <a:schemeClr val="tx1"/>
                </a:solidFill>
                <a:latin typeface="+mn-lt"/>
                <a:ea typeface="+mn-ea"/>
                <a:cs typeface="+mn-cs"/>
              </a:defRPr>
            </a:lvl1pPr>
            <a:lvl2pPr marL="457200" algn="ctr" rtl="0" fontAlgn="base">
              <a:lnSpc>
                <a:spcPct val="110000"/>
              </a:lnSpc>
              <a:spcBef>
                <a:spcPct val="50000"/>
              </a:spcBef>
              <a:spcAft>
                <a:spcPct val="0"/>
              </a:spcAft>
              <a:defRPr kumimoji="1" sz="2400" b="1" kern="1200">
                <a:solidFill>
                  <a:schemeClr val="tx1"/>
                </a:solidFill>
                <a:latin typeface="+mn-lt"/>
                <a:ea typeface="+mn-ea"/>
                <a:cs typeface="+mn-cs"/>
              </a:defRPr>
            </a:lvl2pPr>
            <a:lvl3pPr marL="914400" algn="ctr" rtl="0" fontAlgn="base">
              <a:lnSpc>
                <a:spcPct val="110000"/>
              </a:lnSpc>
              <a:spcBef>
                <a:spcPct val="50000"/>
              </a:spcBef>
              <a:spcAft>
                <a:spcPct val="0"/>
              </a:spcAft>
              <a:defRPr kumimoji="1" sz="2400" b="1" kern="1200">
                <a:solidFill>
                  <a:schemeClr val="tx1"/>
                </a:solidFill>
                <a:latin typeface="+mn-lt"/>
                <a:ea typeface="+mn-ea"/>
                <a:cs typeface="+mn-cs"/>
              </a:defRPr>
            </a:lvl3pPr>
            <a:lvl4pPr marL="1371600" algn="ctr" rtl="0" fontAlgn="base">
              <a:lnSpc>
                <a:spcPct val="110000"/>
              </a:lnSpc>
              <a:spcBef>
                <a:spcPct val="50000"/>
              </a:spcBef>
              <a:spcAft>
                <a:spcPct val="0"/>
              </a:spcAft>
              <a:defRPr kumimoji="1" sz="2400" b="1" kern="1200">
                <a:solidFill>
                  <a:schemeClr val="tx1"/>
                </a:solidFill>
                <a:latin typeface="+mn-lt"/>
                <a:ea typeface="+mn-ea"/>
                <a:cs typeface="+mn-cs"/>
              </a:defRPr>
            </a:lvl4pPr>
            <a:lvl5pPr marL="1828800" algn="ctr" rtl="0" fontAlgn="base">
              <a:lnSpc>
                <a:spcPct val="110000"/>
              </a:lnSpc>
              <a:spcBef>
                <a:spcPct val="50000"/>
              </a:spcBef>
              <a:spcAft>
                <a:spcPct val="0"/>
              </a:spcAft>
              <a:defRPr kumimoji="1" sz="2400" b="1" kern="1200">
                <a:solidFill>
                  <a:schemeClr val="tx1"/>
                </a:solidFill>
                <a:latin typeface="+mn-lt"/>
                <a:ea typeface="+mn-ea"/>
                <a:cs typeface="+mn-cs"/>
              </a:defRPr>
            </a:lvl5pPr>
            <a:lvl6pPr marL="2286000" algn="l" defTabSz="914400" rtl="0" eaLnBrk="1" latinLnBrk="0" hangingPunct="1">
              <a:defRPr kumimoji="1" sz="2400" b="1" kern="1200">
                <a:solidFill>
                  <a:schemeClr val="tx1"/>
                </a:solidFill>
                <a:latin typeface="+mn-lt"/>
                <a:ea typeface="+mn-ea"/>
                <a:cs typeface="+mn-cs"/>
              </a:defRPr>
            </a:lvl6pPr>
            <a:lvl7pPr marL="2743200" algn="l" defTabSz="914400" rtl="0" eaLnBrk="1" latinLnBrk="0" hangingPunct="1">
              <a:defRPr kumimoji="1" sz="2400" b="1" kern="1200">
                <a:solidFill>
                  <a:schemeClr val="tx1"/>
                </a:solidFill>
                <a:latin typeface="+mn-lt"/>
                <a:ea typeface="+mn-ea"/>
                <a:cs typeface="+mn-cs"/>
              </a:defRPr>
            </a:lvl7pPr>
            <a:lvl8pPr marL="3200400" algn="l" defTabSz="914400" rtl="0" eaLnBrk="1" latinLnBrk="0" hangingPunct="1">
              <a:defRPr kumimoji="1" sz="2400" b="1" kern="1200">
                <a:solidFill>
                  <a:schemeClr val="tx1"/>
                </a:solidFill>
                <a:latin typeface="+mn-lt"/>
                <a:ea typeface="+mn-ea"/>
                <a:cs typeface="+mn-cs"/>
              </a:defRPr>
            </a:lvl8pPr>
            <a:lvl9pPr marL="3657600" algn="l" defTabSz="914400" rtl="0" eaLnBrk="1" latinLnBrk="0" hangingPunct="1">
              <a:defRPr kumimoji="1" sz="2400" b="1" kern="1200">
                <a:solidFill>
                  <a:schemeClr val="tx1"/>
                </a:solidFill>
                <a:latin typeface="+mn-lt"/>
                <a:ea typeface="+mn-ea"/>
                <a:cs typeface="+mn-cs"/>
              </a:defRPr>
            </a:lvl9pPr>
          </a:lstStyle>
          <a:p>
            <a:pPr marL="0" marR="0" indent="0" algn="ctr" defTabSz="914400" rtl="0" eaLnBrk="1" fontAlgn="base" latinLnBrk="0" hangingPunct="1">
              <a:lnSpc>
                <a:spcPct val="110000"/>
              </a:lnSpc>
              <a:spcBef>
                <a:spcPct val="50000"/>
              </a:spcBef>
              <a:spcAft>
                <a:spcPct val="0"/>
              </a:spcAft>
              <a:buClrTx/>
              <a:buSzTx/>
              <a:buFontTx/>
              <a:buNone/>
              <a:tabLst/>
            </a:pPr>
            <a:endParaRPr kumimoji="1" lang="zh-CN" altLang="en-US" sz="2400" b="1" i="0" u="none" strike="noStrike" cap="none" normalizeH="0" baseline="0">
              <a:ln>
                <a:noFill/>
              </a:ln>
              <a:solidFill>
                <a:srgbClr val="0033CC"/>
              </a:solidFill>
              <a:effectLst/>
              <a:latin typeface="Consolas" pitchFamily="49" charset="0"/>
              <a:cs typeface="Consolas" pitchFamily="49" charset="0"/>
            </a:endParaRPr>
          </a:p>
        </p:txBody>
      </p:sp>
      <p:sp>
        <p:nvSpPr>
          <p:cNvPr id="5" name="TextBox 6">
            <a:extLst>
              <a:ext uri="{FF2B5EF4-FFF2-40B4-BE49-F238E27FC236}">
                <a16:creationId xmlns:a16="http://schemas.microsoft.com/office/drawing/2014/main" id="{77D11AE7-1741-FD94-D3C7-BD15CCBB34E8}"/>
              </a:ext>
            </a:extLst>
          </p:cNvPr>
          <p:cNvSpPr txBox="1"/>
          <p:nvPr/>
        </p:nvSpPr>
        <p:spPr>
          <a:xfrm>
            <a:off x="3718734" y="2625834"/>
            <a:ext cx="1571636" cy="407676"/>
          </a:xfrm>
          <a:prstGeom prst="rect">
            <a:avLst/>
          </a:prstGeom>
          <a:noFill/>
        </p:spPr>
        <p:txBody>
          <a:bodyPr wrap="square" rtlCol="0">
            <a:spAutoFit/>
          </a:bodyPr>
          <a:lstStyle>
            <a:defPPr>
              <a:defRPr lang="zh-CN"/>
            </a:defPPr>
            <a:lvl1pPr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l"/>
            <a:r>
              <a:rPr lang="en-US" altLang="zh-CN" sz="2000">
                <a:solidFill>
                  <a:srgbClr val="0000FF"/>
                </a:solidFill>
                <a:latin typeface="Consolas" pitchFamily="49" charset="0"/>
                <a:ea typeface="楷体" pitchFamily="49" charset="-122"/>
                <a:cs typeface="Consolas" pitchFamily="49" charset="0"/>
              </a:rPr>
              <a:t>CPU</a:t>
            </a:r>
            <a:r>
              <a:rPr lang="zh-CN" altLang="en-US" sz="2000">
                <a:solidFill>
                  <a:srgbClr val="0000FF"/>
                </a:solidFill>
                <a:latin typeface="Consolas" pitchFamily="49" charset="0"/>
                <a:ea typeface="楷体" pitchFamily="49" charset="-122"/>
                <a:cs typeface="Consolas" pitchFamily="49" charset="0"/>
              </a:rPr>
              <a:t>时间</a:t>
            </a:r>
            <a:endParaRPr lang="zh-CN" altLang="en-US" sz="2000" dirty="0">
              <a:solidFill>
                <a:srgbClr val="0000FF"/>
              </a:solidFill>
              <a:latin typeface="Consolas" pitchFamily="49" charset="0"/>
              <a:ea typeface="楷体" pitchFamily="49" charset="-122"/>
              <a:cs typeface="Consolas" pitchFamily="49" charset="0"/>
            </a:endParaRPr>
          </a:p>
        </p:txBody>
      </p:sp>
      <p:sp>
        <p:nvSpPr>
          <p:cNvPr id="6" name="TextBox 7">
            <a:extLst>
              <a:ext uri="{FF2B5EF4-FFF2-40B4-BE49-F238E27FC236}">
                <a16:creationId xmlns:a16="http://schemas.microsoft.com/office/drawing/2014/main" id="{BD310DA8-E61D-C8A7-E424-670EADE6CB14}"/>
              </a:ext>
            </a:extLst>
          </p:cNvPr>
          <p:cNvSpPr txBox="1"/>
          <p:nvPr/>
        </p:nvSpPr>
        <p:spPr>
          <a:xfrm>
            <a:off x="3709209" y="3618028"/>
            <a:ext cx="1500198" cy="407676"/>
          </a:xfrm>
          <a:prstGeom prst="rect">
            <a:avLst/>
          </a:prstGeom>
          <a:noFill/>
        </p:spPr>
        <p:txBody>
          <a:bodyPr wrap="square" rtlCol="0">
            <a:spAutoFit/>
          </a:bodyPr>
          <a:lstStyle>
            <a:defPPr>
              <a:defRPr lang="zh-CN"/>
            </a:defPPr>
            <a:lvl1pPr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l"/>
            <a:r>
              <a:rPr lang="zh-CN" altLang="en-US" sz="2000">
                <a:solidFill>
                  <a:srgbClr val="0000FF"/>
                </a:solidFill>
                <a:latin typeface="Consolas" pitchFamily="49" charset="0"/>
                <a:ea typeface="楷体" pitchFamily="49" charset="-122"/>
                <a:cs typeface="Consolas" pitchFamily="49" charset="0"/>
              </a:rPr>
              <a:t>内存空间</a:t>
            </a:r>
            <a:endParaRPr lang="zh-CN" altLang="en-US" sz="2000" dirty="0">
              <a:solidFill>
                <a:srgbClr val="0000FF"/>
              </a:solidFill>
              <a:latin typeface="Consolas" pitchFamily="49" charset="0"/>
              <a:ea typeface="楷体" pitchFamily="49" charset="-122"/>
              <a:cs typeface="Consolas" pitchFamily="49" charset="0"/>
            </a:endParaRPr>
          </a:p>
        </p:txBody>
      </p:sp>
      <p:grpSp>
        <p:nvGrpSpPr>
          <p:cNvPr id="7" name="组合 6">
            <a:extLst>
              <a:ext uri="{FF2B5EF4-FFF2-40B4-BE49-F238E27FC236}">
                <a16:creationId xmlns:a16="http://schemas.microsoft.com/office/drawing/2014/main" id="{A764A39F-9E13-3752-489E-9974EF7591CF}"/>
              </a:ext>
            </a:extLst>
          </p:cNvPr>
          <p:cNvGrpSpPr/>
          <p:nvPr/>
        </p:nvGrpSpPr>
        <p:grpSpPr>
          <a:xfrm>
            <a:off x="5076056" y="2606784"/>
            <a:ext cx="3209948" cy="389530"/>
            <a:chOff x="5429256" y="2297104"/>
            <a:chExt cx="3209948" cy="389530"/>
          </a:xfrm>
        </p:grpSpPr>
        <p:sp>
          <p:nvSpPr>
            <p:cNvPr id="13" name="右箭头 8">
              <a:extLst>
                <a:ext uri="{FF2B5EF4-FFF2-40B4-BE49-F238E27FC236}">
                  <a16:creationId xmlns:a16="http://schemas.microsoft.com/office/drawing/2014/main" id="{C8541BD8-0DDD-2CA1-72C5-8A49485D234F}"/>
                </a:ext>
              </a:extLst>
            </p:cNvPr>
            <p:cNvSpPr/>
            <p:nvPr/>
          </p:nvSpPr>
          <p:spPr>
            <a:xfrm>
              <a:off x="5429256" y="2357430"/>
              <a:ext cx="571504" cy="285752"/>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zh-CN"/>
              </a:defPPr>
              <a:lvl1pPr algn="ctr" rtl="0" fontAlgn="base">
                <a:lnSpc>
                  <a:spcPct val="110000"/>
                </a:lnSpc>
                <a:spcBef>
                  <a:spcPct val="50000"/>
                </a:spcBef>
                <a:spcAft>
                  <a:spcPct val="0"/>
                </a:spcAft>
                <a:defRPr kumimoji="1" sz="2400" b="1" kern="1200">
                  <a:solidFill>
                    <a:schemeClr val="dk1"/>
                  </a:solidFill>
                  <a:latin typeface="+mn-lt"/>
                  <a:ea typeface="+mn-ea"/>
                  <a:cs typeface="+mn-cs"/>
                </a:defRPr>
              </a:lvl1pPr>
              <a:lvl2pPr marL="457200" algn="ctr" rtl="0" fontAlgn="base">
                <a:lnSpc>
                  <a:spcPct val="110000"/>
                </a:lnSpc>
                <a:spcBef>
                  <a:spcPct val="50000"/>
                </a:spcBef>
                <a:spcAft>
                  <a:spcPct val="0"/>
                </a:spcAft>
                <a:defRPr kumimoji="1" sz="2400" b="1" kern="1200">
                  <a:solidFill>
                    <a:schemeClr val="dk1"/>
                  </a:solidFill>
                  <a:latin typeface="+mn-lt"/>
                  <a:ea typeface="+mn-ea"/>
                  <a:cs typeface="+mn-cs"/>
                </a:defRPr>
              </a:lvl2pPr>
              <a:lvl3pPr marL="914400" algn="ctr" rtl="0" fontAlgn="base">
                <a:lnSpc>
                  <a:spcPct val="110000"/>
                </a:lnSpc>
                <a:spcBef>
                  <a:spcPct val="50000"/>
                </a:spcBef>
                <a:spcAft>
                  <a:spcPct val="0"/>
                </a:spcAft>
                <a:defRPr kumimoji="1" sz="2400" b="1" kern="1200">
                  <a:solidFill>
                    <a:schemeClr val="dk1"/>
                  </a:solidFill>
                  <a:latin typeface="+mn-lt"/>
                  <a:ea typeface="+mn-ea"/>
                  <a:cs typeface="+mn-cs"/>
                </a:defRPr>
              </a:lvl3pPr>
              <a:lvl4pPr marL="1371600" algn="ctr" rtl="0" fontAlgn="base">
                <a:lnSpc>
                  <a:spcPct val="110000"/>
                </a:lnSpc>
                <a:spcBef>
                  <a:spcPct val="50000"/>
                </a:spcBef>
                <a:spcAft>
                  <a:spcPct val="0"/>
                </a:spcAft>
                <a:defRPr kumimoji="1" sz="2400" b="1" kern="1200">
                  <a:solidFill>
                    <a:schemeClr val="dk1"/>
                  </a:solidFill>
                  <a:latin typeface="+mn-lt"/>
                  <a:ea typeface="+mn-ea"/>
                  <a:cs typeface="+mn-cs"/>
                </a:defRPr>
              </a:lvl4pPr>
              <a:lvl5pPr marL="1828800" algn="ctr" rtl="0" fontAlgn="base">
                <a:lnSpc>
                  <a:spcPct val="110000"/>
                </a:lnSpc>
                <a:spcBef>
                  <a:spcPct val="50000"/>
                </a:spcBef>
                <a:spcAft>
                  <a:spcPct val="0"/>
                </a:spcAft>
                <a:defRPr kumimoji="1" sz="2400" b="1" kern="1200">
                  <a:solidFill>
                    <a:schemeClr val="dk1"/>
                  </a:solidFill>
                  <a:latin typeface="+mn-lt"/>
                  <a:ea typeface="+mn-ea"/>
                  <a:cs typeface="+mn-cs"/>
                </a:defRPr>
              </a:lvl5pPr>
              <a:lvl6pPr marL="2286000" algn="l" defTabSz="914400" rtl="0" eaLnBrk="1" latinLnBrk="0" hangingPunct="1">
                <a:defRPr kumimoji="1" sz="2400" b="1" kern="1200">
                  <a:solidFill>
                    <a:schemeClr val="dk1"/>
                  </a:solidFill>
                  <a:latin typeface="+mn-lt"/>
                  <a:ea typeface="+mn-ea"/>
                  <a:cs typeface="+mn-cs"/>
                </a:defRPr>
              </a:lvl6pPr>
              <a:lvl7pPr marL="2743200" algn="l" defTabSz="914400" rtl="0" eaLnBrk="1" latinLnBrk="0" hangingPunct="1">
                <a:defRPr kumimoji="1" sz="2400" b="1" kern="1200">
                  <a:solidFill>
                    <a:schemeClr val="dk1"/>
                  </a:solidFill>
                  <a:latin typeface="+mn-lt"/>
                  <a:ea typeface="+mn-ea"/>
                  <a:cs typeface="+mn-cs"/>
                </a:defRPr>
              </a:lvl7pPr>
              <a:lvl8pPr marL="3200400" algn="l" defTabSz="914400" rtl="0" eaLnBrk="1" latinLnBrk="0" hangingPunct="1">
                <a:defRPr kumimoji="1" sz="2400" b="1" kern="1200">
                  <a:solidFill>
                    <a:schemeClr val="dk1"/>
                  </a:solidFill>
                  <a:latin typeface="+mn-lt"/>
                  <a:ea typeface="+mn-ea"/>
                  <a:cs typeface="+mn-cs"/>
                </a:defRPr>
              </a:lvl8pPr>
              <a:lvl9pPr marL="3657600" algn="l" defTabSz="914400" rtl="0" eaLnBrk="1" latinLnBrk="0" hangingPunct="1">
                <a:defRPr kumimoji="1" sz="2400" b="1" kern="1200">
                  <a:solidFill>
                    <a:schemeClr val="dk1"/>
                  </a:solidFill>
                  <a:latin typeface="+mn-lt"/>
                  <a:ea typeface="+mn-ea"/>
                  <a:cs typeface="+mn-cs"/>
                </a:defRPr>
              </a:lvl9pPr>
            </a:lstStyle>
            <a:p>
              <a:pPr algn="ctr"/>
              <a:endParaRPr lang="zh-CN" altLang="en-US">
                <a:latin typeface="Consolas" pitchFamily="49" charset="0"/>
                <a:cs typeface="Consolas" pitchFamily="49" charset="0"/>
              </a:endParaRPr>
            </a:p>
          </p:txBody>
        </p:sp>
        <p:sp>
          <p:nvSpPr>
            <p:cNvPr id="15" name="TextBox 9">
              <a:extLst>
                <a:ext uri="{FF2B5EF4-FFF2-40B4-BE49-F238E27FC236}">
                  <a16:creationId xmlns:a16="http://schemas.microsoft.com/office/drawing/2014/main" id="{107105BD-7D1B-D3F1-9F04-8178B2E350AE}"/>
                </a:ext>
              </a:extLst>
            </p:cNvPr>
            <p:cNvSpPr txBox="1"/>
            <p:nvPr/>
          </p:nvSpPr>
          <p:spPr>
            <a:xfrm>
              <a:off x="6067436" y="2297104"/>
              <a:ext cx="2571768" cy="389530"/>
            </a:xfrm>
            <a:prstGeom prst="rect">
              <a:avLst/>
            </a:prstGeom>
            <a:noFill/>
          </p:spPr>
          <p:txBody>
            <a:bodyPr wrap="square" rtlCol="0">
              <a:spAutoFit/>
            </a:bodyPr>
            <a:lstStyle>
              <a:defPPr>
                <a:defRPr lang="zh-CN"/>
              </a:defPPr>
              <a:lvl1pPr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l"/>
              <a:r>
                <a:rPr lang="zh-CN" altLang="en-US" sz="2000" dirty="0">
                  <a:solidFill>
                    <a:srgbClr val="0000FF"/>
                  </a:solidFill>
                  <a:latin typeface="仿宋" pitchFamily="49" charset="-122"/>
                  <a:ea typeface="仿宋" pitchFamily="49" charset="-122"/>
                  <a:cs typeface="Consolas" pitchFamily="49" charset="0"/>
                </a:rPr>
                <a:t>时间性能分析</a:t>
              </a:r>
            </a:p>
          </p:txBody>
        </p:sp>
      </p:grpSp>
      <p:grpSp>
        <p:nvGrpSpPr>
          <p:cNvPr id="8" name="组合 7">
            <a:extLst>
              <a:ext uri="{FF2B5EF4-FFF2-40B4-BE49-F238E27FC236}">
                <a16:creationId xmlns:a16="http://schemas.microsoft.com/office/drawing/2014/main" id="{CD9E43AD-4F2E-916F-AFD8-93F78CF9C6E6}"/>
              </a:ext>
            </a:extLst>
          </p:cNvPr>
          <p:cNvGrpSpPr/>
          <p:nvPr/>
        </p:nvGrpSpPr>
        <p:grpSpPr>
          <a:xfrm>
            <a:off x="5076056" y="3616441"/>
            <a:ext cx="3219473" cy="389530"/>
            <a:chOff x="5429256" y="3249611"/>
            <a:chExt cx="3219473" cy="389530"/>
          </a:xfrm>
        </p:grpSpPr>
        <p:sp>
          <p:nvSpPr>
            <p:cNvPr id="11" name="右箭头 10">
              <a:extLst>
                <a:ext uri="{FF2B5EF4-FFF2-40B4-BE49-F238E27FC236}">
                  <a16:creationId xmlns:a16="http://schemas.microsoft.com/office/drawing/2014/main" id="{794C7B09-33A8-B5E6-F9A1-9F8C37A4EA84}"/>
                </a:ext>
              </a:extLst>
            </p:cNvPr>
            <p:cNvSpPr/>
            <p:nvPr/>
          </p:nvSpPr>
          <p:spPr>
            <a:xfrm>
              <a:off x="5429256" y="3294062"/>
              <a:ext cx="571504" cy="285752"/>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zh-CN"/>
              </a:defPPr>
              <a:lvl1pPr algn="ctr" rtl="0" fontAlgn="base">
                <a:lnSpc>
                  <a:spcPct val="110000"/>
                </a:lnSpc>
                <a:spcBef>
                  <a:spcPct val="50000"/>
                </a:spcBef>
                <a:spcAft>
                  <a:spcPct val="0"/>
                </a:spcAft>
                <a:defRPr kumimoji="1" sz="2400" b="1" kern="1200">
                  <a:solidFill>
                    <a:schemeClr val="dk1"/>
                  </a:solidFill>
                  <a:latin typeface="+mn-lt"/>
                  <a:ea typeface="+mn-ea"/>
                  <a:cs typeface="+mn-cs"/>
                </a:defRPr>
              </a:lvl1pPr>
              <a:lvl2pPr marL="457200" algn="ctr" rtl="0" fontAlgn="base">
                <a:lnSpc>
                  <a:spcPct val="110000"/>
                </a:lnSpc>
                <a:spcBef>
                  <a:spcPct val="50000"/>
                </a:spcBef>
                <a:spcAft>
                  <a:spcPct val="0"/>
                </a:spcAft>
                <a:defRPr kumimoji="1" sz="2400" b="1" kern="1200">
                  <a:solidFill>
                    <a:schemeClr val="dk1"/>
                  </a:solidFill>
                  <a:latin typeface="+mn-lt"/>
                  <a:ea typeface="+mn-ea"/>
                  <a:cs typeface="+mn-cs"/>
                </a:defRPr>
              </a:lvl2pPr>
              <a:lvl3pPr marL="914400" algn="ctr" rtl="0" fontAlgn="base">
                <a:lnSpc>
                  <a:spcPct val="110000"/>
                </a:lnSpc>
                <a:spcBef>
                  <a:spcPct val="50000"/>
                </a:spcBef>
                <a:spcAft>
                  <a:spcPct val="0"/>
                </a:spcAft>
                <a:defRPr kumimoji="1" sz="2400" b="1" kern="1200">
                  <a:solidFill>
                    <a:schemeClr val="dk1"/>
                  </a:solidFill>
                  <a:latin typeface="+mn-lt"/>
                  <a:ea typeface="+mn-ea"/>
                  <a:cs typeface="+mn-cs"/>
                </a:defRPr>
              </a:lvl3pPr>
              <a:lvl4pPr marL="1371600" algn="ctr" rtl="0" fontAlgn="base">
                <a:lnSpc>
                  <a:spcPct val="110000"/>
                </a:lnSpc>
                <a:spcBef>
                  <a:spcPct val="50000"/>
                </a:spcBef>
                <a:spcAft>
                  <a:spcPct val="0"/>
                </a:spcAft>
                <a:defRPr kumimoji="1" sz="2400" b="1" kern="1200">
                  <a:solidFill>
                    <a:schemeClr val="dk1"/>
                  </a:solidFill>
                  <a:latin typeface="+mn-lt"/>
                  <a:ea typeface="+mn-ea"/>
                  <a:cs typeface="+mn-cs"/>
                </a:defRPr>
              </a:lvl4pPr>
              <a:lvl5pPr marL="1828800" algn="ctr" rtl="0" fontAlgn="base">
                <a:lnSpc>
                  <a:spcPct val="110000"/>
                </a:lnSpc>
                <a:spcBef>
                  <a:spcPct val="50000"/>
                </a:spcBef>
                <a:spcAft>
                  <a:spcPct val="0"/>
                </a:spcAft>
                <a:defRPr kumimoji="1" sz="2400" b="1" kern="1200">
                  <a:solidFill>
                    <a:schemeClr val="dk1"/>
                  </a:solidFill>
                  <a:latin typeface="+mn-lt"/>
                  <a:ea typeface="+mn-ea"/>
                  <a:cs typeface="+mn-cs"/>
                </a:defRPr>
              </a:lvl5pPr>
              <a:lvl6pPr marL="2286000" algn="l" defTabSz="914400" rtl="0" eaLnBrk="1" latinLnBrk="0" hangingPunct="1">
                <a:defRPr kumimoji="1" sz="2400" b="1" kern="1200">
                  <a:solidFill>
                    <a:schemeClr val="dk1"/>
                  </a:solidFill>
                  <a:latin typeface="+mn-lt"/>
                  <a:ea typeface="+mn-ea"/>
                  <a:cs typeface="+mn-cs"/>
                </a:defRPr>
              </a:lvl6pPr>
              <a:lvl7pPr marL="2743200" algn="l" defTabSz="914400" rtl="0" eaLnBrk="1" latinLnBrk="0" hangingPunct="1">
                <a:defRPr kumimoji="1" sz="2400" b="1" kern="1200">
                  <a:solidFill>
                    <a:schemeClr val="dk1"/>
                  </a:solidFill>
                  <a:latin typeface="+mn-lt"/>
                  <a:ea typeface="+mn-ea"/>
                  <a:cs typeface="+mn-cs"/>
                </a:defRPr>
              </a:lvl7pPr>
              <a:lvl8pPr marL="3200400" algn="l" defTabSz="914400" rtl="0" eaLnBrk="1" latinLnBrk="0" hangingPunct="1">
                <a:defRPr kumimoji="1" sz="2400" b="1" kern="1200">
                  <a:solidFill>
                    <a:schemeClr val="dk1"/>
                  </a:solidFill>
                  <a:latin typeface="+mn-lt"/>
                  <a:ea typeface="+mn-ea"/>
                  <a:cs typeface="+mn-cs"/>
                </a:defRPr>
              </a:lvl8pPr>
              <a:lvl9pPr marL="3657600" algn="l" defTabSz="914400" rtl="0" eaLnBrk="1" latinLnBrk="0" hangingPunct="1">
                <a:defRPr kumimoji="1" sz="2400" b="1" kern="1200">
                  <a:solidFill>
                    <a:schemeClr val="dk1"/>
                  </a:solidFill>
                  <a:latin typeface="+mn-lt"/>
                  <a:ea typeface="+mn-ea"/>
                  <a:cs typeface="+mn-cs"/>
                </a:defRPr>
              </a:lvl9pPr>
            </a:lstStyle>
            <a:p>
              <a:pPr algn="ctr"/>
              <a:endParaRPr lang="zh-CN" altLang="en-US">
                <a:latin typeface="Consolas" pitchFamily="49" charset="0"/>
                <a:cs typeface="Consolas" pitchFamily="49" charset="0"/>
              </a:endParaRPr>
            </a:p>
          </p:txBody>
        </p:sp>
        <p:sp>
          <p:nvSpPr>
            <p:cNvPr id="12" name="TextBox 11">
              <a:extLst>
                <a:ext uri="{FF2B5EF4-FFF2-40B4-BE49-F238E27FC236}">
                  <a16:creationId xmlns:a16="http://schemas.microsoft.com/office/drawing/2014/main" id="{A3E7DFA3-8AC6-49B3-E582-611B8333136B}"/>
                </a:ext>
              </a:extLst>
            </p:cNvPr>
            <p:cNvSpPr txBox="1"/>
            <p:nvPr/>
          </p:nvSpPr>
          <p:spPr>
            <a:xfrm>
              <a:off x="6076961" y="3249611"/>
              <a:ext cx="2571768" cy="389530"/>
            </a:xfrm>
            <a:prstGeom prst="rect">
              <a:avLst/>
            </a:prstGeom>
            <a:noFill/>
          </p:spPr>
          <p:txBody>
            <a:bodyPr wrap="square" rtlCol="0">
              <a:spAutoFit/>
            </a:bodyPr>
            <a:lstStyle>
              <a:defPPr>
                <a:defRPr lang="zh-CN"/>
              </a:defPPr>
              <a:lvl1pPr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11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l"/>
              <a:r>
                <a:rPr lang="zh-CN" altLang="en-US" sz="2000" dirty="0">
                  <a:solidFill>
                    <a:srgbClr val="0000FF"/>
                  </a:solidFill>
                  <a:latin typeface="仿宋" pitchFamily="49" charset="-122"/>
                  <a:ea typeface="仿宋" pitchFamily="49" charset="-122"/>
                  <a:cs typeface="Consolas" pitchFamily="49" charset="0"/>
                </a:rPr>
                <a:t>空间性能分析</a:t>
              </a:r>
            </a:p>
          </p:txBody>
        </p:sp>
      </p:grpSp>
      <p:sp>
        <p:nvSpPr>
          <p:cNvPr id="9" name="TextBox 14">
            <a:extLst>
              <a:ext uri="{FF2B5EF4-FFF2-40B4-BE49-F238E27FC236}">
                <a16:creationId xmlns:a16="http://schemas.microsoft.com/office/drawing/2014/main" id="{7EB1203E-5B9F-EA40-B36F-ADD09A0668CE}"/>
              </a:ext>
            </a:extLst>
          </p:cNvPr>
          <p:cNvSpPr txBox="1"/>
          <p:nvPr/>
        </p:nvSpPr>
        <p:spPr>
          <a:xfrm>
            <a:off x="1178125" y="4168824"/>
            <a:ext cx="6643734" cy="530127"/>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5"/>
          </a:lnRef>
          <a:fillRef idx="2">
            <a:schemeClr val="accent5"/>
          </a:fillRef>
          <a:effectRef idx="1">
            <a:schemeClr val="accent5"/>
          </a:effectRef>
          <a:fontRef idx="minor">
            <a:schemeClr val="dk1"/>
          </a:fontRef>
        </p:style>
        <p:txBody>
          <a:bodyPr wrap="square" tIns="144000" rtlCol="0">
            <a:spAutoFit/>
          </a:bodyPr>
          <a:lstStyle>
            <a:defPPr>
              <a:defRPr lang="zh-CN"/>
            </a:defPPr>
            <a:lvl1pPr algn="ctr" rtl="0" fontAlgn="base">
              <a:lnSpc>
                <a:spcPct val="110000"/>
              </a:lnSpc>
              <a:spcBef>
                <a:spcPct val="50000"/>
              </a:spcBef>
              <a:spcAft>
                <a:spcPct val="0"/>
              </a:spcAft>
              <a:defRPr kumimoji="1" sz="2400" b="1" kern="1200">
                <a:solidFill>
                  <a:schemeClr val="dk1"/>
                </a:solidFill>
                <a:latin typeface="+mn-lt"/>
                <a:ea typeface="+mn-ea"/>
                <a:cs typeface="+mn-cs"/>
              </a:defRPr>
            </a:lvl1pPr>
            <a:lvl2pPr marL="457200" algn="ctr" rtl="0" fontAlgn="base">
              <a:lnSpc>
                <a:spcPct val="110000"/>
              </a:lnSpc>
              <a:spcBef>
                <a:spcPct val="50000"/>
              </a:spcBef>
              <a:spcAft>
                <a:spcPct val="0"/>
              </a:spcAft>
              <a:defRPr kumimoji="1" sz="2400" b="1" kern="1200">
                <a:solidFill>
                  <a:schemeClr val="dk1"/>
                </a:solidFill>
                <a:latin typeface="+mn-lt"/>
                <a:ea typeface="+mn-ea"/>
                <a:cs typeface="+mn-cs"/>
              </a:defRPr>
            </a:lvl2pPr>
            <a:lvl3pPr marL="914400" algn="ctr" rtl="0" fontAlgn="base">
              <a:lnSpc>
                <a:spcPct val="110000"/>
              </a:lnSpc>
              <a:spcBef>
                <a:spcPct val="50000"/>
              </a:spcBef>
              <a:spcAft>
                <a:spcPct val="0"/>
              </a:spcAft>
              <a:defRPr kumimoji="1" sz="2400" b="1" kern="1200">
                <a:solidFill>
                  <a:schemeClr val="dk1"/>
                </a:solidFill>
                <a:latin typeface="+mn-lt"/>
                <a:ea typeface="+mn-ea"/>
                <a:cs typeface="+mn-cs"/>
              </a:defRPr>
            </a:lvl3pPr>
            <a:lvl4pPr marL="1371600" algn="ctr" rtl="0" fontAlgn="base">
              <a:lnSpc>
                <a:spcPct val="110000"/>
              </a:lnSpc>
              <a:spcBef>
                <a:spcPct val="50000"/>
              </a:spcBef>
              <a:spcAft>
                <a:spcPct val="0"/>
              </a:spcAft>
              <a:defRPr kumimoji="1" sz="2400" b="1" kern="1200">
                <a:solidFill>
                  <a:schemeClr val="dk1"/>
                </a:solidFill>
                <a:latin typeface="+mn-lt"/>
                <a:ea typeface="+mn-ea"/>
                <a:cs typeface="+mn-cs"/>
              </a:defRPr>
            </a:lvl4pPr>
            <a:lvl5pPr marL="1828800" algn="ctr" rtl="0" fontAlgn="base">
              <a:lnSpc>
                <a:spcPct val="110000"/>
              </a:lnSpc>
              <a:spcBef>
                <a:spcPct val="50000"/>
              </a:spcBef>
              <a:spcAft>
                <a:spcPct val="0"/>
              </a:spcAft>
              <a:defRPr kumimoji="1" sz="2400" b="1" kern="1200">
                <a:solidFill>
                  <a:schemeClr val="dk1"/>
                </a:solidFill>
                <a:latin typeface="+mn-lt"/>
                <a:ea typeface="+mn-ea"/>
                <a:cs typeface="+mn-cs"/>
              </a:defRPr>
            </a:lvl5pPr>
            <a:lvl6pPr marL="2286000" algn="l" defTabSz="914400" rtl="0" eaLnBrk="1" latinLnBrk="0" hangingPunct="1">
              <a:defRPr kumimoji="1" sz="2400" b="1" kern="1200">
                <a:solidFill>
                  <a:schemeClr val="dk1"/>
                </a:solidFill>
                <a:latin typeface="+mn-lt"/>
                <a:ea typeface="+mn-ea"/>
                <a:cs typeface="+mn-cs"/>
              </a:defRPr>
            </a:lvl6pPr>
            <a:lvl7pPr marL="2743200" algn="l" defTabSz="914400" rtl="0" eaLnBrk="1" latinLnBrk="0" hangingPunct="1">
              <a:defRPr kumimoji="1" sz="2400" b="1" kern="1200">
                <a:solidFill>
                  <a:schemeClr val="dk1"/>
                </a:solidFill>
                <a:latin typeface="+mn-lt"/>
                <a:ea typeface="+mn-ea"/>
                <a:cs typeface="+mn-cs"/>
              </a:defRPr>
            </a:lvl7pPr>
            <a:lvl8pPr marL="3200400" algn="l" defTabSz="914400" rtl="0" eaLnBrk="1" latinLnBrk="0" hangingPunct="1">
              <a:defRPr kumimoji="1" sz="2400" b="1" kern="1200">
                <a:solidFill>
                  <a:schemeClr val="dk1"/>
                </a:solidFill>
                <a:latin typeface="+mn-lt"/>
                <a:ea typeface="+mn-ea"/>
                <a:cs typeface="+mn-cs"/>
              </a:defRPr>
            </a:lvl8pPr>
            <a:lvl9pPr marL="3657600" algn="l" defTabSz="914400" rtl="0" eaLnBrk="1" latinLnBrk="0" hangingPunct="1">
              <a:defRPr kumimoji="1" sz="2400" b="1" kern="1200">
                <a:solidFill>
                  <a:schemeClr val="dk1"/>
                </a:solidFill>
                <a:latin typeface="+mn-lt"/>
                <a:ea typeface="+mn-ea"/>
                <a:cs typeface="+mn-cs"/>
              </a:defRPr>
            </a:lvl9pPr>
          </a:lstStyle>
          <a:p>
            <a:pPr algn="l"/>
            <a:r>
              <a:rPr lang="zh-CN" altLang="en-US" sz="2000" dirty="0">
                <a:solidFill>
                  <a:srgbClr val="C00000"/>
                </a:solidFill>
                <a:latin typeface="方正启体简体" pitchFamily="65" charset="-122"/>
                <a:ea typeface="方正启体简体" pitchFamily="65" charset="-122"/>
                <a:cs typeface="Consolas" pitchFamily="49" charset="0"/>
              </a:rPr>
              <a:t>算法分析目的：</a:t>
            </a:r>
            <a:r>
              <a:rPr lang="zh-CN" altLang="en-US" sz="2000" dirty="0">
                <a:solidFill>
                  <a:srgbClr val="0000FF"/>
                </a:solidFill>
                <a:latin typeface="方正启体简体" pitchFamily="65" charset="-122"/>
                <a:ea typeface="方正启体简体" pitchFamily="65" charset="-122"/>
                <a:cs typeface="Consolas" pitchFamily="49" charset="0"/>
              </a:rPr>
              <a:t>分析算法的时空效率以便改进算法性能。</a:t>
            </a:r>
          </a:p>
        </p:txBody>
      </p:sp>
    </p:spTree>
    <p:extLst>
      <p:ext uri="{BB962C8B-B14F-4D97-AF65-F5344CB8AC3E}">
        <p14:creationId xmlns:p14="http://schemas.microsoft.com/office/powerpoint/2010/main" val="39599645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395537" y="961357"/>
            <a:ext cx="4104455"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1.3.1 </a:t>
            </a:r>
            <a:r>
              <a:rPr lang="zh-CN" altLang="en-US" sz="2800" b="1" dirty="0">
                <a:solidFill>
                  <a:schemeClr val="bg1"/>
                </a:solidFill>
                <a:latin typeface="经典粗黑简" pitchFamily="49" charset="-122"/>
                <a:ea typeface="经典粗黑简" pitchFamily="49" charset="-122"/>
                <a:cs typeface="经典粗黑简" pitchFamily="49" charset="-122"/>
              </a:rPr>
              <a:t>算法分析概述</a:t>
            </a:r>
          </a:p>
        </p:txBody>
      </p:sp>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Rectangle 3"/>
          <p:cNvSpPr txBox="1">
            <a:spLocks noChangeArrowheads="1"/>
          </p:cNvSpPr>
          <p:nvPr/>
        </p:nvSpPr>
        <p:spPr bwMode="auto">
          <a:xfrm>
            <a:off x="683568" y="1713821"/>
            <a:ext cx="7971131"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zh-CN"/>
            </a:defPPr>
            <a:lvl2pPr marL="0" lvl="1">
              <a:tabLst>
                <a:tab pos="533400" algn="l"/>
              </a:tabLst>
              <a:defRPr sz="2000">
                <a:latin typeface="微软雅黑" pitchFamily="34" charset="-122"/>
                <a:ea typeface="微软雅黑" pitchFamily="34" charset="-122"/>
                <a:cs typeface="经典粗黑简" pitchFamily="49" charset="-122"/>
              </a:defRPr>
            </a:lvl2pPr>
          </a:lstStyle>
          <a:p>
            <a:r>
              <a:rPr lang="zh-CN" altLang="en-US" sz="2000" dirty="0">
                <a:latin typeface="微软雅黑" pitchFamily="34" charset="-122"/>
                <a:ea typeface="微软雅黑" pitchFamily="34" charset="-122"/>
                <a:cs typeface="经典粗黑简" pitchFamily="49" charset="-122"/>
              </a:rPr>
              <a:t>       </a:t>
            </a:r>
            <a:r>
              <a:rPr lang="zh-CN" altLang="en-US" dirty="0">
                <a:latin typeface="微软雅黑" pitchFamily="34" charset="-122"/>
                <a:ea typeface="微软雅黑" pitchFamily="34" charset="-122"/>
                <a:cs typeface="经典粗黑简" pitchFamily="49" charset="-122"/>
              </a:rPr>
              <a:t>解决同一问题的算法可以有多种。 我们希望从中选出最优的算法，效率高或者存储空间小。 为此，我们需要对算法进行评估和分析。</a:t>
            </a:r>
          </a:p>
        </p:txBody>
      </p:sp>
      <p:sp>
        <p:nvSpPr>
          <p:cNvPr id="18" name="矩形 17"/>
          <p:cNvSpPr/>
          <p:nvPr/>
        </p:nvSpPr>
        <p:spPr>
          <a:xfrm>
            <a:off x="1161423" y="2428338"/>
            <a:ext cx="3518912" cy="400110"/>
          </a:xfrm>
          <a:prstGeom prst="rect">
            <a:avLst/>
          </a:prstGeom>
        </p:spPr>
        <p:txBody>
          <a:bodyPr wrap="none">
            <a:spAutoFit/>
          </a:bodyPr>
          <a:lstStyle/>
          <a:p>
            <a:r>
              <a:rPr lang="zh-CN" altLang="en-US" sz="2000" dirty="0">
                <a:latin typeface="微软雅黑" pitchFamily="34" charset="-122"/>
                <a:ea typeface="微软雅黑" pitchFamily="34" charset="-122"/>
                <a:cs typeface="经典粗黑简" pitchFamily="49" charset="-122"/>
              </a:rPr>
              <a:t>算法评估和分析的两种方法：</a:t>
            </a:r>
          </a:p>
        </p:txBody>
      </p:sp>
      <p:sp>
        <p:nvSpPr>
          <p:cNvPr id="19" name="矩形 18"/>
          <p:cNvSpPr/>
          <p:nvPr/>
        </p:nvSpPr>
        <p:spPr>
          <a:xfrm>
            <a:off x="1161424" y="2830523"/>
            <a:ext cx="7421267" cy="584775"/>
          </a:xfrm>
          <a:prstGeom prst="rect">
            <a:avLst/>
          </a:prstGeom>
        </p:spPr>
        <p:txBody>
          <a:bodyPr wrap="square">
            <a:spAutoFit/>
          </a:bodyPr>
          <a:lstStyle/>
          <a:p>
            <a:pPr>
              <a:spcBef>
                <a:spcPct val="20000"/>
              </a:spcBef>
            </a:pPr>
            <a:r>
              <a:rPr lang="zh-CN" altLang="en-US" sz="1600" dirty="0">
                <a:latin typeface="微软雅黑" pitchFamily="34" charset="-122"/>
                <a:ea typeface="微软雅黑" pitchFamily="34" charset="-122"/>
                <a:cs typeface="经典粗黑简" pitchFamily="49" charset="-122"/>
              </a:rPr>
              <a:t>事后统计方法：不同算法的程序运行在同一组输入上，根据时间和空间的统计来比较优劣。</a:t>
            </a:r>
            <a:endParaRPr lang="en-US" altLang="zh-CN" sz="1600" dirty="0">
              <a:latin typeface="微软雅黑" pitchFamily="34" charset="-122"/>
              <a:ea typeface="微软雅黑" pitchFamily="34" charset="-122"/>
              <a:cs typeface="经典粗黑简" pitchFamily="49" charset="-122"/>
            </a:endParaRPr>
          </a:p>
        </p:txBody>
      </p:sp>
      <p:sp>
        <p:nvSpPr>
          <p:cNvPr id="21" name="矩形 20"/>
          <p:cNvSpPr/>
          <p:nvPr/>
        </p:nvSpPr>
        <p:spPr>
          <a:xfrm>
            <a:off x="1583327" y="3319583"/>
            <a:ext cx="6896414" cy="584775"/>
          </a:xfrm>
          <a:prstGeom prst="rect">
            <a:avLst/>
          </a:prstGeom>
        </p:spPr>
        <p:txBody>
          <a:bodyPr wrap="square">
            <a:spAutoFit/>
          </a:bodyPr>
          <a:lstStyle/>
          <a:p>
            <a:pPr>
              <a:spcBef>
                <a:spcPct val="20000"/>
              </a:spcBef>
            </a:pPr>
            <a:r>
              <a:rPr lang="zh-CN" altLang="en-US" sz="1600" dirty="0">
                <a:latin typeface="楷体_GB2312" pitchFamily="49" charset="-122"/>
                <a:ea typeface="楷体_GB2312" pitchFamily="49" charset="-122"/>
                <a:cs typeface="经典粗黑简" pitchFamily="49" charset="-122"/>
              </a:rPr>
              <a:t>缺陷：事先编写程序；</a:t>
            </a:r>
            <a:r>
              <a:rPr lang="zh-CN" altLang="en-US" sz="1600" dirty="0">
                <a:latin typeface="楷体_GB2312" pitchFamily="49" charset="-122"/>
                <a:ea typeface="楷体_GB2312" pitchFamily="49" charset="-122"/>
                <a:cs typeface="经典粗黑简" pitchFamily="49" charset="-122"/>
                <a:sym typeface="Wingdings" pitchFamily="2" charset="2"/>
              </a:rPr>
              <a:t>所得时间统计量</a:t>
            </a:r>
            <a:r>
              <a:rPr lang="zh-CN" altLang="en-US" sz="1600" dirty="0">
                <a:latin typeface="楷体_GB2312" pitchFamily="49" charset="-122"/>
                <a:ea typeface="楷体_GB2312" pitchFamily="49" charset="-122"/>
                <a:cs typeface="经典粗黑简" pitchFamily="49" charset="-122"/>
              </a:rPr>
              <a:t>依赖于程序运行的软硬件环境</a:t>
            </a:r>
            <a:r>
              <a:rPr lang="zh-CN" altLang="en-US" sz="1600" dirty="0">
                <a:latin typeface="楷体_GB2312" pitchFamily="49" charset="-122"/>
                <a:ea typeface="楷体_GB2312" pitchFamily="49" charset="-122"/>
                <a:cs typeface="经典粗黑简" pitchFamily="49" charset="-122"/>
                <a:sym typeface="Wingdings" pitchFamily="2" charset="2"/>
              </a:rPr>
              <a:t>等环境因素，掩盖算法本身的优劣。</a:t>
            </a:r>
            <a:endParaRPr lang="en-US" altLang="zh-CN" sz="1600" dirty="0">
              <a:latin typeface="楷体_GB2312" pitchFamily="49" charset="-122"/>
              <a:ea typeface="楷体_GB2312" pitchFamily="49" charset="-122"/>
              <a:cs typeface="经典粗黑简" pitchFamily="49" charset="-122"/>
            </a:endParaRPr>
          </a:p>
        </p:txBody>
      </p:sp>
      <p:sp>
        <p:nvSpPr>
          <p:cNvPr id="22" name="矩形 21"/>
          <p:cNvSpPr/>
          <p:nvPr/>
        </p:nvSpPr>
        <p:spPr>
          <a:xfrm>
            <a:off x="1689407" y="4195551"/>
            <a:ext cx="5814086" cy="338554"/>
          </a:xfrm>
          <a:prstGeom prst="rect">
            <a:avLst/>
          </a:prstGeom>
        </p:spPr>
        <p:txBody>
          <a:bodyPr wrap="square">
            <a:spAutoFit/>
          </a:bodyPr>
          <a:lstStyle/>
          <a:p>
            <a:pPr>
              <a:spcBef>
                <a:spcPct val="20000"/>
              </a:spcBef>
            </a:pPr>
            <a:r>
              <a:rPr lang="zh-CN" altLang="en-US" sz="1600" dirty="0">
                <a:latin typeface="楷体_GB2312" pitchFamily="49" charset="-122"/>
                <a:ea typeface="楷体_GB2312" pitchFamily="49" charset="-122"/>
                <a:cs typeface="经典粗黑简" pitchFamily="49" charset="-122"/>
              </a:rPr>
              <a:t>衡量算法效率一般采用的是事前估计方法。</a:t>
            </a:r>
          </a:p>
        </p:txBody>
      </p:sp>
      <p:sp>
        <p:nvSpPr>
          <p:cNvPr id="23" name="矩形 22"/>
          <p:cNvSpPr/>
          <p:nvPr/>
        </p:nvSpPr>
        <p:spPr>
          <a:xfrm>
            <a:off x="1161423" y="3840593"/>
            <a:ext cx="1956190" cy="338554"/>
          </a:xfrm>
          <a:prstGeom prst="rect">
            <a:avLst/>
          </a:prstGeom>
        </p:spPr>
        <p:txBody>
          <a:bodyPr wrap="square">
            <a:spAutoFit/>
          </a:bodyPr>
          <a:lstStyle/>
          <a:p>
            <a:pPr>
              <a:spcBef>
                <a:spcPct val="20000"/>
              </a:spcBef>
            </a:pPr>
            <a:r>
              <a:rPr lang="zh-CN" altLang="en-US" sz="1600" dirty="0">
                <a:latin typeface="微软雅黑" pitchFamily="34" charset="-122"/>
                <a:ea typeface="微软雅黑" pitchFamily="34" charset="-122"/>
                <a:cs typeface="经典粗黑简" pitchFamily="49" charset="-122"/>
              </a:rPr>
              <a:t>事前估计方法：</a:t>
            </a:r>
          </a:p>
        </p:txBody>
      </p:sp>
      <p:sp>
        <p:nvSpPr>
          <p:cNvPr id="2" name="Rectangle 2">
            <a:extLst>
              <a:ext uri="{FF2B5EF4-FFF2-40B4-BE49-F238E27FC236}">
                <a16:creationId xmlns:a16="http://schemas.microsoft.com/office/drawing/2014/main" id="{A3FF9DAF-7557-19CD-3C78-79294DFCD28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Tree>
    <p:extLst>
      <p:ext uri="{BB962C8B-B14F-4D97-AF65-F5344CB8AC3E}">
        <p14:creationId xmlns:p14="http://schemas.microsoft.com/office/powerpoint/2010/main" val="2309251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1" grpId="0"/>
      <p:bldP spid="22" grpId="0"/>
      <p:bldP spid="2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452818" y="1779662"/>
            <a:ext cx="4811485" cy="400110"/>
          </a:xfrm>
          <a:prstGeom prst="rect">
            <a:avLst/>
          </a:prstGeom>
          <a:noFill/>
          <a:ln>
            <a:noFill/>
          </a:ln>
        </p:spPr>
        <p:txBody>
          <a:bodyPr wrap="square" anchor="ctr">
            <a:spAutoFit/>
          </a:bodyPr>
          <a:lstStyle/>
          <a:p>
            <a:pPr marL="0" lvl="1">
              <a:tabLst>
                <a:tab pos="533400" algn="l"/>
              </a:tabLst>
            </a:pPr>
            <a:r>
              <a:rPr lang="zh-CN" altLang="en-US" sz="2000" dirty="0">
                <a:latin typeface="微软雅黑" pitchFamily="34" charset="-122"/>
                <a:ea typeface="微软雅黑" pitchFamily="34" charset="-122"/>
                <a:cs typeface="经典粗黑简" pitchFamily="49" charset="-122"/>
              </a:rPr>
              <a:t>影响程序运行时间的因素：</a:t>
            </a:r>
          </a:p>
        </p:txBody>
      </p:sp>
      <p:sp>
        <p:nvSpPr>
          <p:cNvPr id="16" name="矩形 15"/>
          <p:cNvSpPr/>
          <p:nvPr/>
        </p:nvSpPr>
        <p:spPr>
          <a:xfrm>
            <a:off x="2509248" y="2140040"/>
            <a:ext cx="3291839" cy="369332"/>
          </a:xfrm>
          <a:prstGeom prst="rect">
            <a:avLst/>
          </a:prstGeom>
          <a:noFill/>
          <a:ln>
            <a:noFill/>
          </a:ln>
        </p:spPr>
        <p:txBody>
          <a:bodyPr wrap="square" anchor="ctr">
            <a:spAutoFit/>
          </a:bodyPr>
          <a:lstStyle/>
          <a:p>
            <a:pPr marL="0" lvl="1">
              <a:tabLst>
                <a:tab pos="533400" algn="l"/>
              </a:tabLst>
            </a:pPr>
            <a:r>
              <a:rPr lang="en-US" altLang="zh-CN" dirty="0">
                <a:latin typeface="微软雅黑" pitchFamily="34" charset="-122"/>
                <a:ea typeface="微软雅黑" pitchFamily="34" charset="-122"/>
                <a:cs typeface="经典粗黑简" pitchFamily="49" charset="-122"/>
              </a:rPr>
              <a:t>1</a:t>
            </a:r>
            <a:r>
              <a:rPr lang="zh-CN" altLang="en-US" dirty="0">
                <a:latin typeface="微软雅黑" pitchFamily="34" charset="-122"/>
                <a:ea typeface="微软雅黑" pitchFamily="34" charset="-122"/>
                <a:cs typeface="经典粗黑简" pitchFamily="49" charset="-122"/>
              </a:rPr>
              <a:t>、算法选用的策略</a:t>
            </a:r>
          </a:p>
        </p:txBody>
      </p:sp>
      <p:sp>
        <p:nvSpPr>
          <p:cNvPr id="17" name="矩形 16"/>
          <p:cNvSpPr/>
          <p:nvPr/>
        </p:nvSpPr>
        <p:spPr>
          <a:xfrm>
            <a:off x="2509247" y="2535101"/>
            <a:ext cx="2133600" cy="369332"/>
          </a:xfrm>
          <a:prstGeom prst="rect">
            <a:avLst/>
          </a:prstGeom>
          <a:noFill/>
          <a:ln>
            <a:noFill/>
          </a:ln>
        </p:spPr>
        <p:txBody>
          <a:bodyPr wrap="square" anchor="ctr">
            <a:spAutoFit/>
          </a:bodyPr>
          <a:lstStyle/>
          <a:p>
            <a:pPr marL="0" lvl="1">
              <a:tabLst>
                <a:tab pos="533400" algn="l"/>
              </a:tabLst>
            </a:pPr>
            <a:r>
              <a:rPr lang="en-US" altLang="zh-CN" dirty="0">
                <a:latin typeface="微软雅黑" pitchFamily="34" charset="-122"/>
                <a:ea typeface="微软雅黑" pitchFamily="34" charset="-122"/>
                <a:cs typeface="经典粗黑简" pitchFamily="49" charset="-122"/>
              </a:rPr>
              <a:t>2</a:t>
            </a:r>
            <a:r>
              <a:rPr lang="zh-CN" altLang="en-US" dirty="0">
                <a:latin typeface="微软雅黑" pitchFamily="34" charset="-122"/>
                <a:ea typeface="微软雅黑" pitchFamily="34" charset="-122"/>
                <a:cs typeface="经典粗黑简" pitchFamily="49" charset="-122"/>
              </a:rPr>
              <a:t>、问题的规模</a:t>
            </a:r>
          </a:p>
        </p:txBody>
      </p:sp>
      <p:sp>
        <p:nvSpPr>
          <p:cNvPr id="20" name="矩形 19"/>
          <p:cNvSpPr/>
          <p:nvPr/>
        </p:nvSpPr>
        <p:spPr>
          <a:xfrm>
            <a:off x="2509247" y="2930162"/>
            <a:ext cx="1798320" cy="369332"/>
          </a:xfrm>
          <a:prstGeom prst="rect">
            <a:avLst/>
          </a:prstGeom>
          <a:noFill/>
          <a:ln>
            <a:noFill/>
          </a:ln>
        </p:spPr>
        <p:txBody>
          <a:bodyPr wrap="square" anchor="ctr">
            <a:spAutoFit/>
          </a:bodyPr>
          <a:lstStyle/>
          <a:p>
            <a:pPr marL="0" lvl="1">
              <a:tabLst>
                <a:tab pos="533400" algn="l"/>
              </a:tabLst>
            </a:pPr>
            <a:r>
              <a:rPr lang="en-US" altLang="zh-CN" dirty="0">
                <a:latin typeface="微软雅黑" pitchFamily="34" charset="-122"/>
                <a:ea typeface="微软雅黑" pitchFamily="34" charset="-122"/>
                <a:cs typeface="经典粗黑简" pitchFamily="49" charset="-122"/>
              </a:rPr>
              <a:t>3</a:t>
            </a:r>
            <a:r>
              <a:rPr lang="zh-CN" altLang="en-US" dirty="0">
                <a:latin typeface="微软雅黑" pitchFamily="34" charset="-122"/>
                <a:ea typeface="微软雅黑" pitchFamily="34" charset="-122"/>
                <a:cs typeface="经典粗黑简" pitchFamily="49" charset="-122"/>
              </a:rPr>
              <a:t>、语言层次</a:t>
            </a:r>
          </a:p>
        </p:txBody>
      </p:sp>
      <p:sp>
        <p:nvSpPr>
          <p:cNvPr id="24" name="矩形 23"/>
          <p:cNvSpPr/>
          <p:nvPr/>
        </p:nvSpPr>
        <p:spPr>
          <a:xfrm>
            <a:off x="2509247" y="3325223"/>
            <a:ext cx="4611188" cy="369332"/>
          </a:xfrm>
          <a:prstGeom prst="rect">
            <a:avLst/>
          </a:prstGeom>
          <a:noFill/>
          <a:ln>
            <a:noFill/>
          </a:ln>
        </p:spPr>
        <p:txBody>
          <a:bodyPr wrap="square" anchor="ctr">
            <a:spAutoFit/>
          </a:bodyPr>
          <a:lstStyle/>
          <a:p>
            <a:pPr marL="0" lvl="1">
              <a:tabLst>
                <a:tab pos="533400" algn="l"/>
              </a:tabLst>
            </a:pPr>
            <a:r>
              <a:rPr lang="en-US" altLang="zh-CN" dirty="0">
                <a:latin typeface="微软雅黑" pitchFamily="34" charset="-122"/>
                <a:ea typeface="微软雅黑" pitchFamily="34" charset="-122"/>
                <a:cs typeface="经典粗黑简" pitchFamily="49" charset="-122"/>
              </a:rPr>
              <a:t>4</a:t>
            </a:r>
            <a:r>
              <a:rPr lang="zh-CN" altLang="en-US" dirty="0">
                <a:latin typeface="微软雅黑" pitchFamily="34" charset="-122"/>
                <a:ea typeface="微软雅黑" pitchFamily="34" charset="-122"/>
                <a:cs typeface="经典粗黑简" pitchFamily="49" charset="-122"/>
              </a:rPr>
              <a:t>、编译程序所产生的机器代码的质量</a:t>
            </a:r>
          </a:p>
        </p:txBody>
      </p:sp>
      <p:sp>
        <p:nvSpPr>
          <p:cNvPr id="25" name="矩形 24"/>
          <p:cNvSpPr/>
          <p:nvPr/>
        </p:nvSpPr>
        <p:spPr>
          <a:xfrm>
            <a:off x="2509247" y="3720283"/>
            <a:ext cx="4611188" cy="369332"/>
          </a:xfrm>
          <a:prstGeom prst="rect">
            <a:avLst/>
          </a:prstGeom>
          <a:noFill/>
          <a:ln>
            <a:noFill/>
          </a:ln>
        </p:spPr>
        <p:txBody>
          <a:bodyPr wrap="square" anchor="ctr">
            <a:spAutoFit/>
          </a:bodyPr>
          <a:lstStyle/>
          <a:p>
            <a:pPr marL="0" lvl="1">
              <a:tabLst>
                <a:tab pos="533400" algn="l"/>
              </a:tabLst>
            </a:pPr>
            <a:r>
              <a:rPr lang="en-US" altLang="zh-CN" dirty="0">
                <a:latin typeface="微软雅黑" pitchFamily="34" charset="-122"/>
                <a:ea typeface="微软雅黑" pitchFamily="34" charset="-122"/>
                <a:cs typeface="经典粗黑简" pitchFamily="49" charset="-122"/>
              </a:rPr>
              <a:t>5</a:t>
            </a:r>
            <a:r>
              <a:rPr lang="zh-CN" altLang="en-US" dirty="0">
                <a:latin typeface="微软雅黑" pitchFamily="34" charset="-122"/>
                <a:ea typeface="微软雅黑" pitchFamily="34" charset="-122"/>
                <a:cs typeface="经典粗黑简" pitchFamily="49" charset="-122"/>
              </a:rPr>
              <a:t>、机器执行指令的速度</a:t>
            </a:r>
          </a:p>
        </p:txBody>
      </p:sp>
      <p:sp>
        <p:nvSpPr>
          <p:cNvPr id="26" name="矩形 4"/>
          <p:cNvSpPr>
            <a:spLocks noChangeArrowheads="1"/>
          </p:cNvSpPr>
          <p:nvPr/>
        </p:nvSpPr>
        <p:spPr bwMode="auto">
          <a:xfrm>
            <a:off x="372697" y="4012248"/>
            <a:ext cx="8052133" cy="70788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sym typeface="Wingdings" pitchFamily="2" charset="2"/>
              </a:rPr>
              <a:t>       </a:t>
            </a:r>
            <a:r>
              <a:rPr lang="zh-CN" altLang="en-US" sz="2000" dirty="0">
                <a:latin typeface="楷体_GB2312" pitchFamily="49" charset="-122"/>
                <a:ea typeface="楷体_GB2312" pitchFamily="49" charset="-122"/>
                <a:cs typeface="经典粗黑简" pitchFamily="49" charset="-122"/>
                <a:sym typeface="Wingdings" pitchFamily="2" charset="2"/>
              </a:rPr>
              <a:t>同一个算法用不同的语言、不同的编译程序、在不同的计算机上运行，效率均不同，所以使用绝对时间单位衡量算法效率不合适。</a:t>
            </a:r>
          </a:p>
        </p:txBody>
      </p:sp>
      <p:sp>
        <p:nvSpPr>
          <p:cNvPr id="2" name="Rectangle 2">
            <a:extLst>
              <a:ext uri="{FF2B5EF4-FFF2-40B4-BE49-F238E27FC236}">
                <a16:creationId xmlns:a16="http://schemas.microsoft.com/office/drawing/2014/main" id="{F52A761C-57C9-49DE-107E-C9985903C4D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45DDB2E6-1725-2082-9307-2026B5EA0307}"/>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390909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24" grpId="0"/>
      <p:bldP spid="25" grpId="0"/>
      <p:bldP spid="2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5011A28F-5008-7C94-13E5-AF2D329A0B34}"/>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10F455FE-C9EC-0769-2F6C-D090D55ABAD5}"/>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
        <p:nvSpPr>
          <p:cNvPr id="4" name="矩形 3">
            <a:extLst>
              <a:ext uri="{FF2B5EF4-FFF2-40B4-BE49-F238E27FC236}">
                <a16:creationId xmlns:a16="http://schemas.microsoft.com/office/drawing/2014/main" id="{2555096E-B0E2-71A6-ABFA-0B233E7B7F2B}"/>
              </a:ext>
            </a:extLst>
          </p:cNvPr>
          <p:cNvSpPr/>
          <p:nvPr/>
        </p:nvSpPr>
        <p:spPr>
          <a:xfrm>
            <a:off x="1452818" y="1779662"/>
            <a:ext cx="4811485" cy="400110"/>
          </a:xfrm>
          <a:prstGeom prst="rect">
            <a:avLst/>
          </a:prstGeom>
          <a:noFill/>
          <a:ln>
            <a:noFill/>
          </a:ln>
        </p:spPr>
        <p:txBody>
          <a:bodyPr wrap="square" anchor="ctr">
            <a:spAutoFit/>
          </a:bodyPr>
          <a:lstStyle/>
          <a:p>
            <a:pPr marL="0" lvl="1">
              <a:tabLst>
                <a:tab pos="533400" algn="l"/>
              </a:tabLst>
            </a:pPr>
            <a:r>
              <a:rPr lang="zh-CN" altLang="en-US" sz="2000" dirty="0">
                <a:latin typeface="微软雅黑" pitchFamily="34" charset="-122"/>
                <a:ea typeface="微软雅黑" pitchFamily="34" charset="-122"/>
                <a:cs typeface="经典粗黑简" pitchFamily="49" charset="-122"/>
              </a:rPr>
              <a:t>影响程序运行时间的因素：</a:t>
            </a:r>
          </a:p>
        </p:txBody>
      </p:sp>
      <p:sp>
        <p:nvSpPr>
          <p:cNvPr id="5" name="矩形 4">
            <a:extLst>
              <a:ext uri="{FF2B5EF4-FFF2-40B4-BE49-F238E27FC236}">
                <a16:creationId xmlns:a16="http://schemas.microsoft.com/office/drawing/2014/main" id="{6B6BD689-B38A-6A8A-2F38-73A3D496534F}"/>
              </a:ext>
            </a:extLst>
          </p:cNvPr>
          <p:cNvSpPr/>
          <p:nvPr/>
        </p:nvSpPr>
        <p:spPr>
          <a:xfrm>
            <a:off x="2509248" y="2140040"/>
            <a:ext cx="3291839" cy="369332"/>
          </a:xfrm>
          <a:prstGeom prst="rect">
            <a:avLst/>
          </a:prstGeom>
          <a:noFill/>
          <a:ln>
            <a:noFill/>
          </a:ln>
        </p:spPr>
        <p:txBody>
          <a:bodyPr wrap="square" anchor="ctr">
            <a:spAutoFit/>
          </a:bodyPr>
          <a:lstStyle/>
          <a:p>
            <a:pPr marL="0" lvl="1">
              <a:tabLst>
                <a:tab pos="533400" algn="l"/>
              </a:tabLst>
            </a:pPr>
            <a:r>
              <a:rPr lang="en-US" altLang="zh-CN" dirty="0">
                <a:solidFill>
                  <a:srgbClr val="FF0000"/>
                </a:solidFill>
                <a:latin typeface="微软雅黑" pitchFamily="34" charset="-122"/>
                <a:ea typeface="微软雅黑" pitchFamily="34" charset="-122"/>
                <a:cs typeface="经典粗黑简" pitchFamily="49" charset="-122"/>
              </a:rPr>
              <a:t>1</a:t>
            </a:r>
            <a:r>
              <a:rPr lang="zh-CN" altLang="en-US" dirty="0">
                <a:solidFill>
                  <a:srgbClr val="FF0000"/>
                </a:solidFill>
                <a:latin typeface="微软雅黑" pitchFamily="34" charset="-122"/>
                <a:ea typeface="微软雅黑" pitchFamily="34" charset="-122"/>
                <a:cs typeface="经典粗黑简" pitchFamily="49" charset="-122"/>
              </a:rPr>
              <a:t>、算法选用的策略</a:t>
            </a:r>
          </a:p>
        </p:txBody>
      </p:sp>
      <p:sp>
        <p:nvSpPr>
          <p:cNvPr id="6" name="矩形 5">
            <a:extLst>
              <a:ext uri="{FF2B5EF4-FFF2-40B4-BE49-F238E27FC236}">
                <a16:creationId xmlns:a16="http://schemas.microsoft.com/office/drawing/2014/main" id="{3208EB21-E785-CA59-63F3-58A72AFE9873}"/>
              </a:ext>
            </a:extLst>
          </p:cNvPr>
          <p:cNvSpPr/>
          <p:nvPr/>
        </p:nvSpPr>
        <p:spPr>
          <a:xfrm>
            <a:off x="2509247" y="2535101"/>
            <a:ext cx="2133600" cy="369332"/>
          </a:xfrm>
          <a:prstGeom prst="rect">
            <a:avLst/>
          </a:prstGeom>
          <a:noFill/>
          <a:ln>
            <a:noFill/>
          </a:ln>
        </p:spPr>
        <p:txBody>
          <a:bodyPr wrap="square" anchor="ctr">
            <a:spAutoFit/>
          </a:bodyPr>
          <a:lstStyle/>
          <a:p>
            <a:pPr marL="0" lvl="1">
              <a:tabLst>
                <a:tab pos="533400" algn="l"/>
              </a:tabLst>
            </a:pPr>
            <a:r>
              <a:rPr lang="en-US" altLang="zh-CN" dirty="0">
                <a:solidFill>
                  <a:srgbClr val="FF0000"/>
                </a:solidFill>
                <a:latin typeface="微软雅黑" pitchFamily="34" charset="-122"/>
                <a:ea typeface="微软雅黑" pitchFamily="34" charset="-122"/>
                <a:cs typeface="经典粗黑简" pitchFamily="49" charset="-122"/>
              </a:rPr>
              <a:t>2</a:t>
            </a:r>
            <a:r>
              <a:rPr lang="zh-CN" altLang="en-US" dirty="0">
                <a:solidFill>
                  <a:srgbClr val="FF0000"/>
                </a:solidFill>
                <a:latin typeface="微软雅黑" pitchFamily="34" charset="-122"/>
                <a:ea typeface="微软雅黑" pitchFamily="34" charset="-122"/>
                <a:cs typeface="经典粗黑简" pitchFamily="49" charset="-122"/>
              </a:rPr>
              <a:t>、问题的规模</a:t>
            </a:r>
          </a:p>
        </p:txBody>
      </p:sp>
      <p:sp>
        <p:nvSpPr>
          <p:cNvPr id="7" name="矩形 6">
            <a:extLst>
              <a:ext uri="{FF2B5EF4-FFF2-40B4-BE49-F238E27FC236}">
                <a16:creationId xmlns:a16="http://schemas.microsoft.com/office/drawing/2014/main" id="{54918ABA-658C-6A56-05DA-E785AE20DD0E}"/>
              </a:ext>
            </a:extLst>
          </p:cNvPr>
          <p:cNvSpPr/>
          <p:nvPr/>
        </p:nvSpPr>
        <p:spPr>
          <a:xfrm>
            <a:off x="2509247" y="2930162"/>
            <a:ext cx="1798320" cy="369332"/>
          </a:xfrm>
          <a:prstGeom prst="rect">
            <a:avLst/>
          </a:prstGeom>
          <a:noFill/>
          <a:ln>
            <a:noFill/>
          </a:ln>
        </p:spPr>
        <p:txBody>
          <a:bodyPr wrap="square" anchor="ctr">
            <a:spAutoFit/>
          </a:bodyPr>
          <a:lstStyle/>
          <a:p>
            <a:pPr marL="0" lvl="1">
              <a:tabLst>
                <a:tab pos="533400" algn="l"/>
              </a:tabLst>
            </a:pPr>
            <a:r>
              <a:rPr lang="en-US" altLang="zh-CN" dirty="0">
                <a:latin typeface="微软雅黑" pitchFamily="34" charset="-122"/>
                <a:ea typeface="微软雅黑" pitchFamily="34" charset="-122"/>
                <a:cs typeface="经典粗黑简" pitchFamily="49" charset="-122"/>
              </a:rPr>
              <a:t>3</a:t>
            </a:r>
            <a:r>
              <a:rPr lang="zh-CN" altLang="en-US" dirty="0">
                <a:latin typeface="微软雅黑" pitchFamily="34" charset="-122"/>
                <a:ea typeface="微软雅黑" pitchFamily="34" charset="-122"/>
                <a:cs typeface="经典粗黑简" pitchFamily="49" charset="-122"/>
              </a:rPr>
              <a:t>、语言层次</a:t>
            </a:r>
          </a:p>
        </p:txBody>
      </p:sp>
      <p:sp>
        <p:nvSpPr>
          <p:cNvPr id="8" name="矩形 7">
            <a:extLst>
              <a:ext uri="{FF2B5EF4-FFF2-40B4-BE49-F238E27FC236}">
                <a16:creationId xmlns:a16="http://schemas.microsoft.com/office/drawing/2014/main" id="{56A7269C-74BB-9E0A-DD9A-AD14B1687FD9}"/>
              </a:ext>
            </a:extLst>
          </p:cNvPr>
          <p:cNvSpPr/>
          <p:nvPr/>
        </p:nvSpPr>
        <p:spPr>
          <a:xfrm>
            <a:off x="2509247" y="3325223"/>
            <a:ext cx="4611188" cy="369332"/>
          </a:xfrm>
          <a:prstGeom prst="rect">
            <a:avLst/>
          </a:prstGeom>
          <a:noFill/>
          <a:ln>
            <a:noFill/>
          </a:ln>
        </p:spPr>
        <p:txBody>
          <a:bodyPr wrap="square" anchor="ctr">
            <a:spAutoFit/>
          </a:bodyPr>
          <a:lstStyle/>
          <a:p>
            <a:pPr marL="0" lvl="1">
              <a:tabLst>
                <a:tab pos="533400" algn="l"/>
              </a:tabLst>
            </a:pPr>
            <a:r>
              <a:rPr lang="en-US" altLang="zh-CN" dirty="0">
                <a:latin typeface="微软雅黑" pitchFamily="34" charset="-122"/>
                <a:ea typeface="微软雅黑" pitchFamily="34" charset="-122"/>
                <a:cs typeface="经典粗黑简" pitchFamily="49" charset="-122"/>
              </a:rPr>
              <a:t>4</a:t>
            </a:r>
            <a:r>
              <a:rPr lang="zh-CN" altLang="en-US" dirty="0">
                <a:latin typeface="微软雅黑" pitchFamily="34" charset="-122"/>
                <a:ea typeface="微软雅黑" pitchFamily="34" charset="-122"/>
                <a:cs typeface="经典粗黑简" pitchFamily="49" charset="-122"/>
              </a:rPr>
              <a:t>、编译程序所产生的机器代码的质量</a:t>
            </a:r>
          </a:p>
        </p:txBody>
      </p:sp>
      <p:sp>
        <p:nvSpPr>
          <p:cNvPr id="11" name="矩形 10">
            <a:extLst>
              <a:ext uri="{FF2B5EF4-FFF2-40B4-BE49-F238E27FC236}">
                <a16:creationId xmlns:a16="http://schemas.microsoft.com/office/drawing/2014/main" id="{9D3C3B39-3505-0422-50FC-982F50D75064}"/>
              </a:ext>
            </a:extLst>
          </p:cNvPr>
          <p:cNvSpPr/>
          <p:nvPr/>
        </p:nvSpPr>
        <p:spPr>
          <a:xfrm>
            <a:off x="2509247" y="3720283"/>
            <a:ext cx="4611188" cy="369332"/>
          </a:xfrm>
          <a:prstGeom prst="rect">
            <a:avLst/>
          </a:prstGeom>
          <a:noFill/>
          <a:ln>
            <a:noFill/>
          </a:ln>
        </p:spPr>
        <p:txBody>
          <a:bodyPr wrap="square" anchor="ctr">
            <a:spAutoFit/>
          </a:bodyPr>
          <a:lstStyle/>
          <a:p>
            <a:pPr marL="0" lvl="1">
              <a:tabLst>
                <a:tab pos="533400" algn="l"/>
              </a:tabLst>
            </a:pPr>
            <a:r>
              <a:rPr lang="en-US" altLang="zh-CN" dirty="0">
                <a:latin typeface="微软雅黑" pitchFamily="34" charset="-122"/>
                <a:ea typeface="微软雅黑" pitchFamily="34" charset="-122"/>
                <a:cs typeface="经典粗黑简" pitchFamily="49" charset="-122"/>
              </a:rPr>
              <a:t>5</a:t>
            </a:r>
            <a:r>
              <a:rPr lang="zh-CN" altLang="en-US" dirty="0">
                <a:latin typeface="微软雅黑" pitchFamily="34" charset="-122"/>
                <a:ea typeface="微软雅黑" pitchFamily="34" charset="-122"/>
                <a:cs typeface="经典粗黑简" pitchFamily="49" charset="-122"/>
              </a:rPr>
              <a:t>、机器执行指令的速度</a:t>
            </a:r>
          </a:p>
        </p:txBody>
      </p:sp>
      <p:sp>
        <p:nvSpPr>
          <p:cNvPr id="14" name="矩形 4">
            <a:extLst>
              <a:ext uri="{FF2B5EF4-FFF2-40B4-BE49-F238E27FC236}">
                <a16:creationId xmlns:a16="http://schemas.microsoft.com/office/drawing/2014/main" id="{6DCE6064-4BB9-97D1-100D-83643FFD238E}"/>
              </a:ext>
            </a:extLst>
          </p:cNvPr>
          <p:cNvSpPr>
            <a:spLocks noChangeArrowheads="1"/>
          </p:cNvSpPr>
          <p:nvPr/>
        </p:nvSpPr>
        <p:spPr bwMode="auto">
          <a:xfrm>
            <a:off x="372697" y="4012248"/>
            <a:ext cx="8052133" cy="70788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sym typeface="Wingdings" pitchFamily="2" charset="2"/>
              </a:rPr>
              <a:t>       </a:t>
            </a:r>
            <a:r>
              <a:rPr lang="zh-CN" altLang="en-US" sz="2000" dirty="0">
                <a:latin typeface="楷体_GB2312" pitchFamily="49" charset="-122"/>
                <a:ea typeface="楷体_GB2312" pitchFamily="49" charset="-122"/>
                <a:cs typeface="经典粗黑简" pitchFamily="49" charset="-122"/>
                <a:sym typeface="Wingdings" pitchFamily="2" charset="2"/>
              </a:rPr>
              <a:t>同一个算法用不同的语言、不同的编译程序、在不同的计算机上运行，效率均不同，所以使用绝对时间单位衡量算法效率不合适。</a:t>
            </a:r>
          </a:p>
        </p:txBody>
      </p:sp>
    </p:spTree>
    <p:extLst>
      <p:ext uri="{BB962C8B-B14F-4D97-AF65-F5344CB8AC3E}">
        <p14:creationId xmlns:p14="http://schemas.microsoft.com/office/powerpoint/2010/main" val="210528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1" grpId="0"/>
      <p:bldP spid="1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291870" y="1437624"/>
            <a:ext cx="6836230" cy="369332"/>
          </a:xfrm>
          <a:prstGeom prst="rect">
            <a:avLst/>
          </a:prstGeom>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rPr>
              <a:t>一个算法“运行”所耗费的时间</a:t>
            </a:r>
            <a:r>
              <a:rPr lang="en-US" altLang="zh-CN" dirty="0">
                <a:latin typeface="微软雅黑" pitchFamily="34" charset="-122"/>
                <a:ea typeface="微软雅黑" pitchFamily="34" charset="-122"/>
                <a:cs typeface="经典粗黑简" pitchFamily="49" charset="-122"/>
              </a:rPr>
              <a:t>=</a:t>
            </a:r>
            <a:r>
              <a:rPr lang="zh-CN" altLang="en-US" dirty="0">
                <a:latin typeface="微软雅黑" pitchFamily="34" charset="-122"/>
                <a:ea typeface="微软雅黑" pitchFamily="34" charset="-122"/>
                <a:cs typeface="经典粗黑简" pitchFamily="49" charset="-122"/>
              </a:rPr>
              <a:t>算法中</a:t>
            </a:r>
            <a:r>
              <a:rPr lang="zh-CN" altLang="en-US" dirty="0">
                <a:solidFill>
                  <a:srgbClr val="FF0000"/>
                </a:solidFill>
                <a:latin typeface="微软雅黑" pitchFamily="34" charset="-122"/>
                <a:ea typeface="微软雅黑" pitchFamily="34" charset="-122"/>
                <a:cs typeface="经典粗黑简" pitchFamily="49" charset="-122"/>
              </a:rPr>
              <a:t>每条语句的执行时间</a:t>
            </a:r>
            <a:r>
              <a:rPr lang="zh-CN" altLang="en-US" dirty="0">
                <a:latin typeface="微软雅黑" pitchFamily="34" charset="-122"/>
                <a:ea typeface="微软雅黑" pitchFamily="34" charset="-122"/>
                <a:cs typeface="经典粗黑简" pitchFamily="49" charset="-122"/>
              </a:rPr>
              <a:t>之和</a:t>
            </a:r>
          </a:p>
        </p:txBody>
      </p:sp>
      <p:sp>
        <p:nvSpPr>
          <p:cNvPr id="15" name="Text Box 5"/>
          <p:cNvSpPr txBox="1">
            <a:spLocks noChangeArrowheads="1"/>
          </p:cNvSpPr>
          <p:nvPr/>
        </p:nvSpPr>
        <p:spPr bwMode="auto">
          <a:xfrm>
            <a:off x="107504" y="2153080"/>
            <a:ext cx="8168640" cy="30469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pPr lvl="0" indent="269875" fontAlgn="base">
              <a:spcBef>
                <a:spcPct val="0"/>
              </a:spcBef>
              <a:spcAft>
                <a:spcPct val="0"/>
              </a:spcAft>
            </a:pPr>
            <a:r>
              <a:rPr lang="en-US" altLang="zh-CN" sz="1600" dirty="0"/>
              <a:t>【</a:t>
            </a:r>
            <a:r>
              <a:rPr lang="zh-CN" altLang="en-US" sz="1600" dirty="0"/>
              <a:t>例</a:t>
            </a:r>
            <a:r>
              <a:rPr lang="en-US" altLang="zh-CN" sz="1600" dirty="0"/>
              <a:t>】</a:t>
            </a:r>
            <a:r>
              <a:rPr lang="zh-CN" altLang="zh-CN" sz="1600" dirty="0"/>
              <a:t>求两个n阶方阵的乘积C=A×B,其算法如下:</a:t>
            </a:r>
          </a:p>
          <a:p>
            <a:pPr lvl="0" indent="269875" eaLnBrk="0" fontAlgn="base" hangingPunct="0">
              <a:spcBef>
                <a:spcPct val="0"/>
              </a:spcBef>
              <a:spcAft>
                <a:spcPct val="0"/>
              </a:spcAft>
            </a:pPr>
            <a:r>
              <a:rPr lang="zh-CN" altLang="zh-CN" sz="1600" dirty="0"/>
              <a:t>#define n 10 // n可根据需要定义,这里假定为10</a:t>
            </a:r>
          </a:p>
          <a:p>
            <a:pPr lvl="0" indent="269875" eaLnBrk="0" fontAlgn="base" hangingPunct="0">
              <a:spcBef>
                <a:spcPct val="0"/>
              </a:spcBef>
              <a:spcAft>
                <a:spcPct val="0"/>
              </a:spcAft>
            </a:pPr>
            <a:r>
              <a:rPr lang="en-US" altLang="zh-CN" sz="1600" dirty="0"/>
              <a:t>void </a:t>
            </a:r>
            <a:r>
              <a:rPr lang="en-US" altLang="zh-CN" sz="1600" dirty="0" err="1"/>
              <a:t>mTimes</a:t>
            </a:r>
            <a:r>
              <a:rPr lang="en-US" altLang="zh-CN" sz="1600" dirty="0"/>
              <a:t>(</a:t>
            </a:r>
            <a:r>
              <a:rPr lang="en-US" altLang="zh-CN" sz="1600" dirty="0" err="1"/>
              <a:t>int</a:t>
            </a:r>
            <a:r>
              <a:rPr lang="en-US" altLang="zh-CN" sz="1600" dirty="0"/>
              <a:t> A[n][n]</a:t>
            </a:r>
            <a:r>
              <a:rPr lang="zh-CN" altLang="en-US" sz="1600" dirty="0"/>
              <a:t>，</a:t>
            </a:r>
            <a:r>
              <a:rPr lang="en-US" altLang="zh-CN" sz="1600" dirty="0" err="1"/>
              <a:t>int</a:t>
            </a:r>
            <a:r>
              <a:rPr lang="en-US" altLang="zh-CN" sz="1600" dirty="0"/>
              <a:t> B[n][n]</a:t>
            </a:r>
            <a:r>
              <a:rPr lang="zh-CN" altLang="en-US" sz="1600" dirty="0"/>
              <a:t>，</a:t>
            </a:r>
            <a:r>
              <a:rPr lang="en-US" altLang="zh-CN" sz="1600" dirty="0" err="1"/>
              <a:t>int</a:t>
            </a:r>
            <a:r>
              <a:rPr lang="en-US" altLang="zh-CN" sz="1600" dirty="0"/>
              <a:t> C[n][n])</a:t>
            </a:r>
          </a:p>
          <a:p>
            <a:pPr lvl="0" indent="269875" eaLnBrk="0" fontAlgn="base" hangingPunct="0">
              <a:spcBef>
                <a:spcPct val="0"/>
              </a:spcBef>
              <a:spcAft>
                <a:spcPct val="0"/>
              </a:spcAft>
            </a:pPr>
            <a:r>
              <a:rPr lang="en-US" altLang="zh-CN" sz="1600" dirty="0"/>
              <a:t>{                          //</a:t>
            </a:r>
            <a:r>
              <a:rPr lang="zh-CN" altLang="en-US" sz="1600" dirty="0"/>
              <a:t>右边列为各语句的频度</a:t>
            </a: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zh-CN" altLang="en-US" sz="1600" dirty="0"/>
          </a:p>
          <a:p>
            <a:pPr lvl="0" indent="269875" eaLnBrk="0" fontAlgn="base" hangingPunct="0">
              <a:spcBef>
                <a:spcPct val="0"/>
              </a:spcBef>
              <a:spcAft>
                <a:spcPct val="0"/>
              </a:spcAft>
            </a:pPr>
            <a:r>
              <a:rPr lang="en-US" altLang="zh-CN" sz="1600" dirty="0"/>
              <a:t>}}}</a:t>
            </a:r>
          </a:p>
        </p:txBody>
      </p:sp>
      <p:sp>
        <p:nvSpPr>
          <p:cNvPr id="18" name="矩形 17"/>
          <p:cNvSpPr/>
          <p:nvPr/>
        </p:nvSpPr>
        <p:spPr>
          <a:xfrm>
            <a:off x="1352833" y="1769889"/>
            <a:ext cx="7210694" cy="369332"/>
          </a:xfrm>
          <a:prstGeom prst="rect">
            <a:avLst/>
          </a:prstGeom>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rPr>
              <a:t>每条语句的执行时间</a:t>
            </a:r>
            <a:r>
              <a:rPr lang="en-US" altLang="zh-CN" dirty="0">
                <a:latin typeface="微软雅黑" pitchFamily="34" charset="-122"/>
                <a:ea typeface="微软雅黑" pitchFamily="34" charset="-122"/>
                <a:cs typeface="经典粗黑简" pitchFamily="49" charset="-122"/>
              </a:rPr>
              <a:t>=</a:t>
            </a:r>
            <a:r>
              <a:rPr lang="zh-CN" altLang="en-US" u="sng" dirty="0">
                <a:latin typeface="微软雅黑" pitchFamily="34" charset="-122"/>
                <a:ea typeface="微软雅黑" pitchFamily="34" charset="-122"/>
                <a:cs typeface="经典粗黑简" pitchFamily="49" charset="-122"/>
              </a:rPr>
              <a:t>语句的执行次数</a:t>
            </a:r>
            <a:r>
              <a:rPr lang="en-US" altLang="zh-CN" dirty="0">
                <a:latin typeface="微软雅黑" pitchFamily="34" charset="-122"/>
                <a:ea typeface="微软雅黑" pitchFamily="34" charset="-122"/>
                <a:cs typeface="经典粗黑简" pitchFamily="49" charset="-122"/>
              </a:rPr>
              <a:t>×</a:t>
            </a:r>
            <a:r>
              <a:rPr lang="zh-CN" altLang="en-US" dirty="0">
                <a:latin typeface="微软雅黑" pitchFamily="34" charset="-122"/>
                <a:ea typeface="微软雅黑" pitchFamily="34" charset="-122"/>
                <a:cs typeface="经典粗黑简" pitchFamily="49" charset="-122"/>
              </a:rPr>
              <a:t>语句执行一次所需时间</a:t>
            </a:r>
          </a:p>
        </p:txBody>
      </p:sp>
      <p:sp>
        <p:nvSpPr>
          <p:cNvPr id="19" name="矩形 18"/>
          <p:cNvSpPr/>
          <p:nvPr/>
        </p:nvSpPr>
        <p:spPr>
          <a:xfrm>
            <a:off x="5833432" y="2302784"/>
            <a:ext cx="3145348" cy="369332"/>
          </a:xfrm>
          <a:prstGeom prst="rect">
            <a:avLst/>
          </a:prstGeom>
        </p:spPr>
        <p:txBody>
          <a:bodyPr wrap="none">
            <a:spAutoFit/>
          </a:bodyPr>
          <a:lstStyle/>
          <a:p>
            <a:r>
              <a:rPr lang="zh-CN" altLang="en-US" dirty="0">
                <a:solidFill>
                  <a:srgbClr val="FF0000"/>
                </a:solidFill>
                <a:latin typeface="微软雅黑" pitchFamily="34" charset="-122"/>
                <a:ea typeface="微软雅黑" pitchFamily="34" charset="-122"/>
                <a:cs typeface="经典粗黑简" pitchFamily="49" charset="-122"/>
              </a:rPr>
              <a:t>语句频度</a:t>
            </a:r>
            <a:r>
              <a:rPr lang="en-US" altLang="zh-CN" dirty="0">
                <a:latin typeface="微软雅黑" pitchFamily="34" charset="-122"/>
                <a:ea typeface="微软雅黑" pitchFamily="34" charset="-122"/>
                <a:cs typeface="经典粗黑简" pitchFamily="49" charset="-122"/>
              </a:rPr>
              <a:t>(Frequency Count)</a:t>
            </a:r>
            <a:endParaRPr lang="zh-CN" altLang="en-US" dirty="0"/>
          </a:p>
        </p:txBody>
      </p:sp>
      <p:sp>
        <p:nvSpPr>
          <p:cNvPr id="21" name="矩形标注 20"/>
          <p:cNvSpPr/>
          <p:nvPr/>
        </p:nvSpPr>
        <p:spPr>
          <a:xfrm>
            <a:off x="5717842" y="2225747"/>
            <a:ext cx="3255966" cy="431074"/>
          </a:xfrm>
          <a:prstGeom prst="wedgeRectCallout">
            <a:avLst>
              <a:gd name="adj1" fmla="val -72295"/>
              <a:gd name="adj2" fmla="val -103205"/>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表格 21"/>
          <p:cNvGraphicFramePr>
            <a:graphicFrameLocks noGrp="1"/>
          </p:cNvGraphicFramePr>
          <p:nvPr>
            <p:extLst>
              <p:ext uri="{D42A27DB-BD31-4B8C-83A1-F6EECF244321}">
                <p14:modId xmlns:p14="http://schemas.microsoft.com/office/powerpoint/2010/main" val="3774237846"/>
              </p:ext>
            </p:extLst>
          </p:nvPr>
        </p:nvGraphicFramePr>
        <p:xfrm>
          <a:off x="975770" y="3018852"/>
          <a:ext cx="5108399" cy="1097280"/>
        </p:xfrm>
        <a:graphic>
          <a:graphicData uri="http://schemas.openxmlformats.org/drawingml/2006/table">
            <a:tbl>
              <a:tblPr>
                <a:tableStyleId>{5C22544A-7EE6-4342-B048-85BDC9FD1C3A}</a:tableStyleId>
              </a:tblPr>
              <a:tblGrid>
                <a:gridCol w="3711195">
                  <a:extLst>
                    <a:ext uri="{9D8B030D-6E8A-4147-A177-3AD203B41FA5}">
                      <a16:colId xmlns:a16="http://schemas.microsoft.com/office/drawing/2014/main" val="20000"/>
                    </a:ext>
                  </a:extLst>
                </a:gridCol>
                <a:gridCol w="1397204">
                  <a:extLst>
                    <a:ext uri="{9D8B030D-6E8A-4147-A177-3AD203B41FA5}">
                      <a16:colId xmlns:a16="http://schemas.microsoft.com/office/drawing/2014/main" val="20001"/>
                    </a:ext>
                  </a:extLst>
                </a:gridCol>
              </a:tblGrid>
              <a:tr h="182880">
                <a:tc>
                  <a:txBody>
                    <a:bodyPr/>
                    <a:lstStyle/>
                    <a:p>
                      <a:pPr algn="just">
                        <a:spcAft>
                          <a:spcPts val="0"/>
                        </a:spcAft>
                      </a:pPr>
                      <a:r>
                        <a:rPr lang="en-US" sz="1200" kern="1200" dirty="0" err="1">
                          <a:solidFill>
                            <a:schemeClr val="tx1"/>
                          </a:solidFill>
                          <a:latin typeface="微软雅黑" pitchFamily="34" charset="-122"/>
                          <a:ea typeface="微软雅黑" pitchFamily="34" charset="-122"/>
                          <a:cs typeface="经典粗黑简" pitchFamily="49" charset="-122"/>
                        </a:rPr>
                        <a:t>int</a:t>
                      </a:r>
                      <a:r>
                        <a:rPr lang="en-US" sz="1200" kern="1200" dirty="0">
                          <a:solidFill>
                            <a:schemeClr val="tx1"/>
                          </a:solidFill>
                          <a:latin typeface="微软雅黑" pitchFamily="34" charset="-122"/>
                          <a:ea typeface="微软雅黑" pitchFamily="34" charset="-122"/>
                          <a:cs typeface="经典粗黑简" pitchFamily="49" charset="-122"/>
                        </a:rPr>
                        <a:t> i ,j ,k;</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zh-CN" sz="1200" kern="1200" dirty="0">
                          <a:solidFill>
                            <a:schemeClr val="tx1"/>
                          </a:solidFill>
                          <a:latin typeface="楷体_GB2312" pitchFamily="49" charset="-122"/>
                          <a:ea typeface="楷体_GB2312" pitchFamily="49" charset="-122"/>
                          <a:cs typeface="经典粗黑简" pitchFamily="49" charset="-122"/>
                        </a:rPr>
                        <a:t>语句频度</a:t>
                      </a:r>
                    </a:p>
                  </a:txBody>
                  <a:tcPr marL="68580" marR="68580" marT="0" marB="0">
                    <a:noFill/>
                  </a:tcPr>
                </a:tc>
                <a:extLst>
                  <a:ext uri="{0D108BD9-81ED-4DB2-BD59-A6C34878D82A}">
                    <a16:rowId xmlns:a16="http://schemas.microsoft.com/office/drawing/2014/main" val="10000"/>
                  </a:ext>
                </a:extLst>
              </a:tr>
              <a:tr h="182880">
                <a:tc>
                  <a:txBody>
                    <a:bodyPr/>
                    <a:lstStyle/>
                    <a:p>
                      <a:pPr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for(i=0; i&lt;n; i++) {</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n+1</a:t>
                      </a:r>
                      <a:endParaRPr lang="zh-CN" sz="1200" kern="12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1"/>
                  </a:ext>
                </a:extLst>
              </a:tr>
              <a:tr h="182880">
                <a:tc>
                  <a:txBody>
                    <a:bodyPr/>
                    <a:lstStyle/>
                    <a:p>
                      <a:pPr indent="266700"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for(j=0; j</a:t>
                      </a:r>
                      <a:r>
                        <a:rPr lang="zh-CN" sz="1200" kern="1200" dirty="0">
                          <a:solidFill>
                            <a:schemeClr val="tx1"/>
                          </a:solidFill>
                          <a:latin typeface="微软雅黑" pitchFamily="34" charset="-122"/>
                          <a:ea typeface="微软雅黑" pitchFamily="34" charset="-122"/>
                          <a:cs typeface="经典粗黑简" pitchFamily="49" charset="-122"/>
                        </a:rPr>
                        <a:t>＜</a:t>
                      </a:r>
                      <a:r>
                        <a:rPr lang="en-US" sz="1200" kern="1200" dirty="0">
                          <a:solidFill>
                            <a:schemeClr val="tx1"/>
                          </a:solidFill>
                          <a:latin typeface="微软雅黑" pitchFamily="34" charset="-122"/>
                          <a:ea typeface="微软雅黑" pitchFamily="34" charset="-122"/>
                          <a:cs typeface="经典粗黑简" pitchFamily="49" charset="-122"/>
                        </a:rPr>
                        <a:t>n; j++){</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n(n+1)</a:t>
                      </a:r>
                      <a:endParaRPr lang="zh-CN" sz="1200" kern="12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2"/>
                  </a:ext>
                </a:extLst>
              </a:tr>
              <a:tr h="182880">
                <a:tc>
                  <a:txBody>
                    <a:bodyPr/>
                    <a:lstStyle/>
                    <a:p>
                      <a:pPr indent="533400"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C[i][j]=0;</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a:t>
                      </a:r>
                      <a:r>
                        <a:rPr lang="en-US" sz="1200" kern="1200" baseline="30000" dirty="0">
                          <a:solidFill>
                            <a:schemeClr val="tx1"/>
                          </a:solidFill>
                          <a:latin typeface="楷体_GB2312" pitchFamily="49" charset="-122"/>
                          <a:ea typeface="楷体_GB2312" pitchFamily="49" charset="-122"/>
                          <a:cs typeface="经典粗黑简" pitchFamily="49" charset="-122"/>
                        </a:rPr>
                        <a:t>2</a:t>
                      </a:r>
                      <a:endParaRPr lang="zh-CN" sz="1200" kern="1200" baseline="300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3"/>
                  </a:ext>
                </a:extLst>
              </a:tr>
              <a:tr h="182880">
                <a:tc>
                  <a:txBody>
                    <a:bodyPr/>
                    <a:lstStyle/>
                    <a:p>
                      <a:pPr indent="533400"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for(k=0; k</a:t>
                      </a:r>
                      <a:r>
                        <a:rPr lang="zh-CN" sz="1200" kern="1200" dirty="0">
                          <a:solidFill>
                            <a:schemeClr val="tx1"/>
                          </a:solidFill>
                          <a:latin typeface="微软雅黑" pitchFamily="34" charset="-122"/>
                          <a:ea typeface="微软雅黑" pitchFamily="34" charset="-122"/>
                          <a:cs typeface="经典粗黑简" pitchFamily="49" charset="-122"/>
                        </a:rPr>
                        <a:t>＜</a:t>
                      </a:r>
                      <a:r>
                        <a:rPr lang="en-US" sz="1200" kern="1200" dirty="0">
                          <a:solidFill>
                            <a:schemeClr val="tx1"/>
                          </a:solidFill>
                          <a:latin typeface="微软雅黑" pitchFamily="34" charset="-122"/>
                          <a:ea typeface="微软雅黑" pitchFamily="34" charset="-122"/>
                          <a:cs typeface="经典粗黑简" pitchFamily="49" charset="-122"/>
                        </a:rPr>
                        <a:t>n; k++) </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a:t>
                      </a:r>
                      <a:r>
                        <a:rPr lang="en-US" sz="1200" kern="1200" baseline="30000" dirty="0">
                          <a:solidFill>
                            <a:schemeClr val="tx1"/>
                          </a:solidFill>
                          <a:latin typeface="楷体_GB2312" pitchFamily="49" charset="-122"/>
                          <a:ea typeface="楷体_GB2312" pitchFamily="49" charset="-122"/>
                          <a:cs typeface="经典粗黑简" pitchFamily="49" charset="-122"/>
                        </a:rPr>
                        <a:t>2</a:t>
                      </a:r>
                      <a:r>
                        <a:rPr lang="en-US" sz="1200" kern="1200" dirty="0">
                          <a:solidFill>
                            <a:schemeClr val="tx1"/>
                          </a:solidFill>
                          <a:latin typeface="楷体_GB2312" pitchFamily="49" charset="-122"/>
                          <a:ea typeface="楷体_GB2312" pitchFamily="49" charset="-122"/>
                          <a:cs typeface="经典粗黑简" pitchFamily="49" charset="-122"/>
                        </a:rPr>
                        <a:t>(n+1)</a:t>
                      </a:r>
                      <a:endParaRPr lang="zh-CN" sz="1200" kern="12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4"/>
                  </a:ext>
                </a:extLst>
              </a:tr>
              <a:tr h="182880">
                <a:tc>
                  <a:txBody>
                    <a:bodyPr/>
                    <a:lstStyle/>
                    <a:p>
                      <a:pPr indent="800100"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C[i][j]=C[i][j]+A[i][k]*B[k][j];</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a:t>
                      </a:r>
                      <a:r>
                        <a:rPr lang="en-US" sz="1200" kern="1200" baseline="30000" dirty="0">
                          <a:solidFill>
                            <a:schemeClr val="tx1"/>
                          </a:solidFill>
                          <a:latin typeface="楷体_GB2312" pitchFamily="49" charset="-122"/>
                          <a:ea typeface="楷体_GB2312" pitchFamily="49" charset="-122"/>
                          <a:cs typeface="经典粗黑简" pitchFamily="49" charset="-122"/>
                        </a:rPr>
                        <a:t>3</a:t>
                      </a:r>
                      <a:endParaRPr lang="zh-CN" sz="1200" kern="1200" baseline="300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5"/>
                  </a:ext>
                </a:extLst>
              </a:tr>
            </a:tbl>
          </a:graphicData>
        </a:graphic>
      </p:graphicFrame>
      <p:sp>
        <p:nvSpPr>
          <p:cNvPr id="23" name="Rectangle 1"/>
          <p:cNvSpPr>
            <a:spLocks noChangeArrowheads="1"/>
          </p:cNvSpPr>
          <p:nvPr/>
        </p:nvSpPr>
        <p:spPr bwMode="auto">
          <a:xfrm>
            <a:off x="6156176" y="2802623"/>
            <a:ext cx="3130804" cy="147732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rPr>
              <a:t>       算法转换为程序后，每条语句执行一次所需的时间取决于机器的指令性能、速度以及编译所产生的代码质量等难以确定的因素。</a:t>
            </a:r>
          </a:p>
        </p:txBody>
      </p:sp>
      <p:sp>
        <p:nvSpPr>
          <p:cNvPr id="27" name="矩形 26"/>
          <p:cNvSpPr/>
          <p:nvPr/>
        </p:nvSpPr>
        <p:spPr>
          <a:xfrm>
            <a:off x="1619672" y="4191930"/>
            <a:ext cx="7344554" cy="923330"/>
          </a:xfrm>
          <a:prstGeom prst="rect">
            <a:avLst/>
          </a:prstGeom>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rPr>
              <a:t>       若要独立于机器的软、硬件系统来分析算法的时间耗费，则设每条语句执行一次所需的时间均是一个单位时间，于是</a:t>
            </a:r>
            <a:r>
              <a:rPr lang="zh-CN" altLang="en-US" dirty="0">
                <a:solidFill>
                  <a:srgbClr val="FF0000"/>
                </a:solidFill>
                <a:latin typeface="微软雅黑" pitchFamily="34" charset="-122"/>
                <a:ea typeface="微软雅黑" pitchFamily="34" charset="-122"/>
                <a:cs typeface="经典粗黑简" pitchFamily="49" charset="-122"/>
              </a:rPr>
              <a:t>一个算法的时间耗费就是该算法中所有语句的频度之和</a:t>
            </a:r>
            <a:r>
              <a:rPr lang="zh-CN" altLang="en-US" dirty="0">
                <a:latin typeface="微软雅黑" pitchFamily="34" charset="-122"/>
                <a:ea typeface="微软雅黑" pitchFamily="34" charset="-122"/>
                <a:cs typeface="经典粗黑简" pitchFamily="49" charset="-122"/>
              </a:rPr>
              <a:t>。 </a:t>
            </a:r>
          </a:p>
        </p:txBody>
      </p:sp>
      <p:sp>
        <p:nvSpPr>
          <p:cNvPr id="2" name="Rectangle 2">
            <a:extLst>
              <a:ext uri="{FF2B5EF4-FFF2-40B4-BE49-F238E27FC236}">
                <a16:creationId xmlns:a16="http://schemas.microsoft.com/office/drawing/2014/main" id="{CAB54D75-03E0-B8A9-21A5-6953C66001AB}"/>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3F85F2B6-14C0-652E-B010-5441EEA39637}"/>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176971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19" grpId="0"/>
      <p:bldP spid="21" grpId="0" animBg="1"/>
      <p:bldP spid="23" grpId="0"/>
      <p:bldP spid="2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291870" y="1437624"/>
            <a:ext cx="6836230" cy="369332"/>
          </a:xfrm>
          <a:prstGeom prst="rect">
            <a:avLst/>
          </a:prstGeom>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rPr>
              <a:t>一个算法“运行”所耗费的时间</a:t>
            </a:r>
            <a:r>
              <a:rPr lang="en-US" altLang="zh-CN" dirty="0">
                <a:latin typeface="微软雅黑" pitchFamily="34" charset="-122"/>
                <a:ea typeface="微软雅黑" pitchFamily="34" charset="-122"/>
                <a:cs typeface="经典粗黑简" pitchFamily="49" charset="-122"/>
              </a:rPr>
              <a:t>=</a:t>
            </a:r>
            <a:r>
              <a:rPr lang="zh-CN" altLang="en-US" dirty="0">
                <a:latin typeface="微软雅黑" pitchFamily="34" charset="-122"/>
                <a:ea typeface="微软雅黑" pitchFamily="34" charset="-122"/>
                <a:cs typeface="经典粗黑简" pitchFamily="49" charset="-122"/>
              </a:rPr>
              <a:t>算法中</a:t>
            </a:r>
            <a:r>
              <a:rPr lang="zh-CN" altLang="en-US" dirty="0">
                <a:solidFill>
                  <a:srgbClr val="FF0000"/>
                </a:solidFill>
                <a:latin typeface="微软雅黑" pitchFamily="34" charset="-122"/>
                <a:ea typeface="微软雅黑" pitchFamily="34" charset="-122"/>
                <a:cs typeface="经典粗黑简" pitchFamily="49" charset="-122"/>
              </a:rPr>
              <a:t>每条语句的执行时间</a:t>
            </a:r>
            <a:r>
              <a:rPr lang="zh-CN" altLang="en-US" dirty="0">
                <a:latin typeface="微软雅黑" pitchFamily="34" charset="-122"/>
                <a:ea typeface="微软雅黑" pitchFamily="34" charset="-122"/>
                <a:cs typeface="经典粗黑简" pitchFamily="49" charset="-122"/>
              </a:rPr>
              <a:t>之和</a:t>
            </a:r>
          </a:p>
        </p:txBody>
      </p:sp>
      <p:sp>
        <p:nvSpPr>
          <p:cNvPr id="16" name="Text Box 5"/>
          <p:cNvSpPr txBox="1">
            <a:spLocks noChangeArrowheads="1"/>
          </p:cNvSpPr>
          <p:nvPr/>
        </p:nvSpPr>
        <p:spPr bwMode="auto">
          <a:xfrm>
            <a:off x="107504" y="2084109"/>
            <a:ext cx="8168640" cy="30469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pPr lvl="0" indent="269875" fontAlgn="base">
              <a:spcBef>
                <a:spcPct val="0"/>
              </a:spcBef>
              <a:spcAft>
                <a:spcPct val="0"/>
              </a:spcAft>
            </a:pPr>
            <a:r>
              <a:rPr lang="en-US" altLang="zh-CN" sz="1600" dirty="0"/>
              <a:t>【</a:t>
            </a:r>
            <a:r>
              <a:rPr lang="zh-CN" altLang="en-US" sz="1600" dirty="0"/>
              <a:t>例</a:t>
            </a:r>
            <a:r>
              <a:rPr lang="en-US" altLang="zh-CN" sz="1600" dirty="0"/>
              <a:t>】</a:t>
            </a:r>
            <a:r>
              <a:rPr lang="zh-CN" altLang="zh-CN" sz="1600" dirty="0"/>
              <a:t>求两个n阶方阵的乘积C=A×B,其算法如下:</a:t>
            </a:r>
          </a:p>
          <a:p>
            <a:pPr lvl="0" indent="269875" eaLnBrk="0" fontAlgn="base" hangingPunct="0">
              <a:spcBef>
                <a:spcPct val="0"/>
              </a:spcBef>
              <a:spcAft>
                <a:spcPct val="0"/>
              </a:spcAft>
            </a:pPr>
            <a:r>
              <a:rPr lang="zh-CN" altLang="zh-CN" sz="1600" dirty="0"/>
              <a:t>#define n 10 // n可根据需要定义,这里假定为10</a:t>
            </a:r>
          </a:p>
          <a:p>
            <a:pPr lvl="0" indent="269875" eaLnBrk="0" fontAlgn="base" hangingPunct="0">
              <a:spcBef>
                <a:spcPct val="0"/>
              </a:spcBef>
              <a:spcAft>
                <a:spcPct val="0"/>
              </a:spcAft>
            </a:pPr>
            <a:r>
              <a:rPr lang="en-US" altLang="zh-CN" sz="1600" dirty="0"/>
              <a:t>void </a:t>
            </a:r>
            <a:r>
              <a:rPr lang="en-US" altLang="zh-CN" sz="1600" dirty="0" err="1"/>
              <a:t>mTimes</a:t>
            </a:r>
            <a:r>
              <a:rPr lang="en-US" altLang="zh-CN" sz="1600" dirty="0"/>
              <a:t>(</a:t>
            </a:r>
            <a:r>
              <a:rPr lang="en-US" altLang="zh-CN" sz="1600" dirty="0" err="1"/>
              <a:t>int</a:t>
            </a:r>
            <a:r>
              <a:rPr lang="en-US" altLang="zh-CN" sz="1600" dirty="0"/>
              <a:t> A[n][n]</a:t>
            </a:r>
            <a:r>
              <a:rPr lang="zh-CN" altLang="en-US" sz="1600" dirty="0"/>
              <a:t>，</a:t>
            </a:r>
            <a:r>
              <a:rPr lang="en-US" altLang="zh-CN" sz="1600" dirty="0" err="1"/>
              <a:t>int</a:t>
            </a:r>
            <a:r>
              <a:rPr lang="en-US" altLang="zh-CN" sz="1600" dirty="0"/>
              <a:t> B[n][n]</a:t>
            </a:r>
            <a:r>
              <a:rPr lang="zh-CN" altLang="en-US" sz="1600" dirty="0"/>
              <a:t>，</a:t>
            </a:r>
            <a:r>
              <a:rPr lang="en-US" altLang="zh-CN" sz="1600" dirty="0" err="1"/>
              <a:t>int</a:t>
            </a:r>
            <a:r>
              <a:rPr lang="en-US" altLang="zh-CN" sz="1600" dirty="0"/>
              <a:t> C[n][n])</a:t>
            </a:r>
          </a:p>
          <a:p>
            <a:pPr lvl="0" indent="269875" eaLnBrk="0" fontAlgn="base" hangingPunct="0">
              <a:spcBef>
                <a:spcPct val="0"/>
              </a:spcBef>
              <a:spcAft>
                <a:spcPct val="0"/>
              </a:spcAft>
            </a:pPr>
            <a:r>
              <a:rPr lang="en-US" altLang="zh-CN" sz="1600" dirty="0"/>
              <a:t>{                      //</a:t>
            </a:r>
            <a:r>
              <a:rPr lang="zh-CN" altLang="en-US" sz="1600" dirty="0"/>
              <a:t>右边列为各语句的频度</a:t>
            </a: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en-US" altLang="zh-CN" sz="1600" dirty="0"/>
          </a:p>
          <a:p>
            <a:pPr lvl="0" indent="269875" eaLnBrk="0" fontAlgn="base" hangingPunct="0">
              <a:spcBef>
                <a:spcPct val="0"/>
              </a:spcBef>
              <a:spcAft>
                <a:spcPct val="0"/>
              </a:spcAft>
            </a:pPr>
            <a:endParaRPr lang="zh-CN" altLang="en-US" sz="1600" dirty="0"/>
          </a:p>
          <a:p>
            <a:pPr lvl="0" indent="269875" eaLnBrk="0" fontAlgn="base" hangingPunct="0">
              <a:spcBef>
                <a:spcPct val="0"/>
              </a:spcBef>
              <a:spcAft>
                <a:spcPct val="0"/>
              </a:spcAft>
            </a:pPr>
            <a:r>
              <a:rPr lang="en-US" altLang="zh-CN" sz="1600" dirty="0"/>
              <a:t>}}}</a:t>
            </a:r>
          </a:p>
        </p:txBody>
      </p:sp>
      <p:sp>
        <p:nvSpPr>
          <p:cNvPr id="17" name="矩形 16"/>
          <p:cNvSpPr/>
          <p:nvPr/>
        </p:nvSpPr>
        <p:spPr>
          <a:xfrm>
            <a:off x="1352833" y="1769889"/>
            <a:ext cx="7210694" cy="369332"/>
          </a:xfrm>
          <a:prstGeom prst="rect">
            <a:avLst/>
          </a:prstGeom>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rPr>
              <a:t>每条语句的执行时间</a:t>
            </a:r>
            <a:r>
              <a:rPr lang="en-US" altLang="zh-CN" dirty="0">
                <a:latin typeface="微软雅黑" pitchFamily="34" charset="-122"/>
                <a:ea typeface="微软雅黑" pitchFamily="34" charset="-122"/>
                <a:cs typeface="经典粗黑简" pitchFamily="49" charset="-122"/>
              </a:rPr>
              <a:t>=</a:t>
            </a:r>
            <a:r>
              <a:rPr lang="zh-CN" altLang="en-US" u="sng" dirty="0">
                <a:latin typeface="微软雅黑" pitchFamily="34" charset="-122"/>
                <a:ea typeface="微软雅黑" pitchFamily="34" charset="-122"/>
                <a:cs typeface="经典粗黑简" pitchFamily="49" charset="-122"/>
              </a:rPr>
              <a:t>语句的执行次数</a:t>
            </a:r>
            <a:r>
              <a:rPr lang="en-US" altLang="zh-CN" dirty="0">
                <a:latin typeface="微软雅黑" pitchFamily="34" charset="-122"/>
                <a:ea typeface="微软雅黑" pitchFamily="34" charset="-122"/>
                <a:cs typeface="经典粗黑简" pitchFamily="49" charset="-122"/>
              </a:rPr>
              <a:t>×</a:t>
            </a:r>
            <a:r>
              <a:rPr lang="zh-CN" altLang="en-US" dirty="0">
                <a:latin typeface="微软雅黑" pitchFamily="34" charset="-122"/>
                <a:ea typeface="微软雅黑" pitchFamily="34" charset="-122"/>
                <a:cs typeface="经典粗黑简" pitchFamily="49" charset="-122"/>
              </a:rPr>
              <a:t>语句执行一次所需时间</a:t>
            </a:r>
          </a:p>
        </p:txBody>
      </p:sp>
      <p:graphicFrame>
        <p:nvGraphicFramePr>
          <p:cNvPr id="20" name="表格 19"/>
          <p:cNvGraphicFramePr>
            <a:graphicFrameLocks noGrp="1"/>
          </p:cNvGraphicFramePr>
          <p:nvPr>
            <p:extLst>
              <p:ext uri="{D42A27DB-BD31-4B8C-83A1-F6EECF244321}">
                <p14:modId xmlns:p14="http://schemas.microsoft.com/office/powerpoint/2010/main" val="1900420055"/>
              </p:ext>
            </p:extLst>
          </p:nvPr>
        </p:nvGraphicFramePr>
        <p:xfrm>
          <a:off x="975770" y="3018852"/>
          <a:ext cx="5108399" cy="1097280"/>
        </p:xfrm>
        <a:graphic>
          <a:graphicData uri="http://schemas.openxmlformats.org/drawingml/2006/table">
            <a:tbl>
              <a:tblPr>
                <a:tableStyleId>{5C22544A-7EE6-4342-B048-85BDC9FD1C3A}</a:tableStyleId>
              </a:tblPr>
              <a:tblGrid>
                <a:gridCol w="3711195">
                  <a:extLst>
                    <a:ext uri="{9D8B030D-6E8A-4147-A177-3AD203B41FA5}">
                      <a16:colId xmlns:a16="http://schemas.microsoft.com/office/drawing/2014/main" val="20000"/>
                    </a:ext>
                  </a:extLst>
                </a:gridCol>
                <a:gridCol w="1397204">
                  <a:extLst>
                    <a:ext uri="{9D8B030D-6E8A-4147-A177-3AD203B41FA5}">
                      <a16:colId xmlns:a16="http://schemas.microsoft.com/office/drawing/2014/main" val="20001"/>
                    </a:ext>
                  </a:extLst>
                </a:gridCol>
              </a:tblGrid>
              <a:tr h="182880">
                <a:tc>
                  <a:txBody>
                    <a:bodyPr/>
                    <a:lstStyle/>
                    <a:p>
                      <a:pPr algn="just">
                        <a:spcAft>
                          <a:spcPts val="0"/>
                        </a:spcAft>
                      </a:pPr>
                      <a:r>
                        <a:rPr lang="en-US" sz="1200" kern="1200" dirty="0" err="1">
                          <a:solidFill>
                            <a:schemeClr val="tx1"/>
                          </a:solidFill>
                          <a:latin typeface="微软雅黑" pitchFamily="34" charset="-122"/>
                          <a:ea typeface="微软雅黑" pitchFamily="34" charset="-122"/>
                          <a:cs typeface="经典粗黑简" pitchFamily="49" charset="-122"/>
                        </a:rPr>
                        <a:t>int</a:t>
                      </a:r>
                      <a:r>
                        <a:rPr lang="en-US" sz="1200" kern="1200" dirty="0">
                          <a:solidFill>
                            <a:schemeClr val="tx1"/>
                          </a:solidFill>
                          <a:latin typeface="微软雅黑" pitchFamily="34" charset="-122"/>
                          <a:ea typeface="微软雅黑" pitchFamily="34" charset="-122"/>
                          <a:cs typeface="经典粗黑简" pitchFamily="49" charset="-122"/>
                        </a:rPr>
                        <a:t> i ,j ,k;</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zh-CN" sz="1200" kern="1200" dirty="0">
                          <a:solidFill>
                            <a:schemeClr val="tx1"/>
                          </a:solidFill>
                          <a:latin typeface="楷体_GB2312" pitchFamily="49" charset="-122"/>
                          <a:ea typeface="楷体_GB2312" pitchFamily="49" charset="-122"/>
                          <a:cs typeface="经典粗黑简" pitchFamily="49" charset="-122"/>
                        </a:rPr>
                        <a:t>语句频度</a:t>
                      </a:r>
                    </a:p>
                  </a:txBody>
                  <a:tcPr marL="68580" marR="68580" marT="0" marB="0">
                    <a:noFill/>
                  </a:tcPr>
                </a:tc>
                <a:extLst>
                  <a:ext uri="{0D108BD9-81ED-4DB2-BD59-A6C34878D82A}">
                    <a16:rowId xmlns:a16="http://schemas.microsoft.com/office/drawing/2014/main" val="10000"/>
                  </a:ext>
                </a:extLst>
              </a:tr>
              <a:tr h="182880">
                <a:tc>
                  <a:txBody>
                    <a:bodyPr/>
                    <a:lstStyle/>
                    <a:p>
                      <a:pPr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for(i=0; i&lt;n; i++) {</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n+1</a:t>
                      </a:r>
                      <a:endParaRPr lang="zh-CN" sz="1200" kern="12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1"/>
                  </a:ext>
                </a:extLst>
              </a:tr>
              <a:tr h="182880">
                <a:tc>
                  <a:txBody>
                    <a:bodyPr/>
                    <a:lstStyle/>
                    <a:p>
                      <a:pPr indent="266700"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for(j=0; j</a:t>
                      </a:r>
                      <a:r>
                        <a:rPr lang="zh-CN" sz="1200" kern="1200" dirty="0">
                          <a:solidFill>
                            <a:schemeClr val="tx1"/>
                          </a:solidFill>
                          <a:latin typeface="微软雅黑" pitchFamily="34" charset="-122"/>
                          <a:ea typeface="微软雅黑" pitchFamily="34" charset="-122"/>
                          <a:cs typeface="经典粗黑简" pitchFamily="49" charset="-122"/>
                        </a:rPr>
                        <a:t>＜</a:t>
                      </a:r>
                      <a:r>
                        <a:rPr lang="en-US" sz="1200" kern="1200" dirty="0">
                          <a:solidFill>
                            <a:schemeClr val="tx1"/>
                          </a:solidFill>
                          <a:latin typeface="微软雅黑" pitchFamily="34" charset="-122"/>
                          <a:ea typeface="微软雅黑" pitchFamily="34" charset="-122"/>
                          <a:cs typeface="经典粗黑简" pitchFamily="49" charset="-122"/>
                        </a:rPr>
                        <a:t>n; j++){</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n(n+1)</a:t>
                      </a:r>
                      <a:endParaRPr lang="zh-CN" sz="1200" kern="12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2"/>
                  </a:ext>
                </a:extLst>
              </a:tr>
              <a:tr h="182880">
                <a:tc>
                  <a:txBody>
                    <a:bodyPr/>
                    <a:lstStyle/>
                    <a:p>
                      <a:pPr indent="533400"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C[i][j]=0;</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a:t>
                      </a:r>
                      <a:r>
                        <a:rPr lang="en-US" sz="1200" kern="1200" baseline="30000" dirty="0">
                          <a:solidFill>
                            <a:schemeClr val="tx1"/>
                          </a:solidFill>
                          <a:latin typeface="楷体_GB2312" pitchFamily="49" charset="-122"/>
                          <a:ea typeface="楷体_GB2312" pitchFamily="49" charset="-122"/>
                          <a:cs typeface="经典粗黑简" pitchFamily="49" charset="-122"/>
                        </a:rPr>
                        <a:t>2</a:t>
                      </a:r>
                      <a:endParaRPr lang="zh-CN" sz="1200" kern="1200" baseline="300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3"/>
                  </a:ext>
                </a:extLst>
              </a:tr>
              <a:tr h="182880">
                <a:tc>
                  <a:txBody>
                    <a:bodyPr/>
                    <a:lstStyle/>
                    <a:p>
                      <a:pPr indent="533400"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for(k=0; k</a:t>
                      </a:r>
                      <a:r>
                        <a:rPr lang="zh-CN" sz="1200" kern="1200" dirty="0">
                          <a:solidFill>
                            <a:schemeClr val="tx1"/>
                          </a:solidFill>
                          <a:latin typeface="微软雅黑" pitchFamily="34" charset="-122"/>
                          <a:ea typeface="微软雅黑" pitchFamily="34" charset="-122"/>
                          <a:cs typeface="经典粗黑简" pitchFamily="49" charset="-122"/>
                        </a:rPr>
                        <a:t>＜</a:t>
                      </a:r>
                      <a:r>
                        <a:rPr lang="en-US" sz="1200" kern="1200" dirty="0">
                          <a:solidFill>
                            <a:schemeClr val="tx1"/>
                          </a:solidFill>
                          <a:latin typeface="微软雅黑" pitchFamily="34" charset="-122"/>
                          <a:ea typeface="微软雅黑" pitchFamily="34" charset="-122"/>
                          <a:cs typeface="经典粗黑简" pitchFamily="49" charset="-122"/>
                        </a:rPr>
                        <a:t>n; k++) </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a:t>
                      </a:r>
                      <a:r>
                        <a:rPr lang="en-US" sz="1200" kern="1200" baseline="30000" dirty="0">
                          <a:solidFill>
                            <a:schemeClr val="tx1"/>
                          </a:solidFill>
                          <a:latin typeface="楷体_GB2312" pitchFamily="49" charset="-122"/>
                          <a:ea typeface="楷体_GB2312" pitchFamily="49" charset="-122"/>
                          <a:cs typeface="经典粗黑简" pitchFamily="49" charset="-122"/>
                        </a:rPr>
                        <a:t>2</a:t>
                      </a:r>
                      <a:r>
                        <a:rPr lang="en-US" sz="1200" kern="1200" dirty="0">
                          <a:solidFill>
                            <a:schemeClr val="tx1"/>
                          </a:solidFill>
                          <a:latin typeface="楷体_GB2312" pitchFamily="49" charset="-122"/>
                          <a:ea typeface="楷体_GB2312" pitchFamily="49" charset="-122"/>
                          <a:cs typeface="经典粗黑简" pitchFamily="49" charset="-122"/>
                        </a:rPr>
                        <a:t>(n+1)</a:t>
                      </a:r>
                      <a:endParaRPr lang="zh-CN" sz="1200" kern="12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4"/>
                  </a:ext>
                </a:extLst>
              </a:tr>
              <a:tr h="182880">
                <a:tc>
                  <a:txBody>
                    <a:bodyPr/>
                    <a:lstStyle/>
                    <a:p>
                      <a:pPr indent="800100" algn="just">
                        <a:spcAft>
                          <a:spcPts val="0"/>
                        </a:spcAft>
                      </a:pPr>
                      <a:r>
                        <a:rPr lang="en-US" sz="1200" kern="1200" dirty="0">
                          <a:solidFill>
                            <a:schemeClr val="tx1"/>
                          </a:solidFill>
                          <a:latin typeface="微软雅黑" pitchFamily="34" charset="-122"/>
                          <a:ea typeface="微软雅黑" pitchFamily="34" charset="-122"/>
                          <a:cs typeface="经典粗黑简" pitchFamily="49" charset="-122"/>
                        </a:rPr>
                        <a:t>C[i][j]=C[i][j]+A[i][k]*B[k][j];</a:t>
                      </a:r>
                      <a:endParaRPr lang="zh-CN" sz="1200" kern="1200" dirty="0">
                        <a:solidFill>
                          <a:schemeClr val="tx1"/>
                        </a:solidFill>
                        <a:latin typeface="微软雅黑" pitchFamily="34" charset="-122"/>
                        <a:ea typeface="微软雅黑" pitchFamily="34" charset="-122"/>
                        <a:cs typeface="经典粗黑简" pitchFamily="49" charset="-122"/>
                      </a:endParaRPr>
                    </a:p>
                  </a:txBody>
                  <a:tcPr marL="68580" marR="68580" marT="0" marB="0">
                    <a:noFill/>
                  </a:tcPr>
                </a:tc>
                <a:tc>
                  <a:txBody>
                    <a:bodyPr/>
                    <a:lstStyle/>
                    <a:p>
                      <a:pPr algn="r">
                        <a:spcAft>
                          <a:spcPts val="0"/>
                        </a:spcAft>
                      </a:pPr>
                      <a:r>
                        <a:rPr lang="en-US" sz="1200" kern="1200" dirty="0">
                          <a:solidFill>
                            <a:schemeClr val="tx1"/>
                          </a:solidFill>
                          <a:latin typeface="楷体_GB2312" pitchFamily="49" charset="-122"/>
                          <a:ea typeface="楷体_GB2312" pitchFamily="49" charset="-122"/>
                          <a:cs typeface="经典粗黑简" pitchFamily="49" charset="-122"/>
                        </a:rPr>
                        <a:t>n</a:t>
                      </a:r>
                      <a:r>
                        <a:rPr lang="en-US" sz="1200" kern="1200" baseline="30000" dirty="0">
                          <a:solidFill>
                            <a:schemeClr val="tx1"/>
                          </a:solidFill>
                          <a:latin typeface="楷体_GB2312" pitchFamily="49" charset="-122"/>
                          <a:ea typeface="楷体_GB2312" pitchFamily="49" charset="-122"/>
                          <a:cs typeface="经典粗黑简" pitchFamily="49" charset="-122"/>
                        </a:rPr>
                        <a:t>3</a:t>
                      </a:r>
                      <a:endParaRPr lang="zh-CN" sz="1200" kern="1200" baseline="30000" dirty="0">
                        <a:solidFill>
                          <a:schemeClr val="tx1"/>
                        </a:solidFill>
                        <a:latin typeface="楷体_GB2312" pitchFamily="49" charset="-122"/>
                        <a:ea typeface="楷体_GB2312" pitchFamily="49" charset="-122"/>
                        <a:cs typeface="经典粗黑简" pitchFamily="49" charset="-122"/>
                      </a:endParaRPr>
                    </a:p>
                  </a:txBody>
                  <a:tcPr marL="68580" marR="68580" marT="0" marB="0">
                    <a:noFill/>
                  </a:tcPr>
                </a:tc>
                <a:extLst>
                  <a:ext uri="{0D108BD9-81ED-4DB2-BD59-A6C34878D82A}">
                    <a16:rowId xmlns:a16="http://schemas.microsoft.com/office/drawing/2014/main" val="10005"/>
                  </a:ext>
                </a:extLst>
              </a:tr>
            </a:tbl>
          </a:graphicData>
        </a:graphic>
      </p:graphicFrame>
      <p:sp>
        <p:nvSpPr>
          <p:cNvPr id="24" name="Rectangle 1"/>
          <p:cNvSpPr>
            <a:spLocks noChangeArrowheads="1"/>
          </p:cNvSpPr>
          <p:nvPr/>
        </p:nvSpPr>
        <p:spPr bwMode="auto">
          <a:xfrm>
            <a:off x="1115616" y="4245937"/>
            <a:ext cx="6272255" cy="6463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latin typeface="楷体_GB2312" pitchFamily="49" charset="-122"/>
                <a:ea typeface="楷体_GB2312" pitchFamily="49" charset="-122"/>
                <a:cs typeface="经典粗黑简" pitchFamily="49" charset="-122"/>
              </a:rPr>
              <a:t>该算法中所有语句的频度之和等于：</a:t>
            </a:r>
          </a:p>
          <a:p>
            <a:r>
              <a:rPr lang="zh-CN" altLang="zh-CN" dirty="0">
                <a:latin typeface="楷体_GB2312" pitchFamily="49" charset="-122"/>
                <a:ea typeface="楷体_GB2312" pitchFamily="49" charset="-122"/>
                <a:cs typeface="经典粗黑简" pitchFamily="49" charset="-122"/>
              </a:rPr>
              <a:t>T(n)＝</a:t>
            </a:r>
            <a:r>
              <a:rPr lang="en-US" altLang="zh-CN" dirty="0">
                <a:latin typeface="楷体_GB2312" pitchFamily="49" charset="-122"/>
                <a:ea typeface="楷体_GB2312" pitchFamily="49" charset="-122"/>
                <a:cs typeface="经典粗黑简" pitchFamily="49" charset="-122"/>
              </a:rPr>
              <a:t>(n+1)+n(n+1)+n</a:t>
            </a:r>
            <a:r>
              <a:rPr lang="en-US" altLang="zh-CN" baseline="30000" dirty="0">
                <a:latin typeface="楷体_GB2312" pitchFamily="49" charset="-122"/>
                <a:ea typeface="楷体_GB2312" pitchFamily="49" charset="-122"/>
                <a:cs typeface="经典粗黑简" pitchFamily="49" charset="-122"/>
              </a:rPr>
              <a:t>2</a:t>
            </a:r>
            <a:r>
              <a:rPr lang="en-US" altLang="zh-CN" dirty="0">
                <a:latin typeface="楷体_GB2312" pitchFamily="49" charset="-122"/>
                <a:ea typeface="楷体_GB2312" pitchFamily="49" charset="-122"/>
                <a:cs typeface="经典粗黑简" pitchFamily="49" charset="-122"/>
              </a:rPr>
              <a:t>+n</a:t>
            </a:r>
            <a:r>
              <a:rPr lang="en-US" altLang="zh-CN" baseline="30000" dirty="0">
                <a:latin typeface="楷体_GB2312" pitchFamily="49" charset="-122"/>
                <a:ea typeface="楷体_GB2312" pitchFamily="49" charset="-122"/>
                <a:cs typeface="经典粗黑简" pitchFamily="49" charset="-122"/>
              </a:rPr>
              <a:t>2</a:t>
            </a:r>
            <a:r>
              <a:rPr lang="en-US" altLang="zh-CN" dirty="0">
                <a:latin typeface="楷体_GB2312" pitchFamily="49" charset="-122"/>
                <a:ea typeface="楷体_GB2312" pitchFamily="49" charset="-122"/>
                <a:cs typeface="经典粗黑简" pitchFamily="49" charset="-122"/>
              </a:rPr>
              <a:t>(n+1)+n</a:t>
            </a:r>
            <a:r>
              <a:rPr lang="en-US" altLang="zh-CN" baseline="30000" dirty="0">
                <a:latin typeface="楷体_GB2312" pitchFamily="49" charset="-122"/>
                <a:ea typeface="楷体_GB2312" pitchFamily="49" charset="-122"/>
                <a:cs typeface="经典粗黑简" pitchFamily="49" charset="-122"/>
              </a:rPr>
              <a:t>3</a:t>
            </a:r>
            <a:r>
              <a:rPr lang="en-US" altLang="zh-CN" dirty="0">
                <a:latin typeface="楷体_GB2312" pitchFamily="49" charset="-122"/>
                <a:ea typeface="楷体_GB2312" pitchFamily="49" charset="-122"/>
                <a:cs typeface="经典粗黑简" pitchFamily="49" charset="-122"/>
              </a:rPr>
              <a:t>=2n</a:t>
            </a:r>
            <a:r>
              <a:rPr lang="en-US" altLang="zh-CN" baseline="30000" dirty="0">
                <a:latin typeface="楷体_GB2312" pitchFamily="49" charset="-122"/>
                <a:ea typeface="楷体_GB2312" pitchFamily="49" charset="-122"/>
                <a:cs typeface="经典粗黑简" pitchFamily="49" charset="-122"/>
              </a:rPr>
              <a:t>3</a:t>
            </a:r>
            <a:r>
              <a:rPr lang="en-US" altLang="zh-CN" dirty="0">
                <a:latin typeface="楷体_GB2312" pitchFamily="49" charset="-122"/>
                <a:ea typeface="楷体_GB2312" pitchFamily="49" charset="-122"/>
                <a:cs typeface="经典粗黑简" pitchFamily="49" charset="-122"/>
              </a:rPr>
              <a:t>+3n</a:t>
            </a:r>
            <a:r>
              <a:rPr lang="en-US" altLang="zh-CN" baseline="30000" dirty="0">
                <a:latin typeface="楷体_GB2312" pitchFamily="49" charset="-122"/>
                <a:ea typeface="楷体_GB2312" pitchFamily="49" charset="-122"/>
                <a:cs typeface="经典粗黑简" pitchFamily="49" charset="-122"/>
              </a:rPr>
              <a:t>2</a:t>
            </a:r>
            <a:r>
              <a:rPr lang="en-US" altLang="zh-CN" dirty="0">
                <a:latin typeface="楷体_GB2312" pitchFamily="49" charset="-122"/>
                <a:ea typeface="楷体_GB2312" pitchFamily="49" charset="-122"/>
                <a:cs typeface="经典粗黑简" pitchFamily="49" charset="-122"/>
              </a:rPr>
              <a:t>+2n+1</a:t>
            </a:r>
            <a:endParaRPr lang="zh-CN" altLang="zh-CN" dirty="0">
              <a:latin typeface="楷体_GB2312" pitchFamily="49" charset="-122"/>
              <a:ea typeface="楷体_GB2312" pitchFamily="49" charset="-122"/>
              <a:cs typeface="经典粗黑简" pitchFamily="49" charset="-122"/>
            </a:endParaRPr>
          </a:p>
        </p:txBody>
      </p:sp>
      <p:sp>
        <p:nvSpPr>
          <p:cNvPr id="25" name="矩形 24"/>
          <p:cNvSpPr/>
          <p:nvPr/>
        </p:nvSpPr>
        <p:spPr>
          <a:xfrm>
            <a:off x="1979712" y="4799970"/>
            <a:ext cx="5832648" cy="369332"/>
          </a:xfrm>
          <a:prstGeom prst="rect">
            <a:avLst/>
          </a:prstGeom>
        </p:spPr>
        <p:txBody>
          <a:bodyPr wrap="square">
            <a:spAutoFit/>
          </a:bodyPr>
          <a:lstStyle/>
          <a:p>
            <a:r>
              <a:rPr lang="zh-CN" altLang="zh-CN" dirty="0"/>
              <a:t>可以看出，算法的时间耗费T(n)是矩阵阶数n的函数。</a:t>
            </a:r>
            <a:endParaRPr lang="zh-CN" altLang="en-US" dirty="0"/>
          </a:p>
        </p:txBody>
      </p:sp>
      <p:sp>
        <p:nvSpPr>
          <p:cNvPr id="2" name="Rectangle 2">
            <a:extLst>
              <a:ext uri="{FF2B5EF4-FFF2-40B4-BE49-F238E27FC236}">
                <a16:creationId xmlns:a16="http://schemas.microsoft.com/office/drawing/2014/main" id="{396AC1CD-EB47-6727-8D2A-9EC7CC4AEC98}"/>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E5E3D304-E443-4404-F514-4769F05A94EE}"/>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190952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254948" y="1678148"/>
            <a:ext cx="8565525" cy="923330"/>
          </a:xfrm>
          <a:prstGeom prst="rect">
            <a:avLst/>
          </a:prstGeom>
        </p:spPr>
        <p:txBody>
          <a:bodyPr wrap="square">
            <a:spAutoFit/>
          </a:bodyPr>
          <a:lstStyle/>
          <a:p>
            <a:pPr>
              <a:spcBef>
                <a:spcPct val="20000"/>
              </a:spcBef>
            </a:pPr>
            <a:r>
              <a:rPr lang="en-US" altLang="zh-CN" dirty="0">
                <a:latin typeface="微软雅黑" pitchFamily="34" charset="-122"/>
                <a:ea typeface="微软雅黑" pitchFamily="34" charset="-122"/>
                <a:cs typeface="经典粗黑简" pitchFamily="49" charset="-122"/>
              </a:rPr>
              <a:t>       </a:t>
            </a:r>
            <a:r>
              <a:rPr lang="zh-CN" altLang="zh-CN" dirty="0">
                <a:latin typeface="微软雅黑" pitchFamily="34" charset="-122"/>
                <a:ea typeface="微软雅黑" pitchFamily="34" charset="-122"/>
                <a:cs typeface="经典粗黑简" pitchFamily="49" charset="-122"/>
              </a:rPr>
              <a:t>算法的</a:t>
            </a:r>
            <a:r>
              <a:rPr lang="zh-CN" altLang="zh-CN" dirty="0">
                <a:solidFill>
                  <a:srgbClr val="FF0000"/>
                </a:solidFill>
                <a:latin typeface="微软雅黑" pitchFamily="34" charset="-122"/>
                <a:ea typeface="微软雅黑" pitchFamily="34" charset="-122"/>
                <a:cs typeface="经典粗黑简" pitchFamily="49" charset="-122"/>
              </a:rPr>
              <a:t>时间复杂度</a:t>
            </a:r>
            <a:r>
              <a:rPr lang="zh-CN" altLang="zh-CN" dirty="0">
                <a:latin typeface="微软雅黑" pitchFamily="34" charset="-122"/>
                <a:ea typeface="微软雅黑" pitchFamily="34" charset="-122"/>
                <a:cs typeface="经典粗黑简" pitchFamily="49" charset="-122"/>
              </a:rPr>
              <a:t>（Time Complexity）T(n)是该算法的时间耗费，是该算法所求解问题规模n的函数。当问题的规模n趋向无穷大时，时间复杂度T(n)的数量级(阶)称为</a:t>
            </a:r>
            <a:r>
              <a:rPr lang="zh-CN" altLang="zh-CN" dirty="0">
                <a:solidFill>
                  <a:srgbClr val="FF0000"/>
                </a:solidFill>
                <a:latin typeface="微软雅黑" pitchFamily="34" charset="-122"/>
                <a:ea typeface="微软雅黑" pitchFamily="34" charset="-122"/>
                <a:cs typeface="经典粗黑简" pitchFamily="49" charset="-122"/>
              </a:rPr>
              <a:t>算法的渐进时间复杂度</a:t>
            </a:r>
            <a:r>
              <a:rPr lang="zh-CN" altLang="zh-CN" dirty="0">
                <a:latin typeface="微软雅黑" pitchFamily="34" charset="-122"/>
                <a:ea typeface="微软雅黑" pitchFamily="34" charset="-122"/>
                <a:cs typeface="经典粗黑简" pitchFamily="49" charset="-122"/>
              </a:rPr>
              <a:t>。</a:t>
            </a:r>
            <a:endParaRPr lang="zh-CN" altLang="en-US" dirty="0">
              <a:latin typeface="微软雅黑" pitchFamily="34" charset="-122"/>
              <a:ea typeface="微软雅黑" pitchFamily="34" charset="-122"/>
              <a:cs typeface="经典粗黑简" pitchFamily="49" charset="-122"/>
            </a:endParaRPr>
          </a:p>
        </p:txBody>
      </p:sp>
      <p:sp>
        <p:nvSpPr>
          <p:cNvPr id="14" name="Rectangle 1"/>
          <p:cNvSpPr>
            <a:spLocks noChangeArrowheads="1"/>
          </p:cNvSpPr>
          <p:nvPr/>
        </p:nvSpPr>
        <p:spPr bwMode="auto">
          <a:xfrm>
            <a:off x="921027" y="2536206"/>
            <a:ext cx="5355773" cy="6463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zh-CN" dirty="0">
                <a:latin typeface="楷体_GB2312" pitchFamily="49" charset="-122"/>
                <a:ea typeface="楷体_GB2312" pitchFamily="49" charset="-122"/>
                <a:cs typeface="经典粗黑简" pitchFamily="49" charset="-122"/>
              </a:rPr>
              <a:t>该算法中所有语句的频度之和等于：</a:t>
            </a:r>
          </a:p>
          <a:p>
            <a:r>
              <a:rPr lang="zh-CN" altLang="zh-CN" dirty="0">
                <a:latin typeface="楷体_GB2312" pitchFamily="49" charset="-122"/>
                <a:ea typeface="楷体_GB2312" pitchFamily="49" charset="-122"/>
                <a:cs typeface="经典粗黑简" pitchFamily="49" charset="-122"/>
              </a:rPr>
              <a:t>T(n)＝</a:t>
            </a:r>
            <a:r>
              <a:rPr lang="en-US" altLang="zh-CN" dirty="0">
                <a:latin typeface="楷体_GB2312" pitchFamily="49" charset="-122"/>
                <a:ea typeface="楷体_GB2312" pitchFamily="49" charset="-122"/>
                <a:cs typeface="经典粗黑简" pitchFamily="49" charset="-122"/>
              </a:rPr>
              <a:t>(n+1)+n(n+1)+n</a:t>
            </a:r>
            <a:r>
              <a:rPr lang="en-US" altLang="zh-CN" baseline="30000" dirty="0">
                <a:latin typeface="楷体_GB2312" pitchFamily="49" charset="-122"/>
                <a:ea typeface="楷体_GB2312" pitchFamily="49" charset="-122"/>
                <a:cs typeface="经典粗黑简" pitchFamily="49" charset="-122"/>
              </a:rPr>
              <a:t>2</a:t>
            </a:r>
            <a:r>
              <a:rPr lang="en-US" altLang="zh-CN" dirty="0">
                <a:latin typeface="楷体_GB2312" pitchFamily="49" charset="-122"/>
                <a:ea typeface="楷体_GB2312" pitchFamily="49" charset="-122"/>
                <a:cs typeface="经典粗黑简" pitchFamily="49" charset="-122"/>
              </a:rPr>
              <a:t>+n</a:t>
            </a:r>
            <a:r>
              <a:rPr lang="en-US" altLang="zh-CN" baseline="30000" dirty="0">
                <a:latin typeface="楷体_GB2312" pitchFamily="49" charset="-122"/>
                <a:ea typeface="楷体_GB2312" pitchFamily="49" charset="-122"/>
                <a:cs typeface="经典粗黑简" pitchFamily="49" charset="-122"/>
              </a:rPr>
              <a:t>2</a:t>
            </a:r>
            <a:r>
              <a:rPr lang="en-US" altLang="zh-CN" dirty="0">
                <a:latin typeface="楷体_GB2312" pitchFamily="49" charset="-122"/>
                <a:ea typeface="楷体_GB2312" pitchFamily="49" charset="-122"/>
                <a:cs typeface="经典粗黑简" pitchFamily="49" charset="-122"/>
              </a:rPr>
              <a:t>(n+1)+n</a:t>
            </a:r>
            <a:r>
              <a:rPr lang="en-US" altLang="zh-CN" baseline="30000" dirty="0">
                <a:latin typeface="楷体_GB2312" pitchFamily="49" charset="-122"/>
                <a:ea typeface="楷体_GB2312" pitchFamily="49" charset="-122"/>
                <a:cs typeface="经典粗黑简" pitchFamily="49" charset="-122"/>
              </a:rPr>
              <a:t>3</a:t>
            </a:r>
            <a:r>
              <a:rPr lang="en-US" altLang="zh-CN" dirty="0">
                <a:latin typeface="楷体_GB2312" pitchFamily="49" charset="-122"/>
                <a:ea typeface="楷体_GB2312" pitchFamily="49" charset="-122"/>
                <a:cs typeface="经典粗黑简" pitchFamily="49" charset="-122"/>
              </a:rPr>
              <a:t>=2n</a:t>
            </a:r>
            <a:r>
              <a:rPr lang="en-US" altLang="zh-CN" baseline="30000" dirty="0">
                <a:latin typeface="楷体_GB2312" pitchFamily="49" charset="-122"/>
                <a:ea typeface="楷体_GB2312" pitchFamily="49" charset="-122"/>
                <a:cs typeface="经典粗黑简" pitchFamily="49" charset="-122"/>
              </a:rPr>
              <a:t>3</a:t>
            </a:r>
            <a:r>
              <a:rPr lang="en-US" altLang="zh-CN" dirty="0">
                <a:latin typeface="楷体_GB2312" pitchFamily="49" charset="-122"/>
                <a:ea typeface="楷体_GB2312" pitchFamily="49" charset="-122"/>
                <a:cs typeface="经典粗黑简" pitchFamily="49" charset="-122"/>
              </a:rPr>
              <a:t>+3n</a:t>
            </a:r>
            <a:r>
              <a:rPr lang="en-US" altLang="zh-CN" baseline="30000" dirty="0">
                <a:latin typeface="楷体_GB2312" pitchFamily="49" charset="-122"/>
                <a:ea typeface="楷体_GB2312" pitchFamily="49" charset="-122"/>
                <a:cs typeface="经典粗黑简" pitchFamily="49" charset="-122"/>
              </a:rPr>
              <a:t>2</a:t>
            </a:r>
            <a:r>
              <a:rPr lang="en-US" altLang="zh-CN" dirty="0">
                <a:latin typeface="楷体_GB2312" pitchFamily="49" charset="-122"/>
                <a:ea typeface="楷体_GB2312" pitchFamily="49" charset="-122"/>
                <a:cs typeface="经典粗黑简" pitchFamily="49" charset="-122"/>
              </a:rPr>
              <a:t>+2n+1</a:t>
            </a:r>
            <a:endParaRPr lang="zh-CN" altLang="zh-CN" dirty="0">
              <a:latin typeface="楷体_GB2312" pitchFamily="49" charset="-122"/>
              <a:ea typeface="楷体_GB2312" pitchFamily="49" charset="-122"/>
              <a:cs typeface="经典粗黑简" pitchFamily="49" charset="-122"/>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2099713621"/>
              </p:ext>
            </p:extLst>
          </p:nvPr>
        </p:nvGraphicFramePr>
        <p:xfrm>
          <a:off x="1039226" y="3155224"/>
          <a:ext cx="5119373" cy="316434"/>
        </p:xfrm>
        <a:graphic>
          <a:graphicData uri="http://schemas.openxmlformats.org/presentationml/2006/ole">
            <mc:AlternateContent xmlns:mc="http://schemas.openxmlformats.org/markup-compatibility/2006">
              <mc:Choice xmlns:v="urn:schemas-microsoft-com:vml" Requires="v">
                <p:oleObj name="公式" r:id="rId2" imgW="3327120" imgH="304560" progId="Equation.3">
                  <p:embed/>
                </p:oleObj>
              </mc:Choice>
              <mc:Fallback>
                <p:oleObj name="公式" r:id="rId2" imgW="3327120" imgH="304560" progId="Equation.3">
                  <p:embed/>
                  <p:pic>
                    <p:nvPicPr>
                      <p:cNvPr id="0" name=""/>
                      <p:cNvPicPr>
                        <a:picLocks noChangeAspect="1" noChangeArrowheads="1"/>
                      </p:cNvPicPr>
                      <p:nvPr/>
                    </p:nvPicPr>
                    <p:blipFill>
                      <a:blip r:embed="rId3"/>
                      <a:srcRect/>
                      <a:stretch>
                        <a:fillRect/>
                      </a:stretch>
                    </p:blipFill>
                    <p:spPr bwMode="auto">
                      <a:xfrm>
                        <a:off x="1039226" y="3155224"/>
                        <a:ext cx="5119373" cy="316434"/>
                      </a:xfrm>
                      <a:prstGeom prst="rect">
                        <a:avLst/>
                      </a:prstGeom>
                      <a:noFill/>
                    </p:spPr>
                  </p:pic>
                </p:oleObj>
              </mc:Fallback>
            </mc:AlternateContent>
          </a:graphicData>
        </a:graphic>
      </p:graphicFrame>
      <p:sp>
        <p:nvSpPr>
          <p:cNvPr id="18" name="矩形 17"/>
          <p:cNvSpPr/>
          <p:nvPr/>
        </p:nvSpPr>
        <p:spPr>
          <a:xfrm>
            <a:off x="354968" y="3561476"/>
            <a:ext cx="8249480" cy="923330"/>
          </a:xfrm>
          <a:prstGeom prst="rect">
            <a:avLst/>
          </a:prstGeom>
        </p:spPr>
        <p:txBody>
          <a:bodyPr wrap="square">
            <a:spAutoFit/>
          </a:bodyPr>
          <a:lstStyle/>
          <a:p>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这表明，当n充分大时，T(n)和n</a:t>
            </a:r>
            <a:r>
              <a:rPr lang="zh-CN" altLang="zh-CN" baseline="30000" dirty="0">
                <a:latin typeface="微软雅黑" pitchFamily="34" charset="-122"/>
                <a:ea typeface="微软雅黑" pitchFamily="34" charset="-122"/>
              </a:rPr>
              <a:t>3</a:t>
            </a:r>
            <a:r>
              <a:rPr lang="zh-CN" altLang="zh-CN" dirty="0">
                <a:latin typeface="微软雅黑" pitchFamily="34" charset="-122"/>
                <a:ea typeface="微软雅黑" pitchFamily="34" charset="-122"/>
              </a:rPr>
              <a:t>之比是一个不等于零的常数。即T(n)和n</a:t>
            </a:r>
            <a:r>
              <a:rPr lang="zh-CN" altLang="zh-CN" baseline="30000" dirty="0">
                <a:latin typeface="微软雅黑" pitchFamily="34" charset="-122"/>
                <a:ea typeface="微软雅黑" pitchFamily="34" charset="-122"/>
              </a:rPr>
              <a:t>3</a:t>
            </a:r>
            <a:r>
              <a:rPr lang="zh-CN" altLang="zh-CN" dirty="0">
                <a:latin typeface="微软雅黑" pitchFamily="34" charset="-122"/>
                <a:ea typeface="微软雅黑" pitchFamily="34" charset="-122"/>
              </a:rPr>
              <a:t>是同阶的，或者说T(n)和n</a:t>
            </a:r>
            <a:r>
              <a:rPr lang="zh-CN" altLang="zh-CN" baseline="30000" dirty="0">
                <a:latin typeface="微软雅黑" pitchFamily="34" charset="-122"/>
                <a:ea typeface="微软雅黑" pitchFamily="34" charset="-122"/>
              </a:rPr>
              <a:t>3</a:t>
            </a:r>
            <a:r>
              <a:rPr lang="zh-CN" altLang="zh-CN" dirty="0">
                <a:latin typeface="微软雅黑" pitchFamily="34" charset="-122"/>
                <a:ea typeface="微软雅黑" pitchFamily="34" charset="-122"/>
              </a:rPr>
              <a:t>的数量级相同。记作T(n)=O(n</a:t>
            </a:r>
            <a:r>
              <a:rPr lang="zh-CN" altLang="zh-CN" baseline="30000" dirty="0">
                <a:latin typeface="微软雅黑" pitchFamily="34" charset="-122"/>
                <a:ea typeface="微软雅黑" pitchFamily="34" charset="-122"/>
              </a:rPr>
              <a:t>3</a:t>
            </a:r>
            <a:r>
              <a:rPr lang="zh-CN" altLang="zh-CN" dirty="0">
                <a:latin typeface="微软雅黑" pitchFamily="34" charset="-122"/>
                <a:ea typeface="微软雅黑" pitchFamily="34" charset="-122"/>
              </a:rPr>
              <a:t>)是</a:t>
            </a:r>
            <a:r>
              <a:rPr lang="zh-CN" altLang="en-US" dirty="0">
                <a:latin typeface="微软雅黑" pitchFamily="34" charset="-122"/>
                <a:ea typeface="微软雅黑" pitchFamily="34" charset="-122"/>
              </a:rPr>
              <a:t>该</a:t>
            </a:r>
            <a:r>
              <a:rPr lang="zh-CN" altLang="zh-CN" dirty="0">
                <a:latin typeface="微软雅黑" pitchFamily="34" charset="-122"/>
                <a:ea typeface="微软雅黑" pitchFamily="34" charset="-122"/>
              </a:rPr>
              <a:t>算法的渐近时间复杂度。</a:t>
            </a:r>
          </a:p>
        </p:txBody>
      </p:sp>
      <p:sp>
        <p:nvSpPr>
          <p:cNvPr id="2" name="Rectangle 2">
            <a:extLst>
              <a:ext uri="{FF2B5EF4-FFF2-40B4-BE49-F238E27FC236}">
                <a16:creationId xmlns:a16="http://schemas.microsoft.com/office/drawing/2014/main" id="{B92340D6-DAC9-4ACA-86D1-8438C0C3721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2A7649C0-2666-CF71-C38C-58EF8D737BED}"/>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224638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899592" y="1707654"/>
            <a:ext cx="7992888" cy="1477328"/>
          </a:xfrm>
          <a:prstGeom prst="rect">
            <a:avLst/>
          </a:prstGeom>
        </p:spPr>
        <p:txBody>
          <a:bodyPr wrap="square">
            <a:spAutoFit/>
          </a:bodyPr>
          <a:lstStyle/>
          <a:p>
            <a:r>
              <a:rPr lang="zh-CN" altLang="zh-CN" dirty="0">
                <a:latin typeface="微软雅黑" pitchFamily="34" charset="-122"/>
                <a:ea typeface="微软雅黑" pitchFamily="34" charset="-122"/>
              </a:rPr>
              <a:t>假定有两个算法A和B求解同一问题，它们的时间复杂度分别是T</a:t>
            </a:r>
            <a:r>
              <a:rPr lang="zh-CN" altLang="zh-CN" baseline="-25000" dirty="0">
                <a:latin typeface="微软雅黑" pitchFamily="34" charset="-122"/>
                <a:ea typeface="微软雅黑" pitchFamily="34" charset="-122"/>
              </a:rPr>
              <a:t>A</a:t>
            </a:r>
            <a:r>
              <a:rPr lang="zh-CN" altLang="zh-CN" dirty="0">
                <a:latin typeface="微软雅黑" pitchFamily="34" charset="-122"/>
                <a:ea typeface="微软雅黑" pitchFamily="34" charset="-122"/>
              </a:rPr>
              <a:t>(n)=100n</a:t>
            </a:r>
            <a:r>
              <a:rPr lang="zh-CN" altLang="zh-CN" baseline="30000" dirty="0">
                <a:latin typeface="微软雅黑" pitchFamily="34" charset="-122"/>
                <a:ea typeface="微软雅黑" pitchFamily="34" charset="-122"/>
              </a:rPr>
              <a:t>2</a:t>
            </a:r>
            <a:r>
              <a:rPr lang="zh-CN" altLang="zh-CN" dirty="0">
                <a:latin typeface="微软雅黑" pitchFamily="34" charset="-122"/>
                <a:ea typeface="微软雅黑" pitchFamily="34" charset="-122"/>
              </a:rPr>
              <a:t>，T</a:t>
            </a:r>
            <a:r>
              <a:rPr lang="zh-CN" altLang="zh-CN" baseline="-25000" dirty="0">
                <a:latin typeface="微软雅黑" pitchFamily="34" charset="-122"/>
                <a:ea typeface="微软雅黑" pitchFamily="34" charset="-122"/>
              </a:rPr>
              <a:t>B</a:t>
            </a:r>
            <a:r>
              <a:rPr lang="zh-CN" altLang="zh-CN" dirty="0">
                <a:latin typeface="微软雅黑" pitchFamily="34" charset="-122"/>
                <a:ea typeface="微软雅黑" pitchFamily="34" charset="-122"/>
              </a:rPr>
              <a:t>(n)=5n</a:t>
            </a:r>
            <a:r>
              <a:rPr lang="zh-CN" altLang="zh-CN" baseline="30000" dirty="0">
                <a:latin typeface="微软雅黑" pitchFamily="34" charset="-122"/>
                <a:ea typeface="微软雅黑" pitchFamily="34" charset="-122"/>
              </a:rPr>
              <a:t>3</a:t>
            </a:r>
            <a:r>
              <a:rPr lang="zh-CN" altLang="zh-CN" dirty="0">
                <a:latin typeface="微软雅黑" pitchFamily="34" charset="-122"/>
                <a:ea typeface="微软雅黑" pitchFamily="34" charset="-122"/>
              </a:rPr>
              <a:t>。那么：</a:t>
            </a:r>
          </a:p>
          <a:p>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（1）当输入量n＜20时，有T</a:t>
            </a:r>
            <a:r>
              <a:rPr lang="zh-CN" altLang="zh-CN" baseline="-25000" dirty="0">
                <a:latin typeface="微软雅黑" pitchFamily="34" charset="-122"/>
                <a:ea typeface="微软雅黑" pitchFamily="34" charset="-122"/>
              </a:rPr>
              <a:t>A</a:t>
            </a:r>
            <a:r>
              <a:rPr lang="zh-CN" altLang="zh-CN" dirty="0">
                <a:latin typeface="微软雅黑" pitchFamily="34" charset="-122"/>
                <a:ea typeface="微软雅黑" pitchFamily="34" charset="-122"/>
              </a:rPr>
              <a:t>(n)＞T</a:t>
            </a:r>
            <a:r>
              <a:rPr lang="zh-CN" altLang="zh-CN" baseline="-25000" dirty="0">
                <a:latin typeface="微软雅黑" pitchFamily="34" charset="-122"/>
                <a:ea typeface="微软雅黑" pitchFamily="34" charset="-122"/>
              </a:rPr>
              <a:t>B</a:t>
            </a:r>
            <a:r>
              <a:rPr lang="zh-CN" altLang="zh-CN" dirty="0">
                <a:latin typeface="微软雅黑" pitchFamily="34" charset="-122"/>
                <a:ea typeface="微软雅黑" pitchFamily="34" charset="-122"/>
              </a:rPr>
              <a:t>(n)，后者花费的时间较少。</a:t>
            </a:r>
          </a:p>
          <a:p>
            <a:r>
              <a:rPr lang="en-US" altLang="zh-CN" dirty="0">
                <a:latin typeface="微软雅黑" pitchFamily="34" charset="-122"/>
                <a:ea typeface="微软雅黑" pitchFamily="34" charset="-122"/>
              </a:rPr>
              <a:t>      </a:t>
            </a:r>
            <a:r>
              <a:rPr lang="zh-CN" altLang="zh-CN" dirty="0">
                <a:latin typeface="微软雅黑" pitchFamily="34" charset="-122"/>
                <a:ea typeface="微软雅黑" pitchFamily="34" charset="-122"/>
              </a:rPr>
              <a:t>（2）随着问题规模n的增大，两个算法的时间开销之比5n</a:t>
            </a:r>
            <a:r>
              <a:rPr lang="zh-CN" altLang="zh-CN" baseline="30000" dirty="0">
                <a:latin typeface="微软雅黑" pitchFamily="34" charset="-122"/>
                <a:ea typeface="微软雅黑" pitchFamily="34" charset="-122"/>
              </a:rPr>
              <a:t>3</a:t>
            </a:r>
            <a:r>
              <a:rPr lang="zh-CN" altLang="zh-CN" dirty="0">
                <a:latin typeface="微软雅黑" pitchFamily="34" charset="-122"/>
                <a:ea typeface="微软雅黑" pitchFamily="34" charset="-122"/>
              </a:rPr>
              <a:t>/（100n</a:t>
            </a:r>
            <a:r>
              <a:rPr lang="zh-CN" altLang="zh-CN" baseline="30000" dirty="0">
                <a:latin typeface="微软雅黑" pitchFamily="34" charset="-122"/>
                <a:ea typeface="微软雅黑" pitchFamily="34" charset="-122"/>
              </a:rPr>
              <a:t>2</a:t>
            </a:r>
            <a:r>
              <a:rPr lang="zh-CN" altLang="zh-CN" dirty="0">
                <a:latin typeface="微软雅黑" pitchFamily="34" charset="-122"/>
                <a:ea typeface="微软雅黑" pitchFamily="34" charset="-122"/>
              </a:rPr>
              <a:t>）=n/20亦随着增大。即当问题规模较大时，算法A比算法B要有效地多。</a:t>
            </a:r>
          </a:p>
        </p:txBody>
      </p:sp>
      <p:sp>
        <p:nvSpPr>
          <p:cNvPr id="16" name="矩形 15"/>
          <p:cNvSpPr/>
          <p:nvPr/>
        </p:nvSpPr>
        <p:spPr>
          <a:xfrm>
            <a:off x="899592" y="3160878"/>
            <a:ext cx="7632848" cy="338554"/>
          </a:xfrm>
          <a:prstGeom prst="rect">
            <a:avLst/>
          </a:prstGeom>
        </p:spPr>
        <p:txBody>
          <a:bodyPr wrap="square">
            <a:spAutoFit/>
          </a:bodyPr>
          <a:lstStyle/>
          <a:p>
            <a:r>
              <a:rPr lang="zh-CN" altLang="zh-CN" sz="1600" dirty="0">
                <a:latin typeface="微软雅黑" pitchFamily="34" charset="-122"/>
                <a:ea typeface="微软雅黑" pitchFamily="34" charset="-122"/>
              </a:rPr>
              <a:t>它们的渐近时间复杂度O(n</a:t>
            </a:r>
            <a:r>
              <a:rPr lang="zh-CN" altLang="zh-CN" sz="1600" baseline="30000" dirty="0">
                <a:latin typeface="微软雅黑" pitchFamily="34" charset="-122"/>
                <a:ea typeface="微软雅黑" pitchFamily="34" charset="-122"/>
              </a:rPr>
              <a:t>2</a:t>
            </a:r>
            <a:r>
              <a:rPr lang="zh-CN" altLang="zh-CN" sz="1600" dirty="0">
                <a:latin typeface="微软雅黑" pitchFamily="34" charset="-122"/>
                <a:ea typeface="微软雅黑" pitchFamily="34" charset="-122"/>
              </a:rPr>
              <a:t>)和O(n</a:t>
            </a:r>
            <a:r>
              <a:rPr lang="zh-CN" altLang="zh-CN" sz="1600" baseline="30000" dirty="0">
                <a:latin typeface="微软雅黑" pitchFamily="34" charset="-122"/>
                <a:ea typeface="微软雅黑" pitchFamily="34" charset="-122"/>
              </a:rPr>
              <a:t>3</a:t>
            </a:r>
            <a:r>
              <a:rPr lang="zh-CN" altLang="zh-CN" sz="1600" dirty="0">
                <a:latin typeface="微软雅黑" pitchFamily="34" charset="-122"/>
                <a:ea typeface="微软雅黑" pitchFamily="34" charset="-122"/>
              </a:rPr>
              <a:t>)从宏观上评价了这两个算法在时间方面的质量。</a:t>
            </a:r>
          </a:p>
        </p:txBody>
      </p:sp>
      <p:sp>
        <p:nvSpPr>
          <p:cNvPr id="17" name="矩形 16"/>
          <p:cNvSpPr/>
          <p:nvPr/>
        </p:nvSpPr>
        <p:spPr>
          <a:xfrm>
            <a:off x="899593" y="3499432"/>
            <a:ext cx="7704856" cy="830997"/>
          </a:xfrm>
          <a:prstGeom prst="rect">
            <a:avLst/>
          </a:prstGeom>
        </p:spPr>
        <p:txBody>
          <a:bodyPr wrap="square">
            <a:spAutoFit/>
          </a:bodyPr>
          <a:lstStyle/>
          <a:p>
            <a:r>
              <a:rPr lang="zh-CN" altLang="zh-CN" sz="1600" dirty="0">
                <a:latin typeface="微软雅黑" pitchFamily="34" charset="-122"/>
                <a:ea typeface="微软雅黑" pitchFamily="34" charset="-122"/>
              </a:rPr>
              <a:t>在算法分析时，往往对算法的时间复杂度和渐近时间复杂度不予区分，而经常将渐近时间复杂度T(n)=O(f(n))简称为时间复杂度，其中的f(n)一般是算法中频度最大的语句频度。</a:t>
            </a:r>
          </a:p>
        </p:txBody>
      </p:sp>
      <p:sp>
        <p:nvSpPr>
          <p:cNvPr id="2" name="Rectangle 2">
            <a:extLst>
              <a:ext uri="{FF2B5EF4-FFF2-40B4-BE49-F238E27FC236}">
                <a16:creationId xmlns:a16="http://schemas.microsoft.com/office/drawing/2014/main" id="{8E392061-C31A-A065-47B8-420C27B56C8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A254F946-151C-AE63-96DD-88854EE9CAC6}"/>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215450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8" name="Text Box 4"/>
          <p:cNvSpPr txBox="1">
            <a:spLocks noChangeArrowheads="1"/>
          </p:cNvSpPr>
          <p:nvPr/>
        </p:nvSpPr>
        <p:spPr bwMode="auto">
          <a:xfrm>
            <a:off x="682734" y="1831694"/>
            <a:ext cx="4397691"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怎样估算算法的时间复杂度？</a:t>
            </a:r>
          </a:p>
        </p:txBody>
      </p:sp>
      <p:sp>
        <p:nvSpPr>
          <p:cNvPr id="11" name="Text Box 5"/>
          <p:cNvSpPr txBox="1">
            <a:spLocks noChangeArrowheads="1"/>
          </p:cNvSpPr>
          <p:nvPr/>
        </p:nvSpPr>
        <p:spPr bwMode="auto">
          <a:xfrm>
            <a:off x="682733" y="2108693"/>
            <a:ext cx="7777162"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算法＝控制结构＋</a:t>
            </a:r>
            <a:r>
              <a:rPr lang="zh-CN" altLang="en-US" dirty="0">
                <a:solidFill>
                  <a:srgbClr val="FF0000"/>
                </a:solidFill>
              </a:rPr>
              <a:t>原操作</a:t>
            </a:r>
            <a:r>
              <a:rPr lang="zh-CN" altLang="en-US" dirty="0"/>
              <a:t>（固有数据类型的操作）</a:t>
            </a:r>
          </a:p>
        </p:txBody>
      </p:sp>
      <p:sp>
        <p:nvSpPr>
          <p:cNvPr id="14" name="Text Box 7"/>
          <p:cNvSpPr txBox="1">
            <a:spLocks noChangeArrowheads="1"/>
          </p:cNvSpPr>
          <p:nvPr/>
        </p:nvSpPr>
        <p:spPr bwMode="auto">
          <a:xfrm>
            <a:off x="682733" y="2399638"/>
            <a:ext cx="7777162" cy="6463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从算法中选取一种对于所研究的问题来说是基本操作的</a:t>
            </a:r>
            <a:r>
              <a:rPr lang="zh-CN" altLang="en-US" dirty="0">
                <a:solidFill>
                  <a:srgbClr val="FF0000"/>
                </a:solidFill>
              </a:rPr>
              <a:t>原操作</a:t>
            </a:r>
            <a:r>
              <a:rPr lang="zh-CN" altLang="en-US" dirty="0"/>
              <a:t>，以该基本操作在算法中重复执行的次数作为算法运行时间的度量。</a:t>
            </a:r>
          </a:p>
        </p:txBody>
      </p:sp>
      <p:sp>
        <p:nvSpPr>
          <p:cNvPr id="15" name="Rectangle 3"/>
          <p:cNvSpPr txBox="1">
            <a:spLocks noChangeArrowheads="1"/>
          </p:cNvSpPr>
          <p:nvPr/>
        </p:nvSpPr>
        <p:spPr>
          <a:xfrm>
            <a:off x="251521" y="3081333"/>
            <a:ext cx="8208375" cy="1200329"/>
          </a:xfrm>
          <a:prstGeom prst="rect">
            <a:avLst/>
          </a:prstGeom>
        </p:spPr>
        <p:txBody>
          <a:bodyPr wrap="square">
            <a:spAutoFit/>
          </a:bodyPr>
          <a:lstStyle>
            <a:defPPr>
              <a:defRPr lang="zh-CN"/>
            </a:defPPr>
            <a:lvl1pPr>
              <a:defRPr>
                <a:latin typeface="微软雅黑" pitchFamily="34" charset="-122"/>
                <a:ea typeface="微软雅黑" pitchFamily="34" charset="-122"/>
              </a:defRPr>
            </a:lvl1pPr>
          </a:lstStyle>
          <a:p>
            <a:pPr lvl="1"/>
            <a:r>
              <a:rPr lang="zh-CN" altLang="en-US" dirty="0">
                <a:latin typeface="微软雅黑" pitchFamily="34" charset="-122"/>
                <a:ea typeface="微软雅黑" pitchFamily="34" charset="-122"/>
              </a:rPr>
              <a:t>例1 、 {++</a:t>
            </a:r>
            <a:r>
              <a:rPr lang="en-US" altLang="zh-CN" dirty="0">
                <a:latin typeface="微软雅黑" pitchFamily="34" charset="-122"/>
                <a:ea typeface="微软雅黑" pitchFamily="34" charset="-122"/>
              </a:rPr>
              <a:t>x; s = 0;}</a:t>
            </a:r>
          </a:p>
          <a:p>
            <a:pPr lvl="2"/>
            <a:r>
              <a:rPr lang="zh-CN" altLang="en-US" dirty="0">
                <a:latin typeface="微软雅黑" pitchFamily="34" charset="-122"/>
                <a:ea typeface="微软雅黑" pitchFamily="34" charset="-122"/>
              </a:rPr>
              <a:t>将</a:t>
            </a:r>
            <a:r>
              <a:rPr lang="en-US" altLang="zh-CN" dirty="0">
                <a:latin typeface="微软雅黑" pitchFamily="34" charset="-122"/>
                <a:ea typeface="微软雅黑" pitchFamily="34" charset="-122"/>
              </a:rPr>
              <a:t>x</a:t>
            </a:r>
            <a:r>
              <a:rPr lang="zh-CN" altLang="en-US" dirty="0">
                <a:latin typeface="微软雅黑" pitchFamily="34" charset="-122"/>
                <a:ea typeface="微软雅黑" pitchFamily="34" charset="-122"/>
              </a:rPr>
              <a:t>自增看成是基本操作，则语句频度为１，即时间复杂度为Ｏ(1)</a:t>
            </a:r>
          </a:p>
          <a:p>
            <a:pPr lvl="2"/>
            <a:r>
              <a:rPr lang="zh-CN" altLang="en-US" dirty="0">
                <a:latin typeface="微软雅黑" pitchFamily="34" charset="-122"/>
                <a:ea typeface="微软雅黑" pitchFamily="34" charset="-122"/>
              </a:rPr>
              <a:t>如果将</a:t>
            </a:r>
            <a:r>
              <a:rPr lang="en-US" altLang="zh-CN" dirty="0">
                <a:latin typeface="微软雅黑" pitchFamily="34" charset="-122"/>
                <a:ea typeface="微软雅黑" pitchFamily="34" charset="-122"/>
              </a:rPr>
              <a:t>s = 0</a:t>
            </a:r>
            <a:r>
              <a:rPr lang="zh-CN" altLang="en-US" dirty="0">
                <a:latin typeface="微软雅黑" pitchFamily="34" charset="-122"/>
                <a:ea typeface="微软雅黑" pitchFamily="34" charset="-122"/>
              </a:rPr>
              <a:t>也看成是基本操作，则语句频度为２，其时间复杂度仍为Ｏ(1)，即</a:t>
            </a:r>
            <a:r>
              <a:rPr lang="zh-CN" altLang="en-US" dirty="0">
                <a:solidFill>
                  <a:srgbClr val="FF0000"/>
                </a:solidFill>
                <a:latin typeface="微软雅黑" pitchFamily="34" charset="-122"/>
                <a:ea typeface="微软雅黑" pitchFamily="34" charset="-122"/>
              </a:rPr>
              <a:t>常量阶</a:t>
            </a:r>
            <a:r>
              <a:rPr lang="zh-CN" altLang="en-US" dirty="0">
                <a:latin typeface="微软雅黑" pitchFamily="34" charset="-122"/>
                <a:ea typeface="微软雅黑" pitchFamily="34" charset="-122"/>
              </a:rPr>
              <a:t>。</a:t>
            </a:r>
          </a:p>
        </p:txBody>
      </p:sp>
      <p:sp>
        <p:nvSpPr>
          <p:cNvPr id="2" name="Rectangle 2">
            <a:extLst>
              <a:ext uri="{FF2B5EF4-FFF2-40B4-BE49-F238E27FC236}">
                <a16:creationId xmlns:a16="http://schemas.microsoft.com/office/drawing/2014/main" id="{32591BBC-F8CF-8BA6-11F6-8B833364D3AA}"/>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821EC9B5-DF8D-E4CE-B339-F456B68518B6}"/>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342710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4"/>
          <p:cNvSpPr txBox="1">
            <a:spLocks noChangeArrowheads="1"/>
          </p:cNvSpPr>
          <p:nvPr/>
        </p:nvSpPr>
        <p:spPr bwMode="auto">
          <a:xfrm>
            <a:off x="682734" y="1831694"/>
            <a:ext cx="4397691"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怎样估算算法的时间复杂度？</a:t>
            </a:r>
          </a:p>
        </p:txBody>
      </p:sp>
      <p:sp>
        <p:nvSpPr>
          <p:cNvPr id="11" name="Text Box 5"/>
          <p:cNvSpPr txBox="1">
            <a:spLocks noChangeArrowheads="1"/>
          </p:cNvSpPr>
          <p:nvPr/>
        </p:nvSpPr>
        <p:spPr bwMode="auto">
          <a:xfrm>
            <a:off x="682733" y="2108693"/>
            <a:ext cx="7777162"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算法＝控制结构＋</a:t>
            </a:r>
            <a:r>
              <a:rPr lang="zh-CN" altLang="en-US" dirty="0">
                <a:solidFill>
                  <a:srgbClr val="FF0000"/>
                </a:solidFill>
              </a:rPr>
              <a:t>原操作</a:t>
            </a:r>
            <a:r>
              <a:rPr lang="zh-CN" altLang="en-US" dirty="0"/>
              <a:t>（固有数据类型的操作）</a:t>
            </a:r>
          </a:p>
        </p:txBody>
      </p:sp>
      <p:sp>
        <p:nvSpPr>
          <p:cNvPr id="15" name="Text Box 7"/>
          <p:cNvSpPr txBox="1">
            <a:spLocks noChangeArrowheads="1"/>
          </p:cNvSpPr>
          <p:nvPr/>
        </p:nvSpPr>
        <p:spPr bwMode="auto">
          <a:xfrm>
            <a:off x="682733" y="2399638"/>
            <a:ext cx="7777162" cy="6463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从算法中选取一种对于所研究的问题来说是基本操作的</a:t>
            </a:r>
            <a:r>
              <a:rPr lang="zh-CN" altLang="en-US" dirty="0">
                <a:solidFill>
                  <a:srgbClr val="FF0000"/>
                </a:solidFill>
              </a:rPr>
              <a:t>原操作</a:t>
            </a:r>
            <a:r>
              <a:rPr lang="zh-CN" altLang="en-US" dirty="0"/>
              <a:t>，以该基本操作在算法中重复执行的次数作为算法运行时间的度量。</a:t>
            </a:r>
          </a:p>
        </p:txBody>
      </p:sp>
      <p:sp>
        <p:nvSpPr>
          <p:cNvPr id="9" name="矩形 8"/>
          <p:cNvSpPr/>
          <p:nvPr/>
        </p:nvSpPr>
        <p:spPr>
          <a:xfrm>
            <a:off x="935596" y="3057804"/>
            <a:ext cx="7272807" cy="1200329"/>
          </a:xfrm>
          <a:prstGeom prst="rect">
            <a:avLst/>
          </a:prstGeom>
        </p:spPr>
        <p:txBody>
          <a:bodyPr wrap="square">
            <a:spAutoFit/>
          </a:bodyPr>
          <a:lstStyle/>
          <a:p>
            <a:pPr lvl="1"/>
            <a:r>
              <a:rPr lang="zh-CN" altLang="en-US" dirty="0">
                <a:latin typeface="微软雅黑" pitchFamily="34" charset="-122"/>
                <a:ea typeface="微软雅黑" pitchFamily="34" charset="-122"/>
              </a:rPr>
              <a:t>例2、</a:t>
            </a:r>
            <a:r>
              <a:rPr lang="en-US" altLang="zh-CN" dirty="0">
                <a:latin typeface="微软雅黑" pitchFamily="34" charset="-122"/>
                <a:ea typeface="微软雅黑" pitchFamily="34" charset="-122"/>
              </a:rPr>
              <a:t>for(i = 1; i &lt;= n; ++i)</a:t>
            </a:r>
          </a:p>
          <a:p>
            <a:pPr lvl="2"/>
            <a:r>
              <a:rPr lang="en-US" altLang="zh-CN" dirty="0">
                <a:latin typeface="微软雅黑" pitchFamily="34" charset="-122"/>
                <a:ea typeface="微软雅黑" pitchFamily="34" charset="-122"/>
              </a:rPr>
              <a:t>              {++x;  s += x;}</a:t>
            </a:r>
          </a:p>
          <a:p>
            <a:pPr lvl="2"/>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语句频度为：2</a:t>
            </a:r>
            <a:r>
              <a:rPr lang="en-US" altLang="zh-CN" dirty="0">
                <a:latin typeface="微软雅黑" pitchFamily="34" charset="-122"/>
                <a:ea typeface="微软雅黑" pitchFamily="34" charset="-122"/>
              </a:rPr>
              <a:t>n　</a:t>
            </a:r>
            <a:r>
              <a:rPr lang="zh-CN" altLang="en-US" dirty="0">
                <a:latin typeface="微软雅黑" pitchFamily="34" charset="-122"/>
                <a:ea typeface="微软雅黑" pitchFamily="34" charset="-122"/>
              </a:rPr>
              <a:t>其时间复杂度为：</a:t>
            </a:r>
            <a:r>
              <a:rPr lang="en-US" altLang="zh-CN" dirty="0">
                <a:latin typeface="微软雅黑" pitchFamily="34" charset="-122"/>
                <a:ea typeface="微软雅黑" pitchFamily="34" charset="-122"/>
              </a:rPr>
              <a:t>O(n)</a:t>
            </a:r>
            <a:r>
              <a:rPr lang="zh-CN" altLang="en-US" dirty="0">
                <a:latin typeface="微软雅黑" pitchFamily="34" charset="-122"/>
                <a:ea typeface="微软雅黑" pitchFamily="34" charset="-122"/>
              </a:rPr>
              <a:t>，即时间复杂度为</a:t>
            </a:r>
            <a:r>
              <a:rPr lang="zh-CN" altLang="en-US" dirty="0">
                <a:solidFill>
                  <a:srgbClr val="FF0000"/>
                </a:solidFill>
                <a:latin typeface="微软雅黑" pitchFamily="34" charset="-122"/>
                <a:ea typeface="微软雅黑" pitchFamily="34" charset="-122"/>
              </a:rPr>
              <a:t>线性阶</a:t>
            </a:r>
            <a:r>
              <a:rPr lang="zh-CN" altLang="en-US" dirty="0">
                <a:latin typeface="微软雅黑" pitchFamily="34" charset="-122"/>
                <a:ea typeface="微软雅黑" pitchFamily="34" charset="-122"/>
              </a:rPr>
              <a:t>。</a:t>
            </a:r>
          </a:p>
        </p:txBody>
      </p:sp>
      <p:cxnSp>
        <p:nvCxnSpPr>
          <p:cNvPr id="14" name="直接连接符 13"/>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A15AEA02-7908-5D05-0C5C-6EC09131799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16B00A98-91D6-EF9D-891D-981C3BE919E0}"/>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14657153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4"/>
          <p:cNvSpPr txBox="1">
            <a:spLocks noChangeArrowheads="1"/>
          </p:cNvSpPr>
          <p:nvPr/>
        </p:nvSpPr>
        <p:spPr bwMode="auto">
          <a:xfrm>
            <a:off x="682734" y="1831694"/>
            <a:ext cx="4397691"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怎样估算算法的时间复杂度？</a:t>
            </a:r>
          </a:p>
        </p:txBody>
      </p:sp>
      <p:sp>
        <p:nvSpPr>
          <p:cNvPr id="11" name="Text Box 5"/>
          <p:cNvSpPr txBox="1">
            <a:spLocks noChangeArrowheads="1"/>
          </p:cNvSpPr>
          <p:nvPr/>
        </p:nvSpPr>
        <p:spPr bwMode="auto">
          <a:xfrm>
            <a:off x="682733" y="2108693"/>
            <a:ext cx="7777162"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算法＝控制结构＋</a:t>
            </a:r>
            <a:r>
              <a:rPr lang="zh-CN" altLang="en-US" dirty="0">
                <a:solidFill>
                  <a:srgbClr val="FF0000"/>
                </a:solidFill>
              </a:rPr>
              <a:t>原操作</a:t>
            </a:r>
            <a:r>
              <a:rPr lang="zh-CN" altLang="en-US" dirty="0"/>
              <a:t>（固有数据类型的操作）</a:t>
            </a:r>
          </a:p>
        </p:txBody>
      </p:sp>
      <p:sp>
        <p:nvSpPr>
          <p:cNvPr id="15" name="Text Box 7"/>
          <p:cNvSpPr txBox="1">
            <a:spLocks noChangeArrowheads="1"/>
          </p:cNvSpPr>
          <p:nvPr/>
        </p:nvSpPr>
        <p:spPr bwMode="auto">
          <a:xfrm>
            <a:off x="682733" y="2399638"/>
            <a:ext cx="7777162" cy="6463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从算法中选取一种对于所研究的问题来说是基本操作的</a:t>
            </a:r>
            <a:r>
              <a:rPr lang="zh-CN" altLang="en-US" dirty="0">
                <a:solidFill>
                  <a:srgbClr val="FF0000"/>
                </a:solidFill>
              </a:rPr>
              <a:t>原操作</a:t>
            </a:r>
            <a:r>
              <a:rPr lang="zh-CN" altLang="en-US" dirty="0"/>
              <a:t>，以该基本操作在算法中重复执行的次数作为算法运行时间的度量。</a:t>
            </a:r>
          </a:p>
        </p:txBody>
      </p:sp>
      <p:sp>
        <p:nvSpPr>
          <p:cNvPr id="13" name="Rectangle 3"/>
          <p:cNvSpPr txBox="1">
            <a:spLocks noChangeArrowheads="1"/>
          </p:cNvSpPr>
          <p:nvPr/>
        </p:nvSpPr>
        <p:spPr>
          <a:xfrm>
            <a:off x="1187624" y="3003798"/>
            <a:ext cx="6983623" cy="1477328"/>
          </a:xfrm>
          <a:prstGeom prst="rect">
            <a:avLst/>
          </a:prstGeom>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pPr lvl="1"/>
            <a:r>
              <a:rPr lang="zh-CN" altLang="en-US" dirty="0">
                <a:latin typeface="微软雅黑" pitchFamily="34" charset="-122"/>
                <a:ea typeface="微软雅黑" pitchFamily="34" charset="-122"/>
              </a:rPr>
              <a:t>例3、</a:t>
            </a:r>
            <a:r>
              <a:rPr lang="en-US" altLang="zh-CN" dirty="0">
                <a:latin typeface="微软雅黑" pitchFamily="34" charset="-122"/>
                <a:ea typeface="微软雅黑" pitchFamily="34" charset="-122"/>
              </a:rPr>
              <a:t>for(i = 1; i &lt;= n; ++i)</a:t>
            </a:r>
          </a:p>
          <a:p>
            <a:pPr lvl="1"/>
            <a:r>
              <a:rPr lang="en-US" altLang="zh-CN" dirty="0">
                <a:latin typeface="微软雅黑" pitchFamily="34" charset="-122"/>
                <a:ea typeface="微软雅黑" pitchFamily="34" charset="-122"/>
              </a:rPr>
              <a:t>　　　　for(j = 1; j &lt;= n; ++j)</a:t>
            </a:r>
          </a:p>
          <a:p>
            <a:pPr lvl="1"/>
            <a:r>
              <a:rPr lang="en-US" altLang="zh-CN" dirty="0">
                <a:latin typeface="微软雅黑" pitchFamily="34" charset="-122"/>
                <a:ea typeface="微软雅黑" pitchFamily="34" charset="-122"/>
              </a:rPr>
              <a:t>                        {++x;  s += x;}</a:t>
            </a:r>
          </a:p>
          <a:p>
            <a:pPr lvl="2"/>
            <a:r>
              <a:rPr lang="en-US" altLang="zh-CN" dirty="0">
                <a:latin typeface="微软雅黑" pitchFamily="34" charset="-122"/>
                <a:ea typeface="微软雅黑" pitchFamily="34" charset="-122"/>
              </a:rPr>
              <a:t>   </a:t>
            </a:r>
            <a:r>
              <a:rPr lang="zh-CN" altLang="en-US" dirty="0">
                <a:latin typeface="微软雅黑" pitchFamily="34" charset="-122"/>
                <a:ea typeface="微软雅黑" pitchFamily="34" charset="-122"/>
              </a:rPr>
              <a:t>语句频度为：2</a:t>
            </a:r>
            <a:r>
              <a:rPr lang="en-US" altLang="zh-CN" dirty="0">
                <a:latin typeface="微软雅黑" pitchFamily="34" charset="-122"/>
                <a:ea typeface="微软雅黑" pitchFamily="34" charset="-122"/>
              </a:rPr>
              <a:t>n</a:t>
            </a:r>
            <a:r>
              <a:rPr lang="en-US" altLang="zh-CN" baseline="30000" dirty="0">
                <a:latin typeface="微软雅黑" pitchFamily="34" charset="-122"/>
                <a:ea typeface="微软雅黑" pitchFamily="34" charset="-122"/>
              </a:rPr>
              <a:t>2</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其时间复杂度为：</a:t>
            </a:r>
            <a:r>
              <a:rPr lang="en-US" altLang="zh-CN" dirty="0">
                <a:latin typeface="微软雅黑" pitchFamily="34" charset="-122"/>
                <a:ea typeface="微软雅黑" pitchFamily="34" charset="-122"/>
              </a:rPr>
              <a:t>O(n</a:t>
            </a:r>
            <a:r>
              <a:rPr lang="en-US" altLang="zh-CN" baseline="30000" dirty="0">
                <a:latin typeface="微软雅黑" pitchFamily="34" charset="-122"/>
                <a:ea typeface="微软雅黑" pitchFamily="34" charset="-122"/>
              </a:rPr>
              <a:t>2</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，即时间复杂度为</a:t>
            </a:r>
            <a:r>
              <a:rPr lang="zh-CN" altLang="en-US" dirty="0">
                <a:solidFill>
                  <a:srgbClr val="FF0000"/>
                </a:solidFill>
                <a:latin typeface="微软雅黑" pitchFamily="34" charset="-122"/>
                <a:ea typeface="微软雅黑" pitchFamily="34" charset="-122"/>
              </a:rPr>
              <a:t>平方阶</a:t>
            </a:r>
            <a:r>
              <a:rPr lang="zh-CN" altLang="en-US" dirty="0">
                <a:latin typeface="微软雅黑" pitchFamily="34" charset="-122"/>
                <a:ea typeface="微软雅黑" pitchFamily="34" charset="-122"/>
              </a:rPr>
              <a:t>。</a:t>
            </a:r>
          </a:p>
        </p:txBody>
      </p:sp>
      <p:cxnSp>
        <p:nvCxnSpPr>
          <p:cNvPr id="16" name="直接连接符 15"/>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4C427718-2806-3FBF-64D4-168D3EBA88F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CC22BABB-6CC1-2638-65EC-9B487DBE61EF}"/>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9140217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4"/>
          <p:cNvSpPr txBox="1">
            <a:spLocks noChangeArrowheads="1"/>
          </p:cNvSpPr>
          <p:nvPr/>
        </p:nvSpPr>
        <p:spPr bwMode="auto">
          <a:xfrm>
            <a:off x="682734" y="1831694"/>
            <a:ext cx="4397691"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怎样估算算法的时间复杂度？</a:t>
            </a:r>
          </a:p>
        </p:txBody>
      </p:sp>
      <p:sp>
        <p:nvSpPr>
          <p:cNvPr id="11" name="Text Box 5"/>
          <p:cNvSpPr txBox="1">
            <a:spLocks noChangeArrowheads="1"/>
          </p:cNvSpPr>
          <p:nvPr/>
        </p:nvSpPr>
        <p:spPr bwMode="auto">
          <a:xfrm>
            <a:off x="682733" y="2108693"/>
            <a:ext cx="7777162"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算法＝控制结构＋</a:t>
            </a:r>
            <a:r>
              <a:rPr lang="zh-CN" altLang="en-US" dirty="0">
                <a:solidFill>
                  <a:srgbClr val="FF0000"/>
                </a:solidFill>
              </a:rPr>
              <a:t>原操作</a:t>
            </a:r>
            <a:r>
              <a:rPr lang="zh-CN" altLang="en-US" dirty="0"/>
              <a:t>（固有数据类型的操作）</a:t>
            </a:r>
          </a:p>
        </p:txBody>
      </p:sp>
      <p:sp>
        <p:nvSpPr>
          <p:cNvPr id="15" name="Text Box 7"/>
          <p:cNvSpPr txBox="1">
            <a:spLocks noChangeArrowheads="1"/>
          </p:cNvSpPr>
          <p:nvPr/>
        </p:nvSpPr>
        <p:spPr bwMode="auto">
          <a:xfrm>
            <a:off x="682733" y="2399638"/>
            <a:ext cx="7777162" cy="6463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从算法中选取一种对于所研究的问题来说是基本操作的</a:t>
            </a:r>
            <a:r>
              <a:rPr lang="zh-CN" altLang="en-US" dirty="0">
                <a:solidFill>
                  <a:srgbClr val="FF0000"/>
                </a:solidFill>
              </a:rPr>
              <a:t>原操作</a:t>
            </a:r>
            <a:r>
              <a:rPr lang="zh-CN" altLang="en-US" dirty="0"/>
              <a:t>，以该基本操作在算法中重复执行的次数作为算法运行时间的度量。</a:t>
            </a:r>
          </a:p>
        </p:txBody>
      </p:sp>
      <p:sp>
        <p:nvSpPr>
          <p:cNvPr id="9" name="Rectangle 3"/>
          <p:cNvSpPr txBox="1">
            <a:spLocks noChangeArrowheads="1"/>
          </p:cNvSpPr>
          <p:nvPr/>
        </p:nvSpPr>
        <p:spPr>
          <a:xfrm>
            <a:off x="682733" y="3057804"/>
            <a:ext cx="6907966" cy="1477328"/>
          </a:xfrm>
          <a:prstGeom prst="rect">
            <a:avLst/>
          </a:prstGeom>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pPr lvl="1"/>
            <a:r>
              <a:rPr lang="zh-CN" altLang="en-US" dirty="0">
                <a:latin typeface="微软雅黑" pitchFamily="34" charset="-122"/>
                <a:ea typeface="微软雅黑" pitchFamily="34" charset="-122"/>
              </a:rPr>
              <a:t>一般的：</a:t>
            </a:r>
          </a:p>
          <a:p>
            <a:pPr lvl="1"/>
            <a:r>
              <a:rPr lang="zh-CN" altLang="en-US" dirty="0">
                <a:latin typeface="微软雅黑" pitchFamily="34" charset="-122"/>
                <a:ea typeface="微软雅黑" pitchFamily="34" charset="-122"/>
              </a:rPr>
              <a:t>	　　若</a:t>
            </a:r>
            <a:r>
              <a:rPr lang="en-US" altLang="zh-CN" dirty="0">
                <a:latin typeface="微软雅黑" pitchFamily="34" charset="-122"/>
                <a:ea typeface="微软雅黑" pitchFamily="34" charset="-122"/>
              </a:rPr>
              <a:t>A(n)=a </a:t>
            </a:r>
            <a:r>
              <a:rPr lang="en-US" altLang="zh-CN" baseline="-25000" dirty="0">
                <a:latin typeface="微软雅黑" pitchFamily="34" charset="-122"/>
                <a:ea typeface="微软雅黑" pitchFamily="34" charset="-122"/>
              </a:rPr>
              <a:t>m</a:t>
            </a:r>
            <a:r>
              <a:rPr lang="en-US" altLang="zh-CN" dirty="0">
                <a:latin typeface="微软雅黑" pitchFamily="34" charset="-122"/>
                <a:ea typeface="微软雅黑" pitchFamily="34" charset="-122"/>
              </a:rPr>
              <a:t> n </a:t>
            </a:r>
            <a:r>
              <a:rPr lang="en-US" altLang="zh-CN" baseline="30000" dirty="0">
                <a:latin typeface="微软雅黑" pitchFamily="34" charset="-122"/>
                <a:ea typeface="微软雅黑" pitchFamily="34" charset="-122"/>
              </a:rPr>
              <a:t>m</a:t>
            </a:r>
            <a:r>
              <a:rPr lang="en-US" altLang="zh-CN" dirty="0">
                <a:latin typeface="微软雅黑" pitchFamily="34" charset="-122"/>
                <a:ea typeface="微软雅黑" pitchFamily="34" charset="-122"/>
              </a:rPr>
              <a:t> +a </a:t>
            </a:r>
            <a:r>
              <a:rPr lang="en-US" altLang="zh-CN" baseline="-25000" dirty="0">
                <a:latin typeface="微软雅黑" pitchFamily="34" charset="-122"/>
                <a:ea typeface="微软雅黑" pitchFamily="34" charset="-122"/>
              </a:rPr>
              <a:t>m-1</a:t>
            </a:r>
            <a:r>
              <a:rPr lang="en-US" altLang="zh-CN" dirty="0">
                <a:latin typeface="微软雅黑" pitchFamily="34" charset="-122"/>
                <a:ea typeface="微软雅黑" pitchFamily="34" charset="-122"/>
              </a:rPr>
              <a:t> n </a:t>
            </a:r>
            <a:r>
              <a:rPr lang="en-US" altLang="zh-CN" baseline="30000" dirty="0">
                <a:latin typeface="微软雅黑" pitchFamily="34" charset="-122"/>
                <a:ea typeface="微软雅黑" pitchFamily="34" charset="-122"/>
              </a:rPr>
              <a:t>m-1</a:t>
            </a:r>
            <a:r>
              <a:rPr lang="en-US" altLang="zh-CN" dirty="0">
                <a:latin typeface="微软雅黑" pitchFamily="34" charset="-122"/>
                <a:ea typeface="微软雅黑" pitchFamily="34" charset="-122"/>
              </a:rPr>
              <a:t> +…+a</a:t>
            </a:r>
            <a:r>
              <a:rPr lang="en-US" altLang="zh-CN" baseline="-25000" dirty="0">
                <a:latin typeface="微软雅黑" pitchFamily="34" charset="-122"/>
                <a:ea typeface="微软雅黑" pitchFamily="34" charset="-122"/>
              </a:rPr>
              <a:t>1</a:t>
            </a:r>
            <a:r>
              <a:rPr lang="en-US" altLang="zh-CN" dirty="0">
                <a:latin typeface="微软雅黑" pitchFamily="34" charset="-122"/>
                <a:ea typeface="微软雅黑" pitchFamily="34" charset="-122"/>
              </a:rPr>
              <a:t>n+a</a:t>
            </a:r>
            <a:r>
              <a:rPr lang="en-US" altLang="zh-CN" baseline="-25000" dirty="0">
                <a:latin typeface="微软雅黑" pitchFamily="34" charset="-122"/>
                <a:ea typeface="微软雅黑" pitchFamily="34" charset="-122"/>
              </a:rPr>
              <a:t>0</a:t>
            </a:r>
          </a:p>
          <a:p>
            <a:pPr lvl="1"/>
            <a:r>
              <a:rPr lang="zh-CN" altLang="en-US" dirty="0">
                <a:latin typeface="微软雅黑" pitchFamily="34" charset="-122"/>
                <a:ea typeface="微软雅黑" pitchFamily="34" charset="-122"/>
              </a:rPr>
              <a:t>是一个</a:t>
            </a:r>
            <a:r>
              <a:rPr lang="en-US" altLang="zh-CN" dirty="0">
                <a:latin typeface="微软雅黑" pitchFamily="34" charset="-122"/>
                <a:ea typeface="微软雅黑" pitchFamily="34" charset="-122"/>
              </a:rPr>
              <a:t>m</a:t>
            </a:r>
            <a:r>
              <a:rPr lang="zh-CN" altLang="en-US" dirty="0">
                <a:latin typeface="微软雅黑" pitchFamily="34" charset="-122"/>
                <a:ea typeface="微软雅黑" pitchFamily="34" charset="-122"/>
              </a:rPr>
              <a:t>次多项式，则时间复杂度记为</a:t>
            </a:r>
            <a:r>
              <a:rPr lang="en-US" altLang="zh-CN" dirty="0">
                <a:latin typeface="微软雅黑" pitchFamily="34" charset="-122"/>
                <a:ea typeface="微软雅黑" pitchFamily="34" charset="-122"/>
              </a:rPr>
              <a:t>O(n</a:t>
            </a:r>
            <a:r>
              <a:rPr lang="en-US" altLang="zh-CN" baseline="30000" dirty="0">
                <a:latin typeface="微软雅黑" pitchFamily="34" charset="-122"/>
                <a:ea typeface="微软雅黑" pitchFamily="34" charset="-122"/>
              </a:rPr>
              <a:t>m</a:t>
            </a:r>
            <a:r>
              <a:rPr lang="en-US" altLang="zh-CN" dirty="0">
                <a:latin typeface="微软雅黑" pitchFamily="34" charset="-122"/>
                <a:ea typeface="微软雅黑" pitchFamily="34" charset="-122"/>
              </a:rPr>
              <a:t>)。</a:t>
            </a:r>
          </a:p>
          <a:p>
            <a:pPr lvl="1"/>
            <a:endParaRPr lang="en-US" altLang="zh-CN" dirty="0">
              <a:latin typeface="微软雅黑" pitchFamily="34" charset="-122"/>
              <a:ea typeface="微软雅黑" pitchFamily="34" charset="-122"/>
            </a:endParaRPr>
          </a:p>
          <a:p>
            <a:pPr lvl="1"/>
            <a:r>
              <a:rPr lang="zh-CN" altLang="en-US" dirty="0">
                <a:latin typeface="微软雅黑" pitchFamily="34" charset="-122"/>
                <a:ea typeface="微软雅黑" pitchFamily="34" charset="-122"/>
              </a:rPr>
              <a:t>时间复杂度</a:t>
            </a:r>
            <a:r>
              <a:rPr lang="en-US" altLang="zh-CN" dirty="0">
                <a:latin typeface="微软雅黑" pitchFamily="34" charset="-122"/>
                <a:ea typeface="微软雅黑" pitchFamily="34" charset="-122"/>
              </a:rPr>
              <a:t>O(</a:t>
            </a:r>
            <a:r>
              <a:rPr lang="en-US" altLang="zh-CN" dirty="0" err="1">
                <a:latin typeface="微软雅黑" pitchFamily="34" charset="-122"/>
                <a:ea typeface="微软雅黑" pitchFamily="34" charset="-122"/>
              </a:rPr>
              <a:t>n</a:t>
            </a:r>
            <a:r>
              <a:rPr lang="en-US" altLang="zh-CN" baseline="30000" dirty="0" err="1">
                <a:latin typeface="微软雅黑" pitchFamily="34" charset="-122"/>
                <a:ea typeface="微软雅黑" pitchFamily="34" charset="-122"/>
              </a:rPr>
              <a:t>k</a:t>
            </a:r>
            <a:r>
              <a:rPr lang="en-US" altLang="zh-CN" dirty="0">
                <a:latin typeface="微软雅黑" pitchFamily="34" charset="-122"/>
                <a:ea typeface="微软雅黑" pitchFamily="34" charset="-122"/>
              </a:rPr>
              <a:t>)，k</a:t>
            </a:r>
            <a:r>
              <a:rPr lang="zh-CN" altLang="en-US" dirty="0">
                <a:latin typeface="微软雅黑" pitchFamily="34" charset="-122"/>
                <a:ea typeface="微软雅黑" pitchFamily="34" charset="-122"/>
              </a:rPr>
              <a:t>为常数，称该时间复杂度为</a:t>
            </a:r>
            <a:r>
              <a:rPr lang="en-US" altLang="zh-CN" dirty="0">
                <a:solidFill>
                  <a:srgbClr val="FF0000"/>
                </a:solidFill>
                <a:latin typeface="微软雅黑" pitchFamily="34" charset="-122"/>
                <a:ea typeface="微软雅黑" pitchFamily="34" charset="-122"/>
              </a:rPr>
              <a:t>k</a:t>
            </a:r>
            <a:r>
              <a:rPr lang="zh-CN" altLang="en-US" dirty="0">
                <a:solidFill>
                  <a:srgbClr val="FF0000"/>
                </a:solidFill>
                <a:latin typeface="微软雅黑" pitchFamily="34" charset="-122"/>
                <a:ea typeface="微软雅黑" pitchFamily="34" charset="-122"/>
              </a:rPr>
              <a:t>次方阶</a:t>
            </a:r>
            <a:r>
              <a:rPr lang="zh-CN" altLang="en-US" dirty="0">
                <a:latin typeface="微软雅黑" pitchFamily="34" charset="-122"/>
                <a:ea typeface="微软雅黑" pitchFamily="34" charset="-122"/>
              </a:rPr>
              <a:t>。</a:t>
            </a:r>
          </a:p>
        </p:txBody>
      </p:sp>
      <p:cxnSp>
        <p:nvCxnSpPr>
          <p:cNvPr id="14" name="直接连接符 13"/>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62CB53CF-6FFA-5B2C-D473-FCDDF6C3742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07419F78-4B65-204D-B133-25902CD585DC}"/>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2966289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p:cNvSpPr txBox="1">
            <a:spLocks noChangeArrowheads="1"/>
          </p:cNvSpPr>
          <p:nvPr/>
        </p:nvSpPr>
        <p:spPr>
          <a:xfrm>
            <a:off x="18810" y="1997945"/>
            <a:ext cx="9233710" cy="830997"/>
          </a:xfrm>
          <a:prstGeom prst="rect">
            <a:avLst/>
          </a:prstGeom>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pPr lvl="1"/>
            <a:r>
              <a:rPr lang="zh-CN" altLang="en-US" sz="2400" dirty="0"/>
              <a:t>最常用的算法的时间复杂度</a:t>
            </a:r>
          </a:p>
          <a:p>
            <a:pPr lvl="2"/>
            <a:r>
              <a:rPr lang="en-US" altLang="zh-CN" sz="2400" dirty="0"/>
              <a:t>O(1) &lt; O(log</a:t>
            </a:r>
            <a:r>
              <a:rPr lang="en-US" altLang="zh-CN" sz="2400" baseline="-25000" dirty="0"/>
              <a:t>2</a:t>
            </a:r>
            <a:r>
              <a:rPr lang="en-US" altLang="zh-CN" sz="2400" dirty="0"/>
              <a:t>n) &lt; O(n) &lt; O(nlog</a:t>
            </a:r>
            <a:r>
              <a:rPr lang="en-US" altLang="zh-CN" sz="2400" baseline="-25000" dirty="0"/>
              <a:t>2</a:t>
            </a:r>
            <a:r>
              <a:rPr lang="en-US" altLang="zh-CN" sz="2400" dirty="0"/>
              <a:t>n) &lt; O(n</a:t>
            </a:r>
            <a:r>
              <a:rPr lang="en-US" altLang="zh-CN" sz="2400" baseline="30000" dirty="0"/>
              <a:t>2</a:t>
            </a:r>
            <a:r>
              <a:rPr lang="en-US" altLang="zh-CN" sz="2400" dirty="0"/>
              <a:t>) &lt; O(n</a:t>
            </a:r>
            <a:r>
              <a:rPr lang="en-US" altLang="zh-CN" sz="2400" baseline="30000" dirty="0"/>
              <a:t>3</a:t>
            </a:r>
            <a:r>
              <a:rPr lang="en-US" altLang="zh-CN" sz="2400" dirty="0"/>
              <a:t>)</a:t>
            </a:r>
            <a:r>
              <a:rPr lang="zh-CN" altLang="zh-CN" sz="2400" dirty="0"/>
              <a:t> </a:t>
            </a:r>
            <a:r>
              <a:rPr lang="en-US" altLang="zh-CN" sz="2400" dirty="0"/>
              <a:t>&lt; O</a:t>
            </a:r>
            <a:r>
              <a:rPr lang="zh-CN" altLang="zh-CN" sz="2400" dirty="0"/>
              <a:t>(n</a:t>
            </a:r>
            <a:r>
              <a:rPr lang="zh-CN" altLang="zh-CN" sz="2400" baseline="30000" dirty="0"/>
              <a:t>k</a:t>
            </a:r>
            <a:r>
              <a:rPr lang="zh-CN" altLang="zh-CN" sz="2400" dirty="0"/>
              <a:t>)</a:t>
            </a:r>
            <a:r>
              <a:rPr lang="en-US" altLang="zh-CN" sz="2400" dirty="0"/>
              <a:t> &lt;O</a:t>
            </a:r>
            <a:r>
              <a:rPr lang="zh-CN" altLang="zh-CN" sz="2400" dirty="0"/>
              <a:t>(2</a:t>
            </a:r>
            <a:r>
              <a:rPr lang="zh-CN" altLang="zh-CN" sz="2400" baseline="30000" dirty="0"/>
              <a:t>n</a:t>
            </a:r>
            <a:r>
              <a:rPr lang="zh-CN" altLang="zh-CN" sz="2400" dirty="0"/>
              <a:t>)</a:t>
            </a:r>
            <a:endParaRPr lang="en-US" altLang="zh-CN" sz="2400" dirty="0"/>
          </a:p>
        </p:txBody>
      </p:sp>
      <p:sp>
        <p:nvSpPr>
          <p:cNvPr id="17" name="矩形 16"/>
          <p:cNvSpPr/>
          <p:nvPr/>
        </p:nvSpPr>
        <p:spPr>
          <a:xfrm>
            <a:off x="0" y="3147814"/>
            <a:ext cx="6096000" cy="830997"/>
          </a:xfrm>
          <a:prstGeom prst="rect">
            <a:avLst/>
          </a:prstGeom>
        </p:spPr>
        <p:txBody>
          <a:bodyPr>
            <a:spAutoFit/>
          </a:bodyPr>
          <a:lstStyle/>
          <a:p>
            <a:pPr lvl="1"/>
            <a:r>
              <a:rPr lang="zh-CN" altLang="en-US" sz="2400" dirty="0"/>
              <a:t>指数时间复杂度的关系为：</a:t>
            </a:r>
          </a:p>
          <a:p>
            <a:pPr lvl="2"/>
            <a:r>
              <a:rPr lang="en-US" altLang="zh-CN" sz="2400" dirty="0"/>
              <a:t>		O(2</a:t>
            </a:r>
            <a:r>
              <a:rPr lang="en-US" altLang="zh-CN" sz="2400" baseline="30000" dirty="0"/>
              <a:t>n</a:t>
            </a:r>
            <a:r>
              <a:rPr lang="en-US" altLang="zh-CN" sz="2400" dirty="0"/>
              <a:t>) &lt; O(n!) &lt; O(</a:t>
            </a:r>
            <a:r>
              <a:rPr lang="en-US" altLang="zh-CN" sz="2400" dirty="0" err="1"/>
              <a:t>n</a:t>
            </a:r>
            <a:r>
              <a:rPr lang="en-US" altLang="zh-CN" sz="2400" baseline="30000" dirty="0" err="1"/>
              <a:t>n</a:t>
            </a:r>
            <a:r>
              <a:rPr lang="en-US" altLang="zh-CN" sz="2400" dirty="0"/>
              <a:t>)</a:t>
            </a:r>
          </a:p>
        </p:txBody>
      </p:sp>
      <p:sp>
        <p:nvSpPr>
          <p:cNvPr id="18" name="矩形 17"/>
          <p:cNvSpPr/>
          <p:nvPr/>
        </p:nvSpPr>
        <p:spPr>
          <a:xfrm>
            <a:off x="879276" y="2778482"/>
            <a:ext cx="8129413" cy="369332"/>
          </a:xfrm>
          <a:prstGeom prst="rect">
            <a:avLst/>
          </a:prstGeom>
        </p:spPr>
        <p:txBody>
          <a:bodyPr wrap="square">
            <a:spAutoFit/>
          </a:bodyPr>
          <a:lstStyle/>
          <a:p>
            <a:r>
              <a:rPr lang="zh-CN" altLang="zh-CN" dirty="0"/>
              <a:t>常</a:t>
            </a:r>
            <a:r>
              <a:rPr lang="zh-CN" altLang="en-US" dirty="0"/>
              <a:t>量阶      </a:t>
            </a:r>
            <a:r>
              <a:rPr lang="zh-CN" altLang="zh-CN" dirty="0"/>
              <a:t>对数阶</a:t>
            </a:r>
            <a:r>
              <a:rPr lang="en-US" altLang="zh-CN" dirty="0"/>
              <a:t>         </a:t>
            </a:r>
            <a:r>
              <a:rPr lang="zh-CN" altLang="zh-CN" dirty="0"/>
              <a:t>线性阶</a:t>
            </a:r>
            <a:r>
              <a:rPr lang="en-US" altLang="zh-CN" dirty="0"/>
              <a:t>    </a:t>
            </a:r>
            <a:r>
              <a:rPr lang="zh-CN" altLang="zh-CN" dirty="0"/>
              <a:t>线性对数阶</a:t>
            </a:r>
            <a:r>
              <a:rPr lang="en-US" altLang="zh-CN" dirty="0"/>
              <a:t>     </a:t>
            </a:r>
            <a:r>
              <a:rPr lang="zh-CN" altLang="zh-CN" dirty="0"/>
              <a:t>平方阶</a:t>
            </a:r>
            <a:r>
              <a:rPr lang="en-US" altLang="zh-CN" dirty="0"/>
              <a:t>     </a:t>
            </a:r>
            <a:r>
              <a:rPr lang="zh-CN" altLang="zh-CN" dirty="0"/>
              <a:t>立方阶</a:t>
            </a:r>
            <a:r>
              <a:rPr lang="en-US" altLang="zh-CN" dirty="0"/>
              <a:t>    </a:t>
            </a:r>
            <a:r>
              <a:rPr lang="zh-CN" altLang="zh-CN" dirty="0"/>
              <a:t>k次方阶</a:t>
            </a:r>
            <a:r>
              <a:rPr lang="en-US" altLang="zh-CN" dirty="0"/>
              <a:t>  </a:t>
            </a:r>
            <a:r>
              <a:rPr lang="zh-CN" altLang="zh-CN" dirty="0"/>
              <a:t>指数阶</a:t>
            </a:r>
            <a:r>
              <a:rPr lang="en-US" altLang="zh-CN" dirty="0"/>
              <a:t> </a:t>
            </a:r>
            <a:endParaRPr lang="zh-CN" altLang="en-US" dirty="0"/>
          </a:p>
        </p:txBody>
      </p:sp>
      <p:cxnSp>
        <p:nvCxnSpPr>
          <p:cNvPr id="11" name="直接连接符 10"/>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88B25EB4-ED83-2DA6-B991-ECEF9B3F3922}"/>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77D1DB01-5E3C-673F-70C3-15DD82E73A40}"/>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221219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54968" y="1600206"/>
            <a:ext cx="8681528" cy="646331"/>
          </a:xfrm>
          <a:prstGeom prst="rect">
            <a:avLst/>
          </a:prstGeom>
        </p:spPr>
        <p:txBody>
          <a:bodyPr wrap="square">
            <a:spAutoFit/>
          </a:bodyPr>
          <a:lstStyle/>
          <a:p>
            <a:r>
              <a:rPr lang="zh-CN" altLang="zh-CN" dirty="0">
                <a:latin typeface="微软雅黑" pitchFamily="34" charset="-122"/>
                <a:ea typeface="微软雅黑" pitchFamily="34" charset="-122"/>
              </a:rPr>
              <a:t>最坏情况下的时间复杂度称为最坏时间复杂度。</a:t>
            </a:r>
            <a:r>
              <a:rPr lang="zh-CN" altLang="en-US" dirty="0">
                <a:latin typeface="微软雅黑" pitchFamily="34" charset="-122"/>
                <a:ea typeface="微软雅黑" pitchFamily="34" charset="-122"/>
              </a:rPr>
              <a:t>除</a:t>
            </a:r>
            <a:r>
              <a:rPr lang="zh-CN" altLang="zh-CN" dirty="0">
                <a:latin typeface="微软雅黑" pitchFamily="34" charset="-122"/>
                <a:ea typeface="微软雅黑" pitchFamily="34" charset="-122"/>
              </a:rPr>
              <a:t>特别说明</a:t>
            </a:r>
            <a:r>
              <a:rPr lang="zh-CN" altLang="en-US" dirty="0">
                <a:latin typeface="微软雅黑" pitchFamily="34" charset="-122"/>
                <a:ea typeface="微软雅黑" pitchFamily="34" charset="-122"/>
              </a:rPr>
              <a:t>外</a:t>
            </a:r>
            <a:r>
              <a:rPr lang="zh-CN" altLang="zh-CN" dirty="0">
                <a:latin typeface="微软雅黑" pitchFamily="34" charset="-122"/>
                <a:ea typeface="微软雅黑" pitchFamily="34" charset="-122"/>
              </a:rPr>
              <a:t>，一般讨论的时间复杂度均是最坏情况下的时间复杂度。</a:t>
            </a:r>
          </a:p>
        </p:txBody>
      </p:sp>
      <p:sp>
        <p:nvSpPr>
          <p:cNvPr id="9" name="Rectangle 4"/>
          <p:cNvSpPr>
            <a:spLocks noChangeArrowheads="1"/>
          </p:cNvSpPr>
          <p:nvPr/>
        </p:nvSpPr>
        <p:spPr bwMode="auto">
          <a:xfrm>
            <a:off x="383936" y="2264376"/>
            <a:ext cx="5412200" cy="2816156"/>
          </a:xfrm>
          <a:prstGeom prst="rect">
            <a:avLst/>
          </a:prstGeom>
          <a:noFill/>
          <a:ln>
            <a:noFill/>
          </a:ln>
          <a:effectLst/>
        </p:spPr>
        <p:txBody>
          <a:bodyPr wrap="square" lIns="108000" rIns="108000" anchor="ctr">
            <a:spAutoFit/>
          </a:bodyPr>
          <a:lstStyle/>
          <a:p>
            <a:pPr>
              <a:lnSpc>
                <a:spcPts val="1000"/>
              </a:lnSpc>
              <a:spcBef>
                <a:spcPct val="50000"/>
              </a:spcBef>
              <a:buFontTx/>
              <a:buNone/>
            </a:pPr>
            <a:r>
              <a:rPr kumimoji="1" lang="en-US" altLang="zh-CN" sz="1400" dirty="0">
                <a:latin typeface="Tahoma" pitchFamily="34" charset="0"/>
              </a:rPr>
              <a:t>void </a:t>
            </a:r>
            <a:r>
              <a:rPr kumimoji="1" lang="en-US" altLang="zh-CN" sz="1400" dirty="0" err="1">
                <a:latin typeface="Tahoma" pitchFamily="34" charset="0"/>
              </a:rPr>
              <a:t>Bubble_Sort</a:t>
            </a:r>
            <a:r>
              <a:rPr kumimoji="1" lang="en-US" altLang="zh-CN" sz="1400" dirty="0">
                <a:latin typeface="Tahoma" pitchFamily="34" charset="0"/>
              </a:rPr>
              <a:t>(</a:t>
            </a:r>
            <a:r>
              <a:rPr kumimoji="1" lang="en-US" altLang="zh-CN" sz="1400" dirty="0" err="1">
                <a:latin typeface="Tahoma" pitchFamily="34" charset="0"/>
              </a:rPr>
              <a:t>int</a:t>
            </a:r>
            <a:r>
              <a:rPr kumimoji="1" lang="en-US" altLang="zh-CN" sz="1400" dirty="0">
                <a:latin typeface="Tahoma" pitchFamily="34" charset="0"/>
              </a:rPr>
              <a:t> a[],</a:t>
            </a:r>
            <a:r>
              <a:rPr kumimoji="1" lang="en-US" altLang="zh-CN" sz="1400" dirty="0" err="1">
                <a:latin typeface="Tahoma" pitchFamily="34" charset="0"/>
              </a:rPr>
              <a:t>int</a:t>
            </a:r>
            <a:r>
              <a:rPr kumimoji="1" lang="en-US" altLang="zh-CN" sz="1400" dirty="0">
                <a:latin typeface="Tahoma" pitchFamily="34" charset="0"/>
              </a:rPr>
              <a:t> n) </a:t>
            </a:r>
          </a:p>
          <a:p>
            <a:pPr>
              <a:lnSpc>
                <a:spcPts val="1000"/>
              </a:lnSpc>
              <a:spcBef>
                <a:spcPct val="50000"/>
              </a:spcBef>
              <a:buFontTx/>
              <a:buNone/>
            </a:pPr>
            <a:r>
              <a:rPr kumimoji="1" lang="en-US" altLang="zh-CN" sz="1400" dirty="0">
                <a:latin typeface="Tahoma" pitchFamily="34" charset="0"/>
              </a:rPr>
              <a:t>//</a:t>
            </a:r>
            <a:r>
              <a:rPr kumimoji="1" lang="zh-CN" altLang="en-US" sz="1400" dirty="0">
                <a:latin typeface="Tahoma" pitchFamily="34" charset="0"/>
              </a:rPr>
              <a:t>冒泡排序</a:t>
            </a:r>
            <a:endParaRPr kumimoji="1" lang="en-US" altLang="zh-CN" sz="1400" dirty="0">
              <a:latin typeface="Tahoma" pitchFamily="34" charset="0"/>
            </a:endParaRPr>
          </a:p>
          <a:p>
            <a:pPr>
              <a:lnSpc>
                <a:spcPts val="1000"/>
              </a:lnSpc>
              <a:spcBef>
                <a:spcPct val="50000"/>
              </a:spcBef>
              <a:buFontTx/>
              <a:buNone/>
            </a:pPr>
            <a:r>
              <a:rPr kumimoji="1" lang="en-US" altLang="zh-CN" sz="1400" dirty="0">
                <a:latin typeface="Tahoma" pitchFamily="34" charset="0"/>
              </a:rPr>
              <a:t> {</a:t>
            </a:r>
          </a:p>
          <a:p>
            <a:pPr>
              <a:lnSpc>
                <a:spcPts val="1000"/>
              </a:lnSpc>
              <a:spcBef>
                <a:spcPct val="50000"/>
              </a:spcBef>
              <a:buFontTx/>
              <a:buNone/>
            </a:pPr>
            <a:r>
              <a:rPr kumimoji="1" lang="en-US" altLang="zh-CN" sz="1400" dirty="0">
                <a:latin typeface="Tahoma" pitchFamily="34" charset="0"/>
              </a:rPr>
              <a:t>       for(i = n-1, change = TRUE; i &gt; 1 &amp;&amp; change; --i){ </a:t>
            </a:r>
          </a:p>
          <a:p>
            <a:pPr>
              <a:lnSpc>
                <a:spcPts val="1000"/>
              </a:lnSpc>
              <a:spcBef>
                <a:spcPct val="50000"/>
              </a:spcBef>
              <a:buFontTx/>
              <a:buNone/>
            </a:pPr>
            <a:r>
              <a:rPr kumimoji="1" lang="en-US" altLang="zh-CN" sz="1400" dirty="0">
                <a:latin typeface="Tahoma" pitchFamily="34" charset="0"/>
              </a:rPr>
              <a:t>           change =FALSE; </a:t>
            </a:r>
          </a:p>
          <a:p>
            <a:pPr>
              <a:lnSpc>
                <a:spcPts val="1000"/>
              </a:lnSpc>
              <a:spcBef>
                <a:spcPct val="50000"/>
              </a:spcBef>
              <a:buFontTx/>
              <a:buNone/>
            </a:pPr>
            <a:r>
              <a:rPr kumimoji="1" lang="en-US" altLang="zh-CN" sz="1400" dirty="0">
                <a:latin typeface="Tahoma" pitchFamily="34" charset="0"/>
              </a:rPr>
              <a:t>             for(j = 0;  j &lt; i ;  ++j) </a:t>
            </a:r>
          </a:p>
          <a:p>
            <a:pPr>
              <a:lnSpc>
                <a:spcPts val="1000"/>
              </a:lnSpc>
              <a:spcBef>
                <a:spcPct val="50000"/>
              </a:spcBef>
              <a:buFontTx/>
              <a:buNone/>
            </a:pPr>
            <a:r>
              <a:rPr kumimoji="1" lang="en-US" altLang="zh-CN" sz="1400" dirty="0">
                <a:latin typeface="Tahoma" pitchFamily="34" charset="0"/>
              </a:rPr>
              <a:t>                   if (a[j]&gt;a[j+1] ) {</a:t>
            </a:r>
          </a:p>
          <a:p>
            <a:pPr>
              <a:lnSpc>
                <a:spcPts val="1000"/>
              </a:lnSpc>
              <a:spcBef>
                <a:spcPct val="50000"/>
              </a:spcBef>
              <a:buFontTx/>
              <a:buNone/>
            </a:pPr>
            <a:r>
              <a:rPr kumimoji="1" lang="en-US" altLang="zh-CN" sz="1400" dirty="0">
                <a:latin typeface="Tahoma" pitchFamily="34" charset="0"/>
              </a:rPr>
              <a:t>                           a[j]</a:t>
            </a:r>
            <a:r>
              <a:rPr kumimoji="1" lang="en-US" altLang="zh-CN" sz="1400" dirty="0">
                <a:latin typeface="Tahoma" pitchFamily="34" charset="0"/>
                <a:sym typeface="Wingdings" pitchFamily="2" charset="2"/>
              </a:rPr>
              <a:t></a:t>
            </a:r>
            <a:r>
              <a:rPr kumimoji="1" lang="en-US" altLang="zh-CN" sz="1400" dirty="0">
                <a:latin typeface="Tahoma" pitchFamily="34" charset="0"/>
              </a:rPr>
              <a:t>a[j+1] )  ;</a:t>
            </a:r>
          </a:p>
          <a:p>
            <a:pPr>
              <a:lnSpc>
                <a:spcPts val="1000"/>
              </a:lnSpc>
              <a:spcBef>
                <a:spcPct val="50000"/>
              </a:spcBef>
              <a:buFontTx/>
              <a:buNone/>
            </a:pPr>
            <a:r>
              <a:rPr kumimoji="1" lang="en-US" altLang="zh-CN" sz="1400" dirty="0">
                <a:latin typeface="Tahoma" pitchFamily="34" charset="0"/>
              </a:rPr>
              <a:t>                           change =TRUE; </a:t>
            </a:r>
          </a:p>
          <a:p>
            <a:pPr>
              <a:lnSpc>
                <a:spcPts val="1000"/>
              </a:lnSpc>
              <a:spcBef>
                <a:spcPct val="50000"/>
              </a:spcBef>
              <a:buFontTx/>
              <a:buNone/>
            </a:pPr>
            <a:r>
              <a:rPr kumimoji="1" lang="en-US" altLang="zh-CN" sz="1400" dirty="0">
                <a:latin typeface="Tahoma" pitchFamily="34" charset="0"/>
              </a:rPr>
              <a:t>                   }//if</a:t>
            </a:r>
            <a:endParaRPr kumimoji="1" lang="en-US" altLang="zh-CN" sz="1400" dirty="0">
              <a:solidFill>
                <a:srgbClr val="EEEEEE"/>
              </a:solidFill>
              <a:latin typeface="Tahoma" pitchFamily="34" charset="0"/>
            </a:endParaRPr>
          </a:p>
          <a:p>
            <a:pPr>
              <a:lnSpc>
                <a:spcPts val="1000"/>
              </a:lnSpc>
              <a:spcBef>
                <a:spcPct val="50000"/>
              </a:spcBef>
              <a:buFontTx/>
              <a:buNone/>
            </a:pPr>
            <a:r>
              <a:rPr kumimoji="1" lang="en-US" altLang="zh-CN" sz="1400" dirty="0">
                <a:solidFill>
                  <a:srgbClr val="EEEEEE"/>
                </a:solidFill>
                <a:latin typeface="Tahoma" pitchFamily="34" charset="0"/>
              </a:rPr>
              <a:t>      </a:t>
            </a:r>
            <a:r>
              <a:rPr kumimoji="1" lang="en-US" altLang="zh-CN" sz="1400" dirty="0">
                <a:latin typeface="Tahoma" pitchFamily="34" charset="0"/>
              </a:rPr>
              <a:t>} //for </a:t>
            </a:r>
          </a:p>
          <a:p>
            <a:pPr>
              <a:lnSpc>
                <a:spcPts val="1000"/>
              </a:lnSpc>
              <a:spcBef>
                <a:spcPct val="50000"/>
              </a:spcBef>
              <a:buFontTx/>
              <a:buNone/>
            </a:pPr>
            <a:r>
              <a:rPr kumimoji="1" lang="en-US" altLang="zh-CN" sz="1400" dirty="0">
                <a:latin typeface="Tahoma" pitchFamily="34" charset="0"/>
              </a:rPr>
              <a:t>} // </a:t>
            </a:r>
            <a:r>
              <a:rPr kumimoji="1" lang="en-US" altLang="zh-CN" sz="1400" dirty="0" err="1">
                <a:latin typeface="Tahoma" pitchFamily="34" charset="0"/>
              </a:rPr>
              <a:t>Bubble_Sort</a:t>
            </a:r>
            <a:endParaRPr kumimoji="1" lang="en-US" altLang="zh-CN" sz="1400" dirty="0">
              <a:latin typeface="Tahoma" pitchFamily="34" charset="0"/>
            </a:endParaRPr>
          </a:p>
        </p:txBody>
      </p:sp>
      <p:sp>
        <p:nvSpPr>
          <p:cNvPr id="11" name="AutoShape 8"/>
          <p:cNvSpPr>
            <a:spLocks noChangeArrowheads="1"/>
          </p:cNvSpPr>
          <p:nvPr/>
        </p:nvSpPr>
        <p:spPr bwMode="auto">
          <a:xfrm>
            <a:off x="4211960" y="3585781"/>
            <a:ext cx="4724400" cy="685800"/>
          </a:xfrm>
          <a:prstGeom prst="wedgeRectCallout">
            <a:avLst>
              <a:gd name="adj1" fmla="val -19136"/>
              <a:gd name="adj2" fmla="val -47904"/>
            </a:avLst>
          </a:prstGeom>
          <a:solidFill>
            <a:srgbClr val="E9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0" rIns="0" anchor="ctr"/>
          <a:lstStyle/>
          <a:p>
            <a:pPr>
              <a:spcBef>
                <a:spcPct val="0"/>
              </a:spcBef>
              <a:buFontTx/>
              <a:buNone/>
            </a:pPr>
            <a:r>
              <a:rPr kumimoji="1" lang="zh-CN" altLang="en-US" dirty="0">
                <a:latin typeface="楷体_GB2312" pitchFamily="49" charset="-122"/>
                <a:ea typeface="楷体_GB2312" pitchFamily="49" charset="-122"/>
              </a:rPr>
              <a:t>最好情况下，元素的交换次数为</a:t>
            </a:r>
            <a:r>
              <a:rPr kumimoji="1" lang="en-US" altLang="zh-CN" dirty="0">
                <a:latin typeface="楷体_GB2312" pitchFamily="49" charset="-122"/>
                <a:ea typeface="楷体_GB2312" pitchFamily="49" charset="-122"/>
              </a:rPr>
              <a:t>:</a:t>
            </a:r>
            <a:r>
              <a:rPr kumimoji="1" lang="en-US" altLang="zh-CN" dirty="0">
                <a:latin typeface="Tahoma" pitchFamily="34" charset="0"/>
              </a:rPr>
              <a:t> 0</a:t>
            </a:r>
          </a:p>
          <a:p>
            <a:pPr>
              <a:spcBef>
                <a:spcPct val="0"/>
              </a:spcBef>
              <a:buFontTx/>
              <a:buNone/>
            </a:pPr>
            <a:r>
              <a:rPr kumimoji="1" lang="zh-CN" altLang="en-US" dirty="0">
                <a:latin typeface="楷体_GB2312" pitchFamily="49" charset="-122"/>
                <a:ea typeface="楷体_GB2312" pitchFamily="49" charset="-122"/>
              </a:rPr>
              <a:t>最坏情况下，元素的交换次数为</a:t>
            </a:r>
            <a:r>
              <a:rPr kumimoji="1" lang="en-US" altLang="zh-CN" dirty="0">
                <a:latin typeface="楷体_GB2312" pitchFamily="49" charset="-122"/>
                <a:ea typeface="楷体_GB2312" pitchFamily="49" charset="-122"/>
              </a:rPr>
              <a:t>:</a:t>
            </a:r>
            <a:r>
              <a:rPr kumimoji="1" lang="en-US" altLang="zh-CN" dirty="0">
                <a:latin typeface="Tahoma" pitchFamily="34" charset="0"/>
                <a:sym typeface="Wingdings" pitchFamily="2" charset="2"/>
              </a:rPr>
              <a:t> n(n-1)/2</a:t>
            </a:r>
          </a:p>
        </p:txBody>
      </p:sp>
      <p:sp>
        <p:nvSpPr>
          <p:cNvPr id="13" name="矩形 12"/>
          <p:cNvSpPr/>
          <p:nvPr/>
        </p:nvSpPr>
        <p:spPr>
          <a:xfrm>
            <a:off x="4223285" y="4462165"/>
            <a:ext cx="4400564" cy="369332"/>
          </a:xfrm>
          <a:prstGeom prst="rect">
            <a:avLst/>
          </a:prstGeom>
        </p:spPr>
        <p:txBody>
          <a:bodyPr wrap="none">
            <a:spAutoFit/>
          </a:bodyPr>
          <a:lstStyle/>
          <a:p>
            <a:r>
              <a:rPr lang="zh-CN" altLang="en-US" dirty="0"/>
              <a:t>所以这个算法的时间复杂度为：</a:t>
            </a:r>
            <a:r>
              <a:rPr lang="en-US" altLang="zh-CN" dirty="0"/>
              <a:t>T(n)=O(n</a:t>
            </a:r>
            <a:r>
              <a:rPr lang="en-US" altLang="zh-CN" baseline="30000" dirty="0"/>
              <a:t>2</a:t>
            </a:r>
            <a:r>
              <a:rPr lang="en-US" altLang="zh-CN" dirty="0"/>
              <a:t>)</a:t>
            </a:r>
            <a:endParaRPr lang="zh-CN" altLang="en-US" dirty="0"/>
          </a:p>
        </p:txBody>
      </p:sp>
      <p:cxnSp>
        <p:nvCxnSpPr>
          <p:cNvPr id="15" name="直接连接符 14"/>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3D40B0AB-199C-C866-5E29-278ECFA91A46}"/>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9B8F1822-6F80-B0C5-25FA-7F4F8657C68A}"/>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1.3.2 </a:t>
            </a:r>
            <a:r>
              <a:rPr lang="zh-CN" altLang="en-US" sz="2800" b="1" dirty="0">
                <a:solidFill>
                  <a:schemeClr val="bg1"/>
                </a:solidFill>
                <a:latin typeface="经典粗黑简" pitchFamily="49" charset="-122"/>
                <a:ea typeface="经典粗黑简" pitchFamily="49" charset="-122"/>
                <a:cs typeface="经典粗黑简" pitchFamily="49" charset="-122"/>
              </a:rPr>
              <a:t>算法的时间性能分析</a:t>
            </a:r>
          </a:p>
        </p:txBody>
      </p:sp>
    </p:spTree>
    <p:extLst>
      <p:ext uri="{BB962C8B-B14F-4D97-AF65-F5344CB8AC3E}">
        <p14:creationId xmlns:p14="http://schemas.microsoft.com/office/powerpoint/2010/main" val="190362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39553" y="1869673"/>
            <a:ext cx="8280920" cy="1015663"/>
          </a:xfrm>
          <a:prstGeom prst="rect">
            <a:avLst/>
          </a:prstGeom>
        </p:spPr>
        <p:txBody>
          <a:bodyPr wrap="square">
            <a:spAutoFit/>
          </a:bodyPr>
          <a:lstStyle/>
          <a:p>
            <a:r>
              <a:rPr lang="zh-CN" altLang="zh-CN" sz="2000" dirty="0">
                <a:latin typeface="微软雅黑" pitchFamily="34" charset="-122"/>
                <a:ea typeface="微软雅黑" pitchFamily="34" charset="-122"/>
                <a:cs typeface="经典粗黑简" pitchFamily="49" charset="-122"/>
              </a:rPr>
              <a:t>类似于时间复杂度的讨论，一个算法的</a:t>
            </a:r>
            <a:r>
              <a:rPr lang="zh-CN" altLang="zh-CN" sz="2000" dirty="0">
                <a:solidFill>
                  <a:srgbClr val="FF0000"/>
                </a:solidFill>
                <a:latin typeface="微软雅黑" pitchFamily="34" charset="-122"/>
                <a:ea typeface="微软雅黑" pitchFamily="34" charset="-122"/>
                <a:cs typeface="经典粗黑简" pitchFamily="49" charset="-122"/>
              </a:rPr>
              <a:t>空间复杂度</a:t>
            </a:r>
            <a:r>
              <a:rPr lang="zh-CN" altLang="zh-CN" sz="2000" dirty="0">
                <a:latin typeface="微软雅黑" pitchFamily="34" charset="-122"/>
                <a:ea typeface="微软雅黑" pitchFamily="34" charset="-122"/>
                <a:cs typeface="经典粗黑简" pitchFamily="49" charset="-122"/>
              </a:rPr>
              <a:t>(Space Complexity)S(n)定义为该算法所耗费的存储空间，它也是关于问题规模n的函数。</a:t>
            </a:r>
            <a:endParaRPr lang="en-US" altLang="zh-CN" sz="2000" dirty="0">
              <a:latin typeface="微软雅黑" pitchFamily="34" charset="-122"/>
              <a:ea typeface="微软雅黑" pitchFamily="34" charset="-122"/>
              <a:cs typeface="经典粗黑简" pitchFamily="49" charset="-122"/>
            </a:endParaRPr>
          </a:p>
        </p:txBody>
      </p:sp>
      <p:sp>
        <p:nvSpPr>
          <p:cNvPr id="15" name="Text Box 5"/>
          <p:cNvSpPr txBox="1">
            <a:spLocks noChangeArrowheads="1"/>
          </p:cNvSpPr>
          <p:nvPr/>
        </p:nvSpPr>
        <p:spPr bwMode="auto">
          <a:xfrm>
            <a:off x="546586" y="2915018"/>
            <a:ext cx="7129463" cy="70788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sz="2000" dirty="0"/>
              <a:t>算法空间复杂度</a:t>
            </a:r>
          </a:p>
          <a:p>
            <a:pPr lvl="1"/>
            <a:r>
              <a:rPr lang="en-US" altLang="zh-CN" sz="2000" dirty="0">
                <a:latin typeface="微软雅黑" pitchFamily="34" charset="-122"/>
                <a:ea typeface="微软雅黑" pitchFamily="34" charset="-122"/>
                <a:cs typeface="经典粗黑简" pitchFamily="49" charset="-122"/>
              </a:rPr>
              <a:t>	　　S(n)=O(f(n)) </a:t>
            </a:r>
            <a:r>
              <a:rPr lang="zh-CN" altLang="en-US" sz="2000" dirty="0">
                <a:latin typeface="微软雅黑" pitchFamily="34" charset="-122"/>
                <a:ea typeface="微软雅黑" pitchFamily="34" charset="-122"/>
                <a:cs typeface="经典粗黑简" pitchFamily="49" charset="-122"/>
              </a:rPr>
              <a:t>称为算法的空间复杂度。</a:t>
            </a:r>
          </a:p>
        </p:txBody>
      </p:sp>
      <p:sp>
        <p:nvSpPr>
          <p:cNvPr id="19" name="矩形 18"/>
          <p:cNvSpPr/>
          <p:nvPr/>
        </p:nvSpPr>
        <p:spPr>
          <a:xfrm>
            <a:off x="546585" y="3709863"/>
            <a:ext cx="6096000" cy="400110"/>
          </a:xfrm>
          <a:prstGeom prst="rect">
            <a:avLst/>
          </a:prstGeom>
        </p:spPr>
        <p:txBody>
          <a:bodyPr>
            <a:spAutoFit/>
          </a:bodyPr>
          <a:lstStyle/>
          <a:p>
            <a:r>
              <a:rPr lang="zh-CN" altLang="zh-CN" sz="2000" dirty="0">
                <a:latin typeface="微软雅黑" pitchFamily="34" charset="-122"/>
                <a:ea typeface="微软雅黑" pitchFamily="34" charset="-122"/>
                <a:cs typeface="经典粗黑简" pitchFamily="49" charset="-122"/>
              </a:rPr>
              <a:t>算法的时间复杂度和空间复杂度统称为</a:t>
            </a:r>
            <a:r>
              <a:rPr lang="zh-CN" altLang="zh-CN" sz="2000" dirty="0">
                <a:solidFill>
                  <a:srgbClr val="FF0000"/>
                </a:solidFill>
                <a:latin typeface="微软雅黑" pitchFamily="34" charset="-122"/>
                <a:ea typeface="微软雅黑" pitchFamily="34" charset="-122"/>
                <a:cs typeface="经典粗黑简" pitchFamily="49" charset="-122"/>
              </a:rPr>
              <a:t>算法的复杂度</a:t>
            </a:r>
            <a:r>
              <a:rPr lang="zh-CN" altLang="zh-CN" sz="2000" dirty="0">
                <a:latin typeface="微软雅黑" pitchFamily="34" charset="-122"/>
                <a:ea typeface="微软雅黑" pitchFamily="34" charset="-122"/>
                <a:cs typeface="经典粗黑简" pitchFamily="49" charset="-122"/>
              </a:rPr>
              <a:t>。</a:t>
            </a:r>
          </a:p>
        </p:txBody>
      </p:sp>
      <p:cxnSp>
        <p:nvCxnSpPr>
          <p:cNvPr id="11" name="直接连接符 10"/>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802A7B7B-30D5-4023-581F-4826FE525826}"/>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14CFD0F3-47C5-87C5-52B9-8D31F813DD47}"/>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1.3.3 </a:t>
            </a:r>
            <a:r>
              <a:rPr lang="zh-CN" altLang="en-US" sz="2800" b="1" dirty="0">
                <a:solidFill>
                  <a:schemeClr val="bg1"/>
                </a:solidFill>
                <a:latin typeface="经典粗黑简" pitchFamily="49" charset="-122"/>
                <a:ea typeface="经典粗黑简" pitchFamily="49" charset="-122"/>
                <a:cs typeface="经典粗黑简" pitchFamily="49" charset="-122"/>
              </a:rPr>
              <a:t>算法的空间性能分析</a:t>
            </a:r>
          </a:p>
        </p:txBody>
      </p:sp>
    </p:spTree>
    <p:extLst>
      <p:ext uri="{BB962C8B-B14F-4D97-AF65-F5344CB8AC3E}">
        <p14:creationId xmlns:p14="http://schemas.microsoft.com/office/powerpoint/2010/main" val="380523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4" name="Text Box 5"/>
          <p:cNvSpPr txBox="1">
            <a:spLocks noChangeArrowheads="1"/>
          </p:cNvSpPr>
          <p:nvPr/>
        </p:nvSpPr>
        <p:spPr bwMode="auto">
          <a:xfrm>
            <a:off x="2411760" y="1851670"/>
            <a:ext cx="4566668" cy="207441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sz="2800" dirty="0"/>
              <a:t>算法的存储量包括：</a:t>
            </a:r>
          </a:p>
          <a:p>
            <a:r>
              <a:rPr lang="en-US" altLang="zh-CN" sz="2800" dirty="0"/>
              <a:t>1</a:t>
            </a:r>
            <a:r>
              <a:rPr lang="zh-CN" altLang="en-US" sz="2800" dirty="0"/>
              <a:t>、输入数据所占空间</a:t>
            </a:r>
          </a:p>
          <a:p>
            <a:r>
              <a:rPr lang="en-US" altLang="zh-CN" sz="2800" dirty="0"/>
              <a:t>2</a:t>
            </a:r>
            <a:r>
              <a:rPr lang="zh-CN" altLang="en-US" sz="2800" dirty="0"/>
              <a:t>、程序本身所占空间</a:t>
            </a:r>
            <a:endParaRPr lang="en-US" altLang="zh-CN" sz="2800" dirty="0"/>
          </a:p>
          <a:p>
            <a:r>
              <a:rPr lang="en-US" altLang="zh-CN" sz="2800" dirty="0"/>
              <a:t>3</a:t>
            </a:r>
            <a:r>
              <a:rPr lang="zh-CN" altLang="en-US" sz="2800" dirty="0"/>
              <a:t>、辅助变量所占空间</a:t>
            </a:r>
            <a:endParaRPr lang="en-US" altLang="zh-CN" sz="2800" dirty="0"/>
          </a:p>
        </p:txBody>
      </p:sp>
      <p:sp>
        <p:nvSpPr>
          <p:cNvPr id="15" name="Text Box 6"/>
          <p:cNvSpPr txBox="1">
            <a:spLocks noChangeArrowheads="1"/>
          </p:cNvSpPr>
          <p:nvPr/>
        </p:nvSpPr>
        <p:spPr bwMode="auto">
          <a:xfrm>
            <a:off x="210952" y="3831890"/>
            <a:ext cx="8546532" cy="70788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sz="2000" dirty="0">
                <a:latin typeface="楷体_GB2312" pitchFamily="49" charset="-122"/>
                <a:ea typeface="楷体_GB2312" pitchFamily="49" charset="-122"/>
              </a:rPr>
              <a:t>    若输入数据所占空间只取决于问题本身，和算法无关，则只需要分析除输入和程序之外的</a:t>
            </a:r>
            <a:r>
              <a:rPr lang="zh-CN" altLang="en-US" sz="2000" dirty="0">
                <a:solidFill>
                  <a:srgbClr val="FF0000"/>
                </a:solidFill>
                <a:latin typeface="楷体_GB2312" pitchFamily="49" charset="-122"/>
                <a:ea typeface="楷体_GB2312" pitchFamily="49" charset="-122"/>
              </a:rPr>
              <a:t>辅助变量所占额外空间</a:t>
            </a:r>
            <a:r>
              <a:rPr lang="zh-CN" altLang="en-US" sz="2000" dirty="0">
                <a:latin typeface="楷体_GB2312" pitchFamily="49" charset="-122"/>
                <a:ea typeface="楷体_GB2312" pitchFamily="49" charset="-122"/>
              </a:rPr>
              <a:t>。</a:t>
            </a:r>
          </a:p>
        </p:txBody>
      </p:sp>
      <p:sp>
        <p:nvSpPr>
          <p:cNvPr id="2" name="Rectangle 2">
            <a:extLst>
              <a:ext uri="{FF2B5EF4-FFF2-40B4-BE49-F238E27FC236}">
                <a16:creationId xmlns:a16="http://schemas.microsoft.com/office/drawing/2014/main" id="{EB6B4A21-9087-72D4-F83D-008D9FC91AF7}"/>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2B2FAF16-BCE0-401A-11F3-9BD33F72906E}"/>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1.3.3 </a:t>
            </a:r>
            <a:r>
              <a:rPr lang="zh-CN" altLang="en-US" sz="2800" b="1" dirty="0">
                <a:solidFill>
                  <a:schemeClr val="bg1"/>
                </a:solidFill>
                <a:latin typeface="经典粗黑简" pitchFamily="49" charset="-122"/>
                <a:ea typeface="经典粗黑简" pitchFamily="49" charset="-122"/>
                <a:cs typeface="经典粗黑简" pitchFamily="49" charset="-122"/>
              </a:rPr>
              <a:t>算法的空间性能分析</a:t>
            </a:r>
          </a:p>
        </p:txBody>
      </p:sp>
    </p:spTree>
    <p:extLst>
      <p:ext uri="{BB962C8B-B14F-4D97-AF65-F5344CB8AC3E}">
        <p14:creationId xmlns:p14="http://schemas.microsoft.com/office/powerpoint/2010/main" val="405334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5"/>
          <p:cNvSpPr txBox="1">
            <a:spLocks noChangeArrowheads="1"/>
          </p:cNvSpPr>
          <p:nvPr/>
        </p:nvSpPr>
        <p:spPr bwMode="auto">
          <a:xfrm>
            <a:off x="377256" y="1464824"/>
            <a:ext cx="8286750"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en-US" altLang="zh-CN" dirty="0"/>
              <a:t>【</a:t>
            </a:r>
            <a:r>
              <a:rPr lang="zh-CN" altLang="en-US" dirty="0"/>
              <a:t>例</a:t>
            </a:r>
            <a:r>
              <a:rPr lang="en-US" altLang="zh-CN" dirty="0"/>
              <a:t>】</a:t>
            </a:r>
            <a:r>
              <a:rPr lang="zh-CN" altLang="en-US" dirty="0"/>
              <a:t>计算</a:t>
            </a:r>
          </a:p>
        </p:txBody>
      </p:sp>
      <p:graphicFrame>
        <p:nvGraphicFramePr>
          <p:cNvPr id="13" name="Object 2"/>
          <p:cNvGraphicFramePr>
            <a:graphicFrameLocks noChangeAspect="1"/>
          </p:cNvGraphicFramePr>
          <p:nvPr>
            <p:extLst>
              <p:ext uri="{D42A27DB-BD31-4B8C-83A1-F6EECF244321}">
                <p14:modId xmlns:p14="http://schemas.microsoft.com/office/powerpoint/2010/main" val="1153136540"/>
              </p:ext>
            </p:extLst>
          </p:nvPr>
        </p:nvGraphicFramePr>
        <p:xfrm>
          <a:off x="1708579" y="1419622"/>
          <a:ext cx="3369536" cy="367403"/>
        </p:xfrm>
        <a:graphic>
          <a:graphicData uri="http://schemas.openxmlformats.org/presentationml/2006/ole">
            <mc:AlternateContent xmlns:mc="http://schemas.openxmlformats.org/markup-compatibility/2006">
              <mc:Choice xmlns:v="urn:schemas-microsoft-com:vml" Requires="v">
                <p:oleObj name="公式" r:id="rId2" imgW="2006600" imgH="241300" progId="Equation.3">
                  <p:embed/>
                </p:oleObj>
              </mc:Choice>
              <mc:Fallback>
                <p:oleObj name="公式" r:id="rId2" imgW="2006600" imgH="2413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8579" y="1419622"/>
                        <a:ext cx="3369536" cy="367403"/>
                      </a:xfrm>
                      <a:prstGeom prst="rect">
                        <a:avLst/>
                      </a:prstGeom>
                      <a:noFill/>
                      <a:ln w="9525">
                        <a:noFill/>
                        <a:miter lim="800000"/>
                        <a:headEnd/>
                        <a:tailEnd/>
                      </a:ln>
                      <a:effectLst/>
                    </p:spPr>
                  </p:pic>
                </p:oleObj>
              </mc:Fallback>
            </mc:AlternateContent>
          </a:graphicData>
        </a:graphic>
      </p:graphicFrame>
      <p:sp>
        <p:nvSpPr>
          <p:cNvPr id="14" name="矩形 13"/>
          <p:cNvSpPr/>
          <p:nvPr/>
        </p:nvSpPr>
        <p:spPr>
          <a:xfrm>
            <a:off x="4595936" y="3964985"/>
            <a:ext cx="4223487" cy="701731"/>
          </a:xfrm>
          <a:prstGeom prst="rect">
            <a:avLst/>
          </a:prstGeom>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rPr>
              <a:t>问题规模为</a:t>
            </a:r>
            <a:r>
              <a:rPr lang="en-US" altLang="zh-CN" dirty="0">
                <a:latin typeface="微软雅黑" pitchFamily="34" charset="-122"/>
                <a:ea typeface="微软雅黑" pitchFamily="34" charset="-122"/>
                <a:cs typeface="经典粗黑简" pitchFamily="49" charset="-122"/>
              </a:rPr>
              <a:t>n,    </a:t>
            </a:r>
            <a:r>
              <a:rPr lang="zh-CN" altLang="en-US" dirty="0">
                <a:latin typeface="微软雅黑" pitchFamily="34" charset="-122"/>
                <a:ea typeface="微软雅黑" pitchFamily="34" charset="-122"/>
                <a:cs typeface="经典粗黑简" pitchFamily="49" charset="-122"/>
              </a:rPr>
              <a:t>算法时间复杂度</a:t>
            </a:r>
            <a:r>
              <a:rPr lang="en-US" altLang="zh-CN" dirty="0">
                <a:latin typeface="微软雅黑" pitchFamily="34" charset="-122"/>
                <a:ea typeface="微软雅黑" pitchFamily="34" charset="-122"/>
                <a:cs typeface="经典粗黑简" pitchFamily="49" charset="-122"/>
              </a:rPr>
              <a:t>: O(n) </a:t>
            </a:r>
          </a:p>
          <a:p>
            <a:pPr>
              <a:spcBef>
                <a:spcPct val="20000"/>
              </a:spcBef>
            </a:pPr>
            <a:r>
              <a:rPr lang="zh-CN" altLang="en-US" dirty="0">
                <a:latin typeface="微软雅黑" pitchFamily="34" charset="-122"/>
                <a:ea typeface="微软雅黑" pitchFamily="34" charset="-122"/>
                <a:cs typeface="经典粗黑简" pitchFamily="49" charset="-122"/>
              </a:rPr>
              <a:t>                              空间复杂度：</a:t>
            </a:r>
            <a:r>
              <a:rPr lang="en-US" altLang="zh-CN" dirty="0">
                <a:latin typeface="微软雅黑" pitchFamily="34" charset="-122"/>
                <a:ea typeface="微软雅黑" pitchFamily="34" charset="-122"/>
                <a:cs typeface="经典粗黑简" pitchFamily="49" charset="-122"/>
              </a:rPr>
              <a:t>O(N)</a:t>
            </a:r>
          </a:p>
        </p:txBody>
      </p:sp>
      <p:sp>
        <p:nvSpPr>
          <p:cNvPr id="15" name="矩形 14"/>
          <p:cNvSpPr/>
          <p:nvPr/>
        </p:nvSpPr>
        <p:spPr>
          <a:xfrm>
            <a:off x="479991" y="1750738"/>
            <a:ext cx="8184017" cy="3416320"/>
          </a:xfrm>
          <a:prstGeom prst="rect">
            <a:avLst/>
          </a:prstGeom>
        </p:spPr>
        <p:txBody>
          <a:bodyPr wrap="square">
            <a:spAutoFit/>
          </a:bodyPr>
          <a:lstStyle/>
          <a:p>
            <a:r>
              <a:rPr lang="zh-CN" altLang="en-US" dirty="0">
                <a:latin typeface="微软雅黑" pitchFamily="34" charset="-122"/>
                <a:ea typeface="微软雅黑" pitchFamily="34" charset="-122"/>
                <a:cs typeface="经典粗黑简" pitchFamily="49" charset="-122"/>
              </a:rPr>
              <a:t>解法</a:t>
            </a:r>
            <a:r>
              <a:rPr lang="en-US" altLang="zh-CN" dirty="0">
                <a:latin typeface="微软雅黑" pitchFamily="34" charset="-122"/>
                <a:ea typeface="微软雅黑" pitchFamily="34" charset="-122"/>
                <a:cs typeface="经典粗黑简" pitchFamily="49" charset="-122"/>
              </a:rPr>
              <a:t>1</a:t>
            </a:r>
            <a:r>
              <a:rPr lang="zh-CN" altLang="en-US" dirty="0">
                <a:latin typeface="微软雅黑" pitchFamily="34" charset="-122"/>
                <a:ea typeface="微软雅黑" pitchFamily="34" charset="-122"/>
                <a:cs typeface="经典粗黑简" pitchFamily="49" charset="-122"/>
              </a:rPr>
              <a:t>：</a:t>
            </a:r>
            <a:r>
              <a:rPr lang="en-US" altLang="zh-CN" dirty="0">
                <a:latin typeface="微软雅黑" pitchFamily="34" charset="-122"/>
                <a:ea typeface="微软雅黑" pitchFamily="34" charset="-122"/>
                <a:cs typeface="经典粗黑简" pitchFamily="49" charset="-122"/>
              </a:rPr>
              <a:t> </a:t>
            </a:r>
            <a:r>
              <a:rPr lang="zh-CN" altLang="en-US" dirty="0">
                <a:latin typeface="微软雅黑" pitchFamily="34" charset="-122"/>
                <a:ea typeface="微软雅黑" pitchFamily="34" charset="-122"/>
                <a:cs typeface="经典粗黑简" pitchFamily="49" charset="-122"/>
              </a:rPr>
              <a:t>先计算</a:t>
            </a:r>
            <a:r>
              <a:rPr lang="en-US" altLang="zh-CN" dirty="0">
                <a:latin typeface="微软雅黑" pitchFamily="34" charset="-122"/>
                <a:ea typeface="微软雅黑" pitchFamily="34" charset="-122"/>
                <a:cs typeface="经典粗黑简" pitchFamily="49" charset="-122"/>
              </a:rPr>
              <a:t>x </a:t>
            </a:r>
            <a:r>
              <a:rPr lang="zh-CN" altLang="en-US" dirty="0">
                <a:latin typeface="微软雅黑" pitchFamily="34" charset="-122"/>
                <a:ea typeface="微软雅黑" pitchFamily="34" charset="-122"/>
                <a:cs typeface="经典粗黑简" pitchFamily="49" charset="-122"/>
              </a:rPr>
              <a:t>的幂</a:t>
            </a:r>
            <a:r>
              <a:rPr lang="en-US" altLang="zh-CN" dirty="0">
                <a:latin typeface="微软雅黑" pitchFamily="34" charset="-122"/>
                <a:ea typeface="微软雅黑" pitchFamily="34" charset="-122"/>
                <a:cs typeface="经典粗黑简" pitchFamily="49" charset="-122"/>
              </a:rPr>
              <a:t>, </a:t>
            </a:r>
            <a:r>
              <a:rPr lang="zh-CN" altLang="en-US" dirty="0">
                <a:latin typeface="微软雅黑" pitchFamily="34" charset="-122"/>
                <a:ea typeface="微软雅黑" pitchFamily="34" charset="-122"/>
                <a:cs typeface="经典粗黑简" pitchFamily="49" charset="-122"/>
              </a:rPr>
              <a:t>存于</a:t>
            </a:r>
            <a:r>
              <a:rPr lang="en-US" altLang="zh-CN" dirty="0">
                <a:latin typeface="微软雅黑" pitchFamily="34" charset="-122"/>
                <a:ea typeface="微软雅黑" pitchFamily="34" charset="-122"/>
                <a:cs typeface="经典粗黑简" pitchFamily="49" charset="-122"/>
              </a:rPr>
              <a:t>power[ ]</a:t>
            </a:r>
            <a:r>
              <a:rPr lang="zh-CN" altLang="en-US" dirty="0">
                <a:latin typeface="微软雅黑" pitchFamily="34" charset="-122"/>
                <a:ea typeface="微软雅黑" pitchFamily="34" charset="-122"/>
                <a:cs typeface="经典粗黑简" pitchFamily="49" charset="-122"/>
              </a:rPr>
              <a:t>中</a:t>
            </a:r>
            <a:r>
              <a:rPr lang="en-US" altLang="zh-CN" dirty="0">
                <a:latin typeface="微软雅黑" pitchFamily="34" charset="-122"/>
                <a:ea typeface="微软雅黑" pitchFamily="34" charset="-122"/>
                <a:cs typeface="经典粗黑简" pitchFamily="49" charset="-122"/>
              </a:rPr>
              <a:t>,</a:t>
            </a:r>
            <a:r>
              <a:rPr lang="zh-CN" altLang="en-US" dirty="0">
                <a:latin typeface="微软雅黑" pitchFamily="34" charset="-122"/>
                <a:ea typeface="微软雅黑" pitchFamily="34" charset="-122"/>
                <a:cs typeface="经典粗黑简" pitchFamily="49" charset="-122"/>
              </a:rPr>
              <a:t>再分别乘以相应的系数</a:t>
            </a:r>
          </a:p>
          <a:p>
            <a:r>
              <a:rPr lang="zh-CN" altLang="en-US" dirty="0">
                <a:latin typeface="微软雅黑" pitchFamily="34" charset="-122"/>
                <a:ea typeface="微软雅黑" pitchFamily="34" charset="-122"/>
                <a:cs typeface="经典粗黑简" pitchFamily="49" charset="-122"/>
              </a:rPr>
              <a:t>     </a:t>
            </a:r>
            <a:r>
              <a:rPr lang="en-US" altLang="zh-CN" dirty="0">
                <a:latin typeface="微软雅黑" pitchFamily="34" charset="-122"/>
                <a:ea typeface="微软雅黑" pitchFamily="34" charset="-122"/>
                <a:cs typeface="经典粗黑简" pitchFamily="49" charset="-122"/>
              </a:rPr>
              <a:t># define N 100</a:t>
            </a:r>
          </a:p>
          <a:p>
            <a:r>
              <a:rPr lang="en-US" altLang="zh-CN" dirty="0">
                <a:latin typeface="微软雅黑" pitchFamily="34" charset="-122"/>
                <a:ea typeface="微软雅黑" pitchFamily="34" charset="-122"/>
                <a:cs typeface="经典粗黑简" pitchFamily="49" charset="-122"/>
              </a:rPr>
              <a:t>      float   evaluate (float </a:t>
            </a:r>
            <a:r>
              <a:rPr lang="en-US" altLang="zh-CN" dirty="0" err="1">
                <a:latin typeface="微软雅黑" pitchFamily="34" charset="-122"/>
                <a:ea typeface="微软雅黑" pitchFamily="34" charset="-122"/>
                <a:cs typeface="经典粗黑简" pitchFamily="49" charset="-122"/>
              </a:rPr>
              <a:t>coef</a:t>
            </a:r>
            <a:r>
              <a:rPr lang="en-US" altLang="zh-CN" dirty="0">
                <a:latin typeface="微软雅黑" pitchFamily="34" charset="-122"/>
                <a:ea typeface="微软雅黑" pitchFamily="34" charset="-122"/>
                <a:cs typeface="经典粗黑简" pitchFamily="49" charset="-122"/>
              </a:rPr>
              <a:t>[ ], float x , </a:t>
            </a:r>
            <a:r>
              <a:rPr lang="en-US" altLang="zh-CN" dirty="0" err="1">
                <a:latin typeface="微软雅黑" pitchFamily="34" charset="-122"/>
                <a:ea typeface="微软雅黑" pitchFamily="34" charset="-122"/>
                <a:cs typeface="经典粗黑简" pitchFamily="49" charset="-122"/>
              </a:rPr>
              <a:t>int</a:t>
            </a:r>
            <a:r>
              <a:rPr lang="en-US" altLang="zh-CN" dirty="0">
                <a:latin typeface="微软雅黑" pitchFamily="34" charset="-122"/>
                <a:ea typeface="微软雅黑" pitchFamily="34" charset="-122"/>
                <a:cs typeface="经典粗黑简" pitchFamily="49" charset="-122"/>
              </a:rPr>
              <a:t> n )</a:t>
            </a:r>
          </a:p>
          <a:p>
            <a:r>
              <a:rPr lang="en-US" altLang="zh-CN" dirty="0">
                <a:latin typeface="微软雅黑" pitchFamily="34" charset="-122"/>
                <a:ea typeface="微软雅黑" pitchFamily="34" charset="-122"/>
                <a:cs typeface="经典粗黑简" pitchFamily="49" charset="-122"/>
              </a:rPr>
              <a:t>      { </a:t>
            </a:r>
          </a:p>
          <a:p>
            <a:r>
              <a:rPr lang="en-US" altLang="zh-CN" dirty="0">
                <a:latin typeface="微软雅黑" pitchFamily="34" charset="-122"/>
                <a:ea typeface="微软雅黑" pitchFamily="34" charset="-122"/>
                <a:cs typeface="经典粗黑简" pitchFamily="49" charset="-122"/>
              </a:rPr>
              <a:t>                float  </a:t>
            </a:r>
            <a:r>
              <a:rPr lang="en-US" altLang="zh-CN" dirty="0">
                <a:solidFill>
                  <a:srgbClr val="FF0000"/>
                </a:solidFill>
                <a:latin typeface="微软雅黑" pitchFamily="34" charset="-122"/>
                <a:ea typeface="微软雅黑" pitchFamily="34" charset="-122"/>
                <a:cs typeface="经典粗黑简" pitchFamily="49" charset="-122"/>
              </a:rPr>
              <a:t>power[N]</a:t>
            </a:r>
            <a:r>
              <a:rPr lang="en-US" altLang="zh-CN" dirty="0">
                <a:latin typeface="微软雅黑" pitchFamily="34" charset="-122"/>
                <a:ea typeface="微软雅黑" pitchFamily="34" charset="-122"/>
                <a:cs typeface="经典粗黑简" pitchFamily="49" charset="-122"/>
              </a:rPr>
              <a:t>, f; </a:t>
            </a:r>
            <a:r>
              <a:rPr lang="en-US" altLang="zh-CN" dirty="0" err="1">
                <a:latin typeface="微软雅黑" pitchFamily="34" charset="-122"/>
                <a:ea typeface="微软雅黑" pitchFamily="34" charset="-122"/>
                <a:cs typeface="经典粗黑简" pitchFamily="49" charset="-122"/>
              </a:rPr>
              <a:t>int</a:t>
            </a:r>
            <a:r>
              <a:rPr lang="en-US" altLang="zh-CN" dirty="0">
                <a:latin typeface="微软雅黑" pitchFamily="34" charset="-122"/>
                <a:ea typeface="微软雅黑" pitchFamily="34" charset="-122"/>
                <a:cs typeface="经典粗黑简" pitchFamily="49" charset="-122"/>
              </a:rPr>
              <a:t> i;</a:t>
            </a:r>
          </a:p>
          <a:p>
            <a:endParaRPr lang="en-US" altLang="zh-CN" dirty="0">
              <a:latin typeface="微软雅黑" pitchFamily="34" charset="-122"/>
              <a:ea typeface="微软雅黑" pitchFamily="34" charset="-122"/>
              <a:cs typeface="经典粗黑简" pitchFamily="49" charset="-122"/>
            </a:endParaRPr>
          </a:p>
          <a:p>
            <a:r>
              <a:rPr lang="en-US" altLang="zh-CN" dirty="0">
                <a:latin typeface="微软雅黑" pitchFamily="34" charset="-122"/>
                <a:ea typeface="微软雅黑" pitchFamily="34" charset="-122"/>
                <a:cs typeface="经典粗黑简" pitchFamily="49" charset="-122"/>
              </a:rPr>
              <a:t>                for (power[ 0]=1, i = 1; i&lt;=n; i++ ) </a:t>
            </a:r>
          </a:p>
          <a:p>
            <a:r>
              <a:rPr lang="en-US" altLang="zh-CN" dirty="0">
                <a:latin typeface="微软雅黑" pitchFamily="34" charset="-122"/>
                <a:ea typeface="微软雅黑" pitchFamily="34" charset="-122"/>
                <a:cs typeface="经典粗黑简" pitchFamily="49" charset="-122"/>
              </a:rPr>
              <a:t>                       power[i]=x*power[i-1]; </a:t>
            </a:r>
            <a:br>
              <a:rPr lang="en-US" altLang="zh-CN" dirty="0">
                <a:latin typeface="微软雅黑" pitchFamily="34" charset="-122"/>
                <a:ea typeface="微软雅黑" pitchFamily="34" charset="-122"/>
                <a:cs typeface="经典粗黑简" pitchFamily="49" charset="-122"/>
              </a:rPr>
            </a:br>
            <a:r>
              <a:rPr lang="en-US" altLang="zh-CN" dirty="0">
                <a:latin typeface="微软雅黑" pitchFamily="34" charset="-122"/>
                <a:ea typeface="微软雅黑" pitchFamily="34" charset="-122"/>
                <a:cs typeface="经典粗黑简" pitchFamily="49" charset="-122"/>
              </a:rPr>
              <a:t>                for (f = 0, i=0; i&lt;=N; i ++) </a:t>
            </a:r>
          </a:p>
          <a:p>
            <a:r>
              <a:rPr lang="en-US" altLang="zh-CN" dirty="0">
                <a:latin typeface="微软雅黑" pitchFamily="34" charset="-122"/>
                <a:ea typeface="微软雅黑" pitchFamily="34" charset="-122"/>
                <a:cs typeface="经典粗黑简" pitchFamily="49" charset="-122"/>
              </a:rPr>
              <a:t>                       f=</a:t>
            </a:r>
            <a:r>
              <a:rPr lang="en-US" altLang="zh-CN" dirty="0" err="1">
                <a:latin typeface="微软雅黑" pitchFamily="34" charset="-122"/>
                <a:ea typeface="微软雅黑" pitchFamily="34" charset="-122"/>
                <a:cs typeface="经典粗黑简" pitchFamily="49" charset="-122"/>
              </a:rPr>
              <a:t>f+coef</a:t>
            </a:r>
            <a:r>
              <a:rPr lang="en-US" altLang="zh-CN" dirty="0">
                <a:latin typeface="微软雅黑" pitchFamily="34" charset="-122"/>
                <a:ea typeface="微软雅黑" pitchFamily="34" charset="-122"/>
                <a:cs typeface="经典粗黑简" pitchFamily="49" charset="-122"/>
              </a:rPr>
              <a:t>[i]*power[i]; </a:t>
            </a:r>
          </a:p>
          <a:p>
            <a:r>
              <a:rPr lang="en-US" altLang="zh-CN" dirty="0">
                <a:latin typeface="微软雅黑" pitchFamily="34" charset="-122"/>
                <a:ea typeface="微软雅黑" pitchFamily="34" charset="-122"/>
                <a:cs typeface="经典粗黑简" pitchFamily="49" charset="-122"/>
              </a:rPr>
              <a:t>                return(f);</a:t>
            </a:r>
          </a:p>
          <a:p>
            <a:r>
              <a:rPr lang="en-US" altLang="zh-CN" dirty="0">
                <a:latin typeface="微软雅黑" pitchFamily="34" charset="-122"/>
                <a:ea typeface="微软雅黑" pitchFamily="34" charset="-122"/>
                <a:cs typeface="经典粗黑简" pitchFamily="49" charset="-122"/>
              </a:rPr>
              <a:t>  }   </a:t>
            </a:r>
          </a:p>
        </p:txBody>
      </p:sp>
      <p:cxnSp>
        <p:nvCxnSpPr>
          <p:cNvPr id="17" name="直接连接符 16"/>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B14EA656-21DA-37F4-1DC5-DB7A333A4D0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6202DE46-B54F-150A-3EDF-5E5809E30893}"/>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1.3.3 </a:t>
            </a:r>
            <a:r>
              <a:rPr lang="zh-CN" altLang="en-US" sz="2800" b="1" dirty="0">
                <a:solidFill>
                  <a:schemeClr val="bg1"/>
                </a:solidFill>
                <a:latin typeface="经典粗黑简" pitchFamily="49" charset="-122"/>
                <a:ea typeface="经典粗黑简" pitchFamily="49" charset="-122"/>
                <a:cs typeface="经典粗黑简" pitchFamily="49" charset="-122"/>
              </a:rPr>
              <a:t>算法的空间性能分析</a:t>
            </a:r>
          </a:p>
        </p:txBody>
      </p:sp>
    </p:spTree>
    <p:extLst>
      <p:ext uri="{BB962C8B-B14F-4D97-AF65-F5344CB8AC3E}">
        <p14:creationId xmlns:p14="http://schemas.microsoft.com/office/powerpoint/2010/main" val="4027365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5"/>
          <p:cNvSpPr txBox="1">
            <a:spLocks noChangeArrowheads="1"/>
          </p:cNvSpPr>
          <p:nvPr/>
        </p:nvSpPr>
        <p:spPr bwMode="auto">
          <a:xfrm>
            <a:off x="377256" y="1608840"/>
            <a:ext cx="8286750"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en-US" altLang="zh-CN" dirty="0"/>
              <a:t>【</a:t>
            </a:r>
            <a:r>
              <a:rPr lang="zh-CN" altLang="en-US" dirty="0"/>
              <a:t>例</a:t>
            </a:r>
            <a:r>
              <a:rPr lang="en-US" altLang="zh-CN" dirty="0"/>
              <a:t>】</a:t>
            </a:r>
            <a:r>
              <a:rPr lang="zh-CN" altLang="en-US" dirty="0"/>
              <a:t>计算</a:t>
            </a:r>
          </a:p>
        </p:txBody>
      </p:sp>
      <p:graphicFrame>
        <p:nvGraphicFramePr>
          <p:cNvPr id="13" name="Object 2"/>
          <p:cNvGraphicFramePr>
            <a:graphicFrameLocks noChangeAspect="1"/>
          </p:cNvGraphicFramePr>
          <p:nvPr>
            <p:extLst>
              <p:ext uri="{D42A27DB-BD31-4B8C-83A1-F6EECF244321}">
                <p14:modId xmlns:p14="http://schemas.microsoft.com/office/powerpoint/2010/main" val="9230116"/>
              </p:ext>
            </p:extLst>
          </p:nvPr>
        </p:nvGraphicFramePr>
        <p:xfrm>
          <a:off x="1708579" y="1563638"/>
          <a:ext cx="3369536" cy="367403"/>
        </p:xfrm>
        <a:graphic>
          <a:graphicData uri="http://schemas.openxmlformats.org/presentationml/2006/ole">
            <mc:AlternateContent xmlns:mc="http://schemas.openxmlformats.org/markup-compatibility/2006">
              <mc:Choice xmlns:v="urn:schemas-microsoft-com:vml" Requires="v">
                <p:oleObj name="公式" r:id="rId2" imgW="2006600" imgH="241300" progId="Equation.3">
                  <p:embed/>
                </p:oleObj>
              </mc:Choice>
              <mc:Fallback>
                <p:oleObj name="公式" r:id="rId2" imgW="2006600" imgH="2413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8579" y="1563638"/>
                        <a:ext cx="3369536" cy="367403"/>
                      </a:xfrm>
                      <a:prstGeom prst="rect">
                        <a:avLst/>
                      </a:prstGeom>
                      <a:noFill/>
                      <a:ln w="9525">
                        <a:noFill/>
                        <a:miter lim="800000"/>
                        <a:headEnd/>
                        <a:tailEnd/>
                      </a:ln>
                      <a:effectLst/>
                    </p:spPr>
                  </p:pic>
                </p:oleObj>
              </mc:Fallback>
            </mc:AlternateContent>
          </a:graphicData>
        </a:graphic>
      </p:graphicFrame>
      <p:sp>
        <p:nvSpPr>
          <p:cNvPr id="9" name="矩形 8"/>
          <p:cNvSpPr/>
          <p:nvPr/>
        </p:nvSpPr>
        <p:spPr>
          <a:xfrm>
            <a:off x="4895143" y="3602064"/>
            <a:ext cx="4223487" cy="701731"/>
          </a:xfrm>
          <a:prstGeom prst="rect">
            <a:avLst/>
          </a:prstGeom>
        </p:spPr>
        <p:txBody>
          <a:bodyPr wrap="square">
            <a:spAutoFit/>
          </a:bodyPr>
          <a:lstStyle/>
          <a:p>
            <a:pPr>
              <a:spcBef>
                <a:spcPct val="20000"/>
              </a:spcBef>
            </a:pPr>
            <a:r>
              <a:rPr lang="zh-CN" altLang="en-US" dirty="0">
                <a:latin typeface="微软雅黑" pitchFamily="34" charset="-122"/>
                <a:ea typeface="微软雅黑" pitchFamily="34" charset="-122"/>
                <a:cs typeface="经典粗黑简" pitchFamily="49" charset="-122"/>
              </a:rPr>
              <a:t>问题规模为</a:t>
            </a:r>
            <a:r>
              <a:rPr lang="en-US" altLang="zh-CN" dirty="0">
                <a:latin typeface="微软雅黑" pitchFamily="34" charset="-122"/>
                <a:ea typeface="微软雅黑" pitchFamily="34" charset="-122"/>
                <a:cs typeface="经典粗黑简" pitchFamily="49" charset="-122"/>
              </a:rPr>
              <a:t>n,    </a:t>
            </a:r>
            <a:r>
              <a:rPr lang="zh-CN" altLang="en-US" dirty="0">
                <a:latin typeface="微软雅黑" pitchFamily="34" charset="-122"/>
                <a:ea typeface="微软雅黑" pitchFamily="34" charset="-122"/>
                <a:cs typeface="经典粗黑简" pitchFamily="49" charset="-122"/>
              </a:rPr>
              <a:t>算法时间复杂度</a:t>
            </a:r>
            <a:r>
              <a:rPr lang="en-US" altLang="zh-CN" dirty="0">
                <a:latin typeface="微软雅黑" pitchFamily="34" charset="-122"/>
                <a:ea typeface="微软雅黑" pitchFamily="34" charset="-122"/>
                <a:cs typeface="经典粗黑简" pitchFamily="49" charset="-122"/>
              </a:rPr>
              <a:t>: O(n) </a:t>
            </a:r>
          </a:p>
          <a:p>
            <a:pPr>
              <a:spcBef>
                <a:spcPct val="20000"/>
              </a:spcBef>
            </a:pPr>
            <a:r>
              <a:rPr lang="zh-CN" altLang="en-US" dirty="0">
                <a:latin typeface="微软雅黑" pitchFamily="34" charset="-122"/>
                <a:ea typeface="微软雅黑" pitchFamily="34" charset="-122"/>
                <a:cs typeface="经典粗黑简" pitchFamily="49" charset="-122"/>
              </a:rPr>
              <a:t>                              空间复杂度：</a:t>
            </a:r>
            <a:r>
              <a:rPr lang="en-US" altLang="zh-CN" dirty="0">
                <a:latin typeface="微软雅黑" pitchFamily="34" charset="-122"/>
                <a:ea typeface="微软雅黑" pitchFamily="34" charset="-122"/>
                <a:cs typeface="经典粗黑简" pitchFamily="49" charset="-122"/>
              </a:rPr>
              <a:t>O(1)</a:t>
            </a:r>
          </a:p>
        </p:txBody>
      </p:sp>
      <p:sp>
        <p:nvSpPr>
          <p:cNvPr id="16" name="Text Box 8"/>
          <p:cNvSpPr txBox="1">
            <a:spLocks noChangeArrowheads="1"/>
          </p:cNvSpPr>
          <p:nvPr/>
        </p:nvSpPr>
        <p:spPr bwMode="auto">
          <a:xfrm>
            <a:off x="469222" y="1965066"/>
            <a:ext cx="8952411" cy="302852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wrap="square">
            <a:spAutoFit/>
          </a:bodyPr>
          <a:lstStyle>
            <a:defPPr>
              <a:defRPr lang="zh-CN"/>
            </a:defPPr>
            <a:lvl1pPr>
              <a:spcBef>
                <a:spcPct val="20000"/>
              </a:spcBef>
              <a:defRPr>
                <a:latin typeface="微软雅黑" pitchFamily="34" charset="-122"/>
                <a:ea typeface="微软雅黑" pitchFamily="34" charset="-122"/>
                <a:cs typeface="经典粗黑简" pitchFamily="49" charset="-122"/>
              </a:defRPr>
            </a:lvl1pPr>
          </a:lstStyle>
          <a:p>
            <a:r>
              <a:rPr lang="zh-CN" altLang="en-US" dirty="0"/>
              <a:t>解法</a:t>
            </a:r>
            <a:r>
              <a:rPr lang="en-US" altLang="zh-CN" dirty="0"/>
              <a:t>2  </a:t>
            </a:r>
            <a:r>
              <a:rPr lang="zh-CN" altLang="en-US" dirty="0"/>
              <a:t>迭代法</a:t>
            </a:r>
            <a:r>
              <a:rPr lang="en-US" altLang="zh-CN" dirty="0"/>
              <a:t>f(x)=a</a:t>
            </a:r>
            <a:r>
              <a:rPr lang="en-US" altLang="zh-CN" baseline="-25000" dirty="0"/>
              <a:t>0</a:t>
            </a:r>
            <a:r>
              <a:rPr lang="en-US" altLang="zh-CN" dirty="0"/>
              <a:t>+a</a:t>
            </a:r>
            <a:r>
              <a:rPr lang="en-US" altLang="zh-CN" baseline="-25000" dirty="0"/>
              <a:t>1</a:t>
            </a:r>
            <a:r>
              <a:rPr lang="en-US" altLang="zh-CN" dirty="0"/>
              <a:t>x</a:t>
            </a:r>
            <a:r>
              <a:rPr lang="en-US" altLang="zh-CN" baseline="30000" dirty="0"/>
              <a:t>1</a:t>
            </a:r>
            <a:r>
              <a:rPr lang="en-US" altLang="zh-CN" dirty="0"/>
              <a:t>+a</a:t>
            </a:r>
            <a:r>
              <a:rPr lang="en-US" altLang="zh-CN" baseline="-25000" dirty="0"/>
              <a:t>2</a:t>
            </a:r>
            <a:r>
              <a:rPr lang="en-US" altLang="zh-CN" dirty="0"/>
              <a:t>x</a:t>
            </a:r>
            <a:r>
              <a:rPr lang="en-US" altLang="zh-CN" baseline="30000" dirty="0"/>
              <a:t>2</a:t>
            </a:r>
            <a:r>
              <a:rPr lang="en-US" altLang="zh-CN" dirty="0"/>
              <a:t>+….</a:t>
            </a:r>
            <a:r>
              <a:rPr lang="en-US" altLang="zh-CN" dirty="0" err="1"/>
              <a:t>a</a:t>
            </a:r>
            <a:r>
              <a:rPr lang="en-US" altLang="zh-CN" baseline="-25000" dirty="0" err="1"/>
              <a:t>n</a:t>
            </a:r>
            <a:r>
              <a:rPr lang="en-US" altLang="zh-CN" dirty="0" err="1"/>
              <a:t>x</a:t>
            </a:r>
            <a:r>
              <a:rPr lang="en-US" altLang="zh-CN" baseline="30000" dirty="0" err="1"/>
              <a:t>n</a:t>
            </a:r>
            <a:r>
              <a:rPr lang="en-US" altLang="zh-CN" dirty="0"/>
              <a:t>= a</a:t>
            </a:r>
            <a:r>
              <a:rPr lang="en-US" altLang="zh-CN" baseline="-25000" dirty="0"/>
              <a:t>0</a:t>
            </a:r>
            <a:r>
              <a:rPr lang="en-US" altLang="zh-CN" dirty="0"/>
              <a:t>+ (a</a:t>
            </a:r>
            <a:r>
              <a:rPr lang="en-US" altLang="zh-CN" baseline="-25000" dirty="0"/>
              <a:t>1</a:t>
            </a:r>
            <a:r>
              <a:rPr lang="en-US" altLang="zh-CN" dirty="0"/>
              <a:t>+a</a:t>
            </a:r>
            <a:r>
              <a:rPr lang="en-US" altLang="zh-CN" baseline="-25000" dirty="0"/>
              <a:t>2</a:t>
            </a:r>
            <a:r>
              <a:rPr lang="en-US" altLang="zh-CN" dirty="0"/>
              <a:t>x</a:t>
            </a:r>
            <a:r>
              <a:rPr lang="en-US" altLang="zh-CN" baseline="30000" dirty="0"/>
              <a:t>1</a:t>
            </a:r>
            <a:r>
              <a:rPr lang="en-US" altLang="zh-CN" dirty="0"/>
              <a:t>+….a</a:t>
            </a:r>
            <a:r>
              <a:rPr lang="en-US" altLang="zh-CN" baseline="-25000" dirty="0"/>
              <a:t>n</a:t>
            </a:r>
            <a:r>
              <a:rPr lang="en-US" altLang="zh-CN" dirty="0"/>
              <a:t>x</a:t>
            </a:r>
            <a:r>
              <a:rPr lang="en-US" altLang="zh-CN" baseline="30000" dirty="0"/>
              <a:t>n-1</a:t>
            </a:r>
            <a:r>
              <a:rPr lang="en-US" altLang="zh-CN" dirty="0"/>
              <a:t>)x</a:t>
            </a:r>
          </a:p>
          <a:p>
            <a:r>
              <a:rPr lang="en-US" altLang="zh-CN" dirty="0"/>
              <a:t>     # define N 100</a:t>
            </a:r>
          </a:p>
          <a:p>
            <a:r>
              <a:rPr lang="en-US" altLang="zh-CN" dirty="0"/>
              <a:t>      float   evaluate (float </a:t>
            </a:r>
            <a:r>
              <a:rPr lang="en-US" altLang="zh-CN" dirty="0" err="1"/>
              <a:t>coef</a:t>
            </a:r>
            <a:r>
              <a:rPr lang="en-US" altLang="zh-CN" dirty="0"/>
              <a:t>[ ], float x , </a:t>
            </a:r>
            <a:r>
              <a:rPr lang="en-US" altLang="zh-CN" dirty="0" err="1"/>
              <a:t>int</a:t>
            </a:r>
            <a:r>
              <a:rPr lang="en-US" altLang="zh-CN" dirty="0"/>
              <a:t> n )</a:t>
            </a:r>
          </a:p>
          <a:p>
            <a:r>
              <a:rPr lang="en-US" altLang="zh-CN" dirty="0"/>
              <a:t>     {</a:t>
            </a:r>
          </a:p>
          <a:p>
            <a:r>
              <a:rPr lang="en-US" altLang="zh-CN" dirty="0"/>
              <a:t>                float  f; </a:t>
            </a:r>
            <a:r>
              <a:rPr lang="en-US" altLang="zh-CN" dirty="0" err="1"/>
              <a:t>int</a:t>
            </a:r>
            <a:r>
              <a:rPr lang="en-US" altLang="zh-CN" dirty="0"/>
              <a:t> i;</a:t>
            </a:r>
          </a:p>
          <a:p>
            <a:r>
              <a:rPr lang="en-US" altLang="zh-CN" dirty="0"/>
              <a:t>               for (f = </a:t>
            </a:r>
            <a:r>
              <a:rPr lang="en-US" altLang="zh-CN" dirty="0" err="1"/>
              <a:t>coef</a:t>
            </a:r>
            <a:r>
              <a:rPr lang="en-US" altLang="zh-CN" dirty="0"/>
              <a:t>[n], i=n-1; i&gt;=0; i --)      </a:t>
            </a:r>
          </a:p>
          <a:p>
            <a:r>
              <a:rPr lang="en-US" altLang="zh-CN" dirty="0"/>
              <a:t>                           f=f*</a:t>
            </a:r>
            <a:r>
              <a:rPr lang="en-US" altLang="zh-CN" dirty="0" err="1"/>
              <a:t>x+coef</a:t>
            </a:r>
            <a:r>
              <a:rPr lang="en-US" altLang="zh-CN" dirty="0"/>
              <a:t>[i]; </a:t>
            </a:r>
          </a:p>
          <a:p>
            <a:r>
              <a:rPr lang="en-US" altLang="zh-CN" dirty="0"/>
              <a:t>               return(f);</a:t>
            </a:r>
          </a:p>
          <a:p>
            <a:r>
              <a:rPr lang="en-US" altLang="zh-CN" dirty="0"/>
              <a:t>  }</a:t>
            </a:r>
          </a:p>
        </p:txBody>
      </p:sp>
      <p:sp>
        <p:nvSpPr>
          <p:cNvPr id="17" name="矩形 16"/>
          <p:cNvSpPr/>
          <p:nvPr/>
        </p:nvSpPr>
        <p:spPr>
          <a:xfrm>
            <a:off x="1403648" y="4583226"/>
            <a:ext cx="7187414" cy="369332"/>
          </a:xfrm>
          <a:prstGeom prst="rect">
            <a:avLst/>
          </a:prstGeom>
        </p:spPr>
        <p:txBody>
          <a:bodyPr wrap="square">
            <a:spAutoFit/>
          </a:bodyPr>
          <a:lstStyle/>
          <a:p>
            <a:r>
              <a:rPr lang="zh-CN" altLang="en-US" dirty="0">
                <a:latin typeface="微软雅黑" pitchFamily="34" charset="-122"/>
                <a:ea typeface="微软雅黑" pitchFamily="34" charset="-122"/>
              </a:rPr>
              <a:t>除</a:t>
            </a:r>
            <a:r>
              <a:rPr lang="zh-CN" altLang="zh-CN" dirty="0">
                <a:latin typeface="微软雅黑" pitchFamily="34" charset="-122"/>
                <a:ea typeface="微软雅黑" pitchFamily="34" charset="-122"/>
              </a:rPr>
              <a:t>特别说明</a:t>
            </a:r>
            <a:r>
              <a:rPr lang="zh-CN" altLang="en-US" dirty="0">
                <a:latin typeface="微软雅黑" pitchFamily="34" charset="-122"/>
                <a:ea typeface="微软雅黑" pitchFamily="34" charset="-122"/>
              </a:rPr>
              <a:t>外</a:t>
            </a:r>
            <a:r>
              <a:rPr lang="zh-CN" altLang="zh-CN" dirty="0">
                <a:latin typeface="微软雅黑" pitchFamily="34" charset="-122"/>
                <a:ea typeface="微软雅黑" pitchFamily="34" charset="-122"/>
              </a:rPr>
              <a:t>，一般讨论的</a:t>
            </a:r>
            <a:r>
              <a:rPr lang="zh-CN" altLang="en-US" dirty="0">
                <a:latin typeface="微软雅黑" pitchFamily="34" charset="-122"/>
                <a:ea typeface="微软雅黑" pitchFamily="34" charset="-122"/>
              </a:rPr>
              <a:t>空间</a:t>
            </a:r>
            <a:r>
              <a:rPr lang="zh-CN" altLang="zh-CN" dirty="0">
                <a:latin typeface="微软雅黑" pitchFamily="34" charset="-122"/>
                <a:ea typeface="微软雅黑" pitchFamily="34" charset="-122"/>
              </a:rPr>
              <a:t>复杂度均是最坏情况下的</a:t>
            </a:r>
            <a:r>
              <a:rPr lang="zh-CN" altLang="en-US" dirty="0">
                <a:latin typeface="微软雅黑" pitchFamily="34" charset="-122"/>
                <a:ea typeface="微软雅黑" pitchFamily="34" charset="-122"/>
              </a:rPr>
              <a:t>空间</a:t>
            </a:r>
            <a:r>
              <a:rPr lang="zh-CN" altLang="zh-CN" dirty="0">
                <a:latin typeface="微软雅黑" pitchFamily="34" charset="-122"/>
                <a:ea typeface="微软雅黑" pitchFamily="34" charset="-122"/>
              </a:rPr>
              <a:t>复杂度。</a:t>
            </a:r>
          </a:p>
        </p:txBody>
      </p:sp>
      <p:cxnSp>
        <p:nvCxnSpPr>
          <p:cNvPr id="15" name="直接连接符 14"/>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F9B990E3-2A72-E145-88B4-4C2A397E4B63}"/>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600" b="1" dirty="0">
                <a:latin typeface="黑体" pitchFamily="49" charset="-122"/>
                <a:ea typeface="黑体" pitchFamily="49" charset="-122"/>
                <a:cs typeface="+mn-cs"/>
              </a:rPr>
              <a:t>1.3 </a:t>
            </a:r>
            <a:r>
              <a:rPr lang="zh-CN" altLang="en-US" sz="3600" b="1" dirty="0">
                <a:latin typeface="黑体" pitchFamily="49" charset="-122"/>
                <a:ea typeface="黑体" pitchFamily="49" charset="-122"/>
                <a:cs typeface="+mn-cs"/>
              </a:rPr>
              <a:t>算法分析</a:t>
            </a:r>
            <a:endParaRPr lang="en-US" altLang="zh-CN" sz="3600" dirty="0"/>
          </a:p>
        </p:txBody>
      </p:sp>
      <p:sp>
        <p:nvSpPr>
          <p:cNvPr id="3" name="矩形 2">
            <a:extLst>
              <a:ext uri="{FF2B5EF4-FFF2-40B4-BE49-F238E27FC236}">
                <a16:creationId xmlns:a16="http://schemas.microsoft.com/office/drawing/2014/main" id="{10D64908-004F-F968-F289-B3358A2D1FB6}"/>
              </a:ext>
            </a:extLst>
          </p:cNvPr>
          <p:cNvSpPr/>
          <p:nvPr/>
        </p:nvSpPr>
        <p:spPr>
          <a:xfrm>
            <a:off x="395537" y="961357"/>
            <a:ext cx="4680519"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1.3.3 </a:t>
            </a:r>
            <a:r>
              <a:rPr lang="zh-CN" altLang="en-US" sz="2800" b="1" dirty="0">
                <a:solidFill>
                  <a:schemeClr val="bg1"/>
                </a:solidFill>
                <a:latin typeface="经典粗黑简" pitchFamily="49" charset="-122"/>
                <a:ea typeface="经典粗黑简" pitchFamily="49" charset="-122"/>
                <a:cs typeface="经典粗黑简" pitchFamily="49" charset="-122"/>
              </a:rPr>
              <a:t>算法的空间性能分析</a:t>
            </a:r>
          </a:p>
        </p:txBody>
      </p:sp>
    </p:spTree>
    <p:extLst>
      <p:ext uri="{BB962C8B-B14F-4D97-AF65-F5344CB8AC3E}">
        <p14:creationId xmlns:p14="http://schemas.microsoft.com/office/powerpoint/2010/main" val="50747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1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D543-EC41-AD79-8998-8D649431A83F}"/>
            </a:ext>
          </a:extLst>
        </p:cNvPr>
        <p:cNvGrpSpPr/>
        <p:nvPr/>
      </p:nvGrpSpPr>
      <p:grpSpPr>
        <a:xfrm>
          <a:off x="0" y="0"/>
          <a:ext cx="0" cy="0"/>
          <a:chOff x="0" y="0"/>
          <a:chExt cx="0" cy="0"/>
        </a:xfrm>
      </p:grpSpPr>
      <p:cxnSp>
        <p:nvCxnSpPr>
          <p:cNvPr id="15" name="直接连接符 14">
            <a:extLst>
              <a:ext uri="{FF2B5EF4-FFF2-40B4-BE49-F238E27FC236}">
                <a16:creationId xmlns:a16="http://schemas.microsoft.com/office/drawing/2014/main" id="{B4AB9AA7-70AB-7799-5C94-CCAEE6EBFBE8}"/>
              </a:ext>
            </a:extLst>
          </p:cNvPr>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2" name="Rectangle 2">
            <a:extLst>
              <a:ext uri="{FF2B5EF4-FFF2-40B4-BE49-F238E27FC236}">
                <a16:creationId xmlns:a16="http://schemas.microsoft.com/office/drawing/2014/main" id="{95AA9BA8-2F80-6445-CF80-CD27EB9FD081}"/>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90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600" b="1" dirty="0">
                <a:latin typeface="黑体" pitchFamily="49" charset="-122"/>
                <a:ea typeface="黑体" pitchFamily="49" charset="-122"/>
                <a:cs typeface="+mn-cs"/>
              </a:rPr>
              <a:t>1</a:t>
            </a:r>
            <a:r>
              <a:rPr lang="zh-CN" altLang="en-US" sz="2600" b="1" dirty="0">
                <a:latin typeface="黑体" pitchFamily="49" charset="-122"/>
                <a:ea typeface="黑体" pitchFamily="49" charset="-122"/>
                <a:cs typeface="+mn-cs"/>
              </a:rPr>
              <a:t>.</a:t>
            </a:r>
            <a:r>
              <a:rPr lang="zh-CN" altLang="en-US" sz="2500" b="1" dirty="0">
                <a:latin typeface="黑体" pitchFamily="49" charset="-122"/>
                <a:ea typeface="黑体" pitchFamily="49" charset="-122"/>
                <a:cs typeface="+mn-cs"/>
              </a:rPr>
              <a:t>4 数据结构</a:t>
            </a:r>
            <a:r>
              <a:rPr lang="en-US" altLang="zh-CN" sz="2500" b="1" dirty="0">
                <a:latin typeface="黑体" pitchFamily="49" charset="-122"/>
                <a:ea typeface="黑体" pitchFamily="49" charset="-122"/>
                <a:cs typeface="+mn-cs"/>
              </a:rPr>
              <a:t>+</a:t>
            </a:r>
            <a:r>
              <a:rPr lang="zh-CN" altLang="en-US" sz="2500" b="1" dirty="0">
                <a:latin typeface="黑体" pitchFamily="49" charset="-122"/>
                <a:ea typeface="黑体" pitchFamily="49" charset="-122"/>
                <a:cs typeface="+mn-cs"/>
              </a:rPr>
              <a:t>算法</a:t>
            </a:r>
            <a:r>
              <a:rPr lang="en-US" altLang="zh-CN" sz="2500" b="1" dirty="0">
                <a:latin typeface="黑体" pitchFamily="49" charset="-122"/>
                <a:ea typeface="黑体" pitchFamily="49" charset="-122"/>
                <a:cs typeface="+mn-cs"/>
              </a:rPr>
              <a:t>=</a:t>
            </a:r>
            <a:r>
              <a:rPr lang="zh-CN" altLang="en-US" sz="2500" b="1" dirty="0">
                <a:latin typeface="黑体" pitchFamily="49" charset="-122"/>
                <a:ea typeface="黑体" pitchFamily="49" charset="-122"/>
                <a:cs typeface="+mn-cs"/>
              </a:rPr>
              <a:t>程序</a:t>
            </a:r>
          </a:p>
        </p:txBody>
      </p:sp>
      <p:sp>
        <p:nvSpPr>
          <p:cNvPr id="52" name="矩形 51"/>
          <p:cNvSpPr/>
          <p:nvPr/>
        </p:nvSpPr>
        <p:spPr>
          <a:xfrm>
            <a:off x="467544" y="1002090"/>
            <a:ext cx="8352926" cy="1569660"/>
          </a:xfrm>
          <a:prstGeom prst="rect">
            <a:avLst/>
          </a:prstGeom>
          <a:noFill/>
          <a:ln>
            <a:noFill/>
          </a:ln>
        </p:spPr>
        <p:txBody>
          <a:bodyPr wrap="square">
            <a:spAutoFit/>
          </a:bodyPr>
          <a:lstStyle/>
          <a:p>
            <a:r>
              <a:rPr lang="en-US" altLang="zh-CN" sz="2400" dirty="0">
                <a:latin typeface="黑体" pitchFamily="49" charset="-122"/>
                <a:ea typeface="黑体" pitchFamily="49" charset="-122"/>
              </a:rPr>
              <a:t>    </a:t>
            </a:r>
            <a:r>
              <a:rPr lang="zh-CN" altLang="zh-CN" sz="2400" dirty="0">
                <a:latin typeface="黑体" pitchFamily="49" charset="-122"/>
                <a:ea typeface="黑体" pitchFamily="49" charset="-122"/>
              </a:rPr>
              <a:t>数据结构就是研究</a:t>
            </a:r>
            <a:r>
              <a:rPr lang="zh-CN" altLang="zh-CN" sz="2400" u="sng" dirty="0">
                <a:solidFill>
                  <a:srgbClr val="FF0000"/>
                </a:solidFill>
                <a:latin typeface="黑体" pitchFamily="49" charset="-122"/>
                <a:ea typeface="黑体" pitchFamily="49" charset="-122"/>
              </a:rPr>
              <a:t>非数值计算</a:t>
            </a:r>
            <a:r>
              <a:rPr lang="zh-CN" altLang="zh-CN" sz="2400" dirty="0">
                <a:latin typeface="黑体" pitchFamily="49" charset="-122"/>
                <a:ea typeface="黑体" pitchFamily="49" charset="-122"/>
              </a:rPr>
              <a:t>问题中的</a:t>
            </a:r>
            <a:r>
              <a:rPr lang="zh-CN" altLang="zh-CN" sz="2400" dirty="0">
                <a:solidFill>
                  <a:srgbClr val="FF0000"/>
                </a:solidFill>
                <a:latin typeface="黑体" pitchFamily="49" charset="-122"/>
                <a:ea typeface="黑体" pitchFamily="49" charset="-122"/>
              </a:rPr>
              <a:t>数据</a:t>
            </a:r>
            <a:r>
              <a:rPr lang="zh-CN" altLang="zh-CN" sz="2400" dirty="0">
                <a:latin typeface="黑体" pitchFamily="49" charset="-122"/>
                <a:ea typeface="黑体" pitchFamily="49" charset="-122"/>
              </a:rPr>
              <a:t>以及它们之间的</a:t>
            </a:r>
            <a:r>
              <a:rPr lang="zh-CN" altLang="zh-CN" sz="2400" dirty="0">
                <a:solidFill>
                  <a:srgbClr val="FF0000"/>
                </a:solidFill>
                <a:latin typeface="黑体" pitchFamily="49" charset="-122"/>
                <a:ea typeface="黑体" pitchFamily="49" charset="-122"/>
              </a:rPr>
              <a:t>关系</a:t>
            </a:r>
            <a:r>
              <a:rPr lang="zh-CN" altLang="zh-CN" sz="2400" dirty="0">
                <a:latin typeface="黑体" pitchFamily="49" charset="-122"/>
                <a:ea typeface="黑体" pitchFamily="49" charset="-122"/>
              </a:rPr>
              <a:t>和</a:t>
            </a:r>
            <a:r>
              <a:rPr lang="zh-CN" altLang="zh-CN" sz="2400" dirty="0">
                <a:solidFill>
                  <a:srgbClr val="FF0000"/>
                </a:solidFill>
                <a:latin typeface="黑体" pitchFamily="49" charset="-122"/>
                <a:ea typeface="黑体" pitchFamily="49" charset="-122"/>
              </a:rPr>
              <a:t>操作</a:t>
            </a:r>
            <a:r>
              <a:rPr lang="zh-CN" altLang="zh-CN" sz="2400" dirty="0">
                <a:latin typeface="黑体" pitchFamily="49" charset="-122"/>
                <a:ea typeface="黑体" pitchFamily="49" charset="-122"/>
              </a:rPr>
              <a:t>算法的学科，具体主要包含</a:t>
            </a:r>
            <a:r>
              <a:rPr lang="en-US" altLang="zh-CN" sz="2400" dirty="0">
                <a:latin typeface="黑体" pitchFamily="49" charset="-122"/>
                <a:ea typeface="黑体" pitchFamily="49" charset="-122"/>
              </a:rPr>
              <a:t>3</a:t>
            </a:r>
            <a:r>
              <a:rPr lang="zh-CN" altLang="zh-CN" sz="2400" dirty="0">
                <a:latin typeface="黑体" pitchFamily="49" charset="-122"/>
                <a:ea typeface="黑体" pitchFamily="49" charset="-122"/>
              </a:rPr>
              <a:t>个方面的内容：数据的</a:t>
            </a:r>
            <a:r>
              <a:rPr lang="zh-CN" altLang="zh-CN" sz="2400" dirty="0">
                <a:solidFill>
                  <a:srgbClr val="FF0000"/>
                </a:solidFill>
                <a:latin typeface="黑体" pitchFamily="49" charset="-122"/>
                <a:ea typeface="黑体" pitchFamily="49" charset="-122"/>
              </a:rPr>
              <a:t>逻辑结构</a:t>
            </a:r>
            <a:r>
              <a:rPr lang="zh-CN" altLang="zh-CN" sz="2400" dirty="0">
                <a:latin typeface="黑体" pitchFamily="49" charset="-122"/>
                <a:ea typeface="黑体" pitchFamily="49" charset="-122"/>
              </a:rPr>
              <a:t>、数据的</a:t>
            </a:r>
            <a:r>
              <a:rPr lang="zh-CN" altLang="zh-CN" sz="2400" dirty="0">
                <a:solidFill>
                  <a:srgbClr val="FF0000"/>
                </a:solidFill>
                <a:latin typeface="黑体" pitchFamily="49" charset="-122"/>
                <a:ea typeface="黑体" pitchFamily="49" charset="-122"/>
              </a:rPr>
              <a:t>存储结构</a:t>
            </a:r>
            <a:r>
              <a:rPr lang="zh-CN" altLang="zh-CN" sz="2400" dirty="0">
                <a:latin typeface="黑体" pitchFamily="49" charset="-122"/>
                <a:ea typeface="黑体" pitchFamily="49" charset="-122"/>
              </a:rPr>
              <a:t>（物理结构）和数据的操作</a:t>
            </a:r>
            <a:r>
              <a:rPr lang="zh-CN" altLang="zh-CN" sz="2400" dirty="0">
                <a:solidFill>
                  <a:srgbClr val="FF0000"/>
                </a:solidFill>
                <a:latin typeface="黑体" pitchFamily="49" charset="-122"/>
                <a:ea typeface="黑体" pitchFamily="49" charset="-122"/>
              </a:rPr>
              <a:t>算法</a:t>
            </a:r>
            <a:r>
              <a:rPr lang="zh-CN" altLang="en-US" sz="2400" dirty="0">
                <a:latin typeface="黑体" pitchFamily="49" charset="-122"/>
                <a:ea typeface="黑体" pitchFamily="49" charset="-122"/>
              </a:rPr>
              <a:t>。</a:t>
            </a:r>
          </a:p>
        </p:txBody>
      </p:sp>
      <p:sp>
        <p:nvSpPr>
          <p:cNvPr id="26" name="矩形 5"/>
          <p:cNvSpPr>
            <a:spLocks noChangeArrowheads="1"/>
          </p:cNvSpPr>
          <p:nvPr/>
        </p:nvSpPr>
        <p:spPr bwMode="auto">
          <a:xfrm>
            <a:off x="503759" y="3279023"/>
            <a:ext cx="8389519"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266700" eaLnBrk="0" hangingPunct="0"/>
            <a:r>
              <a:rPr lang="zh-CN" altLang="en-US" sz="2800" dirty="0">
                <a:latin typeface="黑体" pitchFamily="49" charset="-122"/>
                <a:ea typeface="黑体" pitchFamily="49" charset="-122"/>
              </a:rPr>
              <a:t>  </a:t>
            </a:r>
            <a:r>
              <a:rPr lang="zh-CN" altLang="en-US" sz="2400" dirty="0">
                <a:latin typeface="黑体" pitchFamily="49" charset="-122"/>
                <a:ea typeface="黑体" pitchFamily="49" charset="-122"/>
              </a:rPr>
              <a:t>程序设计的实质是对实际问题选择一种好的</a:t>
            </a:r>
            <a:r>
              <a:rPr lang="zh-CN" altLang="en-US" sz="2400" dirty="0">
                <a:solidFill>
                  <a:srgbClr val="FF0000"/>
                </a:solidFill>
                <a:latin typeface="黑体" pitchFamily="49" charset="-122"/>
                <a:ea typeface="黑体" pitchFamily="49" charset="-122"/>
              </a:rPr>
              <a:t>数据结构</a:t>
            </a:r>
            <a:r>
              <a:rPr lang="zh-CN" altLang="en-US" sz="2400" dirty="0">
                <a:latin typeface="黑体" pitchFamily="49" charset="-122"/>
                <a:ea typeface="黑体" pitchFamily="49" charset="-122"/>
              </a:rPr>
              <a:t>，加之设计一个好的</a:t>
            </a:r>
            <a:r>
              <a:rPr lang="zh-CN" altLang="en-US" sz="2400" dirty="0">
                <a:solidFill>
                  <a:srgbClr val="FF0000"/>
                </a:solidFill>
                <a:latin typeface="黑体" pitchFamily="49" charset="-122"/>
                <a:ea typeface="黑体" pitchFamily="49" charset="-122"/>
              </a:rPr>
              <a:t>算法</a:t>
            </a:r>
            <a:r>
              <a:rPr lang="zh-CN" altLang="en-US" sz="2400" dirty="0">
                <a:latin typeface="黑体" pitchFamily="49" charset="-122"/>
                <a:ea typeface="黑体" pitchFamily="49" charset="-122"/>
              </a:rPr>
              <a:t>，而好的算法在很大程度上取决于描述实际问题的数据结构。</a:t>
            </a:r>
          </a:p>
        </p:txBody>
      </p:sp>
      <p:sp>
        <p:nvSpPr>
          <p:cNvPr id="27" name="Rectangle 1"/>
          <p:cNvSpPr>
            <a:spLocks noChangeArrowheads="1"/>
          </p:cNvSpPr>
          <p:nvPr/>
        </p:nvSpPr>
        <p:spPr bwMode="auto">
          <a:xfrm>
            <a:off x="1115615" y="2362691"/>
            <a:ext cx="752832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indent="266700"/>
            <a:r>
              <a:rPr lang="zh-CN" altLang="en-US" sz="2000" dirty="0">
                <a:latin typeface="Li Super" charset="-122"/>
                <a:ea typeface="Li Super" charset="-122"/>
              </a:rPr>
              <a:t>  </a:t>
            </a:r>
            <a:r>
              <a:rPr lang="zh-CN" altLang="en-US" sz="2000" dirty="0">
                <a:latin typeface="楷体_GB2312" pitchFamily="49" charset="-122"/>
                <a:ea typeface="楷体_GB2312" pitchFamily="49" charset="-122"/>
              </a:rPr>
              <a:t>著名的瑞士计算机科学家沃思（</a:t>
            </a:r>
            <a:r>
              <a:rPr lang="en-US" altLang="zh-CN" sz="2000" dirty="0" err="1">
                <a:solidFill>
                  <a:srgbClr val="FF0000"/>
                </a:solidFill>
                <a:latin typeface="Kozuka Mincho Pro H" pitchFamily="18" charset="-128"/>
                <a:ea typeface="Kozuka Mincho Pro H" pitchFamily="18" charset="-128"/>
              </a:rPr>
              <a:t>N.Wirth</a:t>
            </a:r>
            <a:r>
              <a:rPr lang="zh-CN" altLang="en-US" sz="2000" dirty="0">
                <a:latin typeface="楷体_GB2312" pitchFamily="49" charset="-122"/>
                <a:ea typeface="楷体_GB2312" pitchFamily="49" charset="-122"/>
              </a:rPr>
              <a:t>）教授曾提出：</a:t>
            </a:r>
          </a:p>
          <a:p>
            <a:pPr indent="266700" eaLnBrk="0" hangingPunct="0"/>
            <a:r>
              <a:rPr lang="zh-CN" altLang="en-US" sz="2000" dirty="0">
                <a:solidFill>
                  <a:srgbClr val="FFC000"/>
                </a:solidFill>
                <a:latin typeface="Li Super" charset="-122"/>
                <a:ea typeface="Li Super" charset="-122"/>
              </a:rPr>
              <a:t>             </a:t>
            </a:r>
            <a:r>
              <a:rPr lang="zh-CN" altLang="en-US" sz="2000" b="1" dirty="0">
                <a:solidFill>
                  <a:srgbClr val="FF0000"/>
                </a:solidFill>
                <a:latin typeface="Li Super" charset="-122"/>
                <a:ea typeface="Li Super" charset="-122"/>
              </a:rPr>
              <a:t>算法</a:t>
            </a:r>
            <a:r>
              <a:rPr lang="en-US" altLang="zh-CN" sz="2000" b="1" dirty="0">
                <a:solidFill>
                  <a:srgbClr val="FF0000"/>
                </a:solidFill>
                <a:latin typeface="Li Super" charset="-122"/>
                <a:ea typeface="Li Super" charset="-122"/>
              </a:rPr>
              <a:t>+</a:t>
            </a:r>
            <a:r>
              <a:rPr lang="zh-CN" altLang="en-US" sz="2000" b="1" dirty="0">
                <a:solidFill>
                  <a:srgbClr val="FF0000"/>
                </a:solidFill>
                <a:latin typeface="Li Super" charset="-122"/>
                <a:ea typeface="Li Super" charset="-122"/>
              </a:rPr>
              <a:t>数据结构</a:t>
            </a:r>
            <a:r>
              <a:rPr lang="en-US" altLang="zh-CN" sz="2000" b="1" dirty="0">
                <a:solidFill>
                  <a:srgbClr val="FF0000"/>
                </a:solidFill>
                <a:latin typeface="Li Super" charset="-122"/>
                <a:ea typeface="Li Super" charset="-122"/>
              </a:rPr>
              <a:t>=</a:t>
            </a:r>
            <a:r>
              <a:rPr lang="zh-CN" altLang="en-US" sz="2000" b="1" dirty="0">
                <a:solidFill>
                  <a:srgbClr val="FF0000"/>
                </a:solidFill>
                <a:latin typeface="Li Super" charset="-122"/>
                <a:ea typeface="Li Super" charset="-122"/>
              </a:rPr>
              <a:t>程序</a:t>
            </a:r>
            <a:endParaRPr lang="en-US" altLang="zh-CN" sz="2000" b="1" dirty="0">
              <a:solidFill>
                <a:srgbClr val="FF0000"/>
              </a:solidFill>
              <a:latin typeface="Li Super" charset="-122"/>
              <a:ea typeface="Li Super" charset="-122"/>
            </a:endParaRPr>
          </a:p>
          <a:p>
            <a:pPr indent="266700" eaLnBrk="0" hangingPunct="0"/>
            <a:r>
              <a:rPr lang="zh-CN" altLang="en-US" sz="2000" dirty="0">
                <a:solidFill>
                  <a:srgbClr val="FF0000"/>
                </a:solidFill>
                <a:latin typeface="Li Super" charset="-122"/>
                <a:ea typeface="Li Super" charset="-122"/>
              </a:rPr>
              <a:t>    （</a:t>
            </a:r>
            <a:r>
              <a:rPr lang="en-US" altLang="zh-CN" sz="2000" dirty="0">
                <a:solidFill>
                  <a:srgbClr val="FF0000"/>
                </a:solidFill>
                <a:latin typeface="Kozuka Mincho Pro H" pitchFamily="18" charset="-128"/>
                <a:ea typeface="Kozuka Mincho Pro H" pitchFamily="18" charset="-128"/>
              </a:rPr>
              <a:t>Algorithm + Data Structures = Programs</a:t>
            </a:r>
            <a:r>
              <a:rPr lang="zh-CN" altLang="en-US" sz="2000" dirty="0">
                <a:solidFill>
                  <a:srgbClr val="FF0000"/>
                </a:solidFill>
                <a:latin typeface="Li Super" charset="-122"/>
                <a:ea typeface="Li Super" charset="-122"/>
              </a:rPr>
              <a:t>）</a:t>
            </a:r>
          </a:p>
        </p:txBody>
      </p:sp>
    </p:spTree>
    <p:extLst>
      <p:ext uri="{BB962C8B-B14F-4D97-AF65-F5344CB8AC3E}">
        <p14:creationId xmlns:p14="http://schemas.microsoft.com/office/powerpoint/2010/main" val="383130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395537" y="961357"/>
            <a:ext cx="4608511" cy="523220"/>
          </a:xfrm>
          <a:prstGeom prst="rect">
            <a:avLst/>
          </a:prstGeom>
          <a:ln/>
        </p:spPr>
        <p:style>
          <a:lnRef idx="1">
            <a:schemeClr val="accent6"/>
          </a:lnRef>
          <a:fillRef idx="3">
            <a:schemeClr val="accent6"/>
          </a:fillRef>
          <a:effectRef idx="2">
            <a:schemeClr val="accent6"/>
          </a:effectRef>
          <a:fontRef idx="minor">
            <a:schemeClr val="lt1"/>
          </a:fontRef>
        </p:style>
        <p:txBody>
          <a:bodyPr wrap="square">
            <a:spAutoFit/>
          </a:bodyPr>
          <a:lstStyle/>
          <a:p>
            <a:pPr algn="just"/>
            <a:r>
              <a:rPr lang="en-US" altLang="zh-CN" sz="2800" b="1" dirty="0">
                <a:solidFill>
                  <a:schemeClr val="bg1"/>
                </a:solidFill>
                <a:latin typeface="经典粗黑简" pitchFamily="49" charset="-122"/>
                <a:ea typeface="经典粗黑简" pitchFamily="49" charset="-122"/>
                <a:cs typeface="经典粗黑简" pitchFamily="49" charset="-122"/>
              </a:rPr>
              <a:t>1.2.3 </a:t>
            </a:r>
            <a:r>
              <a:rPr lang="zh-CN" altLang="en-US" sz="2800" b="1" dirty="0">
                <a:solidFill>
                  <a:schemeClr val="bg1"/>
                </a:solidFill>
                <a:latin typeface="经典粗黑简" pitchFamily="49" charset="-122"/>
                <a:ea typeface="经典粗黑简" pitchFamily="49" charset="-122"/>
                <a:cs typeface="经典粗黑简" pitchFamily="49" charset="-122"/>
              </a:rPr>
              <a:t>算法与与程序的关系</a:t>
            </a:r>
          </a:p>
        </p:txBody>
      </p:sp>
      <p:cxnSp>
        <p:nvCxnSpPr>
          <p:cNvPr id="10" name="直接连接符 9"/>
          <p:cNvCxnSpPr/>
          <p:nvPr/>
        </p:nvCxnSpPr>
        <p:spPr>
          <a:xfrm>
            <a:off x="1" y="757646"/>
            <a:ext cx="9143999" cy="0"/>
          </a:xfrm>
          <a:prstGeom prst="line">
            <a:avLst/>
          </a:prstGeom>
          <a:ln w="22225" cmpd="sng">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sp>
        <p:nvSpPr>
          <p:cNvPr id="15" name="Rectangle 2"/>
          <p:cNvSpPr>
            <a:spLocks noChangeArrowheads="1"/>
          </p:cNvSpPr>
          <p:nvPr/>
        </p:nvSpPr>
        <p:spPr bwMode="auto">
          <a:xfrm>
            <a:off x="1115616" y="1756189"/>
            <a:ext cx="72067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tabLst>
                <a:tab pos="533400" algn="l"/>
              </a:tabLst>
            </a:pP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1</a:t>
            </a:r>
            <a:r>
              <a:rPr lang="zh-CN" altLang="en-US" sz="2000" dirty="0">
                <a:latin typeface="微软雅黑" pitchFamily="34" charset="-122"/>
                <a:ea typeface="微软雅黑" pitchFamily="34" charset="-122"/>
                <a:cs typeface="经典粗黑简" pitchFamily="49" charset="-122"/>
              </a:rPr>
              <a:t>）、算法具有有穷性；程序不一定满足有穷性。</a:t>
            </a:r>
          </a:p>
        </p:txBody>
      </p:sp>
      <p:sp>
        <p:nvSpPr>
          <p:cNvPr id="16" name="矩形 15"/>
          <p:cNvSpPr/>
          <p:nvPr/>
        </p:nvSpPr>
        <p:spPr>
          <a:xfrm>
            <a:off x="1115617" y="2164169"/>
            <a:ext cx="7605508" cy="707886"/>
          </a:xfrm>
          <a:prstGeom prst="rect">
            <a:avLst/>
          </a:prstGeom>
          <a:noFill/>
          <a:ln>
            <a:noFill/>
          </a:ln>
        </p:spPr>
        <p:txBody>
          <a:bodyPr wrap="square" anchor="ctr">
            <a:spAutoFit/>
          </a:bodyPr>
          <a:lstStyle/>
          <a:p>
            <a:pPr>
              <a:tabLst>
                <a:tab pos="533400" algn="l"/>
              </a:tabLst>
            </a:pP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2</a:t>
            </a:r>
            <a:r>
              <a:rPr lang="zh-CN" altLang="en-US" sz="2000" dirty="0">
                <a:latin typeface="微软雅黑" pitchFamily="34" charset="-122"/>
                <a:ea typeface="微软雅黑" pitchFamily="34" charset="-122"/>
                <a:cs typeface="经典粗黑简" pitchFamily="49" charset="-122"/>
              </a:rPr>
              <a:t>）、程序中的指令必须是机器可执行的，而算法中的指令则无此限制。</a:t>
            </a:r>
          </a:p>
        </p:txBody>
      </p:sp>
      <p:sp>
        <p:nvSpPr>
          <p:cNvPr id="17" name="矩形 16"/>
          <p:cNvSpPr/>
          <p:nvPr/>
        </p:nvSpPr>
        <p:spPr>
          <a:xfrm>
            <a:off x="1115618" y="2864535"/>
            <a:ext cx="7444666" cy="707886"/>
          </a:xfrm>
          <a:prstGeom prst="rect">
            <a:avLst/>
          </a:prstGeom>
          <a:noFill/>
          <a:ln>
            <a:noFill/>
          </a:ln>
        </p:spPr>
        <p:txBody>
          <a:bodyPr wrap="square" anchor="ctr">
            <a:spAutoFit/>
          </a:bodyPr>
          <a:lstStyle/>
          <a:p>
            <a:pPr>
              <a:tabLst>
                <a:tab pos="533400" algn="l"/>
              </a:tabLst>
            </a:pP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3</a:t>
            </a:r>
            <a:r>
              <a:rPr lang="zh-CN" altLang="en-US" sz="2000" dirty="0">
                <a:latin typeface="微软雅黑" pitchFamily="34" charset="-122"/>
                <a:ea typeface="微软雅黑" pitchFamily="34" charset="-122"/>
                <a:cs typeface="经典粗黑简" pitchFamily="49" charset="-122"/>
              </a:rPr>
              <a:t>）、算法代表了对问题的求解过程，而程序则是算法在计算机上的实现。</a:t>
            </a:r>
          </a:p>
        </p:txBody>
      </p:sp>
      <p:sp>
        <p:nvSpPr>
          <p:cNvPr id="18" name="矩形 17"/>
          <p:cNvSpPr/>
          <p:nvPr/>
        </p:nvSpPr>
        <p:spPr>
          <a:xfrm>
            <a:off x="1115616" y="4003658"/>
            <a:ext cx="4902473" cy="400110"/>
          </a:xfrm>
          <a:prstGeom prst="rect">
            <a:avLst/>
          </a:prstGeom>
          <a:noFill/>
          <a:ln>
            <a:noFill/>
          </a:ln>
        </p:spPr>
        <p:txBody>
          <a:bodyPr wrap="square" anchor="ctr">
            <a:spAutoFit/>
          </a:bodyPr>
          <a:lstStyle/>
          <a:p>
            <a:pPr>
              <a:tabLst>
                <a:tab pos="533400" algn="l"/>
              </a:tabLst>
            </a:pP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5</a:t>
            </a:r>
            <a:r>
              <a:rPr lang="zh-CN" altLang="en-US" sz="2000" dirty="0">
                <a:latin typeface="微软雅黑" pitchFamily="34" charset="-122"/>
                <a:ea typeface="微软雅黑" pitchFamily="34" charset="-122"/>
                <a:cs typeface="经典粗黑简" pitchFamily="49" charset="-122"/>
              </a:rPr>
              <a:t>）、算法与数据结构相辅相承。</a:t>
            </a:r>
          </a:p>
        </p:txBody>
      </p:sp>
      <p:sp>
        <p:nvSpPr>
          <p:cNvPr id="19" name="矩形 18"/>
          <p:cNvSpPr/>
          <p:nvPr/>
        </p:nvSpPr>
        <p:spPr>
          <a:xfrm>
            <a:off x="1115617" y="3580290"/>
            <a:ext cx="6768751" cy="400110"/>
          </a:xfrm>
          <a:prstGeom prst="rect">
            <a:avLst/>
          </a:prstGeom>
          <a:noFill/>
          <a:ln>
            <a:noFill/>
          </a:ln>
        </p:spPr>
        <p:txBody>
          <a:bodyPr wrap="square" anchor="ctr">
            <a:spAutoFit/>
          </a:bodyPr>
          <a:lstStyle/>
          <a:p>
            <a:pPr>
              <a:tabLst>
                <a:tab pos="533400" algn="l"/>
              </a:tabLst>
            </a:pPr>
            <a:r>
              <a:rPr lang="zh-CN" altLang="en-US" sz="2000" dirty="0">
                <a:latin typeface="微软雅黑" pitchFamily="34" charset="-122"/>
                <a:ea typeface="微软雅黑" pitchFamily="34" charset="-122"/>
                <a:cs typeface="经典粗黑简" pitchFamily="49" charset="-122"/>
              </a:rPr>
              <a:t>（</a:t>
            </a:r>
            <a:r>
              <a:rPr lang="en-US" altLang="zh-CN" sz="2000" dirty="0">
                <a:latin typeface="微软雅黑" pitchFamily="34" charset="-122"/>
                <a:ea typeface="微软雅黑" pitchFamily="34" charset="-122"/>
                <a:cs typeface="经典粗黑简" pitchFamily="49" charset="-122"/>
              </a:rPr>
              <a:t>4</a:t>
            </a:r>
            <a:r>
              <a:rPr lang="zh-CN" altLang="en-US" sz="2000" dirty="0">
                <a:latin typeface="微软雅黑" pitchFamily="34" charset="-122"/>
                <a:ea typeface="微软雅黑" pitchFamily="34" charset="-122"/>
                <a:cs typeface="经典粗黑简" pitchFamily="49" charset="-122"/>
              </a:rPr>
              <a:t>）、算法用特定的程序设计语言来描述，就成了程序。</a:t>
            </a:r>
          </a:p>
        </p:txBody>
      </p:sp>
      <p:sp>
        <p:nvSpPr>
          <p:cNvPr id="3" name="Rectangle 2">
            <a:extLst>
              <a:ext uri="{FF2B5EF4-FFF2-40B4-BE49-F238E27FC236}">
                <a16:creationId xmlns:a16="http://schemas.microsoft.com/office/drawing/2014/main" id="{60E2699A-13EB-F75A-98C0-38CB8EDCCCDD}"/>
              </a:ext>
            </a:extLst>
          </p:cNvPr>
          <p:cNvSpPr txBox="1">
            <a:spLocks noChangeArrowheads="1"/>
          </p:cNvSpPr>
          <p:nvPr/>
        </p:nvSpPr>
        <p:spPr>
          <a:xfrm>
            <a:off x="2026669" y="287383"/>
            <a:ext cx="5090665" cy="418012"/>
          </a:xfrm>
          <a:prstGeom prst="rect">
            <a:avLst/>
          </a:prstGeom>
        </p:spPr>
        <p:txBody>
          <a:bodyPr vert="horz" lIns="91440" tIns="45720" rIns="91440" bIns="45720" rtlCol="0" anchor="ctr">
            <a:normAutofit fontScale="90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600" b="1" dirty="0">
                <a:latin typeface="黑体" pitchFamily="49" charset="-122"/>
                <a:ea typeface="黑体" pitchFamily="49" charset="-122"/>
                <a:cs typeface="+mn-cs"/>
              </a:rPr>
              <a:t>1</a:t>
            </a:r>
            <a:r>
              <a:rPr lang="zh-CN" altLang="en-US" sz="2600" b="1" dirty="0">
                <a:latin typeface="黑体" pitchFamily="49" charset="-122"/>
                <a:ea typeface="黑体" pitchFamily="49" charset="-122"/>
                <a:cs typeface="+mn-cs"/>
              </a:rPr>
              <a:t>.</a:t>
            </a:r>
            <a:r>
              <a:rPr lang="zh-CN" altLang="en-US" sz="2500" b="1" dirty="0">
                <a:latin typeface="黑体" pitchFamily="49" charset="-122"/>
                <a:ea typeface="黑体" pitchFamily="49" charset="-122"/>
                <a:cs typeface="+mn-cs"/>
              </a:rPr>
              <a:t>4 数据结构</a:t>
            </a:r>
            <a:r>
              <a:rPr lang="en-US" altLang="zh-CN" sz="2500" b="1" dirty="0">
                <a:latin typeface="黑体" pitchFamily="49" charset="-122"/>
                <a:ea typeface="黑体" pitchFamily="49" charset="-122"/>
                <a:cs typeface="+mn-cs"/>
              </a:rPr>
              <a:t>+</a:t>
            </a:r>
            <a:r>
              <a:rPr lang="zh-CN" altLang="en-US" sz="2500" b="1" dirty="0">
                <a:latin typeface="黑体" pitchFamily="49" charset="-122"/>
                <a:ea typeface="黑体" pitchFamily="49" charset="-122"/>
                <a:cs typeface="+mn-cs"/>
              </a:rPr>
              <a:t>算法</a:t>
            </a:r>
            <a:r>
              <a:rPr lang="en-US" altLang="zh-CN" sz="2500" b="1" dirty="0">
                <a:latin typeface="黑体" pitchFamily="49" charset="-122"/>
                <a:ea typeface="黑体" pitchFamily="49" charset="-122"/>
                <a:cs typeface="+mn-cs"/>
              </a:rPr>
              <a:t>=</a:t>
            </a:r>
            <a:r>
              <a:rPr lang="zh-CN" altLang="en-US" sz="2500" b="1" dirty="0">
                <a:latin typeface="黑体" pitchFamily="49" charset="-122"/>
                <a:ea typeface="黑体" pitchFamily="49" charset="-122"/>
                <a:cs typeface="+mn-cs"/>
              </a:rPr>
              <a:t>程序</a:t>
            </a:r>
          </a:p>
        </p:txBody>
      </p:sp>
    </p:spTree>
    <p:extLst>
      <p:ext uri="{BB962C8B-B14F-4D97-AF65-F5344CB8AC3E}">
        <p14:creationId xmlns:p14="http://schemas.microsoft.com/office/powerpoint/2010/main" val="382963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836</TotalTime>
  <Words>6946</Words>
  <Application>Microsoft Office PowerPoint</Application>
  <PresentationFormat>全屏显示(16:9)</PresentationFormat>
  <Paragraphs>725</Paragraphs>
  <Slides>71</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71</vt:i4>
      </vt:variant>
    </vt:vector>
  </HeadingPairs>
  <TitlesOfParts>
    <vt:vector size="91" baseType="lpstr">
      <vt:lpstr>Adobe 黑体 Std R</vt:lpstr>
      <vt:lpstr>Adobe 楷体 Std R</vt:lpstr>
      <vt:lpstr>Kozuka Mincho Pro H</vt:lpstr>
      <vt:lpstr>Li Super</vt:lpstr>
      <vt:lpstr>方正启体简体</vt:lpstr>
      <vt:lpstr>方正特雅宋_GBK</vt:lpstr>
      <vt:lpstr>仿宋</vt:lpstr>
      <vt:lpstr>仿宋_GB2312</vt:lpstr>
      <vt:lpstr>黑体</vt:lpstr>
      <vt:lpstr>经典粗黑简</vt:lpstr>
      <vt:lpstr>楷体</vt:lpstr>
      <vt:lpstr>楷体_GB2312</vt:lpstr>
      <vt:lpstr>微软雅黑</vt:lpstr>
      <vt:lpstr>Arial</vt:lpstr>
      <vt:lpstr>Calibri</vt:lpstr>
      <vt:lpstr>Consolas</vt:lpstr>
      <vt:lpstr>Tahoma</vt:lpstr>
      <vt:lpstr>Times New Roman</vt:lpstr>
      <vt:lpstr>Office 主题​​</vt:lpstr>
      <vt:lpstr>公式</vt:lpstr>
      <vt:lpstr>数据结构 Data Structure</vt:lpstr>
      <vt:lpstr>关于数据结构这门课程</vt:lpstr>
      <vt:lpstr>关于数据结构这门课程</vt:lpstr>
      <vt:lpstr>关于数据结构这门课程</vt:lpstr>
      <vt:lpstr>第1章 绪论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 Data Structure</dc:title>
  <dc:creator>Fenghc</dc:creator>
  <cp:lastModifiedBy>User</cp:lastModifiedBy>
  <cp:revision>84</cp:revision>
  <dcterms:created xsi:type="dcterms:W3CDTF">2021-02-25T03:49:55Z</dcterms:created>
  <dcterms:modified xsi:type="dcterms:W3CDTF">2025-09-21T14:20:31Z</dcterms:modified>
</cp:coreProperties>
</file>