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56" r:id="rId2"/>
    <p:sldId id="575" r:id="rId3"/>
    <p:sldId id="600" r:id="rId4"/>
    <p:sldId id="529" r:id="rId5"/>
    <p:sldId id="601" r:id="rId6"/>
    <p:sldId id="580" r:id="rId7"/>
    <p:sldId id="585" r:id="rId8"/>
    <p:sldId id="545" r:id="rId9"/>
    <p:sldId id="555" r:id="rId10"/>
    <p:sldId id="556" r:id="rId11"/>
    <p:sldId id="594" r:id="rId12"/>
    <p:sldId id="59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2F8F3-DB46-4A3E-B5D6-D410AC082898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953A-E56A-4ED9-A030-D81C71BF5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93E229E-87E9-4890-AD42-1BD9A45F2151}" type="slidenum">
              <a:rPr lang="en-US" altLang="zh-TW" sz="1100" smtClean="0">
                <a:latin typeface="Times New Roman" pitchFamily="18" charset="0"/>
                <a:ea typeface="PMingLiU" pitchFamily="18" charset="-12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zh-TW" sz="110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4341813"/>
            <a:ext cx="5489575" cy="4116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52ED-3BE6-D4CD-A559-C2FD0990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9D51D81-417C-D298-59DC-3D927CD615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93E229E-87E9-4890-AD42-1BD9A45F2151}" type="slidenum">
              <a:rPr lang="en-US" altLang="zh-TW" sz="1100" smtClean="0">
                <a:latin typeface="Times New Roman" pitchFamily="18" charset="0"/>
                <a:ea typeface="PMingLiU" pitchFamily="18" charset="-12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zh-TW" sz="110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F024476-0D2E-5725-5F9E-F043C6D1D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E8A7E56-3DE3-D5DA-9B18-A49818C4B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4341813"/>
            <a:ext cx="5489575" cy="4116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848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6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56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9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8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8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4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01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97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68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24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214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9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0046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823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120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44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814B5-B8FB-4772-AF02-DC57AA193D0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B7C1C0-8A53-4D21-AFB5-8E434CA38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94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62982-0A8A-3BC0-EF48-BD68D8333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第五</a:t>
            </a:r>
            <a:r>
              <a:rPr lang="en-US" altLang="zh-CN" dirty="0"/>
              <a:t>5</a:t>
            </a:r>
            <a:r>
              <a:rPr lang="zh-CN" altLang="en-US" dirty="0"/>
              <a:t>章 循环习题课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80C123-63EC-0CFE-E6C5-F5CB07D0F9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9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54741" y="608553"/>
            <a:ext cx="8229600" cy="900112"/>
          </a:xfrm>
        </p:spPr>
        <p:txBody>
          <a:bodyPr/>
          <a:lstStyle/>
          <a:p>
            <a:pPr marL="1019175" indent="-1019175">
              <a:defRPr/>
            </a:pPr>
            <a:r>
              <a:rPr lang="en-US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【</a:t>
            </a:r>
            <a:r>
              <a:rPr lang="zh-CN" altLang="en-US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例</a:t>
            </a:r>
            <a:r>
              <a:rPr lang="en-US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5.1】</a:t>
            </a:r>
            <a:r>
              <a:rPr lang="zh-CN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统计由键盘中输入的若干个字符中，大写英文字母、小写英文字母、数字字符和其他字符的个数</a:t>
            </a:r>
            <a:r>
              <a:rPr lang="zh-CN" altLang="en-US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。 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BD2E-0191-981E-61A2-004C0579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C14A68F-B86B-D71F-44D9-08F246263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3"/>
            <a:ext cx="8229600" cy="900112"/>
          </a:xfrm>
        </p:spPr>
        <p:txBody>
          <a:bodyPr/>
          <a:lstStyle/>
          <a:p>
            <a:pPr marL="1019175" indent="-1019175">
              <a:defRPr/>
            </a:pPr>
            <a:r>
              <a:rPr lang="en-US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【</a:t>
            </a:r>
            <a:r>
              <a:rPr lang="zh-CN" altLang="en-US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例</a:t>
            </a:r>
            <a:r>
              <a:rPr lang="en-US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5.1】</a:t>
            </a:r>
            <a:r>
              <a:rPr lang="zh-CN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统计由键盘中输入的</a:t>
            </a:r>
            <a:r>
              <a:rPr lang="en-US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10</a:t>
            </a:r>
            <a:r>
              <a:rPr lang="zh-CN" altLang="zh-CN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个字符中，大写英文字母、小写英文字母、数字字符和其他字符的个数</a:t>
            </a:r>
            <a:r>
              <a:rPr lang="zh-CN" altLang="en-US" sz="2400" b="1" dirty="0">
                <a:solidFill>
                  <a:srgbClr val="010ABB"/>
                </a:solidFill>
                <a:latin typeface="Times New Roman" pitchFamily="18" charset="0"/>
                <a:cs typeface="+mn-cs"/>
              </a:rPr>
              <a:t>。 </a:t>
            </a:r>
          </a:p>
        </p:txBody>
      </p:sp>
      <p:sp>
        <p:nvSpPr>
          <p:cNvPr id="2817045" name="Rectangle 21">
            <a:extLst>
              <a:ext uri="{FF2B5EF4-FFF2-40B4-BE49-F238E27FC236}">
                <a16:creationId xmlns:a16="http://schemas.microsoft.com/office/drawing/2014/main" id="{2398F991-91F5-5D23-642D-8A80A40B4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025526"/>
            <a:ext cx="9372600" cy="568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9723" tIns="44866" rIns="89723" bIns="44866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pt-BR" altLang="zh-CN" sz="2000" dirty="0"/>
              <a:t>#include &lt;stdio.h&gt;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int main( )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{      int upper, lower, digit, i, other;   	 </a:t>
            </a:r>
          </a:p>
          <a:p>
            <a:pPr eaLnBrk="1" hangingPunct="1"/>
            <a:r>
              <a:rPr lang="pt-BR" altLang="zh-CN" sz="2000" dirty="0"/>
              <a:t>       char ch</a:t>
            </a:r>
          </a:p>
          <a:p>
            <a:pPr eaLnBrk="1" hangingPunct="1"/>
            <a:r>
              <a:rPr lang="pt-BR" altLang="zh-CN" sz="2000" dirty="0"/>
              <a:t>       upper = lower = digit = other = 0; </a:t>
            </a:r>
          </a:p>
          <a:p>
            <a:pPr eaLnBrk="1" hangingPunct="1"/>
            <a:r>
              <a:rPr lang="pt-BR" altLang="zh-CN" sz="2000" dirty="0"/>
              <a:t>       printf("</a:t>
            </a:r>
            <a:r>
              <a:rPr lang="zh-CN" altLang="zh-CN" sz="2000" dirty="0"/>
              <a:t>输入</a:t>
            </a:r>
            <a:r>
              <a:rPr lang="pt-BR" altLang="zh-CN" sz="2000" dirty="0"/>
              <a:t>10 </a:t>
            </a:r>
            <a:r>
              <a:rPr lang="zh-CN" altLang="zh-CN" sz="2000" dirty="0"/>
              <a:t>个字符：</a:t>
            </a:r>
            <a:r>
              <a:rPr lang="pt-BR" altLang="zh-CN" sz="2000" dirty="0"/>
              <a:t>"); 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for(i = 1; i &lt;= 10; i++) </a:t>
            </a:r>
          </a:p>
          <a:p>
            <a:pPr eaLnBrk="1" hangingPunct="1"/>
            <a:r>
              <a:rPr lang="pt-BR" altLang="zh-CN" sz="2000" dirty="0"/>
              <a:t>      {     ch = getchar</a:t>
            </a:r>
            <a:r>
              <a:rPr lang="en-US" altLang="zh-CN" sz="2000" dirty="0"/>
              <a:t>()</a:t>
            </a:r>
            <a:r>
              <a:rPr lang="pt-BR" altLang="zh-CN" sz="2000" dirty="0"/>
              <a:t>;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       if(ch &gt;= 'a' &amp;&amp; ch &lt;= 'z' )     lower ++;                	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       else if ( ch &gt;= 'A' &amp;&amp; ch &lt;= 'Z')	     upper ++;                	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       else if(ch &gt;= '0' &amp;&amp; ch &lt;= '9')   	      digit ++;              	 </a:t>
            </a:r>
          </a:p>
          <a:p>
            <a:pPr eaLnBrk="1" hangingPunct="1"/>
            <a:r>
              <a:rPr lang="pt-BR" altLang="zh-CN" sz="2000" dirty="0"/>
              <a:t>	 else      other ++;        </a:t>
            </a:r>
          </a:p>
          <a:p>
            <a:pPr eaLnBrk="1" hangingPunct="1"/>
            <a:r>
              <a:rPr lang="pt-BR" altLang="zh-CN" sz="2000" dirty="0"/>
              <a:t>        }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 printf("</a:t>
            </a:r>
            <a:r>
              <a:rPr lang="zh-CN" altLang="zh-CN" sz="2000" dirty="0"/>
              <a:t>小写字母</a:t>
            </a:r>
            <a:r>
              <a:rPr lang="pt-BR" altLang="zh-CN" sz="2000" dirty="0"/>
              <a:t>%d</a:t>
            </a:r>
            <a:r>
              <a:rPr lang="zh-CN" altLang="zh-CN" sz="2000" dirty="0"/>
              <a:t>个</a:t>
            </a:r>
            <a:r>
              <a:rPr lang="pt-BR" altLang="zh-CN" sz="2000" dirty="0"/>
              <a:t>, </a:t>
            </a:r>
            <a:r>
              <a:rPr lang="zh-CN" altLang="zh-CN" sz="2000" dirty="0"/>
              <a:t>大写字母</a:t>
            </a:r>
            <a:r>
              <a:rPr lang="pt-BR" altLang="zh-CN" sz="2000" dirty="0"/>
              <a:t>%d</a:t>
            </a:r>
            <a:r>
              <a:rPr lang="zh-CN" altLang="zh-CN" sz="2000" dirty="0"/>
              <a:t>个</a:t>
            </a:r>
            <a:r>
              <a:rPr lang="pt-BR" altLang="zh-CN" sz="2000" dirty="0"/>
              <a:t>, </a:t>
            </a:r>
            <a:r>
              <a:rPr lang="zh-CN" altLang="zh-CN" sz="2000" dirty="0"/>
              <a:t>数字</a:t>
            </a:r>
            <a:r>
              <a:rPr lang="pt-BR" altLang="zh-CN" sz="2000" dirty="0"/>
              <a:t>%d</a:t>
            </a:r>
            <a:r>
              <a:rPr lang="zh-CN" altLang="zh-CN" sz="2000" dirty="0"/>
              <a:t>个</a:t>
            </a:r>
            <a:r>
              <a:rPr lang="pt-BR" altLang="zh-CN" sz="2000" dirty="0"/>
              <a:t>, </a:t>
            </a:r>
            <a:r>
              <a:rPr lang="zh-CN" altLang="zh-CN" sz="2000" dirty="0"/>
              <a:t>其他字符</a:t>
            </a:r>
            <a:r>
              <a:rPr lang="pt-BR" altLang="zh-CN" sz="2000" dirty="0"/>
              <a:t>%d</a:t>
            </a:r>
            <a:r>
              <a:rPr lang="zh-CN" altLang="zh-CN" sz="2000" dirty="0"/>
              <a:t>个</a:t>
            </a:r>
            <a:r>
              <a:rPr lang="pt-BR" altLang="zh-CN" sz="2000" dirty="0"/>
              <a:t>\n", </a:t>
            </a:r>
          </a:p>
          <a:p>
            <a:pPr eaLnBrk="1" hangingPunct="1"/>
            <a:r>
              <a:rPr lang="pt-BR" altLang="zh-CN" sz="2000" dirty="0"/>
              <a:t>                    lower, upper,digit, other);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        return 0;</a:t>
            </a:r>
            <a:endParaRPr lang="zh-CN" altLang="zh-CN" sz="2000" dirty="0"/>
          </a:p>
          <a:p>
            <a:pPr eaLnBrk="1" hangingPunct="1"/>
            <a:r>
              <a:rPr lang="pt-BR" altLang="zh-CN" sz="2000" dirty="0"/>
              <a:t>}</a:t>
            </a:r>
            <a:endParaRPr lang="en-US" altLang="zh-CN" sz="20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B830305-BD20-F45C-EEC6-DABADDA15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754688"/>
            <a:ext cx="5791200" cy="9144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16623" tIns="58311" rIns="116623" bIns="58311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>
                <a:solidFill>
                  <a:schemeClr val="bg1"/>
                </a:solidFill>
              </a:rPr>
              <a:t>运行结果：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>
                <a:solidFill>
                  <a:schemeClr val="bg1"/>
                </a:solidFill>
              </a:rPr>
              <a:t>输入</a:t>
            </a:r>
            <a:r>
              <a:rPr lang="pt-BR" altLang="zh-CN" sz="1800">
                <a:solidFill>
                  <a:schemeClr val="bg1"/>
                </a:solidFill>
              </a:rPr>
              <a:t>10 </a:t>
            </a:r>
            <a:r>
              <a:rPr lang="zh-CN" altLang="zh-CN" sz="1800">
                <a:solidFill>
                  <a:schemeClr val="bg1"/>
                </a:solidFill>
              </a:rPr>
              <a:t>个字符：</a:t>
            </a:r>
            <a:r>
              <a:rPr lang="en-US" altLang="zh-CN" sz="1800">
                <a:solidFill>
                  <a:schemeClr val="bg1"/>
                </a:solidFill>
              </a:rPr>
              <a:t>seBEcY32?*</a:t>
            </a:r>
            <a:endParaRPr lang="zh-CN" altLang="zh-CN" sz="18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>
                <a:solidFill>
                  <a:schemeClr val="bg1"/>
                </a:solidFill>
              </a:rPr>
              <a:t>小写字母</a:t>
            </a:r>
            <a:r>
              <a:rPr lang="en-US" altLang="zh-CN" sz="1800">
                <a:solidFill>
                  <a:schemeClr val="bg1"/>
                </a:solidFill>
              </a:rPr>
              <a:t>3</a:t>
            </a:r>
            <a:r>
              <a:rPr lang="zh-CN" altLang="zh-CN" sz="1800">
                <a:solidFill>
                  <a:schemeClr val="bg1"/>
                </a:solidFill>
              </a:rPr>
              <a:t>个</a:t>
            </a:r>
            <a:r>
              <a:rPr lang="en-US" altLang="zh-CN" sz="1800">
                <a:solidFill>
                  <a:schemeClr val="bg1"/>
                </a:solidFill>
              </a:rPr>
              <a:t>, </a:t>
            </a:r>
            <a:r>
              <a:rPr lang="zh-CN" altLang="zh-CN" sz="1800">
                <a:solidFill>
                  <a:schemeClr val="bg1"/>
                </a:solidFill>
              </a:rPr>
              <a:t>大写字母</a:t>
            </a:r>
            <a:r>
              <a:rPr lang="en-US" altLang="zh-CN" sz="1800">
                <a:solidFill>
                  <a:schemeClr val="bg1"/>
                </a:solidFill>
              </a:rPr>
              <a:t>3</a:t>
            </a:r>
            <a:r>
              <a:rPr lang="zh-CN" altLang="zh-CN" sz="1800">
                <a:solidFill>
                  <a:schemeClr val="bg1"/>
                </a:solidFill>
              </a:rPr>
              <a:t>个</a:t>
            </a:r>
            <a:r>
              <a:rPr lang="en-US" altLang="zh-CN" sz="1800">
                <a:solidFill>
                  <a:schemeClr val="bg1"/>
                </a:solidFill>
              </a:rPr>
              <a:t>,</a:t>
            </a:r>
            <a:r>
              <a:rPr lang="zh-CN" altLang="zh-CN" sz="1800">
                <a:solidFill>
                  <a:schemeClr val="bg1"/>
                </a:solidFill>
              </a:rPr>
              <a:t>数字</a:t>
            </a:r>
            <a:r>
              <a:rPr lang="en-US" altLang="zh-CN" sz="1800">
                <a:solidFill>
                  <a:schemeClr val="bg1"/>
                </a:solidFill>
              </a:rPr>
              <a:t>2</a:t>
            </a:r>
            <a:r>
              <a:rPr lang="zh-CN" altLang="zh-CN" sz="1800">
                <a:solidFill>
                  <a:schemeClr val="bg1"/>
                </a:solidFill>
              </a:rPr>
              <a:t>个</a:t>
            </a:r>
            <a:r>
              <a:rPr lang="en-US" altLang="zh-CN" sz="1800">
                <a:solidFill>
                  <a:schemeClr val="bg1"/>
                </a:solidFill>
              </a:rPr>
              <a:t>, </a:t>
            </a:r>
            <a:r>
              <a:rPr lang="zh-CN" altLang="zh-CN" sz="1800">
                <a:solidFill>
                  <a:schemeClr val="bg1"/>
                </a:solidFill>
              </a:rPr>
              <a:t>其他字符</a:t>
            </a:r>
            <a:r>
              <a:rPr lang="en-US" altLang="zh-CN" sz="1800">
                <a:solidFill>
                  <a:schemeClr val="bg1"/>
                </a:solidFill>
              </a:rPr>
              <a:t>2</a:t>
            </a:r>
            <a:r>
              <a:rPr lang="zh-CN" altLang="zh-CN" sz="1800">
                <a:solidFill>
                  <a:schemeClr val="bg1"/>
                </a:solidFill>
              </a:rPr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17170926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17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1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1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1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1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170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170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170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170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170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8170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170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8170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8170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1704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170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7045" grpId="0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DD7293-3D2F-408D-833B-88465A9EABC4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2133600" y="320675"/>
            <a:ext cx="8001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/>
              <a:t>例</a:t>
            </a:r>
            <a:r>
              <a:rPr lang="en-US" altLang="zh-CN" sz="3200" dirty="0"/>
              <a:t>5.2 </a:t>
            </a:r>
            <a:r>
              <a:rPr lang="zh-CN" altLang="en-US" sz="3200" dirty="0"/>
              <a:t>输入一个整数，统计该数的位数。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625C-FC35-FD72-E732-40541F2F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26A99F0C-2FB3-B5B3-CD5E-9C1ABF71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DD7293-3D2F-408D-833B-88465A9EABC4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38916" name="TextBox 4">
            <a:extLst>
              <a:ext uri="{FF2B5EF4-FFF2-40B4-BE49-F238E27FC236}">
                <a16:creationId xmlns:a16="http://schemas.microsoft.com/office/drawing/2014/main" id="{A1A5D8C8-7042-9AD4-2E54-B67063519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20675"/>
            <a:ext cx="8001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/>
              <a:t>例</a:t>
            </a:r>
            <a:r>
              <a:rPr lang="en-US" altLang="zh-CN" sz="3200" dirty="0"/>
              <a:t>5.2 </a:t>
            </a:r>
            <a:r>
              <a:rPr lang="zh-CN" altLang="en-US" sz="3200" dirty="0"/>
              <a:t>输入一个整数，统计该数的位数。</a:t>
            </a:r>
          </a:p>
        </p:txBody>
      </p:sp>
      <p:sp>
        <p:nvSpPr>
          <p:cNvPr id="38917" name="TextBox 5">
            <a:extLst>
              <a:ext uri="{FF2B5EF4-FFF2-40B4-BE49-F238E27FC236}">
                <a16:creationId xmlns:a16="http://schemas.microsoft.com/office/drawing/2014/main" id="{47492C2B-8ABC-8846-A139-A5B6F63F8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881064"/>
            <a:ext cx="7886700" cy="477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#include&lt;stdio.h&gt;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int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{      long n,m;                                     	/* </a:t>
            </a:r>
            <a:r>
              <a:rPr lang="zh-CN" altLang="en-US" sz="2000"/>
              <a:t>定义用到的变量 *</a:t>
            </a:r>
            <a:r>
              <a:rPr lang="en-US" altLang="zh-CN" sz="200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int count=0;                                	/* </a:t>
            </a:r>
            <a:r>
              <a:rPr lang="zh-CN" altLang="en-US" sz="2000"/>
              <a:t>计数变量赋初值</a:t>
            </a:r>
            <a:r>
              <a:rPr lang="en-US" altLang="zh-CN" sz="2000"/>
              <a:t>0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/>
              <a:t>        printf("</a:t>
            </a:r>
            <a:r>
              <a:rPr lang="zh-CN" altLang="zh-CN" sz="2000"/>
              <a:t>请输入一个整数：</a:t>
            </a:r>
            <a:r>
              <a:rPr lang="pt-BR" altLang="zh-CN" sz="2000"/>
              <a:t>");</a:t>
            </a:r>
            <a:endParaRPr lang="zh-CN" altLang="zh-CN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scanf("%ld",&amp;n);                        	/* </a:t>
            </a:r>
            <a:r>
              <a:rPr lang="zh-CN" altLang="en-US" sz="2000"/>
              <a:t>输入整数 *</a:t>
            </a:r>
            <a:r>
              <a:rPr lang="en-US" altLang="zh-CN" sz="200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m=n;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if(n&lt;0)n=-n;                                 	/* </a:t>
            </a:r>
            <a:r>
              <a:rPr lang="zh-CN" altLang="en-US" sz="2000"/>
              <a:t>输入的负数转换为正数 *</a:t>
            </a:r>
            <a:r>
              <a:rPr lang="en-US" altLang="zh-CN" sz="200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do                                                 	/* </a:t>
            </a:r>
            <a:r>
              <a:rPr lang="zh-CN" altLang="en-US" sz="2000"/>
              <a:t>循环入口 *</a:t>
            </a:r>
            <a:r>
              <a:rPr lang="en-US" altLang="zh-CN" sz="200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{        n=n/10;                               	/* </a:t>
            </a:r>
            <a:r>
              <a:rPr lang="zh-CN" altLang="en-US" sz="2000"/>
              <a:t>减少一位数字 *</a:t>
            </a:r>
            <a:r>
              <a:rPr lang="en-US" altLang="zh-CN" sz="200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	     count++;                            	/* </a:t>
            </a:r>
            <a:r>
              <a:rPr lang="zh-CN" altLang="en-US" sz="2000"/>
              <a:t>位数加</a:t>
            </a:r>
            <a:r>
              <a:rPr lang="en-US" altLang="zh-CN" sz="2000"/>
              <a:t>1 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 }while(n!=0);                               	/* </a:t>
            </a:r>
            <a:r>
              <a:rPr lang="zh-CN" altLang="en-US" sz="2000"/>
              <a:t>循环结束的条件是</a:t>
            </a:r>
            <a:r>
              <a:rPr lang="en-US" altLang="zh-CN" sz="2000"/>
              <a:t>n=0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 </a:t>
            </a:r>
            <a:r>
              <a:rPr lang="pt-BR" altLang="zh-CN" sz="2000"/>
              <a:t>printf("</a:t>
            </a:r>
            <a:r>
              <a:rPr lang="zh-CN" altLang="zh-CN" sz="2000"/>
              <a:t>整数</a:t>
            </a:r>
            <a:r>
              <a:rPr lang="pt-BR" altLang="zh-CN" sz="2000"/>
              <a:t>%ld</a:t>
            </a:r>
            <a:r>
              <a:rPr lang="zh-CN" altLang="zh-CN" sz="2000"/>
              <a:t>有</a:t>
            </a:r>
            <a:r>
              <a:rPr lang="pt-BR" altLang="zh-CN" sz="2000"/>
              <a:t>%d</a:t>
            </a:r>
            <a:r>
              <a:rPr lang="zh-CN" altLang="zh-CN" sz="2000"/>
              <a:t>位数</a:t>
            </a:r>
            <a:r>
              <a:rPr lang="pt-BR" altLang="zh-CN" sz="2000"/>
              <a:t>\n",m,count);</a:t>
            </a:r>
            <a:endParaRPr lang="zh-CN" altLang="zh-CN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         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}</a:t>
            </a:r>
            <a:endParaRPr lang="zh-CN" altLang="en-US" sz="200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30356F7-B6D4-FBC1-B9DA-24987118A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5265738"/>
            <a:ext cx="3644900" cy="101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运行结果：</a:t>
            </a:r>
          </a:p>
          <a:p>
            <a:pPr>
              <a:defRPr/>
            </a:pPr>
            <a:r>
              <a:rPr lang="zh-CN" altLang="zh-CN" sz="2000" dirty="0">
                <a:solidFill>
                  <a:schemeClr val="bg1"/>
                </a:solidFill>
              </a:rPr>
              <a:t>请输入一个整数：</a:t>
            </a:r>
            <a:r>
              <a:rPr lang="en-US" altLang="zh-CN" sz="2000" dirty="0">
                <a:solidFill>
                  <a:schemeClr val="bg1"/>
                </a:solidFill>
              </a:rPr>
              <a:t>3276700</a:t>
            </a:r>
            <a:endParaRPr lang="zh-CN" altLang="zh-CN" sz="20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zh-CN" altLang="zh-CN" sz="2000" dirty="0">
                <a:solidFill>
                  <a:schemeClr val="bg1"/>
                </a:solidFill>
              </a:rPr>
              <a:t>整数</a:t>
            </a:r>
            <a:r>
              <a:rPr lang="en-US" altLang="zh-CN" sz="2000" dirty="0">
                <a:solidFill>
                  <a:schemeClr val="bg1"/>
                </a:solidFill>
              </a:rPr>
              <a:t>3276700</a:t>
            </a:r>
            <a:r>
              <a:rPr lang="zh-CN" altLang="zh-CN" sz="2000" dirty="0">
                <a:solidFill>
                  <a:schemeClr val="bg1"/>
                </a:solidFill>
              </a:rPr>
              <a:t>有</a:t>
            </a:r>
            <a:r>
              <a:rPr lang="en-US" altLang="zh-CN" sz="2000" dirty="0">
                <a:solidFill>
                  <a:schemeClr val="bg1"/>
                </a:solidFill>
              </a:rPr>
              <a:t>7</a:t>
            </a:r>
            <a:r>
              <a:rPr lang="zh-CN" altLang="zh-CN" sz="2000" dirty="0">
                <a:solidFill>
                  <a:schemeClr val="bg1"/>
                </a:solidFill>
              </a:rPr>
              <a:t>位数</a:t>
            </a:r>
          </a:p>
        </p:txBody>
      </p:sp>
    </p:spTree>
    <p:extLst>
      <p:ext uri="{BB962C8B-B14F-4D97-AF65-F5344CB8AC3E}">
        <p14:creationId xmlns:p14="http://schemas.microsoft.com/office/powerpoint/2010/main" val="406902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3558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160588" y="311150"/>
            <a:ext cx="8007350" cy="6248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b="1" dirty="0"/>
              <a:t>【</a:t>
            </a:r>
            <a:r>
              <a:rPr lang="zh-CN" altLang="en-US" b="1" dirty="0"/>
              <a:t>例</a:t>
            </a:r>
            <a:r>
              <a:rPr lang="en-US" altLang="zh-CN" b="1" dirty="0"/>
              <a:t>5.3】</a:t>
            </a:r>
            <a:r>
              <a:rPr lang="zh-CN" altLang="en-US" b="1" dirty="0"/>
              <a:t>分析下面程序的运行结果。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#include&lt;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</a:p>
          <a:p>
            <a:pPr marL="0" indent="0">
              <a:buNone/>
              <a:defRPr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{  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i=5;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do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{ if(i%3==1)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	if(i%5==2)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	{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</a:t>
            </a:r>
            <a:r>
              <a:rPr lang="en-US" altLang="zh-CN" sz="2400" b="1" dirty="0" err="1"/>
              <a:t>d",i</a:t>
            </a:r>
            <a:r>
              <a:rPr lang="en-US" altLang="zh-CN" sz="2400" b="1" dirty="0"/>
              <a:t>);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	      break;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	}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  i++;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}while(i!=0);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	return 0;</a:t>
            </a:r>
          </a:p>
          <a:p>
            <a:pPr marL="0" indent="0">
              <a:buNone/>
              <a:defRPr/>
            </a:pPr>
            <a:r>
              <a:rPr lang="en-US" altLang="zh-CN" sz="2400" b="1" dirty="0"/>
              <a:t>}</a:t>
            </a:r>
          </a:p>
        </p:txBody>
      </p:sp>
      <p:sp>
        <p:nvSpPr>
          <p:cNvPr id="409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157E44-A4F7-485C-A3C6-DA4C31045211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7086600" y="4876800"/>
            <a:ext cx="2133600" cy="78483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</a:rPr>
              <a:t>运行结果为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bg1"/>
                </a:solidFill>
              </a:rPr>
              <a:t>7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27654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981200" y="381000"/>
            <a:ext cx="8388350" cy="6096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5.4】 </a:t>
            </a:r>
            <a:r>
              <a:rPr lang="zh-CN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 分析下面程序的运行结果。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  <a:defRPr/>
            </a:pPr>
            <a:r>
              <a:rPr lang="pt-BR" altLang="zh-CN" sz="2000" b="1" dirty="0"/>
              <a:t>#include&lt;stdio.h&gt;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int main()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{     int n,s=0;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n=1;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while(n&lt;10)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 {	s=s+n;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	if(s&gt;5)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	      break;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	if(n%2==1)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	       continue;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	n++;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  }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  printf("s=%d,n=%d\n",s,n);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         return 0;</a:t>
            </a:r>
            <a:endParaRPr lang="zh-CN" altLang="zh-CN" sz="2000" b="1" dirty="0"/>
          </a:p>
          <a:p>
            <a:pPr marL="0" indent="0">
              <a:buNone/>
              <a:defRPr/>
            </a:pPr>
            <a:r>
              <a:rPr lang="pt-BR" altLang="zh-CN" sz="2000" b="1" dirty="0"/>
              <a:t>}</a:t>
            </a:r>
            <a:endParaRPr lang="zh-CN" altLang="zh-CN" sz="2000" b="1" dirty="0"/>
          </a:p>
        </p:txBody>
      </p:sp>
      <p:sp>
        <p:nvSpPr>
          <p:cNvPr id="460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6ECBE4-A760-4D84-8DF7-59F793BB38E3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6477001" y="4419601"/>
            <a:ext cx="2276475" cy="646331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zh-CN" dirty="0">
                <a:solidFill>
                  <a:schemeClr val="bg1"/>
                </a:solidFill>
              </a:rPr>
              <a:t>运行结果：</a:t>
            </a:r>
          </a:p>
          <a:p>
            <a:pPr>
              <a:defRPr/>
            </a:pPr>
            <a:r>
              <a:rPr lang="pt-BR" altLang="zh-CN" dirty="0">
                <a:solidFill>
                  <a:schemeClr val="bg1"/>
                </a:solidFill>
              </a:rPr>
              <a:t>s=6</a:t>
            </a:r>
            <a:r>
              <a:rPr lang="zh-CN" altLang="zh-CN" dirty="0">
                <a:solidFill>
                  <a:schemeClr val="bg1"/>
                </a:solidFill>
              </a:rPr>
              <a:t>，</a:t>
            </a:r>
            <a:r>
              <a:rPr lang="pt-BR" altLang="zh-CN" dirty="0">
                <a:solidFill>
                  <a:schemeClr val="bg1"/>
                </a:solidFill>
              </a:rPr>
              <a:t>n=1</a:t>
            </a:r>
            <a:endParaRPr lang="zh-CN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5AE41E-14DC-4959-945A-C9227AE57D90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 dirty="0">
              <a:solidFill>
                <a:schemeClr val="hlink"/>
              </a:solidFill>
            </a:endParaRPr>
          </a:p>
        </p:txBody>
      </p:sp>
      <p:sp>
        <p:nvSpPr>
          <p:cNvPr id="56324" name="TextBox 4"/>
          <p:cNvSpPr txBox="1">
            <a:spLocks noChangeArrowheads="1"/>
          </p:cNvSpPr>
          <p:nvPr/>
        </p:nvSpPr>
        <p:spPr bwMode="auto">
          <a:xfrm>
            <a:off x="1828800" y="762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5.5】</a:t>
            </a:r>
            <a:r>
              <a:rPr lang="zh-CN" altLang="en-US" sz="2800" dirty="0"/>
              <a:t>将</a:t>
            </a:r>
            <a:r>
              <a:rPr lang="en-US" altLang="zh-CN" sz="2800" dirty="0"/>
              <a:t>10~20</a:t>
            </a:r>
            <a:r>
              <a:rPr lang="zh-CN" altLang="en-US" sz="2800" dirty="0"/>
              <a:t>之间的正整数分解质因数。例如，</a:t>
            </a:r>
            <a:r>
              <a:rPr lang="en-US" altLang="zh-CN" sz="2800" dirty="0"/>
              <a:t>12</a:t>
            </a:r>
            <a:r>
              <a:rPr lang="zh-CN" altLang="en-US" sz="2800" dirty="0"/>
              <a:t>可分解为</a:t>
            </a:r>
            <a:r>
              <a:rPr lang="en-US" altLang="zh-CN" sz="2800" dirty="0"/>
              <a:t>2</a:t>
            </a:r>
            <a:r>
              <a:rPr lang="zh-CN" altLang="en-US" sz="2800" dirty="0"/>
              <a:t>*</a:t>
            </a:r>
            <a:r>
              <a:rPr lang="en-US" altLang="zh-CN" sz="2800" dirty="0"/>
              <a:t>2</a:t>
            </a:r>
            <a:r>
              <a:rPr lang="zh-CN" altLang="en-US" sz="2800" dirty="0"/>
              <a:t>*</a:t>
            </a:r>
            <a:r>
              <a:rPr lang="en-US" altLang="zh-CN" sz="2800" dirty="0"/>
              <a:t>3</a:t>
            </a:r>
            <a:r>
              <a:rPr lang="zh-CN" altLang="en-US" sz="2800" dirty="0"/>
              <a:t>。</a:t>
            </a:r>
          </a:p>
        </p:txBody>
      </p:sp>
      <p:sp>
        <p:nvSpPr>
          <p:cNvPr id="56325" name="TextBox 5"/>
          <p:cNvSpPr txBox="1">
            <a:spLocks noChangeArrowheads="1"/>
          </p:cNvSpPr>
          <p:nvPr/>
        </p:nvSpPr>
        <p:spPr bwMode="auto">
          <a:xfrm>
            <a:off x="1828800" y="1030288"/>
            <a:ext cx="74676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#include&lt;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{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i,n,m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for(m=10;m&lt;=20;m++)             /* </a:t>
            </a:r>
            <a:r>
              <a:rPr lang="zh-CN" altLang="en-US" sz="2000" dirty="0"/>
              <a:t>外循环控制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{       n=</a:t>
            </a:r>
            <a:r>
              <a:rPr lang="en-US" altLang="zh-CN" sz="2000" dirty="0" err="1"/>
              <a:t>m,i</a:t>
            </a:r>
            <a:r>
              <a:rPr lang="en-US" altLang="zh-CN" sz="2000" dirty="0"/>
              <a:t>=2;                            /* </a:t>
            </a:r>
            <a:r>
              <a:rPr lang="zh-CN" altLang="en-US" sz="2000" dirty="0"/>
              <a:t>内循环中的变量赋初值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("%d=",n);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do                                       /* </a:t>
            </a:r>
            <a:r>
              <a:rPr lang="zh-CN" altLang="en-US" sz="2000" dirty="0"/>
              <a:t>内循环控制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{       if(</a:t>
            </a:r>
            <a:r>
              <a:rPr lang="en-US" altLang="zh-CN" sz="2000" dirty="0" err="1"/>
              <a:t>n%i</a:t>
            </a:r>
            <a:r>
              <a:rPr lang="en-US" altLang="zh-CN" sz="2000" dirty="0"/>
              <a:t>==0)                  /* </a:t>
            </a:r>
            <a:r>
              <a:rPr lang="zh-CN" altLang="en-US" sz="2000" dirty="0"/>
              <a:t>判断是否为因子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        {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("%d*",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               n=n/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                   /* </a:t>
            </a:r>
            <a:r>
              <a:rPr lang="zh-CN" altLang="en-US" sz="2000" dirty="0"/>
              <a:t>缩小因子倍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   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        else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            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}while(n!=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);                        /* </a:t>
            </a:r>
            <a:r>
              <a:rPr lang="zh-CN" altLang="en-US" sz="2000" dirty="0"/>
              <a:t>内循环条件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("%d\</a:t>
            </a:r>
            <a:r>
              <a:rPr lang="en-US" altLang="zh-CN" sz="2000" dirty="0" err="1"/>
              <a:t>n",n</a:t>
            </a:r>
            <a:r>
              <a:rPr lang="en-US" altLang="zh-CN" sz="2000" dirty="0"/>
              <a:t>);                 /* </a:t>
            </a:r>
            <a:r>
              <a:rPr lang="zh-CN" altLang="en-US" sz="2000" dirty="0"/>
              <a:t>输出最后一个因子 *</a:t>
            </a:r>
            <a:r>
              <a:rPr lang="en-US" altLang="zh-CN" sz="2000" dirty="0"/>
              <a:t>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      return 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067800" y="1590675"/>
            <a:ext cx="1295400" cy="3048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zh-CN" sz="1600" dirty="0">
                <a:solidFill>
                  <a:schemeClr val="bg1"/>
                </a:solidFill>
              </a:rPr>
              <a:t>运行结果：</a:t>
            </a: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10=2*5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11=11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12=2*2*3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13=13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14=2*7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15=3*5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16=2*2*2*2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17=17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18=2*3*3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19=19</a:t>
            </a:r>
            <a:endParaRPr lang="zh-CN" altLang="zh-CN" sz="16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20=2*2*5</a:t>
            </a:r>
            <a:endParaRPr lang="zh-CN" altLang="zh-C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6656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828800" y="914400"/>
            <a:ext cx="8540750" cy="518160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5.6】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编写程序，判断由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四个数字能组成多少个互不相同且无重复数字的三位数？输出这些数？</a:t>
            </a:r>
          </a:p>
          <a:p>
            <a:pPr eaLnBrk="1" hangingPunct="1"/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分析：三位数的百位、十位及个位的数字只能取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，所以若用</a:t>
            </a:r>
            <a:r>
              <a:rPr lang="en-US" altLang="zh-CN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分别表示百位、十位及个位的数，则它们的取值范围即为</a:t>
            </a:r>
            <a:r>
              <a:rPr lang="en-US" altLang="zh-CN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[1,4]</a:t>
            </a: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，利用三重循环得到它们的排列组合，然后从中去掉不满足条件的排列。 </a:t>
            </a:r>
          </a:p>
        </p:txBody>
      </p:sp>
      <p:sp>
        <p:nvSpPr>
          <p:cNvPr id="6656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9DF5B9-15B8-45FD-8BAE-6CBC2A635597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6758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905000" y="914400"/>
            <a:ext cx="84582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#include&lt;stdio.h&gt;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{     int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i,j,k,n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for(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=1;i&lt;5;i++)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for(j=1;j&lt;5;j++)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      for (k=1;k&lt;5;k++)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	  if(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!=k&amp;&amp;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!=j&amp;&amp;j!=k)</a:t>
            </a:r>
            <a:endParaRPr lang="pt-BR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	    {       printf("%d%d%d\t",i,j,k);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		if(++n%5==0) printf("\n");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	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printf("\n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共有：</a:t>
            </a: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%d\n",n);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85CF9E-5F64-49BA-9781-7076589A2494}" type="datetime10">
              <a:rPr lang="zh-CN" altLang="en-US"/>
              <a:pPr>
                <a:defRPr/>
              </a:pPr>
              <a:t>09:44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2D0C1-F732-4B5D-840B-9897FABA718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6400800" y="4165601"/>
            <a:ext cx="4114800" cy="2678113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运行结果</a:t>
            </a:r>
            <a:r>
              <a:rPr lang="zh-CN" altLang="pt-BR" dirty="0">
                <a:solidFill>
                  <a:schemeClr val="bg1"/>
                </a:solidFill>
              </a:rPr>
              <a:t>：</a:t>
            </a:r>
          </a:p>
          <a:p>
            <a:pPr eaLnBrk="1" hangingPunct="1">
              <a:defRPr/>
            </a:pPr>
            <a:r>
              <a:rPr lang="pt-BR" altLang="zh-CN" dirty="0">
                <a:solidFill>
                  <a:schemeClr val="bg1"/>
                </a:solidFill>
              </a:rPr>
              <a:t>123    124    132    134    142</a:t>
            </a:r>
          </a:p>
          <a:p>
            <a:pPr eaLnBrk="1" hangingPunct="1">
              <a:defRPr/>
            </a:pPr>
            <a:r>
              <a:rPr lang="pt-BR" altLang="zh-CN" dirty="0">
                <a:solidFill>
                  <a:schemeClr val="bg1"/>
                </a:solidFill>
              </a:rPr>
              <a:t>143    213    214    231    234</a:t>
            </a:r>
          </a:p>
          <a:p>
            <a:pPr eaLnBrk="1" hangingPunct="1">
              <a:defRPr/>
            </a:pPr>
            <a:r>
              <a:rPr lang="pt-BR" altLang="zh-CN" dirty="0">
                <a:solidFill>
                  <a:schemeClr val="bg1"/>
                </a:solidFill>
              </a:rPr>
              <a:t>241    243    312    314    321</a:t>
            </a:r>
          </a:p>
          <a:p>
            <a:pPr eaLnBrk="1" hangingPunct="1">
              <a:defRPr/>
            </a:pPr>
            <a:r>
              <a:rPr lang="pt-BR" altLang="zh-CN" dirty="0">
                <a:solidFill>
                  <a:schemeClr val="bg1"/>
                </a:solidFill>
              </a:rPr>
              <a:t>324    341    342    412    413</a:t>
            </a:r>
          </a:p>
          <a:p>
            <a:pPr eaLnBrk="1" hangingPunct="1">
              <a:defRPr/>
            </a:pPr>
            <a:r>
              <a:rPr lang="pt-BR" altLang="zh-CN" dirty="0">
                <a:solidFill>
                  <a:schemeClr val="bg1"/>
                </a:solidFill>
              </a:rPr>
              <a:t>421    423    431    432</a:t>
            </a:r>
          </a:p>
          <a:p>
            <a:pPr>
              <a:defRPr/>
            </a:pPr>
            <a:r>
              <a:rPr lang="zh-CN" altLang="zh-CN" dirty="0">
                <a:solidFill>
                  <a:schemeClr val="bg1"/>
                </a:solidFill>
              </a:rPr>
              <a:t>共有：</a:t>
            </a:r>
            <a:r>
              <a:rPr lang="pt-BR" altLang="zh-CN" dirty="0">
                <a:solidFill>
                  <a:schemeClr val="bg1"/>
                </a:solidFill>
              </a:rPr>
              <a:t>24</a:t>
            </a:r>
            <a:endParaRPr lang="zh-CN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7D52CA-2515-444A-AADB-9BF26689E1C1}" type="datetime10">
              <a:rPr lang="zh-CN" altLang="en-US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09:44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7270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C418E8B-D2C0-4938-BEA8-DE83FB8F509C}" type="slidenum">
              <a:rPr lang="en-US" altLang="zh-CN" sz="1200">
                <a:solidFill>
                  <a:schemeClr val="hlink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>
              <a:solidFill>
                <a:schemeClr val="hlink"/>
              </a:solidFill>
            </a:endParaRPr>
          </a:p>
        </p:txBody>
      </p:sp>
      <p:sp>
        <p:nvSpPr>
          <p:cNvPr id="72708" name="矩形 2"/>
          <p:cNvSpPr>
            <a:spLocks noChangeArrowheads="1"/>
          </p:cNvSpPr>
          <p:nvPr/>
        </p:nvSpPr>
        <p:spPr bwMode="auto">
          <a:xfrm>
            <a:off x="1905000" y="377825"/>
            <a:ext cx="8686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dirty="0"/>
              <a:t>【例</a:t>
            </a:r>
            <a:r>
              <a:rPr lang="pt-BR" altLang="zh-CN" sz="2400" dirty="0"/>
              <a:t>5.7</a:t>
            </a:r>
            <a:r>
              <a:rPr lang="zh-CN" altLang="zh-CN" sz="2400" dirty="0"/>
              <a:t>】某人从</a:t>
            </a:r>
            <a:r>
              <a:rPr lang="en-US" altLang="zh-CN" sz="2400" dirty="0"/>
              <a:t>2024</a:t>
            </a:r>
            <a:r>
              <a:rPr lang="zh-CN" altLang="zh-CN" sz="2400" dirty="0"/>
              <a:t>年</a:t>
            </a:r>
            <a:r>
              <a:rPr lang="en-US" altLang="zh-CN" sz="2400" dirty="0"/>
              <a:t>1</a:t>
            </a:r>
            <a:r>
              <a:rPr lang="zh-CN" altLang="zh-CN" sz="2400" dirty="0"/>
              <a:t>月</a:t>
            </a:r>
            <a:r>
              <a:rPr lang="en-US" altLang="zh-CN" sz="2400" dirty="0"/>
              <a:t>1</a:t>
            </a:r>
            <a:r>
              <a:rPr lang="zh-CN" altLang="zh-CN" sz="2400" dirty="0"/>
              <a:t>日起“三天打渔两天晒网”，编写程序求出此人在</a:t>
            </a:r>
            <a:r>
              <a:rPr lang="en-US" altLang="zh-CN" sz="2400" dirty="0"/>
              <a:t>2024</a:t>
            </a:r>
            <a:r>
              <a:rPr lang="zh-CN" altLang="en-US" sz="2400" dirty="0"/>
              <a:t>年某一天</a:t>
            </a:r>
            <a:r>
              <a:rPr lang="zh-CN" altLang="zh-CN" sz="2400" dirty="0"/>
              <a:t>是在打渔还是在晒网。</a:t>
            </a:r>
          </a:p>
        </p:txBody>
      </p:sp>
      <p:sp>
        <p:nvSpPr>
          <p:cNvPr id="72709" name="Rectangle 75"/>
          <p:cNvSpPr>
            <a:spLocks noChangeArrowheads="1"/>
          </p:cNvSpPr>
          <p:nvPr/>
        </p:nvSpPr>
        <p:spPr bwMode="auto">
          <a:xfrm>
            <a:off x="1524001" y="-320878"/>
            <a:ext cx="184731" cy="64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4742" bIns="16504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2710" name="Rectangle 77"/>
          <p:cNvSpPr>
            <a:spLocks noChangeArrowheads="1"/>
          </p:cNvSpPr>
          <p:nvPr/>
        </p:nvSpPr>
        <p:spPr bwMode="auto">
          <a:xfrm>
            <a:off x="1524001" y="-320878"/>
            <a:ext cx="184731" cy="64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04742" bIns="16504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38338" y="1567016"/>
            <a:ext cx="8196262" cy="322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4742" bIns="165048" anchor="ctr">
            <a:spAutoFit/>
          </a:bodyPr>
          <a:lstStyle/>
          <a:p>
            <a:pPr indent="266700" eaLnBrk="0" hangingPunct="0">
              <a:defRPr/>
            </a:pP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分析：要计算此人在某一天（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year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month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day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日）中是在打渔还是在晒网，首先需计算出自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2017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日起到这一天之间的总天数（需考虑闰年和平年）：</a:t>
            </a:r>
          </a:p>
          <a:p>
            <a:pPr>
              <a:defRPr/>
            </a:pP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）计算从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2024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年到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year-1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年的天数；</a:t>
            </a:r>
          </a:p>
          <a:p>
            <a:pPr>
              <a:defRPr/>
            </a:pP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）计算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year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年的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月到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month-1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月的天数；</a:t>
            </a:r>
          </a:p>
          <a:p>
            <a:pPr>
              <a:defRPr/>
            </a:pP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）计算输入的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month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月的天数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day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。</a:t>
            </a:r>
          </a:p>
          <a:p>
            <a:pPr>
              <a:defRPr/>
            </a:pP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4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）将上述三个天数相加即可得出自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2017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年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月</a:t>
            </a:r>
            <a:r>
              <a:rPr lang="en-US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zh-CN" sz="2400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</a:rPr>
              <a:t>日起到这一天之间的总天数。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>
          <a:xfrm>
            <a:off x="1600200" y="6248400"/>
            <a:ext cx="2133600" cy="457200"/>
          </a:xfrm>
        </p:spPr>
        <p:txBody>
          <a:bodyPr/>
          <a:lstStyle/>
          <a:p>
            <a:pPr>
              <a:defRPr/>
            </a:pPr>
            <a:fld id="{A885CF9E-5F64-49BA-9781-7076589A2494}" type="datetime10">
              <a:rPr lang="zh-CN" altLang="en-US"/>
              <a:pPr>
                <a:defRPr/>
              </a:pPr>
              <a:t>09:44</a:t>
            </a:fld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AB270B-F85C-41DE-9FAE-9E2E354E4662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9D519C7-F243-B2F4-2606-B0609D9BD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54E4EC7-A216-581C-8DC9-B3E1EC2F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0"/>
            <a:ext cx="8837579" cy="6802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</TotalTime>
  <Words>1280</Words>
  <Application>Microsoft Office PowerPoint</Application>
  <PresentationFormat>宽屏</PresentationFormat>
  <Paragraphs>155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华文楷体</vt:lpstr>
      <vt:lpstr>宋体</vt:lpstr>
      <vt:lpstr>Arial</vt:lpstr>
      <vt:lpstr>Century Gothic</vt:lpstr>
      <vt:lpstr>Times New Roman</vt:lpstr>
      <vt:lpstr>Wingdings 3</vt:lpstr>
      <vt:lpstr>丝状</vt:lpstr>
      <vt:lpstr>第五5章 循环习题课</vt:lpstr>
      <vt:lpstr>【例5.1】统计由键盘中输入的若干个字符中，大写英文字母、小写英文字母、数字字符和其他字符的个数。 </vt:lpstr>
      <vt:lpstr>【例5.1】统计由键盘中输入的10个字符中，大写英文字母、小写英文字母、数字字符和其他字符的个数。 </vt:lpstr>
      <vt:lpstr>PowerPoint 演示文稿</vt:lpstr>
      <vt:lpstr>PowerPoint 演示文稿</vt:lpstr>
      <vt:lpstr> </vt:lpstr>
      <vt:lpstr> </vt:lpstr>
      <vt:lpstr>PowerPoint 演示文稿</vt:lpstr>
      <vt:lpstr> </vt:lpstr>
      <vt:lpstr> </vt:lpstr>
      <vt:lpstr>PowerPoint 演示文稿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7</cp:revision>
  <dcterms:created xsi:type="dcterms:W3CDTF">2025-03-25T11:51:24Z</dcterms:created>
  <dcterms:modified xsi:type="dcterms:W3CDTF">2025-03-28T01:46:11Z</dcterms:modified>
</cp:coreProperties>
</file>