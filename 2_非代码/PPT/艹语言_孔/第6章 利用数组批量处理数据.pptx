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6"/>
  </p:notesMasterIdLst>
  <p:sldIdLst>
    <p:sldId id="355" r:id="rId2"/>
    <p:sldId id="765" r:id="rId3"/>
    <p:sldId id="1005" r:id="rId4"/>
    <p:sldId id="960" r:id="rId5"/>
    <p:sldId id="961" r:id="rId6"/>
    <p:sldId id="962" r:id="rId7"/>
    <p:sldId id="971" r:id="rId8"/>
    <p:sldId id="867" r:id="rId9"/>
    <p:sldId id="963" r:id="rId10"/>
    <p:sldId id="1006" r:id="rId11"/>
    <p:sldId id="973" r:id="rId12"/>
    <p:sldId id="1007" r:id="rId13"/>
    <p:sldId id="966" r:id="rId14"/>
    <p:sldId id="967" r:id="rId15"/>
    <p:sldId id="968" r:id="rId16"/>
    <p:sldId id="876" r:id="rId17"/>
    <p:sldId id="877" r:id="rId18"/>
    <p:sldId id="879" r:id="rId19"/>
    <p:sldId id="969" r:id="rId20"/>
    <p:sldId id="970" r:id="rId21"/>
    <p:sldId id="881" r:id="rId22"/>
    <p:sldId id="1008" r:id="rId23"/>
    <p:sldId id="883" r:id="rId24"/>
    <p:sldId id="885" r:id="rId25"/>
    <p:sldId id="886" r:id="rId26"/>
    <p:sldId id="887" r:id="rId27"/>
    <p:sldId id="888" r:id="rId28"/>
    <p:sldId id="889" r:id="rId29"/>
    <p:sldId id="890" r:id="rId30"/>
    <p:sldId id="891" r:id="rId31"/>
    <p:sldId id="892" r:id="rId32"/>
    <p:sldId id="974" r:id="rId33"/>
    <p:sldId id="893" r:id="rId34"/>
    <p:sldId id="894" r:id="rId35"/>
    <p:sldId id="976" r:id="rId36"/>
    <p:sldId id="977" r:id="rId37"/>
    <p:sldId id="978" r:id="rId38"/>
    <p:sldId id="979" r:id="rId39"/>
    <p:sldId id="980" r:id="rId40"/>
    <p:sldId id="981" r:id="rId41"/>
    <p:sldId id="899" r:id="rId42"/>
    <p:sldId id="900" r:id="rId43"/>
    <p:sldId id="901" r:id="rId44"/>
    <p:sldId id="902" r:id="rId45"/>
    <p:sldId id="1009" r:id="rId46"/>
    <p:sldId id="1010" r:id="rId47"/>
    <p:sldId id="1011" r:id="rId48"/>
    <p:sldId id="1012" r:id="rId49"/>
    <p:sldId id="907" r:id="rId50"/>
    <p:sldId id="908" r:id="rId51"/>
    <p:sldId id="909" r:id="rId52"/>
    <p:sldId id="910" r:id="rId53"/>
    <p:sldId id="982" r:id="rId54"/>
    <p:sldId id="911" r:id="rId55"/>
    <p:sldId id="912" r:id="rId56"/>
    <p:sldId id="1014" r:id="rId57"/>
    <p:sldId id="1013" r:id="rId58"/>
    <p:sldId id="913" r:id="rId59"/>
    <p:sldId id="914" r:id="rId60"/>
    <p:sldId id="983" r:id="rId61"/>
    <p:sldId id="916" r:id="rId62"/>
    <p:sldId id="917" r:id="rId63"/>
    <p:sldId id="984" r:id="rId64"/>
    <p:sldId id="918" r:id="rId65"/>
    <p:sldId id="919" r:id="rId66"/>
    <p:sldId id="920" r:id="rId67"/>
    <p:sldId id="985" r:id="rId68"/>
    <p:sldId id="921" r:id="rId69"/>
    <p:sldId id="922" r:id="rId70"/>
    <p:sldId id="924" r:id="rId71"/>
    <p:sldId id="925" r:id="rId72"/>
    <p:sldId id="989" r:id="rId73"/>
    <p:sldId id="990" r:id="rId74"/>
    <p:sldId id="991" r:id="rId75"/>
    <p:sldId id="992" r:id="rId76"/>
    <p:sldId id="993" r:id="rId77"/>
    <p:sldId id="994" r:id="rId78"/>
    <p:sldId id="995" r:id="rId79"/>
    <p:sldId id="996" r:id="rId80"/>
    <p:sldId id="997" r:id="rId81"/>
    <p:sldId id="998" r:id="rId82"/>
    <p:sldId id="999" r:id="rId83"/>
    <p:sldId id="1000" r:id="rId84"/>
    <p:sldId id="1001" r:id="rId85"/>
    <p:sldId id="1002" r:id="rId86"/>
    <p:sldId id="1003" r:id="rId87"/>
    <p:sldId id="1004" r:id="rId88"/>
    <p:sldId id="1015" r:id="rId89"/>
    <p:sldId id="1023" r:id="rId90"/>
    <p:sldId id="1024" r:id="rId91"/>
    <p:sldId id="1018" r:id="rId92"/>
    <p:sldId id="1019" r:id="rId93"/>
    <p:sldId id="1020" r:id="rId94"/>
    <p:sldId id="1021" r:id="rId95"/>
    <p:sldId id="926" r:id="rId96"/>
    <p:sldId id="1025" r:id="rId97"/>
    <p:sldId id="1026" r:id="rId98"/>
    <p:sldId id="929" r:id="rId99"/>
    <p:sldId id="930" r:id="rId100"/>
    <p:sldId id="931" r:id="rId101"/>
    <p:sldId id="932" r:id="rId102"/>
    <p:sldId id="860" r:id="rId103"/>
    <p:sldId id="1027" r:id="rId104"/>
    <p:sldId id="1028" r:id="rId105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CC66"/>
    <a:srgbClr val="FF6600"/>
    <a:srgbClr val="FF99FF"/>
    <a:srgbClr val="FF0000"/>
    <a:srgbClr val="0099CC"/>
    <a:srgbClr val="00FFFF"/>
    <a:srgbClr val="00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735" autoAdjust="0"/>
    <p:restoredTop sz="99079" autoAdjust="0"/>
  </p:normalViewPr>
  <p:slideViewPr>
    <p:cSldViewPr>
      <p:cViewPr varScale="1">
        <p:scale>
          <a:sx n="110" d="100"/>
          <a:sy n="110" d="100"/>
        </p:scale>
        <p:origin x="192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74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104.xml"/><Relationship Id="rId2" Type="http://schemas.openxmlformats.org/officeDocument/2006/relationships/slide" Target="slides/slide103.xml"/><Relationship Id="rId1" Type="http://schemas.openxmlformats.org/officeDocument/2006/relationships/slide" Target="slides/slide10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80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843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843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E9FECF0-F086-48E0-9816-83E5355283AA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5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34146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zh-CN" b="1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</a:t>
            </a:r>
            <a:r>
              <a:rPr lang="zh-CN" altLang="en-US" b="1">
                <a:solidFill>
                  <a:srgbClr val="0033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语言连贯性很强，前面没有听，或者没有听懂，将影响后面的课，请一定不要缺席旷课或请事假。万一生病或没有听懂请及时问补上。</a:t>
            </a:r>
          </a:p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4147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CEC1B2E-BE76-4A24-A9B3-62558D3FCC2F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3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一维数组是最简单的数组</a:t>
            </a:r>
            <a:endParaRPr lang="en-US" altLang="zh-CN" dirty="0"/>
          </a:p>
          <a:p>
            <a:r>
              <a:rPr lang="zh-CN" altLang="zh-CN" dirty="0"/>
              <a:t>数组元素只有</a:t>
            </a:r>
            <a:r>
              <a:rPr lang="en-US" altLang="zh-CN" dirty="0"/>
              <a:t>1</a:t>
            </a:r>
            <a:r>
              <a:rPr lang="zh-CN" altLang="zh-CN" dirty="0"/>
              <a:t>个下标</a:t>
            </a:r>
            <a:r>
              <a:rPr lang="en-US" altLang="zh-CN" dirty="0"/>
              <a:t>——</a:t>
            </a:r>
            <a:r>
              <a:rPr lang="zh-CN" altLang="en-US" dirty="0"/>
              <a:t>一维数组</a:t>
            </a:r>
            <a:endParaRPr lang="en-US" altLang="zh-CN" dirty="0"/>
          </a:p>
          <a:p>
            <a:r>
              <a:rPr lang="zh-CN" altLang="zh-CN" dirty="0"/>
              <a:t>数组元素</a:t>
            </a:r>
            <a:r>
              <a:rPr lang="en-US" altLang="zh-CN" dirty="0"/>
              <a:t>2</a:t>
            </a:r>
            <a:r>
              <a:rPr lang="zh-CN" altLang="zh-CN" dirty="0"/>
              <a:t>个下标</a:t>
            </a:r>
            <a:r>
              <a:rPr lang="en-US" altLang="zh-CN" dirty="0"/>
              <a:t>——</a:t>
            </a:r>
            <a:r>
              <a:rPr lang="zh-CN" altLang="en-US" dirty="0"/>
              <a:t>二维数组</a:t>
            </a:r>
            <a:endParaRPr lang="en-US" altLang="zh-CN" dirty="0"/>
          </a:p>
          <a:p>
            <a:pPr marL="0" indent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定义数组的方法与定义变量的方法类似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所不同的是一次定义一批有关联的变量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9FECF0-F086-48E0-9816-83E5355283AA}" type="slidenum">
              <a:rPr lang="en-US" altLang="zh-CN" smtClean="0"/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一维数组是最简单的数组</a:t>
            </a:r>
            <a:endParaRPr lang="en-US" altLang="zh-CN" dirty="0"/>
          </a:p>
          <a:p>
            <a:r>
              <a:rPr lang="zh-CN" altLang="zh-CN" dirty="0"/>
              <a:t>数组元素只有</a:t>
            </a:r>
            <a:r>
              <a:rPr lang="en-US" altLang="zh-CN" dirty="0"/>
              <a:t>1</a:t>
            </a:r>
            <a:r>
              <a:rPr lang="zh-CN" altLang="zh-CN" dirty="0"/>
              <a:t>个下标</a:t>
            </a:r>
            <a:r>
              <a:rPr lang="en-US" altLang="zh-CN" dirty="0"/>
              <a:t>——</a:t>
            </a:r>
            <a:r>
              <a:rPr lang="zh-CN" altLang="en-US" dirty="0"/>
              <a:t>一维数组</a:t>
            </a:r>
            <a:endParaRPr lang="en-US" altLang="zh-CN" dirty="0"/>
          </a:p>
          <a:p>
            <a:r>
              <a:rPr lang="zh-CN" altLang="zh-CN" dirty="0"/>
              <a:t>数组元素</a:t>
            </a:r>
            <a:r>
              <a:rPr lang="en-US" altLang="zh-CN" dirty="0"/>
              <a:t>2</a:t>
            </a:r>
            <a:r>
              <a:rPr lang="zh-CN" altLang="zh-CN" dirty="0"/>
              <a:t>个下标</a:t>
            </a:r>
            <a:r>
              <a:rPr lang="en-US" altLang="zh-CN" dirty="0"/>
              <a:t>——</a:t>
            </a:r>
            <a:r>
              <a:rPr lang="zh-CN" altLang="en-US" dirty="0"/>
              <a:t>二维数组</a:t>
            </a:r>
            <a:endParaRPr lang="en-US" altLang="zh-CN" dirty="0"/>
          </a:p>
          <a:p>
            <a:pPr marL="0" indent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定义数组的方法与定义变量的方法类似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/>
            <a:r>
              <a:rPr lang="zh-CN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所不同的是一次定义一批有关联的变量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1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E9FECF0-F086-48E0-9816-83E5355283AA}" type="slidenum">
              <a:rPr lang="en-US" altLang="zh-CN" smtClean="0"/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200" dirty="0"/>
              <a:t>也就是说，数组元素的变化顺序：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1200" dirty="0">
                <a:solidFill>
                  <a:srgbClr val="0000FF"/>
                </a:solidFill>
              </a:rPr>
              <a:t>	</a:t>
            </a:r>
            <a:r>
              <a:rPr lang="zh-CN" altLang="en-US" sz="1200" dirty="0">
                <a:solidFill>
                  <a:schemeClr val="hlink"/>
                </a:solidFill>
              </a:rPr>
              <a:t>左边的下标变换的慢，右边的下标变换的快。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二维数组从概念上可理解为行</a:t>
            </a:r>
            <a:r>
              <a:rPr lang="en-US" altLang="zh-CN" sz="1200" dirty="0">
                <a:latin typeface="黑体" panose="02010609060101010101" pitchFamily="49" charset="-122"/>
                <a:ea typeface="黑体" panose="02010609060101010101" pitchFamily="49" charset="-122"/>
              </a:rPr>
              <a:t>-</a:t>
            </a:r>
            <a:r>
              <a:rPr lang="zh-CN" altLang="en-US" sz="1200" dirty="0">
                <a:latin typeface="黑体" panose="02010609060101010101" pitchFamily="49" charset="-122"/>
                <a:ea typeface="黑体" panose="02010609060101010101" pitchFamily="49" charset="-122"/>
              </a:rPr>
              <a:t>列矩阵，但存储器是一维的，需要按一定的规则转换。</a:t>
            </a:r>
            <a:endParaRPr lang="zh-CN" altLang="en-US" sz="1200" dirty="0">
              <a:solidFill>
                <a:schemeClr val="hlink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19561FA-C22D-4967-A5EE-2FEFC3E08DF0}" type="slidenum">
              <a:rPr lang="en-US" altLang="zh-CN" smtClean="0"/>
              <a:t>36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24C50-0D02-4D01-8C15-477DF08F979F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102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2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21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80AE3-47F4-4C5A-CE90-7DFC90BA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Rectangle 7">
            <a:extLst>
              <a:ext uri="{FF2B5EF4-FFF2-40B4-BE49-F238E27FC236}">
                <a16:creationId xmlns:a16="http://schemas.microsoft.com/office/drawing/2014/main" id="{AE79C571-DBEA-7E8B-24A1-6EECEA0822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24C50-0D02-4D01-8C15-477DF08F979F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103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E4ACBD9B-B4BE-BEC4-A323-CE0F1AAC947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DEB082B8-B879-F7DC-0C8D-E8339A57A0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7484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3CE0C-91BA-22FD-DC0A-734C5DFB3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5" name="Rectangle 7">
            <a:extLst>
              <a:ext uri="{FF2B5EF4-FFF2-40B4-BE49-F238E27FC236}">
                <a16:creationId xmlns:a16="http://schemas.microsoft.com/office/drawing/2014/main" id="{3FFC93E1-05E9-AC2A-691E-CE08EEF8BB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724C50-0D02-4D01-8C15-477DF08F979F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104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2146" name="Rectangle 2">
            <a:extLst>
              <a:ext uri="{FF2B5EF4-FFF2-40B4-BE49-F238E27FC236}">
                <a16:creationId xmlns:a16="http://schemas.microsoft.com/office/drawing/2014/main" id="{87D7006C-54ED-0035-8962-0F1D7BDF3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62147" name="Rectangle 3">
            <a:extLst>
              <a:ext uri="{FF2B5EF4-FFF2-40B4-BE49-F238E27FC236}">
                <a16:creationId xmlns:a16="http://schemas.microsoft.com/office/drawing/2014/main" id="{87C33DB7-2421-B6DA-980E-7F6CDD5921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2112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CC71DD-4813-4B1F-8AEE-1E3A34E026D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F8AE55-AB75-40E7-9286-C48B46EB936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0A5101-BE6B-471B-B768-1F4C9600375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9388" y="1125538"/>
            <a:ext cx="4316412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111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EB757A-350D-4F63-842D-34AEFD9B4A7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D12AF-9E56-4FBF-906B-45AD3B2711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3CC28-42AA-4BB6-82DE-48EBB0399FF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801CA-13BE-4BC2-BFA6-E74B7F97421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290A60-312F-4F9B-9276-81AB363BE8D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F8E967-9E59-447C-B887-629EB082895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B24F3-0FC4-495E-902D-98E4597983E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69100" y="333375"/>
            <a:ext cx="2195513" cy="59039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9388" y="333375"/>
            <a:ext cx="6437312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410940-1C97-49FC-970D-EE1FE4BCA6C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07CDF564-C96A-D78C-70FE-D75C52D3F94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-29745" y="0"/>
            <a:ext cx="9187631" cy="6858000"/>
          </a:xfrm>
          <a:prstGeom prst="rect">
            <a:avLst/>
          </a:prstGeom>
        </p:spPr>
      </p:pic>
      <p:sp>
        <p:nvSpPr>
          <p:cNvPr id="112658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333375"/>
            <a:ext cx="7705725" cy="720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12659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111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2646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239963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12647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0C66597-586B-4948-9C7C-E9B85935672F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081338" y="22225"/>
            <a:ext cx="5859462" cy="396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zh-CN" sz="20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C</a:t>
            </a:r>
            <a:r>
              <a:rPr lang="zh-CN" altLang="en-US" sz="2000" b="1" i="1" dirty="0">
                <a:latin typeface="幼圆" panose="02010509060101010101" pitchFamily="49" charset="-122"/>
                <a:ea typeface="幼圆" panose="02010509060101010101" pitchFamily="49" charset="-122"/>
              </a:rPr>
              <a:t>语言程序设计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+mj-lt"/>
          <a:ea typeface="+mj-ea"/>
          <a:cs typeface="华文行楷" panose="02010800040101010101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  <a:cs typeface="华文行楷" panose="02010800040101010101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  <a:cs typeface="华文行楷" panose="02010800040101010101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  <a:cs typeface="华文行楷" panose="02010800040101010101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  <a:cs typeface="华文行楷" panose="02010800040101010101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0000"/>
          </a:solidFill>
          <a:latin typeface="Arial" panose="020B0604020202020204" pitchFamily="34" charset="0"/>
          <a:ea typeface="华文行楷" panose="02010800040101010101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defRPr sz="2400" b="1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  <a:cs typeface="华文楷体" panose="02010600040101010101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8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.xml"/><Relationship Id="rId4" Type="http://schemas.openxmlformats.org/officeDocument/2006/relationships/slide" Target="sl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2.xml"/><Relationship Id="rId4" Type="http://schemas.openxmlformats.org/officeDocument/2006/relationships/slide" Target="slide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8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wmf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5.bin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7.xml"/><Relationship Id="rId4" Type="http://schemas.openxmlformats.org/officeDocument/2006/relationships/slide" Target="slide1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4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slide" Target="slide43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43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9" name="Object 21"/>
          <p:cNvGraphicFramePr>
            <a:graphicFrameLocks noChangeAspect="1"/>
          </p:cNvGraphicFramePr>
          <p:nvPr/>
        </p:nvGraphicFramePr>
        <p:xfrm>
          <a:off x="0" y="2643188"/>
          <a:ext cx="9144000" cy="170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3121025" imgH="673735" progId="">
                  <p:embed/>
                </p:oleObj>
              </mc:Choice>
              <mc:Fallback>
                <p:oleObj name="Image" r:id="rId2" imgW="3121025" imgH="673735" progId="">
                  <p:embed/>
                  <p:pic>
                    <p:nvPicPr>
                      <p:cNvPr id="0" name="Picture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2643188"/>
                        <a:ext cx="9144000" cy="170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WordArt 20"/>
          <p:cNvSpPr>
            <a:spLocks noChangeArrowheads="1" noChangeShapeType="1" noTextEdit="1"/>
          </p:cNvSpPr>
          <p:nvPr/>
        </p:nvSpPr>
        <p:spPr bwMode="auto">
          <a:xfrm>
            <a:off x="1071538" y="785794"/>
            <a:ext cx="6985000" cy="1827213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26227"/>
              </a:avLst>
            </a:prstTxWarp>
          </a:bodyPr>
          <a:lstStyle/>
          <a:p>
            <a:pPr algn="ctr">
              <a:defRPr/>
            </a:pPr>
            <a:r>
              <a:rPr lang="en-US" altLang="zh-CN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</a:t>
            </a:r>
            <a:r>
              <a:rPr lang="zh-CN" altLang="en-US" sz="3600" kern="10" dirty="0">
                <a:ln w="9525">
                  <a:solidFill>
                    <a:schemeClr val="accent2"/>
                  </a:solidFill>
                  <a:round/>
                </a:ln>
                <a:solidFill>
                  <a:schemeClr val="accent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语言程序设计</a:t>
            </a:r>
          </a:p>
        </p:txBody>
      </p:sp>
      <p:sp>
        <p:nvSpPr>
          <p:cNvPr id="114711" name="TextBox 10"/>
          <p:cNvSpPr txBox="1">
            <a:spLocks noChangeArrowheads="1"/>
          </p:cNvSpPr>
          <p:nvPr/>
        </p:nvSpPr>
        <p:spPr bwMode="auto">
          <a:xfrm>
            <a:off x="3357563" y="5715000"/>
            <a:ext cx="5786437" cy="6461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/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4712" name="Picture 16" descr="图形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71500" y="4929188"/>
            <a:ext cx="1500188" cy="1317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4713" name="Rectangle 5"/>
          <p:cNvSpPr>
            <a:spLocks noChangeArrowheads="1"/>
          </p:cNvSpPr>
          <p:nvPr/>
        </p:nvSpPr>
        <p:spPr bwMode="auto">
          <a:xfrm>
            <a:off x="1071538" y="4429124"/>
            <a:ext cx="8252990" cy="887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</a:t>
            </a:r>
            <a:r>
              <a:rPr lang="en-US" altLang="zh-CN" sz="4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 利用数组处理批量数据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1418118" y="188640"/>
            <a:ext cx="5595938" cy="8874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algn="ctr"/>
            <a:r>
              <a:rPr lang="zh-CN" altLang="en-US" sz="4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 课 内 容</a:t>
            </a:r>
          </a:p>
        </p:txBody>
      </p:sp>
      <p:pic>
        <p:nvPicPr>
          <p:cNvPr id="9" name="Picture 6" descr="pic1副本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72201" y="3908622"/>
            <a:ext cx="2057424" cy="22382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43608" y="1263598"/>
            <a:ext cx="6858000" cy="3714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u="sng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6.1 </a:t>
            </a:r>
            <a:r>
              <a:rPr lang="zh-CN" altLang="en-US" sz="3200" u="sng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怎样定义和引用一维数组</a:t>
            </a:r>
            <a:endParaRPr lang="en-US" altLang="zh-CN" sz="3200" u="sng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u="sng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6.2 </a:t>
            </a:r>
            <a:r>
              <a:rPr lang="zh-CN" altLang="en-US" sz="3200" u="sng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怎样定义和引用二维数组</a:t>
            </a:r>
            <a:endParaRPr lang="en-US" altLang="zh-CN" sz="3200" u="sng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spcBef>
                <a:spcPct val="50000"/>
              </a:spcBef>
            </a:pPr>
            <a:r>
              <a:rPr lang="en-US" altLang="zh-CN" sz="3200" u="sng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6.3 </a:t>
            </a:r>
            <a:r>
              <a:rPr lang="zh-CN" altLang="zh-CN" sz="3200" u="sng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6" action="ppaction://hlinksldjump"/>
              </a:rPr>
              <a:t>字符数组</a:t>
            </a:r>
            <a:endParaRPr lang="en-US" altLang="zh-CN" sz="3200" u="sng" dirty="0">
              <a:solidFill>
                <a:srgbClr val="00B05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332656"/>
            <a:ext cx="8929687" cy="4680520"/>
          </a:xfrm>
        </p:spPr>
        <p:txBody>
          <a:bodyPr/>
          <a:lstStyle/>
          <a:p>
            <a:pPr eaLnBrk="1" hangingPunct="1">
              <a:lnSpc>
                <a:spcPct val="150000"/>
              </a:lnSpc>
              <a:buFontTx/>
              <a:buNone/>
              <a:defRPr/>
            </a:pP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一</a:t>
            </a:r>
            <a:r>
              <a:rPr lang="zh-CN" altLang="en-US" sz="32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、教学的目的与要求：</a:t>
            </a:r>
          </a:p>
          <a:p>
            <a:pPr marL="514350" indent="-51435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8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了解一维数组、二维数组的基本概念；掌性数组的定义义与引用；掌握数组元素的引用。</a:t>
            </a:r>
            <a:endParaRPr lang="en-US" altLang="zh-CN" sz="2800" kern="120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514350" indent="-514350" eaLnBrk="1" hangingPunct="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zh-CN" altLang="en-US" sz="28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掌握字符数组的定义与引用；掌握字符数组元素的引用。</a:t>
            </a:r>
            <a:endParaRPr lang="en-US" altLang="zh-CN" sz="2800" kern="120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indent="0" eaLnBrk="1" hangingPunct="1">
              <a:lnSpc>
                <a:spcPct val="150000"/>
              </a:lnSpc>
              <a:defRPr/>
            </a:pPr>
            <a:r>
              <a:rPr lang="zh-CN" altLang="en-US" sz="32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二、重点与难点：</a:t>
            </a:r>
          </a:p>
          <a:p>
            <a:pPr marL="0" eaLnBrk="1" hangingPunct="1">
              <a:buFontTx/>
              <a:buNone/>
              <a:defRPr/>
            </a:pPr>
            <a:r>
              <a:rPr lang="zh-CN" altLang="en-US" sz="28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重点：数组的定义和引用；字符数组。</a:t>
            </a:r>
            <a:endParaRPr lang="en-US" altLang="zh-CN" sz="2800" kern="1200" dirty="0"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  <a:p>
            <a:pPr marL="0" eaLnBrk="1" hangingPunct="1">
              <a:buFontTx/>
              <a:buNone/>
              <a:defRPr/>
            </a:pPr>
            <a:r>
              <a:rPr lang="en-US" altLang="zh-CN" sz="28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   </a:t>
            </a:r>
            <a:r>
              <a:rPr lang="zh-CN" altLang="en-US" sz="2800" kern="1200" dirty="0"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难点：数组的定义和引用；字符串。</a:t>
            </a:r>
          </a:p>
        </p:txBody>
      </p:sp>
      <p:pic>
        <p:nvPicPr>
          <p:cNvPr id="8" name="Picture 6" descr="pic1副本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04266" y="5013176"/>
            <a:ext cx="1571625" cy="170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316" name="Rectangle 4"/>
          <p:cNvSpPr>
            <a:spLocks noChangeArrowheads="1"/>
          </p:cNvSpPr>
          <p:nvPr/>
        </p:nvSpPr>
        <p:spPr bwMode="auto">
          <a:xfrm>
            <a:off x="285720" y="116632"/>
            <a:ext cx="7777162" cy="431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3600" b="1" dirty="0">
                <a:latin typeface="黑体" panose="02010609060101010101" pitchFamily="49" charset="-122"/>
                <a:ea typeface="黑体" panose="02010609060101010101" pitchFamily="49" charset="-122"/>
              </a:rPr>
              <a:t>回顾</a:t>
            </a:r>
          </a:p>
        </p:txBody>
      </p:sp>
      <p:sp>
        <p:nvSpPr>
          <p:cNvPr id="397318" name="Rectangle 6"/>
          <p:cNvSpPr>
            <a:spLocks noChangeArrowheads="1"/>
          </p:cNvSpPr>
          <p:nvPr/>
        </p:nvSpPr>
        <p:spPr bwMode="auto">
          <a:xfrm>
            <a:off x="214282" y="831012"/>
            <a:ext cx="8643998" cy="192882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前面介绍的数据类型都属于</a:t>
            </a: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基本类型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整型、实型、字符型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存储特点是：每个变量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单独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存储，亦称简单变量。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85720" y="2513778"/>
            <a:ext cx="5399089" cy="2174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构造类型：是由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基本类型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数据按照一定的规则构造而成的。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数组、结构体、共同体）</a:t>
            </a:r>
          </a:p>
        </p:txBody>
      </p:sp>
      <p:grpSp>
        <p:nvGrpSpPr>
          <p:cNvPr id="7" name="Group 8"/>
          <p:cNvGrpSpPr/>
          <p:nvPr/>
        </p:nvGrpSpPr>
        <p:grpSpPr bwMode="auto">
          <a:xfrm>
            <a:off x="5884060" y="3139985"/>
            <a:ext cx="3072663" cy="2950439"/>
            <a:chOff x="3953" y="2151"/>
            <a:chExt cx="1612" cy="1674"/>
          </a:xfrm>
          <a:solidFill>
            <a:schemeClr val="accent1">
              <a:lumMod val="75000"/>
            </a:schemeClr>
          </a:solidFill>
        </p:grpSpPr>
        <p:sp>
          <p:nvSpPr>
            <p:cNvPr id="8" name="Rectangle 7"/>
            <p:cNvSpPr>
              <a:spLocks noChangeArrowheads="1"/>
            </p:cNvSpPr>
            <p:nvPr/>
          </p:nvSpPr>
          <p:spPr bwMode="auto">
            <a:xfrm>
              <a:off x="3953" y="2151"/>
              <a:ext cx="1612" cy="1674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Text Box 5"/>
            <p:cNvSpPr txBox="1">
              <a:spLocks noChangeArrowheads="1"/>
            </p:cNvSpPr>
            <p:nvPr/>
          </p:nvSpPr>
          <p:spPr bwMode="auto">
            <a:xfrm>
              <a:off x="4028" y="2159"/>
              <a:ext cx="1170" cy="471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如</a:t>
              </a:r>
              <a:r>
                <a:rPr lang="zh-CN" altLang="en-US" dirty="0"/>
                <a:t>：</a:t>
              </a:r>
              <a:r>
                <a:rPr lang="en-US" altLang="zh-CN" dirty="0" err="1"/>
                <a:t>int</a:t>
              </a:r>
              <a:r>
                <a:rPr lang="en-US" altLang="zh-CN" dirty="0"/>
                <a:t> a[10];  </a:t>
              </a:r>
            </a:p>
            <a:p>
              <a:r>
                <a:rPr lang="en-US" altLang="zh-CN" dirty="0"/>
                <a:t>      </a:t>
              </a:r>
            </a:p>
          </p:txBody>
        </p:sp>
        <p:sp>
          <p:nvSpPr>
            <p:cNvPr id="10" name="Text Box 6"/>
            <p:cNvSpPr txBox="1">
              <a:spLocks noChangeArrowheads="1"/>
            </p:cNvSpPr>
            <p:nvPr/>
          </p:nvSpPr>
          <p:spPr bwMode="auto">
            <a:xfrm>
              <a:off x="4065" y="2504"/>
              <a:ext cx="1308" cy="1238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 err="1"/>
                <a:t>struct</a:t>
              </a:r>
              <a:r>
                <a:rPr lang="en-US" altLang="zh-CN" dirty="0"/>
                <a:t> student</a:t>
              </a:r>
            </a:p>
            <a:p>
              <a:r>
                <a:rPr lang="en-US" altLang="zh-CN" dirty="0"/>
                <a:t>{  </a:t>
              </a:r>
              <a:r>
                <a:rPr lang="en-US" altLang="zh-CN" dirty="0" err="1"/>
                <a:t>int</a:t>
              </a:r>
              <a:r>
                <a:rPr lang="en-US" altLang="zh-CN" dirty="0"/>
                <a:t> num;</a:t>
              </a:r>
            </a:p>
            <a:p>
              <a:r>
                <a:rPr lang="en-US" altLang="zh-CN" dirty="0"/>
                <a:t>   char name[20];</a:t>
              </a:r>
            </a:p>
            <a:p>
              <a:r>
                <a:rPr lang="en-US" altLang="zh-CN" dirty="0"/>
                <a:t>   char sex;</a:t>
              </a:r>
            </a:p>
            <a:p>
              <a:r>
                <a:rPr lang="en-US" altLang="zh-CN" dirty="0"/>
                <a:t>   </a:t>
              </a:r>
              <a:r>
                <a:rPr lang="en-US" altLang="zh-CN" dirty="0" err="1"/>
                <a:t>int</a:t>
              </a:r>
              <a:r>
                <a:rPr lang="en-US" altLang="zh-CN" dirty="0"/>
                <a:t> age;</a:t>
              </a:r>
            </a:p>
            <a:p>
              <a:r>
                <a:rPr lang="en-US" altLang="zh-CN" dirty="0"/>
                <a:t>} ;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973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973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20"/>
          <p:cNvSpPr>
            <a:spLocks noChangeArrowheads="1"/>
          </p:cNvSpPr>
          <p:nvPr/>
        </p:nvSpPr>
        <p:spPr bwMode="auto">
          <a:xfrm>
            <a:off x="285720" y="857232"/>
            <a:ext cx="8077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问题：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输入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位同学的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语言成绩，计算平均分。</a:t>
            </a:r>
            <a:endParaRPr 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85720" y="1500174"/>
            <a:ext cx="8643998" cy="4143315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ct val="5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#include&lt;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stdio.h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&gt;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main()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{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</a:t>
            </a:r>
            <a:r>
              <a:rPr kumimoji="1"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s1,s2,s3,s4,s5,s6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,sum;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 err="1">
                <a:latin typeface="Times New Roman" panose="02020603050405020304" pitchFamily="18" charset="0"/>
              </a:rPr>
              <a:t>printf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("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请输入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位同学的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语言课程的成绩</a:t>
            </a:r>
            <a:r>
              <a:rPr kumimoji="1" lang="zh-CN" altLang="en-US" dirty="0">
                <a:latin typeface="Times New Roman" panose="02020603050405020304" pitchFamily="18" charset="0"/>
              </a:rPr>
              <a:t>：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");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 err="1">
                <a:latin typeface="Times New Roman" panose="02020603050405020304" pitchFamily="18" charset="0"/>
              </a:rPr>
              <a:t>scanf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("%d%d%d%d%d%d",&amp;s1,&amp;s2,&amp;s3,&amp;s4,&amp;s5,&amp;s6);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sum=s1+s2+s3+s4+s5+s6;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 err="1">
                <a:latin typeface="Times New Roman" panose="02020603050405020304" pitchFamily="18" charset="0"/>
              </a:rPr>
              <a:t>printf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(“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位同学的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语言课程的平均分为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:%d\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n",sum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/6);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return 0;</a:t>
            </a:r>
          </a:p>
          <a:p>
            <a:pPr eaLnBrk="0" hangingPunct="0">
              <a:spcBef>
                <a:spcPct val="5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7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Rectangle 2"/>
          <p:cNvSpPr>
            <a:spLocks noChangeArrowheads="1"/>
          </p:cNvSpPr>
          <p:nvPr/>
        </p:nvSpPr>
        <p:spPr bwMode="auto">
          <a:xfrm>
            <a:off x="214282" y="1110973"/>
            <a:ext cx="4786345" cy="440184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</a:ln>
          <a:effectLst/>
        </p:spPr>
        <p:txBody>
          <a:bodyPr wrap="square" lIns="92075" tIns="46038" rIns="92075" bIns="46038">
            <a:spAutoFit/>
          </a:bodyPr>
          <a:lstStyle/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#include&lt;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stdio.h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&gt;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main()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{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int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 s[6],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i,sum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=0;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for(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=0;i&lt;6;i++)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{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scanf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("%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d",&amp;s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[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]);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sum+=s[</a:t>
            </a:r>
            <a:r>
              <a:rPr kumimoji="1" lang="en-US" altLang="zh-CN" sz="2800" dirty="0" err="1">
                <a:solidFill>
                  <a:srgbClr val="0000FF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];}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 err="1">
                <a:latin typeface="Times New Roman" panose="02020603050405020304" pitchFamily="18" charset="0"/>
              </a:rPr>
              <a:t>printf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("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位同学的</a:t>
            </a:r>
            <a:r>
              <a:rPr kumimoji="1" lang="en-US" altLang="zh-CN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kumimoji="1"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语言课程的总成绩为：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%d\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n",sum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);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return 0;</a:t>
            </a:r>
          </a:p>
          <a:p>
            <a:pPr eaLnBrk="0" hangingPunct="0">
              <a:spcBef>
                <a:spcPts val="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282627" name="Rectangle 3"/>
          <p:cNvSpPr>
            <a:spLocks noChangeArrowheads="1"/>
          </p:cNvSpPr>
          <p:nvPr/>
        </p:nvSpPr>
        <p:spPr bwMode="auto">
          <a:xfrm>
            <a:off x="4932040" y="1829546"/>
            <a:ext cx="3943178" cy="332462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92075" tIns="46038" rIns="92075" bIns="46038">
            <a:spAutoFit/>
          </a:bodyPr>
          <a:lstStyle/>
          <a:p>
            <a:pPr indent="457200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是数组名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s[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kumimoji="1"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是数组元素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50000"/>
              </a:spcBef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kumimoji="1"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是数组的下标。</a:t>
            </a:r>
            <a:endParaRPr kumimoji="1"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2628" name="Text Box 4"/>
          <p:cNvSpPr txBox="1">
            <a:spLocks noChangeArrowheads="1"/>
          </p:cNvSpPr>
          <p:nvPr/>
        </p:nvSpPr>
        <p:spPr bwMode="auto">
          <a:xfrm>
            <a:off x="214282" y="285728"/>
            <a:ext cx="3786214" cy="52322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若改用数组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kumimoji="1"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s[6]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2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2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2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82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2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2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82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82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2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82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2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2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2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826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2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26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82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9" name="Text Box 5"/>
          <p:cNvSpPr txBox="1">
            <a:spLocks noChangeArrowheads="1"/>
          </p:cNvSpPr>
          <p:nvPr/>
        </p:nvSpPr>
        <p:spPr bwMode="auto">
          <a:xfrm>
            <a:off x="3707904" y="982877"/>
            <a:ext cx="5105158" cy="3631763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数组：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按序排列的一组具有相同类型的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变量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的集合。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这组变量应该满足下列条件：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具有相同的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名字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具有相同的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数据类型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 在存储器中</a:t>
            </a:r>
            <a:r>
              <a:rPr lang="zh-CN" alt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顺序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</a:p>
        </p:txBody>
      </p:sp>
      <p:grpSp>
        <p:nvGrpSpPr>
          <p:cNvPr id="6" name="Group 89"/>
          <p:cNvGrpSpPr/>
          <p:nvPr/>
        </p:nvGrpSpPr>
        <p:grpSpPr bwMode="auto">
          <a:xfrm>
            <a:off x="622974" y="1395428"/>
            <a:ext cx="2717800" cy="2392363"/>
            <a:chOff x="4029" y="2270"/>
            <a:chExt cx="1712" cy="1507"/>
          </a:xfrm>
        </p:grpSpPr>
        <p:sp>
          <p:nvSpPr>
            <p:cNvPr id="7" name="Freeform 67"/>
            <p:cNvSpPr/>
            <p:nvPr/>
          </p:nvSpPr>
          <p:spPr bwMode="auto">
            <a:xfrm>
              <a:off x="4382" y="2603"/>
              <a:ext cx="748" cy="196"/>
            </a:xfrm>
            <a:custGeom>
              <a:avLst/>
              <a:gdLst/>
              <a:ahLst/>
              <a:cxnLst>
                <a:cxn ang="0">
                  <a:pos x="19986" y="0"/>
                </a:cxn>
                <a:cxn ang="0">
                  <a:pos x="19986" y="19944"/>
                </a:cxn>
                <a:cxn ang="0">
                  <a:pos x="0" y="19944"/>
                </a:cxn>
                <a:cxn ang="0">
                  <a:pos x="0" y="0"/>
                </a:cxn>
                <a:cxn ang="0">
                  <a:pos x="19986" y="0"/>
                </a:cxn>
              </a:cxnLst>
              <a:rect l="0" t="0" r="r" b="b"/>
              <a:pathLst>
                <a:path w="20000" h="20000">
                  <a:moveTo>
                    <a:pt x="19986" y="0"/>
                  </a:moveTo>
                  <a:lnTo>
                    <a:pt x="19986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6" y="0"/>
                  </a:lnTo>
                  <a:close/>
                </a:path>
              </a:pathLst>
            </a:custGeom>
            <a:solidFill>
              <a:srgbClr val="99FFCC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8"/>
            <p:cNvSpPr/>
            <p:nvPr/>
          </p:nvSpPr>
          <p:spPr bwMode="auto">
            <a:xfrm>
              <a:off x="4382" y="2799"/>
              <a:ext cx="748" cy="196"/>
            </a:xfrm>
            <a:custGeom>
              <a:avLst/>
              <a:gdLst/>
              <a:ahLst/>
              <a:cxnLst>
                <a:cxn ang="0">
                  <a:pos x="19986" y="0"/>
                </a:cxn>
                <a:cxn ang="0">
                  <a:pos x="19986" y="19944"/>
                </a:cxn>
                <a:cxn ang="0">
                  <a:pos x="0" y="19944"/>
                </a:cxn>
                <a:cxn ang="0">
                  <a:pos x="0" y="0"/>
                </a:cxn>
                <a:cxn ang="0">
                  <a:pos x="19986" y="0"/>
                </a:cxn>
              </a:cxnLst>
              <a:rect l="0" t="0" r="r" b="b"/>
              <a:pathLst>
                <a:path w="20000" h="20000">
                  <a:moveTo>
                    <a:pt x="19986" y="0"/>
                  </a:moveTo>
                  <a:lnTo>
                    <a:pt x="19986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6" y="0"/>
                  </a:lnTo>
                  <a:close/>
                </a:path>
              </a:pathLst>
            </a:custGeom>
            <a:solidFill>
              <a:srgbClr val="99FFCC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69"/>
            <p:cNvSpPr/>
            <p:nvPr/>
          </p:nvSpPr>
          <p:spPr bwMode="auto">
            <a:xfrm>
              <a:off x="4382" y="2995"/>
              <a:ext cx="748" cy="195"/>
            </a:xfrm>
            <a:custGeom>
              <a:avLst/>
              <a:gdLst/>
              <a:ahLst/>
              <a:cxnLst>
                <a:cxn ang="0">
                  <a:pos x="19986" y="0"/>
                </a:cxn>
                <a:cxn ang="0">
                  <a:pos x="19986" y="19944"/>
                </a:cxn>
                <a:cxn ang="0">
                  <a:pos x="0" y="19944"/>
                </a:cxn>
                <a:cxn ang="0">
                  <a:pos x="0" y="0"/>
                </a:cxn>
                <a:cxn ang="0">
                  <a:pos x="19986" y="0"/>
                </a:cxn>
              </a:cxnLst>
              <a:rect l="0" t="0" r="r" b="b"/>
              <a:pathLst>
                <a:path w="20000" h="20000">
                  <a:moveTo>
                    <a:pt x="19986" y="0"/>
                  </a:moveTo>
                  <a:lnTo>
                    <a:pt x="19986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6" y="0"/>
                  </a:lnTo>
                  <a:close/>
                </a:path>
              </a:pathLst>
            </a:custGeom>
            <a:solidFill>
              <a:srgbClr val="99FFCC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70"/>
            <p:cNvSpPr/>
            <p:nvPr/>
          </p:nvSpPr>
          <p:spPr bwMode="auto">
            <a:xfrm>
              <a:off x="4382" y="3190"/>
              <a:ext cx="748" cy="195"/>
            </a:xfrm>
            <a:custGeom>
              <a:avLst/>
              <a:gdLst/>
              <a:ahLst/>
              <a:cxnLst>
                <a:cxn ang="0">
                  <a:pos x="19986" y="0"/>
                </a:cxn>
                <a:cxn ang="0">
                  <a:pos x="19986" y="19944"/>
                </a:cxn>
                <a:cxn ang="0">
                  <a:pos x="0" y="19944"/>
                </a:cxn>
                <a:cxn ang="0">
                  <a:pos x="0" y="0"/>
                </a:cxn>
                <a:cxn ang="0">
                  <a:pos x="19986" y="0"/>
                </a:cxn>
              </a:cxnLst>
              <a:rect l="0" t="0" r="r" b="b"/>
              <a:pathLst>
                <a:path w="20000" h="20000">
                  <a:moveTo>
                    <a:pt x="19986" y="0"/>
                  </a:moveTo>
                  <a:lnTo>
                    <a:pt x="19986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6" y="0"/>
                  </a:lnTo>
                  <a:close/>
                </a:path>
              </a:pathLst>
            </a:custGeom>
            <a:solidFill>
              <a:srgbClr val="99FFCC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71"/>
            <p:cNvSpPr/>
            <p:nvPr/>
          </p:nvSpPr>
          <p:spPr bwMode="auto">
            <a:xfrm>
              <a:off x="4382" y="3385"/>
              <a:ext cx="748" cy="197"/>
            </a:xfrm>
            <a:custGeom>
              <a:avLst/>
              <a:gdLst/>
              <a:ahLst/>
              <a:cxnLst>
                <a:cxn ang="0">
                  <a:pos x="19986" y="0"/>
                </a:cxn>
                <a:cxn ang="0">
                  <a:pos x="19986" y="19944"/>
                </a:cxn>
                <a:cxn ang="0">
                  <a:pos x="0" y="19944"/>
                </a:cxn>
                <a:cxn ang="0">
                  <a:pos x="0" y="0"/>
                </a:cxn>
                <a:cxn ang="0">
                  <a:pos x="19986" y="0"/>
                </a:cxn>
              </a:cxnLst>
              <a:rect l="0" t="0" r="r" b="b"/>
              <a:pathLst>
                <a:path w="20000" h="20000">
                  <a:moveTo>
                    <a:pt x="19986" y="0"/>
                  </a:moveTo>
                  <a:lnTo>
                    <a:pt x="19986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6" y="0"/>
                  </a:lnTo>
                  <a:close/>
                </a:path>
              </a:pathLst>
            </a:custGeom>
            <a:solidFill>
              <a:srgbClr val="99FFCC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72"/>
            <p:cNvSpPr/>
            <p:nvPr/>
          </p:nvSpPr>
          <p:spPr bwMode="auto">
            <a:xfrm>
              <a:off x="4382" y="3582"/>
              <a:ext cx="748" cy="195"/>
            </a:xfrm>
            <a:custGeom>
              <a:avLst/>
              <a:gdLst/>
              <a:ahLst/>
              <a:cxnLst>
                <a:cxn ang="0">
                  <a:pos x="19986" y="0"/>
                </a:cxn>
                <a:cxn ang="0">
                  <a:pos x="19986" y="19944"/>
                </a:cxn>
                <a:cxn ang="0">
                  <a:pos x="0" y="19944"/>
                </a:cxn>
                <a:cxn ang="0">
                  <a:pos x="0" y="0"/>
                </a:cxn>
                <a:cxn ang="0">
                  <a:pos x="19986" y="0"/>
                </a:cxn>
              </a:cxnLst>
              <a:rect l="0" t="0" r="r" b="b"/>
              <a:pathLst>
                <a:path w="20000" h="20000">
                  <a:moveTo>
                    <a:pt x="19986" y="0"/>
                  </a:moveTo>
                  <a:lnTo>
                    <a:pt x="19986" y="19944"/>
                  </a:lnTo>
                  <a:lnTo>
                    <a:pt x="0" y="19944"/>
                  </a:lnTo>
                  <a:lnTo>
                    <a:pt x="0" y="0"/>
                  </a:lnTo>
                  <a:lnTo>
                    <a:pt x="19986" y="0"/>
                  </a:lnTo>
                  <a:close/>
                </a:path>
              </a:pathLst>
            </a:custGeom>
            <a:solidFill>
              <a:srgbClr val="99FFCC"/>
            </a:solidFill>
            <a:ln w="3175">
              <a:solidFill>
                <a:srgbClr val="000000"/>
              </a:solidFill>
              <a:rou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Rectangle 73"/>
            <p:cNvSpPr>
              <a:spLocks noChangeArrowheads="1"/>
            </p:cNvSpPr>
            <p:nvPr/>
          </p:nvSpPr>
          <p:spPr bwMode="auto">
            <a:xfrm>
              <a:off x="4614" y="2632"/>
              <a:ext cx="258" cy="152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95</a:t>
              </a:r>
              <a:endParaRPr lang="en-US" altLang="zh-CN" sz="1600" dirty="0">
                <a:latin typeface="Courier New" panose="02070309020205020404" pitchFamily="49" charset="0"/>
              </a:endParaRPr>
            </a:p>
          </p:txBody>
        </p:sp>
        <p:sp>
          <p:nvSpPr>
            <p:cNvPr id="14" name="Rectangle 74"/>
            <p:cNvSpPr>
              <a:spLocks noChangeArrowheads="1"/>
            </p:cNvSpPr>
            <p:nvPr/>
          </p:nvSpPr>
          <p:spPr bwMode="auto">
            <a:xfrm>
              <a:off x="4614" y="2827"/>
              <a:ext cx="205" cy="118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40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65</a:t>
              </a:r>
              <a:endParaRPr lang="en-US" altLang="zh-CN" sz="1400" dirty="0">
                <a:latin typeface="Courier New" panose="02070309020205020404" pitchFamily="49" charset="0"/>
              </a:endParaRPr>
            </a:p>
          </p:txBody>
        </p:sp>
        <p:sp>
          <p:nvSpPr>
            <p:cNvPr id="15" name="Rectangle 75"/>
            <p:cNvSpPr>
              <a:spLocks noChangeArrowheads="1"/>
            </p:cNvSpPr>
            <p:nvPr/>
          </p:nvSpPr>
          <p:spPr bwMode="auto">
            <a:xfrm>
              <a:off x="4614" y="3035"/>
              <a:ext cx="223" cy="139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40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90</a:t>
              </a:r>
              <a:endParaRPr lang="en-US" altLang="zh-CN" sz="1400" dirty="0">
                <a:latin typeface="Courier New" panose="02070309020205020404" pitchFamily="49" charset="0"/>
              </a:endParaRPr>
            </a:p>
          </p:txBody>
        </p:sp>
        <p:sp>
          <p:nvSpPr>
            <p:cNvPr id="16" name="Rectangle 76"/>
            <p:cNvSpPr>
              <a:spLocks noChangeArrowheads="1"/>
            </p:cNvSpPr>
            <p:nvPr/>
          </p:nvSpPr>
          <p:spPr bwMode="auto">
            <a:xfrm>
              <a:off x="4642" y="3215"/>
              <a:ext cx="287" cy="156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40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72</a:t>
              </a:r>
              <a:endParaRPr lang="en-US" altLang="zh-CN" sz="1400" dirty="0">
                <a:latin typeface="Courier New" panose="02070309020205020404" pitchFamily="49" charset="0"/>
              </a:endParaRPr>
            </a:p>
          </p:txBody>
        </p:sp>
        <p:sp>
          <p:nvSpPr>
            <p:cNvPr id="17" name="Rectangle 77"/>
            <p:cNvSpPr>
              <a:spLocks noChangeArrowheads="1"/>
            </p:cNvSpPr>
            <p:nvPr/>
          </p:nvSpPr>
          <p:spPr bwMode="auto">
            <a:xfrm>
              <a:off x="4614" y="3395"/>
              <a:ext cx="290" cy="171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400" b="1" dirty="0">
                  <a:latin typeface="Courier New" panose="02070309020205020404" pitchFamily="49" charset="0"/>
                </a:rPr>
                <a:t>85</a:t>
              </a:r>
            </a:p>
          </p:txBody>
        </p:sp>
        <p:sp>
          <p:nvSpPr>
            <p:cNvPr id="18" name="Rectangle 78"/>
            <p:cNvSpPr>
              <a:spLocks noChangeArrowheads="1"/>
            </p:cNvSpPr>
            <p:nvPr/>
          </p:nvSpPr>
          <p:spPr bwMode="auto">
            <a:xfrm>
              <a:off x="4637" y="3610"/>
              <a:ext cx="258" cy="151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400" b="1" dirty="0">
                  <a:solidFill>
                    <a:srgbClr val="000000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89</a:t>
              </a:r>
              <a:endParaRPr lang="en-US" altLang="zh-CN" sz="1400" dirty="0">
                <a:latin typeface="Courier New" panose="02070309020205020404" pitchFamily="49" charset="0"/>
              </a:endParaRPr>
            </a:p>
          </p:txBody>
        </p:sp>
        <p:sp>
          <p:nvSpPr>
            <p:cNvPr id="19" name="Rectangle 79"/>
            <p:cNvSpPr>
              <a:spLocks noChangeArrowheads="1"/>
            </p:cNvSpPr>
            <p:nvPr/>
          </p:nvSpPr>
          <p:spPr bwMode="auto">
            <a:xfrm>
              <a:off x="4029" y="2628"/>
              <a:ext cx="334" cy="143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s[0]</a:t>
              </a:r>
              <a:endPara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0" name="Rectangle 80"/>
            <p:cNvSpPr>
              <a:spLocks noChangeArrowheads="1"/>
            </p:cNvSpPr>
            <p:nvPr/>
          </p:nvSpPr>
          <p:spPr bwMode="auto">
            <a:xfrm>
              <a:off x="4029" y="2823"/>
              <a:ext cx="407" cy="153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s[1]</a:t>
              </a:r>
              <a:endPara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1" name="Rectangle 81"/>
            <p:cNvSpPr>
              <a:spLocks noChangeArrowheads="1"/>
            </p:cNvSpPr>
            <p:nvPr/>
          </p:nvSpPr>
          <p:spPr bwMode="auto">
            <a:xfrm>
              <a:off x="4029" y="3020"/>
              <a:ext cx="407" cy="151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s[2]</a:t>
              </a:r>
              <a:endPara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2" name="Rectangle 82"/>
            <p:cNvSpPr>
              <a:spLocks noChangeArrowheads="1"/>
            </p:cNvSpPr>
            <p:nvPr/>
          </p:nvSpPr>
          <p:spPr bwMode="auto">
            <a:xfrm>
              <a:off x="4029" y="3215"/>
              <a:ext cx="407" cy="152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s[3]</a:t>
              </a:r>
              <a:endPara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3" name="Rectangle 83"/>
            <p:cNvSpPr>
              <a:spLocks noChangeArrowheads="1"/>
            </p:cNvSpPr>
            <p:nvPr/>
          </p:nvSpPr>
          <p:spPr bwMode="auto">
            <a:xfrm>
              <a:off x="4029" y="3606"/>
              <a:ext cx="407" cy="152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s[5]</a:t>
              </a:r>
              <a:endPara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4" name="Rectangle 84"/>
            <p:cNvSpPr>
              <a:spLocks noChangeArrowheads="1"/>
            </p:cNvSpPr>
            <p:nvPr/>
          </p:nvSpPr>
          <p:spPr bwMode="auto">
            <a:xfrm>
              <a:off x="4029" y="3410"/>
              <a:ext cx="407" cy="152"/>
            </a:xfrm>
            <a:prstGeom prst="rect">
              <a:avLst/>
            </a:prstGeom>
            <a:noFill/>
            <a:ln w="0">
              <a:noFill/>
              <a:miter lim="800000"/>
            </a:ln>
          </p:spPr>
          <p:txBody>
            <a:bodyPr lIns="0" tIns="0" rIns="0" bIns="0"/>
            <a:lstStyle/>
            <a:p>
              <a:r>
                <a:rPr lang="en-US" altLang="zh-CN" sz="1600" b="1" dirty="0">
                  <a:solidFill>
                    <a:schemeClr val="accent2"/>
                  </a:solidFill>
                  <a:latin typeface="Courier New" panose="02070309020205020404" pitchFamily="49" charset="0"/>
                  <a:cs typeface="Times New Roman" panose="02020603050405020304" pitchFamily="18" charset="0"/>
                </a:rPr>
                <a:t>s[4]</a:t>
              </a:r>
              <a:endParaRPr lang="en-US" altLang="zh-CN" sz="1600" dirty="0">
                <a:solidFill>
                  <a:schemeClr val="accent2"/>
                </a:solidFill>
                <a:latin typeface="Courier New" panose="02070309020205020404" pitchFamily="49" charset="0"/>
              </a:endParaRPr>
            </a:p>
          </p:txBody>
        </p:sp>
        <p:sp>
          <p:nvSpPr>
            <p:cNvPr id="25" name="Text Box 85"/>
            <p:cNvSpPr txBox="1">
              <a:spLocks noChangeArrowheads="1"/>
            </p:cNvSpPr>
            <p:nvPr/>
          </p:nvSpPr>
          <p:spPr bwMode="auto">
            <a:xfrm>
              <a:off x="4545" y="2296"/>
              <a:ext cx="386" cy="288"/>
            </a:xfrm>
            <a:prstGeom prst="rect">
              <a:avLst/>
            </a:prstGeom>
            <a:solidFill>
              <a:srgbClr val="FFFF00"/>
            </a:solidFill>
            <a:ln w="9525" algn="ctr">
              <a:noFill/>
              <a:miter lim="800000"/>
            </a:ln>
            <a:effectLst/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b="1" dirty="0">
                  <a:solidFill>
                    <a:srgbClr val="FF0000"/>
                  </a:solidFill>
                  <a:latin typeface="Courier New" panose="02070309020205020404" pitchFamily="49" charset="0"/>
                </a:rPr>
                <a:t>s</a:t>
              </a:r>
            </a:p>
          </p:txBody>
        </p:sp>
        <p:sp>
          <p:nvSpPr>
            <p:cNvPr id="26" name="AutoShape 86"/>
            <p:cNvSpPr/>
            <p:nvPr/>
          </p:nvSpPr>
          <p:spPr bwMode="auto">
            <a:xfrm>
              <a:off x="5103" y="2270"/>
              <a:ext cx="638" cy="237"/>
            </a:xfrm>
            <a:prstGeom prst="borderCallout1">
              <a:avLst>
                <a:gd name="adj1" fmla="val 30380"/>
                <a:gd name="adj2" fmla="val -7523"/>
                <a:gd name="adj3" fmla="val 56963"/>
                <a:gd name="adj4" fmla="val -43417"/>
              </a:avLst>
            </a:prstGeom>
            <a:solidFill>
              <a:schemeClr val="bg1"/>
            </a:solidFill>
            <a:ln w="9525" algn="ctr">
              <a:solidFill>
                <a:srgbClr val="FF00FF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zh-CN" altLang="en-US" sz="1600" b="1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数组名</a:t>
              </a:r>
            </a:p>
          </p:txBody>
        </p:sp>
        <p:sp>
          <p:nvSpPr>
            <p:cNvPr id="28" name="AutoShape 88"/>
            <p:cNvSpPr/>
            <p:nvPr/>
          </p:nvSpPr>
          <p:spPr bwMode="auto">
            <a:xfrm>
              <a:off x="5225" y="3202"/>
              <a:ext cx="425" cy="390"/>
            </a:xfrm>
            <a:prstGeom prst="borderCallout1">
              <a:avLst>
                <a:gd name="adj1" fmla="val 18463"/>
                <a:gd name="adj2" fmla="val -11296"/>
                <a:gd name="adj3" fmla="val -24102"/>
                <a:gd name="adj4" fmla="val -82588"/>
              </a:avLst>
            </a:prstGeom>
            <a:solidFill>
              <a:schemeClr val="bg1"/>
            </a:solidFill>
            <a:ln w="9525" algn="ctr">
              <a:solidFill>
                <a:srgbClr val="FF00FF"/>
              </a:solidFill>
              <a:miter lim="800000"/>
            </a:ln>
            <a:effectLst>
              <a:outerShdw dist="107763" dir="2700000" algn="ctr" rotWithShape="0">
                <a:schemeClr val="bg2">
                  <a:alpha val="50000"/>
                </a:schemeClr>
              </a:outerShdw>
            </a:effectLst>
          </p:spPr>
          <p:txBody>
            <a:bodyPr anchor="ctr"/>
            <a:lstStyle/>
            <a:p>
              <a:pPr algn="ctr"/>
              <a:r>
                <a:rPr lang="zh-CN" altLang="en-US" sz="1600" b="1" dirty="0">
                  <a:solidFill>
                    <a:srgbClr val="FF00FF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数组元素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29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548680"/>
            <a:ext cx="8893175" cy="769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 </a:t>
            </a:r>
            <a:r>
              <a:rPr lang="zh-CN" altLang="zh-CN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定义和引用一维数组</a:t>
            </a:r>
            <a:endParaRPr lang="zh-CN" altLang="en-US" sz="4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619672" y="1988840"/>
            <a:ext cx="5786437" cy="2928937"/>
          </a:xfrm>
        </p:spPr>
        <p:txBody>
          <a:bodyPr/>
          <a:lstStyle/>
          <a:p>
            <a:pPr marL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6.1.1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定义一维数组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6.1.2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引用一维数组的元素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6.1.3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一维数组的初始化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6.1.4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一维数组程序举例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图片 6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323528" y="2780928"/>
            <a:ext cx="9144000" cy="7200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数组名 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920047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一维数组的定义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37328" y="188640"/>
            <a:ext cx="8893175" cy="769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6.1.1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定义一维数组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107504" y="1455578"/>
            <a:ext cx="8712968" cy="13681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457200">
              <a:lnSpc>
                <a:spcPct val="150000"/>
              </a:lnSpc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在定义数组时需要指定这批变量的</a:t>
            </a:r>
            <a:r>
              <a:rPr lang="zh-CN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数组名称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，数组中包含变量的</a:t>
            </a:r>
            <a:r>
              <a:rPr lang="zh-CN" altLang="zh-CN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个数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71600" y="3734717"/>
            <a:ext cx="6858000" cy="2214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3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  </a:t>
            </a:r>
            <a:r>
              <a:rPr lang="en-US" altLang="zh-CN" sz="32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3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a[5];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zh-CN" altLang="zh-CN" sz="32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流程图: 过程 7"/>
          <p:cNvSpPr>
            <a:spLocks noChangeArrowheads="1"/>
          </p:cNvSpPr>
          <p:nvPr/>
        </p:nvSpPr>
        <p:spPr bwMode="auto">
          <a:xfrm>
            <a:off x="3043858" y="3734717"/>
            <a:ext cx="285750" cy="7143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1491059" y="4819971"/>
            <a:ext cx="1928813" cy="642938"/>
          </a:xfrm>
          <a:prstGeom prst="wedgeRoundRectCallout">
            <a:avLst>
              <a:gd name="adj1" fmla="val 37338"/>
              <a:gd name="adj2" fmla="val -11634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数组名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流程图: 过程 9"/>
          <p:cNvSpPr>
            <a:spLocks noChangeArrowheads="1"/>
          </p:cNvSpPr>
          <p:nvPr/>
        </p:nvSpPr>
        <p:spPr bwMode="auto">
          <a:xfrm>
            <a:off x="3496444" y="3748409"/>
            <a:ext cx="499492" cy="7143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圆角矩形标注 12"/>
          <p:cNvSpPr>
            <a:spLocks noChangeArrowheads="1"/>
          </p:cNvSpPr>
          <p:nvPr/>
        </p:nvSpPr>
        <p:spPr bwMode="auto">
          <a:xfrm>
            <a:off x="3439839" y="4819972"/>
            <a:ext cx="2500313" cy="642937"/>
          </a:xfrm>
          <a:prstGeom prst="wedgeRoundRectCallout">
            <a:avLst>
              <a:gd name="adj1" fmla="val -35898"/>
              <a:gd name="adj2" fmla="val -10704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长度</a:t>
            </a:r>
          </a:p>
        </p:txBody>
      </p:sp>
      <p:sp>
        <p:nvSpPr>
          <p:cNvPr id="14" name="流程图: 过程 13"/>
          <p:cNvSpPr>
            <a:spLocks noChangeArrowheads="1"/>
          </p:cNvSpPr>
          <p:nvPr/>
        </p:nvSpPr>
        <p:spPr bwMode="auto">
          <a:xfrm>
            <a:off x="2114724" y="3723307"/>
            <a:ext cx="785812" cy="7143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圆角矩形标注 14"/>
          <p:cNvSpPr>
            <a:spLocks noChangeArrowheads="1"/>
          </p:cNvSpPr>
          <p:nvPr/>
        </p:nvSpPr>
        <p:spPr bwMode="auto">
          <a:xfrm>
            <a:off x="1581324" y="2294557"/>
            <a:ext cx="4214812" cy="642937"/>
          </a:xfrm>
          <a:prstGeom prst="wedgeRoundRectCallout">
            <a:avLst>
              <a:gd name="adj1" fmla="val -26153"/>
              <a:gd name="adj2" fmla="val 16765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每个元素的数据类型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1" name="图片 6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79512" y="652163"/>
            <a:ext cx="9144000" cy="301065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数组名 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 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a[5]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char c[8],d[10];</a:t>
            </a:r>
          </a:p>
          <a:p>
            <a:pPr marL="342900" lvl="2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float X[20],y[4*M+1];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（其中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为符号常量）</a:t>
            </a:r>
            <a:endParaRPr 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0" y="116632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一维数组的定义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12"/>
          <p:cNvSpPr>
            <a:spLocks noChangeArrowheads="1"/>
          </p:cNvSpPr>
          <p:nvPr/>
        </p:nvSpPr>
        <p:spPr bwMode="auto">
          <a:xfrm>
            <a:off x="0" y="3152087"/>
            <a:ext cx="9144000" cy="35867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 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数组名命名规则和变量名相同，遵循标识符命名规则。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数组名后面的“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[ ]”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是数组的标志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称为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下标运算符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不能用其它符号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a(5)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不合法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13"/>
          <p:cNvSpPr>
            <a:spLocks noChangeArrowheads="1"/>
          </p:cNvSpPr>
          <p:nvPr/>
        </p:nvSpPr>
        <p:spPr bwMode="auto">
          <a:xfrm>
            <a:off x="0" y="1424914"/>
            <a:ext cx="9144000" cy="12840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(3)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常量表达式由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常量和符号常量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组成的，其值必须是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整数。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决不可用变量定义数组，即使已赋值。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187624" y="3068960"/>
            <a:ext cx="3371825" cy="165960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 n;</a:t>
            </a:r>
            <a:endParaRPr lang="zh-CN" altLang="zh-CN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en-US" altLang="zh-CN" sz="2800" b="1" dirty="0" err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scanf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″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%d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″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,&amp;n);  </a:t>
            </a:r>
            <a:endParaRPr lang="zh-CN" altLang="zh-CN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defRPr/>
            </a:pPr>
            <a:r>
              <a:rPr lang="en-US" altLang="zh-CN" sz="2800" b="1" dirty="0" err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a[n];</a:t>
            </a:r>
            <a:endParaRPr lang="zh-CN" altLang="zh-CN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5076056" y="3849149"/>
            <a:ext cx="1857375" cy="642938"/>
          </a:xfrm>
          <a:prstGeom prst="wedgeRoundRectCallout">
            <a:avLst>
              <a:gd name="adj1" fmla="val -111187"/>
              <a:gd name="adj2" fmla="val -30991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不合法</a:t>
            </a:r>
          </a:p>
        </p:txBody>
      </p:sp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82447" y="706376"/>
            <a:ext cx="9144000" cy="70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数组名 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8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-24169" y="157165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一维数组的定义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82447" y="553493"/>
            <a:ext cx="9144000" cy="7064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</a:t>
            </a:r>
            <a:r>
              <a:rPr lang="zh-CN" alt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名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数组名 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</a:t>
            </a:r>
            <a:r>
              <a:rPr lang="zh-CN" sz="28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sz="28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Rectangle 11"/>
          <p:cNvSpPr>
            <a:spLocks noChangeArrowheads="1"/>
          </p:cNvSpPr>
          <p:nvPr/>
        </p:nvSpPr>
        <p:spPr bwMode="auto">
          <a:xfrm>
            <a:off x="-24169" y="17962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一维数组的定义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格式：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Rectangle 14"/>
          <p:cNvSpPr txBox="1">
            <a:spLocks noChangeArrowheads="1"/>
          </p:cNvSpPr>
          <p:nvPr/>
        </p:nvSpPr>
        <p:spPr bwMode="auto">
          <a:xfrm>
            <a:off x="110385" y="1269844"/>
            <a:ext cx="9358159" cy="34553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(4)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常量表达式决定了数组元素的个数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,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即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数组长度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。</a:t>
            </a: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例如，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int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 a[5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］中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表示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a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数组有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个元素，下标从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开始，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楷体" panose="02010600040101010101" charset="-122"/>
            </a:endParaRP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 这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个元素是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: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a[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0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],a[1],a[2],a[3],a[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4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];</a:t>
            </a:r>
          </a:p>
          <a:p>
            <a:pPr marL="342900" lvl="0" indent="-342900">
              <a:lnSpc>
                <a:spcPct val="150000"/>
              </a:lnSpc>
              <a:spcBef>
                <a:spcPts val="0"/>
              </a:spcBef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楷体" panose="02010600040101010101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注意：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不能使用数组元素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a[5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］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。</a:t>
            </a: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楷体" panose="02010600040101010101" charset="-12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sz="2400" b="1" i="0" u="none" strike="noStrike" kern="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华文楷体" panose="02010600040101010101" charset="-122"/>
            </a:endParaRPr>
          </a:p>
          <a:p>
            <a:pPr marL="342900" marR="0" lvl="0" indent="-342900" algn="ctr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华文楷体" panose="02010600040101010101" charset="-122"/>
              </a:rPr>
              <a:t> </a:t>
            </a:r>
          </a:p>
        </p:txBody>
      </p:sp>
      <p:pic>
        <p:nvPicPr>
          <p:cNvPr id="11" name="Picture 2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3322506"/>
            <a:ext cx="5224463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800" decel="100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800" decel="100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800" decel="100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800" decel="100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800" decel="100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762000" y="833762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0" y="214290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2、</a:t>
            </a:r>
            <a:r>
              <a:rPr lang="zh-CN"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维数组的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357158" y="802894"/>
            <a:ext cx="7850187" cy="15716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编译程序是怎样管理一个数组的呢？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连续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的内存单元存放各个数组元素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a[10]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其内存存储为：</a:t>
            </a:r>
          </a:p>
        </p:txBody>
      </p:sp>
      <p:sp>
        <p:nvSpPr>
          <p:cNvPr id="27" name="云形标注 26"/>
          <p:cNvSpPr/>
          <p:nvPr/>
        </p:nvSpPr>
        <p:spPr>
          <a:xfrm>
            <a:off x="2143108" y="2448248"/>
            <a:ext cx="1857356" cy="714380"/>
          </a:xfrm>
          <a:prstGeom prst="cloudCallout">
            <a:avLst>
              <a:gd name="adj1" fmla="val 72959"/>
              <a:gd name="adj2" fmla="val 632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首地址</a:t>
            </a:r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1073" name="Object 1"/>
          <p:cNvGraphicFramePr>
            <a:graphicFrameLocks noChangeAspect="1"/>
          </p:cNvGraphicFramePr>
          <p:nvPr/>
        </p:nvGraphicFramePr>
        <p:xfrm>
          <a:off x="5004048" y="2340152"/>
          <a:ext cx="2754233" cy="34052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144395" imgH="2654300" progId="">
                  <p:embed/>
                </p:oleObj>
              </mc:Choice>
              <mc:Fallback>
                <p:oleObj r:id="rId2" imgW="2144395" imgH="2654300" progId="">
                  <p:embed/>
                  <p:pic>
                    <p:nvPicPr>
                      <p:cNvPr id="0" name="Picture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4048" y="2340152"/>
                        <a:ext cx="2754233" cy="340523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310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10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762000" y="521790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111921" y="214290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2、</a:t>
            </a:r>
            <a:r>
              <a:rPr lang="zh-CN" sz="32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维数组的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Rectangle 24"/>
          <p:cNvSpPr>
            <a:spLocks noChangeArrowheads="1"/>
          </p:cNvSpPr>
          <p:nvPr/>
        </p:nvSpPr>
        <p:spPr bwMode="auto">
          <a:xfrm>
            <a:off x="285720" y="820119"/>
            <a:ext cx="8350253" cy="28249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数组所占存储单元由数组的类型和数组大小决定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总字节数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b="1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sizeof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（基本类型）*数组元素个数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a[5]  </a:t>
            </a:r>
          </a:p>
          <a:p>
            <a:pPr marL="1143000" lvl="2" indent="-2286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总字节数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sizeof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)*5=4*5=20</a:t>
            </a:r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14282" y="806884"/>
            <a:ext cx="5941894" cy="52864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数组必须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先定义后引用</a:t>
            </a:r>
          </a:p>
          <a:p>
            <a:pPr marL="742950" lvl="1" indent="-285750">
              <a:lnSpc>
                <a:spcPct val="150000"/>
              </a:lnSpc>
              <a:spcBef>
                <a:spcPts val="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C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语言规定只能逐个引用数组元素，而不能一次引用整个数组。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引用数组元素的一般形式：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数组名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[</a:t>
            </a:r>
            <a:r>
              <a:rPr lang="zh-CN" altLang="en-US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下标</a:t>
            </a:r>
            <a:r>
              <a:rPr lang="en-US" altLang="zh-CN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]</a:t>
            </a:r>
          </a:p>
          <a:p>
            <a:pPr marL="1143000" lvl="2" indent="-2286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下标可以是整型常量或整型表达式</a:t>
            </a:r>
          </a:p>
          <a:p>
            <a:pPr marL="1143000" lvl="2" indent="-2286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下标从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开始</a:t>
            </a:r>
          </a:p>
          <a:p>
            <a:pPr marL="1143000" lvl="2" indent="-2286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最大下标值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为数组元素个数减一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03946" y="1857363"/>
            <a:ext cx="3143272" cy="224676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for(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=0;i&lt;6;i++)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{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scanf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("%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d",&amp;s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[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]);</a:t>
            </a:r>
          </a:p>
          <a:p>
            <a:pPr eaLnBrk="0" hangingPunct="0">
              <a:spcBef>
                <a:spcPct val="5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sum+=s[</a:t>
            </a:r>
            <a:r>
              <a:rPr kumimoji="1" lang="en-US" altLang="zh-CN" sz="2800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];}</a:t>
            </a:r>
            <a:endParaRPr lang="zh-CN" altLang="en-US" sz="2800" dirty="0"/>
          </a:p>
        </p:txBody>
      </p:sp>
      <p:sp>
        <p:nvSpPr>
          <p:cNvPr id="10" name="AutoShape 26"/>
          <p:cNvSpPr>
            <a:spLocks noChangeArrowheads="1"/>
          </p:cNvSpPr>
          <p:nvPr/>
        </p:nvSpPr>
        <p:spPr bwMode="auto">
          <a:xfrm>
            <a:off x="5323923" y="4516521"/>
            <a:ext cx="3929090" cy="1081087"/>
          </a:xfrm>
          <a:prstGeom prst="cloudCallout">
            <a:avLst>
              <a:gd name="adj1" fmla="val 24836"/>
              <a:gd name="adj2" fmla="val -15671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FFFFFF"/>
            </a:solidFill>
            <a:round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       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数组元素的下标常用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循环变量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来控制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467544" y="66775"/>
            <a:ext cx="8107363" cy="769937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华文行楷" panose="02010800040101010101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6.1.2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引用一维数组的元素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01306" y="5306342"/>
            <a:ext cx="4289673" cy="642938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a[0]=a[5]+a[2+1]-a[2*3]</a:t>
            </a:r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3995936" y="5994680"/>
            <a:ext cx="1715869" cy="530664"/>
          </a:xfrm>
          <a:prstGeom prst="wedgeRoundRectCallout">
            <a:avLst>
              <a:gd name="adj1" fmla="val -76088"/>
              <a:gd name="adj2" fmla="val -106394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Rectangle 3"/>
          <p:cNvSpPr txBox="1">
            <a:spLocks noChangeArrowheads="1"/>
          </p:cNvSpPr>
          <p:nvPr/>
        </p:nvSpPr>
        <p:spPr bwMode="auto">
          <a:xfrm>
            <a:off x="107504" y="571480"/>
            <a:ext cx="8785183" cy="1473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6.1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个数组元素依次赋值为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0,1,2,3,4,5,6,7,8,9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，要求按逆序输出。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107504" y="1844824"/>
            <a:ext cx="8822214" cy="25814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解题思路：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定义一个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长度为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，数组定义为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整型</a:t>
            </a:r>
          </a:p>
          <a:p>
            <a:pPr marL="0" lvl="1" indent="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要赋的值是从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到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，可以用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来赋值</a:t>
            </a:r>
          </a:p>
          <a:p>
            <a:pPr marL="0" lvl="1" indent="457200" eaLnBrk="1" hangingPunct="1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用循环按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大到小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输出这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个元素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611560" y="298872"/>
            <a:ext cx="6572250" cy="4786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#include &lt;</a:t>
            </a:r>
            <a:r>
              <a:rPr lang="en-US" altLang="zh-CN" sz="3200" b="1" dirty="0" err="1">
                <a:latin typeface="+mn-lt"/>
                <a:ea typeface="+mn-ea"/>
              </a:rPr>
              <a:t>stdio.h</a:t>
            </a:r>
            <a:r>
              <a:rPr lang="en-US" altLang="zh-CN" sz="3200" b="1" dirty="0">
                <a:latin typeface="+mn-lt"/>
                <a:ea typeface="+mn-ea"/>
              </a:rPr>
              <a:t>&gt;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 err="1">
                <a:latin typeface="+mn-lt"/>
                <a:ea typeface="+mn-ea"/>
              </a:rPr>
              <a:t>int</a:t>
            </a:r>
            <a:r>
              <a:rPr lang="en-US" altLang="zh-CN" sz="3200" b="1" dirty="0">
                <a:latin typeface="+mn-lt"/>
                <a:ea typeface="+mn-ea"/>
              </a:rPr>
              <a:t> main()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{   </a:t>
            </a:r>
            <a:r>
              <a:rPr lang="en-US" altLang="zh-CN" sz="3200" b="1" dirty="0" err="1">
                <a:latin typeface="+mn-lt"/>
                <a:ea typeface="+mn-ea"/>
              </a:rPr>
              <a:t>int</a:t>
            </a:r>
            <a:r>
              <a:rPr lang="en-US" altLang="zh-CN" sz="3200" b="1" dirty="0">
                <a:latin typeface="+mn-lt"/>
                <a:ea typeface="+mn-ea"/>
              </a:rPr>
              <a:t> </a:t>
            </a:r>
            <a:r>
              <a:rPr lang="en-US" altLang="zh-CN" sz="3200" b="1" dirty="0" err="1">
                <a:latin typeface="+mn-lt"/>
                <a:ea typeface="+mn-ea"/>
              </a:rPr>
              <a:t>i,a</a:t>
            </a:r>
            <a:r>
              <a:rPr lang="en-US" altLang="zh-CN" sz="3200" b="1" dirty="0">
                <a:latin typeface="+mn-lt"/>
                <a:ea typeface="+mn-ea"/>
              </a:rPr>
              <a:t>[10]; 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     for(</a:t>
            </a:r>
            <a:r>
              <a:rPr lang="en-US" altLang="zh-CN" sz="3200" b="1" dirty="0" err="1">
                <a:latin typeface="+mn-lt"/>
                <a:ea typeface="+mn-ea"/>
              </a:rPr>
              <a:t>i</a:t>
            </a:r>
            <a:r>
              <a:rPr lang="en-US" altLang="zh-CN" sz="3200" b="1" dirty="0">
                <a:latin typeface="+mn-lt"/>
                <a:ea typeface="+mn-ea"/>
              </a:rPr>
              <a:t>=</a:t>
            </a: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+mn-ea"/>
              </a:rPr>
              <a:t>0</a:t>
            </a:r>
            <a:r>
              <a:rPr lang="en-US" altLang="zh-CN" sz="3200" b="1" dirty="0">
                <a:latin typeface="+mn-lt"/>
                <a:ea typeface="+mn-ea"/>
              </a:rPr>
              <a:t>;i&lt;=</a:t>
            </a: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+mn-ea"/>
              </a:rPr>
              <a:t>9</a:t>
            </a:r>
            <a:r>
              <a:rPr lang="en-US" altLang="zh-CN" sz="3200" b="1" dirty="0">
                <a:latin typeface="+mn-lt"/>
                <a:ea typeface="+mn-ea"/>
              </a:rPr>
              <a:t>;i++) 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        a[</a:t>
            </a:r>
            <a:r>
              <a:rPr lang="en-US" altLang="zh-CN" sz="3200" b="1" dirty="0" err="1">
                <a:latin typeface="+mn-lt"/>
                <a:ea typeface="+mn-ea"/>
              </a:rPr>
              <a:t>i</a:t>
            </a:r>
            <a:r>
              <a:rPr lang="en-US" altLang="zh-CN" sz="3200" b="1" dirty="0">
                <a:latin typeface="+mn-lt"/>
                <a:ea typeface="+mn-ea"/>
              </a:rPr>
              <a:t>]=</a:t>
            </a:r>
            <a:r>
              <a:rPr lang="en-US" altLang="zh-CN" sz="3200" b="1" dirty="0" err="1">
                <a:latin typeface="+mn-lt"/>
                <a:ea typeface="+mn-ea"/>
              </a:rPr>
              <a:t>i</a:t>
            </a:r>
            <a:r>
              <a:rPr lang="en-US" altLang="zh-CN" sz="3200" b="1" dirty="0">
                <a:latin typeface="+mn-lt"/>
                <a:ea typeface="+mn-ea"/>
              </a:rPr>
              <a:t>;                      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     for(</a:t>
            </a:r>
            <a:r>
              <a:rPr lang="en-US" altLang="zh-CN" sz="3200" b="1" dirty="0" err="1">
                <a:latin typeface="+mn-lt"/>
                <a:ea typeface="+mn-ea"/>
              </a:rPr>
              <a:t>i</a:t>
            </a:r>
            <a:r>
              <a:rPr lang="en-US" altLang="zh-CN" sz="3200" b="1" dirty="0">
                <a:latin typeface="+mn-lt"/>
                <a:ea typeface="+mn-ea"/>
              </a:rPr>
              <a:t>=</a:t>
            </a: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+mn-ea"/>
              </a:rPr>
              <a:t>9</a:t>
            </a:r>
            <a:r>
              <a:rPr lang="en-US" altLang="zh-CN" sz="3200" b="1" dirty="0">
                <a:latin typeface="+mn-lt"/>
                <a:ea typeface="+mn-ea"/>
              </a:rPr>
              <a:t>;i&gt;=</a:t>
            </a: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+mn-ea"/>
              </a:rPr>
              <a:t>0</a:t>
            </a:r>
            <a:r>
              <a:rPr lang="en-US" altLang="zh-CN" sz="3200" b="1" dirty="0">
                <a:latin typeface="+mn-lt"/>
                <a:ea typeface="+mn-ea"/>
              </a:rPr>
              <a:t>; </a:t>
            </a:r>
            <a:r>
              <a:rPr lang="en-US" altLang="zh-CN" sz="3200" b="1" dirty="0" err="1">
                <a:solidFill>
                  <a:srgbClr val="C00000"/>
                </a:solidFill>
                <a:latin typeface="+mn-lt"/>
                <a:ea typeface="+mn-ea"/>
              </a:rPr>
              <a:t>i</a:t>
            </a:r>
            <a:r>
              <a:rPr lang="en-US" altLang="zh-CN" sz="3200" b="1" dirty="0">
                <a:solidFill>
                  <a:srgbClr val="C00000"/>
                </a:solidFill>
                <a:latin typeface="+mn-lt"/>
                <a:ea typeface="+mn-ea"/>
              </a:rPr>
              <a:t>--</a:t>
            </a:r>
            <a:r>
              <a:rPr lang="en-US" altLang="zh-CN" sz="3200" b="1" dirty="0">
                <a:latin typeface="+mn-lt"/>
                <a:ea typeface="+mn-ea"/>
              </a:rPr>
              <a:t>)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        </a:t>
            </a:r>
            <a:r>
              <a:rPr lang="en-US" altLang="zh-CN" sz="3200" b="1" dirty="0" err="1">
                <a:latin typeface="+mn-lt"/>
                <a:ea typeface="+mn-ea"/>
              </a:rPr>
              <a:t>printf</a:t>
            </a:r>
            <a:r>
              <a:rPr lang="en-US" altLang="zh-CN" sz="3200" b="1" dirty="0">
                <a:latin typeface="+mn-lt"/>
                <a:ea typeface="+mn-ea"/>
              </a:rPr>
              <a:t>(</a:t>
            </a:r>
            <a:r>
              <a:rPr lang="en-US" altLang="zh-CN" sz="3200" b="1" dirty="0"/>
              <a:t>"</a:t>
            </a:r>
            <a:r>
              <a:rPr lang="en-US" altLang="zh-CN" sz="3200" b="1" dirty="0">
                <a:latin typeface="+mn-lt"/>
                <a:ea typeface="+mn-ea"/>
              </a:rPr>
              <a:t>%d </a:t>
            </a:r>
            <a:r>
              <a:rPr lang="en-US" altLang="zh-CN" sz="3200" b="1" dirty="0"/>
              <a:t>"</a:t>
            </a:r>
            <a:r>
              <a:rPr lang="en-US" altLang="zh-CN" sz="3200" b="1" dirty="0">
                <a:latin typeface="+mn-lt"/>
                <a:ea typeface="+mn-ea"/>
              </a:rPr>
              <a:t>,a[</a:t>
            </a:r>
            <a:r>
              <a:rPr lang="en-US" altLang="zh-CN" sz="3200" b="1" dirty="0" err="1">
                <a:latin typeface="+mn-lt"/>
                <a:ea typeface="+mn-ea"/>
              </a:rPr>
              <a:t>i</a:t>
            </a:r>
            <a:r>
              <a:rPr lang="en-US" altLang="zh-CN" sz="3200" b="1" dirty="0">
                <a:latin typeface="+mn-lt"/>
                <a:ea typeface="+mn-ea"/>
              </a:rPr>
              <a:t>]); 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     </a:t>
            </a:r>
            <a:r>
              <a:rPr lang="en-US" altLang="zh-CN" sz="3200" b="1" dirty="0" err="1">
                <a:latin typeface="+mn-lt"/>
                <a:ea typeface="+mn-ea"/>
              </a:rPr>
              <a:t>printf</a:t>
            </a:r>
            <a:r>
              <a:rPr lang="en-US" altLang="zh-CN" sz="3200" b="1" dirty="0">
                <a:latin typeface="+mn-lt"/>
                <a:ea typeface="+mn-ea"/>
              </a:rPr>
              <a:t>("\n");</a:t>
            </a: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     return 0;</a:t>
            </a:r>
            <a:endParaRPr lang="zh-CN" altLang="zh-CN" sz="3200" b="1" dirty="0"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3200" b="1" dirty="0">
                <a:latin typeface="+mn-lt"/>
                <a:ea typeface="+mn-ea"/>
              </a:rPr>
              <a:t>} </a:t>
            </a:r>
            <a:endParaRPr lang="zh-CN" altLang="zh-CN" sz="3200" b="1" dirty="0">
              <a:latin typeface="+mn-lt"/>
              <a:ea typeface="+mn-ea"/>
            </a:endParaRPr>
          </a:p>
        </p:txBody>
      </p:sp>
      <p:sp>
        <p:nvSpPr>
          <p:cNvPr id="6" name="流程图: 过程 5"/>
          <p:cNvSpPr>
            <a:spLocks noChangeArrowheads="1"/>
          </p:cNvSpPr>
          <p:nvPr/>
        </p:nvSpPr>
        <p:spPr bwMode="auto">
          <a:xfrm>
            <a:off x="1108627" y="1781373"/>
            <a:ext cx="3967429" cy="1071563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圆角矩形标注 7"/>
          <p:cNvSpPr>
            <a:spLocks noChangeArrowheads="1"/>
          </p:cNvSpPr>
          <p:nvPr/>
        </p:nvSpPr>
        <p:spPr bwMode="auto">
          <a:xfrm>
            <a:off x="5631620" y="1406153"/>
            <a:ext cx="2714625" cy="1071563"/>
          </a:xfrm>
          <a:prstGeom prst="wedgeRoundRectCallout">
            <a:avLst>
              <a:gd name="adj1" fmla="val -64287"/>
              <a:gd name="adj2" fmla="val 54134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使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a[0]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a[9]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～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9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538981" y="5715992"/>
          <a:ext cx="6238880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0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1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2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3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4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5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6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7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8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9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467544" y="5157192"/>
            <a:ext cx="671512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a[0]a[1]a[2]a[3]a[4]a[5]a[6]a[7]a[8]a[9]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流程图: 过程 10"/>
          <p:cNvSpPr>
            <a:spLocks noChangeArrowheads="1"/>
          </p:cNvSpPr>
          <p:nvPr/>
        </p:nvSpPr>
        <p:spPr bwMode="auto">
          <a:xfrm>
            <a:off x="1115616" y="2852936"/>
            <a:ext cx="3960440" cy="1008112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圆角矩形标注 11"/>
          <p:cNvSpPr>
            <a:spLocks noChangeArrowheads="1"/>
          </p:cNvSpPr>
          <p:nvPr/>
        </p:nvSpPr>
        <p:spPr bwMode="auto">
          <a:xfrm>
            <a:off x="5228531" y="3573016"/>
            <a:ext cx="3178175" cy="1071562"/>
          </a:xfrm>
          <a:prstGeom prst="wedgeRoundRectCallout">
            <a:avLst>
              <a:gd name="adj1" fmla="val -70002"/>
              <a:gd name="adj2" fmla="val -67053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先输出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a[9]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，最后输出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a[0]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725637" y="2833772"/>
            <a:ext cx="3211196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9 8 7 6 5 4 3 2 1 0</a:t>
            </a:r>
            <a:endParaRPr lang="zh-CN" altLang="en-US" sz="2800" b="1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/>
      <p:bldP spid="11" grpId="0" animBg="1"/>
      <p:bldP spid="12" grpId="0" animBg="1"/>
      <p:bldP spid="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73909" y="332656"/>
            <a:ext cx="8535988" cy="769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6.1.3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一维数组的初始化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048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23528" y="1124744"/>
            <a:ext cx="8606160" cy="35394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可以通过赋值或输入语句给数组元素赋值，也可以在定义时给出初值，即数组的初始化。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lvl="1">
              <a:lnSpc>
                <a:spcPct val="20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其一般形式为：</a:t>
            </a:r>
          </a:p>
          <a:p>
            <a:pPr lvl="1">
              <a:lnSpc>
                <a:spcPct val="200000"/>
              </a:lnSpc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类型名 数组名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]={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初值表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};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169742" y="404664"/>
            <a:ext cx="8534400" cy="17145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数组时对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数组元素赋初值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a[4]={1,2,3,4};  	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结果：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a[0]=1,a[1]=2,a[2]=3,a[3]=4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</a:p>
        </p:txBody>
      </p:sp>
      <p:sp>
        <p:nvSpPr>
          <p:cNvPr id="8196" name="Rectangle 4"/>
          <p:cNvSpPr>
            <a:spLocks noChangeArrowheads="1"/>
          </p:cNvSpPr>
          <p:nvPr/>
        </p:nvSpPr>
        <p:spPr bwMode="auto">
          <a:xfrm>
            <a:off x="179512" y="2521464"/>
            <a:ext cx="8153400" cy="220368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2800" b="1" dirty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数组元素赋初值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800" b="1" dirty="0"/>
              <a:t>：</a:t>
            </a:r>
            <a:r>
              <a:rPr lang="en-US" altLang="zh-CN" sz="2800" b="1" dirty="0"/>
              <a:t> </a:t>
            </a:r>
            <a:r>
              <a:rPr lang="en-US" altLang="zh-CN" sz="2800" b="1" dirty="0" err="1"/>
              <a:t>int</a:t>
            </a:r>
            <a:r>
              <a:rPr lang="en-US" altLang="zh-CN" sz="2800" b="1" dirty="0"/>
              <a:t> b[10]={1,2}; 	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solidFill>
                  <a:srgbClr val="0000FF"/>
                </a:solidFill>
              </a:rPr>
              <a:t>结果：</a:t>
            </a:r>
            <a:r>
              <a:rPr lang="en-US" altLang="zh-CN" sz="2800" b="1" dirty="0">
                <a:solidFill>
                  <a:srgbClr val="0000FF"/>
                </a:solidFill>
              </a:rPr>
              <a:t>b[0]=1,b[1]=2,b[2]=0,….b[9]=0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800" decel="100000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800" decel="1000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800" decel="1000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1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179512" y="332656"/>
            <a:ext cx="8895362" cy="46434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3.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对全部数组元素赋初值时，可以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不指定数组的长度。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c[5]={1,2,3,4,5}; 	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可以写成</a:t>
            </a:r>
          </a:p>
          <a:p>
            <a:pPr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c[ ]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＝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{1,2,3,4,5};</a:t>
            </a:r>
          </a:p>
          <a:p>
            <a:pPr marL="742950" lvl="1" indent="-285750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在第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种写法中，花括弧中有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个数，系统就会据此自动定义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数组的长度为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>
              <a:lnSpc>
                <a:spcPct val="150000"/>
              </a:lnSpc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若被定义数组长度与提供初值的个数不相同，则数组长度不能省略。</a:t>
            </a:r>
          </a:p>
          <a:p>
            <a:pPr marL="1143000" lvl="2" indent="-2286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altLang="zh-CN" sz="2800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a[10]={1,2,3,4};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3" y="332656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6.1.4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一维数组程序举例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999361"/>
            <a:ext cx="8606160" cy="2214562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6.2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用数组来处理求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Fibonacci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数列问题。</a:t>
            </a:r>
          </a:p>
        </p:txBody>
      </p:sp>
      <p:pic>
        <p:nvPicPr>
          <p:cNvPr id="2253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394107" y="1772816"/>
            <a:ext cx="8534152" cy="35034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解题思路：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5.8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中用简单变量处理的，缺点不能在内存中保存这些数。假如想直接输出数列中第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25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个数，是很困难的。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如果用数组处理，每一个数组元素代表数列中的一个数，依次求出各数并存放在相应的数组元素中。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3" y="332656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6.1.4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一维数组程序举例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23528" y="999361"/>
            <a:ext cx="8606160" cy="2214562"/>
          </a:xfrm>
        </p:spPr>
        <p:txBody>
          <a:bodyPr/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dirty="0"/>
              <a:t> 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6.2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用数组来处理求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Fibonacci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数列问题。</a:t>
            </a:r>
          </a:p>
        </p:txBody>
      </p:sp>
      <p:pic>
        <p:nvPicPr>
          <p:cNvPr id="2253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394107" y="1772816"/>
            <a:ext cx="8534152" cy="35034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/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解题思路：</a:t>
            </a:r>
            <a:endParaRPr lang="en-US" altLang="zh-CN" sz="28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建立一个数组，将数列第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个数放在数组第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个元素中，数列第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个数放在数组第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个元素中，…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</a:pPr>
            <a:r>
              <a:rPr lang="zh-CN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数组序号为</a:t>
            </a:r>
            <a:r>
              <a:rPr lang="en-US" altLang="zh-CN" sz="280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的元素的值是其前两个元素值之和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457200">
              <a:lnSpc>
                <a:spcPct val="150000"/>
              </a:lnSpc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即：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f[i]= f[i-2]+f[i-1]</a:t>
            </a:r>
            <a:endParaRPr lang="zh-CN" altLang="zh-CN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lnSpc>
                <a:spcPct val="150000"/>
              </a:lnSpc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用</a:t>
            </a:r>
            <a:r>
              <a:rPr lang="zh-CN" altLang="zh-CN" sz="280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循环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来求出数组各元素之和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905192" y="93663"/>
            <a:ext cx="7286625" cy="6143625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{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f[20]={1,1};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=2;i&lt;20;i++)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f[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]=f[i-2]+f[i-1];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=0;i&lt;20;i++)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{  if(i%5==0)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("\n”);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("%12d",f[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]);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}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return 0;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}</a:t>
            </a:r>
          </a:p>
        </p:txBody>
      </p:sp>
      <p:pic>
        <p:nvPicPr>
          <p:cNvPr id="2457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5194301" y="1698977"/>
            <a:ext cx="35004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f[0]</a:t>
            </a:r>
            <a:r>
              <a:rPr lang="zh-CN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f[1]</a:t>
            </a:r>
            <a:r>
              <a:rPr lang="zh-CN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  <a:r>
              <a:rPr lang="en-US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1,1</a:t>
            </a:r>
            <a:endParaRPr lang="zh-CN" altLang="en-US" sz="2800" b="1" dirty="0">
              <a:solidFill>
                <a:srgbClr val="9D138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076056" y="2060848"/>
            <a:ext cx="35004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求</a:t>
            </a:r>
            <a:r>
              <a:rPr lang="en-US" altLang="zh-CN" sz="2800" b="1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f[2]</a:t>
            </a:r>
            <a:r>
              <a:rPr lang="zh-CN" altLang="zh-CN" sz="2800" b="1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f[19]</a:t>
            </a:r>
            <a:r>
              <a:rPr lang="zh-CN" altLang="zh-CN" sz="2800" b="1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的值</a:t>
            </a:r>
            <a:endParaRPr lang="zh-CN" altLang="en-US" sz="2800" b="1">
              <a:solidFill>
                <a:srgbClr val="9D138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786438" y="3697868"/>
            <a:ext cx="2714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每行输出</a:t>
            </a:r>
            <a:r>
              <a:rPr lang="en-US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zh-CN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endParaRPr lang="zh-CN" altLang="en-US" sz="2800" b="1" dirty="0">
              <a:solidFill>
                <a:srgbClr val="9D138D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06290" y="-27384"/>
            <a:ext cx="8286750" cy="2062163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 marL="514350" indent="-5143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C00000"/>
                </a:solidFill>
              </a:rPr>
              <a:t>      1              1              2             3              5 </a:t>
            </a:r>
            <a:endParaRPr lang="zh-CN" altLang="zh-CN" sz="3200" b="1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sz="3200" b="1">
                <a:solidFill>
                  <a:srgbClr val="C00000"/>
                </a:solidFill>
              </a:rPr>
              <a:t>      8            13            21           34            55</a:t>
            </a:r>
            <a:endParaRPr lang="zh-CN" altLang="zh-CN" sz="3200" b="1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sz="3200" b="1">
                <a:solidFill>
                  <a:srgbClr val="C00000"/>
                </a:solidFill>
              </a:rPr>
              <a:t>    89          144          233         377          610</a:t>
            </a:r>
            <a:endParaRPr lang="zh-CN" altLang="zh-CN" sz="3200" b="1">
              <a:solidFill>
                <a:srgbClr val="C00000"/>
              </a:solidFill>
            </a:endParaRPr>
          </a:p>
          <a:p>
            <a:pPr eaLnBrk="1" hangingPunct="1"/>
            <a:r>
              <a:rPr lang="en-US" altLang="zh-CN" sz="3200" b="1">
                <a:solidFill>
                  <a:srgbClr val="C00000"/>
                </a:solidFill>
              </a:rPr>
              <a:t>  987        1597        2584        4181       6765</a:t>
            </a:r>
            <a:endParaRPr lang="zh-CN" altLang="en-US" sz="3200" b="1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194300" y="4725144"/>
            <a:ext cx="35004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如何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单独输出第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个数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？</a:t>
            </a:r>
            <a:endParaRPr lang="zh-CN" altLang="en-US" b="1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74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1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2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2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6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7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8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7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8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CC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9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1" grpId="0" build="p"/>
      <p:bldP spid="4" grpId="0"/>
      <p:bldP spid="5" grpId="0"/>
      <p:bldP spid="6" grpId="0"/>
      <p:bldP spid="8" grpId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79512" y="476672"/>
            <a:ext cx="8750176" cy="4643438"/>
          </a:xfrm>
        </p:spPr>
        <p:txBody>
          <a:bodyPr/>
          <a:lstStyle/>
          <a:p>
            <a:pPr marL="0" indent="0"/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6.3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个地区的面积，要求对它们按由小到大的顺序排列。</a:t>
            </a:r>
          </a:p>
          <a:p>
            <a:pPr marL="0" indent="0">
              <a:lnSpc>
                <a:spcPct val="150000"/>
              </a:lnSpc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解题思路：</a:t>
            </a:r>
          </a:p>
          <a:p>
            <a:pPr marL="0" lvl="1" indent="0">
              <a:lnSpc>
                <a:spcPct val="150000"/>
              </a:lnSpc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排序的规律有两种：一种是“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升序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从小到大；另一种是“</a:t>
            </a:r>
            <a:r>
              <a:rPr lang="zh-CN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降序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”，从大到小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0">
              <a:lnSpc>
                <a:spcPct val="150000"/>
              </a:lnSpc>
            </a:pP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把题目抽象为：“对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个数按升序排序”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0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采用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起泡法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排序。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662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286000" y="171132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  <a:endParaRPr lang="zh-CN" altLang="zh-CN" sz="3200" b="1">
              <a:latin typeface="Verdana" panose="020B0604030504040204" pitchFamily="34" charset="0"/>
            </a:endParaRPr>
          </a:p>
        </p:txBody>
      </p:sp>
      <p:sp>
        <p:nvSpPr>
          <p:cNvPr id="6" name="流程图: 过程 5"/>
          <p:cNvSpPr>
            <a:spLocks noChangeArrowheads="1"/>
          </p:cNvSpPr>
          <p:nvPr/>
        </p:nvSpPr>
        <p:spPr bwMode="auto">
          <a:xfrm>
            <a:off x="2214563" y="1711325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7" name="任意多边形 6"/>
          <p:cNvSpPr/>
          <p:nvPr/>
        </p:nvSpPr>
        <p:spPr bwMode="auto">
          <a:xfrm>
            <a:off x="2660650" y="2024063"/>
            <a:ext cx="220663" cy="739775"/>
          </a:xfrm>
          <a:custGeom>
            <a:avLst/>
            <a:gdLst>
              <a:gd name="T0" fmla="*/ 49395 w 221293"/>
              <a:gd name="T1" fmla="*/ 742738 h 739036"/>
              <a:gd name="T2" fmla="*/ 209929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3357563" y="171132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 dirty="0">
                <a:latin typeface="Verdana" panose="020B0604030504040204" pitchFamily="34" charset="0"/>
              </a:rPr>
              <a:t>0</a:t>
            </a:r>
            <a:endParaRPr lang="zh-CN" altLang="zh-CN" sz="3200" b="1" dirty="0">
              <a:latin typeface="Verdana" panose="020B0604030504040204" pitchFamily="34" charset="0"/>
            </a:endParaRPr>
          </a:p>
        </p:txBody>
      </p:sp>
      <p:sp>
        <p:nvSpPr>
          <p:cNvPr id="9" name="流程图: 过程 8"/>
          <p:cNvSpPr>
            <a:spLocks noChangeArrowheads="1"/>
          </p:cNvSpPr>
          <p:nvPr/>
        </p:nvSpPr>
        <p:spPr bwMode="auto">
          <a:xfrm>
            <a:off x="3286125" y="2497138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任意多边形 9"/>
          <p:cNvSpPr/>
          <p:nvPr/>
        </p:nvSpPr>
        <p:spPr bwMode="auto">
          <a:xfrm>
            <a:off x="3732213" y="2809875"/>
            <a:ext cx="220662" cy="739775"/>
          </a:xfrm>
          <a:custGeom>
            <a:avLst/>
            <a:gdLst>
              <a:gd name="T0" fmla="*/ 49394 w 221293"/>
              <a:gd name="T1" fmla="*/ 742738 h 739036"/>
              <a:gd name="T2" fmla="*/ 209924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357688" y="171450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  <a:endParaRPr lang="zh-CN" altLang="zh-CN" sz="3200" b="1">
              <a:latin typeface="Verdana" panose="020B0604030504040204" pitchFamily="34" charset="0"/>
            </a:endParaRPr>
          </a:p>
        </p:txBody>
      </p:sp>
      <p:sp>
        <p:nvSpPr>
          <p:cNvPr id="12" name="流程图: 过程 11"/>
          <p:cNvSpPr>
            <a:spLocks noChangeArrowheads="1"/>
          </p:cNvSpPr>
          <p:nvPr/>
        </p:nvSpPr>
        <p:spPr bwMode="auto">
          <a:xfrm>
            <a:off x="4286250" y="3140075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3" name="任意多边形 12"/>
          <p:cNvSpPr/>
          <p:nvPr/>
        </p:nvSpPr>
        <p:spPr bwMode="auto">
          <a:xfrm>
            <a:off x="4732338" y="3452813"/>
            <a:ext cx="220662" cy="739775"/>
          </a:xfrm>
          <a:custGeom>
            <a:avLst/>
            <a:gdLst>
              <a:gd name="T0" fmla="*/ 49394 w 221293"/>
              <a:gd name="T1" fmla="*/ 742738 h 739036"/>
              <a:gd name="T2" fmla="*/ 209924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5286375" y="171132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  <a:endParaRPr lang="zh-CN" altLang="zh-CN" sz="3200" b="1">
              <a:latin typeface="Verdana" panose="020B0604030504040204" pitchFamily="34" charset="0"/>
            </a:endParaRPr>
          </a:p>
        </p:txBody>
      </p:sp>
      <p:sp>
        <p:nvSpPr>
          <p:cNvPr id="15" name="流程图: 过程 14"/>
          <p:cNvSpPr>
            <a:spLocks noChangeArrowheads="1"/>
          </p:cNvSpPr>
          <p:nvPr/>
        </p:nvSpPr>
        <p:spPr bwMode="auto">
          <a:xfrm>
            <a:off x="5214938" y="3854450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任意多边形 15"/>
          <p:cNvSpPr/>
          <p:nvPr/>
        </p:nvSpPr>
        <p:spPr bwMode="auto">
          <a:xfrm>
            <a:off x="5661025" y="4167188"/>
            <a:ext cx="220663" cy="739775"/>
          </a:xfrm>
          <a:custGeom>
            <a:avLst/>
            <a:gdLst>
              <a:gd name="T0" fmla="*/ 49395 w 221293"/>
              <a:gd name="T1" fmla="*/ 742738 h 739036"/>
              <a:gd name="T2" fmla="*/ 209929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Rectangle 3"/>
          <p:cNvSpPr txBox="1">
            <a:spLocks noChangeArrowheads="1"/>
          </p:cNvSpPr>
          <p:nvPr/>
        </p:nvSpPr>
        <p:spPr bwMode="auto">
          <a:xfrm>
            <a:off x="6357938" y="171132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  <a:endParaRPr lang="zh-CN" altLang="zh-CN" sz="3200" b="1">
              <a:latin typeface="Verdana" panose="020B0604030504040204" pitchFamily="34" charset="0"/>
            </a:endParaRPr>
          </a:p>
        </p:txBody>
      </p:sp>
      <p:sp>
        <p:nvSpPr>
          <p:cNvPr id="18" name="流程图: 过程 17"/>
          <p:cNvSpPr>
            <a:spLocks noChangeArrowheads="1"/>
          </p:cNvSpPr>
          <p:nvPr/>
        </p:nvSpPr>
        <p:spPr bwMode="auto">
          <a:xfrm>
            <a:off x="6286500" y="4497388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任意多边形 18"/>
          <p:cNvSpPr/>
          <p:nvPr/>
        </p:nvSpPr>
        <p:spPr bwMode="auto">
          <a:xfrm>
            <a:off x="6732588" y="4810125"/>
            <a:ext cx="220662" cy="739775"/>
          </a:xfrm>
          <a:custGeom>
            <a:avLst/>
            <a:gdLst>
              <a:gd name="T0" fmla="*/ 49394 w 221293"/>
              <a:gd name="T1" fmla="*/ 742738 h 739036"/>
              <a:gd name="T2" fmla="*/ 209924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Rectangle 3"/>
          <p:cNvSpPr txBox="1">
            <a:spLocks noChangeArrowheads="1"/>
          </p:cNvSpPr>
          <p:nvPr/>
        </p:nvSpPr>
        <p:spPr bwMode="auto">
          <a:xfrm>
            <a:off x="7429500" y="171132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21" name="流程图: 过程 20"/>
          <p:cNvSpPr>
            <a:spLocks noChangeArrowheads="1"/>
          </p:cNvSpPr>
          <p:nvPr/>
        </p:nvSpPr>
        <p:spPr bwMode="auto">
          <a:xfrm>
            <a:off x="7358063" y="5140325"/>
            <a:ext cx="571500" cy="642938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圆角矩形标注 21"/>
          <p:cNvSpPr>
            <a:spLocks noChangeArrowheads="1"/>
          </p:cNvSpPr>
          <p:nvPr/>
        </p:nvSpPr>
        <p:spPr bwMode="auto">
          <a:xfrm>
            <a:off x="3929063" y="6000750"/>
            <a:ext cx="4286250" cy="571500"/>
          </a:xfrm>
          <a:prstGeom prst="wedgeRoundRectCallout">
            <a:avLst>
              <a:gd name="adj1" fmla="val 30185"/>
              <a:gd name="adj2" fmla="val -98245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pPr algn="ctr"/>
            <a:r>
              <a:rPr lang="zh-CN" altLang="en-US" sz="32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大数沉淀，小数起泡</a:t>
            </a:r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642938" y="1643063"/>
            <a:ext cx="1357312" cy="41433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a[1]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a[2]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a[3]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a[4]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a[5]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071688" y="71438"/>
            <a:ext cx="5926137" cy="15541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for(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=0;i&lt;</a:t>
            </a:r>
            <a:r>
              <a:rPr lang="en-US" altLang="zh-CN" sz="3200" b="1" dirty="0">
                <a:solidFill>
                  <a:srgbClr val="FF0000"/>
                </a:solidFill>
              </a:rPr>
              <a:t>5</a:t>
            </a:r>
            <a:r>
              <a:rPr lang="en-US" altLang="zh-CN" sz="3200" b="1" dirty="0"/>
              <a:t>;i++)                   </a:t>
            </a:r>
          </a:p>
          <a:p>
            <a:pPr eaLnBrk="1" hangingPunct="1"/>
            <a:r>
              <a:rPr lang="en-US" altLang="zh-CN" sz="3200" b="1" dirty="0"/>
              <a:t>    if (a[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]&gt;a[i+1])     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    { t=a[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];a[</a:t>
            </a:r>
            <a:r>
              <a:rPr lang="en-US" altLang="zh-CN" sz="3200" b="1" dirty="0" err="1"/>
              <a:t>i</a:t>
            </a:r>
            <a:r>
              <a:rPr lang="en-US" altLang="zh-CN" sz="3200" b="1" dirty="0"/>
              <a:t>]=a[i+1];a[i+1]=t; }</a:t>
            </a:r>
            <a:endParaRPr lang="zh-CN" altLang="en-US" sz="3200" b="1" dirty="0"/>
          </a:p>
        </p:txBody>
      </p:sp>
      <p:sp>
        <p:nvSpPr>
          <p:cNvPr id="2" name="TextBox 1"/>
          <p:cNvSpPr txBox="1"/>
          <p:nvPr/>
        </p:nvSpPr>
        <p:spPr>
          <a:xfrm>
            <a:off x="323528" y="548680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第一趟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 animBg="1"/>
      <p:bldP spid="10" grpId="0" animBg="1"/>
      <p:bldP spid="11" grpId="0"/>
      <p:bldP spid="12" grpId="0" animBg="1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  <p:bldP spid="22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Rectangle 3"/>
          <p:cNvSpPr txBox="1">
            <a:spLocks noChangeArrowheads="1"/>
          </p:cNvSpPr>
          <p:nvPr/>
        </p:nvSpPr>
        <p:spPr bwMode="auto">
          <a:xfrm>
            <a:off x="2928938" y="199707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cxnSp>
        <p:nvCxnSpPr>
          <p:cNvPr id="26" name="直接连接符 25"/>
          <p:cNvCxnSpPr>
            <a:cxnSpLocks noChangeShapeType="1"/>
          </p:cNvCxnSpPr>
          <p:nvPr/>
        </p:nvCxnSpPr>
        <p:spPr bwMode="auto">
          <a:xfrm>
            <a:off x="2357438" y="5429250"/>
            <a:ext cx="578643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"/>
          <p:cNvSpPr txBox="1">
            <a:spLocks noChangeArrowheads="1"/>
          </p:cNvSpPr>
          <p:nvPr/>
        </p:nvSpPr>
        <p:spPr bwMode="auto">
          <a:xfrm>
            <a:off x="3857625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28" name="流程图: 过程 27"/>
          <p:cNvSpPr>
            <a:spLocks noChangeArrowheads="1"/>
          </p:cNvSpPr>
          <p:nvPr/>
        </p:nvSpPr>
        <p:spPr bwMode="auto">
          <a:xfrm>
            <a:off x="2928938" y="1997075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任意多边形 28"/>
          <p:cNvSpPr/>
          <p:nvPr/>
        </p:nvSpPr>
        <p:spPr bwMode="auto">
          <a:xfrm>
            <a:off x="3375025" y="2309813"/>
            <a:ext cx="220663" cy="739775"/>
          </a:xfrm>
          <a:custGeom>
            <a:avLst/>
            <a:gdLst>
              <a:gd name="T0" fmla="*/ 49395 w 221293"/>
              <a:gd name="T1" fmla="*/ 742738 h 739036"/>
              <a:gd name="T2" fmla="*/ 209929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0" name="流程图: 过程 29"/>
          <p:cNvSpPr>
            <a:spLocks noChangeArrowheads="1"/>
          </p:cNvSpPr>
          <p:nvPr/>
        </p:nvSpPr>
        <p:spPr bwMode="auto">
          <a:xfrm>
            <a:off x="3786188" y="2643188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任意多边形 30"/>
          <p:cNvSpPr/>
          <p:nvPr/>
        </p:nvSpPr>
        <p:spPr bwMode="auto">
          <a:xfrm>
            <a:off x="4232275" y="2957513"/>
            <a:ext cx="220663" cy="738187"/>
          </a:xfrm>
          <a:custGeom>
            <a:avLst/>
            <a:gdLst>
              <a:gd name="T0" fmla="*/ 49395 w 221293"/>
              <a:gd name="T1" fmla="*/ 734801 h 739036"/>
              <a:gd name="T2" fmla="*/ 209929 w 221293"/>
              <a:gd name="T3" fmla="*/ 29890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2" name="Rectangle 3"/>
          <p:cNvSpPr txBox="1">
            <a:spLocks noChangeArrowheads="1"/>
          </p:cNvSpPr>
          <p:nvPr/>
        </p:nvSpPr>
        <p:spPr bwMode="auto">
          <a:xfrm>
            <a:off x="4786313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33" name="流程图: 过程 32"/>
          <p:cNvSpPr>
            <a:spLocks noChangeArrowheads="1"/>
          </p:cNvSpPr>
          <p:nvPr/>
        </p:nvSpPr>
        <p:spPr bwMode="auto">
          <a:xfrm>
            <a:off x="4714875" y="3429000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4" name="任意多边形 33"/>
          <p:cNvSpPr/>
          <p:nvPr/>
        </p:nvSpPr>
        <p:spPr bwMode="auto">
          <a:xfrm>
            <a:off x="5160963" y="3743325"/>
            <a:ext cx="220662" cy="738188"/>
          </a:xfrm>
          <a:custGeom>
            <a:avLst/>
            <a:gdLst>
              <a:gd name="T0" fmla="*/ 49394 w 221293"/>
              <a:gd name="T1" fmla="*/ 734806 h 739036"/>
              <a:gd name="T2" fmla="*/ 209924 w 221293"/>
              <a:gd name="T3" fmla="*/ 298904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5" name="Rectangle 3"/>
          <p:cNvSpPr txBox="1">
            <a:spLocks noChangeArrowheads="1"/>
          </p:cNvSpPr>
          <p:nvPr/>
        </p:nvSpPr>
        <p:spPr bwMode="auto">
          <a:xfrm>
            <a:off x="5857875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36" name="流程图: 过程 35"/>
          <p:cNvSpPr>
            <a:spLocks noChangeArrowheads="1"/>
          </p:cNvSpPr>
          <p:nvPr/>
        </p:nvSpPr>
        <p:spPr bwMode="auto">
          <a:xfrm>
            <a:off x="5786438" y="4071938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7" name="任意多边形 36"/>
          <p:cNvSpPr/>
          <p:nvPr/>
        </p:nvSpPr>
        <p:spPr bwMode="auto">
          <a:xfrm>
            <a:off x="6232525" y="4386263"/>
            <a:ext cx="220663" cy="738187"/>
          </a:xfrm>
          <a:custGeom>
            <a:avLst/>
            <a:gdLst>
              <a:gd name="T0" fmla="*/ 49395 w 221293"/>
              <a:gd name="T1" fmla="*/ 734801 h 739036"/>
              <a:gd name="T2" fmla="*/ 209929 w 221293"/>
              <a:gd name="T3" fmla="*/ 29890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38" name="Rectangle 3"/>
          <p:cNvSpPr txBox="1">
            <a:spLocks noChangeArrowheads="1"/>
          </p:cNvSpPr>
          <p:nvPr/>
        </p:nvSpPr>
        <p:spPr bwMode="auto">
          <a:xfrm>
            <a:off x="6858000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39" name="流程图: 过程 38"/>
          <p:cNvSpPr>
            <a:spLocks noChangeArrowheads="1"/>
          </p:cNvSpPr>
          <p:nvPr/>
        </p:nvSpPr>
        <p:spPr bwMode="auto">
          <a:xfrm>
            <a:off x="6786563" y="4714875"/>
            <a:ext cx="571500" cy="642938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0" name="Rectangle 3"/>
          <p:cNvSpPr txBox="1">
            <a:spLocks noChangeArrowheads="1"/>
          </p:cNvSpPr>
          <p:nvPr/>
        </p:nvSpPr>
        <p:spPr bwMode="auto">
          <a:xfrm>
            <a:off x="1143000" y="2000250"/>
            <a:ext cx="1357313" cy="41433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a[1]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a[2]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a[3]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a[4]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a[5]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071688" y="215900"/>
            <a:ext cx="5926137" cy="155416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for(i=0;i&lt;</a:t>
            </a:r>
            <a:r>
              <a:rPr lang="en-US" altLang="zh-CN" sz="3200" b="1">
                <a:solidFill>
                  <a:srgbClr val="FF0000"/>
                </a:solidFill>
              </a:rPr>
              <a:t>4</a:t>
            </a:r>
            <a:r>
              <a:rPr lang="en-US" altLang="zh-CN" sz="3200" b="1"/>
              <a:t>;i++)                   </a:t>
            </a:r>
          </a:p>
          <a:p>
            <a:pPr eaLnBrk="1" hangingPunct="1"/>
            <a:r>
              <a:rPr lang="en-US" altLang="zh-CN" sz="3200" b="1"/>
              <a:t>    if (a[i]&gt;a[i+1])     </a:t>
            </a:r>
            <a:endParaRPr lang="zh-CN" altLang="zh-CN" sz="3200" b="1"/>
          </a:p>
          <a:p>
            <a:pPr eaLnBrk="1" hangingPunct="1"/>
            <a:r>
              <a:rPr lang="en-US" altLang="zh-CN" sz="3200" b="1"/>
              <a:t>    { t=a[i];a[i]=a[i+1];a[i+1]=t; }</a:t>
            </a:r>
            <a:endParaRPr lang="zh-CN" altLang="en-US" sz="3200" b="1"/>
          </a:p>
        </p:txBody>
      </p:sp>
      <p:sp>
        <p:nvSpPr>
          <p:cNvPr id="20" name="TextBox 19"/>
          <p:cNvSpPr txBox="1"/>
          <p:nvPr/>
        </p:nvSpPr>
        <p:spPr>
          <a:xfrm>
            <a:off x="323528" y="548680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第二趟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 animBg="1"/>
      <p:bldP spid="30" grpId="0" animBg="1"/>
      <p:bldP spid="31" grpId="0" animBg="1"/>
      <p:bldP spid="32" grpId="0"/>
      <p:bldP spid="33" grpId="0" animBg="1"/>
      <p:bldP spid="34" grpId="0" animBg="1"/>
      <p:bldP spid="35" grpId="0"/>
      <p:bldP spid="36" grpId="0" animBg="1"/>
      <p:bldP spid="37" grpId="0" animBg="1"/>
      <p:bldP spid="38" grpId="0"/>
      <p:bldP spid="39" grpId="0" animBg="1"/>
      <p:bldP spid="41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0" name="直接连接符 19"/>
          <p:cNvCxnSpPr>
            <a:cxnSpLocks noChangeShapeType="1"/>
          </p:cNvCxnSpPr>
          <p:nvPr/>
        </p:nvCxnSpPr>
        <p:spPr bwMode="auto">
          <a:xfrm>
            <a:off x="2786063" y="4714875"/>
            <a:ext cx="514350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3571875" y="1928813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22" name="流程图: 过程 21"/>
          <p:cNvSpPr>
            <a:spLocks noChangeArrowheads="1"/>
          </p:cNvSpPr>
          <p:nvPr/>
        </p:nvSpPr>
        <p:spPr bwMode="auto">
          <a:xfrm>
            <a:off x="3548063" y="1925638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任意多边形 22"/>
          <p:cNvSpPr/>
          <p:nvPr/>
        </p:nvSpPr>
        <p:spPr bwMode="auto">
          <a:xfrm>
            <a:off x="3994150" y="2238375"/>
            <a:ext cx="220663" cy="739775"/>
          </a:xfrm>
          <a:custGeom>
            <a:avLst/>
            <a:gdLst>
              <a:gd name="T0" fmla="*/ 49395 w 221293"/>
              <a:gd name="T1" fmla="*/ 742738 h 739036"/>
              <a:gd name="T2" fmla="*/ 209929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Rectangle 3"/>
          <p:cNvSpPr txBox="1">
            <a:spLocks noChangeArrowheads="1"/>
          </p:cNvSpPr>
          <p:nvPr/>
        </p:nvSpPr>
        <p:spPr bwMode="auto">
          <a:xfrm>
            <a:off x="4572000" y="1928813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42" name="流程图: 过程 41"/>
          <p:cNvSpPr>
            <a:spLocks noChangeArrowheads="1"/>
          </p:cNvSpPr>
          <p:nvPr/>
        </p:nvSpPr>
        <p:spPr bwMode="auto">
          <a:xfrm>
            <a:off x="4548188" y="2643188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3" name="任意多边形 42"/>
          <p:cNvSpPr/>
          <p:nvPr/>
        </p:nvSpPr>
        <p:spPr bwMode="auto">
          <a:xfrm>
            <a:off x="4994275" y="2957513"/>
            <a:ext cx="220663" cy="738187"/>
          </a:xfrm>
          <a:custGeom>
            <a:avLst/>
            <a:gdLst>
              <a:gd name="T0" fmla="*/ 49395 w 221293"/>
              <a:gd name="T1" fmla="*/ 734801 h 739036"/>
              <a:gd name="T2" fmla="*/ 209929 w 221293"/>
              <a:gd name="T3" fmla="*/ 29890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4" name="Rectangle 3"/>
          <p:cNvSpPr txBox="1">
            <a:spLocks noChangeArrowheads="1"/>
          </p:cNvSpPr>
          <p:nvPr/>
        </p:nvSpPr>
        <p:spPr bwMode="auto">
          <a:xfrm>
            <a:off x="5643563" y="1928813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45" name="流程图: 过程 44"/>
          <p:cNvSpPr>
            <a:spLocks noChangeArrowheads="1"/>
          </p:cNvSpPr>
          <p:nvPr/>
        </p:nvSpPr>
        <p:spPr bwMode="auto">
          <a:xfrm>
            <a:off x="5619750" y="3286125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6" name="任意多边形 45"/>
          <p:cNvSpPr/>
          <p:nvPr/>
        </p:nvSpPr>
        <p:spPr bwMode="auto">
          <a:xfrm>
            <a:off x="6065838" y="3600450"/>
            <a:ext cx="220662" cy="738188"/>
          </a:xfrm>
          <a:custGeom>
            <a:avLst/>
            <a:gdLst>
              <a:gd name="T0" fmla="*/ 49394 w 221293"/>
              <a:gd name="T1" fmla="*/ 734806 h 739036"/>
              <a:gd name="T2" fmla="*/ 209924 w 221293"/>
              <a:gd name="T3" fmla="*/ 298904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47" name="Rectangle 3"/>
          <p:cNvSpPr txBox="1">
            <a:spLocks noChangeArrowheads="1"/>
          </p:cNvSpPr>
          <p:nvPr/>
        </p:nvSpPr>
        <p:spPr bwMode="auto">
          <a:xfrm>
            <a:off x="6667500" y="1928813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48" name="流程图: 过程 47"/>
          <p:cNvSpPr>
            <a:spLocks noChangeArrowheads="1"/>
          </p:cNvSpPr>
          <p:nvPr/>
        </p:nvSpPr>
        <p:spPr bwMode="auto">
          <a:xfrm>
            <a:off x="6643688" y="4000500"/>
            <a:ext cx="571500" cy="571500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9" name="Rectangle 3"/>
          <p:cNvSpPr txBox="1">
            <a:spLocks noChangeArrowheads="1"/>
          </p:cNvSpPr>
          <p:nvPr/>
        </p:nvSpPr>
        <p:spPr bwMode="auto">
          <a:xfrm>
            <a:off x="1357313" y="1857375"/>
            <a:ext cx="1357312" cy="41433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a[1]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a[2]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a[3]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a[4]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a[5]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2071688" y="73025"/>
            <a:ext cx="5983287" cy="1570038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for(i=0;i&lt;</a:t>
            </a:r>
            <a:r>
              <a:rPr lang="en-US" altLang="zh-CN" sz="3200" b="1">
                <a:solidFill>
                  <a:srgbClr val="FF0000"/>
                </a:solidFill>
              </a:rPr>
              <a:t>3</a:t>
            </a:r>
            <a:r>
              <a:rPr lang="en-US" altLang="zh-CN" sz="3200" b="1"/>
              <a:t>;i++)                   </a:t>
            </a:r>
          </a:p>
          <a:p>
            <a:pPr eaLnBrk="1" hangingPunct="1"/>
            <a:r>
              <a:rPr lang="en-US" altLang="zh-CN" sz="3200" b="1"/>
              <a:t>    if (a[i]&gt;a[i+1])     </a:t>
            </a:r>
            <a:endParaRPr lang="zh-CN" altLang="zh-CN" sz="3200" b="1"/>
          </a:p>
          <a:p>
            <a:pPr eaLnBrk="1" hangingPunct="1"/>
            <a:r>
              <a:rPr lang="en-US" altLang="zh-CN" sz="3200" b="1"/>
              <a:t>    { t=a[i];a[i]=a[i+1];a[i+1]=t; }</a:t>
            </a:r>
            <a:endParaRPr lang="zh-CN" altLang="en-US" sz="3200" b="1"/>
          </a:p>
        </p:txBody>
      </p:sp>
      <p:sp>
        <p:nvSpPr>
          <p:cNvPr id="17" name="TextBox 16"/>
          <p:cNvSpPr txBox="1"/>
          <p:nvPr/>
        </p:nvSpPr>
        <p:spPr>
          <a:xfrm>
            <a:off x="323528" y="548680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第三趟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/>
      <p:bldP spid="42" grpId="0" animBg="1"/>
      <p:bldP spid="43" grpId="0" animBg="1"/>
      <p:bldP spid="44" grpId="0"/>
      <p:bldP spid="45" grpId="0" animBg="1"/>
      <p:bldP spid="46" grpId="0" animBg="1"/>
      <p:bldP spid="47" grpId="0"/>
      <p:bldP spid="48" grpId="0" animBg="1"/>
      <p:bldP spid="5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7" name="直接连接符 16"/>
          <p:cNvCxnSpPr>
            <a:cxnSpLocks noChangeShapeType="1"/>
          </p:cNvCxnSpPr>
          <p:nvPr/>
        </p:nvCxnSpPr>
        <p:spPr bwMode="auto">
          <a:xfrm>
            <a:off x="3000375" y="4000500"/>
            <a:ext cx="4286250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3738563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19" name="流程图: 过程 18"/>
          <p:cNvSpPr>
            <a:spLocks noChangeArrowheads="1"/>
          </p:cNvSpPr>
          <p:nvPr/>
        </p:nvSpPr>
        <p:spPr bwMode="auto">
          <a:xfrm>
            <a:off x="3714750" y="1997075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5" name="任意多边形 24"/>
          <p:cNvSpPr/>
          <p:nvPr/>
        </p:nvSpPr>
        <p:spPr bwMode="auto">
          <a:xfrm>
            <a:off x="4160838" y="2309813"/>
            <a:ext cx="220662" cy="739775"/>
          </a:xfrm>
          <a:custGeom>
            <a:avLst/>
            <a:gdLst>
              <a:gd name="T0" fmla="*/ 49394 w 221293"/>
              <a:gd name="T1" fmla="*/ 742738 h 739036"/>
              <a:gd name="T2" fmla="*/ 209924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6" name="Rectangle 3"/>
          <p:cNvSpPr txBox="1">
            <a:spLocks noChangeArrowheads="1"/>
          </p:cNvSpPr>
          <p:nvPr/>
        </p:nvSpPr>
        <p:spPr bwMode="auto">
          <a:xfrm>
            <a:off x="4857750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27" name="流程图: 过程 26"/>
          <p:cNvSpPr>
            <a:spLocks noChangeArrowheads="1"/>
          </p:cNvSpPr>
          <p:nvPr/>
        </p:nvSpPr>
        <p:spPr bwMode="auto">
          <a:xfrm>
            <a:off x="4857750" y="2714625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8" name="任意多边形 27"/>
          <p:cNvSpPr/>
          <p:nvPr/>
        </p:nvSpPr>
        <p:spPr bwMode="auto">
          <a:xfrm>
            <a:off x="5303838" y="3028950"/>
            <a:ext cx="220662" cy="738188"/>
          </a:xfrm>
          <a:custGeom>
            <a:avLst/>
            <a:gdLst>
              <a:gd name="T0" fmla="*/ 49394 w 221293"/>
              <a:gd name="T1" fmla="*/ 734806 h 739036"/>
              <a:gd name="T2" fmla="*/ 209924 w 221293"/>
              <a:gd name="T3" fmla="*/ 298904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9" name="Rectangle 3"/>
          <p:cNvSpPr txBox="1">
            <a:spLocks noChangeArrowheads="1"/>
          </p:cNvSpPr>
          <p:nvPr/>
        </p:nvSpPr>
        <p:spPr bwMode="auto">
          <a:xfrm>
            <a:off x="5929313" y="2000250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30" name="流程图: 过程 29"/>
          <p:cNvSpPr>
            <a:spLocks noChangeArrowheads="1"/>
          </p:cNvSpPr>
          <p:nvPr/>
        </p:nvSpPr>
        <p:spPr bwMode="auto">
          <a:xfrm>
            <a:off x="5929313" y="3289300"/>
            <a:ext cx="571500" cy="639763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31" name="Rectangle 3"/>
          <p:cNvSpPr txBox="1">
            <a:spLocks noChangeArrowheads="1"/>
          </p:cNvSpPr>
          <p:nvPr/>
        </p:nvSpPr>
        <p:spPr bwMode="auto">
          <a:xfrm>
            <a:off x="1643063" y="2000250"/>
            <a:ext cx="1357312" cy="41433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a[1]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a[2]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a[3]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a[4]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a[5]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2071688" y="71438"/>
            <a:ext cx="5926137" cy="15541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for(i=0;i&lt;</a:t>
            </a:r>
            <a:r>
              <a:rPr lang="en-US" altLang="zh-CN" sz="3200" b="1">
                <a:solidFill>
                  <a:srgbClr val="FF0000"/>
                </a:solidFill>
              </a:rPr>
              <a:t>2</a:t>
            </a:r>
            <a:r>
              <a:rPr lang="en-US" altLang="zh-CN" sz="3200" b="1"/>
              <a:t>;i++)                   </a:t>
            </a:r>
          </a:p>
          <a:p>
            <a:pPr eaLnBrk="1" hangingPunct="1"/>
            <a:r>
              <a:rPr lang="en-US" altLang="zh-CN" sz="3200" b="1"/>
              <a:t>    if (a[i]&gt;a[i+1])     </a:t>
            </a:r>
            <a:endParaRPr lang="zh-CN" altLang="zh-CN" sz="3200" b="1"/>
          </a:p>
          <a:p>
            <a:pPr eaLnBrk="1" hangingPunct="1"/>
            <a:r>
              <a:rPr lang="en-US" altLang="zh-CN" sz="3200" b="1"/>
              <a:t>    { t=a[i];a[i]=a[i+1];a[i+1]=t; }</a:t>
            </a:r>
            <a:endParaRPr lang="zh-CN" altLang="en-US" sz="3200" b="1"/>
          </a:p>
        </p:txBody>
      </p:sp>
      <p:sp>
        <p:nvSpPr>
          <p:cNvPr id="14" name="TextBox 13"/>
          <p:cNvSpPr txBox="1"/>
          <p:nvPr/>
        </p:nvSpPr>
        <p:spPr>
          <a:xfrm>
            <a:off x="323528" y="548680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第四趟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5" grpId="0" animBg="1"/>
      <p:bldP spid="26" grpId="0"/>
      <p:bldP spid="27" grpId="0" animBg="1"/>
      <p:bldP spid="28" grpId="0" animBg="1"/>
      <p:bldP spid="29" grpId="0"/>
      <p:bldP spid="30" grpId="0" animBg="1"/>
      <p:bldP spid="3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4" name="直接连接符 13"/>
          <p:cNvCxnSpPr>
            <a:cxnSpLocks noChangeShapeType="1"/>
          </p:cNvCxnSpPr>
          <p:nvPr/>
        </p:nvCxnSpPr>
        <p:spPr bwMode="auto">
          <a:xfrm>
            <a:off x="3071813" y="3500438"/>
            <a:ext cx="3786187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Rectangle 3"/>
          <p:cNvSpPr txBox="1">
            <a:spLocks noChangeArrowheads="1"/>
          </p:cNvSpPr>
          <p:nvPr/>
        </p:nvSpPr>
        <p:spPr bwMode="auto">
          <a:xfrm>
            <a:off x="4286250" y="2071688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16" name="流程图: 过程 15"/>
          <p:cNvSpPr>
            <a:spLocks noChangeArrowheads="1"/>
          </p:cNvSpPr>
          <p:nvPr/>
        </p:nvSpPr>
        <p:spPr bwMode="auto">
          <a:xfrm>
            <a:off x="4262438" y="2068513"/>
            <a:ext cx="571500" cy="128587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0" name="任意多边形 19"/>
          <p:cNvSpPr/>
          <p:nvPr/>
        </p:nvSpPr>
        <p:spPr bwMode="auto">
          <a:xfrm>
            <a:off x="4708525" y="2381250"/>
            <a:ext cx="220663" cy="739775"/>
          </a:xfrm>
          <a:custGeom>
            <a:avLst/>
            <a:gdLst>
              <a:gd name="T0" fmla="*/ 49395 w 221293"/>
              <a:gd name="T1" fmla="*/ 742738 h 739036"/>
              <a:gd name="T2" fmla="*/ 209929 w 221293"/>
              <a:gd name="T3" fmla="*/ 302132 h 739036"/>
              <a:gd name="T4" fmla="*/ 0 w 221293"/>
              <a:gd name="T5" fmla="*/ 0 h 739036"/>
              <a:gd name="T6" fmla="*/ 0 60000 65536"/>
              <a:gd name="T7" fmla="*/ 0 60000 65536"/>
              <a:gd name="T8" fmla="*/ 0 60000 65536"/>
              <a:gd name="T9" fmla="*/ 0 w 221293"/>
              <a:gd name="T10" fmla="*/ 0 h 739036"/>
              <a:gd name="T11" fmla="*/ 221293 w 221293"/>
              <a:gd name="T12" fmla="*/ 739036 h 7390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21293" h="739036">
                <a:moveTo>
                  <a:pt x="50104" y="739036"/>
                </a:moveTo>
                <a:cubicBezTo>
                  <a:pt x="135698" y="581417"/>
                  <a:pt x="221293" y="423798"/>
                  <a:pt x="212942" y="300625"/>
                </a:cubicBezTo>
                <a:cubicBezTo>
                  <a:pt x="204591" y="177452"/>
                  <a:pt x="102295" y="88726"/>
                  <a:pt x="0" y="0"/>
                </a:cubicBezTo>
              </a:path>
            </a:pathLst>
          </a:custGeom>
          <a:solidFill>
            <a:schemeClr val="accent1"/>
          </a:solidFill>
          <a:ln w="38100" cap="flat" cmpd="sng" algn="ctr">
            <a:solidFill>
              <a:srgbClr val="0000CC"/>
            </a:solidFill>
            <a:prstDash val="solid"/>
            <a:miter lim="800000"/>
            <a:headEnd type="arrow" w="med" len="med"/>
            <a:tailEnd type="arrow" w="med" len="med"/>
          </a:ln>
        </p:spPr>
        <p:txBody>
          <a:bodyPr wrap="none"/>
          <a:lstStyle/>
          <a:p>
            <a:endParaRPr lang="zh-CN" altLang="en-US"/>
          </a:p>
        </p:txBody>
      </p:sp>
      <p:sp>
        <p:nvSpPr>
          <p:cNvPr id="21" name="Rectangle 3"/>
          <p:cNvSpPr txBox="1">
            <a:spLocks noChangeArrowheads="1"/>
          </p:cNvSpPr>
          <p:nvPr/>
        </p:nvSpPr>
        <p:spPr bwMode="auto">
          <a:xfrm>
            <a:off x="5453063" y="2003425"/>
            <a:ext cx="714375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latin typeface="Verdana" panose="020B0604030504040204" pitchFamily="34" charset="0"/>
              </a:rPr>
              <a:t>0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2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4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5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8</a:t>
            </a:r>
          </a:p>
          <a:p>
            <a:pPr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sz="3200" b="1">
                <a:solidFill>
                  <a:srgbClr val="9D138D"/>
                </a:solidFill>
                <a:latin typeface="Verdana" panose="020B0604030504040204" pitchFamily="34" charset="0"/>
              </a:rPr>
              <a:t>9</a:t>
            </a:r>
            <a:endParaRPr lang="zh-CN" altLang="zh-CN" sz="3200" b="1">
              <a:solidFill>
                <a:srgbClr val="9D138D"/>
              </a:solidFill>
              <a:latin typeface="Verdana" panose="020B0604030504040204" pitchFamily="34" charset="0"/>
            </a:endParaRPr>
          </a:p>
        </p:txBody>
      </p:sp>
      <p:sp>
        <p:nvSpPr>
          <p:cNvPr id="22" name="流程图: 过程 21"/>
          <p:cNvSpPr>
            <a:spLocks noChangeArrowheads="1"/>
          </p:cNvSpPr>
          <p:nvPr/>
        </p:nvSpPr>
        <p:spPr bwMode="auto">
          <a:xfrm>
            <a:off x="5429250" y="2714625"/>
            <a:ext cx="571500" cy="571500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3" name="Rectangle 3"/>
          <p:cNvSpPr txBox="1">
            <a:spLocks noChangeArrowheads="1"/>
          </p:cNvSpPr>
          <p:nvPr/>
        </p:nvSpPr>
        <p:spPr bwMode="auto">
          <a:xfrm>
            <a:off x="1643063" y="2071688"/>
            <a:ext cx="1357312" cy="41433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a[1]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a[2]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a[3]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a[4]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a[5]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2071688" y="71438"/>
            <a:ext cx="5926137" cy="15541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for(i=0;i&lt;</a:t>
            </a:r>
            <a:r>
              <a:rPr lang="en-US" altLang="zh-CN" sz="3200" b="1">
                <a:solidFill>
                  <a:srgbClr val="FF0000"/>
                </a:solidFill>
              </a:rPr>
              <a:t>1</a:t>
            </a:r>
            <a:r>
              <a:rPr lang="en-US" altLang="zh-CN" sz="3200" b="1"/>
              <a:t>;i++)                   </a:t>
            </a:r>
          </a:p>
          <a:p>
            <a:pPr eaLnBrk="1" hangingPunct="1"/>
            <a:r>
              <a:rPr lang="en-US" altLang="zh-CN" sz="3200" b="1"/>
              <a:t>    if (a[i]&gt;a[i+1])     </a:t>
            </a:r>
            <a:endParaRPr lang="zh-CN" altLang="zh-CN" sz="3200" b="1"/>
          </a:p>
          <a:p>
            <a:pPr eaLnBrk="1" hangingPunct="1"/>
            <a:r>
              <a:rPr lang="en-US" altLang="zh-CN" sz="3200" b="1"/>
              <a:t>    { t=a[i];a[i]=a[i+1];a[i+1]=t; }</a:t>
            </a:r>
            <a:endParaRPr lang="zh-CN" altLang="en-US" sz="3200" b="1"/>
          </a:p>
        </p:txBody>
      </p:sp>
      <p:sp>
        <p:nvSpPr>
          <p:cNvPr id="11" name="TextBox 10"/>
          <p:cNvSpPr txBox="1"/>
          <p:nvPr/>
        </p:nvSpPr>
        <p:spPr>
          <a:xfrm>
            <a:off x="323528" y="548680"/>
            <a:ext cx="1584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第五趟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  <p:bldP spid="21" grpId="0"/>
      <p:bldP spid="22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00063" y="573088"/>
            <a:ext cx="3786187" cy="15541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for(i=0;i&lt;</a:t>
            </a:r>
            <a:r>
              <a:rPr lang="en-US" altLang="zh-CN" sz="3200" b="1">
                <a:solidFill>
                  <a:srgbClr val="FF0000"/>
                </a:solidFill>
              </a:rPr>
              <a:t>5</a:t>
            </a:r>
            <a:r>
              <a:rPr lang="en-US" altLang="zh-CN" sz="3200" b="1"/>
              <a:t>;i++)                   </a:t>
            </a:r>
          </a:p>
          <a:p>
            <a:pPr eaLnBrk="1" hangingPunct="1"/>
            <a:r>
              <a:rPr lang="en-US" altLang="zh-CN" sz="3200" b="1"/>
              <a:t>    if (a[i]&gt;a[i+1])     </a:t>
            </a:r>
            <a:endParaRPr lang="zh-CN" altLang="zh-CN" sz="3200" b="1"/>
          </a:p>
          <a:p>
            <a:pPr eaLnBrk="1" hangingPunct="1"/>
            <a:r>
              <a:rPr lang="en-US" altLang="zh-CN" sz="3200" b="1"/>
              <a:t>    { ……}</a:t>
            </a:r>
            <a:endParaRPr lang="zh-CN" altLang="en-US" sz="3200" b="1"/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17525" y="2214563"/>
            <a:ext cx="3768725" cy="1554162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/>
              <a:t>for(i=0;i&lt;</a:t>
            </a:r>
            <a:r>
              <a:rPr lang="en-US" altLang="zh-CN" sz="3200" b="1">
                <a:solidFill>
                  <a:srgbClr val="FF0000"/>
                </a:solidFill>
              </a:rPr>
              <a:t>4</a:t>
            </a:r>
            <a:r>
              <a:rPr lang="en-US" altLang="zh-CN" sz="3200" b="1"/>
              <a:t>;i++)                   </a:t>
            </a:r>
          </a:p>
          <a:p>
            <a:pPr eaLnBrk="1" hangingPunct="1"/>
            <a:r>
              <a:rPr lang="en-US" altLang="zh-CN" sz="3200" b="1"/>
              <a:t>    if (a[i]&gt;a[i+1])     </a:t>
            </a:r>
            <a:endParaRPr lang="zh-CN" altLang="zh-CN" sz="3200" b="1"/>
          </a:p>
          <a:p>
            <a:pPr eaLnBrk="1" hangingPunct="1"/>
            <a:r>
              <a:rPr lang="en-US" altLang="zh-CN" sz="3200" b="1"/>
              <a:t>    { ……}</a:t>
            </a:r>
            <a:endParaRPr lang="zh-CN" altLang="en-US" sz="3200" b="1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00063" y="4857750"/>
            <a:ext cx="3786187" cy="1554163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for(i=0;i&lt;</a:t>
            </a:r>
            <a:r>
              <a:rPr lang="en-US" altLang="zh-CN" sz="3200" b="1" dirty="0">
                <a:solidFill>
                  <a:srgbClr val="FF0000"/>
                </a:solidFill>
              </a:rPr>
              <a:t>1</a:t>
            </a:r>
            <a:r>
              <a:rPr lang="en-US" altLang="zh-CN" sz="3200" b="1" dirty="0"/>
              <a:t>;i++)                   </a:t>
            </a:r>
          </a:p>
          <a:p>
            <a:pPr eaLnBrk="1" hangingPunct="1"/>
            <a:r>
              <a:rPr lang="en-US" altLang="zh-CN" sz="3200" b="1" dirty="0"/>
              <a:t>    if (a[i]&gt;a[i+1])     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    { ……}</a:t>
            </a:r>
            <a:endParaRPr lang="zh-CN" altLang="en-US" sz="3200" b="1" dirty="0"/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214438" y="3929063"/>
            <a:ext cx="1357312" cy="708025"/>
          </a:xfrm>
          <a:prstGeom prst="rect">
            <a:avLst/>
          </a:prstGeom>
          <a:solidFill>
            <a:srgbClr val="FF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……</a:t>
            </a:r>
            <a:endParaRPr lang="zh-CN" altLang="en-US" b="1"/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4929188" y="3357563"/>
            <a:ext cx="3786187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for(i=</a:t>
            </a:r>
            <a:r>
              <a:rPr lang="en-US" altLang="zh-CN" sz="3200" b="1" dirty="0">
                <a:solidFill>
                  <a:srgbClr val="0000FF"/>
                </a:solidFill>
              </a:rPr>
              <a:t>0</a:t>
            </a:r>
            <a:r>
              <a:rPr lang="en-US" altLang="zh-CN" sz="3200" b="1" dirty="0"/>
              <a:t>;i&lt;</a:t>
            </a:r>
            <a:r>
              <a:rPr lang="en-US" altLang="zh-CN" sz="3200" b="1" dirty="0">
                <a:solidFill>
                  <a:srgbClr val="FF0000"/>
                </a:solidFill>
              </a:rPr>
              <a:t>5-j</a:t>
            </a:r>
            <a:r>
              <a:rPr lang="en-US" altLang="zh-CN" sz="3200" b="1" dirty="0"/>
              <a:t>;i++)                   </a:t>
            </a:r>
          </a:p>
          <a:p>
            <a:pPr eaLnBrk="1" hangingPunct="1"/>
            <a:r>
              <a:rPr lang="en-US" altLang="zh-CN" sz="3200" b="1" dirty="0"/>
              <a:t>    if (a[i]&gt;a[i+1])     </a:t>
            </a:r>
            <a:endParaRPr lang="zh-CN" altLang="zh-CN" sz="3200" b="1" dirty="0"/>
          </a:p>
          <a:p>
            <a:pPr eaLnBrk="1" hangingPunct="1"/>
            <a:r>
              <a:rPr lang="en-US" altLang="zh-CN" sz="3200" b="1" dirty="0"/>
              <a:t>    { ……}</a:t>
            </a:r>
            <a:endParaRPr lang="zh-CN" altLang="en-US" sz="3200" b="1" dirty="0"/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4500563" y="2844800"/>
            <a:ext cx="37861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/>
              <a:t>for(j=</a:t>
            </a:r>
            <a:r>
              <a:rPr lang="en-US" altLang="zh-CN" sz="3200" b="1" dirty="0">
                <a:solidFill>
                  <a:srgbClr val="0000FF"/>
                </a:solidFill>
              </a:rPr>
              <a:t>0</a:t>
            </a:r>
            <a:r>
              <a:rPr lang="en-US" altLang="zh-CN" sz="3200" b="1" dirty="0"/>
              <a:t>;j&lt;5;j++)</a:t>
            </a:r>
            <a:endParaRPr lang="zh-CN" altLang="en-US" sz="3200" b="1" dirty="0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7" grpId="0" animBg="1"/>
      <p:bldP spid="18" grpId="0"/>
      <p:bldP spid="1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534960" y="576760"/>
            <a:ext cx="8153400" cy="5929312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int</a:t>
            </a:r>
            <a:r>
              <a:rPr lang="en-US" altLang="zh-CN" sz="2800" dirty="0"/>
              <a:t> a[10]; 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i,j,t</a:t>
            </a:r>
            <a:r>
              <a:rPr lang="en-US" altLang="zh-CN" sz="2800" dirty="0"/>
              <a:t>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printf</a:t>
            </a:r>
            <a:r>
              <a:rPr lang="en-US" altLang="zh-CN" sz="2800" dirty="0"/>
              <a:t>("input 10 numbers :\n");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for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=0;i&lt;10;i++)  </a:t>
            </a:r>
            <a:r>
              <a:rPr lang="en-US" altLang="zh-CN" sz="2800" dirty="0" err="1"/>
              <a:t>scanf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d",&amp;a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]);          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printf</a:t>
            </a:r>
            <a:r>
              <a:rPr lang="en-US" altLang="zh-CN" sz="2800" dirty="0"/>
              <a:t>("\n");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for(j=0;j&lt;9;j++)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	for(</a:t>
            </a:r>
            <a:r>
              <a:rPr lang="en-US" altLang="zh-CN" sz="2800" dirty="0" err="1">
                <a:solidFill>
                  <a:srgbClr val="00B050"/>
                </a:solidFill>
              </a:rPr>
              <a:t>i</a:t>
            </a:r>
            <a:r>
              <a:rPr lang="en-US" altLang="zh-CN" sz="2800" dirty="0">
                <a:solidFill>
                  <a:srgbClr val="00B050"/>
                </a:solidFill>
              </a:rPr>
              <a:t>=0;i&lt;</a:t>
            </a:r>
            <a:r>
              <a:rPr lang="en-US" altLang="zh-CN" sz="2800" dirty="0">
                <a:solidFill>
                  <a:srgbClr val="C00000"/>
                </a:solidFill>
              </a:rPr>
              <a:t>9-j</a:t>
            </a:r>
            <a:r>
              <a:rPr lang="en-US" altLang="zh-CN" sz="2800" dirty="0">
                <a:solidFill>
                  <a:srgbClr val="00B050"/>
                </a:solidFill>
              </a:rPr>
              <a:t>;i++)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	  if (a[</a:t>
            </a:r>
            <a:r>
              <a:rPr lang="en-US" altLang="zh-CN" sz="2800" dirty="0" err="1">
                <a:solidFill>
                  <a:srgbClr val="00B050"/>
                </a:solidFill>
              </a:rPr>
              <a:t>i</a:t>
            </a:r>
            <a:r>
              <a:rPr lang="en-US" altLang="zh-CN" sz="2800" dirty="0">
                <a:solidFill>
                  <a:srgbClr val="00B050"/>
                </a:solidFill>
              </a:rPr>
              <a:t>]&gt;a[i+1])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B050"/>
                </a:solidFill>
              </a:rPr>
              <a:t>	    {t=a[</a:t>
            </a:r>
            <a:r>
              <a:rPr lang="en-US" altLang="zh-CN" sz="2800" dirty="0" err="1">
                <a:solidFill>
                  <a:srgbClr val="00B050"/>
                </a:solidFill>
              </a:rPr>
              <a:t>i</a:t>
            </a:r>
            <a:r>
              <a:rPr lang="en-US" altLang="zh-CN" sz="2800" dirty="0">
                <a:solidFill>
                  <a:srgbClr val="00B050"/>
                </a:solidFill>
              </a:rPr>
              <a:t>];a[</a:t>
            </a:r>
            <a:r>
              <a:rPr lang="en-US" altLang="zh-CN" sz="2800" dirty="0" err="1">
                <a:solidFill>
                  <a:srgbClr val="00B050"/>
                </a:solidFill>
              </a:rPr>
              <a:t>i</a:t>
            </a:r>
            <a:r>
              <a:rPr lang="en-US" altLang="zh-CN" sz="2800" dirty="0">
                <a:solidFill>
                  <a:srgbClr val="00B050"/>
                </a:solidFill>
              </a:rPr>
              <a:t>]=a[i+1];a[i+1]=t;}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printf</a:t>
            </a:r>
            <a:r>
              <a:rPr lang="en-US" altLang="zh-CN" sz="2800" dirty="0"/>
              <a:t>("the sorted numbers :\n");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for(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=0;i&lt;10;i++)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("%d ",a[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 err="1"/>
              <a:t>printf</a:t>
            </a:r>
            <a:r>
              <a:rPr lang="en-US" altLang="zh-CN" sz="2800" dirty="0"/>
              <a:t>("\n");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endParaRPr lang="zh-CN" altLang="en-US" sz="2800" dirty="0"/>
          </a:p>
        </p:txBody>
      </p:sp>
      <p:sp>
        <p:nvSpPr>
          <p:cNvPr id="14" name="TextBox 13"/>
          <p:cNvSpPr txBox="1"/>
          <p:nvPr/>
        </p:nvSpPr>
        <p:spPr>
          <a:xfrm>
            <a:off x="251520" y="-27384"/>
            <a:ext cx="6643688" cy="18161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+mn-lt"/>
                <a:ea typeface="+mn-ea"/>
              </a:rPr>
              <a:t>input 10 numbers:</a:t>
            </a:r>
            <a:r>
              <a:rPr lang="zh-CN" altLang="zh-CN" sz="2800" b="1" dirty="0">
                <a:solidFill>
                  <a:srgbClr val="C00000"/>
                </a:solidFill>
                <a:latin typeface="+mn-lt"/>
                <a:ea typeface="+mn-ea"/>
              </a:rPr>
              <a:t></a:t>
            </a:r>
          </a:p>
          <a:p>
            <a:pPr>
              <a:defRPr/>
            </a:pPr>
            <a:r>
              <a:rPr lang="en-US" altLang="zh-CN" sz="2800" b="1" u="sng" dirty="0">
                <a:solidFill>
                  <a:srgbClr val="C00000"/>
                </a:solidFill>
                <a:latin typeface="+mn-lt"/>
                <a:ea typeface="+mn-ea"/>
              </a:rPr>
              <a:t>13 20 64 78 21 8 14 30 45 23</a:t>
            </a:r>
            <a:r>
              <a:rPr lang="zh-CN" altLang="zh-CN" sz="2800" b="1" u="sng" dirty="0">
                <a:solidFill>
                  <a:srgbClr val="C00000"/>
                </a:solidFill>
                <a:latin typeface="+mn-lt"/>
                <a:ea typeface="+mn-ea"/>
              </a:rPr>
              <a:t>↙</a:t>
            </a:r>
            <a:endParaRPr lang="zh-CN" altLang="zh-CN" sz="2800" b="1" dirty="0">
              <a:solidFill>
                <a:srgbClr val="C00000"/>
              </a:solidFill>
              <a:latin typeface="+mn-lt"/>
              <a:ea typeface="+mn-ea"/>
            </a:endParaRPr>
          </a:p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+mn-lt"/>
                <a:ea typeface="+mn-ea"/>
              </a:rPr>
              <a:t>the sorted numbers:</a:t>
            </a:r>
            <a:r>
              <a:rPr lang="zh-CN" altLang="zh-CN" sz="2800" b="1" dirty="0">
                <a:solidFill>
                  <a:srgbClr val="C00000"/>
                </a:solidFill>
                <a:latin typeface="+mn-lt"/>
                <a:ea typeface="+mn-ea"/>
              </a:rPr>
              <a:t></a:t>
            </a:r>
          </a:p>
          <a:p>
            <a:pPr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+mn-lt"/>
                <a:ea typeface="+mn-ea"/>
              </a:rPr>
              <a:t>8 13 14 20 21 23 30 45 64 78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928686" y="250032"/>
            <a:ext cx="7072313" cy="874712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华文行楷" panose="02010800040101010101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二维数组的定义和引用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内容占位符 4"/>
          <p:cNvGraphicFramePr/>
          <p:nvPr/>
        </p:nvGraphicFramePr>
        <p:xfrm>
          <a:off x="1106488" y="1857796"/>
          <a:ext cx="728662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44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44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2456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1847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1243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1600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2346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2757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3045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2018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1725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2020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2458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1436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1427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1175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1046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1976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1477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2800" b="1" dirty="0">
                          <a:solidFill>
                            <a:schemeClr val="tx1"/>
                          </a:solidFill>
                        </a:rPr>
                        <a:t>2018</a:t>
                      </a:r>
                      <a:endParaRPr lang="zh-CN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-36512" y="2000671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分队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-36512" y="2786484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分队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-36512" y="3572296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分队</a:t>
            </a: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1177925" y="1214859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队员</a:t>
            </a:r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zh-CN" altLang="en-US" sz="2800" b="1">
              <a:solidFill>
                <a:srgbClr val="9D13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2320925" y="1214859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队员</a:t>
            </a:r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zh-CN" altLang="en-US" sz="2800" b="1">
              <a:solidFill>
                <a:srgbClr val="9D13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3571875" y="1214859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队员</a:t>
            </a:r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zh-CN" altLang="en-US" sz="2800" b="1">
              <a:solidFill>
                <a:srgbClr val="9D13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4749800" y="1214859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队员</a:t>
            </a:r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zh-CN" altLang="en-US" sz="2800" b="1">
              <a:solidFill>
                <a:srgbClr val="9D13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2"/>
          <p:cNvSpPr txBox="1">
            <a:spLocks noChangeArrowheads="1"/>
          </p:cNvSpPr>
          <p:nvPr/>
        </p:nvSpPr>
        <p:spPr bwMode="auto">
          <a:xfrm>
            <a:off x="5964238" y="1214859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队员</a:t>
            </a:r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zh-CN" altLang="en-US" sz="2800" b="1">
              <a:solidFill>
                <a:srgbClr val="9D13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3"/>
          <p:cNvSpPr txBox="1">
            <a:spLocks noChangeArrowheads="1"/>
          </p:cNvSpPr>
          <p:nvPr/>
        </p:nvSpPr>
        <p:spPr bwMode="auto">
          <a:xfrm>
            <a:off x="7250113" y="1214859"/>
            <a:ext cx="112402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队员</a:t>
            </a:r>
            <a:r>
              <a:rPr lang="en-US" altLang="zh-CN" sz="2800" b="1">
                <a:solidFill>
                  <a:srgbClr val="9D138D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zh-CN" altLang="en-US" sz="2800" b="1">
              <a:solidFill>
                <a:srgbClr val="9D138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1251879" y="4437112"/>
            <a:ext cx="3429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dirty="0">
                <a:latin typeface="微软雅黑" panose="020B0503020204020204" charset="-122"/>
                <a:ea typeface="微软雅黑" panose="020B0503020204020204" charset="-122"/>
              </a:rPr>
              <a:t>float pay[3][6];</a:t>
            </a:r>
            <a:endParaRPr lang="zh-CN" altLang="en-US" sz="32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8391" y="5229200"/>
            <a:ext cx="87849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Pay</a:t>
            </a:r>
            <a:r>
              <a:rPr lang="en-US" altLang="zh-CN" sz="2800" b="1" baseline="-25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2,3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表示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分队第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名队员的工资，它的值是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1725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548680"/>
            <a:ext cx="7072313" cy="874712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二维数组的定义和引用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8" name="Rectangle 7"/>
          <p:cNvSpPr txBox="1">
            <a:spLocks noChangeArrowheads="1"/>
          </p:cNvSpPr>
          <p:nvPr/>
        </p:nvSpPr>
        <p:spPr bwMode="auto">
          <a:xfrm>
            <a:off x="1515140" y="1556792"/>
            <a:ext cx="6286500" cy="3357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6.2.1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定义二维数组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6.2.2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引用二维数组的元素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6.2.3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二维数组的初始化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6.2.4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二维数组程序举例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31752" y="260648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6.2.1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定义二维数组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584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28"/>
          <p:cNvSpPr>
            <a:spLocks noChangeArrowheads="1"/>
          </p:cNvSpPr>
          <p:nvPr/>
        </p:nvSpPr>
        <p:spPr bwMode="auto">
          <a:xfrm>
            <a:off x="285720" y="1684125"/>
            <a:ext cx="8643998" cy="17448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类型名   数组名 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16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a[3][4],b[4][M]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是符号常量）</a:t>
            </a:r>
          </a:p>
        </p:txBody>
      </p:sp>
      <p:sp>
        <p:nvSpPr>
          <p:cNvPr id="8" name="Line 29"/>
          <p:cNvSpPr>
            <a:spLocks noChangeShapeType="1"/>
          </p:cNvSpPr>
          <p:nvPr/>
        </p:nvSpPr>
        <p:spPr bwMode="auto">
          <a:xfrm flipH="1">
            <a:off x="2756986" y="2870606"/>
            <a:ext cx="28733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 Box 30"/>
          <p:cNvSpPr txBox="1">
            <a:spLocks noChangeArrowheads="1"/>
          </p:cNvSpPr>
          <p:nvPr/>
        </p:nvSpPr>
        <p:spPr bwMode="auto">
          <a:xfrm>
            <a:off x="2256920" y="3084920"/>
            <a:ext cx="1107996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行下标</a:t>
            </a:r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3391996" y="3105560"/>
            <a:ext cx="1107996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列下标</a:t>
            </a:r>
          </a:p>
        </p:txBody>
      </p:sp>
      <p:sp>
        <p:nvSpPr>
          <p:cNvPr id="11" name="Line 32"/>
          <p:cNvSpPr>
            <a:spLocks noChangeShapeType="1"/>
          </p:cNvSpPr>
          <p:nvPr/>
        </p:nvSpPr>
        <p:spPr bwMode="auto">
          <a:xfrm>
            <a:off x="3471366" y="2870606"/>
            <a:ext cx="217488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/>
          <a:lstStyle/>
          <a:p>
            <a:endParaRPr lang="zh-CN" altLang="en-US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3"/>
          <p:cNvSpPr>
            <a:spLocks noChangeArrowheads="1"/>
          </p:cNvSpPr>
          <p:nvPr/>
        </p:nvSpPr>
        <p:spPr bwMode="auto">
          <a:xfrm>
            <a:off x="285720" y="3573016"/>
            <a:ext cx="8501122" cy="5000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定义：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列的数组，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M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列的数组</a:t>
            </a: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136791" y="1035346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1、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维数组的定义</a:t>
            </a:r>
          </a:p>
        </p:txBody>
      </p:sp>
      <p:sp>
        <p:nvSpPr>
          <p:cNvPr id="14" name="Rectangle 33"/>
          <p:cNvSpPr>
            <a:spLocks noChangeArrowheads="1"/>
          </p:cNvSpPr>
          <p:nvPr/>
        </p:nvSpPr>
        <p:spPr bwMode="auto">
          <a:xfrm>
            <a:off x="193616" y="4293096"/>
            <a:ext cx="8501122" cy="100806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不能写成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a[3,4], b(4,M),c[1+2-4][2+3]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/>
      <p:bldP spid="11" grpId="0" animBg="1"/>
      <p:bldP spid="1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707" name="Text Box 3"/>
          <p:cNvSpPr txBox="1">
            <a:spLocks noChangeArrowheads="1"/>
          </p:cNvSpPr>
          <p:nvPr/>
        </p:nvSpPr>
        <p:spPr bwMode="auto">
          <a:xfrm>
            <a:off x="-488950" y="854075"/>
            <a:ext cx="255587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en-US" altLang="zh-CN"/>
              <a:t> </a:t>
            </a:r>
          </a:p>
        </p:txBody>
      </p:sp>
      <p:sp>
        <p:nvSpPr>
          <p:cNvPr id="456709" name="Rectangle 5"/>
          <p:cNvSpPr>
            <a:spLocks noChangeArrowheads="1"/>
          </p:cNvSpPr>
          <p:nvPr/>
        </p:nvSpPr>
        <p:spPr bwMode="auto">
          <a:xfrm>
            <a:off x="357158" y="1071547"/>
            <a:ext cx="8501122" cy="92869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indent="457200"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 可以把二维数组看作是一种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特殊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的一维数组：它的元素又是一个一维数组。</a:t>
            </a:r>
          </a:p>
        </p:txBody>
      </p:sp>
      <p:grpSp>
        <p:nvGrpSpPr>
          <p:cNvPr id="2" name="Group 23"/>
          <p:cNvGrpSpPr/>
          <p:nvPr/>
        </p:nvGrpSpPr>
        <p:grpSpPr bwMode="auto">
          <a:xfrm>
            <a:off x="1357290" y="3857629"/>
            <a:ext cx="5532483" cy="1398588"/>
            <a:chOff x="3833" y="1857"/>
            <a:chExt cx="2900" cy="881"/>
          </a:xfrm>
        </p:grpSpPr>
        <p:sp>
          <p:nvSpPr>
            <p:cNvPr id="456715" name="Text Box 11"/>
            <p:cNvSpPr txBox="1">
              <a:spLocks noChangeArrowheads="1"/>
            </p:cNvSpPr>
            <p:nvPr/>
          </p:nvSpPr>
          <p:spPr bwMode="auto">
            <a:xfrm>
              <a:off x="3833" y="2231"/>
              <a:ext cx="224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/>
                <a:t>a</a:t>
              </a:r>
            </a:p>
          </p:txBody>
        </p:sp>
        <p:sp>
          <p:nvSpPr>
            <p:cNvPr id="456716" name="AutoShape 12"/>
            <p:cNvSpPr/>
            <p:nvPr/>
          </p:nvSpPr>
          <p:spPr bwMode="auto">
            <a:xfrm>
              <a:off x="4027" y="1932"/>
              <a:ext cx="136" cy="636"/>
            </a:xfrm>
            <a:prstGeom prst="leftBrace">
              <a:avLst>
                <a:gd name="adj1" fmla="val 3897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6717" name="Text Box 13"/>
            <p:cNvSpPr txBox="1">
              <a:spLocks noChangeArrowheads="1"/>
            </p:cNvSpPr>
            <p:nvPr/>
          </p:nvSpPr>
          <p:spPr bwMode="auto">
            <a:xfrm>
              <a:off x="4150" y="1857"/>
              <a:ext cx="36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00FF"/>
                  </a:solidFill>
                </a:rPr>
                <a:t>a[0]</a:t>
              </a:r>
            </a:p>
          </p:txBody>
        </p:sp>
        <p:sp>
          <p:nvSpPr>
            <p:cNvPr id="456718" name="Text Box 14"/>
            <p:cNvSpPr txBox="1">
              <a:spLocks noChangeArrowheads="1"/>
            </p:cNvSpPr>
            <p:nvPr/>
          </p:nvSpPr>
          <p:spPr bwMode="auto">
            <a:xfrm>
              <a:off x="4150" y="2160"/>
              <a:ext cx="36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00FF"/>
                  </a:solidFill>
                </a:rPr>
                <a:t>a[1]</a:t>
              </a:r>
            </a:p>
          </p:txBody>
        </p:sp>
        <p:sp>
          <p:nvSpPr>
            <p:cNvPr id="456719" name="Text Box 15"/>
            <p:cNvSpPr txBox="1">
              <a:spLocks noChangeArrowheads="1"/>
            </p:cNvSpPr>
            <p:nvPr/>
          </p:nvSpPr>
          <p:spPr bwMode="auto">
            <a:xfrm>
              <a:off x="4150" y="2447"/>
              <a:ext cx="366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0000FF"/>
                  </a:solidFill>
                </a:rPr>
                <a:t>a[2]</a:t>
              </a:r>
            </a:p>
          </p:txBody>
        </p:sp>
        <p:sp>
          <p:nvSpPr>
            <p:cNvPr id="456721" name="Text Box 17"/>
            <p:cNvSpPr txBox="1">
              <a:spLocks noChangeArrowheads="1"/>
            </p:cNvSpPr>
            <p:nvPr/>
          </p:nvSpPr>
          <p:spPr bwMode="auto">
            <a:xfrm>
              <a:off x="4694" y="1857"/>
              <a:ext cx="2022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a[0][0] a[0][1] a[0][2] a[0][3]</a:t>
              </a:r>
            </a:p>
          </p:txBody>
        </p:sp>
        <p:sp>
          <p:nvSpPr>
            <p:cNvPr id="456722" name="Text Box 18"/>
            <p:cNvSpPr txBox="1">
              <a:spLocks noChangeArrowheads="1"/>
            </p:cNvSpPr>
            <p:nvPr/>
          </p:nvSpPr>
          <p:spPr bwMode="auto">
            <a:xfrm>
              <a:off x="4694" y="2160"/>
              <a:ext cx="2039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a[1][0] a[1][1] a[1][2] a[1][3]</a:t>
              </a:r>
            </a:p>
          </p:txBody>
        </p:sp>
        <p:sp>
          <p:nvSpPr>
            <p:cNvPr id="456723" name="Text Box 19"/>
            <p:cNvSpPr txBox="1">
              <a:spLocks noChangeArrowheads="1"/>
            </p:cNvSpPr>
            <p:nvPr/>
          </p:nvSpPr>
          <p:spPr bwMode="auto">
            <a:xfrm>
              <a:off x="4694" y="2432"/>
              <a:ext cx="2022" cy="291"/>
            </a:xfrm>
            <a:prstGeom prst="rect">
              <a:avLst/>
            </a:prstGeom>
            <a:noFill/>
            <a:ln w="9525">
              <a:noFill/>
              <a:miter lim="800000"/>
            </a:ln>
            <a:effectLst/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a[2][0] a[2][1] a[2][2] a[2][3]</a:t>
              </a:r>
            </a:p>
          </p:txBody>
        </p:sp>
        <p:sp>
          <p:nvSpPr>
            <p:cNvPr id="456724" name="Line 20"/>
            <p:cNvSpPr>
              <a:spLocks noChangeShapeType="1"/>
            </p:cNvSpPr>
            <p:nvPr/>
          </p:nvSpPr>
          <p:spPr bwMode="auto">
            <a:xfrm>
              <a:off x="4468" y="1979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725" name="Line 21"/>
            <p:cNvSpPr>
              <a:spLocks noChangeShapeType="1"/>
            </p:cNvSpPr>
            <p:nvPr/>
          </p:nvSpPr>
          <p:spPr bwMode="auto">
            <a:xfrm>
              <a:off x="4468" y="2296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6726" name="Line 22"/>
            <p:cNvSpPr>
              <a:spLocks noChangeShapeType="1"/>
            </p:cNvSpPr>
            <p:nvPr/>
          </p:nvSpPr>
          <p:spPr bwMode="auto">
            <a:xfrm>
              <a:off x="4468" y="2568"/>
              <a:ext cx="2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" name="Rectangle 11"/>
          <p:cNvSpPr>
            <a:spLocks noChangeArrowheads="1"/>
          </p:cNvSpPr>
          <p:nvPr/>
        </p:nvSpPr>
        <p:spPr bwMode="auto">
          <a:xfrm>
            <a:off x="0" y="0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1、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维数组的定义</a:t>
            </a:r>
          </a:p>
        </p:txBody>
      </p:sp>
      <p:sp>
        <p:nvSpPr>
          <p:cNvPr id="20" name="Rectangle 28"/>
          <p:cNvSpPr>
            <a:spLocks noChangeArrowheads="1"/>
          </p:cNvSpPr>
          <p:nvPr/>
        </p:nvSpPr>
        <p:spPr bwMode="auto">
          <a:xfrm>
            <a:off x="214282" y="500043"/>
            <a:ext cx="8643998" cy="571504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lvl="0" indent="-342900">
              <a:spcBef>
                <a:spcPct val="20000"/>
              </a:spcBef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类型名   数组名 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];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357158" y="2000241"/>
            <a:ext cx="8501122" cy="1785949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a[3][4]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可将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数组看作是一个一维数组，它有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个元素：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a[0]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a[1]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a[2]，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每个元素又是一个包含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个元素的一维数组。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5720" y="5500702"/>
            <a:ext cx="857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可以把</a:t>
            </a:r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a[0</a:t>
            </a: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], a[1],a[2]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看作是三个一维数组的名字。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456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6"/>
          <p:cNvSpPr txBox="1">
            <a:spLocks noChangeArrowheads="1"/>
          </p:cNvSpPr>
          <p:nvPr/>
        </p:nvSpPr>
        <p:spPr bwMode="auto">
          <a:xfrm>
            <a:off x="762000" y="1600200"/>
            <a:ext cx="1841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endParaRPr lang="zh-CN">
              <a:solidFill>
                <a:schemeClr val="tx1"/>
              </a:solidFill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142988" y="315635"/>
            <a:ext cx="6172200" cy="5355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2、</a:t>
            </a:r>
            <a:r>
              <a:rPr lang="zh-CN" altLang="en-US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zh-CN" sz="32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维数组的</a:t>
            </a:r>
            <a:r>
              <a:rPr lang="zh-CN" altLang="en-US" sz="3200" b="1" dirty="0">
                <a:latin typeface="黑体" panose="02010609060101010101" pitchFamily="49" charset="-122"/>
                <a:ea typeface="黑体" panose="02010609060101010101" pitchFamily="49" charset="-122"/>
              </a:rPr>
              <a:t>存储</a:t>
            </a:r>
            <a:endParaRPr lang="zh-CN" sz="32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107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18"/>
          <p:cNvSpPr>
            <a:spLocks noChangeArrowheads="1"/>
          </p:cNvSpPr>
          <p:nvPr/>
        </p:nvSpPr>
        <p:spPr bwMode="auto">
          <a:xfrm>
            <a:off x="357158" y="1142985"/>
            <a:ext cx="5181602" cy="142876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8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19"/>
          <p:cNvSpPr txBox="1">
            <a:spLocks noChangeArrowheads="1"/>
          </p:cNvSpPr>
          <p:nvPr/>
        </p:nvSpPr>
        <p:spPr bwMode="auto">
          <a:xfrm>
            <a:off x="5538760" y="1073553"/>
            <a:ext cx="3236784" cy="52322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a[3][4]</a:t>
            </a:r>
          </a:p>
        </p:txBody>
      </p:sp>
      <p:sp>
        <p:nvSpPr>
          <p:cNvPr id="38" name="Rectangle 18"/>
          <p:cNvSpPr>
            <a:spLocks noChangeArrowheads="1"/>
          </p:cNvSpPr>
          <p:nvPr/>
        </p:nvSpPr>
        <p:spPr bwMode="auto">
          <a:xfrm>
            <a:off x="142844" y="885483"/>
            <a:ext cx="5181602" cy="228601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在内存中：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   二维数组中元素排列的顺序是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按行存放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即在内存中先顺序存放第一行的元素，再存放第二行的元素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>
              <a:spcBef>
                <a:spcPts val="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endParaRPr lang="zh-CN" altLang="en-US" sz="28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5410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5409" name="Object 1"/>
          <p:cNvGraphicFramePr>
            <a:graphicFrameLocks noChangeAspect="1"/>
          </p:cNvGraphicFramePr>
          <p:nvPr/>
        </p:nvGraphicFramePr>
        <p:xfrm>
          <a:off x="762000" y="3717032"/>
          <a:ext cx="4329764" cy="24288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314575" imgH="1303020" progId="">
                  <p:embed/>
                </p:oleObj>
              </mc:Choice>
              <mc:Fallback>
                <p:oleObj r:id="rId3" imgW="2314575" imgH="1303020" progId="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3717032"/>
                        <a:ext cx="4329764" cy="242889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5411" name="Object 3"/>
          <p:cNvGraphicFramePr>
            <a:graphicFrameLocks noChangeAspect="1"/>
          </p:cNvGraphicFramePr>
          <p:nvPr/>
        </p:nvGraphicFramePr>
        <p:xfrm>
          <a:off x="4946199" y="1857364"/>
          <a:ext cx="4340709" cy="45720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354580" imgH="2249805" progId="">
                  <p:embed/>
                </p:oleObj>
              </mc:Choice>
              <mc:Fallback>
                <p:oleObj r:id="rId5" imgW="2354580" imgH="2249805" progId="">
                  <p:embed/>
                  <p:pic>
                    <p:nvPicPr>
                      <p:cNvPr id="0" name="Picture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199" y="1857364"/>
                        <a:ext cx="4340709" cy="457203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777221" y="3204013"/>
            <a:ext cx="335756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9D138D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逻辑存储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54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54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54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  <p:bldP spid="3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214282" y="1063822"/>
            <a:ext cx="8643998" cy="514353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二维数组的元素的引用形式：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	  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数组名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1][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2]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如：  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a[2][4],b[5][3]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      a[2-1][2*2-1]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/*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下标可以是整型表达式*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      b[1][2]=a[1][3]/2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</a:pP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lang="zh-CN" altLang="en-US" sz="2800" b="1" u="sng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与数组元素</a:t>
            </a:r>
            <a:r>
              <a:rPr lang="zh-CN" altLang="en-US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的区别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例如：定义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int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a[3][4]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06942" y="3635590"/>
            <a:ext cx="4000528" cy="10001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下标的范围：</a:t>
            </a:r>
            <a:endParaRPr lang="en-US" altLang="zh-CN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0≦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下标≦常量表达式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500063" y="332656"/>
            <a:ext cx="7464425" cy="708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华文行楷" panose="02010800040101010101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6.2.2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引用二维数组的元素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ChangeArrowheads="1"/>
          </p:cNvSpPr>
          <p:nvPr/>
        </p:nvSpPr>
        <p:spPr bwMode="auto">
          <a:xfrm>
            <a:off x="71470" y="1137011"/>
            <a:ext cx="9144000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0" lvl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其格式为：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/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类型名  数组名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][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alt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]={</a:t>
            </a: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初值表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};</a:t>
            </a:r>
            <a:endParaRPr lang="zh-CN" altLang="en-US" sz="28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214282" y="2000240"/>
            <a:ext cx="8534400" cy="10001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3200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全部数组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元素赋初值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按行赋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1470" y="3000372"/>
            <a:ext cx="9144000" cy="1169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例如：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x[2][3]={{1,2,3},{4,5,6}};</a:t>
            </a:r>
          </a:p>
          <a:p>
            <a:r>
              <a:rPr lang="en-US" altLang="zh-CN" sz="2800" dirty="0"/>
              <a:t>x[0][0]=1,x[0][1]=2,x[0][2]=3,x[1][0]=4,x[1][1]=5,x[1][2]=6;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214282" y="2928934"/>
            <a:ext cx="8534400" cy="5277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按存放顺序赋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3500438"/>
            <a:ext cx="9144000" cy="1169551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r>
              <a:rPr lang="zh-CN" altLang="en-US" sz="2800" b="1" dirty="0"/>
              <a:t>例如：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x[2][3]={1,2,3,4,5,6};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x[0][0]=1,x[0][1]=2,x[0][2]=3,x[1][0]=4,x[1][1]=5,x[1][2]=6;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1004" y="3429000"/>
            <a:ext cx="8534400" cy="5277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省略第一维长度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0" y="4071942"/>
            <a:ext cx="9144000" cy="1305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例如：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 ][3]={1,2,3,4,5,6};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x[0][0]=1,x[0][1]=2,x[0][2]=3,x[1][0]=4,x[1][1]=5,x[1][2]=6;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67971" y="260648"/>
            <a:ext cx="8893175" cy="708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华文行楷" panose="02010800040101010101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6.2.3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二维数组的初始化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5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10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5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slide(fromBottom)">
                                      <p:cBhvr>
                                        <p:cTn id="59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55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5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7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5" grpId="0" build="allAtOnce" animBg="1"/>
      <p:bldP spid="6" grpId="0"/>
      <p:bldP spid="7" grpId="0" build="allAtOnce"/>
      <p:bldP spid="8" grpId="0"/>
      <p:bldP spid="9" grpId="0" build="allAtOnce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ChangeArrowheads="1"/>
          </p:cNvSpPr>
          <p:nvPr/>
        </p:nvSpPr>
        <p:spPr bwMode="auto">
          <a:xfrm>
            <a:off x="0" y="500042"/>
            <a:ext cx="8534400" cy="10001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对</a:t>
            </a:r>
            <a:r>
              <a:rPr lang="zh-CN" altLang="en-US" sz="3200" i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部分数组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元素赋初值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按行赋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0" y="2428868"/>
            <a:ext cx="9144000" cy="1305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例如：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x[2][3]={{1,2},{4}};	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x[0][0]=1,x[0][1]=2,x[0][2]=0,x[1][0]=1,x[1][1]=0,x[1][2]=0;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571612"/>
            <a:ext cx="8534400" cy="5277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按存放顺序赋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0" y="3786190"/>
            <a:ext cx="9144000" cy="13051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例如：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x[2][3]={1,2,4};		</a:t>
            </a:r>
          </a:p>
          <a:p>
            <a:pPr>
              <a:lnSpc>
                <a:spcPct val="150000"/>
              </a:lnSpc>
            </a:pPr>
            <a:r>
              <a:rPr lang="en-US" altLang="zh-CN" sz="2800" dirty="0"/>
              <a:t>x[0][0]=1,x[0][1]=2,x[0][2]=4,x[1][0]=0,x[1][1]=0,x[1][2]=0;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0" y="2000240"/>
            <a:ext cx="8534400" cy="52773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省略第一维长度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-71470" y="4917152"/>
            <a:ext cx="9144000" cy="6549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/>
              <a:t>例如：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 ][3]={{1,2},{3,4,5},{6}};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512" y="2779926"/>
            <a:ext cx="9144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sz="2800" b="1" dirty="0"/>
              <a:t>例如：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x[2][3]={{6,2},{5,</a:t>
            </a:r>
            <a:r>
              <a:rPr lang="en-US" altLang="zh-CN" sz="2800" dirty="0">
                <a:solidFill>
                  <a:srgbClr val="0000FF"/>
                </a:solidFill>
              </a:rPr>
              <a:t>0</a:t>
            </a:r>
            <a:r>
              <a:rPr lang="en-US" altLang="zh-CN" sz="2800" dirty="0"/>
              <a:t>,6}};</a:t>
            </a:r>
          </a:p>
          <a:p>
            <a:pPr marL="0" lvl="1"/>
            <a:r>
              <a:rPr lang="en-US" altLang="zh-CN" sz="2800" dirty="0"/>
              <a:t>x[0][0]=6,x[0][1]=2,x[0][2]=0,x[1][0]=5,</a:t>
            </a:r>
            <a:r>
              <a:rPr lang="en-US" altLang="zh-CN" sz="2800" dirty="0">
                <a:solidFill>
                  <a:srgbClr val="0000FF"/>
                </a:solidFill>
              </a:rPr>
              <a:t>x[1][1]=0,</a:t>
            </a:r>
            <a:r>
              <a:rPr lang="en-US" altLang="zh-CN" sz="2800" dirty="0"/>
              <a:t>x[1][2]=6;</a:t>
            </a:r>
          </a:p>
        </p:txBody>
      </p:sp>
      <p:sp>
        <p:nvSpPr>
          <p:cNvPr id="11" name="云形标注 10"/>
          <p:cNvSpPr/>
          <p:nvPr/>
        </p:nvSpPr>
        <p:spPr>
          <a:xfrm>
            <a:off x="3714744" y="4786322"/>
            <a:ext cx="5072098" cy="1500198"/>
          </a:xfrm>
          <a:prstGeom prst="cloudCallout">
            <a:avLst>
              <a:gd name="adj1" fmla="val -255"/>
              <a:gd name="adj2" fmla="val -126662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跳过前面的数组元素给后面的数组元素赋值。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xit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5" grpId="0"/>
      <p:bldP spid="5" grpId="0"/>
      <p:bldP spid="5" grpId="1"/>
      <p:bldP spid="6" grpId="0"/>
      <p:bldP spid="7" grpId="0"/>
      <p:bldP spid="7" grpId="1"/>
      <p:bldP spid="8" grpId="0"/>
      <p:bldP spid="9" grpId="0" build="allAtOnce"/>
      <p:bldP spid="10" grpId="0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395288" y="476250"/>
            <a:ext cx="7921625" cy="4752975"/>
          </a:xfrm>
        </p:spPr>
        <p:txBody>
          <a:bodyPr/>
          <a:lstStyle/>
          <a:p>
            <a:pPr eaLnBrk="1" hangingPunct="1"/>
            <a:r>
              <a:rPr lang="zh-CN" altLang="en-US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例：读程序写出结果。</a:t>
            </a:r>
            <a:endParaRPr lang="en-US" altLang="zh-CN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r>
              <a:rPr lang="en-US" sz="2800" dirty="0" err="1"/>
              <a:t>int</a:t>
            </a:r>
            <a:r>
              <a:rPr lang="en-US" sz="2800" dirty="0"/>
              <a:t> main( )</a:t>
            </a:r>
          </a:p>
          <a:p>
            <a:pPr eaLnBrk="1" hangingPunct="1"/>
            <a:r>
              <a:rPr lang="en-US" sz="2800" dirty="0"/>
              <a:t>{ </a:t>
            </a:r>
            <a:r>
              <a:rPr lang="en-US" sz="2800" dirty="0" err="1"/>
              <a:t>int</a:t>
            </a:r>
            <a:r>
              <a:rPr lang="en-US" sz="2800" dirty="0"/>
              <a:t> a[3][3]={{1,2},{3,4,5},{6,7}},</a:t>
            </a:r>
            <a:r>
              <a:rPr lang="en-US" sz="2800" dirty="0" err="1"/>
              <a:t>i,j</a:t>
            </a:r>
            <a:r>
              <a:rPr lang="en-US" sz="2800" dirty="0"/>
              <a:t>;</a:t>
            </a:r>
          </a:p>
          <a:p>
            <a:pPr eaLnBrk="1" hangingPunct="1"/>
            <a:r>
              <a:rPr lang="en-US" sz="2800" dirty="0"/>
              <a:t>    </a:t>
            </a:r>
            <a:r>
              <a:rPr lang="en-US" sz="2800" dirty="0" err="1"/>
              <a:t>int</a:t>
            </a:r>
            <a:r>
              <a:rPr lang="en-US" sz="2800" dirty="0"/>
              <a:t> s=0;</a:t>
            </a:r>
          </a:p>
          <a:p>
            <a:pPr eaLnBrk="1" hangingPunct="1"/>
            <a:r>
              <a:rPr lang="en-US" sz="2800" dirty="0"/>
              <a:t> for(</a:t>
            </a:r>
            <a:r>
              <a:rPr lang="en-US" sz="2800" dirty="0" err="1"/>
              <a:t>i</a:t>
            </a:r>
            <a:r>
              <a:rPr lang="en-US" sz="2800" dirty="0"/>
              <a:t>=1;i&lt;3;i++)</a:t>
            </a:r>
          </a:p>
          <a:p>
            <a:pPr eaLnBrk="1" hangingPunct="1"/>
            <a:r>
              <a:rPr lang="en-US" sz="2800" dirty="0"/>
              <a:t>  for(j=0;j&lt;=2;j++)</a:t>
            </a:r>
          </a:p>
          <a:p>
            <a:pPr eaLnBrk="1" hangingPunct="1"/>
            <a:r>
              <a:rPr lang="en-US" sz="2800" dirty="0"/>
              <a:t>   s+=a[</a:t>
            </a:r>
            <a:r>
              <a:rPr lang="en-US" sz="2800" dirty="0" err="1"/>
              <a:t>i</a:t>
            </a:r>
            <a:r>
              <a:rPr lang="en-US" sz="2800" dirty="0"/>
              <a:t>][j];</a:t>
            </a:r>
          </a:p>
          <a:p>
            <a:pPr eaLnBrk="1" hangingPunct="1"/>
            <a:r>
              <a:rPr lang="en-US" sz="2800" dirty="0"/>
              <a:t> </a:t>
            </a:r>
            <a:r>
              <a:rPr lang="en-US" sz="2800" dirty="0" err="1"/>
              <a:t>printf</a:t>
            </a:r>
            <a:r>
              <a:rPr lang="en-US" sz="2800" dirty="0"/>
              <a:t>(“%d\</a:t>
            </a:r>
            <a:r>
              <a:rPr lang="en-US" sz="2800" dirty="0" err="1"/>
              <a:t>n”,s</a:t>
            </a:r>
            <a:r>
              <a:rPr lang="en-US" sz="2800" dirty="0"/>
              <a:t>);</a:t>
            </a:r>
          </a:p>
          <a:p>
            <a:pPr eaLnBrk="1" hangingPunct="1"/>
            <a:r>
              <a:rPr lang="en-US" sz="2800" dirty="0"/>
              <a:t> return 0;</a:t>
            </a:r>
          </a:p>
          <a:p>
            <a:pPr eaLnBrk="1" hangingPunct="1"/>
            <a:r>
              <a:rPr lang="en-US" sz="2800" dirty="0"/>
              <a:t>}</a:t>
            </a:r>
          </a:p>
        </p:txBody>
      </p:sp>
      <p:sp>
        <p:nvSpPr>
          <p:cNvPr id="16387" name="Text Box 4"/>
          <p:cNvSpPr txBox="1">
            <a:spLocks noChangeArrowheads="1"/>
          </p:cNvSpPr>
          <p:nvPr/>
        </p:nvSpPr>
        <p:spPr bwMode="auto">
          <a:xfrm>
            <a:off x="5429256" y="3071810"/>
            <a:ext cx="2339102" cy="95410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r>
              <a:rPr 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运行结果为</a:t>
            </a:r>
            <a:r>
              <a:rPr lang="zh-CN" sz="2800" dirty="0"/>
              <a:t>：</a:t>
            </a:r>
          </a:p>
          <a:p>
            <a:r>
              <a:rPr lang="zh-CN" sz="2800" dirty="0"/>
              <a:t>   </a:t>
            </a:r>
            <a:r>
              <a:rPr lang="en-US" sz="2800" dirty="0"/>
              <a:t>25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107950" y="642938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6.2.4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二维数组程序举例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03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81856" y="1484784"/>
            <a:ext cx="8643938" cy="1428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3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6.4 </a:t>
            </a:r>
            <a:r>
              <a:rPr lang="zh-CN" altLang="zh-CN" sz="32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将一个二维数组行和列的元素互换，存到另一个二维数组中。</a:t>
            </a:r>
            <a:endParaRPr lang="zh-CN" altLang="zh-CN" sz="3200" b="1" kern="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1285875" y="3357563"/>
          <a:ext cx="2598738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927100" imgH="457200" progId="Equation.3">
                  <p:embed/>
                </p:oleObj>
              </mc:Choice>
              <mc:Fallback>
                <p:oleObj name="公式" r:id="rId4" imgW="927100" imgH="457200" progId="Equation.3">
                  <p:embed/>
                  <p:pic>
                    <p:nvPicPr>
                      <p:cNvPr id="0" name="Picture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875" y="3357563"/>
                        <a:ext cx="2598738" cy="1285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Object 5"/>
          <p:cNvGraphicFramePr>
            <a:graphicFrameLocks noChangeAspect="1"/>
          </p:cNvGraphicFramePr>
          <p:nvPr/>
        </p:nvGraphicFramePr>
        <p:xfrm>
          <a:off x="5643563" y="3071813"/>
          <a:ext cx="1928812" cy="198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98500" imgH="711200" progId="Equation.3">
                  <p:embed/>
                </p:oleObj>
              </mc:Choice>
              <mc:Fallback>
                <p:oleObj name="公式" r:id="rId6" imgW="698500" imgH="711200" progId="Equation.3">
                  <p:embed/>
                  <p:pic>
                    <p:nvPicPr>
                      <p:cNvPr id="0" name="Picture 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3563" y="3071813"/>
                        <a:ext cx="1928812" cy="1981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右箭头 11"/>
          <p:cNvSpPr>
            <a:spLocks noChangeArrowheads="1"/>
          </p:cNvSpPr>
          <p:nvPr/>
        </p:nvSpPr>
        <p:spPr bwMode="auto">
          <a:xfrm>
            <a:off x="4000500" y="3786188"/>
            <a:ext cx="1428750" cy="50006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38100" algn="ctr">
            <a:solidFill>
              <a:srgbClr val="0000CC"/>
            </a:solidFill>
            <a:miter lim="800000"/>
          </a:ln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160586" y="225152"/>
            <a:ext cx="8534152" cy="5072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解题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思路：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定义两个数组：数组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列，存放指定的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个数</a:t>
            </a: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列，开始时未赋值</a:t>
            </a: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将</a:t>
            </a:r>
            <a:r>
              <a:rPr lang="en-US" altLang="zh-CN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数组中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元素赋给</a:t>
            </a:r>
            <a:r>
              <a:rPr lang="en-US" altLang="zh-CN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数组中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列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元素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a[0][0] 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赋给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b[0][0]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a[0][1] 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赋给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b[1][0]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a[0][2] 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赋给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b[2][0]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，……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可以用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双层循环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来处理，用外循环控制行的变化，内循环控制列的变化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96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096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pSp>
        <p:nvGrpSpPr>
          <p:cNvPr id="6" name="Group 8"/>
          <p:cNvGrpSpPr/>
          <p:nvPr/>
        </p:nvGrpSpPr>
        <p:grpSpPr bwMode="auto">
          <a:xfrm>
            <a:off x="4576805" y="4978128"/>
            <a:ext cx="3389312" cy="1763713"/>
            <a:chOff x="3269" y="2584"/>
            <a:chExt cx="2135" cy="1111"/>
          </a:xfrm>
        </p:grpSpPr>
        <p:sp>
          <p:nvSpPr>
            <p:cNvPr id="8" name="Rectangle 9"/>
            <p:cNvSpPr>
              <a:spLocks noChangeArrowheads="1"/>
            </p:cNvSpPr>
            <p:nvPr/>
          </p:nvSpPr>
          <p:spPr bwMode="auto">
            <a:xfrm>
              <a:off x="3269" y="2584"/>
              <a:ext cx="2135" cy="11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</a:ln>
            <a:effectLst>
              <a:outerShdw dist="107763" dir="135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r>
                <a:rPr kumimoji="1" lang="en-US" altLang="zh-CN" b="1" dirty="0">
                  <a:latin typeface="Courier New" panose="02070309020205020404" pitchFamily="49" charset="0"/>
                </a:rPr>
                <a:t>for(</a:t>
              </a:r>
              <a:r>
                <a:rPr kumimoji="1" lang="en-US" altLang="zh-CN" b="1" dirty="0" err="1">
                  <a:latin typeface="Courier New" panose="02070309020205020404" pitchFamily="49" charset="0"/>
                </a:rPr>
                <a:t>i</a:t>
              </a:r>
              <a:r>
                <a:rPr kumimoji="1" lang="en-US" altLang="zh-CN" b="1" dirty="0">
                  <a:latin typeface="Courier New" panose="02070309020205020404" pitchFamily="49" charset="0"/>
                </a:rPr>
                <a:t>=0;i&lt;2;i++)</a:t>
              </a: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</p:txBody>
        </p: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3540" y="2899"/>
              <a:ext cx="1862" cy="79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r>
                <a:rPr kumimoji="1" lang="en-US" altLang="zh-CN" b="1" dirty="0">
                  <a:latin typeface="Courier New" panose="02070309020205020404" pitchFamily="49" charset="0"/>
                </a:rPr>
                <a:t>for(j=0;j&lt;3;j++)</a:t>
              </a: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  <a:p>
              <a:pPr algn="ctr"/>
              <a:endParaRPr kumimoji="1" lang="en-US" altLang="zh-CN" b="1" dirty="0">
                <a:latin typeface="Courier New" panose="02070309020205020404" pitchFamily="49" charset="0"/>
              </a:endParaRPr>
            </a:p>
          </p:txBody>
        </p:sp>
        <p:sp>
          <p:nvSpPr>
            <p:cNvPr id="10" name="Rectangle 11"/>
            <p:cNvSpPr>
              <a:spLocks noChangeArrowheads="1"/>
            </p:cNvSpPr>
            <p:nvPr/>
          </p:nvSpPr>
          <p:spPr bwMode="auto">
            <a:xfrm>
              <a:off x="3806" y="3221"/>
              <a:ext cx="1592" cy="47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00800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53882" dir="135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kumimoji="1"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b[</a:t>
              </a:r>
              <a:r>
                <a:rPr kumimoji="1" lang="en-US" altLang="zh-CN" b="1" dirty="0" err="1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][j] = a[j][</a:t>
              </a:r>
              <a:r>
                <a:rPr kumimoji="1" lang="en-US" altLang="zh-CN" b="1" dirty="0" err="1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1" lang="en-US" altLang="zh-CN" b="1" dirty="0">
                  <a:solidFill>
                    <a:srgbClr val="FF00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]</a:t>
              </a:r>
            </a:p>
          </p:txBody>
        </p:sp>
      </p:grp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5853857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7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88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285750" y="-27384"/>
            <a:ext cx="7786688" cy="621506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#include &lt;</a:t>
            </a:r>
            <a:r>
              <a:rPr lang="en-US" altLang="zh-CN" sz="2800" b="1" kern="0" dirty="0" err="1">
                <a:latin typeface="+mn-lt"/>
                <a:ea typeface="+mn-ea"/>
              </a:rPr>
              <a:t>stdio.h</a:t>
            </a:r>
            <a:r>
              <a:rPr lang="en-US" altLang="zh-CN" sz="2800" b="1" kern="0" dirty="0">
                <a:latin typeface="+mn-lt"/>
                <a:ea typeface="+mn-ea"/>
              </a:rPr>
              <a:t>&gt;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 err="1"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latin typeface="+mn-lt"/>
                <a:ea typeface="+mn-ea"/>
              </a:rPr>
              <a:t> main()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{  </a:t>
            </a:r>
            <a:r>
              <a:rPr lang="en-US" altLang="zh-CN" sz="2800" b="1" kern="0" dirty="0" err="1"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latin typeface="+mn-lt"/>
                <a:ea typeface="+mn-ea"/>
              </a:rPr>
              <a:t> a[2][3]={{1,2,3},{4,5,6}};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</a:t>
            </a:r>
            <a:r>
              <a:rPr lang="en-US" altLang="zh-CN" sz="2800" b="1" kern="0" dirty="0" err="1">
                <a:latin typeface="+mn-lt"/>
                <a:ea typeface="+mn-ea"/>
              </a:rPr>
              <a:t>int</a:t>
            </a:r>
            <a:r>
              <a:rPr lang="en-US" altLang="zh-CN" sz="2800" b="1" kern="0" dirty="0">
                <a:latin typeface="+mn-lt"/>
                <a:ea typeface="+mn-ea"/>
              </a:rPr>
              <a:t> b[3][2],</a:t>
            </a:r>
            <a:r>
              <a:rPr lang="en-US" altLang="zh-CN" sz="2800" b="1" kern="0" dirty="0" err="1">
                <a:latin typeface="+mn-lt"/>
                <a:ea typeface="+mn-ea"/>
              </a:rPr>
              <a:t>i,j</a:t>
            </a:r>
            <a:r>
              <a:rPr lang="en-US" altLang="zh-CN" sz="2800" b="1" kern="0" dirty="0">
                <a:latin typeface="+mn-lt"/>
                <a:ea typeface="+mn-ea"/>
              </a:rPr>
              <a:t>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</a:t>
            </a: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("array a:\n");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for (</a:t>
            </a:r>
            <a:r>
              <a:rPr lang="en-US" altLang="zh-CN" sz="2800" b="1" kern="0" dirty="0" err="1"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latin typeface="+mn-lt"/>
                <a:ea typeface="+mn-ea"/>
              </a:rPr>
              <a:t>=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en-US" altLang="zh-CN" sz="2800" b="1" kern="0" dirty="0">
                <a:latin typeface="+mn-lt"/>
                <a:ea typeface="+mn-ea"/>
              </a:rPr>
              <a:t>;i&lt;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r>
              <a:rPr lang="en-US" altLang="zh-CN" sz="2800" b="1" kern="0" dirty="0">
                <a:latin typeface="+mn-lt"/>
                <a:ea typeface="+mn-ea"/>
              </a:rPr>
              <a:t>;i++)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{ for (j=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en-US" altLang="zh-CN" sz="2800" b="1" kern="0" dirty="0">
                <a:latin typeface="+mn-lt"/>
                <a:ea typeface="+mn-ea"/>
              </a:rPr>
              <a:t>;j&lt;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3</a:t>
            </a:r>
            <a:r>
              <a:rPr lang="en-US" altLang="zh-CN" sz="2800" b="1" kern="0" dirty="0">
                <a:latin typeface="+mn-lt"/>
                <a:ea typeface="+mn-ea"/>
              </a:rPr>
              <a:t>;j++)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{  </a:t>
            </a: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("%5d",a[</a:t>
            </a:r>
            <a:r>
              <a:rPr lang="en-US" altLang="zh-CN" sz="2800" b="1" kern="0" dirty="0" err="1"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latin typeface="+mn-lt"/>
                <a:ea typeface="+mn-ea"/>
              </a:rPr>
              <a:t>][j]);   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</a:t>
            </a: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b[j][</a:t>
            </a:r>
            <a:r>
              <a:rPr lang="en-US" altLang="zh-CN" sz="2800" b="1" kern="0" dirty="0" err="1">
                <a:solidFill>
                  <a:srgbClr val="C0000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]=a[</a:t>
            </a:r>
            <a:r>
              <a:rPr lang="en-US" altLang="zh-CN" sz="2800" b="1" kern="0" dirty="0" err="1">
                <a:solidFill>
                  <a:srgbClr val="C00000"/>
                </a:solidFill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solidFill>
                  <a:srgbClr val="C00000"/>
                </a:solidFill>
                <a:latin typeface="+mn-lt"/>
                <a:ea typeface="+mn-ea"/>
              </a:rPr>
              <a:t>][j];</a:t>
            </a:r>
            <a:r>
              <a:rPr lang="en-US" altLang="zh-CN" sz="2800" b="1" kern="0" dirty="0">
                <a:latin typeface="+mn-lt"/>
                <a:ea typeface="+mn-ea"/>
              </a:rPr>
              <a:t>     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}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</a:t>
            </a: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("\n");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}</a:t>
            </a:r>
          </a:p>
        </p:txBody>
      </p:sp>
      <p:sp>
        <p:nvSpPr>
          <p:cNvPr id="4199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199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786312" y="2492896"/>
            <a:ext cx="309805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err="1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数的变化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4786312" y="2992958"/>
            <a:ext cx="3571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j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控制列数的变化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5169742" y="3516833"/>
            <a:ext cx="2714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各元素</a:t>
            </a:r>
            <a:endParaRPr lang="zh-CN" altLang="en-US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857750" y="3993083"/>
            <a:ext cx="41433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元素值赋给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相应元素</a:t>
            </a:r>
            <a:endParaRPr lang="zh-CN" altLang="en-US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1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251520" y="332656"/>
            <a:ext cx="6715125" cy="4429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</a:t>
            </a: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("array b:\n");  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for (</a:t>
            </a:r>
            <a:r>
              <a:rPr lang="en-US" altLang="zh-CN" sz="2800" b="1" kern="0" dirty="0" err="1"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latin typeface="+mn-lt"/>
                <a:ea typeface="+mn-ea"/>
              </a:rPr>
              <a:t>=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en-US" altLang="zh-CN" sz="2800" b="1" kern="0" dirty="0">
                <a:latin typeface="+mn-lt"/>
                <a:ea typeface="+mn-ea"/>
              </a:rPr>
              <a:t>;i&lt;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3</a:t>
            </a:r>
            <a:r>
              <a:rPr lang="en-US" altLang="zh-CN" sz="2800" b="1" kern="0" dirty="0">
                <a:latin typeface="+mn-lt"/>
                <a:ea typeface="+mn-ea"/>
              </a:rPr>
              <a:t>;i++)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{  for(j=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en-US" altLang="zh-CN" sz="2800" b="1" kern="0" dirty="0">
                <a:latin typeface="+mn-lt"/>
                <a:ea typeface="+mn-ea"/>
              </a:rPr>
              <a:t>;j&lt;</a:t>
            </a:r>
            <a:r>
              <a:rPr lang="en-US" altLang="zh-CN" sz="2800" b="1" kern="0" dirty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r>
              <a:rPr lang="en-US" altLang="zh-CN" sz="2800" b="1" kern="0" dirty="0">
                <a:latin typeface="+mn-lt"/>
                <a:ea typeface="+mn-ea"/>
              </a:rPr>
              <a:t>;j++)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</a:t>
            </a: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("%5d",b[</a:t>
            </a:r>
            <a:r>
              <a:rPr lang="en-US" altLang="zh-CN" sz="2800" b="1" kern="0" dirty="0" err="1">
                <a:latin typeface="+mn-lt"/>
                <a:ea typeface="+mn-ea"/>
              </a:rPr>
              <a:t>i</a:t>
            </a:r>
            <a:r>
              <a:rPr lang="en-US" altLang="zh-CN" sz="2800" b="1" kern="0" dirty="0">
                <a:latin typeface="+mn-lt"/>
                <a:ea typeface="+mn-ea"/>
              </a:rPr>
              <a:t>][j]);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</a:t>
            </a:r>
            <a:r>
              <a:rPr lang="en-US" altLang="zh-CN" sz="2800" b="1" kern="0" dirty="0" err="1">
                <a:latin typeface="+mn-lt"/>
                <a:ea typeface="+mn-ea"/>
              </a:rPr>
              <a:t>printf</a:t>
            </a:r>
            <a:r>
              <a:rPr lang="en-US" altLang="zh-CN" sz="2800" b="1" kern="0" dirty="0">
                <a:latin typeface="+mn-lt"/>
                <a:ea typeface="+mn-ea"/>
              </a:rPr>
              <a:t>("\n");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}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return 0;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}    </a:t>
            </a:r>
            <a:endParaRPr lang="zh-CN" altLang="zh-CN" sz="2800" b="1" kern="0" dirty="0">
              <a:latin typeface="+mn-lt"/>
              <a:ea typeface="+mn-ea"/>
            </a:endParaRPr>
          </a:p>
        </p:txBody>
      </p: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5109270" y="904156"/>
            <a:ext cx="27146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各元素</a:t>
            </a:r>
            <a:endParaRPr lang="zh-CN" altLang="en-US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863" y="2924944"/>
            <a:ext cx="3881437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37135" y="404664"/>
            <a:ext cx="8643937" cy="5572125"/>
          </a:xfrm>
        </p:spPr>
        <p:txBody>
          <a:bodyPr/>
          <a:lstStyle/>
          <a:p>
            <a:pPr mar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6.5 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有一个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的矩阵，要求编程序求出其中值最大的那个元素的值，以及其所在的行号和列号。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解题思路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打擂台算法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先找出任一人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站在台上，第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人上去与之比武，胜者留在台上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人与台上的人比武，胜者留台上，败者下台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以后每一个人都是与当时留在台上的人比武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直到所有人都上台比为止，最后留在台上的是冠军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zh-CN" sz="28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0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301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3013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0031" y="377825"/>
            <a:ext cx="8643937" cy="6000750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6.5 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有一个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的矩阵，要求编程序求出其中值最大的那个元素的值，以及其所在的行号和列号。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解题思路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采用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打擂台算法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”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先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把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a[0][0]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的值赋给变量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max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max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用来存放当前已知的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最大值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a[0][1]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max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比较，如果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a[0][1]&gt;max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，则表示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a[0][1]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是已经比过的数据中值最大的，把它的值赋给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max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，取代了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max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的原值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以后依此处理，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最后</a:t>
            </a:r>
            <a:r>
              <a:rPr lang="en-US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max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就是最大的值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zh-CN" sz="2800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0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40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44037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58" name="组合 31"/>
          <p:cNvGrpSpPr/>
          <p:nvPr/>
        </p:nvGrpSpPr>
        <p:grpSpPr bwMode="auto">
          <a:xfrm>
            <a:off x="1714500" y="857250"/>
            <a:ext cx="5857875" cy="5000625"/>
            <a:chOff x="1714480" y="857232"/>
            <a:chExt cx="5857916" cy="5000661"/>
          </a:xfrm>
        </p:grpSpPr>
        <p:sp>
          <p:nvSpPr>
            <p:cNvPr id="45060" name="流程图: 过程 14"/>
            <p:cNvSpPr>
              <a:spLocks noChangeArrowheads="1"/>
            </p:cNvSpPr>
            <p:nvPr/>
          </p:nvSpPr>
          <p:spPr bwMode="auto">
            <a:xfrm>
              <a:off x="1714500" y="1500189"/>
              <a:ext cx="5857896" cy="4357704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</a:ln>
          </p:spPr>
          <p:txBody>
            <a:bodyPr wrap="none"/>
            <a:lstStyle/>
            <a:p>
              <a:r>
                <a:rPr lang="en-US" altLang="zh-CN" sz="3200" b="1"/>
                <a:t>          for i=0  to  2</a:t>
              </a:r>
              <a:endParaRPr lang="zh-CN" altLang="en-US" sz="3200" b="1"/>
            </a:p>
          </p:txBody>
        </p:sp>
        <p:sp>
          <p:nvSpPr>
            <p:cNvPr id="45061" name="矩形 16"/>
            <p:cNvSpPr>
              <a:spLocks noChangeArrowheads="1"/>
            </p:cNvSpPr>
            <p:nvPr/>
          </p:nvSpPr>
          <p:spPr bwMode="auto">
            <a:xfrm>
              <a:off x="2285984" y="2143116"/>
              <a:ext cx="5286412" cy="3071834"/>
            </a:xfrm>
            <a:prstGeom prst="rect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</a:ln>
          </p:spPr>
          <p:txBody>
            <a:bodyPr wrap="none"/>
            <a:lstStyle/>
            <a:p>
              <a:r>
                <a:rPr lang="en-US" altLang="zh-CN" sz="3200" b="1"/>
                <a:t>        for  j=0  to  3</a:t>
              </a:r>
              <a:endParaRPr lang="zh-CN" altLang="en-US" sz="3200" b="1" baseline="30000"/>
            </a:p>
          </p:txBody>
        </p:sp>
        <p:sp>
          <p:nvSpPr>
            <p:cNvPr id="45062" name="流程图: 过程 17"/>
            <p:cNvSpPr>
              <a:spLocks noChangeArrowheads="1"/>
            </p:cNvSpPr>
            <p:nvPr/>
          </p:nvSpPr>
          <p:spPr bwMode="auto">
            <a:xfrm>
              <a:off x="2786063" y="2643188"/>
              <a:ext cx="4786333" cy="2571762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</a:ln>
          </p:spPr>
          <p:txBody>
            <a:bodyPr wrap="none"/>
            <a:lstStyle/>
            <a:p>
              <a:endParaRPr lang="en-US" altLang="zh-CN" sz="2800"/>
            </a:p>
            <a:p>
              <a:endParaRPr lang="en-US" altLang="zh-CN" sz="2800"/>
            </a:p>
            <a:p>
              <a:pPr>
                <a:lnSpc>
                  <a:spcPct val="120000"/>
                </a:lnSpc>
              </a:pPr>
              <a:r>
                <a:rPr lang="en-US" altLang="zh-CN" sz="2800" b="1"/>
                <a:t>max=a[i][j]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800" b="1"/>
                <a:t>row=I</a:t>
              </a:r>
            </a:p>
            <a:p>
              <a:pPr>
                <a:lnSpc>
                  <a:spcPct val="120000"/>
                </a:lnSpc>
              </a:pPr>
              <a:r>
                <a:rPr lang="en-US" altLang="zh-CN" sz="2800" b="1"/>
                <a:t>colum=j</a:t>
              </a:r>
            </a:p>
            <a:p>
              <a:endParaRPr lang="zh-CN" altLang="en-US" sz="3200"/>
            </a:p>
          </p:txBody>
        </p:sp>
        <p:sp>
          <p:nvSpPr>
            <p:cNvPr id="45063" name="流程图: 过程 18"/>
            <p:cNvSpPr>
              <a:spLocks noChangeArrowheads="1"/>
            </p:cNvSpPr>
            <p:nvPr/>
          </p:nvSpPr>
          <p:spPr bwMode="auto">
            <a:xfrm>
              <a:off x="4143371" y="2643182"/>
              <a:ext cx="2357455" cy="642938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r>
                <a:rPr lang="en-US" altLang="zh-CN" sz="3200" b="1"/>
                <a:t>a[i][j]&gt;max</a:t>
              </a:r>
              <a:endParaRPr lang="zh-CN" altLang="en-US" sz="3200" b="1"/>
            </a:p>
          </p:txBody>
        </p:sp>
        <p:sp>
          <p:nvSpPr>
            <p:cNvPr id="45064" name="流程图: 过程 19"/>
            <p:cNvSpPr>
              <a:spLocks noChangeArrowheads="1"/>
            </p:cNvSpPr>
            <p:nvPr/>
          </p:nvSpPr>
          <p:spPr bwMode="auto">
            <a:xfrm>
              <a:off x="2928926" y="2928938"/>
              <a:ext cx="714380" cy="642938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r>
                <a:rPr lang="zh-CN" altLang="en-US" sz="3200" b="1"/>
                <a:t>真</a:t>
              </a:r>
            </a:p>
          </p:txBody>
        </p:sp>
        <p:sp>
          <p:nvSpPr>
            <p:cNvPr id="45065" name="流程图: 过程 22"/>
            <p:cNvSpPr>
              <a:spLocks noChangeArrowheads="1"/>
            </p:cNvSpPr>
            <p:nvPr/>
          </p:nvSpPr>
          <p:spPr bwMode="auto">
            <a:xfrm>
              <a:off x="1714480" y="857232"/>
              <a:ext cx="5857916" cy="642938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</a:ln>
          </p:spPr>
          <p:txBody>
            <a:bodyPr wrap="none"/>
            <a:lstStyle/>
            <a:p>
              <a:r>
                <a:rPr lang="en-US" altLang="zh-CN" sz="3200" b="1"/>
                <a:t>          max=a[0][0]</a:t>
              </a:r>
              <a:endParaRPr lang="zh-CN" altLang="en-US" sz="3200" b="1"/>
            </a:p>
          </p:txBody>
        </p:sp>
        <p:sp>
          <p:nvSpPr>
            <p:cNvPr id="45066" name="流程图: 过程 23"/>
            <p:cNvSpPr>
              <a:spLocks noChangeArrowheads="1"/>
            </p:cNvSpPr>
            <p:nvPr/>
          </p:nvSpPr>
          <p:spPr bwMode="auto">
            <a:xfrm>
              <a:off x="1714480" y="5214950"/>
              <a:ext cx="5857916" cy="642938"/>
            </a:xfrm>
            <a:prstGeom prst="flowChartProcess">
              <a:avLst/>
            </a:prstGeom>
            <a:solidFill>
              <a:schemeClr val="accent1"/>
            </a:solidFill>
            <a:ln w="38100" algn="ctr">
              <a:solidFill>
                <a:srgbClr val="0000CC"/>
              </a:solidFill>
              <a:miter lim="800000"/>
            </a:ln>
          </p:spPr>
          <p:txBody>
            <a:bodyPr wrap="none"/>
            <a:lstStyle/>
            <a:p>
              <a:pPr algn="ctr"/>
              <a:r>
                <a:rPr lang="zh-CN" altLang="en-US" sz="3200" b="1"/>
                <a:t>输出：</a:t>
              </a:r>
              <a:r>
                <a:rPr lang="en-US" altLang="zh-CN" sz="3200" b="1"/>
                <a:t>max,row,colum</a:t>
              </a:r>
              <a:endParaRPr lang="zh-CN" altLang="en-US" sz="3200" b="1"/>
            </a:p>
          </p:txBody>
        </p:sp>
        <p:cxnSp>
          <p:nvCxnSpPr>
            <p:cNvPr id="45067" name="直接连接符 18"/>
            <p:cNvCxnSpPr>
              <a:cxnSpLocks noChangeShapeType="1"/>
            </p:cNvCxnSpPr>
            <p:nvPr/>
          </p:nvCxnSpPr>
          <p:spPr bwMode="auto">
            <a:xfrm>
              <a:off x="2786050" y="3571876"/>
              <a:ext cx="4786346" cy="0"/>
            </a:xfrm>
            <a:prstGeom prst="line">
              <a:avLst/>
            </a:prstGeom>
            <a:noFill/>
            <a:ln w="38100" algn="ctr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8" name="直接连接符 19"/>
            <p:cNvCxnSpPr>
              <a:cxnSpLocks noChangeShapeType="1"/>
            </p:cNvCxnSpPr>
            <p:nvPr/>
          </p:nvCxnSpPr>
          <p:spPr bwMode="auto">
            <a:xfrm flipV="1">
              <a:off x="5286380" y="2643182"/>
              <a:ext cx="2286016" cy="928694"/>
            </a:xfrm>
            <a:prstGeom prst="line">
              <a:avLst/>
            </a:prstGeom>
            <a:noFill/>
            <a:ln w="38100" algn="ctr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069" name="直接连接符 22"/>
            <p:cNvCxnSpPr>
              <a:cxnSpLocks noChangeShapeType="1"/>
            </p:cNvCxnSpPr>
            <p:nvPr/>
          </p:nvCxnSpPr>
          <p:spPr bwMode="auto">
            <a:xfrm>
              <a:off x="2786050" y="2643182"/>
              <a:ext cx="2571768" cy="928694"/>
            </a:xfrm>
            <a:prstGeom prst="line">
              <a:avLst/>
            </a:prstGeom>
            <a:noFill/>
            <a:ln w="38100" algn="ctr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5070" name="流程图: 过程 19"/>
            <p:cNvSpPr>
              <a:spLocks noChangeArrowheads="1"/>
            </p:cNvSpPr>
            <p:nvPr/>
          </p:nvSpPr>
          <p:spPr bwMode="auto">
            <a:xfrm>
              <a:off x="6715140" y="2928934"/>
              <a:ext cx="714380" cy="642938"/>
            </a:xfrm>
            <a:prstGeom prst="flowChartProcess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r>
                <a:rPr lang="zh-CN" altLang="en-US" sz="3200" b="1"/>
                <a:t>假</a:t>
              </a:r>
            </a:p>
          </p:txBody>
        </p:sp>
        <p:cxnSp>
          <p:nvCxnSpPr>
            <p:cNvPr id="45071" name="直接连接符 28"/>
            <p:cNvCxnSpPr>
              <a:cxnSpLocks noChangeShapeType="1"/>
            </p:cNvCxnSpPr>
            <p:nvPr/>
          </p:nvCxnSpPr>
          <p:spPr bwMode="auto">
            <a:xfrm rot="5400000" flipH="1" flipV="1">
              <a:off x="4464843" y="4393413"/>
              <a:ext cx="1643074" cy="0"/>
            </a:xfrm>
            <a:prstGeom prst="line">
              <a:avLst/>
            </a:prstGeom>
            <a:noFill/>
            <a:ln w="38100" algn="ctr">
              <a:solidFill>
                <a:srgbClr val="0000CC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pic>
        <p:nvPicPr>
          <p:cNvPr id="45059" name="图片 1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标注 6"/>
          <p:cNvSpPr>
            <a:spLocks noChangeArrowheads="1"/>
          </p:cNvSpPr>
          <p:nvPr/>
        </p:nvSpPr>
        <p:spPr bwMode="auto">
          <a:xfrm>
            <a:off x="4283968" y="3643313"/>
            <a:ext cx="1785937" cy="642937"/>
          </a:xfrm>
          <a:prstGeom prst="wedgeRoundRectCallout">
            <a:avLst>
              <a:gd name="adj1" fmla="val -44741"/>
              <a:gd name="adj2" fmla="val 11350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记行号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5588" y="306387"/>
            <a:ext cx="8643937" cy="6072188"/>
          </a:xfrm>
        </p:spPr>
        <p:txBody>
          <a:bodyPr/>
          <a:lstStyle/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……</a:t>
            </a:r>
            <a:r>
              <a:rPr lang="en-US" altLang="zh-CN" sz="2800" dirty="0"/>
              <a:t> 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i,j,row</a:t>
            </a:r>
            <a:r>
              <a:rPr lang="en-US" altLang="zh-CN" sz="2800" dirty="0"/>
              <a:t>=0,colum=0,max;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a[3][4]={{1,2,3,4},{9,8,7,6},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                 {-10,10,-5,2}};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0000FF"/>
                </a:solidFill>
              </a:rPr>
              <a:t>  max=a[0][0];                     </a:t>
            </a:r>
            <a:endParaRPr lang="zh-CN" altLang="zh-CN" sz="2800" dirty="0">
              <a:solidFill>
                <a:srgbClr val="0000FF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for (i=0;i&lt;=2;i++)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for (j=0;j&lt;=3;j++)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if (</a:t>
            </a:r>
            <a:r>
              <a:rPr lang="en-US" altLang="zh-CN" sz="2800" dirty="0">
                <a:solidFill>
                  <a:srgbClr val="00B050"/>
                </a:solidFill>
              </a:rPr>
              <a:t>a[i][j]&gt;max) </a:t>
            </a:r>
            <a:endParaRPr lang="zh-CN" altLang="zh-CN" sz="2800" dirty="0">
              <a:solidFill>
                <a:srgbClr val="00B050"/>
              </a:solidFill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{  max=a[i][j];  row=i;  </a:t>
            </a:r>
            <a:r>
              <a:rPr lang="en-US" altLang="zh-CN" sz="2800" dirty="0" err="1"/>
              <a:t>colum</a:t>
            </a:r>
            <a:r>
              <a:rPr lang="en-US" altLang="zh-CN" sz="2800" dirty="0"/>
              <a:t>=j; }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("max=%d\</a:t>
            </a:r>
            <a:r>
              <a:rPr lang="en-US" altLang="zh-CN" sz="2800" dirty="0" err="1"/>
              <a:t>nrow</a:t>
            </a:r>
            <a:r>
              <a:rPr lang="en-US" altLang="zh-CN" sz="2800" dirty="0"/>
              <a:t>=%d\n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     </a:t>
            </a:r>
            <a:r>
              <a:rPr lang="en-US" altLang="zh-CN" sz="2800" dirty="0" err="1"/>
              <a:t>colum</a:t>
            </a:r>
            <a:r>
              <a:rPr lang="en-US" altLang="zh-CN" sz="2800" dirty="0"/>
              <a:t>=%d\n",</a:t>
            </a:r>
            <a:r>
              <a:rPr lang="en-US" altLang="zh-CN" sz="2800" dirty="0" err="1"/>
              <a:t>max,row,colum</a:t>
            </a:r>
            <a:r>
              <a:rPr lang="en-US" altLang="zh-CN" sz="2800" dirty="0"/>
              <a:t>);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……</a:t>
            </a:r>
            <a:endParaRPr lang="zh-CN" altLang="zh-CN" sz="2800" dirty="0">
              <a:solidFill>
                <a:srgbClr val="FF0000"/>
              </a:solidFill>
            </a:endParaRP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460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2382845" y="3643313"/>
            <a:ext cx="1928812" cy="642937"/>
          </a:xfrm>
          <a:prstGeom prst="wedgeRoundRectCallout">
            <a:avLst>
              <a:gd name="adj1" fmla="val -44741"/>
              <a:gd name="adj2" fmla="val 11350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记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最大值</a:t>
            </a:r>
          </a:p>
        </p:txBody>
      </p:sp>
      <p:sp>
        <p:nvSpPr>
          <p:cNvPr id="6" name="圆角矩形标注 5"/>
          <p:cNvSpPr>
            <a:spLocks noChangeArrowheads="1"/>
          </p:cNvSpPr>
          <p:nvPr/>
        </p:nvSpPr>
        <p:spPr bwMode="auto">
          <a:xfrm>
            <a:off x="5868144" y="3630518"/>
            <a:ext cx="1785938" cy="642937"/>
          </a:xfrm>
          <a:prstGeom prst="wedgeRoundRectCallout">
            <a:avLst>
              <a:gd name="adj1" fmla="val -44741"/>
              <a:gd name="adj2" fmla="val 113509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记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列</a:t>
            </a:r>
            <a:r>
              <a:rPr lang="zh-CN" alt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号</a:t>
            </a:r>
            <a:endParaRPr lang="zh-CN" altLang="en-US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875" y="0"/>
            <a:ext cx="2143125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9" name="图片 8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 animBg="1"/>
      <p:bldP spid="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8893175" cy="769937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1115616" y="1158403"/>
            <a:ext cx="7072313" cy="4214813"/>
          </a:xfrm>
        </p:spPr>
        <p:txBody>
          <a:bodyPr/>
          <a:lstStyle/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6.3.1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定义字符数组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6.3.2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字符数组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的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2" action="ppaction://hlinksldjump"/>
              </a:rPr>
              <a:t>初始化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6.3.3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3" action="ppaction://hlinksldjump"/>
              </a:rPr>
              <a:t>引用字符数组</a:t>
            </a:r>
            <a:r>
              <a:rPr lang="zh-CN" altLang="en-US" sz="2800" u="sng" dirty="0">
                <a:solidFill>
                  <a:srgbClr val="00CC66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中的元素</a:t>
            </a:r>
            <a:endParaRPr lang="en-US" altLang="zh-CN" sz="2800" u="sng" dirty="0">
              <a:solidFill>
                <a:srgbClr val="00CC66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6.3.4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4" action="ppaction://hlinksldjump"/>
              </a:rPr>
              <a:t>字符串和字符串结束标志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6.3.5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5" action="ppaction://hlinksldjump"/>
              </a:rPr>
              <a:t>字符数组的输入输出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6" action="ppaction://hlinksldjump"/>
              </a:rPr>
              <a:t>6.3.6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6" action="ppaction://hlinksldjump"/>
              </a:rPr>
              <a:t>字符串处理函数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6" action="ppaction://hlinksldjump"/>
              </a:rPr>
              <a:t>6.3.7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  <a:hlinkClick r:id="rId6" action="ppaction://hlinksldjump"/>
              </a:rPr>
              <a:t>字符数组应用举例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8729" y="548680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6.3.1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定义字符数组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915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23528" y="1340768"/>
            <a:ext cx="6912768" cy="122413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用来存放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数据的数组是字符数组。</a:t>
            </a: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字符数组中的一个元素存放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一个字符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32960" y="2780928"/>
            <a:ext cx="8218487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一维字符数组的定义：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 </a:t>
            </a:r>
            <a:r>
              <a:rPr 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数组名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常量表达式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 ;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 c[10] ;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55576" y="4835826"/>
            <a:ext cx="5596404" cy="6093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定义一个有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个元素的字符数组。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800" decel="100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8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21973" y="1988840"/>
            <a:ext cx="7172275" cy="20882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char c[10];</a:t>
            </a:r>
            <a:endParaRPr lang="zh-CN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c[0]=’I’;   c[1]=’ ’; c[2]=’a’;   c[3]=’m’;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c[4]=’  ’;   c[5]=’h’; c[6]=’a’;  c[7]=’p’; 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c[8]=’p’;  c[9]=’y’;</a:t>
            </a:r>
          </a:p>
        </p:txBody>
      </p:sp>
      <p:sp>
        <p:nvSpPr>
          <p:cNvPr id="5018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0183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71600" y="5071192"/>
          <a:ext cx="6238880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y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828725" y="4290729"/>
            <a:ext cx="671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c[0]c[1]c[2]c[3]c[4]c[5]c[6]c[7]c[8]c[9]</a:t>
            </a:r>
            <a:endParaRPr lang="zh-CN" altLang="en-US" sz="2800" b="1"/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49" y="404664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6.3.1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初始化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Rectangle 5"/>
          <p:cNvSpPr>
            <a:spLocks noChangeArrowheads="1"/>
          </p:cNvSpPr>
          <p:nvPr/>
        </p:nvSpPr>
        <p:spPr bwMode="auto">
          <a:xfrm>
            <a:off x="539552" y="1268760"/>
            <a:ext cx="8155186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用赋值语句将字符赋给字符数组中的元素。</a:t>
            </a:r>
            <a:endParaRPr lang="zh-CN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505629" y="2459893"/>
            <a:ext cx="9144000" cy="59420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char c[10]={’I’,’ ’,’</a:t>
            </a:r>
            <a:r>
              <a:rPr lang="en-US" altLang="zh-CN" sz="2800" b="1" kern="0" dirty="0" err="1">
                <a:latin typeface="+mn-lt"/>
                <a:ea typeface="+mn-ea"/>
              </a:rPr>
              <a:t>a’,’m</a:t>
            </a:r>
            <a:r>
              <a:rPr lang="en-US" altLang="zh-CN" sz="2800" b="1" kern="0" dirty="0">
                <a:latin typeface="+mn-lt"/>
                <a:ea typeface="+mn-ea"/>
              </a:rPr>
              <a:t>’,’ ’,’</a:t>
            </a:r>
            <a:r>
              <a:rPr lang="en-US" altLang="zh-CN" sz="2800" b="1" kern="0" dirty="0" err="1">
                <a:latin typeface="+mn-lt"/>
                <a:ea typeface="+mn-ea"/>
              </a:rPr>
              <a:t>h’,’a’,’p’,’p’,’y</a:t>
            </a:r>
            <a:r>
              <a:rPr lang="en-US" altLang="zh-CN" sz="2800" b="1" kern="0" dirty="0">
                <a:latin typeface="+mn-lt"/>
                <a:ea typeface="+mn-ea"/>
              </a:rPr>
              <a:t>’};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kern="0" dirty="0">
              <a:latin typeface="+mn-lt"/>
              <a:ea typeface="+mn-ea"/>
            </a:endParaRP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altLang="zh-CN" sz="2800" b="1" kern="0" dirty="0">
              <a:latin typeface="+mn-lt"/>
              <a:ea typeface="+mn-ea"/>
            </a:endParaRPr>
          </a:p>
        </p:txBody>
      </p:sp>
      <p:sp>
        <p:nvSpPr>
          <p:cNvPr id="512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115616" y="4077072"/>
          <a:ext cx="6238880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2388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y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008649" y="3170474"/>
            <a:ext cx="671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c[0]c[1]c[2]c[3]c[4]c[5]c[6]c[7]c[8]c[9]</a:t>
            </a:r>
            <a:endParaRPr lang="zh-CN" altLang="en-US" sz="2800" b="1" dirty="0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444571" y="408962"/>
            <a:ext cx="8390136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将字符常量以逗号分隔写在花括号中。</a:t>
            </a:r>
            <a:endParaRPr lang="zh-CN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276351" y="1052736"/>
            <a:ext cx="8617219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1)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在定义字符数组时进行初始化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为数组的每个元素赋了初值：</a:t>
            </a:r>
          </a:p>
          <a:p>
            <a:pPr marL="457200" indent="-457200" algn="just">
              <a:lnSpc>
                <a:spcPct val="120000"/>
              </a:lnSpc>
              <a:spcBef>
                <a:spcPct val="20000"/>
              </a:spcBef>
            </a:pPr>
            <a:endParaRPr lang="en-US" sz="28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06047" y="3212976"/>
            <a:ext cx="9144000" cy="8640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indent="-342900" eaLnBrk="0" hangingPunct="0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char c[10]={’c’,’ ’,’</a:t>
            </a:r>
            <a:r>
              <a:rPr lang="en-US" altLang="zh-CN" sz="2800" b="1" kern="0" dirty="0" err="1">
                <a:latin typeface="+mn-lt"/>
                <a:ea typeface="+mn-ea"/>
              </a:rPr>
              <a:t>p’,’r’,’o’,’g’,’r’,’a’,’m</a:t>
            </a:r>
            <a:r>
              <a:rPr lang="en-US" altLang="zh-CN" sz="2800" b="1" kern="0" dirty="0">
                <a:latin typeface="+mn-lt"/>
                <a:ea typeface="+mn-ea"/>
              </a:rPr>
              <a:t>’};</a:t>
            </a:r>
          </a:p>
        </p:txBody>
      </p:sp>
      <p:sp>
        <p:nvSpPr>
          <p:cNvPr id="5120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120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043038" y="4711152"/>
          <a:ext cx="6429373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2388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442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o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g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m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971600" y="3890414"/>
            <a:ext cx="67151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c[0]c[1]c[2]c[3]c[4]c[5]c[6]c[7]c[8]c[9]</a:t>
            </a:r>
            <a:endParaRPr lang="zh-CN" altLang="en-US" sz="2800" b="1" dirty="0"/>
          </a:p>
        </p:txBody>
      </p:sp>
      <p:sp>
        <p:nvSpPr>
          <p:cNvPr id="14" name="Rectangle 5"/>
          <p:cNvSpPr>
            <a:spLocks noChangeArrowheads="1"/>
          </p:cNvSpPr>
          <p:nvPr/>
        </p:nvSpPr>
        <p:spPr bwMode="auto">
          <a:xfrm>
            <a:off x="545537" y="375963"/>
            <a:ext cx="8390136" cy="54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方法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将字符常量以逗号分隔写在花括号中。</a:t>
            </a:r>
            <a:endParaRPr lang="zh-CN" sz="2800" b="1" dirty="0">
              <a:solidFill>
                <a:srgbClr val="FF33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342900" y="987709"/>
            <a:ext cx="8458200" cy="1177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字符数组中初始值表中的初值个数可以少于数组元素的个数，这时，只为前几个元素赋初值，其余元素自动赋为’</a:t>
            </a:r>
            <a:r>
              <a:rPr lang="en-US" altLang="zh-CN" sz="28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\0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sz="2800" b="1" dirty="0">
              <a:solidFill>
                <a:schemeClr val="tx1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223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9" name="Rectangle 3"/>
          <p:cNvSpPr txBox="1">
            <a:spLocks noChangeArrowheads="1"/>
          </p:cNvSpPr>
          <p:nvPr/>
        </p:nvSpPr>
        <p:spPr bwMode="auto">
          <a:xfrm>
            <a:off x="251520" y="2744148"/>
            <a:ext cx="8286750" cy="35004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char diamond[5][5]={{’ ’,’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’},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                         {’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’,’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’},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                         {’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’,’ ’,’ ’,’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’},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                         {’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’,’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’},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                         {’ ’,’ ’,’</a:t>
            </a:r>
            <a:r>
              <a:rPr lang="en-US" altLang="zh-CN" sz="2800" b="1" kern="0" dirty="0">
                <a:solidFill>
                  <a:srgbClr val="FF0000"/>
                </a:solidFill>
                <a:latin typeface="+mn-lt"/>
                <a:ea typeface="+mn-ea"/>
              </a:rPr>
              <a:t>*</a:t>
            </a:r>
            <a:r>
              <a:rPr lang="en-US" altLang="zh-CN" sz="2800" b="1" kern="0" dirty="0">
                <a:latin typeface="+mn-lt"/>
                <a:ea typeface="+mn-ea"/>
              </a:rPr>
              <a:t>’}  </a:t>
            </a:r>
          </a:p>
          <a:p>
            <a:pPr marL="342900" indent="-342900" eaLnBrk="0" hangingPunct="0"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                                };</a:t>
            </a:r>
          </a:p>
        </p:txBody>
      </p:sp>
      <p:sp>
        <p:nvSpPr>
          <p:cNvPr id="2" name="矩形 1"/>
          <p:cNvSpPr/>
          <p:nvPr/>
        </p:nvSpPr>
        <p:spPr>
          <a:xfrm>
            <a:off x="251520" y="548680"/>
            <a:ext cx="87501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二维字符数组的定义和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初始化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方法与一维字符数组完全相同。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char </a:t>
            </a:r>
            <a:r>
              <a:rPr lang="en-US" altLang="zh-CN" sz="2800" b="1" kern="0" dirty="0"/>
              <a:t>diamond[5][5]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;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定义一个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行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列的数组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4565" y="332656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6.3.3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引用字符数组</a:t>
            </a:r>
            <a:r>
              <a:rPr lang="zh-CN" altLang="en-US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中的元素</a:t>
            </a:r>
          </a:p>
        </p:txBody>
      </p:sp>
      <p:pic>
        <p:nvPicPr>
          <p:cNvPr id="5325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539552" y="1247648"/>
            <a:ext cx="81551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可以引用字符数组中的一个元素，得到一个字符。</a:t>
            </a:r>
            <a:endParaRPr lang="zh-CN" altLang="en-US" sz="2800" dirty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74779" y="1916832"/>
            <a:ext cx="7885009" cy="3643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6.6 </a:t>
            </a:r>
            <a:r>
              <a:rPr lang="zh-CN" altLang="zh-CN" sz="3200" dirty="0">
                <a:latin typeface="微软雅黑" panose="020B0503020204020204" charset="-122"/>
                <a:ea typeface="微软雅黑" panose="020B0503020204020204" charset="-122"/>
              </a:rPr>
              <a:t>输出一个已知的字符串。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>
              <a:lnSpc>
                <a:spcPct val="150000"/>
              </a:lnSpc>
              <a:spcBef>
                <a:spcPts val="0"/>
              </a:spcBef>
            </a:pPr>
            <a:r>
              <a:rPr lang="zh-CN" altLang="zh-CN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解题思路</a:t>
            </a:r>
            <a:r>
              <a:rPr lang="zh-CN" altLang="zh-CN" sz="3200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定义一个字符数组，并用“初始化列表”对其赋以初值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用循环逐个输出此字符数组中的字符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zh-CN" sz="28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510309" y="553659"/>
            <a:ext cx="7643813" cy="5214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/>
              <a:t>#include &lt;stdio.h&gt;</a:t>
            </a:r>
            <a:endParaRPr lang="zh-CN" altLang="zh-CN" sz="2800"/>
          </a:p>
          <a:p>
            <a:r>
              <a:rPr lang="en-US" altLang="zh-CN" sz="2800"/>
              <a:t>int main()</a:t>
            </a:r>
            <a:endParaRPr lang="zh-CN" altLang="zh-CN" sz="2800"/>
          </a:p>
          <a:p>
            <a:r>
              <a:rPr lang="en-US" altLang="zh-CN" sz="2800"/>
              <a:t> { char c[15]={'I',' ','a','m',' ','a',</a:t>
            </a:r>
          </a:p>
          <a:p>
            <a:r>
              <a:rPr lang="en-US" altLang="zh-CN" sz="2800"/>
              <a:t>             ' ','s','t','u','d','e','n','t','.'};</a:t>
            </a:r>
            <a:endParaRPr lang="zh-CN" altLang="zh-CN" sz="2800"/>
          </a:p>
          <a:p>
            <a:r>
              <a:rPr lang="en-US" altLang="zh-CN" sz="2800"/>
              <a:t>    int i;</a:t>
            </a:r>
            <a:endParaRPr lang="zh-CN" altLang="zh-CN" sz="2800"/>
          </a:p>
          <a:p>
            <a:r>
              <a:rPr lang="en-US" altLang="zh-CN" sz="2800"/>
              <a:t>    for(i=0;i&lt;15;i++)</a:t>
            </a:r>
            <a:endParaRPr lang="zh-CN" altLang="zh-CN" sz="2800"/>
          </a:p>
          <a:p>
            <a:r>
              <a:rPr lang="en-US" altLang="zh-CN" sz="2800"/>
              <a:t>        printf("%c",c[i]);</a:t>
            </a:r>
            <a:endParaRPr lang="zh-CN" altLang="zh-CN" sz="2800"/>
          </a:p>
          <a:p>
            <a:r>
              <a:rPr lang="en-US" altLang="zh-CN" sz="2800"/>
              <a:t>    printf("\n");</a:t>
            </a:r>
            <a:endParaRPr lang="zh-CN" altLang="zh-CN" sz="2800"/>
          </a:p>
          <a:p>
            <a:r>
              <a:rPr lang="en-US" altLang="zh-CN" sz="2800"/>
              <a:t>    return 0;</a:t>
            </a:r>
            <a:endParaRPr lang="zh-CN" altLang="zh-CN" sz="2800"/>
          </a:p>
          <a:p>
            <a:r>
              <a:rPr lang="en-US" altLang="zh-CN" sz="2800"/>
              <a:t>} </a:t>
            </a:r>
            <a:endParaRPr lang="zh-CN" altLang="zh-CN" sz="2800" dirty="0"/>
          </a:p>
        </p:txBody>
      </p:sp>
      <p:pic>
        <p:nvPicPr>
          <p:cNvPr id="9" name="Picture 2" descr="pic6-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5197097"/>
            <a:ext cx="43243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 txBox="1">
            <a:spLocks noChangeArrowheads="1"/>
          </p:cNvSpPr>
          <p:nvPr/>
        </p:nvSpPr>
        <p:spPr bwMode="auto">
          <a:xfrm>
            <a:off x="467544" y="260648"/>
            <a:ext cx="6572250" cy="5657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6.7 </a:t>
            </a:r>
            <a:r>
              <a:rPr lang="zh-CN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输出一个菱形图。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95536" y="896540"/>
            <a:ext cx="8299202" cy="4143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解题思路：</a:t>
            </a:r>
            <a:endParaRPr lang="en-US" altLang="zh-CN" sz="3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定义一个字符型的二维数组，用“初始化列表”进行初始化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lvl="1" indent="-4572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嵌套的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for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循环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输出字符数组中的所有元素。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287055" y="389172"/>
            <a:ext cx="8501062" cy="6072188"/>
          </a:xfrm>
        </p:spPr>
        <p:txBody>
          <a:bodyPr/>
          <a:lstStyle/>
          <a:p>
            <a:r>
              <a:rPr lang="en-US" altLang="zh-CN" sz="2800" dirty="0"/>
              <a:t>#include &lt;</a:t>
            </a:r>
            <a:r>
              <a:rPr lang="en-US" altLang="zh-CN" sz="2800" dirty="0" err="1"/>
              <a:t>stdio.h</a:t>
            </a:r>
            <a:r>
              <a:rPr lang="en-US" altLang="zh-CN" sz="2800" dirty="0"/>
              <a:t>&gt;</a:t>
            </a:r>
          </a:p>
          <a:p>
            <a:r>
              <a:rPr lang="en-US" altLang="zh-CN" sz="2800" dirty="0" err="1"/>
              <a:t>int</a:t>
            </a:r>
            <a:r>
              <a:rPr lang="en-US" altLang="zh-CN" sz="2800" dirty="0"/>
              <a:t> main()</a:t>
            </a:r>
          </a:p>
          <a:p>
            <a:r>
              <a:rPr lang="en-US" altLang="zh-CN" sz="2800" dirty="0"/>
              <a:t>{char diamond[][5]={{' ',' ','*'}, {' ','*',' ','*'},</a:t>
            </a:r>
          </a:p>
          <a:p>
            <a:r>
              <a:rPr lang="en-US" altLang="zh-CN" sz="2800" dirty="0"/>
              <a:t>                          {'*',' ',' ',' ','*'}, {' ','*',' ','*'},{' ',' ','*'}}; </a:t>
            </a:r>
          </a:p>
          <a:p>
            <a:r>
              <a:rPr lang="en-US" altLang="zh-CN" sz="2800" dirty="0"/>
              <a:t>  </a:t>
            </a:r>
            <a:r>
              <a:rPr lang="en-US" altLang="zh-CN" sz="2800" dirty="0" err="1"/>
              <a:t>int</a:t>
            </a:r>
            <a:r>
              <a:rPr lang="en-US" altLang="zh-CN" sz="2800" dirty="0"/>
              <a:t> </a:t>
            </a:r>
            <a:r>
              <a:rPr lang="en-US" altLang="zh-CN" sz="2800" dirty="0" err="1"/>
              <a:t>i,j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  for (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=0;i&lt;5;i++) </a:t>
            </a:r>
          </a:p>
          <a:p>
            <a:r>
              <a:rPr lang="en-US" altLang="zh-CN" sz="2800" dirty="0"/>
              <a:t>       { for(j=0;j&lt;5;j++) </a:t>
            </a:r>
          </a:p>
          <a:p>
            <a:r>
              <a:rPr lang="en-US" altLang="zh-CN" sz="2800" dirty="0"/>
              <a:t>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("%</a:t>
            </a:r>
            <a:r>
              <a:rPr lang="en-US" altLang="zh-CN" sz="2800" dirty="0" err="1"/>
              <a:t>c",diamond</a:t>
            </a:r>
            <a:r>
              <a:rPr lang="en-US" altLang="zh-CN" sz="2800" dirty="0"/>
              <a:t>[</a:t>
            </a:r>
            <a:r>
              <a:rPr lang="en-US" altLang="zh-CN" sz="2800" dirty="0" err="1"/>
              <a:t>i</a:t>
            </a:r>
            <a:r>
              <a:rPr lang="en-US" altLang="zh-CN" sz="2800" dirty="0"/>
              <a:t>][j]); </a:t>
            </a:r>
          </a:p>
          <a:p>
            <a:r>
              <a:rPr lang="en-US" altLang="zh-CN" sz="2800" dirty="0"/>
              <a:t>         </a:t>
            </a:r>
            <a:r>
              <a:rPr lang="en-US" altLang="zh-CN" sz="2800" dirty="0" err="1"/>
              <a:t>printf</a:t>
            </a:r>
            <a:r>
              <a:rPr lang="en-US" altLang="zh-CN" sz="2800" dirty="0"/>
              <a:t>("\n");</a:t>
            </a:r>
          </a:p>
          <a:p>
            <a:r>
              <a:rPr lang="en-US" altLang="zh-CN" sz="2800" dirty="0"/>
              <a:t>       }</a:t>
            </a:r>
          </a:p>
          <a:p>
            <a:r>
              <a:rPr lang="en-US" altLang="zh-CN" sz="2800" dirty="0"/>
              <a:t>  return 0;</a:t>
            </a:r>
          </a:p>
          <a:p>
            <a:r>
              <a:rPr lang="en-US" altLang="zh-CN" sz="2800" dirty="0"/>
              <a:t>}</a:t>
            </a:r>
            <a:endParaRPr lang="zh-CN" altLang="zh-CN" sz="2800" dirty="0"/>
          </a:p>
        </p:txBody>
      </p:sp>
      <p:pic>
        <p:nvPicPr>
          <p:cNvPr id="5427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8063" y="3643313"/>
            <a:ext cx="1428750" cy="240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01625" y="261605"/>
            <a:ext cx="8393113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6.3.4 </a:t>
            </a:r>
            <a:r>
              <a:rPr lang="zh-CN" altLang="zh-CN" sz="4000" b="1" dirty="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字符串和字符串结束标志</a:t>
            </a:r>
            <a:endParaRPr lang="zh-CN" altLang="en-US" sz="4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530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8930" y="969630"/>
            <a:ext cx="9045070" cy="23620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语言中，是将字符串作为</a:t>
            </a:r>
            <a:r>
              <a:rPr lang="zh-CN" altLang="zh-CN" sz="2800" b="1" kern="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来处理的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关心的是字符串的</a:t>
            </a:r>
            <a:r>
              <a:rPr lang="zh-CN" altLang="zh-CN" sz="2800" b="1" kern="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有效长度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而不是字符数组的长度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为了测定字符串的实际长度，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语言规定了字符串结束标志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’\0’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\0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代表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ASCII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码为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的字符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98931" y="3441963"/>
            <a:ext cx="8830758" cy="341761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ASCII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码表可以查到，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ASCII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码为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的字符不是一个可以显示的字符，而是一个“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空操作符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”，即它什么也不做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用它作为字符串结束标志不会产生附加的操作或增加有效字符，只起一个</a:t>
            </a:r>
            <a:r>
              <a:rPr lang="zh-CN" altLang="zh-CN" sz="2800" b="1" kern="0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供辨别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的标志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385116" y="824657"/>
            <a:ext cx="8001000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定义和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初始化</a:t>
            </a:r>
            <a:endParaRPr lang="en-US" altLang="zh-CN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字符数组的定义格式如下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 </a:t>
            </a:r>
            <a:r>
              <a:rPr lang="zh-CN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字符数组名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字符串长度</a:t>
            </a: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];</a:t>
            </a:r>
            <a:endParaRPr lang="zh-CN" sz="2800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char  </a:t>
            </a: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 ]={“happy”};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402408" y="3444975"/>
            <a:ext cx="8262839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[0]=‘h’, </a:t>
            </a: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[1]=‘a’, </a:t>
            </a: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[2]=‘p’,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[3]=‘p’, </a:t>
            </a: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[4]=‘y’, </a:t>
            </a:r>
            <a:r>
              <a:rPr lang="en-US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b="1" dirty="0">
                <a:solidFill>
                  <a:schemeClr val="tx1"/>
                </a:solidFill>
                <a:latin typeface="Tahoma" panose="020B0604030504040204" pitchFamily="34" charset="0"/>
              </a:rPr>
              <a:t>[5]=‘\0’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从表面上看，</a:t>
            </a:r>
            <a:r>
              <a:rPr lang="en-US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中有</a:t>
            </a:r>
            <a:r>
              <a:rPr 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个元素，实际上，末尾加了‘</a:t>
            </a:r>
            <a:r>
              <a:rPr lang="en-US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\0</a:t>
            </a:r>
            <a:r>
              <a:rPr 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，有</a:t>
            </a:r>
            <a:r>
              <a:rPr 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个元素。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254842" y="116632"/>
            <a:ext cx="8393113" cy="708025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+mj-lt"/>
                <a:ea typeface="+mj-ea"/>
                <a:cs typeface="华文行楷" panose="02010800040101010101" charset="-122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  <a:cs typeface="华文行楷" panose="02010800040101010101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FF0000"/>
                </a:solidFill>
                <a:latin typeface="Arial" panose="020B0604020202020204" pitchFamily="34" charset="0"/>
                <a:ea typeface="华文行楷" panose="02010800040101010101" charset="-122"/>
              </a:defRPr>
            </a:lvl9pPr>
          </a:lstStyle>
          <a:p>
            <a:pPr eaLnBrk="1" hangingPunct="1">
              <a:defRPr/>
            </a:pPr>
            <a:r>
              <a:rPr lang="en-US" altLang="zh-CN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6.3.4 </a:t>
            </a:r>
            <a:r>
              <a:rPr lang="zh-CN" altLang="zh-CN" sz="4000" b="1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字符串和字符串结束标志</a:t>
            </a:r>
            <a:endParaRPr lang="zh-CN" altLang="en-US" sz="4000" b="1" dirty="0">
              <a:solidFill>
                <a:schemeClr val="accent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5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5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whoosh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3" grpId="0" build="p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444860" y="620688"/>
            <a:ext cx="7980363" cy="4000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c[ ]={”I am happy”};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可写成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c[ ]=”I am happy”;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相当于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c[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11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]={”I am happy”};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14373" y="836712"/>
            <a:ext cx="7643813" cy="27146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c[10]={”China”};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可写成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c[10]=”China”;</a:t>
            </a:r>
          </a:p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从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c[5]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开始，元素值均为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\0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83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928686" y="4199409"/>
          <a:ext cx="7215188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流程图: 过程 8"/>
          <p:cNvSpPr>
            <a:spLocks noChangeArrowheads="1"/>
          </p:cNvSpPr>
          <p:nvPr/>
        </p:nvSpPr>
        <p:spPr bwMode="auto">
          <a:xfrm>
            <a:off x="778668" y="4005064"/>
            <a:ext cx="3286125" cy="857250"/>
          </a:xfrm>
          <a:prstGeom prst="flowChartProcess">
            <a:avLst/>
          </a:prstGeom>
          <a:noFill/>
          <a:ln w="38100" algn="ctr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750093" y="5013176"/>
            <a:ext cx="7643813" cy="107602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只显示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</a:rPr>
              <a:t>printf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(”%</a:t>
            </a:r>
            <a:r>
              <a:rPr lang="en-US" altLang="zh-CN" sz="2800" dirty="0" err="1">
                <a:latin typeface="微软雅黑" panose="020B0503020204020204" charset="-122"/>
                <a:ea typeface="微软雅黑" panose="020B0503020204020204" charset="-122"/>
              </a:rPr>
              <a:t>s”,c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);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37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5837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52400" y="620688"/>
            <a:ext cx="8991600" cy="5047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accent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</a:t>
            </a:r>
            <a:r>
              <a:rPr 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数组的定义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 marL="0" indent="0">
              <a:lnSpc>
                <a:spcPct val="150000"/>
              </a:lnSpc>
            </a:pP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字符串是一个字符数组，而字符串数组，就如同二维数组，实际上是</a:t>
            </a:r>
            <a:r>
              <a:rPr 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字符数组的数组</a:t>
            </a:r>
            <a:r>
              <a:rPr 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字符串数组的定义格式如下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 </a:t>
            </a:r>
            <a:r>
              <a:rPr 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字符数组名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[</a:t>
            </a:r>
            <a:r>
              <a:rPr 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数组大小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][</a:t>
            </a:r>
            <a:r>
              <a:rPr 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字符串长度</a:t>
            </a:r>
            <a:r>
              <a:rPr 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];</a:t>
            </a:r>
          </a:p>
          <a:p>
            <a:endParaRPr lang="en-US" sz="2800" b="1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char student[3][8]={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“</a:t>
            </a:r>
            <a:r>
              <a:rPr lang="en-US" sz="2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lili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en-US" sz="2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tom</a:t>
            </a:r>
            <a:r>
              <a:rPr lang="en-US" sz="2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en-US" sz="2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,</a:t>
            </a:r>
            <a:r>
              <a:rPr lang="en-US" sz="2800" b="1" dirty="0" err="1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en-US" sz="2800" b="1" dirty="0" err="1">
                <a:solidFill>
                  <a:schemeClr val="tx1"/>
                </a:solidFill>
                <a:latin typeface="宋体" panose="02010600030101010101" pitchFamily="2" charset="-122"/>
              </a:rPr>
              <a:t>jack</a:t>
            </a:r>
            <a:r>
              <a:rPr 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”</a:t>
            </a:r>
            <a:r>
              <a:rPr 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};</a:t>
            </a:r>
          </a:p>
          <a:p>
            <a:r>
              <a:rPr 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</a:p>
          <a:p>
            <a:r>
              <a:rPr lang="en-US" sz="2800" b="1" dirty="0">
                <a:solidFill>
                  <a:schemeClr val="tx1"/>
                </a:solidFill>
                <a:latin typeface="宋体" panose="02010600030101010101" pitchFamily="2" charset="-122"/>
              </a:rPr>
              <a:t>     </a:t>
            </a:r>
          </a:p>
        </p:txBody>
      </p:sp>
    </p:spTree>
  </p:cSld>
  <p:clrMapOvr>
    <a:masterClrMapping/>
  </p:clrMapOvr>
  <p:transition>
    <p:checker dir="vert"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3" y="260648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6.3.5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字符数组的输入输出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5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539552" y="1052736"/>
            <a:ext cx="7572375" cy="2286000"/>
          </a:xfrm>
        </p:spPr>
        <p:txBody>
          <a:bodyPr/>
          <a:lstStyle/>
          <a:p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字符数组的输入输出可以有两种方法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逐个字符输入输出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%c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zh-CN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整个字符串一次输入输出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altLang="zh-CN" sz="32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%s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9397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539552" y="3068960"/>
            <a:ext cx="5500688" cy="1214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latin typeface="+mn-lt"/>
                <a:ea typeface="+mn-ea"/>
              </a:rPr>
              <a:t>char c[ ]=”China”;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3200" b="1" dirty="0" err="1">
                <a:latin typeface="+mn-lt"/>
                <a:ea typeface="+mn-ea"/>
              </a:rPr>
              <a:t>printf(”%s”,c</a:t>
            </a:r>
            <a:r>
              <a:rPr lang="en-US" altLang="zh-CN" sz="3200" b="1" dirty="0">
                <a:latin typeface="+mn-lt"/>
                <a:ea typeface="+mn-ea"/>
              </a:rPr>
              <a:t>);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115223" y="4894745"/>
          <a:ext cx="4000502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流程图: 过程 7"/>
          <p:cNvSpPr>
            <a:spLocks noChangeArrowheads="1"/>
          </p:cNvSpPr>
          <p:nvPr/>
        </p:nvSpPr>
        <p:spPr bwMode="auto">
          <a:xfrm>
            <a:off x="1115616" y="4725144"/>
            <a:ext cx="3286125" cy="857250"/>
          </a:xfrm>
          <a:prstGeom prst="flowChartProcess">
            <a:avLst/>
          </a:prstGeom>
          <a:noFill/>
          <a:ln w="38100" algn="ctr">
            <a:solidFill>
              <a:srgbClr val="0000CC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7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290248" y="476672"/>
            <a:ext cx="8639440" cy="1858152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：在使用字符串输入输出时要注意有关规定，否则容易出错。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、输出字符不包括结束符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’</a:t>
            </a:r>
            <a:r>
              <a:rPr lang="en-US" altLang="zh-CN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\0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’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042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627423" y="2420888"/>
            <a:ext cx="7272808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char c[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10</a:t>
            </a:r>
            <a:r>
              <a:rPr lang="en-US" altLang="zh-CN" sz="2800" b="1" dirty="0">
                <a:latin typeface="Verdana" panose="020B0604030504040204" pitchFamily="34" charset="0"/>
              </a:rPr>
              <a:t>]=”China”;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(”%</a:t>
            </a:r>
            <a:r>
              <a:rPr lang="en-US" altLang="zh-CN" sz="2800" b="1" dirty="0" err="1">
                <a:latin typeface="Verdana" panose="020B0604030504040204" pitchFamily="34" charset="0"/>
              </a:rPr>
              <a:t>s”,</a:t>
            </a:r>
            <a:r>
              <a:rPr lang="en-US" altLang="zh-CN" sz="2800" b="1" dirty="0" err="1">
                <a:solidFill>
                  <a:srgbClr val="FF0000"/>
                </a:solidFill>
                <a:latin typeface="Verdana" panose="020B0604030504040204" pitchFamily="34" charset="0"/>
              </a:rPr>
              <a:t>c</a:t>
            </a:r>
            <a:r>
              <a:rPr lang="en-US" altLang="zh-CN" sz="2800" b="1" dirty="0">
                <a:latin typeface="Verdana" panose="020B0604030504040204" pitchFamily="34" charset="0"/>
              </a:rPr>
              <a:t>);  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字符数组名合法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898" name="Text Box 26"/>
          <p:cNvSpPr txBox="1">
            <a:spLocks noChangeArrowheads="1"/>
          </p:cNvSpPr>
          <p:nvPr/>
        </p:nvSpPr>
        <p:spPr bwMode="auto">
          <a:xfrm>
            <a:off x="957578" y="4652214"/>
            <a:ext cx="1512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China</a:t>
            </a:r>
            <a:r>
              <a:rPr lang="zh-CN" altLang="en-US" sz="2800" dirty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12" name="Rectangle 7"/>
          <p:cNvSpPr txBox="1">
            <a:spLocks noChangeArrowheads="1"/>
          </p:cNvSpPr>
          <p:nvPr/>
        </p:nvSpPr>
        <p:spPr bwMode="auto">
          <a:xfrm>
            <a:off x="607207" y="3798739"/>
            <a:ext cx="7349169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(”%</a:t>
            </a:r>
            <a:r>
              <a:rPr lang="en-US" altLang="zh-CN" sz="2800" b="1" dirty="0" err="1">
                <a:latin typeface="Verdana" panose="020B0604030504040204" pitchFamily="34" charset="0"/>
              </a:rPr>
              <a:t>s”,</a:t>
            </a:r>
            <a:r>
              <a:rPr lang="en-US" altLang="zh-CN" sz="2800" b="1" dirty="0" err="1">
                <a:solidFill>
                  <a:srgbClr val="FF0000"/>
                </a:solidFill>
                <a:latin typeface="Verdana" panose="020B0604030504040204" pitchFamily="34" charset="0"/>
              </a:rPr>
              <a:t>c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[0]</a:t>
            </a:r>
            <a:r>
              <a:rPr lang="en-US" altLang="zh-CN" sz="2800" b="1" dirty="0">
                <a:latin typeface="Verdana" panose="020B0604030504040204" pitchFamily="34" charset="0"/>
              </a:rPr>
              <a:t>); 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数组元素名不合法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9898" grpId="0"/>
      <p:bldP spid="1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675428" y="1988840"/>
            <a:ext cx="6364287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char c[10]=”boy</a:t>
            </a:r>
            <a:r>
              <a: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rPr>
              <a:t>\0</a:t>
            </a:r>
            <a:r>
              <a:rPr lang="en-US" altLang="zh-CN" sz="2800" b="1" dirty="0">
                <a:latin typeface="Verdana" panose="020B0604030504040204" pitchFamily="34" charset="0"/>
              </a:rPr>
              <a:t>girl</a:t>
            </a:r>
            <a:r>
              <a: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rPr>
              <a:t>\0</a:t>
            </a:r>
            <a:r>
              <a:rPr lang="en-US" altLang="zh-CN" sz="2800" b="1" dirty="0">
                <a:latin typeface="Verdana" panose="020B0604030504040204" pitchFamily="34" charset="0"/>
              </a:rPr>
              <a:t>”;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(”%</a:t>
            </a:r>
            <a:r>
              <a:rPr lang="en-US" altLang="zh-CN" sz="2800" b="1" dirty="0" err="1">
                <a:latin typeface="Verdana" panose="020B0604030504040204" pitchFamily="34" charset="0"/>
              </a:rPr>
              <a:t>s”,c</a:t>
            </a:r>
            <a:r>
              <a:rPr lang="en-US" altLang="zh-CN" sz="2800" b="1" dirty="0">
                <a:latin typeface="Verdana" panose="020B0604030504040204" pitchFamily="34" charset="0"/>
              </a:rPr>
              <a:t>);</a:t>
            </a:r>
          </a:p>
        </p:txBody>
      </p:sp>
      <p:sp>
        <p:nvSpPr>
          <p:cNvPr id="80904" name="Text Box 8"/>
          <p:cNvSpPr txBox="1">
            <a:spLocks noChangeArrowheads="1"/>
          </p:cNvSpPr>
          <p:nvPr/>
        </p:nvSpPr>
        <p:spPr bwMode="auto">
          <a:xfrm>
            <a:off x="755576" y="3501008"/>
            <a:ext cx="15128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Verdana" panose="020B0604030504040204" pitchFamily="34" charset="0"/>
              </a:rPr>
              <a:t>boy</a:t>
            </a:r>
            <a:r>
              <a:rPr lang="zh-CN" altLang="en-US" sz="2800" dirty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330942" y="548680"/>
            <a:ext cx="8639440" cy="18581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、如果一个字符数组中包含一个以上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’\0’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，则遇到第一个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’\0’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时输出就结束。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090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7"/>
          <p:cNvSpPr txBox="1">
            <a:spLocks noChangeArrowheads="1"/>
          </p:cNvSpPr>
          <p:nvPr/>
        </p:nvSpPr>
        <p:spPr bwMode="auto">
          <a:xfrm>
            <a:off x="189726" y="332656"/>
            <a:ext cx="8639440" cy="18581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、使用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Scanf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时“地址表”部分应直接写</a:t>
            </a:r>
            <a:r>
              <a:rPr lang="zh-CN" altLang="en-US" sz="28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字符数组的名字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，不能用“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&amp;”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因为数组名代表该数组首元素的起始地址。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89726" y="2187593"/>
            <a:ext cx="88392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       char   </a:t>
            </a:r>
            <a:r>
              <a:rPr lang="en-US" sz="2800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[10];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       </a:t>
            </a:r>
            <a:r>
              <a:rPr lang="en-US" sz="2800" b="1" dirty="0" err="1">
                <a:solidFill>
                  <a:schemeClr val="tx1"/>
                </a:solidFill>
                <a:latin typeface="Tahoma" panose="020B0604030504040204" pitchFamily="34" charset="0"/>
              </a:rPr>
              <a:t>scanf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(“%s”,</a:t>
            </a:r>
            <a:r>
              <a:rPr lang="en-US" sz="2800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);</a:t>
            </a:r>
          </a:p>
          <a:p>
            <a:pPr>
              <a:spcBef>
                <a:spcPct val="50000"/>
              </a:spcBef>
              <a:buClr>
                <a:schemeClr val="accent2"/>
              </a:buClr>
              <a:buSzPct val="75000"/>
              <a:buFont typeface="Wingdings" panose="05000000000000000000" pitchFamily="2" charset="2"/>
              <a:buNone/>
            </a:pP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      </a:t>
            </a:r>
            <a:r>
              <a:rPr lang="zh-CN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不能写成</a:t>
            </a:r>
            <a:r>
              <a:rPr lang="en-US" sz="2800" b="1" dirty="0" err="1">
                <a:solidFill>
                  <a:schemeClr val="tx1"/>
                </a:solidFill>
                <a:latin typeface="Tahoma" panose="020B0604030504040204" pitchFamily="34" charset="0"/>
              </a:rPr>
              <a:t>scanf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(“%s”,</a:t>
            </a:r>
            <a:r>
              <a:rPr lang="en-US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&amp;</a:t>
            </a:r>
            <a:r>
              <a:rPr lang="en-US" sz="2800" b="1" dirty="0" err="1">
                <a:solidFill>
                  <a:schemeClr val="tx1"/>
                </a:solidFill>
                <a:latin typeface="Tahoma" panose="020B0604030504040204" pitchFamily="34" charset="0"/>
              </a:rPr>
              <a:t>str</a:t>
            </a:r>
            <a:r>
              <a:rPr lang="en-US" sz="2800" b="1" dirty="0">
                <a:solidFill>
                  <a:schemeClr val="tx1"/>
                </a:solidFill>
                <a:latin typeface="Tahoma" panose="020B0604030504040204" pitchFamily="34" charset="0"/>
              </a:rPr>
              <a:t>);</a:t>
            </a: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201302" y="4031842"/>
            <a:ext cx="8649712" cy="144059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4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、获取数组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在内存中的起始地址。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400" dirty="0"/>
              <a:t>       </a:t>
            </a:r>
            <a:r>
              <a:rPr lang="en-US" altLang="zh-CN" sz="2400" dirty="0" err="1"/>
              <a:t>printf</a:t>
            </a:r>
            <a:r>
              <a:rPr lang="en-US" altLang="zh-CN" sz="2400" dirty="0"/>
              <a:t>(”%</a:t>
            </a:r>
            <a:r>
              <a:rPr lang="en-US" altLang="zh-CN" sz="2400" dirty="0">
                <a:solidFill>
                  <a:srgbClr val="D60093"/>
                </a:solidFill>
              </a:rPr>
              <a:t>d</a:t>
            </a:r>
            <a:r>
              <a:rPr lang="en-US" altLang="zh-CN" sz="2400" dirty="0"/>
              <a:t>”,</a:t>
            </a:r>
            <a:r>
              <a:rPr lang="en-US" altLang="zh-CN" sz="2400" dirty="0" err="1"/>
              <a:t>str</a:t>
            </a:r>
            <a:r>
              <a:rPr lang="en-US" altLang="zh-CN" sz="2400" dirty="0"/>
              <a:t>); </a:t>
            </a:r>
          </a:p>
          <a:p>
            <a:pPr marL="0" lvl="1" indent="0">
              <a:lnSpc>
                <a:spcPct val="150000"/>
              </a:lnSpc>
              <a:spcBef>
                <a:spcPts val="0"/>
              </a:spcBef>
            </a:pPr>
            <a:endParaRPr lang="en-US" altLang="zh-CN" sz="2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" name="Text Box 40"/>
          <p:cNvSpPr txBox="1">
            <a:spLocks noChangeArrowheads="1"/>
          </p:cNvSpPr>
          <p:nvPr/>
        </p:nvSpPr>
        <p:spPr bwMode="auto">
          <a:xfrm>
            <a:off x="755574" y="5290827"/>
            <a:ext cx="324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D6009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</a:t>
            </a:r>
            <a:r>
              <a:rPr lang="en-US" altLang="zh-CN" sz="2800" b="1" dirty="0" err="1">
                <a:solidFill>
                  <a:srgbClr val="D6009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zh-CN" altLang="en-US" sz="2800" b="1" dirty="0">
                <a:solidFill>
                  <a:srgbClr val="D60093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的起始地址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 decel="100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800" decel="100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800" decel="100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943694" y="2302421"/>
            <a:ext cx="3340100" cy="1214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Verdana" panose="020B0604030504040204" pitchFamily="34" charset="0"/>
              </a:rPr>
              <a:t>char c[6];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err="1">
                <a:latin typeface="Verdana" panose="020B0604030504040204" pitchFamily="34" charset="0"/>
              </a:rPr>
              <a:t>scanf</a:t>
            </a:r>
            <a:r>
              <a:rPr lang="en-US" altLang="zh-CN" sz="2800" b="1" dirty="0">
                <a:latin typeface="Verdana" panose="020B0604030504040204" pitchFamily="34" charset="0"/>
              </a:rPr>
              <a:t>(”%</a:t>
            </a:r>
            <a:r>
              <a:rPr lang="en-US" altLang="zh-CN" sz="2800" b="1" dirty="0" err="1">
                <a:latin typeface="Verdana" panose="020B0604030504040204" pitchFamily="34" charset="0"/>
              </a:rPr>
              <a:t>s”,c</a:t>
            </a:r>
            <a:r>
              <a:rPr lang="en-US" altLang="zh-CN" sz="2800" b="1" dirty="0">
                <a:latin typeface="Verdana" panose="020B0604030504040204" pitchFamily="34" charset="0"/>
              </a:rPr>
              <a:t>);</a:t>
            </a:r>
            <a:r>
              <a:rPr lang="en-US" altLang="zh-CN" dirty="0"/>
              <a:t> </a:t>
            </a:r>
            <a:endParaRPr lang="en-US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81927" name="Text Box 7"/>
          <p:cNvSpPr txBox="1">
            <a:spLocks noChangeArrowheads="1"/>
          </p:cNvSpPr>
          <p:nvPr/>
        </p:nvSpPr>
        <p:spPr bwMode="auto">
          <a:xfrm>
            <a:off x="943694" y="3422525"/>
            <a:ext cx="27352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China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↙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合法</a:t>
            </a:r>
          </a:p>
        </p:txBody>
      </p:sp>
      <p:sp>
        <p:nvSpPr>
          <p:cNvPr id="81928" name="Text Box 8"/>
          <p:cNvSpPr txBox="1">
            <a:spLocks noChangeArrowheads="1"/>
          </p:cNvSpPr>
          <p:nvPr/>
        </p:nvSpPr>
        <p:spPr bwMode="auto">
          <a:xfrm>
            <a:off x="827584" y="4755977"/>
            <a:ext cx="345621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 err="1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abcdef</a:t>
            </a:r>
            <a:r>
              <a:rPr lang="zh-CN" altLang="en-US" sz="2800" b="1" dirty="0">
                <a:solidFill>
                  <a:srgbClr val="FF33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↙  </a:t>
            </a: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不合法</a:t>
            </a:r>
          </a:p>
        </p:txBody>
      </p: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244106" y="692696"/>
            <a:ext cx="8649712" cy="185815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</a:t>
            </a:r>
            <a:r>
              <a:rPr lang="en-US" altLang="zh-CN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scanf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输入函数中输入的字符串应短于已定义的字符数组的长度。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755576" y="4124201"/>
            <a:ext cx="7286625" cy="6009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系统自动在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China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后面加一个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’\0’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1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1927" grpId="0"/>
      <p:bldP spid="81928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3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780466" y="4710746"/>
            <a:ext cx="3843337" cy="1223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scanf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(”%s”,</a:t>
            </a:r>
            <a:r>
              <a:rPr lang="en-US" altLang="zh-CN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951" name="Text Box 7"/>
          <p:cNvSpPr txBox="1">
            <a:spLocks noChangeArrowheads="1"/>
          </p:cNvSpPr>
          <p:nvPr/>
        </p:nvSpPr>
        <p:spPr bwMode="auto">
          <a:xfrm>
            <a:off x="4638112" y="4803614"/>
            <a:ext cx="32400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are you</a:t>
            </a:r>
            <a:r>
              <a:rPr lang="zh-CN" altLang="en-US" sz="2800" b="1" dirty="0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↙</a:t>
            </a:r>
            <a:endParaRPr lang="zh-CN" altLang="en-US" sz="2800" b="1" dirty="0">
              <a:solidFill>
                <a:srgbClr val="0000C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053" name="Group 109"/>
          <p:cNvGraphicFramePr>
            <a:graphicFrameLocks noGrp="1"/>
          </p:cNvGraphicFramePr>
          <p:nvPr/>
        </p:nvGraphicFramePr>
        <p:xfrm>
          <a:off x="749531" y="5840437"/>
          <a:ext cx="7777162" cy="396875"/>
        </p:xfrm>
        <a:graphic>
          <a:graphicData uri="http://schemas.openxmlformats.org/drawingml/2006/table">
            <a:tbl>
              <a:tblPr/>
              <a:tblGrid>
                <a:gridCol w="504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413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1118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H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0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w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 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Verdana" panose="020B0604030504040204" pitchFamily="34" charset="0"/>
                          <a:ea typeface="宋体" panose="02010600030101010101" pitchFamily="2" charset="-122"/>
                        </a:rPr>
                        <a:t>\0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Verdana" panose="020B0604030504040204" pitchFamily="34" charset="0"/>
                        <a:ea typeface="宋体" panose="02010600030101010101" pitchFamily="2" charset="-122"/>
                      </a:endParaRPr>
                    </a:p>
                  </a:txBody>
                  <a:tcPr marT="45793" marB="4579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298947" y="188640"/>
            <a:ext cx="8649712" cy="9290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lvl="1" indent="0">
              <a:lnSpc>
                <a:spcPct val="150000"/>
              </a:lnSpc>
              <a:spcBef>
                <a:spcPts val="0"/>
              </a:spcBef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、系统将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空格符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作为输入的字符串之间的分隔符。</a:t>
            </a:r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555546" y="962994"/>
            <a:ext cx="8393113" cy="146109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 dirty="0"/>
              <a:t>char str1[5],str2[5],str3[5];</a:t>
            </a:r>
            <a:endParaRPr lang="zh-CN" altLang="zh-CN" sz="2800" dirty="0"/>
          </a:p>
          <a:p>
            <a:r>
              <a:rPr lang="en-US" altLang="zh-CN" sz="2800" dirty="0" err="1"/>
              <a:t>scanf</a:t>
            </a:r>
            <a:r>
              <a:rPr lang="en-US" altLang="zh-CN" sz="2800" dirty="0"/>
              <a:t>(”%s%s%s”,str1,str2,str3);</a:t>
            </a:r>
          </a:p>
          <a:p>
            <a:pPr algn="ctr"/>
            <a:r>
              <a:rPr lang="en-US" altLang="zh-CN" sz="2800" u="sng" dirty="0"/>
              <a:t>How are you? </a:t>
            </a:r>
            <a:r>
              <a:rPr lang="zh-CN" altLang="zh-CN" sz="2800" u="sng" dirty="0"/>
              <a:t>↙</a:t>
            </a:r>
            <a:endParaRPr lang="en-US" altLang="zh-CN" sz="2800" dirty="0"/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827709" y="2485628"/>
          <a:ext cx="4095751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6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w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827584" y="2485628"/>
            <a:ext cx="928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str1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1827709" y="3271441"/>
          <a:ext cx="4095751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6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r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e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827584" y="3271441"/>
            <a:ext cx="928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str2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856284" y="4057253"/>
          <a:ext cx="4095751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1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72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58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167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y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o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u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?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856159" y="4057253"/>
            <a:ext cx="928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str3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82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8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2951" grpId="0"/>
      <p:bldP spid="14" grpId="0"/>
      <p:bldP spid="16" grpId="0"/>
      <p:bldP spid="18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title"/>
          </p:nvPr>
        </p:nvSpPr>
        <p:spPr>
          <a:xfrm>
            <a:off x="36513" y="476672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6.3.6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字符串处理函数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411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929057" y="1412776"/>
            <a:ext cx="7543861" cy="3168650"/>
          </a:xfrm>
        </p:spPr>
        <p:txBody>
          <a:bodyPr/>
          <a:lstStyle/>
          <a:p>
            <a:pPr marL="0" indent="0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在程序中往往需要对字符串作某些操作处理，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两个字符串连接、两个字符串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进行比较等。</a:t>
            </a:r>
          </a:p>
          <a:p>
            <a:pPr marL="0" indent="0">
              <a:lnSpc>
                <a:spcPct val="150000"/>
              </a:lnSpc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C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函数库中提供了一些字符串处理函数，使用很方便。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5541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5116" name="Group 124"/>
          <p:cNvGraphicFramePr>
            <a:graphicFrameLocks noGrp="1"/>
          </p:cNvGraphicFramePr>
          <p:nvPr/>
        </p:nvGraphicFramePr>
        <p:xfrm>
          <a:off x="395288" y="304800"/>
          <a:ext cx="8353425" cy="6013452"/>
        </p:xfrm>
        <a:graphic>
          <a:graphicData uri="http://schemas.openxmlformats.org/drawingml/2006/table">
            <a:tbl>
              <a:tblPr/>
              <a:tblGrid>
                <a:gridCol w="27352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8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函数形式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CC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功能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CC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gets(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字符数组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从终端输入一个字符串到字符数组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puts(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字符数组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将一个字符串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以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’\0’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结束的字符序列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)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输出到终端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strcat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字符数组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，字符数组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2)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连接两个字符数组中的字符串把字符串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接到字符串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的后面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strcpy(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字符数组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，字符串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将字符串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复制到字符数组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中去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strcmp(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1,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比较串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和串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。若串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1=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，则函数值为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0;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若串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1&gt;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，则函数值为一个正整数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;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若串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1&lt;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，则函数值为一个负整数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strlen(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字符数组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测试字符串长度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strlwr(</a:t>
                      </a: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字符串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将字符串中大写字母换成小写字母</a:t>
                      </a:r>
                      <a:endParaRPr kumimoji="1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strupr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(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字符串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)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 pitchFamily="49" charset="0"/>
                        </a:rPr>
                        <a:t>将字符串中小写字母换成大写字母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hecker dir="vert"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5733232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51520" y="404664"/>
            <a:ext cx="8678167" cy="272546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1.gets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（读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入字符串函数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gets(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从终端输入一个字符串到字符数组中，输入回车键时结束，并将回车符’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\n’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换成’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\0’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，其中字符数组只能是一个字符数组名。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64079" y="3501207"/>
            <a:ext cx="5457825" cy="2232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defRPr sz="24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  <a:cs typeface="华文楷体" panose="02010600040101010101" charset="-122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/>
            <a:r>
              <a:rPr 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</a:p>
          <a:p>
            <a:pPr eaLnBrk="1" hangingPunct="1"/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char </a:t>
            </a:r>
            <a:r>
              <a:rPr lang="en-US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ch</a:t>
            </a:r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[13];</a:t>
            </a:r>
          </a:p>
          <a:p>
            <a:pPr eaLnBrk="1" hangingPunct="1"/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gets(</a:t>
            </a:r>
            <a:r>
              <a:rPr lang="en-US" sz="2800" dirty="0" err="1">
                <a:latin typeface="黑体" panose="02010609060101010101" pitchFamily="49" charset="-122"/>
                <a:ea typeface="黑体" panose="02010609060101010101" pitchFamily="49" charset="-122"/>
              </a:rPr>
              <a:t>ch</a:t>
            </a:r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 eaLnBrk="1" hangingPunct="1"/>
            <a:r>
              <a:rPr 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从键盘输入：</a:t>
            </a:r>
            <a:r>
              <a:rPr 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How   are   you?</a:t>
            </a:r>
          </a:p>
          <a:p>
            <a:pPr eaLnBrk="1" hangingPunct="1"/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/>
            <a:endParaRPr 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8" name="Group 6"/>
          <p:cNvGraphicFramePr>
            <a:graphicFrameLocks noGrp="1"/>
          </p:cNvGraphicFramePr>
          <p:nvPr>
            <p:ph sz="half" idx="4294967295"/>
          </p:nvPr>
        </p:nvGraphicFramePr>
        <p:xfrm>
          <a:off x="769567" y="5736412"/>
          <a:ext cx="7704138" cy="649288"/>
        </p:xfrm>
        <a:graphic>
          <a:graphicData uri="http://schemas.openxmlformats.org/drawingml/2006/table">
            <a:tbl>
              <a:tblPr/>
              <a:tblGrid>
                <a:gridCol w="5032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4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07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32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7626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7626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49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  <a:sym typeface="Symbol" panose="05050102010706020507" pitchFamily="18" charset="2"/>
                        </a:rPr>
                        <a:t>H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w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r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e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anose="02010609060101010101" pitchFamily="49" charset="-122"/>
                        <a:ea typeface="黑体" panose="02010609060101010101" pitchFamily="49" charset="-122"/>
                        <a:sym typeface="Symbol" panose="05050102010706020507" pitchFamily="18" charset="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u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?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\0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 decel="100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800" decel="100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00" decel="100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800" decel="100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80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80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800" decel="100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01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5536" y="404664"/>
            <a:ext cx="8748464" cy="540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2.puts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输出字符串函数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puts 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从终端输出字符串，并将’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\0’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换成’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\n’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输出，其中</a:t>
            </a:r>
            <a:r>
              <a:rPr lang="en-US" altLang="zh-CN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ch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可以是某个字符数组名，也可以是一个字符串常量。</a:t>
            </a: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1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[20]=”China”;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puts(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);  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China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93738" y="548680"/>
            <a:ext cx="8001000" cy="54726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2.puts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输出字符串函数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3200" b="1" kern="0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puts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函数、</a:t>
            </a:r>
            <a:r>
              <a:rPr lang="en-US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gets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一次只能输出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或输入</a:t>
            </a:r>
            <a:r>
              <a:rPr lang="zh-CN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一个字符串。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如：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若用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puts(str1,str2,str3); 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写法错误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应改为：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/>
              <a:t>puts(str1);    puts(str2);     puts(str3);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04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467544" y="548680"/>
            <a:ext cx="8462144" cy="54726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1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2.puts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输出字符串函数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②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字符串中允许包含</a:t>
            </a:r>
            <a:r>
              <a:rPr lang="zh-CN" altLang="zh-CN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转义字符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，输出时产生一个控制操作。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[ ]=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″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China\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nBeijing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″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;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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puts(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);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China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</a:t>
            </a:r>
          </a:p>
          <a:p>
            <a:pPr>
              <a:lnSpc>
                <a:spcPct val="150000"/>
              </a:lnSpc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  Beijing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6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333205" y="548680"/>
            <a:ext cx="8596483" cy="4071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3.strcat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字符串连接函数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 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strcat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其作用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把两个字符串连接起来，把字符串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接到字符串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的后面，结果放在字符数组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11559" y="3928120"/>
            <a:ext cx="623160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使用字符串函数时,</a:t>
            </a:r>
            <a:r>
              <a:rPr lang="zh-CN" altLang="zh-CN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在程序开头用</a:t>
            </a:r>
            <a:endParaRPr lang="en-US" altLang="zh-CN" sz="2800" b="1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1" hangingPunct="1">
              <a:lnSpc>
                <a:spcPct val="15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#include &lt;</a:t>
            </a:r>
            <a:r>
              <a:rPr lang="en-US" altLang="zh-CN" sz="2800" b="1" dirty="0" err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string.h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ChangeArrowheads="1"/>
          </p:cNvSpPr>
          <p:nvPr/>
        </p:nvSpPr>
        <p:spPr bwMode="auto">
          <a:xfrm>
            <a:off x="360184" y="1125946"/>
            <a:ext cx="8610600" cy="488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b="1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str1[30]={"People's Republic of  "};</a:t>
            </a:r>
          </a:p>
          <a:p>
            <a:pPr marL="342900" indent="-342900">
              <a:spcBef>
                <a:spcPct val="20000"/>
              </a:spcBef>
            </a:pP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str2[10]={"China"};</a:t>
            </a:r>
          </a:p>
          <a:p>
            <a:pPr marL="342900" indent="-342900">
              <a:spcBef>
                <a:spcPct val="20000"/>
              </a:spcBef>
            </a:pPr>
            <a:r>
              <a:rPr lang="en-US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("%s",</a:t>
            </a:r>
            <a:r>
              <a:rPr lang="en-US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strcat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strl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str2));</a:t>
            </a:r>
          </a:p>
          <a:p>
            <a:pPr marL="342900" indent="-342900">
              <a:spcBef>
                <a:spcPct val="20000"/>
              </a:spcBef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输出：</a:t>
            </a:r>
          </a:p>
          <a:p>
            <a:pPr marL="342900" indent="-342900">
              <a:spcBef>
                <a:spcPct val="20000"/>
              </a:spcBef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People's  Republic  of  China</a:t>
            </a:r>
          </a:p>
          <a:p>
            <a:pPr>
              <a:spcBef>
                <a:spcPct val="20000"/>
              </a:spcBef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说明：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必须足够</a:t>
            </a:r>
            <a:r>
              <a:rPr 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大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，以便容纳连接后的新字符串。</a:t>
            </a:r>
          </a:p>
          <a:p>
            <a:pPr algn="just">
              <a:lnSpc>
                <a:spcPct val="150000"/>
              </a:lnSpc>
              <a:spcBef>
                <a:spcPct val="20000"/>
              </a:spcBef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）连接前两个字符串的后面都有一个‘＼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0’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，连接时将字符串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后面的‘＼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0’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取消，只在新串最后保留一个‘＼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0’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  <a:buFontTx/>
              <a:buChar char="•"/>
            </a:pP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Rectangle 3"/>
          <p:cNvSpPr txBox="1">
            <a:spLocks noChangeArrowheads="1"/>
          </p:cNvSpPr>
          <p:nvPr/>
        </p:nvSpPr>
        <p:spPr bwMode="auto">
          <a:xfrm>
            <a:off x="201485" y="447693"/>
            <a:ext cx="8596483" cy="63402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3.strcat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字符串连接函数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流程图: 过程 3"/>
          <p:cNvSpPr>
            <a:spLocks noChangeArrowheads="1"/>
          </p:cNvSpPr>
          <p:nvPr/>
        </p:nvSpPr>
        <p:spPr bwMode="auto">
          <a:xfrm>
            <a:off x="1880195" y="1484784"/>
            <a:ext cx="603573" cy="595313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2493253" y="988582"/>
            <a:ext cx="1928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</a:rPr>
              <a:t>要足够大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800" decel="100000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800" decel="1000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800" decel="100000" fill="hold"/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800" decel="100000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800" decel="100000" fill="hold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00" decel="100000" fill="hold"/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800" decel="100000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800" decel="1000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00" decel="1000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800" decel="100000" fill="hold"/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17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17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8" dur="8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9" dur="8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0" dur="80"/>
                                        <p:tgtEl>
                                          <p:spTgt spid="317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5" dur="8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6" dur="8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80"/>
                                        <p:tgtEl>
                                          <p:spTgt spid="317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428625" y="359853"/>
            <a:ext cx="8501063" cy="4286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4</a:t>
            </a:r>
            <a:r>
              <a:rPr lang="en-US" altLang="zh-CN" sz="3200" b="1" kern="0" dirty="0">
                <a:latin typeface="+mn-lt"/>
                <a:ea typeface="+mn-ea"/>
              </a:rPr>
              <a:t>.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strncpy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字符串复制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一般形式为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strcpy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</a:p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将字符串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复制到字符数组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中去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str1[10],str2[]=”China”;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strcpy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(str1,str2);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Ø"/>
              <a:defRPr/>
            </a:pPr>
            <a:endParaRPr lang="zh-CN" altLang="zh-CN" sz="3200" b="1" kern="0" dirty="0">
              <a:latin typeface="+mn-lt"/>
              <a:ea typeface="+mn-ea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233655" y="4864258"/>
          <a:ext cx="7215188" cy="59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9005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7120582" y="2300571"/>
            <a:ext cx="19288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要足够大</a:t>
            </a:r>
          </a:p>
        </p:txBody>
      </p:sp>
      <p:sp>
        <p:nvSpPr>
          <p:cNvPr id="15" name="流程图: 过程 14"/>
          <p:cNvSpPr>
            <a:spLocks noChangeArrowheads="1"/>
          </p:cNvSpPr>
          <p:nvPr/>
        </p:nvSpPr>
        <p:spPr bwMode="auto">
          <a:xfrm>
            <a:off x="2443759" y="2281023"/>
            <a:ext cx="798600" cy="467880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" name="流程图: 过程 15"/>
          <p:cNvSpPr>
            <a:spLocks noChangeArrowheads="1"/>
          </p:cNvSpPr>
          <p:nvPr/>
        </p:nvSpPr>
        <p:spPr bwMode="auto">
          <a:xfrm>
            <a:off x="2732992" y="2860166"/>
            <a:ext cx="928688" cy="424818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7" name="圆角矩形标注 16"/>
          <p:cNvSpPr>
            <a:spLocks noChangeArrowheads="1"/>
          </p:cNvSpPr>
          <p:nvPr/>
        </p:nvSpPr>
        <p:spPr bwMode="auto">
          <a:xfrm>
            <a:off x="2325987" y="4146041"/>
            <a:ext cx="2286000" cy="500062"/>
          </a:xfrm>
          <a:prstGeom prst="wedgeRoundRectCallout">
            <a:avLst>
              <a:gd name="adj1" fmla="val -16624"/>
              <a:gd name="adj2" fmla="val -233370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数组名形式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8" name="流程图: 过程 17"/>
          <p:cNvSpPr>
            <a:spLocks noChangeArrowheads="1"/>
          </p:cNvSpPr>
          <p:nvPr/>
        </p:nvSpPr>
        <p:spPr bwMode="auto">
          <a:xfrm>
            <a:off x="3775766" y="2861019"/>
            <a:ext cx="724226" cy="42396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9" name="圆角矩形标注 18"/>
          <p:cNvSpPr>
            <a:spLocks noChangeArrowheads="1"/>
          </p:cNvSpPr>
          <p:nvPr/>
        </p:nvSpPr>
        <p:spPr bwMode="auto">
          <a:xfrm>
            <a:off x="4674815" y="4146041"/>
            <a:ext cx="3857625" cy="571500"/>
          </a:xfrm>
          <a:prstGeom prst="wedgeRoundRectCallout">
            <a:avLst>
              <a:gd name="adj1" fmla="val -57888"/>
              <a:gd name="adj2" fmla="val -205935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pPr algn="ctr"/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数组名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字符串常量</a:t>
            </a:r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4901942"/>
            <a:ext cx="9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str1</a:t>
            </a:r>
            <a:endParaRPr lang="zh-CN" altLang="en-US" sz="2800" b="1" dirty="0"/>
          </a:p>
        </p:txBody>
      </p:sp>
      <p:sp>
        <p:nvSpPr>
          <p:cNvPr id="20" name="Rectangle 4"/>
          <p:cNvSpPr>
            <a:spLocks noChangeArrowheads="1"/>
          </p:cNvSpPr>
          <p:nvPr/>
        </p:nvSpPr>
        <p:spPr bwMode="auto">
          <a:xfrm>
            <a:off x="474960" y="5695924"/>
            <a:ext cx="83058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8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strcpy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(str1,“China”)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作用与前相同。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3" dur="8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4" dur="8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5" dur="8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3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315913" y="188640"/>
            <a:ext cx="8378825" cy="56886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4.strcpy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strncpy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字符串复制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altLang="en-US" sz="2800" b="1" kern="0" dirty="0">
                <a:latin typeface="宋体" panose="02010600030101010101" pitchFamily="2" charset="-122"/>
                <a:ea typeface="宋体" panose="02010600030101010101" pitchFamily="2" charset="-122"/>
              </a:rPr>
              <a:t>①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不能用赋值语句将一个</a:t>
            </a:r>
            <a:r>
              <a:rPr lang="zh-CN" altLang="en-US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字符串常量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直接给一个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str1[10],str2[]=”China”;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str1=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China”;   </a:t>
            </a:r>
            <a:r>
              <a:rPr lang="zh-CN" altLang="en-US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错误</a:t>
            </a:r>
            <a:endParaRPr lang="zh-CN" altLang="zh-CN" sz="2800" b="1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str1=str2;        </a:t>
            </a:r>
            <a:r>
              <a:rPr lang="zh-CN" altLang="en-US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错误</a:t>
            </a:r>
            <a:endParaRPr lang="en-US" altLang="zh-CN" sz="2800" b="1" kern="0" dirty="0">
              <a:solidFill>
                <a:srgbClr val="C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用赋值语句只能将</a:t>
            </a:r>
            <a:r>
              <a:rPr lang="zh-CN" altLang="en-US" sz="2800" b="1" kern="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一个字符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赋给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一个字符型变量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或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字符数组元素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c1,a[2];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c1=‘A’’;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a[0]=‘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d’;a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[1]=‘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o’;a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[2]=‘g’;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100877" y="548680"/>
            <a:ext cx="9036496" cy="2143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4.strcpy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和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strncpy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字符串复制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strncpy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一般形式为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strncpy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1,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n)</a:t>
            </a:r>
          </a:p>
          <a:p>
            <a:pPr marL="457200" indent="-457200">
              <a:lnSpc>
                <a:spcPct val="12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作用：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将字符串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中前面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个字符复制到字符数组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中去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324198" y="2780928"/>
            <a:ext cx="8153400" cy="1458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char str1[10]={“Tsinghua”},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str2[10]={"Computer"};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strncpy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(str1 ,str2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3);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25832" y="4283911"/>
            <a:ext cx="9126688" cy="166536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0" lvl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str2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的前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个字符被复制到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str1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中，即结果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str1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中是字符串“</a:t>
            </a:r>
            <a:r>
              <a:rPr lang="en-US" altLang="zh-CN" b="1" kern="0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Comnghua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marL="0" lvl="1">
              <a:lnSpc>
                <a:spcPct val="150000"/>
              </a:lnSpc>
              <a:buFont typeface="Wingdings" panose="05000000000000000000" pitchFamily="2" charset="2"/>
              <a:buChar char="u"/>
              <a:defRPr/>
            </a:pP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复制的字符个数</a:t>
            </a:r>
            <a:r>
              <a:rPr lang="en-US" altLang="zh-CN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不应多于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str1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中原有的字符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endParaRPr lang="en-US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800" decel="100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8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800" decel="100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800" decel="100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800" decel="100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18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50863" y="404664"/>
            <a:ext cx="8143875" cy="47863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字符串比较函数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，字符串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2)</a:t>
            </a: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比较字符串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和字符串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(str1,str2);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China”,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Korea”);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(str1,”Beijing”);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21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500062" y="344179"/>
            <a:ext cx="8143875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5.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字符串比较函数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179512" y="1058554"/>
            <a:ext cx="8856983" cy="3929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字符串比较的规则是：将两个字符串自左至右逐个字符相比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按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ASCII</a:t>
            </a:r>
            <a:r>
              <a:rPr lang="zh-CN" altLang="en-US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码值大小比较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，直到出现不同的字符或遇到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’\0’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为止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如全部字符相同，认为两个字符串相等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若出现不相同的字符，则以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</a:t>
            </a:r>
            <a:r>
              <a:rPr lang="zh-CN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不相同的字符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的比较结果为准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3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42938" y="476672"/>
            <a:ext cx="8143875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5.strcmp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字符串比较函数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714375" y="1205974"/>
            <a:ext cx="6233889" cy="438326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b="1" kern="0" dirty="0">
                <a:latin typeface="+mn-lt"/>
                <a:ea typeface="+mn-ea"/>
              </a:rPr>
              <a:t>   </a:t>
            </a:r>
            <a:r>
              <a:rPr lang="en-US" altLang="zh-CN" sz="2800" b="1" kern="0" dirty="0">
                <a:latin typeface="+mn-lt"/>
                <a:ea typeface="+mn-ea"/>
              </a:rPr>
              <a:t>”A”&lt;”B”           ”a”&gt;”A”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”computer”&gt;”compare”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”these”&gt;”that” 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”36+54”&gt;”!$ &amp;#”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”CHINA”&gt;”CANADA”</a:t>
            </a: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+mn-lt"/>
                <a:ea typeface="+mn-ea"/>
              </a:rPr>
              <a:t>   ”DOG”&lt;”cat”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5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73450" y="337361"/>
            <a:ext cx="8143875" cy="714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5.strcmp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字符串比较函数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273450" y="945238"/>
            <a:ext cx="8820472" cy="24117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457200" indent="-45720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比较的结果由函数值带回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2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如果字符串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1=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，则函数值为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0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2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如果字符串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1&gt;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，则函数值为一个正整数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lvl="2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如果字符串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1&lt;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zh-CN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，则函数值为一个负整数</a:t>
            </a:r>
            <a:r>
              <a:rPr lang="zh-CN" altLang="en-US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273450" y="3573016"/>
            <a:ext cx="8990013" cy="20527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注意：</a:t>
            </a: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对两个字符串比较，不能用以下形式：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if(</a:t>
            </a:r>
            <a:r>
              <a:rPr lang="en-US" sz="2800" b="1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strl</a:t>
            </a:r>
            <a:r>
              <a:rPr 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&gt;str2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</a:t>
            </a:r>
            <a:r>
              <a:rPr lang="en-US" sz="28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("yes")</a:t>
            </a: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错误</a:t>
            </a:r>
            <a:endParaRPr lang="en-US" altLang="zh-CN" sz="2800" b="1" kern="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而只能用</a:t>
            </a: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zh-CN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if(</a:t>
            </a:r>
            <a:r>
              <a:rPr lang="en-US" sz="2800" b="1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strcmp</a:t>
            </a:r>
            <a:r>
              <a:rPr 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(str1,str2)&gt;0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 </a:t>
            </a:r>
            <a:r>
              <a:rPr lang="en-US" sz="2800" b="1" dirty="0" err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prinif</a:t>
            </a:r>
            <a:r>
              <a:rPr lang="en-US" sz="2800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("yes");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正确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8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 decel="100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800" decel="100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62586" y="476672"/>
            <a:ext cx="8467101" cy="3571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6.strlen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测字符串长度函数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 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strlen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它是测试字符串长度的函数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函数的值为字符串中的实际长度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，不包括</a:t>
            </a:r>
            <a:r>
              <a:rPr lang="zh-CN" altLang="en-US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‘＼</a:t>
            </a: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0’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在内。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673100" y="428625"/>
            <a:ext cx="7786688" cy="857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6.strlen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测字符串长度函数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656470" y="1052736"/>
            <a:ext cx="7786688" cy="35718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char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[10]=”China”;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printf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(”%d”,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strlen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));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输出结果不是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10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，也不是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，而是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5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也可以直接测试字符串常量的长度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    </a:t>
            </a:r>
            <a:r>
              <a:rPr lang="en-US" altLang="zh-CN" sz="2800" b="1" kern="0" dirty="0" err="1">
                <a:latin typeface="黑体" panose="02010609060101010101" pitchFamily="49" charset="-122"/>
                <a:ea typeface="黑体" panose="02010609060101010101" pitchFamily="49" charset="-122"/>
              </a:rPr>
              <a:t>strlen</a:t>
            </a: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(”China”);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35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36543" y="476673"/>
            <a:ext cx="8593145" cy="266429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514350" indent="-514350" eaLnBrk="0" hangingPunct="0">
              <a:lnSpc>
                <a:spcPct val="12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7.strlwr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转换为小写函数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strlwr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将字符串中大写字母换成小写字母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294887" y="3140969"/>
            <a:ext cx="8676456" cy="244827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8.strupr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转换为大写函数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endParaRPr lang="en-US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其一般形式为</a:t>
            </a: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en-US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       </a:t>
            </a:r>
            <a:r>
              <a:rPr lang="en-US" altLang="zh-CN" sz="2800" b="1" kern="0" dirty="0" err="1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strupr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(</a:t>
            </a:r>
            <a:r>
              <a:rPr lang="zh-CN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字符串</a:t>
            </a:r>
            <a:r>
              <a:rPr lang="en-US" altLang="zh-CN" sz="2800" b="1" kern="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</a:p>
          <a:p>
            <a:pPr marL="457200" indent="-4572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作用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zh-CN" altLang="zh-CN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将字符串中小写字母换成大写字母</a:t>
            </a:r>
            <a:r>
              <a:rPr lang="zh-CN" altLang="en-US" sz="2800" b="1" kern="0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zh-CN" sz="2800" b="1" kern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251520" y="1052736"/>
            <a:ext cx="8678168" cy="1368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6.8  </a:t>
            </a: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输入一行字符，统计其中有多少个单词，单词之间用空格分隔开。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Rectangle 7"/>
          <p:cNvSpPr txBox="1">
            <a:spLocks noChangeArrowheads="1"/>
          </p:cNvSpPr>
          <p:nvPr/>
        </p:nvSpPr>
        <p:spPr bwMode="auto">
          <a:xfrm>
            <a:off x="107504" y="2420888"/>
            <a:ext cx="9036496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解题思路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问题的关键是怎样确定“出现一个新单词了”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从第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个字符开始逐个字符进行检查，判断此字符是否是新单词的开头，如果是，就使变量</a:t>
            </a:r>
            <a:r>
              <a:rPr lang="en-US" altLang="zh-CN" sz="2800" b="1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的值加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，最后得到的</a:t>
            </a:r>
            <a:r>
              <a:rPr lang="en-US" altLang="zh-CN" sz="2800" b="1" dirty="0" err="1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num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的值就是</a:t>
            </a:r>
            <a:r>
              <a:rPr lang="zh-CN" altLang="en-US" sz="2800" b="1" dirty="0">
                <a:solidFill>
                  <a:srgbClr val="00B05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单词总数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17292" y="344711"/>
            <a:ext cx="8893175" cy="708025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6.3.7 </a:t>
            </a:r>
            <a:r>
              <a:rPr lang="zh-CN" altLang="zh-CN" sz="40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字符数组应用举例</a:t>
            </a:r>
            <a:endParaRPr lang="zh-CN" altLang="en-US" sz="40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8" y="620688"/>
            <a:ext cx="8341047" cy="5184576"/>
          </a:xfrm>
        </p:spPr>
        <p:txBody>
          <a:bodyPr/>
          <a:lstStyle/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判断是否出现新单词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，可以由是否有空格出现来决定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连续的若干个空格作为出现一次空格；一行开头的空格不统计在内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如果测出某一个字符为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非空格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，而它的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前面的字符是空格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，则表示“新的单词开始了”，此时使</a:t>
            </a:r>
            <a:r>
              <a:rPr lang="en-US" altLang="zh-CN" sz="28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num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累加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如果当前字符为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非空格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而其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前面的字符也是非空格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，则</a:t>
            </a:r>
            <a:r>
              <a:rPr lang="en-US" altLang="zh-CN" sz="28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num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不应再累加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044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704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87046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60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60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529" y="620689"/>
            <a:ext cx="8358906" cy="3960440"/>
          </a:xfrm>
        </p:spPr>
        <p:txBody>
          <a:bodyPr/>
          <a:lstStyle/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用</a:t>
            </a:r>
            <a:r>
              <a:rPr lang="zh-CN" altLang="zh-CN" sz="28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变量</a:t>
            </a:r>
            <a:r>
              <a:rPr lang="en-US" altLang="zh-CN" sz="2800" dirty="0">
                <a:solidFill>
                  <a:srgbClr val="FFC000"/>
                </a:solidFill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作为判别当前是否开始了一个新单词的标志，若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word=0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表示未出现新单词，如出现了新单词，就把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置成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lvl="1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前面一个字符是否空格可以从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的值看出来，若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等于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，则表示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前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一个字符是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空格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；如果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word</a:t>
            </a:r>
            <a:r>
              <a:rPr lang="zh-CN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等于</a:t>
            </a:r>
            <a:r>
              <a:rPr lang="en-US" altLang="zh-CN" sz="28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，意味着</a:t>
            </a:r>
            <a:r>
              <a:rPr lang="zh-CN" altLang="zh-CN" sz="28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前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一个字符为</a:t>
            </a:r>
            <a:r>
              <a:rPr lang="zh-CN" altLang="zh-CN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非空格</a:t>
            </a:r>
            <a:r>
              <a:rPr lang="zh-CN" altLang="en-US" sz="28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zh-CN" sz="28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514350" indent="-514350">
              <a:buFont typeface="Wingdings" panose="05000000000000000000" pitchFamily="2" charset="2"/>
              <a:buNone/>
            </a:pPr>
            <a:endParaRPr lang="zh-CN" altLang="zh-CN" dirty="0"/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88069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88070" name="图片 5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70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7827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cxnSp>
        <p:nvCxnSpPr>
          <p:cNvPr id="16" name="直接箭头连接符 15"/>
          <p:cNvCxnSpPr>
            <a:cxnSpLocks noChangeShapeType="1"/>
          </p:cNvCxnSpPr>
          <p:nvPr/>
        </p:nvCxnSpPr>
        <p:spPr bwMode="auto">
          <a:xfrm rot="16200000" flipH="1">
            <a:off x="1538536" y="4582839"/>
            <a:ext cx="428625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直接箭头连接符 20"/>
          <p:cNvCxnSpPr>
            <a:cxnSpLocks noChangeShapeType="1"/>
          </p:cNvCxnSpPr>
          <p:nvPr/>
        </p:nvCxnSpPr>
        <p:spPr bwMode="auto">
          <a:xfrm>
            <a:off x="3038724" y="2582588"/>
            <a:ext cx="1643062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直接箭头连接符 24"/>
          <p:cNvCxnSpPr>
            <a:cxnSpLocks noChangeShapeType="1"/>
          </p:cNvCxnSpPr>
          <p:nvPr/>
        </p:nvCxnSpPr>
        <p:spPr bwMode="auto">
          <a:xfrm rot="10800000">
            <a:off x="1752849" y="4511401"/>
            <a:ext cx="2928937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3110161" y="868088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Y</a:t>
            </a:r>
            <a:endParaRPr lang="zh-CN" altLang="en-US" sz="2800" b="1"/>
          </a:p>
        </p:txBody>
      </p:sp>
      <p:cxnSp>
        <p:nvCxnSpPr>
          <p:cNvPr id="31" name="直接箭头连接符 30"/>
          <p:cNvCxnSpPr>
            <a:cxnSpLocks noChangeShapeType="1"/>
          </p:cNvCxnSpPr>
          <p:nvPr/>
        </p:nvCxnSpPr>
        <p:spPr bwMode="auto">
          <a:xfrm rot="5400000">
            <a:off x="1479799" y="783951"/>
            <a:ext cx="546100" cy="0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流程图: 决策 31"/>
          <p:cNvSpPr>
            <a:spLocks noChangeArrowheads="1"/>
          </p:cNvSpPr>
          <p:nvPr/>
        </p:nvSpPr>
        <p:spPr bwMode="auto">
          <a:xfrm>
            <a:off x="395536" y="1010963"/>
            <a:ext cx="2714625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 dirty="0"/>
              <a:t>c</a:t>
            </a:r>
            <a:r>
              <a:rPr lang="en-US" altLang="zh-CN" sz="2800" dirty="0"/>
              <a:t>=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空格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>
            <a:off x="3110161" y="1368151"/>
            <a:ext cx="1571625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6" name="直接箭头连接符 35"/>
          <p:cNvCxnSpPr>
            <a:cxnSpLocks noChangeShapeType="1"/>
          </p:cNvCxnSpPr>
          <p:nvPr/>
        </p:nvCxnSpPr>
        <p:spPr bwMode="auto">
          <a:xfrm rot="5400000">
            <a:off x="4468267" y="1581670"/>
            <a:ext cx="428625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>
            <a:cxnSpLocks noChangeShapeType="1"/>
          </p:cNvCxnSpPr>
          <p:nvPr/>
        </p:nvCxnSpPr>
        <p:spPr bwMode="auto">
          <a:xfrm rot="5400000">
            <a:off x="1502023" y="1974576"/>
            <a:ext cx="500063" cy="1588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流程图: 过程 39"/>
          <p:cNvSpPr>
            <a:spLocks noChangeArrowheads="1"/>
          </p:cNvSpPr>
          <p:nvPr/>
        </p:nvSpPr>
        <p:spPr bwMode="auto">
          <a:xfrm>
            <a:off x="3824536" y="1796776"/>
            <a:ext cx="1714500" cy="500062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word=0</a:t>
            </a:r>
            <a:endParaRPr lang="zh-CN" altLang="en-US" sz="2800" b="1"/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1824286" y="1653901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N</a:t>
            </a:r>
            <a:endParaRPr lang="zh-CN" altLang="en-US" sz="2800" b="1"/>
          </a:p>
        </p:txBody>
      </p:sp>
      <p:sp>
        <p:nvSpPr>
          <p:cNvPr id="42" name="流程图: 决策 41"/>
          <p:cNvSpPr>
            <a:spLocks noChangeArrowheads="1"/>
          </p:cNvSpPr>
          <p:nvPr/>
        </p:nvSpPr>
        <p:spPr bwMode="auto">
          <a:xfrm>
            <a:off x="395536" y="2225401"/>
            <a:ext cx="2714625" cy="714375"/>
          </a:xfrm>
          <a:prstGeom prst="flowChartDecision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word=0</a:t>
            </a:r>
            <a:endParaRPr lang="zh-CN" altLang="en-US" sz="2800" b="1"/>
          </a:p>
        </p:txBody>
      </p:sp>
      <p:cxnSp>
        <p:nvCxnSpPr>
          <p:cNvPr id="43" name="直接箭头连接符 42"/>
          <p:cNvCxnSpPr>
            <a:cxnSpLocks noChangeShapeType="1"/>
          </p:cNvCxnSpPr>
          <p:nvPr/>
        </p:nvCxnSpPr>
        <p:spPr bwMode="auto">
          <a:xfrm rot="5400000">
            <a:off x="1503612" y="3189013"/>
            <a:ext cx="500062" cy="1587"/>
          </a:xfrm>
          <a:prstGeom prst="straightConnector1">
            <a:avLst/>
          </a:prstGeom>
          <a:noFill/>
          <a:ln w="38100" algn="ctr">
            <a:solidFill>
              <a:schemeClr val="tx1"/>
            </a:solidFill>
            <a:miter lim="800000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4286" y="2868338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Y</a:t>
            </a:r>
            <a:endParaRPr lang="zh-CN" altLang="en-US" sz="2800" b="1"/>
          </a:p>
        </p:txBody>
      </p:sp>
      <p:sp>
        <p:nvSpPr>
          <p:cNvPr id="45" name="流程图: 过程 44"/>
          <p:cNvSpPr>
            <a:spLocks noChangeArrowheads="1"/>
          </p:cNvSpPr>
          <p:nvPr/>
        </p:nvSpPr>
        <p:spPr bwMode="auto">
          <a:xfrm>
            <a:off x="895599" y="3439838"/>
            <a:ext cx="1714500" cy="928688"/>
          </a:xfrm>
          <a:prstGeom prst="flowChartProcess">
            <a:avLst/>
          </a:prstGeom>
          <a:solidFill>
            <a:schemeClr val="accent1"/>
          </a:solidFill>
          <a:ln w="38100" algn="ctr">
            <a:solidFill>
              <a:schemeClr val="tx1"/>
            </a:solidFill>
            <a:miter lim="800000"/>
          </a:ln>
        </p:spPr>
        <p:txBody>
          <a:bodyPr wrap="none" lIns="0" tIns="0" rIns="0" bIns="0"/>
          <a:lstStyle/>
          <a:p>
            <a:pPr algn="ctr"/>
            <a:r>
              <a:rPr lang="en-US" altLang="zh-CN" sz="2800" b="1"/>
              <a:t>word=1</a:t>
            </a:r>
          </a:p>
          <a:p>
            <a:pPr algn="ctr"/>
            <a:r>
              <a:rPr lang="en-US" altLang="zh-CN" sz="2800" b="1"/>
              <a:t>num++</a:t>
            </a:r>
            <a:endParaRPr lang="zh-CN" altLang="en-US" sz="2800" b="1"/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2967286" y="2130151"/>
            <a:ext cx="500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/>
              <a:t>N</a:t>
            </a:r>
            <a:endParaRPr lang="zh-CN" altLang="en-US" sz="2800" b="1"/>
          </a:p>
        </p:txBody>
      </p:sp>
      <p:cxnSp>
        <p:nvCxnSpPr>
          <p:cNvPr id="52" name="直接连接符 51"/>
          <p:cNvCxnSpPr>
            <a:cxnSpLocks noChangeShapeType="1"/>
          </p:cNvCxnSpPr>
          <p:nvPr/>
        </p:nvCxnSpPr>
        <p:spPr bwMode="auto">
          <a:xfrm rot="5400000" flipH="1" flipV="1">
            <a:off x="3574504" y="3404120"/>
            <a:ext cx="2214563" cy="0"/>
          </a:xfrm>
          <a:prstGeom prst="line">
            <a:avLst/>
          </a:prstGeom>
          <a:noFill/>
          <a:ln w="38100" algn="ctr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7" name="Rectangle 3"/>
          <p:cNvSpPr txBox="1">
            <a:spLocks noChangeArrowheads="1"/>
          </p:cNvSpPr>
          <p:nvPr/>
        </p:nvSpPr>
        <p:spPr bwMode="auto">
          <a:xfrm>
            <a:off x="5786438" y="3225526"/>
            <a:ext cx="3071812" cy="2714625"/>
          </a:xfrm>
          <a:prstGeom prst="rect">
            <a:avLst/>
          </a:prstGeom>
          <a:solidFill>
            <a:srgbClr val="FF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/>
              <a:t>if(c==' ')</a:t>
            </a:r>
          </a:p>
          <a:p>
            <a:pPr eaLnBrk="1" hangingPunct="1"/>
            <a:r>
              <a:rPr lang="en-US" altLang="zh-CN" sz="2800" b="1" dirty="0"/>
              <a:t>    word=0;                    </a:t>
            </a:r>
            <a:endParaRPr lang="zh-CN" altLang="zh-CN" sz="2800" b="1" dirty="0"/>
          </a:p>
          <a:p>
            <a:pPr eaLnBrk="1" hangingPunct="1"/>
            <a:r>
              <a:rPr lang="en-US" altLang="zh-CN" sz="2800" b="1" dirty="0"/>
              <a:t>else if(word==0)</a:t>
            </a:r>
          </a:p>
          <a:p>
            <a:pPr eaLnBrk="1" hangingPunct="1"/>
            <a:r>
              <a:rPr lang="en-US" altLang="zh-CN" sz="2800" b="1" dirty="0"/>
              <a:t>{   word=1;                          </a:t>
            </a:r>
            <a:endParaRPr lang="zh-CN" altLang="zh-CN" sz="2800" b="1" dirty="0"/>
          </a:p>
          <a:p>
            <a:pPr eaLnBrk="1" hangingPunct="1"/>
            <a:r>
              <a:rPr lang="en-US" altLang="zh-CN" sz="2800" b="1" dirty="0"/>
              <a:t>     </a:t>
            </a:r>
            <a:r>
              <a:rPr lang="en-US" altLang="zh-CN" sz="2800" b="1" dirty="0" err="1"/>
              <a:t>num</a:t>
            </a:r>
            <a:r>
              <a:rPr lang="en-US" altLang="zh-CN" sz="2800" b="1" dirty="0"/>
              <a:t>++; </a:t>
            </a:r>
            <a:endParaRPr lang="zh-CN" altLang="zh-CN" sz="2800" b="1" dirty="0"/>
          </a:p>
          <a:p>
            <a:pPr eaLnBrk="1" hangingPunct="1"/>
            <a:r>
              <a:rPr lang="en-US" altLang="zh-CN" sz="2800" b="1" dirty="0"/>
              <a:t>}</a:t>
            </a:r>
            <a:endParaRPr lang="zh-CN" altLang="zh-CN" sz="2800" b="1" dirty="0"/>
          </a:p>
        </p:txBody>
      </p:sp>
      <p:pic>
        <p:nvPicPr>
          <p:cNvPr id="7784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 animBg="1"/>
      <p:bldP spid="40" grpId="0" animBg="1"/>
      <p:bldP spid="41" grpId="0"/>
      <p:bldP spid="42" grpId="0" animBg="1"/>
      <p:bldP spid="44" grpId="0"/>
      <p:bldP spid="45" grpId="0" animBg="1"/>
      <p:bldP spid="47" grpId="0"/>
      <p:bldP spid="77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8851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214313" y="1428750"/>
          <a:ext cx="8501061" cy="3709986"/>
        </p:xfrm>
        <a:graphic>
          <a:graphicData uri="http://schemas.openxmlformats.org/drawingml/2006/table">
            <a:tbl>
              <a:tblPr/>
              <a:tblGrid>
                <a:gridCol w="2286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0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4293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715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006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604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当前字符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I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a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m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a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b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o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y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.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4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是否空格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word</a:t>
                      </a: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原值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03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新单词开始否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是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否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4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word</a:t>
                      </a: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新值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0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459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num</a:t>
                      </a:r>
                      <a:r>
                        <a:rPr lang="zh-CN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值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1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2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2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2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3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3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4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4</a:t>
                      </a:r>
                      <a:endParaRPr lang="zh-CN" sz="2800" b="1" kern="10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4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b="1" kern="100" dirty="0">
                          <a:latin typeface="黑体" panose="02010609060101010101" pitchFamily="49" charset="-122"/>
                          <a:ea typeface="黑体" panose="02010609060101010101" pitchFamily="49" charset="-122"/>
                          <a:cs typeface="Courier New" panose="02070309020205020404"/>
                        </a:rPr>
                        <a:t>4</a:t>
                      </a:r>
                      <a:endParaRPr lang="zh-CN" sz="2800" b="1" kern="100" dirty="0">
                        <a:latin typeface="黑体" panose="02010609060101010101" pitchFamily="49" charset="-122"/>
                        <a:ea typeface="黑体" panose="02010609060101010101" pitchFamily="49" charset="-122"/>
                        <a:cs typeface="Courier New" panose="02070309020205020404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78945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875" name="Rectangle 7"/>
          <p:cNvSpPr txBox="1">
            <a:spLocks noChangeArrowheads="1"/>
          </p:cNvSpPr>
          <p:nvPr/>
        </p:nvSpPr>
        <p:spPr bwMode="auto">
          <a:xfrm>
            <a:off x="428625" y="260648"/>
            <a:ext cx="8358188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 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stdio.h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main()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{ char string[81];  </a:t>
            </a: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r>
              <a:rPr lang="en-US" altLang="zh-CN" sz="2800" b="1" dirty="0" err="1">
                <a:latin typeface="Verdana" panose="020B0604030504040204" pitchFamily="34" charset="0"/>
              </a:rPr>
              <a:t>i,num</a:t>
            </a:r>
            <a:r>
              <a:rPr lang="en-US" altLang="zh-CN" sz="2800" b="1" dirty="0">
                <a:latin typeface="Verdana" panose="020B0604030504040204" pitchFamily="34" charset="0"/>
              </a:rPr>
              <a:t>=0,word=0;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char c;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gets(string);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for (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=0;(c=string[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])!=‘\0’;i++)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if(c==‘ ’) word=0;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else if(word==0)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{  </a:t>
            </a:r>
            <a:r>
              <a:rPr lang="en-US" altLang="zh-CN" sz="2800" b="1" dirty="0" err="1">
                <a:latin typeface="Verdana" panose="020B0604030504040204" pitchFamily="34" charset="0"/>
              </a:rPr>
              <a:t>num</a:t>
            </a:r>
            <a:r>
              <a:rPr lang="en-US" altLang="zh-CN" sz="2800" b="1" dirty="0">
                <a:latin typeface="Verdana" panose="020B0604030504040204" pitchFamily="34" charset="0"/>
              </a:rPr>
              <a:t>++;     word=1;   }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</a:t>
            </a: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(“There are %d words in this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                             line.\n”,</a:t>
            </a:r>
            <a:r>
              <a:rPr lang="en-US" altLang="zh-CN" sz="2800" b="1" dirty="0" err="1">
                <a:latin typeface="Verdana" panose="020B0604030504040204" pitchFamily="34" charset="0"/>
              </a:rPr>
              <a:t>num</a:t>
            </a:r>
            <a:r>
              <a:rPr lang="en-US" altLang="zh-CN" sz="2800" b="1" dirty="0">
                <a:latin typeface="Verdana" panose="020B0604030504040204" pitchFamily="34" charset="0"/>
              </a:rPr>
              <a:t>);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return 0;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8" name="流程图: 过程 7"/>
          <p:cNvSpPr>
            <a:spLocks noChangeArrowheads="1"/>
          </p:cNvSpPr>
          <p:nvPr/>
        </p:nvSpPr>
        <p:spPr bwMode="auto">
          <a:xfrm>
            <a:off x="5286375" y="1260773"/>
            <a:ext cx="3500438" cy="642938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9" name="圆角矩形标注 8"/>
          <p:cNvSpPr>
            <a:spLocks noChangeArrowheads="1"/>
          </p:cNvSpPr>
          <p:nvPr/>
        </p:nvSpPr>
        <p:spPr bwMode="auto">
          <a:xfrm>
            <a:off x="5500688" y="260648"/>
            <a:ext cx="2928937" cy="642938"/>
          </a:xfrm>
          <a:prstGeom prst="wedgeRoundRectCallout">
            <a:avLst>
              <a:gd name="adj1" fmla="val -17231"/>
              <a:gd name="adj2" fmla="val 104588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一定要设初始值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98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98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98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98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98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98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798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98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987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987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99" name="Rectangle 7"/>
          <p:cNvSpPr txBox="1">
            <a:spLocks noChangeArrowheads="1"/>
          </p:cNvSpPr>
          <p:nvPr/>
        </p:nvSpPr>
        <p:spPr bwMode="auto">
          <a:xfrm>
            <a:off x="428625" y="428625"/>
            <a:ext cx="8358188" cy="621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 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stdio.h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main()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{ char string[81];  </a:t>
            </a: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r>
              <a:rPr lang="en-US" altLang="zh-CN" sz="2800" b="1" dirty="0" err="1">
                <a:latin typeface="Verdana" panose="020B0604030504040204" pitchFamily="34" charset="0"/>
              </a:rPr>
              <a:t>i,num</a:t>
            </a:r>
            <a:r>
              <a:rPr lang="en-US" altLang="zh-CN" sz="2800" b="1" dirty="0">
                <a:latin typeface="Verdana" panose="020B0604030504040204" pitchFamily="34" charset="0"/>
              </a:rPr>
              <a:t>=0,word=0;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char c;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gets(string);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for (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=0;(c=string[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])!=‘\0’;i++)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if(c==‘ ’) word=0;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else if(word==0)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{  </a:t>
            </a:r>
            <a:r>
              <a:rPr lang="en-US" altLang="zh-CN" sz="2800" b="1" dirty="0" err="1">
                <a:latin typeface="Verdana" panose="020B0604030504040204" pitchFamily="34" charset="0"/>
              </a:rPr>
              <a:t>num</a:t>
            </a:r>
            <a:r>
              <a:rPr lang="en-US" altLang="zh-CN" sz="2800" b="1" dirty="0">
                <a:latin typeface="Verdana" panose="020B0604030504040204" pitchFamily="34" charset="0"/>
              </a:rPr>
              <a:t>++;     word=1;   }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</a:t>
            </a: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(“There are %d words in this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                             line.\n”,</a:t>
            </a:r>
            <a:r>
              <a:rPr lang="en-US" altLang="zh-CN" sz="2800" b="1" dirty="0" err="1">
                <a:latin typeface="Verdana" panose="020B0604030504040204" pitchFamily="34" charset="0"/>
              </a:rPr>
              <a:t>num</a:t>
            </a:r>
            <a:r>
              <a:rPr lang="en-US" altLang="zh-CN" sz="2800" b="1" dirty="0">
                <a:latin typeface="Verdana" panose="020B0604030504040204" pitchFamily="34" charset="0"/>
              </a:rPr>
              <a:t>);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return 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7" name="流程图: 过程 6"/>
          <p:cNvSpPr>
            <a:spLocks noChangeArrowheads="1"/>
          </p:cNvSpPr>
          <p:nvPr/>
        </p:nvSpPr>
        <p:spPr bwMode="auto">
          <a:xfrm>
            <a:off x="2714625" y="2924944"/>
            <a:ext cx="3857625" cy="642938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" name="圆角矩形标注 9"/>
          <p:cNvSpPr>
            <a:spLocks noChangeArrowheads="1"/>
          </p:cNvSpPr>
          <p:nvPr/>
        </p:nvSpPr>
        <p:spPr bwMode="auto">
          <a:xfrm>
            <a:off x="6000750" y="928688"/>
            <a:ext cx="2428875" cy="1714500"/>
          </a:xfrm>
          <a:prstGeom prst="wedgeRoundRectCallout">
            <a:avLst>
              <a:gd name="adj1" fmla="val -40926"/>
              <a:gd name="adj2" fmla="val 70287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en-US" sz="2800" b="1">
                <a:solidFill>
                  <a:srgbClr val="FF0000"/>
                </a:solidFill>
              </a:rPr>
              <a:t>相当于</a:t>
            </a:r>
            <a:endParaRPr lang="en-US" altLang="zh-CN" sz="2800" b="1">
              <a:solidFill>
                <a:srgbClr val="FF0000"/>
              </a:solidFill>
            </a:endParaRPr>
          </a:p>
          <a:p>
            <a:r>
              <a:rPr lang="en-US" altLang="zh-CN" sz="2800" b="1">
                <a:solidFill>
                  <a:srgbClr val="FF0000"/>
                </a:solidFill>
              </a:rPr>
              <a:t>c=string[i];</a:t>
            </a:r>
          </a:p>
          <a:p>
            <a:r>
              <a:rPr lang="en-US" altLang="zh-CN" sz="2800" b="1">
                <a:solidFill>
                  <a:srgbClr val="FF0000"/>
                </a:solidFill>
              </a:rPr>
              <a:t>c!=‘\0’</a:t>
            </a:r>
          </a:p>
          <a:p>
            <a:endParaRPr lang="zh-CN" altLang="en-US" sz="2800" b="1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0" y="0"/>
            <a:ext cx="6143625" cy="1066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 u="sng" dirty="0">
                <a:solidFill>
                  <a:srgbClr val="C00000"/>
                </a:solidFill>
              </a:rPr>
              <a:t>I am a boy.</a:t>
            </a:r>
            <a:r>
              <a:rPr lang="zh-CN" altLang="zh-CN" sz="3200" b="1" u="sng" dirty="0">
                <a:solidFill>
                  <a:srgbClr val="C00000"/>
                </a:solidFill>
              </a:rPr>
              <a:t>↙</a:t>
            </a:r>
            <a:r>
              <a:rPr lang="zh-CN" altLang="zh-CN" sz="3200" b="1" dirty="0">
                <a:solidFill>
                  <a:srgbClr val="C00000"/>
                </a:solidFill>
              </a:rPr>
              <a:t> </a:t>
            </a:r>
          </a:p>
          <a:p>
            <a:pPr eaLnBrk="1" hangingPunct="1"/>
            <a:r>
              <a:rPr lang="en-US" altLang="zh-CN" sz="3200" b="1" dirty="0">
                <a:solidFill>
                  <a:srgbClr val="C00000"/>
                </a:solidFill>
              </a:rPr>
              <a:t>There are 4 words in this line.</a:t>
            </a:r>
            <a:endParaRPr lang="zh-CN" altLang="en-US" sz="3200" b="1" dirty="0">
              <a:solidFill>
                <a:srgbClr val="C00000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099" y="5813821"/>
            <a:ext cx="2665413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7"/>
          <p:cNvSpPr>
            <a:spLocks noGrp="1" noChangeArrowheads="1"/>
          </p:cNvSpPr>
          <p:nvPr>
            <p:ph type="body" sz="half" idx="1"/>
          </p:nvPr>
        </p:nvSpPr>
        <p:spPr>
          <a:xfrm>
            <a:off x="35496" y="620688"/>
            <a:ext cx="8136904" cy="1357313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6.9 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个字符串，要求找出其中“最大”者。 </a:t>
            </a:r>
            <a:endParaRPr lang="zh-CN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67589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7"/>
          <p:cNvSpPr txBox="1">
            <a:spLocks noChangeArrowheads="1"/>
          </p:cNvSpPr>
          <p:nvPr/>
        </p:nvSpPr>
        <p:spPr bwMode="auto">
          <a:xfrm>
            <a:off x="251520" y="1484784"/>
            <a:ext cx="8678168" cy="31039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342900" indent="-342900" eaLnBrk="0" hangingPunct="0">
              <a:lnSpc>
                <a:spcPct val="120000"/>
              </a:lnSpc>
              <a:spcBef>
                <a:spcPct val="20000"/>
              </a:spcBef>
              <a:defRPr/>
            </a:pPr>
            <a:r>
              <a:rPr lang="zh-CN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解题思路：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按英文字典的排列，后面出现的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串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大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要求处理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个字符串，需要定义一个</a:t>
            </a:r>
            <a:r>
              <a:rPr lang="zh-CN" altLang="zh-CN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</a:t>
            </a:r>
            <a:r>
              <a:rPr lang="zh-CN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的字符数组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；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eaLnBrk="0" hangingPunct="0">
              <a:lnSpc>
                <a:spcPct val="150000"/>
              </a:lnSpc>
              <a:spcBef>
                <a:spcPct val="2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设一个二维的字符数组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大小为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3×20</a:t>
            </a: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en-US" altLang="zh-CN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eaLnBrk="0" hangingPunct="0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b="1" dirty="0">
                <a:latin typeface="黑体" panose="02010609060101010101" pitchFamily="49" charset="-122"/>
                <a:ea typeface="黑体" panose="02010609060101010101" pitchFamily="49" charset="-122"/>
              </a:rPr>
              <a:t>每一行存放一个字符串    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char </a:t>
            </a:r>
            <a:r>
              <a:rPr lang="en-US" altLang="zh-CN" b="1" dirty="0" err="1">
                <a:latin typeface="黑体" panose="02010609060101010101" pitchFamily="49" charset="-122"/>
                <a:ea typeface="黑体" panose="02010609060101010101" pitchFamily="49" charset="-122"/>
              </a:rPr>
              <a:t>str</a:t>
            </a:r>
            <a:r>
              <a:rPr lang="en-US" altLang="zh-CN" b="1" dirty="0">
                <a:latin typeface="黑体" panose="02010609060101010101" pitchFamily="49" charset="-122"/>
                <a:ea typeface="黑体" panose="02010609060101010101" pitchFamily="49" charset="-122"/>
              </a:rPr>
              <a:t>[3][20];</a:t>
            </a: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7250" y="2357438"/>
            <a:ext cx="7286625" cy="40005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3200" dirty="0"/>
              <a:t>for (i=0;i&lt;3;i++)</a:t>
            </a:r>
            <a:endParaRPr lang="zh-CN" altLang="zh-CN" sz="32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zh-CN" sz="3200" dirty="0"/>
              <a:t>     gets (</a:t>
            </a:r>
            <a:r>
              <a:rPr lang="en-US" altLang="zh-CN" sz="3200" dirty="0" err="1"/>
              <a:t>str</a:t>
            </a:r>
            <a:r>
              <a:rPr lang="en-US" altLang="zh-CN" sz="3200" dirty="0"/>
              <a:t>[i]);</a:t>
            </a:r>
          </a:p>
          <a:p>
            <a:pPr>
              <a:buFont typeface="Wingdings" panose="05000000000000000000" pitchFamily="2" charset="2"/>
              <a:buNone/>
            </a:pPr>
            <a:endParaRPr lang="zh-CN" altLang="zh-CN" dirty="0"/>
          </a:p>
        </p:txBody>
      </p:sp>
      <p:sp>
        <p:nvSpPr>
          <p:cNvPr id="94211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421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1198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0688" y="2401888"/>
            <a:ext cx="3143250" cy="1312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500188" y="4452938"/>
          <a:ext cx="7215188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C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h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85750" y="4429125"/>
            <a:ext cx="12858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dirty="0" err="1">
                <a:solidFill>
                  <a:srgbClr val="0000CC"/>
                </a:solidFill>
              </a:rPr>
              <a:t>str</a:t>
            </a:r>
            <a:r>
              <a:rPr lang="en-US" altLang="zh-CN" sz="2800" b="1" dirty="0">
                <a:solidFill>
                  <a:srgbClr val="0000CC"/>
                </a:solidFill>
              </a:rPr>
              <a:t>[0]</a:t>
            </a:r>
            <a:endParaRPr lang="zh-CN" altLang="en-US" sz="2800" b="1" dirty="0">
              <a:solidFill>
                <a:srgbClr val="0000CC"/>
              </a:solidFill>
            </a:endParaRPr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1500188" y="4962525"/>
          <a:ext cx="7215188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J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p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n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285750" y="4940300"/>
            <a:ext cx="128587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str[1]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graphicFrame>
        <p:nvGraphicFramePr>
          <p:cNvPr id="12" name="表格 11"/>
          <p:cNvGraphicFramePr>
            <a:graphicFrameLocks noGrp="1"/>
          </p:cNvGraphicFramePr>
          <p:nvPr/>
        </p:nvGraphicFramePr>
        <p:xfrm>
          <a:off x="1500188" y="5475288"/>
          <a:ext cx="7215188" cy="518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3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38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10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72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8581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17525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n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d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 err="1">
                          <a:solidFill>
                            <a:srgbClr val="0000CC"/>
                          </a:solidFill>
                        </a:rPr>
                        <a:t>i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0000CC"/>
                          </a:solidFill>
                        </a:rPr>
                        <a:t>a </a:t>
                      </a:r>
                      <a:endParaRPr lang="zh-CN" altLang="en-US" sz="2800" dirty="0">
                        <a:solidFill>
                          <a:srgbClr val="0000CC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800" dirty="0">
                          <a:solidFill>
                            <a:srgbClr val="FF0000"/>
                          </a:solidFill>
                        </a:rPr>
                        <a:t>\0</a:t>
                      </a:r>
                      <a:endParaRPr lang="zh-CN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marL="91439" marR="91439" marT="45664" marB="4566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85750" y="5453063"/>
            <a:ext cx="1285875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solidFill>
                  <a:srgbClr val="0000CC"/>
                </a:solidFill>
              </a:rPr>
              <a:t>str[2]</a:t>
            </a:r>
            <a:endParaRPr lang="zh-CN" altLang="en-US" sz="2800" b="1">
              <a:solidFill>
                <a:srgbClr val="0000CC"/>
              </a:solidFill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285750" y="548680"/>
            <a:ext cx="8534722" cy="13573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>
            <a:lvl1pPr marL="342900" indent="-3429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b="1" dirty="0">
                <a:latin typeface="微软雅黑" panose="020B0503020204020204" charset="-122"/>
                <a:ea typeface="微软雅黑" panose="020B0503020204020204" charset="-122"/>
              </a:rPr>
              <a:t>可以把</a:t>
            </a: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str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[0],</a:t>
            </a: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str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[1],</a:t>
            </a:r>
            <a:r>
              <a:rPr lang="en-US" altLang="zh-CN" sz="2800" b="1" dirty="0" err="1">
                <a:latin typeface="微软雅黑" panose="020B0503020204020204" charset="-122"/>
                <a:ea typeface="微软雅黑" panose="020B0503020204020204" charset="-122"/>
              </a:rPr>
              <a:t>str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</a:rPr>
              <a:t>[2]</a:t>
            </a:r>
            <a:r>
              <a:rPr lang="zh-CN" altLang="zh-CN" sz="2800" b="1" dirty="0">
                <a:latin typeface="微软雅黑" panose="020B0503020204020204" charset="-122"/>
                <a:ea typeface="微软雅黑" panose="020B0503020204020204" charset="-122"/>
              </a:rPr>
              <a:t>看作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个一维字符数组</a:t>
            </a:r>
            <a:r>
              <a:rPr lang="zh-CN" altLang="zh-CN" sz="2800" b="1" dirty="0">
                <a:latin typeface="微软雅黑" panose="020B0503020204020204" charset="-122"/>
                <a:ea typeface="微软雅黑" panose="020B0503020204020204" charset="-122"/>
              </a:rPr>
              <a:t>，可以把它们如同一维数组那样进行处理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4290" name="图片 14" descr="Untitled2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9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3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9262" y="692696"/>
            <a:ext cx="8215313" cy="4786313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u"/>
            </a:pP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经过三次两两比较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就可得到值最大者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把它放在一维字符数组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</a:rPr>
              <a:t>string</a:t>
            </a:r>
            <a:r>
              <a:rPr lang="zh-CN" altLang="zh-CN" sz="2800" dirty="0">
                <a:latin typeface="微软雅黑" panose="020B0503020204020204" charset="-122"/>
                <a:ea typeface="微软雅黑" panose="020B0503020204020204" charset="-122"/>
              </a:rPr>
              <a:t>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if (</a:t>
            </a:r>
            <a:r>
              <a:rPr lang="en-US" altLang="zh-CN" sz="2800" dirty="0" err="1">
                <a:solidFill>
                  <a:srgbClr val="0000FF"/>
                </a:solidFill>
              </a:rPr>
              <a:t>strcmp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</a:rPr>
              <a:t>str</a:t>
            </a:r>
            <a:r>
              <a:rPr lang="en-US" altLang="zh-CN" sz="2800" dirty="0">
                <a:solidFill>
                  <a:srgbClr val="0000FF"/>
                </a:solidFill>
              </a:rPr>
              <a:t>[0],</a:t>
            </a:r>
            <a:r>
              <a:rPr lang="en-US" altLang="zh-CN" sz="2800" dirty="0" err="1">
                <a:solidFill>
                  <a:srgbClr val="0000FF"/>
                </a:solidFill>
              </a:rPr>
              <a:t>str</a:t>
            </a:r>
            <a:r>
              <a:rPr lang="en-US" altLang="zh-CN" sz="2800" dirty="0">
                <a:solidFill>
                  <a:srgbClr val="0000FF"/>
                </a:solidFill>
              </a:rPr>
              <a:t>[1])&gt;0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   </a:t>
            </a:r>
            <a:r>
              <a:rPr lang="en-US" altLang="zh-CN" sz="2800" dirty="0" err="1"/>
              <a:t>strcpy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string,str</a:t>
            </a:r>
            <a:r>
              <a:rPr lang="en-US" altLang="zh-CN" sz="2800" dirty="0"/>
              <a:t>[0]);      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else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	     </a:t>
            </a:r>
            <a:r>
              <a:rPr lang="en-US" altLang="zh-CN" sz="2800" dirty="0" err="1"/>
              <a:t>strcpy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string,str</a:t>
            </a:r>
            <a:r>
              <a:rPr lang="en-US" altLang="zh-CN" sz="2800" dirty="0"/>
              <a:t>[1]);  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if (</a:t>
            </a:r>
            <a:r>
              <a:rPr lang="en-US" altLang="zh-CN" sz="2800" dirty="0" err="1">
                <a:solidFill>
                  <a:srgbClr val="0000FF"/>
                </a:solidFill>
              </a:rPr>
              <a:t>strcmp</a:t>
            </a:r>
            <a:r>
              <a:rPr lang="en-US" altLang="zh-CN" sz="2800" dirty="0">
                <a:solidFill>
                  <a:srgbClr val="0000FF"/>
                </a:solidFill>
              </a:rPr>
              <a:t>(</a:t>
            </a:r>
            <a:r>
              <a:rPr lang="en-US" altLang="zh-CN" sz="2800" dirty="0" err="1">
                <a:solidFill>
                  <a:srgbClr val="0000FF"/>
                </a:solidFill>
              </a:rPr>
              <a:t>str</a:t>
            </a:r>
            <a:r>
              <a:rPr lang="en-US" altLang="zh-CN" sz="2800" dirty="0">
                <a:solidFill>
                  <a:srgbClr val="0000FF"/>
                </a:solidFill>
              </a:rPr>
              <a:t>[2],string)&gt;0</a:t>
            </a:r>
            <a:r>
              <a:rPr lang="en-US" altLang="zh-CN" sz="2800" dirty="0"/>
              <a:t>)</a:t>
            </a:r>
            <a:endParaRPr lang="zh-CN" altLang="zh-CN" sz="2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None/>
            </a:pPr>
            <a:r>
              <a:rPr lang="en-US" altLang="zh-CN" sz="2800" dirty="0"/>
              <a:t>        </a:t>
            </a:r>
            <a:r>
              <a:rPr lang="en-US" altLang="zh-CN" sz="2800" dirty="0" err="1"/>
              <a:t>strcpy</a:t>
            </a:r>
            <a:r>
              <a:rPr lang="en-US" altLang="zh-CN" sz="2800" dirty="0"/>
              <a:t>(</a:t>
            </a:r>
            <a:r>
              <a:rPr lang="en-US" altLang="zh-CN" sz="2800" dirty="0" err="1"/>
              <a:t>string,str</a:t>
            </a:r>
            <a:r>
              <a:rPr lang="en-US" altLang="zh-CN" sz="2800" dirty="0"/>
              <a:t>[2]);</a:t>
            </a:r>
          </a:p>
        </p:txBody>
      </p:sp>
      <p:sp>
        <p:nvSpPr>
          <p:cNvPr id="95235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95236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pic>
        <p:nvPicPr>
          <p:cNvPr id="95237" name="图片 4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6143625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blind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0659" name="Rectangle 7"/>
          <p:cNvSpPr txBox="1">
            <a:spLocks noChangeArrowheads="1"/>
          </p:cNvSpPr>
          <p:nvPr/>
        </p:nvSpPr>
        <p:spPr bwMode="auto">
          <a:xfrm>
            <a:off x="285750" y="93663"/>
            <a:ext cx="8643938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stdio.h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solidFill>
                  <a:srgbClr val="FF0000"/>
                </a:solidFill>
                <a:latin typeface="Verdana" panose="020B0604030504040204" pitchFamily="34" charset="0"/>
              </a:rPr>
              <a:t>string.h</a:t>
            </a:r>
            <a:r>
              <a:rPr lang="en-US" altLang="zh-CN" sz="2800" b="1" dirty="0">
                <a:solidFill>
                  <a:srgbClr val="FF0000"/>
                </a:solidFill>
                <a:latin typeface="Verdana" panose="020B0604030504040204" pitchFamily="34" charset="0"/>
              </a:rPr>
              <a:t>&gt;</a:t>
            </a:r>
            <a:endParaRPr lang="zh-CN" altLang="zh-CN" sz="2800" b="1" dirty="0">
              <a:solidFill>
                <a:srgbClr val="FF0000"/>
              </a:solidFill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main ( 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{ char string[20],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[3][20];   </a:t>
            </a: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for (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=0;i&lt;3;i++)    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gets</a:t>
            </a:r>
            <a:r>
              <a:rPr lang="en-US" altLang="zh-CN" sz="2800" b="1" dirty="0">
                <a:latin typeface="Verdana" panose="020B0604030504040204" pitchFamily="34" charset="0"/>
              </a:rPr>
              <a:t> 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[1])&gt;0)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[0]);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else 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[1]);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[2],string)&gt;0)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[2]);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</a:t>
            </a: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(“The largest string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                     is:\</a:t>
            </a:r>
            <a:r>
              <a:rPr lang="en-US" altLang="zh-CN" sz="2800" b="1" dirty="0" err="1">
                <a:latin typeface="Verdana" panose="020B0604030504040204" pitchFamily="34" charset="0"/>
              </a:rPr>
              <a:t>n%s</a:t>
            </a:r>
            <a:r>
              <a:rPr lang="en-US" altLang="zh-CN" sz="2800" b="1" dirty="0">
                <a:latin typeface="Verdana" panose="020B0604030504040204" pitchFamily="34" charset="0"/>
              </a:rPr>
              <a:t>\</a:t>
            </a:r>
            <a:r>
              <a:rPr lang="en-US" altLang="zh-CN" sz="2800" b="1" dirty="0" err="1">
                <a:latin typeface="Verdana" panose="020B0604030504040204" pitchFamily="34" charset="0"/>
              </a:rPr>
              <a:t>n”,string</a:t>
            </a:r>
            <a:r>
              <a:rPr lang="en-US" altLang="zh-CN" sz="2800" b="1" dirty="0">
                <a:latin typeface="Verdana" panose="020B0604030504040204" pitchFamily="34" charset="0"/>
              </a:rPr>
              <a:t>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return 0;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4716016" y="500063"/>
            <a:ext cx="3357563" cy="571500"/>
          </a:xfrm>
          <a:prstGeom prst="wedgeRoundRectCallout">
            <a:avLst>
              <a:gd name="adj1" fmla="val -65338"/>
              <a:gd name="adj2" fmla="val 1042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用字符串函数时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加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06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706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06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06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706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70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706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0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06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5997303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83" name="Rectangle 7"/>
          <p:cNvSpPr txBox="1">
            <a:spLocks noChangeArrowheads="1"/>
          </p:cNvSpPr>
          <p:nvPr/>
        </p:nvSpPr>
        <p:spPr bwMode="auto">
          <a:xfrm>
            <a:off x="428625" y="188640"/>
            <a:ext cx="8072438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stdio.h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main ( 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{ char string[20],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[3][20];   </a:t>
            </a: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for (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=0;i&lt;3;i++)    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gets</a:t>
            </a:r>
            <a:r>
              <a:rPr lang="en-US" altLang="zh-CN" sz="2800" b="1" dirty="0">
                <a:latin typeface="Verdana" panose="020B0604030504040204" pitchFamily="34" charset="0"/>
              </a:rPr>
              <a:t> 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[1])&gt;0)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[0]);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else 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[1]);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[2],string)&gt;0)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[2]);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</a:t>
            </a: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(“The largest string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                     is:\</a:t>
            </a:r>
            <a:r>
              <a:rPr lang="en-US" altLang="zh-CN" sz="2800" b="1" dirty="0" err="1">
                <a:latin typeface="Verdana" panose="020B0604030504040204" pitchFamily="34" charset="0"/>
              </a:rPr>
              <a:t>n%s</a:t>
            </a:r>
            <a:r>
              <a:rPr lang="en-US" altLang="zh-CN" sz="2800" b="1" dirty="0">
                <a:latin typeface="Verdana" panose="020B0604030504040204" pitchFamily="34" charset="0"/>
              </a:rPr>
              <a:t>\</a:t>
            </a:r>
            <a:r>
              <a:rPr lang="en-US" altLang="zh-CN" sz="2800" b="1" dirty="0" err="1">
                <a:latin typeface="Verdana" panose="020B0604030504040204" pitchFamily="34" charset="0"/>
              </a:rPr>
              <a:t>n”,string</a:t>
            </a:r>
            <a:r>
              <a:rPr lang="en-US" altLang="zh-CN" sz="2800" b="1" dirty="0">
                <a:latin typeface="Verdana" panose="020B0604030504040204" pitchFamily="34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return 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4" name="流程图: 过程 3"/>
          <p:cNvSpPr>
            <a:spLocks noChangeArrowheads="1"/>
          </p:cNvSpPr>
          <p:nvPr/>
        </p:nvSpPr>
        <p:spPr bwMode="auto">
          <a:xfrm>
            <a:off x="755650" y="2063478"/>
            <a:ext cx="6959600" cy="571500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5715000" y="760140"/>
            <a:ext cx="2000250" cy="714375"/>
          </a:xfrm>
          <a:prstGeom prst="wedgeRoundRectCallout">
            <a:avLst>
              <a:gd name="adj1" fmla="val -13190"/>
              <a:gd name="adj2" fmla="val 122662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 wrap="none"/>
          <a:lstStyle/>
          <a:p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读入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个串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Rectangle 7"/>
          <p:cNvSpPr txBox="1">
            <a:spLocks noChangeArrowheads="1"/>
          </p:cNvSpPr>
          <p:nvPr/>
        </p:nvSpPr>
        <p:spPr bwMode="auto">
          <a:xfrm>
            <a:off x="428625" y="428625"/>
            <a:ext cx="8072438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stdio.h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main ( 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{ char string[20],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[3][20];   </a:t>
            </a: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for (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=0;i&lt;3;i++)    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gets</a:t>
            </a:r>
            <a:r>
              <a:rPr lang="en-US" altLang="zh-CN" sz="2800" b="1" dirty="0">
                <a:latin typeface="Verdana" panose="020B0604030504040204" pitchFamily="34" charset="0"/>
              </a:rPr>
              <a:t> 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[1])&gt;0)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[0]);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else 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[1]);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[2],string)&gt;0)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[2]);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</a:t>
            </a: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(“The largest string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                     is:\</a:t>
            </a:r>
            <a:r>
              <a:rPr lang="en-US" altLang="zh-CN" sz="2800" b="1" dirty="0" err="1">
                <a:latin typeface="Verdana" panose="020B0604030504040204" pitchFamily="34" charset="0"/>
              </a:rPr>
              <a:t>n%s</a:t>
            </a:r>
            <a:r>
              <a:rPr lang="en-US" altLang="zh-CN" sz="2800" b="1" dirty="0">
                <a:latin typeface="Verdana" panose="020B0604030504040204" pitchFamily="34" charset="0"/>
              </a:rPr>
              <a:t>\</a:t>
            </a:r>
            <a:r>
              <a:rPr lang="en-US" altLang="zh-CN" sz="2800" b="1" dirty="0" err="1">
                <a:latin typeface="Verdana" panose="020B0604030504040204" pitchFamily="34" charset="0"/>
              </a:rPr>
              <a:t>n”,string</a:t>
            </a:r>
            <a:r>
              <a:rPr lang="en-US" altLang="zh-CN" sz="2800" b="1" dirty="0">
                <a:latin typeface="Verdana" panose="020B0604030504040204" pitchFamily="34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return 0; 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4" name="流程图: 过程 3"/>
          <p:cNvSpPr>
            <a:spLocks noChangeArrowheads="1"/>
          </p:cNvSpPr>
          <p:nvPr/>
        </p:nvSpPr>
        <p:spPr bwMode="auto">
          <a:xfrm>
            <a:off x="714375" y="2857500"/>
            <a:ext cx="6143625" cy="1357313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5929313" y="1214438"/>
            <a:ext cx="2428875" cy="1000125"/>
          </a:xfrm>
          <a:prstGeom prst="wedgeRoundRectCallout">
            <a:avLst>
              <a:gd name="adj1" fmla="val -36431"/>
              <a:gd name="adj2" fmla="val 113111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和串</a:t>
            </a:r>
            <a:r>
              <a:rPr lang="en-US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中较大者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图片 6" descr="Untitled2.png">
            <a:hlinkClick r:id="rId2" action="ppaction://hlinksldjump"/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788" y="6237288"/>
            <a:ext cx="469900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731" name="Rectangle 7"/>
          <p:cNvSpPr txBox="1">
            <a:spLocks noChangeArrowheads="1"/>
          </p:cNvSpPr>
          <p:nvPr/>
        </p:nvSpPr>
        <p:spPr bwMode="auto">
          <a:xfrm>
            <a:off x="428625" y="428625"/>
            <a:ext cx="8072438" cy="614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4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stdio.h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#include&lt;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string.h</a:t>
            </a:r>
            <a:r>
              <a:rPr lang="en-US" altLang="zh-CN" sz="2800" b="1" dirty="0">
                <a:latin typeface="Verdana" panose="020B0604030504040204" pitchFamily="34" charset="0"/>
              </a:rPr>
              <a:t>&gt;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main ( )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{ char string[20],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[3][20];   </a:t>
            </a:r>
            <a:r>
              <a:rPr lang="en-US" altLang="zh-CN" sz="2800" b="1" dirty="0" err="1">
                <a:latin typeface="Verdana" panose="020B0604030504040204" pitchFamily="34" charset="0"/>
              </a:rPr>
              <a:t>int</a:t>
            </a:r>
            <a:r>
              <a:rPr lang="en-US" altLang="zh-CN" sz="2800" b="1" dirty="0">
                <a:latin typeface="Verdana" panose="020B0604030504040204" pitchFamily="34" charset="0"/>
              </a:rPr>
              <a:t> 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;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for (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=0;i&lt;3;i++)    </a:t>
            </a:r>
            <a:r>
              <a:rPr lang="en-US" altLang="zh-CN" sz="2800" b="1" dirty="0">
                <a:solidFill>
                  <a:srgbClr val="0000CC"/>
                </a:solidFill>
                <a:latin typeface="Verdana" panose="020B0604030504040204" pitchFamily="34" charset="0"/>
              </a:rPr>
              <a:t>gets</a:t>
            </a:r>
            <a:r>
              <a:rPr lang="en-US" altLang="zh-CN" sz="2800" b="1" dirty="0">
                <a:latin typeface="Verdana" panose="020B0604030504040204" pitchFamily="34" charset="0"/>
              </a:rPr>
              <a:t> 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</a:t>
            </a:r>
            <a:r>
              <a:rPr lang="en-US" altLang="zh-CN" sz="2800" b="1" dirty="0" err="1">
                <a:latin typeface="Verdana" panose="020B0604030504040204" pitchFamily="34" charset="0"/>
              </a:rPr>
              <a:t>i</a:t>
            </a:r>
            <a:r>
              <a:rPr lang="en-US" altLang="zh-CN" sz="2800" b="1" dirty="0">
                <a:latin typeface="Verdana" panose="020B0604030504040204" pitchFamily="34" charset="0"/>
              </a:rPr>
              <a:t>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[0],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[1])&gt;0)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[0]);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else 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[1]);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if (</a:t>
            </a:r>
            <a:r>
              <a:rPr lang="en-US" altLang="zh-CN" sz="2800" b="1" dirty="0" err="1">
                <a:solidFill>
                  <a:srgbClr val="D60093"/>
                </a:solidFill>
                <a:latin typeface="Verdana" panose="020B0604030504040204" pitchFamily="34" charset="0"/>
              </a:rPr>
              <a:t>strcmp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</a:t>
            </a:r>
            <a:r>
              <a:rPr lang="en-US" altLang="zh-CN" sz="2800" b="1" dirty="0">
                <a:latin typeface="Verdana" panose="020B0604030504040204" pitchFamily="34" charset="0"/>
              </a:rPr>
              <a:t>[2],string)&gt;0)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	  </a:t>
            </a:r>
            <a:r>
              <a:rPr lang="en-US" altLang="zh-CN" sz="2800" b="1" dirty="0" err="1">
                <a:solidFill>
                  <a:srgbClr val="00B050"/>
                </a:solidFill>
                <a:latin typeface="Verdana" panose="020B0604030504040204" pitchFamily="34" charset="0"/>
              </a:rPr>
              <a:t>strcpy</a:t>
            </a:r>
            <a:r>
              <a:rPr lang="en-US" altLang="zh-CN" sz="2800" b="1" dirty="0">
                <a:latin typeface="Verdana" panose="020B0604030504040204" pitchFamily="34" charset="0"/>
              </a:rPr>
              <a:t>(</a:t>
            </a:r>
            <a:r>
              <a:rPr lang="en-US" altLang="zh-CN" sz="2800" b="1" dirty="0" err="1">
                <a:latin typeface="Verdana" panose="020B0604030504040204" pitchFamily="34" charset="0"/>
              </a:rPr>
              <a:t>string,str</a:t>
            </a:r>
            <a:r>
              <a:rPr lang="en-US" altLang="zh-CN" sz="2800" b="1" dirty="0">
                <a:latin typeface="Verdana" panose="020B0604030504040204" pitchFamily="34" charset="0"/>
              </a:rPr>
              <a:t>[2]);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</a:t>
            </a:r>
            <a:r>
              <a:rPr lang="en-US" altLang="zh-CN" sz="2800" b="1" dirty="0" err="1">
                <a:latin typeface="Verdana" panose="020B0604030504040204" pitchFamily="34" charset="0"/>
              </a:rPr>
              <a:t>printf</a:t>
            </a:r>
            <a:r>
              <a:rPr lang="en-US" altLang="zh-CN" sz="2800" b="1" dirty="0">
                <a:latin typeface="Verdana" panose="020B0604030504040204" pitchFamily="34" charset="0"/>
              </a:rPr>
              <a:t>(“The largest string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                          is:\</a:t>
            </a:r>
            <a:r>
              <a:rPr lang="en-US" altLang="zh-CN" sz="2800" b="1" dirty="0" err="1">
                <a:latin typeface="Verdana" panose="020B0604030504040204" pitchFamily="34" charset="0"/>
              </a:rPr>
              <a:t>n%s</a:t>
            </a:r>
            <a:r>
              <a:rPr lang="en-US" altLang="zh-CN" sz="2800" b="1" dirty="0">
                <a:latin typeface="Verdana" panose="020B0604030504040204" pitchFamily="34" charset="0"/>
              </a:rPr>
              <a:t>\</a:t>
            </a:r>
            <a:r>
              <a:rPr lang="en-US" altLang="zh-CN" sz="2800" b="1" dirty="0" err="1">
                <a:latin typeface="Verdana" panose="020B0604030504040204" pitchFamily="34" charset="0"/>
              </a:rPr>
              <a:t>n”,string</a:t>
            </a:r>
            <a:r>
              <a:rPr lang="en-US" altLang="zh-CN" sz="2800" b="1" dirty="0">
                <a:latin typeface="Verdana" panose="020B0604030504040204" pitchFamily="34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  return 0; </a:t>
            </a:r>
            <a:endParaRPr lang="zh-CN" altLang="zh-CN" sz="2800" b="1" dirty="0">
              <a:latin typeface="Verdana" panose="020B0604030504040204" pitchFamily="34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CN" sz="2800" b="1" dirty="0">
                <a:latin typeface="Verdana" panose="020B0604030504040204" pitchFamily="34" charset="0"/>
              </a:rPr>
              <a:t>}</a:t>
            </a:r>
            <a:endParaRPr lang="zh-CN" altLang="zh-CN" sz="2800" b="1" dirty="0">
              <a:latin typeface="Verdana" panose="020B0604030504040204" pitchFamily="34" charset="0"/>
            </a:endParaRPr>
          </a:p>
        </p:txBody>
      </p:sp>
      <p:sp>
        <p:nvSpPr>
          <p:cNvPr id="4" name="流程图: 过程 3"/>
          <p:cNvSpPr>
            <a:spLocks noChangeArrowheads="1"/>
          </p:cNvSpPr>
          <p:nvPr/>
        </p:nvSpPr>
        <p:spPr bwMode="auto">
          <a:xfrm>
            <a:off x="714375" y="4214813"/>
            <a:ext cx="6143625" cy="1000125"/>
          </a:xfrm>
          <a:prstGeom prst="flowChartProcess">
            <a:avLst/>
          </a:prstGeom>
          <a:noFill/>
          <a:ln w="38100" algn="ctr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" name="圆角矩形标注 4"/>
          <p:cNvSpPr>
            <a:spLocks noChangeArrowheads="1"/>
          </p:cNvSpPr>
          <p:nvPr/>
        </p:nvSpPr>
        <p:spPr bwMode="auto">
          <a:xfrm>
            <a:off x="6786563" y="3000375"/>
            <a:ext cx="1928812" cy="1000125"/>
          </a:xfrm>
          <a:prstGeom prst="wedgeRoundRectCallout">
            <a:avLst>
              <a:gd name="adj1" fmla="val -46338"/>
              <a:gd name="adj2" fmla="val 88546"/>
              <a:gd name="adj3" fmla="val 16667"/>
            </a:avLst>
          </a:prstGeom>
          <a:solidFill>
            <a:srgbClr val="FFFFCC"/>
          </a:solidFill>
          <a:ln w="9525" algn="ctr">
            <a:solidFill>
              <a:schemeClr val="tx1"/>
            </a:solidFill>
            <a:miter lim="800000"/>
          </a:ln>
        </p:spPr>
        <p:txBody>
          <a:bodyPr/>
          <a:lstStyle/>
          <a:p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找三个</a:t>
            </a:r>
            <a:r>
              <a:rPr lang="zh-CN" altLang="zh-CN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串</a:t>
            </a:r>
            <a:r>
              <a:rPr lang="zh-CN" altLang="en-US" sz="28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中最大者</a:t>
            </a:r>
            <a:endParaRPr lang="en-US" altLang="zh-CN" sz="2800" b="1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endParaRPr lang="zh-CN" altLang="en-US" sz="2800" b="1" dirty="0">
              <a:solidFill>
                <a:srgbClr val="FF0000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75" y="0"/>
            <a:ext cx="2714625" cy="265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hecke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</p:spPr>
        <p:txBody>
          <a:bodyPr/>
          <a:lstStyle/>
          <a:p>
            <a:pPr algn="l"/>
            <a:fld id="{F0558E39-17BE-45F5-A477-B8059703D8F7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102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1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A8AB8339-5872-0134-3F86-EE1334EB8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125538"/>
            <a:ext cx="8785225" cy="5111750"/>
          </a:xfrm>
        </p:spPr>
        <p:txBody>
          <a:bodyPr/>
          <a:lstStyle/>
          <a:p>
            <a:r>
              <a:rPr lang="zh-CN" altLang="en-US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将一个长度为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的整型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数组中</a:t>
            </a:r>
            <a:r>
              <a:rPr lang="zh-CN" altLang="en-US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zh-CN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按逆序存放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00CD15-96A4-187F-9FD3-60DE204AF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938586"/>
            <a:ext cx="5976664" cy="45798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28FAD8-2517-6CFD-58F2-11EC231E2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灯片编号占位符 3">
            <a:extLst>
              <a:ext uri="{FF2B5EF4-FFF2-40B4-BE49-F238E27FC236}">
                <a16:creationId xmlns:a16="http://schemas.microsoft.com/office/drawing/2014/main" id="{97284B15-7324-280F-AC02-7E6EBB78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</p:spPr>
        <p:txBody>
          <a:bodyPr/>
          <a:lstStyle/>
          <a:p>
            <a:pPr algn="l"/>
            <a:fld id="{F0558E39-17BE-45F5-A477-B8059703D8F7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103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221E31F4-C6D7-6583-D63D-B43083755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728F777-5086-6A5E-D90A-CE35C6B7E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125538"/>
            <a:ext cx="8785225" cy="5111750"/>
          </a:xfrm>
        </p:spPr>
        <p:txBody>
          <a:bodyPr/>
          <a:lstStyle/>
          <a:p>
            <a:r>
              <a:rPr lang="zh-CN" altLang="en-US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en-US" kern="100" dirty="0">
                <a:ea typeface="宋体" panose="02010600030101010101" pitchFamily="2" charset="-122"/>
                <a:cs typeface="Times New Roman" panose="02020603050405020304" pitchFamily="18" charset="0"/>
              </a:rPr>
              <a:t>杨辉三角</a:t>
            </a:r>
            <a:r>
              <a:rPr lang="en-US" altLang="zh-CN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2F24DE-0C34-6449-0DDE-F4CFFD6D8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9792" y="1556792"/>
            <a:ext cx="5829852" cy="44644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B3A30CE-01AE-60AE-1CE1-709AC3D403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55" y="1772816"/>
            <a:ext cx="6560729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5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B18CE-CFEB-D96E-4054-8FA0C1AE0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121" name="灯片编号占位符 3">
            <a:extLst>
              <a:ext uri="{FF2B5EF4-FFF2-40B4-BE49-F238E27FC236}">
                <a16:creationId xmlns:a16="http://schemas.microsoft.com/office/drawing/2014/main" id="{DC314F0C-DD78-DF24-F2B5-35657C9AE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45225"/>
            <a:ext cx="2133600" cy="476250"/>
          </a:xfrm>
          <a:noFill/>
        </p:spPr>
        <p:txBody>
          <a:bodyPr/>
          <a:lstStyle/>
          <a:p>
            <a:pPr algn="l"/>
            <a:fld id="{F0558E39-17BE-45F5-A477-B8059703D8F7}" type="slidenum">
              <a:rPr lang="en-US" altLang="zh-CN" smtClean="0">
                <a:latin typeface="Arial" panose="020B0604020202020204" pitchFamily="34" charset="0"/>
                <a:ea typeface="宋体" panose="02010600030101010101" pitchFamily="2" charset="-122"/>
              </a:rPr>
              <a:t>104</a:t>
            </a:fld>
            <a:endParaRPr lang="en-US" altLang="zh-CN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61122" name="Rectangle 2">
            <a:extLst>
              <a:ext uri="{FF2B5EF4-FFF2-40B4-BE49-F238E27FC236}">
                <a16:creationId xmlns:a16="http://schemas.microsoft.com/office/drawing/2014/main" id="{80BC58F3-CD2F-2568-6858-37B41C1AB5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例题</a:t>
            </a: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388C9337-26A9-9F1A-4253-4B085DFDC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125538"/>
            <a:ext cx="8785225" cy="5111750"/>
          </a:xfrm>
        </p:spPr>
        <p:txBody>
          <a:bodyPr/>
          <a:lstStyle/>
          <a:p>
            <a:r>
              <a:rPr lang="zh-CN" altLang="en-US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例：</a:t>
            </a:r>
            <a:r>
              <a:rPr lang="zh-CN" altLang="zh-CN" dirty="0"/>
              <a:t>编写一个程序，把一个数插入到一个有序的有</a:t>
            </a:r>
            <a:r>
              <a:rPr lang="en-US" altLang="zh-CN" dirty="0"/>
              <a:t>10</a:t>
            </a:r>
            <a:r>
              <a:rPr lang="zh-CN" altLang="zh-CN" dirty="0"/>
              <a:t>个元素的数组中，并使插入后的数组仍为有序数组</a:t>
            </a:r>
            <a:r>
              <a:rPr lang="en-US" altLang="zh-CN" sz="1800" kern="1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C33D978-0BC0-2812-693F-802538607E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56" y="1988840"/>
            <a:ext cx="6048672" cy="466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81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VB课件模版">
  <a:themeElements>
    <a:clrScheme name="VB课件模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VB课件模版">
      <a:majorFont>
        <a:latin typeface="Arial"/>
        <a:ea typeface="华文行楷"/>
        <a:cs typeface=""/>
      </a:majorFont>
      <a:minorFont>
        <a:latin typeface="Arial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VB课件模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B课件模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B课件模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9311</Words>
  <Application>Microsoft Office PowerPoint</Application>
  <PresentationFormat>全屏显示(4:3)</PresentationFormat>
  <Paragraphs>1262</Paragraphs>
  <Slides>104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104</vt:i4>
      </vt:variant>
    </vt:vector>
  </HeadingPairs>
  <TitlesOfParts>
    <vt:vector size="117" baseType="lpstr">
      <vt:lpstr>黑体</vt:lpstr>
      <vt:lpstr>宋体</vt:lpstr>
      <vt:lpstr>微软雅黑</vt:lpstr>
      <vt:lpstr>幼圆</vt:lpstr>
      <vt:lpstr>Arial</vt:lpstr>
      <vt:lpstr>Courier New</vt:lpstr>
      <vt:lpstr>Tahoma</vt:lpstr>
      <vt:lpstr>Times New Roman</vt:lpstr>
      <vt:lpstr>Verdana</vt:lpstr>
      <vt:lpstr>Wingdings</vt:lpstr>
      <vt:lpstr>VB课件模版</vt:lpstr>
      <vt:lpstr>Image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 定义和引用一维数组</vt:lpstr>
      <vt:lpstr>6.1.1 定义一维数组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6.1.3 一维数组的初始化</vt:lpstr>
      <vt:lpstr>PowerPoint 演示文稿</vt:lpstr>
      <vt:lpstr>PowerPoint 演示文稿</vt:lpstr>
      <vt:lpstr>6.1.4 一维数组程序举例</vt:lpstr>
      <vt:lpstr>6.1.4 一维数组程序举例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 二维数组的定义和引用</vt:lpstr>
      <vt:lpstr>6.2.1 定义二维数组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6.2.4 二维数组程序举例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6.3 字符数组</vt:lpstr>
      <vt:lpstr>6.3.1 定义字符数组</vt:lpstr>
      <vt:lpstr>6.3.1 字符数组的初始化</vt:lpstr>
      <vt:lpstr>PowerPoint 演示文稿</vt:lpstr>
      <vt:lpstr>PowerPoint 演示文稿</vt:lpstr>
      <vt:lpstr>PowerPoint 演示文稿</vt:lpstr>
      <vt:lpstr>6.3.3 引用字符数组中的元素</vt:lpstr>
      <vt:lpstr>PowerPoint 演示文稿</vt:lpstr>
      <vt:lpstr>PowerPoint 演示文稿</vt:lpstr>
      <vt:lpstr>PowerPoint 演示文稿</vt:lpstr>
      <vt:lpstr>6.3.4 字符串和字符串结束标志</vt:lpstr>
      <vt:lpstr>PowerPoint 演示文稿</vt:lpstr>
      <vt:lpstr>PowerPoint 演示文稿</vt:lpstr>
      <vt:lpstr>PowerPoint 演示文稿</vt:lpstr>
      <vt:lpstr>PowerPoint 演示文稿</vt:lpstr>
      <vt:lpstr>6.3.5 字符数组的输入输出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6.3.6 字符串处理函数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6.3.7 字符数组应用举例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例题</vt:lpstr>
      <vt:lpstr>例题</vt:lpstr>
      <vt:lpstr>例题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C语言程序设计</dc:title>
  <dc:creator>hxd</dc:creator>
  <cp:lastModifiedBy>hp</cp:lastModifiedBy>
  <cp:revision>1596</cp:revision>
  <dcterms:created xsi:type="dcterms:W3CDTF">2010-02-23T13:08:00Z</dcterms:created>
  <dcterms:modified xsi:type="dcterms:W3CDTF">2025-04-07T06:54:27Z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FC8203ED9CA941CFADACA12FBAB97DE0</vt:lpwstr>
  </property>
  <property fmtid="{D5CDD505-2E9C-101B-9397-08002B2CF9AE}" pid="3" name="KSOProductBuildVer">
    <vt:lpwstr>2052-11.1.0.10356</vt:lpwstr>
  </property>
</Properties>
</file>