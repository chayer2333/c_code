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4"/>
  </p:notesMasterIdLst>
  <p:sldIdLst>
    <p:sldId id="355" r:id="rId2"/>
    <p:sldId id="757" r:id="rId3"/>
    <p:sldId id="854" r:id="rId4"/>
    <p:sldId id="758" r:id="rId5"/>
    <p:sldId id="759" r:id="rId6"/>
    <p:sldId id="760" r:id="rId7"/>
    <p:sldId id="761" r:id="rId8"/>
    <p:sldId id="762" r:id="rId9"/>
    <p:sldId id="763" r:id="rId10"/>
    <p:sldId id="764" r:id="rId11"/>
    <p:sldId id="765" r:id="rId12"/>
    <p:sldId id="766" r:id="rId13"/>
    <p:sldId id="767" r:id="rId14"/>
    <p:sldId id="768" r:id="rId15"/>
    <p:sldId id="864" r:id="rId16"/>
    <p:sldId id="865" r:id="rId17"/>
    <p:sldId id="866" r:id="rId18"/>
    <p:sldId id="867" r:id="rId19"/>
    <p:sldId id="868" r:id="rId20"/>
    <p:sldId id="869" r:id="rId21"/>
    <p:sldId id="870" r:id="rId22"/>
    <p:sldId id="871" r:id="rId23"/>
    <p:sldId id="872" r:id="rId24"/>
    <p:sldId id="873" r:id="rId25"/>
    <p:sldId id="874" r:id="rId26"/>
    <p:sldId id="875" r:id="rId27"/>
    <p:sldId id="876" r:id="rId28"/>
    <p:sldId id="877" r:id="rId29"/>
    <p:sldId id="878" r:id="rId30"/>
    <p:sldId id="769" r:id="rId31"/>
    <p:sldId id="770" r:id="rId32"/>
    <p:sldId id="772" r:id="rId33"/>
    <p:sldId id="773" r:id="rId34"/>
    <p:sldId id="774" r:id="rId35"/>
    <p:sldId id="775" r:id="rId36"/>
    <p:sldId id="776" r:id="rId37"/>
    <p:sldId id="777" r:id="rId38"/>
    <p:sldId id="779" r:id="rId39"/>
    <p:sldId id="780" r:id="rId40"/>
    <p:sldId id="781" r:id="rId41"/>
    <p:sldId id="857" r:id="rId42"/>
    <p:sldId id="858" r:id="rId43"/>
    <p:sldId id="859" r:id="rId44"/>
    <p:sldId id="860" r:id="rId45"/>
    <p:sldId id="861" r:id="rId46"/>
    <p:sldId id="862" r:id="rId47"/>
    <p:sldId id="863" r:id="rId48"/>
    <p:sldId id="782" r:id="rId49"/>
    <p:sldId id="783" r:id="rId50"/>
    <p:sldId id="784" r:id="rId51"/>
    <p:sldId id="810" r:id="rId52"/>
    <p:sldId id="811" r:id="rId53"/>
    <p:sldId id="812" r:id="rId54"/>
    <p:sldId id="814" r:id="rId55"/>
    <p:sldId id="815" r:id="rId56"/>
    <p:sldId id="816" r:id="rId57"/>
    <p:sldId id="817" r:id="rId58"/>
    <p:sldId id="818" r:id="rId59"/>
    <p:sldId id="820" r:id="rId60"/>
    <p:sldId id="821" r:id="rId61"/>
    <p:sldId id="822" r:id="rId62"/>
    <p:sldId id="823" r:id="rId63"/>
    <p:sldId id="824" r:id="rId64"/>
    <p:sldId id="825" r:id="rId65"/>
    <p:sldId id="826" r:id="rId66"/>
    <p:sldId id="827" r:id="rId67"/>
    <p:sldId id="828" r:id="rId68"/>
    <p:sldId id="829" r:id="rId69"/>
    <p:sldId id="830" r:id="rId70"/>
    <p:sldId id="831" r:id="rId71"/>
    <p:sldId id="832" r:id="rId72"/>
    <p:sldId id="833" r:id="rId73"/>
    <p:sldId id="834" r:id="rId74"/>
    <p:sldId id="835" r:id="rId75"/>
    <p:sldId id="836" r:id="rId76"/>
    <p:sldId id="840" r:id="rId77"/>
    <p:sldId id="879" r:id="rId78"/>
    <p:sldId id="880" r:id="rId79"/>
    <p:sldId id="881" r:id="rId80"/>
    <p:sldId id="882" r:id="rId81"/>
    <p:sldId id="883" r:id="rId82"/>
    <p:sldId id="884" r:id="rId8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99FF"/>
    <a:srgbClr val="FF6600"/>
    <a:srgbClr val="FF0000"/>
    <a:srgbClr val="0099CC"/>
    <a:srgbClr val="00FFFF"/>
    <a:srgbClr val="00CC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10" autoAdjust="0"/>
    <p:restoredTop sz="91423" autoAdjust="0"/>
  </p:normalViewPr>
  <p:slideViewPr>
    <p:cSldViewPr showGuides="1">
      <p:cViewPr varScale="1">
        <p:scale>
          <a:sx n="104" d="100"/>
          <a:sy n="104" d="100"/>
        </p:scale>
        <p:origin x="1932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1843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843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843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843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2B169B1F-94CD-4CDE-B903-5A706750AAAB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>
                <a:solidFill>
                  <a:srgbClr val="0033CC"/>
                </a:solidFill>
              </a:rPr>
              <a:t>C</a:t>
            </a:r>
            <a:r>
              <a:rPr lang="zh-CN" altLang="en-US" sz="1200" b="1" dirty="0">
                <a:solidFill>
                  <a:srgbClr val="0033CC"/>
                </a:solidFill>
              </a:rPr>
              <a:t>语言连贯性很强，前面没有听，或者没有听懂，将影响后面的课，请一定不要缺席旷课或请事假。万一生病或没有听懂请及时问补上。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69B1F-94CD-4CDE-B903-5A706750AAAB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C60E89-30C8-49F8-8270-22F2F884ACE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EC4FD8-0BA4-4AF1-A6F9-9C9B93CACFF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379348-A0B1-4451-AAA1-4698A76F2FE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1125538"/>
            <a:ext cx="4316412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316413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85587A-EB15-438A-B1C9-5CF9E6810F6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BA2A8A-1D47-48F6-A040-C67239F1AF5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97F3B1-6F04-40E1-B06C-36727F5151C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9598AA-81E6-416C-967C-8954BE0E271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3AD361-A5DA-46D7-8E4B-614EDBEE1D2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DE57E8-F784-4EF7-9002-A42389565B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7B26DC-284F-4EE6-8E11-FEA7E04094A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69100" y="333375"/>
            <a:ext cx="2195513" cy="59039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333375"/>
            <a:ext cx="6437312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D7A96C-08C9-43C5-9230-BEF0A4D4211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56" name="Object 16"/>
          <p:cNvGraphicFramePr>
            <a:graphicFrameLocks noChangeAspect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71" name="Image" r:id="rId14" imgW="7607300" imgH="5537200" progId="">
                  <p:embed/>
                </p:oleObj>
              </mc:Choice>
              <mc:Fallback>
                <p:oleObj name="Image" r:id="rId14" imgW="7607300" imgH="5537200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55650" y="333375"/>
            <a:ext cx="7705725" cy="72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126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25538"/>
            <a:ext cx="8785225" cy="5111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264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1264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23996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1264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B1C2446-0CEE-45DB-9DD2-95A013E694FF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112659" name="Picture 19" descr="3"/>
          <p:cNvPicPr>
            <a:picLocks noChangeAspect="1" noChangeArrowheads="1"/>
          </p:cNvPicPr>
          <p:nvPr/>
        </p:nvPicPr>
        <p:blipFill>
          <a:blip r:embed="rId16">
            <a:lum bright="12000" contrast="-54000"/>
          </a:blip>
          <a:srcRect/>
          <a:stretch>
            <a:fillRect/>
          </a:stretch>
        </p:blipFill>
        <p:spPr bwMode="auto">
          <a:xfrm>
            <a:off x="5508625" y="6165850"/>
            <a:ext cx="3527425" cy="647700"/>
          </a:xfrm>
          <a:prstGeom prst="rect">
            <a:avLst/>
          </a:prstGeom>
          <a:noFill/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068" r="72503"/>
          <a:stretch>
            <a:fillRect/>
          </a:stretch>
        </p:blipFill>
        <p:spPr>
          <a:xfrm>
            <a:off x="8466684" y="-1"/>
            <a:ext cx="691278" cy="59451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华文行楷" panose="0201080004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华文行楷" panose="0201080004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华文行楷" panose="0201080004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华文行楷" panose="0201080004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华文行楷" panose="0201080004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华文行楷" panose="0201080004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华文行楷" panose="0201080004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华文行楷" panose="0201080004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emf"/><Relationship Id="rId5" Type="http://schemas.openxmlformats.org/officeDocument/2006/relationships/image" Target="../media/image4.png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76.xml"/><Relationship Id="rId4" Type="http://schemas.openxmlformats.org/officeDocument/2006/relationships/slide" Target="slide6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7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40.xml"/><Relationship Id="rId2" Type="http://schemas.openxmlformats.org/officeDocument/2006/relationships/slide" Target="slide3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3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3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3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46.xml"/><Relationship Id="rId2" Type="http://schemas.openxmlformats.org/officeDocument/2006/relationships/slide" Target="slide4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41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6.wmf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slide" Target="slide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9" name="Object 21"/>
          <p:cNvGraphicFramePr>
            <a:graphicFrameLocks noChangeAspect="1"/>
          </p:cNvGraphicFramePr>
          <p:nvPr/>
        </p:nvGraphicFramePr>
        <p:xfrm>
          <a:off x="0" y="2643182"/>
          <a:ext cx="9144000" cy="170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23" name="Image" r:id="rId4" imgW="3121025" imgH="673735" progId="">
                  <p:embed/>
                </p:oleObj>
              </mc:Choice>
              <mc:Fallback>
                <p:oleObj name="Image" r:id="rId4" imgW="3121025" imgH="673735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643182"/>
                        <a:ext cx="9144000" cy="170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WordArt 20"/>
          <p:cNvSpPr>
            <a:spLocks noChangeArrowheads="1" noChangeShapeType="1" noTextEdit="1"/>
          </p:cNvSpPr>
          <p:nvPr/>
        </p:nvSpPr>
        <p:spPr bwMode="auto">
          <a:xfrm>
            <a:off x="1071538" y="785794"/>
            <a:ext cx="6985000" cy="1827213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26227"/>
              </a:avLst>
            </a:prstTxWarp>
          </a:bodyPr>
          <a:lstStyle/>
          <a:p>
            <a:pPr algn="ctr"/>
            <a:r>
              <a:rPr lang="en-US" altLang="zh-CN" sz="3600" kern="10" dirty="0">
                <a:ln w="9525">
                  <a:solidFill>
                    <a:schemeClr val="accent2"/>
                  </a:solidFill>
                  <a:round/>
                </a:ln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3600" kern="10" dirty="0">
                <a:ln w="9525">
                  <a:solidFill>
                    <a:schemeClr val="accent2"/>
                  </a:solidFill>
                  <a:round/>
                </a:ln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语言程序设计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8926" y="4786322"/>
            <a:ext cx="5786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Picture 16" descr="图形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500166" y="4500570"/>
            <a:ext cx="1500198" cy="131684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2000"/>
                                        <p:tgtEl>
                                          <p:spTgt spid="2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476672"/>
            <a:ext cx="8001000" cy="830262"/>
          </a:xfrm>
          <a:effectLst/>
        </p:spPr>
        <p:txBody>
          <a:bodyPr anchor="ctr"/>
          <a:lstStyle/>
          <a:p>
            <a:pPr eaLnBrk="1" hangingPunct="1"/>
            <a:r>
              <a:rPr lang="zh-CN" altLang="zh-CN" sz="4800" b="1" dirty="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第</a:t>
            </a:r>
            <a:r>
              <a:rPr lang="en-US" altLang="zh-CN" sz="4800" b="1" dirty="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4</a:t>
            </a:r>
            <a:r>
              <a:rPr lang="zh-CN" altLang="zh-CN" sz="4800" b="1" dirty="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章 选择结构程序设计</a:t>
            </a:r>
            <a:endParaRPr lang="zh-CN" altLang="en-US" sz="4800" b="1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592" y="1412776"/>
            <a:ext cx="7858125" cy="4643438"/>
          </a:xfrm>
        </p:spPr>
        <p:txBody>
          <a:bodyPr/>
          <a:lstStyle/>
          <a:p>
            <a:pPr eaLnBrk="1" hangingPunct="1">
              <a:lnSpc>
                <a:spcPts val="3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4.1 </a:t>
            </a:r>
            <a:r>
              <a:rPr lang="zh-CN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条件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判断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ts val="3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4.2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if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语句实现选择结构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ts val="3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hlinkClick r:id="rId4" action="ppaction://hlinksldjump"/>
              </a:rPr>
              <a:t>4.3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hlinkClick r:id="rId4" action="ppaction://hlinksldjump"/>
              </a:rPr>
              <a:t>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hlinkClick r:id="rId4" action="ppaction://hlinksldjump"/>
              </a:rPr>
              <a:t>switch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hlinkClick r:id="rId4" action="ppaction://hlinksldjump"/>
              </a:rPr>
              <a:t>语句实现多分支选择结构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ts val="3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hlinkClick r:id="rId5" action="ppaction://hlinksldjump"/>
              </a:rPr>
              <a:t>4.4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hlinkClick r:id="rId5" action="ppaction://hlinksldjump"/>
              </a:rPr>
              <a:t> </a:t>
            </a:r>
            <a:r>
              <a:rPr lang="zh-CN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hlinkClick r:id="rId5" action="ppaction://hlinksldjump"/>
              </a:rPr>
              <a:t>程序综合举例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  <a:spcBef>
                <a:spcPct val="50000"/>
              </a:spcBef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hlinkClick r:id="" action="ppaction://noaction"/>
              </a:rPr>
              <a:t>4.5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hlinkClick r:id="" action="ppaction://noaction"/>
              </a:rPr>
              <a:t> 提高部分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AF834A-C196-44E5-858B-3D67629CA731}" type="slidenum">
              <a:rPr lang="en-US" altLang="zh-CN"/>
              <a:t>3</a:t>
            </a:fld>
            <a:r>
              <a:rPr lang="en-US" altLang="zh-CN"/>
              <a:t>/36</a:t>
            </a:r>
          </a:p>
        </p:txBody>
      </p:sp>
      <p:sp>
        <p:nvSpPr>
          <p:cNvPr id="1402885" name="Rectangle 5"/>
          <p:cNvSpPr>
            <a:spLocks noChangeArrowheads="1"/>
          </p:cNvSpPr>
          <p:nvPr/>
        </p:nvSpPr>
        <p:spPr bwMode="auto">
          <a:xfrm>
            <a:off x="323528" y="188640"/>
            <a:ext cx="7963818" cy="8874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学习目标</a:t>
            </a:r>
          </a:p>
        </p:txBody>
      </p:sp>
      <p:sp>
        <p:nvSpPr>
          <p:cNvPr id="1402886" name="Rectangle 6"/>
          <p:cNvSpPr>
            <a:spLocks noChangeArrowheads="1"/>
          </p:cNvSpPr>
          <p:nvPr/>
        </p:nvSpPr>
        <p:spPr bwMode="auto">
          <a:xfrm>
            <a:off x="202607" y="908721"/>
            <a:ext cx="8633148" cy="13442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掌握关系运算符、关系表达式、逻辑表达式、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if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语句和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switch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语句</a:t>
            </a:r>
            <a:endParaRPr lang="en-US" altLang="zh-CN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8" name="Picture 6" descr="pic1副本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929486" y="5121251"/>
            <a:ext cx="1571604" cy="1709464"/>
          </a:xfrm>
          <a:prstGeom prst="rect">
            <a:avLst/>
          </a:prstGeom>
          <a:noFill/>
        </p:spPr>
      </p:pic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02607" y="2429230"/>
            <a:ext cx="8633148" cy="26884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教学重点及难点</a:t>
            </a:r>
            <a:endParaRPr lang="en-US" altLang="zh-CN" sz="4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重点：关系表达式、逻辑表达式、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if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语句、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if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语句的嵌套、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switch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语句</a:t>
            </a:r>
            <a:endParaRPr lang="en-US" altLang="zh-CN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难点：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if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语句的嵌套、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switch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语句</a:t>
            </a:r>
            <a:endParaRPr lang="en-US" altLang="zh-CN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001000" cy="830262"/>
          </a:xfrm>
          <a:effectLst/>
        </p:spPr>
        <p:txBody>
          <a:bodyPr anchor="ctr"/>
          <a:lstStyle/>
          <a:p>
            <a:pPr algn="l" eaLnBrk="1" hangingPunct="1"/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4.1 </a:t>
            </a:r>
            <a:r>
              <a:rPr lang="zh-CN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选择结构和条件判断</a:t>
            </a:r>
            <a:endParaRPr lang="zh-CN" altLang="en-US" sz="40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980728"/>
            <a:ext cx="8424936" cy="4643438"/>
          </a:xfrm>
        </p:spPr>
        <p:txBody>
          <a:bodyPr/>
          <a:lstStyle/>
          <a:p>
            <a:pPr marL="457200" indent="-45720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在现实生活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，需要进行</a:t>
            </a:r>
            <a:r>
              <a:rPr lang="zh-CN" altLang="zh-CN" sz="3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判断和选择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的情况是很多的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 eaLnBrk="1" hangingPunct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如果你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在家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，我去拜访你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 eaLnBrk="1" hangingPunct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如果考试不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及格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，要补考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 eaLnBrk="1" hangingPunct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如果遇到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红灯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，要停车等待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 eaLnBrk="1" hangingPunct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周末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我们去郊游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 eaLnBrk="1" hangingPunct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70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岁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以上的老年人，入公园免票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4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6961"/>
            <a:ext cx="8001000" cy="830262"/>
          </a:xfrm>
          <a:effectLst/>
        </p:spPr>
        <p:txBody>
          <a:bodyPr anchor="ctr"/>
          <a:lstStyle/>
          <a:p>
            <a:pPr algn="l" eaLnBrk="1" hangingPunct="1"/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4.1 </a:t>
            </a:r>
            <a:r>
              <a:rPr lang="zh-CN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选择结构和条件判断</a:t>
            </a:r>
            <a:endParaRPr lang="zh-CN" altLang="en-US" sz="40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836712"/>
            <a:ext cx="8424936" cy="4643438"/>
          </a:xfrm>
        </p:spPr>
        <p:txBody>
          <a:bodyPr/>
          <a:lstStyle/>
          <a:p>
            <a:pPr marL="457200" indent="-457200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在现实生活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，需要进行</a:t>
            </a:r>
            <a:r>
              <a:rPr lang="zh-CN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判断和选择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的情况是很多的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这些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问题，关键在于进行</a:t>
            </a:r>
            <a:r>
              <a:rPr lang="zh-CN" altLang="zh-CN" sz="3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条件判断</a:t>
            </a:r>
            <a:endParaRPr lang="en-US" altLang="zh-CN" sz="32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由于程序处理问题的需要，在大多数程序中都会包含</a:t>
            </a:r>
            <a:r>
              <a:rPr lang="zh-CN" altLang="zh-CN" sz="3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选择结构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，需要在进行下一个操作之前先进行</a:t>
            </a:r>
            <a:r>
              <a:rPr lang="zh-CN" altLang="zh-CN" sz="3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条件判断</a:t>
            </a:r>
            <a:endParaRPr lang="en-US" altLang="zh-CN" sz="32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5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052736"/>
            <a:ext cx="8215312" cy="2592288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语言有两种选择语句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 eaLnBrk="1" hangingPunct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，实现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两个分支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的选择结构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 eaLnBrk="1" hangingPunct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switch</a:t>
            </a:r>
            <a:r>
              <a:rPr lang="zh-CN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，实现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多分支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的选择结构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6961"/>
            <a:ext cx="8001000" cy="830262"/>
          </a:xfrm>
          <a:effectLst/>
        </p:spPr>
        <p:txBody>
          <a:bodyPr anchor="ctr"/>
          <a:lstStyle/>
          <a:p>
            <a:pPr algn="l" eaLnBrk="1" hangingPunct="1"/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4.1 </a:t>
            </a:r>
            <a:r>
              <a:rPr lang="zh-CN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选择结构和条件判断</a:t>
            </a:r>
            <a:endParaRPr lang="zh-CN" altLang="en-US" sz="40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6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052736"/>
            <a:ext cx="8892480" cy="4643438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的基础上对程序进行改进。题目要求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求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</a:t>
            </a:r>
            <a:r>
              <a:rPr lang="zh-CN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方程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的根。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720090" eaLnBrk="1" hangingPunct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由键盘输入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a,b,c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。假设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a,b,c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的值任意，并不保证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。需要在程序中进行判别，如果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，就计算并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输出方程的两个实根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否则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就输出“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方程无实根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”的信息。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03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026" name="Object 1"/>
          <p:cNvGraphicFramePr>
            <a:graphicFrameLocks noChangeAspect="1"/>
          </p:cNvGraphicFramePr>
          <p:nvPr/>
        </p:nvGraphicFramePr>
        <p:xfrm>
          <a:off x="683568" y="1803648"/>
          <a:ext cx="2643188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09" name="公式" r:id="rId3" imgW="1016000" imgH="203200" progId="Equation.3">
                  <p:embed/>
                </p:oleObj>
              </mc:Choice>
              <mc:Fallback>
                <p:oleObj name="公式" r:id="rId3" imgW="1016000" imgH="203200" progId="Equation.3">
                  <p:embed/>
                  <p:pic>
                    <p:nvPicPr>
                      <p:cNvPr id="0" name="图片 1158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1803648"/>
                        <a:ext cx="2643188" cy="519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3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027" name="Object 5"/>
          <p:cNvGraphicFramePr>
            <a:graphicFrameLocks noChangeAspect="1"/>
          </p:cNvGraphicFramePr>
          <p:nvPr/>
        </p:nvGraphicFramePr>
        <p:xfrm>
          <a:off x="899592" y="3284984"/>
          <a:ext cx="21431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10" name="公式" r:id="rId5" imgW="786765" imgH="203200" progId="Equation.3">
                  <p:embed/>
                </p:oleObj>
              </mc:Choice>
              <mc:Fallback>
                <p:oleObj name="公式" r:id="rId5" imgW="786765" imgH="203200" progId="Equation.3">
                  <p:embed/>
                  <p:pic>
                    <p:nvPicPr>
                      <p:cNvPr id="0" name="图片 1158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3284984"/>
                        <a:ext cx="2143125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5"/>
          <p:cNvGraphicFramePr>
            <a:graphicFrameLocks noChangeAspect="1"/>
          </p:cNvGraphicFramePr>
          <p:nvPr/>
        </p:nvGraphicFramePr>
        <p:xfrm>
          <a:off x="899592" y="3933056"/>
          <a:ext cx="2143125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11" name="公式" r:id="rId7" imgW="786765" imgH="203200" progId="Equation.3">
                  <p:embed/>
                </p:oleObj>
              </mc:Choice>
              <mc:Fallback>
                <p:oleObj name="公式" r:id="rId7" imgW="786765" imgH="203200" progId="Equation.3">
                  <p:embed/>
                  <p:pic>
                    <p:nvPicPr>
                      <p:cNvPr id="0" name="图片 1158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3933056"/>
                        <a:ext cx="2143125" cy="541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0" y="-16961"/>
            <a:ext cx="8001000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9pPr>
          </a:lstStyle>
          <a:p>
            <a:pPr algn="l"/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4.1 </a:t>
            </a:r>
            <a:r>
              <a:rPr lang="zh-CN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选择结构和条件判断</a:t>
            </a:r>
            <a:endParaRPr lang="zh-CN" altLang="en-US" sz="40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7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714375"/>
            <a:ext cx="2714625" cy="785813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解题思路：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24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" name="平行四边形 6"/>
          <p:cNvSpPr>
            <a:spLocks noChangeArrowheads="1"/>
          </p:cNvSpPr>
          <p:nvPr/>
        </p:nvSpPr>
        <p:spPr bwMode="auto">
          <a:xfrm>
            <a:off x="3286125" y="1357313"/>
            <a:ext cx="2428875" cy="500062"/>
          </a:xfrm>
          <a:prstGeom prst="parallelogram">
            <a:avLst>
              <a:gd name="adj" fmla="val 25005"/>
            </a:avLst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</a:ln>
        </p:spPr>
        <p:txBody>
          <a:bodyPr wrap="none" lIns="0" tIns="0" rIns="0" bIns="0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a,b,c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/>
          <p:cNvCxnSpPr>
            <a:cxnSpLocks noChangeShapeType="1"/>
          </p:cNvCxnSpPr>
          <p:nvPr/>
        </p:nvCxnSpPr>
        <p:spPr bwMode="auto">
          <a:xfrm rot="5400000">
            <a:off x="4251325" y="1106488"/>
            <a:ext cx="500063" cy="1587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直接箭头连接符 9"/>
          <p:cNvCxnSpPr>
            <a:cxnSpLocks noChangeShapeType="1"/>
          </p:cNvCxnSpPr>
          <p:nvPr/>
        </p:nvCxnSpPr>
        <p:spPr bwMode="auto">
          <a:xfrm rot="5400000">
            <a:off x="4251325" y="2106613"/>
            <a:ext cx="500063" cy="1587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流程图: 过程 10"/>
          <p:cNvSpPr>
            <a:spLocks noChangeArrowheads="1"/>
          </p:cNvSpPr>
          <p:nvPr/>
        </p:nvSpPr>
        <p:spPr bwMode="auto">
          <a:xfrm>
            <a:off x="3454400" y="2357438"/>
            <a:ext cx="2071688" cy="500062"/>
          </a:xfrm>
          <a:prstGeom prst="flowChartProcess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</a:ln>
        </p:spPr>
        <p:txBody>
          <a:bodyPr wrap="none" lIns="0" tIns="0" rIns="0" bIns="0"/>
          <a:lstStyle/>
          <a:p>
            <a:pPr algn="ctr"/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disc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箭头连接符 11"/>
          <p:cNvCxnSpPr>
            <a:cxnSpLocks noChangeShapeType="1"/>
          </p:cNvCxnSpPr>
          <p:nvPr/>
        </p:nvCxnSpPr>
        <p:spPr bwMode="auto">
          <a:xfrm rot="5400000">
            <a:off x="4251325" y="3106738"/>
            <a:ext cx="500063" cy="1587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流程图: 决策 12"/>
          <p:cNvSpPr>
            <a:spLocks noChangeArrowheads="1"/>
          </p:cNvSpPr>
          <p:nvPr/>
        </p:nvSpPr>
        <p:spPr bwMode="auto">
          <a:xfrm>
            <a:off x="3155950" y="3344863"/>
            <a:ext cx="2714625" cy="857250"/>
          </a:xfrm>
          <a:prstGeom prst="flowChartDecision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</a:ln>
        </p:spPr>
        <p:txBody>
          <a:bodyPr wrap="none" lIns="0" tIns="0" rIns="0" bIns="0"/>
          <a:lstStyle/>
          <a:p>
            <a:pPr algn="ctr"/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disc&lt;0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箭头连接符 13"/>
          <p:cNvCxnSpPr>
            <a:cxnSpLocks noChangeShapeType="1"/>
          </p:cNvCxnSpPr>
          <p:nvPr/>
        </p:nvCxnSpPr>
        <p:spPr bwMode="auto">
          <a:xfrm rot="5400000">
            <a:off x="1881187" y="4014788"/>
            <a:ext cx="500063" cy="1588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流程图: 过程 14"/>
          <p:cNvSpPr>
            <a:spLocks noChangeArrowheads="1"/>
          </p:cNvSpPr>
          <p:nvPr/>
        </p:nvSpPr>
        <p:spPr bwMode="auto">
          <a:xfrm>
            <a:off x="1084263" y="4265613"/>
            <a:ext cx="2071687" cy="500062"/>
          </a:xfrm>
          <a:prstGeom prst="flowChartProcess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</a:ln>
        </p:spPr>
        <p:txBody>
          <a:bodyPr wrap="none" lIns="0" tIns="0" rIns="0" bIns="0"/>
          <a:lstStyle/>
          <a:p>
            <a:pPr algn="ctr"/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8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,x</a:t>
            </a:r>
            <a:r>
              <a:rPr lang="en-US" altLang="zh-CN" sz="2800" b="1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baseline="-25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平行四边形 15"/>
          <p:cNvSpPr>
            <a:spLocks noChangeArrowheads="1"/>
          </p:cNvSpPr>
          <p:nvPr/>
        </p:nvSpPr>
        <p:spPr bwMode="auto">
          <a:xfrm>
            <a:off x="5634038" y="4286250"/>
            <a:ext cx="2428875" cy="500063"/>
          </a:xfrm>
          <a:prstGeom prst="parallelogram">
            <a:avLst>
              <a:gd name="adj" fmla="val 25005"/>
            </a:avLst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</a:ln>
        </p:spPr>
        <p:txBody>
          <a:bodyPr wrap="none" lIns="0" tIns="0" rIns="0" bIns="0"/>
          <a:lstStyle/>
          <a:p>
            <a:pPr algn="ctr"/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输出无实根</a:t>
            </a:r>
          </a:p>
        </p:txBody>
      </p:sp>
      <p:cxnSp>
        <p:nvCxnSpPr>
          <p:cNvPr id="17" name="直接箭头连接符 16"/>
          <p:cNvCxnSpPr>
            <a:cxnSpLocks noChangeShapeType="1"/>
          </p:cNvCxnSpPr>
          <p:nvPr/>
        </p:nvCxnSpPr>
        <p:spPr bwMode="auto">
          <a:xfrm rot="5400000">
            <a:off x="6599238" y="4035425"/>
            <a:ext cx="500062" cy="1588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平行四边形 17"/>
          <p:cNvSpPr>
            <a:spLocks noChangeArrowheads="1"/>
          </p:cNvSpPr>
          <p:nvPr/>
        </p:nvSpPr>
        <p:spPr bwMode="auto">
          <a:xfrm>
            <a:off x="941388" y="5265738"/>
            <a:ext cx="2428875" cy="571500"/>
          </a:xfrm>
          <a:prstGeom prst="parallelogram">
            <a:avLst>
              <a:gd name="adj" fmla="val 25008"/>
            </a:avLst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</a:ln>
        </p:spPr>
        <p:txBody>
          <a:bodyPr wrap="none" lIns="0" tIns="0" rIns="0" bIns="0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8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,x</a:t>
            </a:r>
            <a:r>
              <a:rPr lang="en-US" altLang="zh-CN" sz="28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箭头连接符 18"/>
          <p:cNvCxnSpPr>
            <a:cxnSpLocks noChangeShapeType="1"/>
          </p:cNvCxnSpPr>
          <p:nvPr/>
        </p:nvCxnSpPr>
        <p:spPr bwMode="auto">
          <a:xfrm rot="5400000">
            <a:off x="1906587" y="5014913"/>
            <a:ext cx="500063" cy="1588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直接连接符 21"/>
          <p:cNvCxnSpPr>
            <a:cxnSpLocks noChangeShapeType="1"/>
          </p:cNvCxnSpPr>
          <p:nvPr/>
        </p:nvCxnSpPr>
        <p:spPr bwMode="auto">
          <a:xfrm>
            <a:off x="2143125" y="3765550"/>
            <a:ext cx="1000125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直接连接符 22"/>
          <p:cNvCxnSpPr>
            <a:cxnSpLocks noChangeShapeType="1"/>
          </p:cNvCxnSpPr>
          <p:nvPr/>
        </p:nvCxnSpPr>
        <p:spPr bwMode="auto">
          <a:xfrm>
            <a:off x="5857875" y="3786188"/>
            <a:ext cx="1000125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直接连接符 23"/>
          <p:cNvCxnSpPr>
            <a:cxnSpLocks noChangeShapeType="1"/>
          </p:cNvCxnSpPr>
          <p:nvPr/>
        </p:nvCxnSpPr>
        <p:spPr bwMode="auto">
          <a:xfrm>
            <a:off x="2143125" y="6286500"/>
            <a:ext cx="4714875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直接箭头连接符 25"/>
          <p:cNvCxnSpPr>
            <a:cxnSpLocks noChangeShapeType="1"/>
          </p:cNvCxnSpPr>
          <p:nvPr/>
        </p:nvCxnSpPr>
        <p:spPr bwMode="auto">
          <a:xfrm rot="5400000">
            <a:off x="4343400" y="6545263"/>
            <a:ext cx="500063" cy="1587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28"/>
          <p:cNvCxnSpPr>
            <a:cxnSpLocks noChangeShapeType="1"/>
            <a:endCxn id="16" idx="4"/>
          </p:cNvCxnSpPr>
          <p:nvPr/>
        </p:nvCxnSpPr>
        <p:spPr bwMode="auto">
          <a:xfrm rot="16200000" flipV="1">
            <a:off x="6103144" y="5531644"/>
            <a:ext cx="1500187" cy="9525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直接连接符 41"/>
          <p:cNvCxnSpPr>
            <a:cxnSpLocks noChangeShapeType="1"/>
          </p:cNvCxnSpPr>
          <p:nvPr/>
        </p:nvCxnSpPr>
        <p:spPr bwMode="auto">
          <a:xfrm rot="16200000" flipV="1">
            <a:off x="1933575" y="6067425"/>
            <a:ext cx="428625" cy="9525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2500313" y="3286125"/>
            <a:ext cx="500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真</a:t>
            </a:r>
          </a:p>
        </p:txBody>
      </p: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6000750" y="3214688"/>
            <a:ext cx="500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假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8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3" grpId="0" animBg="1"/>
      <p:bldP spid="15" grpId="0" animBg="1"/>
      <p:bldP spid="16" grpId="0" animBg="1"/>
      <p:bldP spid="18" grpId="0" animBg="1"/>
      <p:bldP spid="46" grpId="0"/>
      <p:bldP spid="4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7219" y="676300"/>
            <a:ext cx="8215312" cy="464343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/>
              <a:t>#include  &lt;</a:t>
            </a:r>
            <a:r>
              <a:rPr lang="en-US" altLang="zh-CN" sz="2800" dirty="0" err="1"/>
              <a:t>math.h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 ( ) </a:t>
            </a:r>
            <a:endParaRPr lang="zh-CN" altLang="zh-CN" sz="2800" dirty="0"/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/>
              <a:t> {</a:t>
            </a:r>
            <a:endParaRPr lang="zh-CN" altLang="zh-CN" sz="2800" dirty="0"/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>
                <a:solidFill>
                  <a:srgbClr val="00B050"/>
                </a:solidFill>
              </a:rPr>
              <a:t> double </a:t>
            </a:r>
            <a:r>
              <a:rPr lang="en-US" altLang="zh-CN" sz="2800" dirty="0"/>
              <a:t>a,b,c,disc,x1,x2,p,q; </a:t>
            </a:r>
            <a:endParaRPr lang="zh-CN" altLang="zh-CN" sz="2800" dirty="0"/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/>
              <a:t>    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("%</a:t>
            </a:r>
            <a:r>
              <a:rPr lang="en-US" altLang="zh-CN" sz="2800" dirty="0" err="1">
                <a:solidFill>
                  <a:srgbClr val="00B050"/>
                </a:solidFill>
              </a:rPr>
              <a:t>lf</a:t>
            </a:r>
            <a:r>
              <a:rPr lang="en-US" altLang="zh-CN" sz="2800" dirty="0" err="1"/>
              <a:t>%</a:t>
            </a:r>
            <a:r>
              <a:rPr lang="en-US" altLang="zh-CN" sz="2800" dirty="0" err="1">
                <a:solidFill>
                  <a:srgbClr val="00B050"/>
                </a:solidFill>
              </a:rPr>
              <a:t>lf</a:t>
            </a:r>
            <a:r>
              <a:rPr lang="en-US" altLang="zh-CN" sz="2800" dirty="0" err="1"/>
              <a:t>%</a:t>
            </a:r>
            <a:r>
              <a:rPr lang="en-US" altLang="zh-CN" sz="2800" dirty="0" err="1">
                <a:solidFill>
                  <a:srgbClr val="00B050"/>
                </a:solidFill>
              </a:rPr>
              <a:t>lf</a:t>
            </a:r>
            <a:r>
              <a:rPr lang="en-US" altLang="zh-CN" sz="2800" dirty="0"/>
              <a:t>",&amp;</a:t>
            </a:r>
            <a:r>
              <a:rPr lang="en-US" altLang="zh-CN" sz="2800" dirty="0" err="1"/>
              <a:t>a,&amp;b,&amp;c</a:t>
            </a:r>
            <a:r>
              <a:rPr lang="en-US" altLang="zh-CN" sz="2800" dirty="0"/>
              <a:t>);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/>
              <a:t>    disc=b*b-4*a*c;</a:t>
            </a:r>
          </a:p>
        </p:txBody>
      </p:sp>
      <p:sp>
        <p:nvSpPr>
          <p:cNvPr id="1126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26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785938" y="5286375"/>
            <a:ext cx="58578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en-US" altLang="zh-CN" sz="3200" b="1" dirty="0">
                <a:solidFill>
                  <a:srgbClr val="0000CC"/>
                </a:solidFill>
              </a:rPr>
              <a:t>b</a:t>
            </a:r>
            <a:r>
              <a:rPr lang="en-US" altLang="zh-CN" sz="3200" b="1" baseline="30000" dirty="0">
                <a:solidFill>
                  <a:srgbClr val="0000CC"/>
                </a:solidFill>
              </a:rPr>
              <a:t>2</a:t>
            </a:r>
            <a:r>
              <a:rPr lang="en-US" altLang="zh-CN" sz="3200" b="1" dirty="0">
                <a:solidFill>
                  <a:srgbClr val="0000CC"/>
                </a:solidFill>
              </a:rPr>
              <a:t>-4ac</a:t>
            </a:r>
            <a:r>
              <a:rPr lang="zh-CN" altLang="en-US" sz="3200" b="1" dirty="0">
                <a:solidFill>
                  <a:srgbClr val="0000CC"/>
                </a:solidFill>
              </a:rPr>
              <a:t>，</a:t>
            </a:r>
            <a:r>
              <a:rPr lang="en-US" altLang="zh-CN" sz="3200" b="1" dirty="0">
                <a:solidFill>
                  <a:srgbClr val="0000CC"/>
                </a:solidFill>
              </a:rPr>
              <a:t>disc</a:t>
            </a:r>
            <a:r>
              <a:rPr lang="zh-CN" altLang="en-US" sz="3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的值变为</a:t>
            </a:r>
            <a:r>
              <a:rPr lang="en-US" altLang="zh-CN" sz="3200" b="1" dirty="0">
                <a:solidFill>
                  <a:srgbClr val="FF0000"/>
                </a:solidFill>
              </a:rPr>
              <a:t>-15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127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cxnSp>
        <p:nvCxnSpPr>
          <p:cNvPr id="13" name="直接连接符 12"/>
          <p:cNvCxnSpPr>
            <a:cxnSpLocks noChangeShapeType="1"/>
          </p:cNvCxnSpPr>
          <p:nvPr/>
        </p:nvCxnSpPr>
        <p:spPr bwMode="auto">
          <a:xfrm>
            <a:off x="1187624" y="4581128"/>
            <a:ext cx="4824536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34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009628"/>
            <a:ext cx="1439863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9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3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785813"/>
            <a:ext cx="7858125" cy="5786437"/>
          </a:xfrm>
        </p:spPr>
        <p:txBody>
          <a:bodyPr/>
          <a:lstStyle/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>
                <a:solidFill>
                  <a:srgbClr val="9D138D"/>
                </a:solidFill>
              </a:rPr>
              <a:t>if (disc&lt;0) </a:t>
            </a:r>
            <a:endParaRPr lang="zh-CN" altLang="zh-CN" sz="2800" dirty="0">
              <a:solidFill>
                <a:srgbClr val="9D138D"/>
              </a:solidFill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2060"/>
                </a:solidFill>
              </a:rPr>
              <a:t>     </a:t>
            </a:r>
            <a:r>
              <a:rPr lang="en-US" altLang="zh-CN" sz="2800" dirty="0" err="1">
                <a:solidFill>
                  <a:srgbClr val="9D138D"/>
                </a:solidFill>
              </a:rPr>
              <a:t>printf</a:t>
            </a:r>
            <a:r>
              <a:rPr lang="en-US" altLang="zh-CN" sz="2800" dirty="0">
                <a:solidFill>
                  <a:srgbClr val="9D138D"/>
                </a:solidFill>
              </a:rPr>
              <a:t>(“has not real roots\n”); </a:t>
            </a:r>
            <a:endParaRPr lang="zh-CN" altLang="zh-CN" sz="2800" dirty="0">
              <a:solidFill>
                <a:srgbClr val="9D138D"/>
              </a:solidFill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</a:t>
            </a:r>
            <a:r>
              <a:rPr lang="en-US" altLang="zh-CN" sz="2800" dirty="0">
                <a:solidFill>
                  <a:srgbClr val="00B050"/>
                </a:solidFill>
              </a:rPr>
              <a:t>else                                 </a:t>
            </a:r>
            <a:r>
              <a:rPr lang="zh-CN" altLang="zh-CN" sz="2800" dirty="0">
                <a:solidFill>
                  <a:srgbClr val="00B050"/>
                </a:solidFill>
              </a:rPr>
              <a:t> </a:t>
            </a: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B050"/>
                </a:solidFill>
              </a:rPr>
              <a:t>  {  p=-b/(2.0*a);</a:t>
            </a:r>
            <a:endParaRPr lang="zh-CN" altLang="zh-CN" sz="2800" dirty="0">
              <a:solidFill>
                <a:srgbClr val="00B050"/>
              </a:solidFill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B050"/>
                </a:solidFill>
              </a:rPr>
              <a:t>      q=</a:t>
            </a:r>
            <a:r>
              <a:rPr lang="en-US" altLang="zh-CN" sz="2800" dirty="0" err="1">
                <a:solidFill>
                  <a:srgbClr val="00B050"/>
                </a:solidFill>
              </a:rPr>
              <a:t>sqrt</a:t>
            </a:r>
            <a:r>
              <a:rPr lang="en-US" altLang="zh-CN" sz="2800" dirty="0">
                <a:solidFill>
                  <a:srgbClr val="00B050"/>
                </a:solidFill>
              </a:rPr>
              <a:t>(disc)/(2.0*a);</a:t>
            </a:r>
            <a:endParaRPr lang="zh-CN" altLang="zh-CN" sz="2800" dirty="0">
              <a:solidFill>
                <a:srgbClr val="00B050"/>
              </a:solidFill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B050"/>
                </a:solidFill>
              </a:rPr>
              <a:t>      x1=</a:t>
            </a:r>
            <a:r>
              <a:rPr lang="en-US" altLang="zh-CN" sz="2800" dirty="0" err="1">
                <a:solidFill>
                  <a:srgbClr val="00B050"/>
                </a:solidFill>
              </a:rPr>
              <a:t>p+q</a:t>
            </a:r>
            <a:r>
              <a:rPr lang="en-US" altLang="zh-CN" sz="2800" dirty="0">
                <a:solidFill>
                  <a:srgbClr val="00B050"/>
                </a:solidFill>
              </a:rPr>
              <a:t>;</a:t>
            </a: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B050"/>
                </a:solidFill>
              </a:rPr>
              <a:t>      x2=p-q; </a:t>
            </a:r>
            <a:endParaRPr lang="zh-CN" altLang="zh-CN" sz="2800" dirty="0">
              <a:solidFill>
                <a:srgbClr val="00B050"/>
              </a:solidFill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B050"/>
                </a:solidFill>
              </a:rPr>
              <a:t>      </a:t>
            </a:r>
            <a:r>
              <a:rPr lang="en-US" altLang="zh-CN" sz="2800" dirty="0" err="1">
                <a:solidFill>
                  <a:srgbClr val="00B050"/>
                </a:solidFill>
              </a:rPr>
              <a:t>printf</a:t>
            </a:r>
            <a:r>
              <a:rPr lang="en-US" altLang="zh-CN" sz="2800" dirty="0">
                <a:solidFill>
                  <a:srgbClr val="00B050"/>
                </a:solidFill>
              </a:rPr>
              <a:t>(“real roots:\nx1=%7.2f\n</a:t>
            </a: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B050"/>
                </a:solidFill>
              </a:rPr>
              <a:t>                         x2=%7.2f\n”,x1,x2);   </a:t>
            </a:r>
            <a:endParaRPr lang="zh-CN" altLang="zh-CN" sz="2800" dirty="0">
              <a:solidFill>
                <a:srgbClr val="00B050"/>
              </a:solidFill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B050"/>
                </a:solidFill>
              </a:rPr>
              <a:t>   }</a:t>
            </a:r>
            <a:endParaRPr lang="zh-CN" altLang="zh-CN" sz="2800" dirty="0">
              <a:solidFill>
                <a:srgbClr val="00B050"/>
              </a:solidFill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return 0;</a:t>
            </a:r>
            <a:endParaRPr lang="zh-CN" altLang="zh-CN" sz="2800" dirty="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}</a:t>
            </a:r>
          </a:p>
        </p:txBody>
      </p:sp>
      <p:sp>
        <p:nvSpPr>
          <p:cNvPr id="1229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786188" y="714375"/>
            <a:ext cx="24288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FF0000"/>
                </a:solidFill>
              </a:rPr>
              <a:t>-15&lt;0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为真</a:t>
            </a:r>
          </a:p>
        </p:txBody>
      </p:sp>
      <p:pic>
        <p:nvPicPr>
          <p:cNvPr id="133121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3225" y="1785938"/>
            <a:ext cx="4868863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直接连接符 7"/>
          <p:cNvCxnSpPr>
            <a:cxnSpLocks noChangeShapeType="1"/>
          </p:cNvCxnSpPr>
          <p:nvPr/>
        </p:nvCxnSpPr>
        <p:spPr bwMode="auto">
          <a:xfrm>
            <a:off x="899592" y="1714500"/>
            <a:ext cx="5315471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10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3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7226" y="633789"/>
            <a:ext cx="8215312" cy="464343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/>
              <a:t>#include  &lt;</a:t>
            </a:r>
            <a:r>
              <a:rPr lang="en-US" altLang="zh-CN" sz="2800" dirty="0" err="1"/>
              <a:t>math.h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 ( ) </a:t>
            </a:r>
            <a:endParaRPr lang="zh-CN" altLang="zh-CN" sz="2800" dirty="0"/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/>
              <a:t> {</a:t>
            </a:r>
            <a:endParaRPr lang="zh-CN" altLang="zh-CN" sz="2800" dirty="0"/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>
                <a:solidFill>
                  <a:srgbClr val="00B050"/>
                </a:solidFill>
              </a:rPr>
              <a:t> double </a:t>
            </a:r>
            <a:r>
              <a:rPr lang="en-US" altLang="zh-CN" sz="2800" dirty="0"/>
              <a:t>a,b,c,disc,x1,x2,p,q; </a:t>
            </a:r>
            <a:endParaRPr lang="zh-CN" altLang="zh-CN" sz="2800" dirty="0"/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/>
              <a:t>    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("%</a:t>
            </a:r>
            <a:r>
              <a:rPr lang="en-US" altLang="zh-CN" sz="2800" dirty="0" err="1">
                <a:solidFill>
                  <a:srgbClr val="00B050"/>
                </a:solidFill>
              </a:rPr>
              <a:t>lf</a:t>
            </a:r>
            <a:r>
              <a:rPr lang="en-US" altLang="zh-CN" sz="2800" dirty="0" err="1"/>
              <a:t>%</a:t>
            </a:r>
            <a:r>
              <a:rPr lang="en-US" altLang="zh-CN" sz="2800" dirty="0" err="1">
                <a:solidFill>
                  <a:srgbClr val="00B050"/>
                </a:solidFill>
              </a:rPr>
              <a:t>lf</a:t>
            </a:r>
            <a:r>
              <a:rPr lang="en-US" altLang="zh-CN" sz="2800" dirty="0" err="1"/>
              <a:t>%</a:t>
            </a:r>
            <a:r>
              <a:rPr lang="en-US" altLang="zh-CN" sz="2800" dirty="0" err="1">
                <a:solidFill>
                  <a:srgbClr val="00B050"/>
                </a:solidFill>
              </a:rPr>
              <a:t>lf</a:t>
            </a:r>
            <a:r>
              <a:rPr lang="en-US" altLang="zh-CN" sz="2800" dirty="0"/>
              <a:t>",&amp;</a:t>
            </a:r>
            <a:r>
              <a:rPr lang="en-US" altLang="zh-CN" sz="2800" dirty="0" err="1"/>
              <a:t>a,&amp;b,&amp;c</a:t>
            </a:r>
            <a:r>
              <a:rPr lang="en-US" altLang="zh-CN" sz="2800" dirty="0"/>
              <a:t>);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/>
              <a:t>    disc=b*b-4*a*c;</a:t>
            </a:r>
          </a:p>
        </p:txBody>
      </p:sp>
      <p:sp>
        <p:nvSpPr>
          <p:cNvPr id="1331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31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331640" y="5292827"/>
            <a:ext cx="58578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en-US" altLang="zh-CN" sz="3200" b="1" dirty="0">
                <a:solidFill>
                  <a:srgbClr val="0000CC"/>
                </a:solidFill>
              </a:rPr>
              <a:t>b</a:t>
            </a:r>
            <a:r>
              <a:rPr lang="en-US" altLang="zh-CN" sz="3200" b="1" baseline="30000" dirty="0">
                <a:solidFill>
                  <a:srgbClr val="0000CC"/>
                </a:solidFill>
              </a:rPr>
              <a:t>2</a:t>
            </a:r>
            <a:r>
              <a:rPr lang="en-US" altLang="zh-CN" sz="3200" b="1" dirty="0">
                <a:solidFill>
                  <a:srgbClr val="0000CC"/>
                </a:solidFill>
              </a:rPr>
              <a:t>-4ac</a:t>
            </a:r>
            <a:r>
              <a:rPr lang="zh-CN" altLang="en-US" sz="3200" b="1" dirty="0">
                <a:solidFill>
                  <a:srgbClr val="0000CC"/>
                </a:solidFill>
              </a:rPr>
              <a:t>，</a:t>
            </a:r>
            <a:r>
              <a:rPr lang="en-US" altLang="zh-CN" sz="3200" b="1" dirty="0">
                <a:solidFill>
                  <a:srgbClr val="0000CC"/>
                </a:solidFill>
              </a:rPr>
              <a:t>disc</a:t>
            </a:r>
            <a:r>
              <a:rPr lang="zh-CN" altLang="en-US" sz="3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的值变为</a:t>
            </a:r>
            <a:r>
              <a:rPr lang="en-US" altLang="zh-CN" sz="3200" b="1" dirty="0">
                <a:solidFill>
                  <a:srgbClr val="FF0000"/>
                </a:solidFill>
              </a:rPr>
              <a:t>8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331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cxnSp>
        <p:nvCxnSpPr>
          <p:cNvPr id="13" name="直接连接符 12"/>
          <p:cNvCxnSpPr>
            <a:cxnSpLocks noChangeShapeType="1"/>
          </p:cNvCxnSpPr>
          <p:nvPr/>
        </p:nvCxnSpPr>
        <p:spPr bwMode="auto">
          <a:xfrm>
            <a:off x="971600" y="4500563"/>
            <a:ext cx="4752528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35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043" y="3929063"/>
            <a:ext cx="1585912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11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35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785813"/>
            <a:ext cx="7858125" cy="5786437"/>
          </a:xfrm>
        </p:spPr>
        <p:txBody>
          <a:bodyPr/>
          <a:lstStyle/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</a:t>
            </a:r>
            <a:r>
              <a:rPr lang="en-US" altLang="zh-CN" sz="2800">
                <a:solidFill>
                  <a:srgbClr val="9D138D"/>
                </a:solidFill>
              </a:rPr>
              <a:t>if (disc&lt;0) </a:t>
            </a:r>
            <a:endParaRPr lang="zh-CN" altLang="zh-CN" sz="2800">
              <a:solidFill>
                <a:srgbClr val="9D138D"/>
              </a:solidFill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9D138D"/>
                </a:solidFill>
              </a:rPr>
              <a:t>     printf(“has not real roots\n”); </a:t>
            </a:r>
            <a:endParaRPr lang="zh-CN" altLang="zh-CN" sz="2800">
              <a:solidFill>
                <a:srgbClr val="9D138D"/>
              </a:solidFill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</a:t>
            </a:r>
            <a:r>
              <a:rPr lang="en-US" altLang="zh-CN" sz="2800">
                <a:solidFill>
                  <a:srgbClr val="00B050"/>
                </a:solidFill>
              </a:rPr>
              <a:t>else                                 </a:t>
            </a:r>
            <a:r>
              <a:rPr lang="zh-CN" altLang="zh-CN" sz="2800">
                <a:solidFill>
                  <a:srgbClr val="00B050"/>
                </a:solidFill>
              </a:rPr>
              <a:t> </a:t>
            </a: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B050"/>
                </a:solidFill>
              </a:rPr>
              <a:t>  {  p=-b/(2.0*a);</a:t>
            </a:r>
            <a:endParaRPr lang="zh-CN" altLang="zh-CN" sz="2800">
              <a:solidFill>
                <a:srgbClr val="00B050"/>
              </a:solidFill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B050"/>
                </a:solidFill>
              </a:rPr>
              <a:t>      q=sqrt(disc)/(2.0*a);</a:t>
            </a:r>
            <a:endParaRPr lang="zh-CN" altLang="zh-CN" sz="2800">
              <a:solidFill>
                <a:srgbClr val="00B050"/>
              </a:solidFill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B050"/>
                </a:solidFill>
              </a:rPr>
              <a:t>      x1=p+q;</a:t>
            </a: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B050"/>
                </a:solidFill>
              </a:rPr>
              <a:t>      x2=p-q; </a:t>
            </a:r>
            <a:endParaRPr lang="zh-CN" altLang="zh-CN" sz="2800">
              <a:solidFill>
                <a:srgbClr val="00B050"/>
              </a:solidFill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B050"/>
                </a:solidFill>
              </a:rPr>
              <a:t>      printf(“real roots:\nx1=%7.2f\n</a:t>
            </a: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B050"/>
                </a:solidFill>
              </a:rPr>
              <a:t>                         x2=%7.2f\n”,x1,x2);   </a:t>
            </a:r>
            <a:endParaRPr lang="zh-CN" altLang="zh-CN" sz="2800">
              <a:solidFill>
                <a:srgbClr val="00B050"/>
              </a:solidFill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B050"/>
                </a:solidFill>
              </a:rPr>
              <a:t>   }</a:t>
            </a:r>
            <a:endParaRPr lang="zh-CN" altLang="zh-CN" sz="2800">
              <a:solidFill>
                <a:srgbClr val="00B050"/>
              </a:solidFill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return 0;</a:t>
            </a:r>
            <a:endParaRPr lang="zh-CN" altLang="zh-CN" sz="280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}</a:t>
            </a:r>
          </a:p>
        </p:txBody>
      </p:sp>
      <p:sp>
        <p:nvSpPr>
          <p:cNvPr id="1433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34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786188" y="714375"/>
            <a:ext cx="24288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FF0000"/>
                </a:solidFill>
              </a:rPr>
              <a:t>8&lt;0</a:t>
            </a:r>
            <a:r>
              <a:rPr lang="zh-CN" altLang="en-US" sz="3200" b="1">
                <a:solidFill>
                  <a:srgbClr val="FF0000"/>
                </a:solidFill>
              </a:rPr>
              <a:t>为假</a:t>
            </a:r>
          </a:p>
        </p:txBody>
      </p:sp>
      <p:cxnSp>
        <p:nvCxnSpPr>
          <p:cNvPr id="8" name="直接连接符 7"/>
          <p:cNvCxnSpPr>
            <a:cxnSpLocks noChangeShapeType="1"/>
          </p:cNvCxnSpPr>
          <p:nvPr/>
        </p:nvCxnSpPr>
        <p:spPr bwMode="auto">
          <a:xfrm>
            <a:off x="857250" y="2143125"/>
            <a:ext cx="928688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572000" y="2143125"/>
            <a:ext cx="23574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CC"/>
                </a:solidFill>
              </a:rPr>
              <a:t>p</a:t>
            </a:r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的值变为</a:t>
            </a:r>
            <a:r>
              <a:rPr lang="en-US" altLang="zh-CN" sz="2800" b="1" dirty="0">
                <a:solidFill>
                  <a:srgbClr val="0000CC"/>
                </a:solidFill>
              </a:rPr>
              <a:t>-1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000750" y="2643188"/>
            <a:ext cx="2857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CC"/>
                </a:solidFill>
              </a:rPr>
              <a:t>q</a:t>
            </a:r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的值变为</a:t>
            </a:r>
            <a:r>
              <a:rPr lang="en-US" altLang="zh-CN" sz="2800" b="1" dirty="0">
                <a:solidFill>
                  <a:srgbClr val="0000CC"/>
                </a:solidFill>
              </a:rPr>
              <a:t>0.71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cxnSp>
        <p:nvCxnSpPr>
          <p:cNvPr id="12" name="直接连接符 11"/>
          <p:cNvCxnSpPr>
            <a:cxnSpLocks noChangeShapeType="1"/>
          </p:cNvCxnSpPr>
          <p:nvPr/>
        </p:nvCxnSpPr>
        <p:spPr bwMode="auto">
          <a:xfrm>
            <a:off x="1187624" y="2701925"/>
            <a:ext cx="2088232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直接连接符 13"/>
          <p:cNvCxnSpPr>
            <a:cxnSpLocks noChangeShapeType="1"/>
          </p:cNvCxnSpPr>
          <p:nvPr/>
        </p:nvCxnSpPr>
        <p:spPr bwMode="auto">
          <a:xfrm>
            <a:off x="1187624" y="3214688"/>
            <a:ext cx="3384376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3556000" y="3163888"/>
            <a:ext cx="3214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CC"/>
                </a:solidFill>
              </a:rPr>
              <a:t>x1</a:t>
            </a:r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的值变为</a:t>
            </a:r>
            <a:r>
              <a:rPr lang="en-US" altLang="zh-CN" sz="2800" b="1" dirty="0">
                <a:solidFill>
                  <a:srgbClr val="0000CC"/>
                </a:solidFill>
              </a:rPr>
              <a:t>-0.29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cxnSp>
        <p:nvCxnSpPr>
          <p:cNvPr id="17" name="直接连接符 16"/>
          <p:cNvCxnSpPr>
            <a:cxnSpLocks noChangeShapeType="1"/>
          </p:cNvCxnSpPr>
          <p:nvPr/>
        </p:nvCxnSpPr>
        <p:spPr bwMode="auto">
          <a:xfrm>
            <a:off x="1187624" y="3643313"/>
            <a:ext cx="1440160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3556000" y="3663950"/>
            <a:ext cx="3214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CC"/>
                </a:solidFill>
              </a:rPr>
              <a:t>x2</a:t>
            </a:r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的值变为</a:t>
            </a:r>
            <a:r>
              <a:rPr lang="en-US" altLang="zh-CN" sz="2800" b="1" dirty="0">
                <a:solidFill>
                  <a:srgbClr val="0000CC"/>
                </a:solidFill>
              </a:rPr>
              <a:t>-1.71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cxnSp>
        <p:nvCxnSpPr>
          <p:cNvPr id="21" name="直接连接符 20"/>
          <p:cNvCxnSpPr>
            <a:cxnSpLocks noChangeShapeType="1"/>
          </p:cNvCxnSpPr>
          <p:nvPr/>
        </p:nvCxnSpPr>
        <p:spPr bwMode="auto">
          <a:xfrm>
            <a:off x="1321594" y="4143375"/>
            <a:ext cx="1306190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36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0" y="5072063"/>
            <a:ext cx="2951163" cy="135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12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3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  <p:bldP spid="16" grpId="0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785813"/>
            <a:ext cx="7858125" cy="5786437"/>
          </a:xfrm>
        </p:spPr>
        <p:txBody>
          <a:bodyPr/>
          <a:lstStyle/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</a:t>
            </a:r>
            <a:r>
              <a:rPr lang="en-US" altLang="zh-CN" sz="2800">
                <a:solidFill>
                  <a:srgbClr val="9D138D"/>
                </a:solidFill>
              </a:rPr>
              <a:t>if (disc&lt;0) </a:t>
            </a:r>
            <a:endParaRPr lang="zh-CN" altLang="zh-CN" sz="2800">
              <a:solidFill>
                <a:srgbClr val="9D138D"/>
              </a:solidFill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9D138D"/>
                </a:solidFill>
              </a:rPr>
              <a:t>     printf(“has not real roots\n”); </a:t>
            </a:r>
            <a:endParaRPr lang="zh-CN" altLang="zh-CN" sz="2800">
              <a:solidFill>
                <a:srgbClr val="9D138D"/>
              </a:solidFill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</a:t>
            </a:r>
            <a:r>
              <a:rPr lang="en-US" altLang="zh-CN" sz="2800">
                <a:solidFill>
                  <a:srgbClr val="00B050"/>
                </a:solidFill>
              </a:rPr>
              <a:t>else                                 </a:t>
            </a:r>
            <a:r>
              <a:rPr lang="zh-CN" altLang="zh-CN" sz="2800">
                <a:solidFill>
                  <a:srgbClr val="00B050"/>
                </a:solidFill>
              </a:rPr>
              <a:t> </a:t>
            </a: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B050"/>
                </a:solidFill>
              </a:rPr>
              <a:t>  {  p=-b/(2.0*a);</a:t>
            </a:r>
            <a:endParaRPr lang="zh-CN" altLang="zh-CN" sz="2800">
              <a:solidFill>
                <a:srgbClr val="00B050"/>
              </a:solidFill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B050"/>
                </a:solidFill>
              </a:rPr>
              <a:t>      q=sqrt(disc)/(2.0*a);</a:t>
            </a:r>
            <a:endParaRPr lang="zh-CN" altLang="zh-CN" sz="2800">
              <a:solidFill>
                <a:srgbClr val="00B050"/>
              </a:solidFill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B050"/>
                </a:solidFill>
              </a:rPr>
              <a:t>      x1=p+q;</a:t>
            </a: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B050"/>
                </a:solidFill>
              </a:rPr>
              <a:t>      x2=p-q; </a:t>
            </a:r>
            <a:endParaRPr lang="zh-CN" altLang="zh-CN" sz="2800">
              <a:solidFill>
                <a:srgbClr val="00B050"/>
              </a:solidFill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B050"/>
                </a:solidFill>
              </a:rPr>
              <a:t>      printf(“real roots:\nx1=%7.2f\n</a:t>
            </a: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B050"/>
                </a:solidFill>
              </a:rPr>
              <a:t>                         x2=%7.2f\n”,x1,x2);   </a:t>
            </a:r>
            <a:endParaRPr lang="zh-CN" altLang="zh-CN" sz="2800">
              <a:solidFill>
                <a:srgbClr val="00B050"/>
              </a:solidFill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B050"/>
                </a:solidFill>
              </a:rPr>
              <a:t>   }</a:t>
            </a:r>
            <a:endParaRPr lang="zh-CN" altLang="zh-CN" sz="2800">
              <a:solidFill>
                <a:srgbClr val="00B050"/>
              </a:solidFill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return 0;</a:t>
            </a:r>
            <a:endParaRPr lang="zh-CN" altLang="zh-CN" sz="280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}</a:t>
            </a:r>
          </a:p>
        </p:txBody>
      </p:sp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6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357563" y="5715000"/>
            <a:ext cx="539090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选择结构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语句实现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714375" y="642938"/>
            <a:ext cx="7572375" cy="5000625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13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785813"/>
            <a:ext cx="7858125" cy="5786437"/>
          </a:xfrm>
        </p:spPr>
        <p:txBody>
          <a:bodyPr/>
          <a:lstStyle/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</a:t>
            </a:r>
            <a:r>
              <a:rPr lang="en-US" altLang="zh-CN" sz="2800">
                <a:solidFill>
                  <a:srgbClr val="9D138D"/>
                </a:solidFill>
              </a:rPr>
              <a:t>if (disc&lt;0) </a:t>
            </a:r>
            <a:endParaRPr lang="zh-CN" altLang="zh-CN" sz="2800">
              <a:solidFill>
                <a:srgbClr val="9D138D"/>
              </a:solidFill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9D138D"/>
                </a:solidFill>
              </a:rPr>
              <a:t>     printf(“has not real roots\n”); </a:t>
            </a:r>
            <a:endParaRPr lang="zh-CN" altLang="zh-CN" sz="2800">
              <a:solidFill>
                <a:srgbClr val="9D138D"/>
              </a:solidFill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</a:t>
            </a:r>
            <a:r>
              <a:rPr lang="en-US" altLang="zh-CN" sz="2800">
                <a:solidFill>
                  <a:srgbClr val="00B050"/>
                </a:solidFill>
              </a:rPr>
              <a:t>else                                 </a:t>
            </a:r>
            <a:r>
              <a:rPr lang="zh-CN" altLang="zh-CN" sz="2800">
                <a:solidFill>
                  <a:srgbClr val="00B050"/>
                </a:solidFill>
              </a:rPr>
              <a:t> </a:t>
            </a: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B050"/>
                </a:solidFill>
              </a:rPr>
              <a:t>  {  p=-b/(2.0*a);</a:t>
            </a:r>
            <a:endParaRPr lang="zh-CN" altLang="zh-CN" sz="2800">
              <a:solidFill>
                <a:srgbClr val="00B050"/>
              </a:solidFill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B050"/>
                </a:solidFill>
              </a:rPr>
              <a:t>      q=sqrt(disc)/(2.0*a);</a:t>
            </a:r>
            <a:endParaRPr lang="zh-CN" altLang="zh-CN" sz="2800">
              <a:solidFill>
                <a:srgbClr val="00B050"/>
              </a:solidFill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B050"/>
                </a:solidFill>
              </a:rPr>
              <a:t>      x1=p+q;</a:t>
            </a: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B050"/>
                </a:solidFill>
              </a:rPr>
              <a:t>      x2=p-q; </a:t>
            </a:r>
            <a:endParaRPr lang="zh-CN" altLang="zh-CN" sz="2800">
              <a:solidFill>
                <a:srgbClr val="00B050"/>
              </a:solidFill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B050"/>
                </a:solidFill>
              </a:rPr>
              <a:t>      printf(“real roots:\nx1=%7.2f\n</a:t>
            </a: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B050"/>
                </a:solidFill>
              </a:rPr>
              <a:t>                         x2=%7.2f\n”,x1,x2);   </a:t>
            </a:r>
            <a:endParaRPr lang="zh-CN" altLang="zh-CN" sz="2800">
              <a:solidFill>
                <a:srgbClr val="00B050"/>
              </a:solidFill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B050"/>
                </a:solidFill>
              </a:rPr>
              <a:t>   }</a:t>
            </a:r>
            <a:endParaRPr lang="zh-CN" altLang="zh-CN" sz="2800">
              <a:solidFill>
                <a:srgbClr val="00B050"/>
              </a:solidFill>
            </a:endParaRPr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return 0;</a:t>
            </a:r>
            <a:endParaRPr lang="zh-CN" altLang="zh-CN" sz="2800"/>
          </a:p>
          <a:p>
            <a:pPr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}</a:t>
            </a:r>
          </a:p>
        </p:txBody>
      </p:sp>
      <p:sp>
        <p:nvSpPr>
          <p:cNvPr id="1638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38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286250" y="5786438"/>
            <a:ext cx="20002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复合语句</a:t>
            </a: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714375" y="2214563"/>
            <a:ext cx="7572375" cy="34290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14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714375" y="785813"/>
            <a:ext cx="8001000" cy="830262"/>
          </a:xfrm>
          <a:effectLst/>
        </p:spPr>
        <p:txBody>
          <a:bodyPr anchor="ctr"/>
          <a:lstStyle/>
          <a:p>
            <a:pPr eaLnBrk="1" hangingPunct="1"/>
            <a:r>
              <a:rPr lang="en-US" altLang="zh-CN" b="1" kern="12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4.1.2</a:t>
            </a:r>
            <a:r>
              <a:rPr lang="zh-CN" altLang="zh-CN" b="1" kern="12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关系</a:t>
            </a:r>
            <a:r>
              <a:rPr lang="zh-CN" altLang="zh-CN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运算符和关系表达式</a:t>
            </a:r>
            <a:endParaRPr lang="zh-CN" altLang="en-US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5813" y="2214563"/>
            <a:ext cx="7429500" cy="1928812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3600" dirty="0" smtClean="0"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关系</a:t>
            </a:r>
            <a:r>
              <a:rPr lang="zh-CN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运算符及其优先次序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3600" dirty="0" smtClean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关系</a:t>
            </a:r>
            <a:r>
              <a:rPr lang="zh-CN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表达式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84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84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15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24275" y="0"/>
            <a:ext cx="8429625" cy="836712"/>
          </a:xfrm>
          <a:effectLst/>
        </p:spPr>
        <p:txBody>
          <a:bodyPr anchor="ctr"/>
          <a:lstStyle/>
          <a:p>
            <a:pPr algn="l" eaLnBrk="1" hangingPunct="1"/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4.1.2</a:t>
            </a:r>
            <a:r>
              <a:rPr lang="zh-CN" altLang="zh-CN" sz="4000" b="1" kern="12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关系</a:t>
            </a:r>
            <a:r>
              <a:rPr lang="zh-CN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运算符及其优先次序</a:t>
            </a:r>
            <a:endParaRPr lang="zh-CN" altLang="en-US" sz="40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940762"/>
            <a:ext cx="7429500" cy="4500562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关系运算符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用来对两个数值进行比较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比较运算符</a:t>
            </a:r>
            <a:endParaRPr lang="en-US" altLang="zh-CN" sz="28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Ｃ语言提供６种关系运算符：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＜</a:t>
            </a: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(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小于</a:t>
            </a: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  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＜</a:t>
            </a: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    (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小于或等于</a:t>
            </a: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  </a:t>
            </a:r>
            <a:endParaRPr lang="zh-CN" altLang="zh-CN" sz="28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＞</a:t>
            </a: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(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大于</a:t>
            </a: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  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＞</a:t>
            </a: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    (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大于或等于</a:t>
            </a: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lang="zh-CN" altLang="zh-CN" sz="28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zh-CN" sz="2800" dirty="0">
              <a:solidFill>
                <a:srgbClr val="9D138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zh-CN" altLang="zh-CN" sz="2800" dirty="0">
                <a:solidFill>
                  <a:srgbClr val="9D138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⑤</a:t>
            </a:r>
            <a:r>
              <a:rPr lang="en-US" altLang="zh-CN" sz="2800" dirty="0">
                <a:solidFill>
                  <a:srgbClr val="9D138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==   (</a:t>
            </a:r>
            <a:r>
              <a:rPr lang="zh-CN" altLang="zh-CN" sz="2800" dirty="0">
                <a:solidFill>
                  <a:srgbClr val="9D138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等于</a:t>
            </a:r>
            <a:r>
              <a:rPr lang="en-US" altLang="zh-CN" sz="2800" dirty="0">
                <a:solidFill>
                  <a:srgbClr val="9D138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     </a:t>
            </a:r>
            <a:r>
              <a:rPr lang="zh-CN" altLang="zh-CN" sz="2800" dirty="0">
                <a:solidFill>
                  <a:srgbClr val="9D138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⑥</a:t>
            </a:r>
            <a:r>
              <a:rPr lang="en-US" altLang="zh-CN" sz="2800" dirty="0">
                <a:solidFill>
                  <a:srgbClr val="9D138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!=   (</a:t>
            </a:r>
            <a:r>
              <a:rPr lang="zh-CN" altLang="zh-CN" sz="2800" dirty="0">
                <a:solidFill>
                  <a:srgbClr val="9D138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不等于</a:t>
            </a:r>
            <a:r>
              <a:rPr lang="en-US" altLang="zh-CN" sz="2800" dirty="0">
                <a:solidFill>
                  <a:srgbClr val="9D138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</p:txBody>
      </p:sp>
      <p:sp>
        <p:nvSpPr>
          <p:cNvPr id="3686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285998" y="3900838"/>
            <a:ext cx="3071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优先级相同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071563" y="2636912"/>
            <a:ext cx="6164734" cy="1008112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071563" y="4666216"/>
            <a:ext cx="6164735" cy="498921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286000" y="5301208"/>
            <a:ext cx="3071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优先级相同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800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875" name="图片 10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16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980728"/>
            <a:ext cx="7429500" cy="785812"/>
          </a:xfrm>
        </p:spPr>
        <p:txBody>
          <a:bodyPr/>
          <a:lstStyle/>
          <a:p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算术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赋值运算符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的优先级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zh-CN" dirty="0">
              <a:solidFill>
                <a:srgbClr val="9D138D"/>
              </a:solidFill>
            </a:endParaRPr>
          </a:p>
        </p:txBody>
      </p:sp>
      <p:sp>
        <p:nvSpPr>
          <p:cNvPr id="3789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789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789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组合 15"/>
          <p:cNvGrpSpPr/>
          <p:nvPr/>
        </p:nvGrpSpPr>
        <p:grpSpPr bwMode="auto">
          <a:xfrm>
            <a:off x="683568" y="1933947"/>
            <a:ext cx="3643313" cy="2143125"/>
            <a:chOff x="1785918" y="2715414"/>
            <a:chExt cx="3643338" cy="2143140"/>
          </a:xfrm>
        </p:grpSpPr>
        <p:sp>
          <p:nvSpPr>
            <p:cNvPr id="37897" name="TextBox 10"/>
            <p:cNvSpPr txBox="1">
              <a:spLocks noChangeArrowheads="1"/>
            </p:cNvSpPr>
            <p:nvPr/>
          </p:nvSpPr>
          <p:spPr bwMode="auto">
            <a:xfrm>
              <a:off x="1785918" y="2786058"/>
              <a:ext cx="364333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算术运算符      </a:t>
              </a:r>
              <a:r>
                <a:rPr lang="en-US" altLang="zh-CN" sz="28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28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</a:t>
              </a:r>
              <a:r>
                <a:rPr lang="en-US" altLang="zh-CN" sz="28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zh-CN" altLang="en-US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898" name="TextBox 11"/>
            <p:cNvSpPr txBox="1">
              <a:spLocks noChangeArrowheads="1"/>
            </p:cNvSpPr>
            <p:nvPr/>
          </p:nvSpPr>
          <p:spPr bwMode="auto">
            <a:xfrm>
              <a:off x="1785918" y="4286256"/>
              <a:ext cx="364333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赋值运算符      </a:t>
              </a:r>
              <a:r>
                <a:rPr lang="en-US" altLang="zh-CN" sz="2800" b="1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2800" b="1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低</a:t>
              </a:r>
              <a:r>
                <a:rPr lang="en-US" altLang="zh-CN" sz="2800" b="1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zh-CN" altLang="en-US" sz="28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899" name="TextBox 12"/>
            <p:cNvSpPr txBox="1">
              <a:spLocks noChangeArrowheads="1"/>
            </p:cNvSpPr>
            <p:nvPr/>
          </p:nvSpPr>
          <p:spPr bwMode="auto">
            <a:xfrm>
              <a:off x="1823496" y="3579312"/>
              <a:ext cx="214314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>
                  <a:solidFill>
                    <a:srgbClr val="0000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关系运算符 </a:t>
              </a:r>
            </a:p>
          </p:txBody>
        </p:sp>
        <p:cxnSp>
          <p:nvCxnSpPr>
            <p:cNvPr id="37900" name="直接箭头连接符 14"/>
            <p:cNvCxnSpPr>
              <a:cxnSpLocks noChangeShapeType="1"/>
            </p:cNvCxnSpPr>
            <p:nvPr/>
          </p:nvCxnSpPr>
          <p:spPr bwMode="auto">
            <a:xfrm rot="5400000" flipH="1" flipV="1">
              <a:off x="2857488" y="3786190"/>
              <a:ext cx="2143140" cy="1588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miter lim="800000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37896" name="图片 11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24275" y="0"/>
            <a:ext cx="8429625" cy="836712"/>
          </a:xfrm>
          <a:effectLst/>
        </p:spPr>
        <p:txBody>
          <a:bodyPr anchor="ctr"/>
          <a:lstStyle/>
          <a:p>
            <a:pPr algn="l" eaLnBrk="1" hangingPunct="1"/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4.1.2</a:t>
            </a:r>
            <a:r>
              <a:rPr lang="zh-CN" altLang="zh-CN" sz="4000" b="1" kern="12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关系</a:t>
            </a:r>
            <a:r>
              <a:rPr lang="zh-CN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运算符及其优先次序</a:t>
            </a:r>
            <a:endParaRPr lang="zh-CN" altLang="en-US" sz="40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3950362" y="3526110"/>
            <a:ext cx="5193637" cy="213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c&gt;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a+b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等效于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c&gt;(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a+b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a&gt;b==c   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等效于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(a&gt;b)==c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a==b&lt;c   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等效于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a==(b&lt;c)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a=b&gt;c     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等效于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a=(b&gt;c)</a:t>
            </a:r>
            <a:endParaRPr lang="en-US" altLang="zh-CN" sz="2800" dirty="0">
              <a:solidFill>
                <a:srgbClr val="9D138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17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429625" cy="831850"/>
          </a:xfrm>
          <a:effectLst/>
        </p:spPr>
        <p:txBody>
          <a:bodyPr anchor="ctr"/>
          <a:lstStyle/>
          <a:p>
            <a:pPr algn="l" eaLnBrk="1" hangingPunct="1"/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4.1.2</a:t>
            </a:r>
            <a:r>
              <a:rPr lang="zh-CN" altLang="zh-CN" sz="4000" b="1" kern="12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关系</a:t>
            </a:r>
            <a:r>
              <a:rPr lang="zh-CN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表达式</a:t>
            </a:r>
            <a:endParaRPr lang="zh-CN" altLang="en-US" sz="40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4001" y="836712"/>
            <a:ext cx="8575997" cy="4071937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关系表达式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用关系运算符将两个数值或数值表达式连接起来的式子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关系表达式的值是一个逻辑值，即“</a:t>
            </a:r>
            <a:r>
              <a:rPr lang="zh-CN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”或“</a:t>
            </a:r>
            <a:r>
              <a:rPr lang="zh-CN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的逻辑运算中，以“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１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”代表“</a:t>
            </a:r>
            <a:r>
              <a:rPr lang="zh-CN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”，以“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０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”代表“</a:t>
            </a:r>
            <a:r>
              <a:rPr lang="zh-CN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2800" dirty="0">
              <a:solidFill>
                <a:srgbClr val="9D138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94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994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994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39943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18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88" y="827088"/>
            <a:ext cx="8429625" cy="831850"/>
          </a:xfrm>
          <a:effectLst/>
        </p:spPr>
        <p:txBody>
          <a:bodyPr anchor="ctr"/>
          <a:lstStyle/>
          <a:p>
            <a:pPr eaLnBrk="1" hangingPunct="1"/>
            <a:r>
              <a:rPr lang="en-US" altLang="zh-CN" b="1" kern="12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4.1.3</a:t>
            </a:r>
            <a:r>
              <a:rPr lang="en-US" altLang="zh-CN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逻辑运算符和逻辑表达式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1640" y="2060848"/>
            <a:ext cx="7286625" cy="27146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3600" dirty="0" smtClean="0"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逻辑运算</a:t>
            </a:r>
            <a:r>
              <a:rPr lang="zh-CN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符及其优先次序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3600" dirty="0" smtClean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逻辑表达式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3600" dirty="0" smtClean="0">
                <a:latin typeface="微软雅黑" panose="020B0503020204020204" pitchFamily="34" charset="-122"/>
                <a:ea typeface="微软雅黑" panose="020B0503020204020204" pitchFamily="34" charset="-122"/>
                <a:hlinkClick r:id="rId4" action="ppaction://hlinksldjump"/>
              </a:rPr>
              <a:t>逻辑</a:t>
            </a:r>
            <a:r>
              <a:rPr lang="zh-CN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hlinkClick r:id="rId4" action="ppaction://hlinksldjump"/>
              </a:rPr>
              <a:t>型变量</a:t>
            </a:r>
            <a:endParaRPr lang="en-US" altLang="zh-CN" sz="3600" dirty="0">
              <a:solidFill>
                <a:srgbClr val="9D138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96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096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096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19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-5242" y="1"/>
            <a:ext cx="8572500" cy="836712"/>
          </a:xfrm>
          <a:effectLst/>
        </p:spPr>
        <p:txBody>
          <a:bodyPr anchor="ctr"/>
          <a:lstStyle/>
          <a:p>
            <a:pPr algn="l" eaLnBrk="1" hangingPunct="1"/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4.1.2</a:t>
            </a:r>
            <a:r>
              <a:rPr lang="en-US" altLang="zh-CN" sz="4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逻辑运算符及其优先次序</a:t>
            </a:r>
            <a:endParaRPr lang="zh-CN" altLang="en-US" sz="4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8656" y="836712"/>
            <a:ext cx="7786687" cy="4500562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种逻辑运算符：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&amp;&amp;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逻辑与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||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逻辑或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!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逻辑非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&amp;&amp;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||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双目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运算符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一目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运算符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逻辑表达式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用逻辑运算符将关系表达式或其他逻辑量连接起来的式子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98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98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99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41991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20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980729"/>
            <a:ext cx="7786688" cy="792088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年龄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岁</a:t>
            </a:r>
            <a:r>
              <a:rPr lang="zh-CN" altLang="en-US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之内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zh-CN" dirty="0">
              <a:solidFill>
                <a:srgbClr val="9D138D"/>
              </a:solidFill>
            </a:endParaRPr>
          </a:p>
        </p:txBody>
      </p:sp>
      <p:sp>
        <p:nvSpPr>
          <p:cNvPr id="4301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301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301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43015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-5242" y="1"/>
            <a:ext cx="8572500" cy="836712"/>
          </a:xfrm>
          <a:effectLst/>
        </p:spPr>
        <p:txBody>
          <a:bodyPr anchor="ctr"/>
          <a:lstStyle/>
          <a:p>
            <a:pPr algn="l" eaLnBrk="1" hangingPunct="1"/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4.1.2</a:t>
            </a:r>
            <a:r>
              <a:rPr lang="en-US" altLang="zh-CN" sz="4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逻辑运算符及其优先次序</a:t>
            </a:r>
            <a:endParaRPr lang="zh-CN" altLang="en-US" sz="4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900449" y="1772816"/>
            <a:ext cx="4932263" cy="7189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age&gt;=13 &amp;&amp; age&lt;=17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zh-CN" dirty="0">
              <a:solidFill>
                <a:srgbClr val="9D138D"/>
              </a:solidFill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539552" y="3304806"/>
            <a:ext cx="5184576" cy="74967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年龄小于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大于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65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zh-CN" dirty="0">
              <a:solidFill>
                <a:srgbClr val="9D138D"/>
              </a:solidFill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971600" y="4146296"/>
            <a:ext cx="5259363" cy="64807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age&lt;12 || age&gt;65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zh-CN" dirty="0">
              <a:solidFill>
                <a:srgbClr val="9D138D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21</a:t>
            </a:fld>
            <a:endParaRPr lang="en-US" altLang="zh-CN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971550" y="2421255"/>
            <a:ext cx="7991475" cy="718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建议写法：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(age&gt;=13) &amp;&amp; (age&lt;=17)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zh-CN" dirty="0">
              <a:solidFill>
                <a:srgbClr val="9D138D"/>
              </a:solidFill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972185" y="4725035"/>
            <a:ext cx="7457440" cy="6483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建议写法：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age&lt;12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||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age&gt;65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zh-CN" dirty="0">
              <a:solidFill>
                <a:srgbClr val="9D138D"/>
              </a:solidFill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403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428624" y="1844824"/>
          <a:ext cx="8286752" cy="3000375"/>
        </p:xfrm>
        <a:graphic>
          <a:graphicData uri="http://schemas.openxmlformats.org/drawingml/2006/table">
            <a:tbl>
              <a:tblPr/>
              <a:tblGrid>
                <a:gridCol w="1214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4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4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3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1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sz="3200" b="1" kern="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3200" b="1" kern="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! a</a:t>
                      </a:r>
                      <a:endParaRPr lang="zh-CN" sz="3200" b="1" kern="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! b</a:t>
                      </a:r>
                      <a:endParaRPr lang="zh-CN" sz="3200" b="1" kern="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&amp;&amp; b</a:t>
                      </a:r>
                      <a:endParaRPr lang="zh-CN" sz="3200" b="1" kern="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|| b </a:t>
                      </a:r>
                      <a:endParaRPr lang="zh-CN" sz="3200" b="1" kern="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2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真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2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真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2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假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2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假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2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真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2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真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2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真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2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假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2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假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2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真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2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假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2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真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2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假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2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真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2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真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2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假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2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假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2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真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2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假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2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假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2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真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2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真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2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假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200" b="1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假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761478" y="908720"/>
            <a:ext cx="4357687" cy="6429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逻辑运算的真值表</a:t>
            </a:r>
            <a:endParaRPr lang="en-US" altLang="zh-CN" sz="2800" b="1" dirty="0">
              <a:solidFill>
                <a:srgbClr val="9D138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4083" name="图片 9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-5242" y="1"/>
            <a:ext cx="8572500" cy="836712"/>
          </a:xfrm>
          <a:effectLst/>
        </p:spPr>
        <p:txBody>
          <a:bodyPr anchor="ctr"/>
          <a:lstStyle/>
          <a:p>
            <a:pPr algn="l" eaLnBrk="1" hangingPunct="1"/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4.1.2</a:t>
            </a:r>
            <a:r>
              <a:rPr lang="en-US" altLang="zh-CN" sz="4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逻辑运算符及其优先次序</a:t>
            </a:r>
            <a:endParaRPr lang="zh-CN" altLang="en-US" sz="4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22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506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506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714374" y="980728"/>
            <a:ext cx="814387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逻辑运算符的优先次序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ct val="20000"/>
              </a:spcBef>
            </a:pPr>
            <a:r>
              <a:rPr lang="en-US" altLang="zh-CN" sz="3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 </a:t>
            </a:r>
            <a:r>
              <a:rPr lang="zh-CN" altLang="zh-CN" sz="3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3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&amp;&amp; </a:t>
            </a:r>
            <a:r>
              <a:rPr lang="zh-CN" altLang="zh-CN" sz="3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32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||          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为三者中最高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与其他运算符的优先次序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ct val="20000"/>
              </a:spcBef>
            </a:pP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1835696" y="3140968"/>
            <a:ext cx="4536504" cy="2643187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        !                    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（高）</a:t>
            </a:r>
            <a:endParaRPr lang="en-US" altLang="zh-CN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算术运算符</a:t>
            </a:r>
            <a:endParaRPr lang="en-US" altLang="zh-CN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关系运算符</a:t>
            </a:r>
            <a:endParaRPr lang="en-US" altLang="zh-CN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  &amp;&amp; 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||</a:t>
            </a:r>
          </a:p>
          <a:p>
            <a:pPr>
              <a:spcBef>
                <a:spcPct val="20000"/>
              </a:spcBef>
            </a:pP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赋值运算符           （低）</a:t>
            </a:r>
            <a:endParaRPr lang="en-US" altLang="zh-CN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ct val="20000"/>
              </a:spcBef>
            </a:pPr>
            <a:endParaRPr lang="en-US" altLang="zh-CN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箭头连接符 10"/>
          <p:cNvCxnSpPr>
            <a:cxnSpLocks noChangeShapeType="1"/>
          </p:cNvCxnSpPr>
          <p:nvPr/>
        </p:nvCxnSpPr>
        <p:spPr bwMode="auto">
          <a:xfrm flipV="1">
            <a:off x="4264571" y="3140968"/>
            <a:ext cx="0" cy="2490788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45065" name="图片 11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-5242" y="1"/>
            <a:ext cx="8572500" cy="836712"/>
          </a:xfrm>
          <a:effectLst/>
        </p:spPr>
        <p:txBody>
          <a:bodyPr anchor="ctr"/>
          <a:lstStyle/>
          <a:p>
            <a:pPr algn="l" eaLnBrk="1" hangingPunct="1"/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4.1.2</a:t>
            </a:r>
            <a:r>
              <a:rPr lang="en-US" altLang="zh-CN" sz="4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逻辑运算符及其优先次序</a:t>
            </a:r>
            <a:endParaRPr lang="zh-CN" altLang="en-US" sz="4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23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608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608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46087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782442" y="5096046"/>
            <a:ext cx="6768752" cy="576064"/>
          </a:xfrm>
          <a:prstGeom prst="rect">
            <a:avLst/>
          </a:prstGeom>
          <a:solidFill>
            <a:schemeClr val="accent1">
              <a:lumMod val="90000"/>
            </a:schemeClr>
          </a:solidFill>
          <a:ln w="9525">
            <a:noFill/>
            <a:miter lim="800000"/>
          </a:ln>
        </p:spPr>
        <p:txBody>
          <a:bodyPr/>
          <a:lstStyle/>
          <a:p>
            <a:pPr>
              <a:defRPr/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注意：任何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非零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的运算量被认作“</a:t>
            </a:r>
            <a:r>
              <a:rPr lang="zh-CN" altLang="en-US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真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”。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358329" y="2071709"/>
            <a:ext cx="8072437" cy="30243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457200" indent="-4572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zh-CN" sz="28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逻辑表达式的值应该是逻辑量“真”或“假”</a:t>
            </a:r>
            <a:endParaRPr lang="en-US" altLang="zh-CN" sz="2800" b="1" kern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457200" indent="-4572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zh-CN" sz="28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编译系统在</a:t>
            </a:r>
            <a:r>
              <a:rPr lang="zh-CN" altLang="zh-CN" sz="2800" b="1" kern="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表示</a:t>
            </a:r>
            <a:r>
              <a:rPr lang="zh-CN" altLang="zh-CN" sz="28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逻辑运算</a:t>
            </a:r>
            <a:r>
              <a:rPr lang="zh-CN" altLang="zh-CN" sz="2800" b="1" kern="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结果</a:t>
            </a:r>
            <a:r>
              <a:rPr lang="zh-CN" altLang="zh-CN" sz="28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时</a:t>
            </a:r>
            <a:endParaRPr lang="en-US" altLang="zh-CN" sz="2800" b="1" kern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914400" lvl="1" indent="-4572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zh-CN" sz="28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以数值</a:t>
            </a: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zh-CN" sz="28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代表“真”，以</a:t>
            </a: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0</a:t>
            </a:r>
            <a:r>
              <a:rPr lang="zh-CN" altLang="zh-CN" sz="28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代表“假”</a:t>
            </a:r>
            <a:r>
              <a:rPr lang="zh-CN" altLang="en-US" sz="28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  <a:endParaRPr lang="en-US" altLang="zh-CN" sz="2800" b="1" kern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457200" indent="-4572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zh-CN" sz="28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但在</a:t>
            </a:r>
            <a:r>
              <a:rPr lang="zh-CN" altLang="zh-CN" sz="2800" b="1" kern="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判断</a:t>
            </a:r>
            <a:r>
              <a:rPr lang="zh-CN" altLang="zh-CN" sz="28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一个量是否为“真”时</a:t>
            </a:r>
            <a:endParaRPr lang="en-US" altLang="zh-CN" sz="2800" b="1" kern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914400" lvl="1" indent="-4572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zh-CN" sz="28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以</a:t>
            </a:r>
            <a:r>
              <a:rPr lang="en-US" altLang="zh-CN" sz="28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0</a:t>
            </a:r>
            <a:r>
              <a:rPr lang="zh-CN" altLang="zh-CN" sz="28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代表“假”，以</a:t>
            </a:r>
            <a:r>
              <a:rPr lang="zh-CN" altLang="zh-CN" sz="2800" b="1" kern="0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非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0</a:t>
            </a:r>
            <a:r>
              <a:rPr lang="zh-CN" altLang="zh-CN" sz="28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代表“真”</a:t>
            </a:r>
            <a:r>
              <a:rPr lang="zh-CN" altLang="en-US" sz="28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  <a:endParaRPr lang="en-US" altLang="zh-CN" sz="2800" b="1" kern="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358329" y="980728"/>
            <a:ext cx="8678167" cy="1780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indent="-45720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n"/>
            </a:pPr>
            <a:r>
              <a:rPr lang="zh-CN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用逻辑运算符将关系表达式或其他逻辑量连接起来的式子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  <a:endParaRPr lang="en-US" altLang="zh-CN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-8709" y="0"/>
            <a:ext cx="8429625" cy="831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9pPr>
          </a:lstStyle>
          <a:p>
            <a:pPr algn="l"/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4.1.2</a:t>
            </a:r>
            <a:r>
              <a:rPr lang="en-US" altLang="zh-CN" sz="4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逻辑表达式</a:t>
            </a:r>
            <a:endParaRPr lang="zh-CN" altLang="en-US" sz="4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24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-8709" y="0"/>
            <a:ext cx="8429625" cy="831850"/>
          </a:xfrm>
          <a:effectLst/>
        </p:spPr>
        <p:txBody>
          <a:bodyPr anchor="ctr"/>
          <a:lstStyle/>
          <a:p>
            <a:pPr algn="l" eaLnBrk="1" hangingPunct="1"/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4.1.2</a:t>
            </a:r>
            <a:r>
              <a:rPr lang="en-US" altLang="zh-CN" sz="4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逻辑表达式</a:t>
            </a:r>
            <a:endParaRPr lang="zh-CN" altLang="en-US" sz="4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10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710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711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47111" name="图片 6" descr="Untitled2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611560" y="764704"/>
            <a:ext cx="7488832" cy="3240360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lIns="90000" tIns="46800" rIns="90000" bIns="46800"/>
          <a:lstStyle/>
          <a:p>
            <a:pPr marL="285750" indent="-285750">
              <a:spcBef>
                <a:spcPct val="20000"/>
              </a:spcBef>
              <a:buClr>
                <a:srgbClr val="339933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例 若　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a=4;b=5;</a:t>
            </a:r>
          </a:p>
          <a:p>
            <a:pPr marL="285750" indent="-285750">
              <a:spcBef>
                <a:spcPct val="20000"/>
              </a:spcBef>
              <a:buClr>
                <a:srgbClr val="339933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      !a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285750" indent="-285750">
              <a:spcBef>
                <a:spcPct val="20000"/>
              </a:spcBef>
              <a:buClr>
                <a:srgbClr val="339933"/>
              </a:buClr>
              <a:buFont typeface="Wingdings" panose="05000000000000000000" pitchFamily="2" charset="2"/>
              <a:buNone/>
            </a:pPr>
            <a:r>
              <a:rPr lang="en-US" altLang="zh-CN" sz="2800" b="1" dirty="0"/>
              <a:t>          a&amp;&amp;b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285750" indent="-285750">
              <a:spcBef>
                <a:spcPct val="20000"/>
              </a:spcBef>
              <a:buClr>
                <a:srgbClr val="339933"/>
              </a:buClr>
            </a:pP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      a||b</a:t>
            </a:r>
          </a:p>
          <a:p>
            <a:pPr marL="285750" indent="-285750">
              <a:spcBef>
                <a:spcPct val="20000"/>
              </a:spcBef>
              <a:buClr>
                <a:srgbClr val="339933"/>
              </a:buClr>
            </a:pP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　　 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!a||b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　　　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285750" indent="-285750">
              <a:spcBef>
                <a:spcPct val="20000"/>
              </a:spcBef>
              <a:buClr>
                <a:srgbClr val="339933"/>
              </a:buClr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     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4&amp;&amp;0||2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3571875" y="1340768"/>
            <a:ext cx="971550" cy="463550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wrap="none" lIns="90000" tIns="46800" rIns="90000" bIns="46800">
            <a:spAutoFit/>
          </a:bodyPr>
          <a:lstStyle/>
          <a:p>
            <a:r>
              <a:rPr lang="zh-CN" altLang="zh-CN" b="1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值为</a:t>
            </a:r>
            <a:r>
              <a:rPr lang="en-US" altLang="zh-CN" b="1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0</a:t>
            </a:r>
          </a:p>
        </p:txBody>
      </p:sp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3571875" y="1840831"/>
            <a:ext cx="955675" cy="463550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wrap="none" lIns="90000" tIns="46800" rIns="90000" bIns="46800">
            <a:spAutoFit/>
          </a:bodyPr>
          <a:lstStyle/>
          <a:p>
            <a:r>
              <a:rPr lang="zh-CN" altLang="zh-CN" b="1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值为</a:t>
            </a:r>
            <a:r>
              <a:rPr lang="en-US" altLang="zh-CN" b="1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</a:p>
        </p:txBody>
      </p:sp>
      <p:sp>
        <p:nvSpPr>
          <p:cNvPr id="17" name="Text Box 19"/>
          <p:cNvSpPr txBox="1">
            <a:spLocks noChangeArrowheads="1"/>
          </p:cNvSpPr>
          <p:nvPr/>
        </p:nvSpPr>
        <p:spPr bwMode="auto">
          <a:xfrm>
            <a:off x="3571875" y="3381524"/>
            <a:ext cx="971550" cy="463550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wrap="none" lIns="90000" tIns="46800" rIns="90000" bIns="46800">
            <a:spAutoFit/>
          </a:bodyPr>
          <a:lstStyle/>
          <a:p>
            <a:r>
              <a:rPr lang="zh-CN" altLang="zh-CN" b="1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值为1</a:t>
            </a:r>
            <a:endParaRPr lang="en-US" altLang="zh-CN" b="1" dirty="0">
              <a:solidFill>
                <a:srgbClr val="0000FF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8" name="Text Box 21"/>
          <p:cNvSpPr txBox="1">
            <a:spLocks noChangeArrowheads="1"/>
          </p:cNvSpPr>
          <p:nvPr/>
        </p:nvSpPr>
        <p:spPr bwMode="auto">
          <a:xfrm>
            <a:off x="3571875" y="2881462"/>
            <a:ext cx="955675" cy="463550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wrap="none" lIns="90000" tIns="46800" rIns="90000" bIns="46800">
            <a:spAutoFit/>
          </a:bodyPr>
          <a:lstStyle/>
          <a:p>
            <a:r>
              <a:rPr lang="zh-CN" altLang="zh-CN" b="1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值为1</a:t>
            </a:r>
            <a:endParaRPr lang="en-US" altLang="zh-CN" b="1" dirty="0">
              <a:solidFill>
                <a:srgbClr val="0000FF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9" name="Text Box 21"/>
          <p:cNvSpPr txBox="1">
            <a:spLocks noChangeArrowheads="1"/>
          </p:cNvSpPr>
          <p:nvPr/>
        </p:nvSpPr>
        <p:spPr bwMode="auto">
          <a:xfrm>
            <a:off x="3558048" y="2368910"/>
            <a:ext cx="955675" cy="463550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wrap="none" lIns="90000" tIns="46800" rIns="90000" bIns="46800">
            <a:spAutoFit/>
          </a:bodyPr>
          <a:lstStyle/>
          <a:p>
            <a:r>
              <a:rPr lang="zh-CN" altLang="zh-CN" b="1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值为1</a:t>
            </a:r>
            <a:endParaRPr lang="en-US" altLang="zh-CN" b="1" dirty="0">
              <a:solidFill>
                <a:srgbClr val="0000FF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25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build="p" autoUpdateAnimBg="0"/>
      <p:bldP spid="16" grpId="0" build="p" autoUpdateAnimBg="0"/>
      <p:bldP spid="17" grpId="0" build="p" autoUpdateAnimBg="0"/>
      <p:bldP spid="18" grpId="0" build="p" autoUpdateAnimBg="0"/>
      <p:bldP spid="19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836712"/>
            <a:ext cx="5643563" cy="785813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修改后的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逻辑运算真值表</a:t>
            </a:r>
            <a:endParaRPr lang="en-US" altLang="zh-CN" sz="2800" dirty="0">
              <a:solidFill>
                <a:srgbClr val="9D138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altLang="zh-CN" sz="2800" dirty="0">
              <a:solidFill>
                <a:srgbClr val="9D138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13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813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813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750093" y="1649338"/>
          <a:ext cx="7643814" cy="2571750"/>
        </p:xfrm>
        <a:graphic>
          <a:graphicData uri="http://schemas.openxmlformats.org/drawingml/2006/table">
            <a:tbl>
              <a:tblPr/>
              <a:tblGrid>
                <a:gridCol w="1071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8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4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39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35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sz="2800" b="1" kern="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2800" b="1" kern="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! a</a:t>
                      </a:r>
                      <a:endParaRPr lang="zh-CN" sz="2800" b="1" kern="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! b</a:t>
                      </a:r>
                      <a:endParaRPr lang="zh-CN" sz="2800" b="1" kern="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&amp;&amp; b</a:t>
                      </a:r>
                      <a:endParaRPr lang="zh-CN" sz="2800" b="1" kern="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|| b </a:t>
                      </a:r>
                      <a:endParaRPr lang="zh-CN" sz="2800" b="1" kern="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</a:t>
                      </a:r>
                      <a:r>
                        <a:rPr lang="en-US" sz="2800" b="1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sz="2800" b="1" kern="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</a:t>
                      </a:r>
                      <a:r>
                        <a:rPr lang="en-US" sz="28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sz="2800" b="1" kern="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sz="2800" b="1" kern="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sz="2800" b="1" kern="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2800" b="1" kern="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2800" b="1" kern="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</a:t>
                      </a:r>
                      <a:r>
                        <a:rPr lang="en-US" sz="28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sz="2800" b="1" kern="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sz="2800" b="1" kern="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sz="2800" b="1" kern="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2800" b="1" kern="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sz="2800" b="1" kern="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2800" b="1" kern="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假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</a:t>
                      </a:r>
                      <a:r>
                        <a:rPr lang="en-US" sz="28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sz="2800" b="1" kern="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66725" algn="just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2800" b="1" kern="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sz="2800" b="1" kern="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sz="2800" b="1" kern="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2800" b="1" kern="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假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sz="2800" b="1" kern="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66725" algn="just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2800" b="1" kern="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2800" b="1" kern="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sz="2800" b="1" kern="1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sz="2800" b="1" kern="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8179" name="图片 7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-8709" y="0"/>
            <a:ext cx="8429625" cy="831850"/>
          </a:xfrm>
          <a:effectLst/>
        </p:spPr>
        <p:txBody>
          <a:bodyPr anchor="ctr"/>
          <a:lstStyle/>
          <a:p>
            <a:pPr algn="l" eaLnBrk="1" hangingPunct="1"/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4.1.2</a:t>
            </a:r>
            <a:r>
              <a:rPr lang="en-US" altLang="zh-CN" sz="4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逻辑表达式</a:t>
            </a:r>
            <a:endParaRPr lang="zh-CN" altLang="en-US" sz="4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内容占位符 2"/>
          <p:cNvSpPr txBox="1"/>
          <p:nvPr/>
        </p:nvSpPr>
        <p:spPr bwMode="auto">
          <a:xfrm>
            <a:off x="179388" y="5210671"/>
            <a:ext cx="5178425" cy="803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>
                <a:latin typeface="黑体" panose="02010609060101010101" pitchFamily="2" charset="-122"/>
                <a:ea typeface="黑体" panose="02010609060101010101" pitchFamily="2" charset="-122"/>
              </a:rPr>
              <a:t>1、</a:t>
            </a:r>
            <a:r>
              <a:rPr lang="zh-CN" altLang="en-US" sz="2800">
                <a:latin typeface="黑体" panose="02010609060101010101" pitchFamily="2" charset="-122"/>
                <a:ea typeface="黑体" panose="02010609060101010101" pitchFamily="2" charset="-122"/>
              </a:rPr>
              <a:t>表达式</a:t>
            </a:r>
            <a:r>
              <a:rPr lang="en-US" altLang="zh-CN" sz="2800">
                <a:latin typeface="黑体" panose="02010609060101010101" pitchFamily="2" charset="-122"/>
                <a:ea typeface="黑体" panose="02010609060101010101" pitchFamily="2" charset="-122"/>
              </a:rPr>
              <a:t>5&gt;3&amp;&amp;8&lt;4-!0</a:t>
            </a:r>
            <a:r>
              <a:rPr lang="zh-CN" altLang="en-US" sz="2800">
                <a:latin typeface="黑体" panose="02010609060101010101" pitchFamily="2" charset="-122"/>
                <a:ea typeface="黑体" panose="02010609060101010101" pitchFamily="2" charset="-122"/>
              </a:rPr>
              <a:t>的值为：                      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1" name="标题 1"/>
          <p:cNvSpPr txBox="1"/>
          <p:nvPr/>
        </p:nvSpPr>
        <p:spPr bwMode="auto">
          <a:xfrm>
            <a:off x="785813" y="4293096"/>
            <a:ext cx="7705725" cy="72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9pPr>
          </a:lstStyle>
          <a:p>
            <a:r>
              <a:rPr lang="zh-CN" altLang="en-US" sz="40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习题</a:t>
            </a:r>
          </a:p>
        </p:txBody>
      </p:sp>
      <p:sp>
        <p:nvSpPr>
          <p:cNvPr id="12" name="TextBox 12"/>
          <p:cNvSpPr txBox="1">
            <a:spLocks noChangeArrowheads="1"/>
          </p:cNvSpPr>
          <p:nvPr/>
        </p:nvSpPr>
        <p:spPr bwMode="auto">
          <a:xfrm>
            <a:off x="5143500" y="5299571"/>
            <a:ext cx="1071563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 b="1" dirty="0"/>
              <a:t>0</a:t>
            </a:r>
            <a:endParaRPr lang="zh-CN" altLang="en-US" sz="28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26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02021" y="2614915"/>
            <a:ext cx="7924800" cy="648072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buFontTx/>
              <a:buNone/>
            </a:pPr>
            <a:r>
              <a:rPr lang="en-US" altLang="zh-CN" sz="2800" dirty="0">
                <a:latin typeface="宋体" panose="02010600030101010101" pitchFamily="2" charset="-122"/>
              </a:rPr>
              <a:t>(1) </a:t>
            </a:r>
            <a:r>
              <a:rPr lang="en-US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n</a:t>
            </a: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是小于</a:t>
            </a:r>
            <a:r>
              <a:rPr lang="en-US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m</a:t>
            </a: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的偶数：</a:t>
            </a:r>
          </a:p>
          <a:p>
            <a:pPr algn="just" eaLnBrk="1" hangingPunct="1">
              <a:lnSpc>
                <a:spcPct val="150000"/>
              </a:lnSpc>
              <a:buFontTx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      </a:t>
            </a:r>
            <a:r>
              <a:rPr lang="zh-CN" altLang="en-US" sz="2800" dirty="0"/>
              <a:t>             </a:t>
            </a:r>
          </a:p>
        </p:txBody>
      </p:sp>
      <p:sp>
        <p:nvSpPr>
          <p:cNvPr id="33798" name="AutoShape 6"/>
          <p:cNvSpPr>
            <a:spLocks noChangeArrowheads="1"/>
          </p:cNvSpPr>
          <p:nvPr/>
        </p:nvSpPr>
        <p:spPr bwMode="auto">
          <a:xfrm>
            <a:off x="546375" y="1664521"/>
            <a:ext cx="2438400" cy="914400"/>
          </a:xfrm>
          <a:prstGeom prst="horizontalScroll">
            <a:avLst>
              <a:gd name="adj" fmla="val 12500"/>
            </a:avLst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rect">
              <a:fillToRect l="50000" t="50000" r="50000" b="50000"/>
            </a:path>
          </a:gradFill>
          <a:ln w="38100">
            <a:solidFill>
              <a:srgbClr val="FFCC00"/>
            </a:solidFill>
            <a:round/>
          </a:ln>
        </p:spPr>
        <p:txBody>
          <a:bodyPr wrap="none" anchor="ctr"/>
          <a:lstStyle/>
          <a:p>
            <a:pPr algn="ctr" eaLnBrk="0" hangingPunct="0"/>
            <a:r>
              <a:rPr lang="zh-CN" altLang="en-US" sz="2800" b="1" dirty="0">
                <a:solidFill>
                  <a:srgbClr val="CCFF33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例如：</a:t>
            </a:r>
          </a:p>
        </p:txBody>
      </p:sp>
      <p:sp>
        <p:nvSpPr>
          <p:cNvPr id="33799" name="Rectangle 7"/>
          <p:cNvSpPr>
            <a:spLocks noChangeArrowheads="1"/>
          </p:cNvSpPr>
          <p:nvPr/>
        </p:nvSpPr>
        <p:spPr bwMode="auto">
          <a:xfrm>
            <a:off x="433311" y="846561"/>
            <a:ext cx="7720013" cy="5794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逻辑表达式一般用于控制语句中的条件</a:t>
            </a: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</a:rPr>
              <a:t>：</a:t>
            </a:r>
          </a:p>
        </p:txBody>
      </p:sp>
      <p:sp>
        <p:nvSpPr>
          <p:cNvPr id="33802" name="Rectangle 10"/>
          <p:cNvSpPr>
            <a:spLocks noChangeArrowheads="1"/>
          </p:cNvSpPr>
          <p:nvPr/>
        </p:nvSpPr>
        <p:spPr bwMode="auto">
          <a:xfrm>
            <a:off x="2051720" y="3826368"/>
            <a:ext cx="3157538" cy="530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3200" b="1" dirty="0">
                <a:ea typeface="黑体" panose="02010609060101010101" pitchFamily="2" charset="-122"/>
              </a:rPr>
              <a:t>n&lt;m&amp;&amp;n%2==0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-8709" y="0"/>
            <a:ext cx="8429625" cy="831850"/>
          </a:xfrm>
          <a:effectLst/>
        </p:spPr>
        <p:txBody>
          <a:bodyPr anchor="ctr"/>
          <a:lstStyle/>
          <a:p>
            <a:pPr algn="l" eaLnBrk="1" hangingPunct="1"/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4.1.2</a:t>
            </a:r>
            <a:r>
              <a:rPr lang="en-US" altLang="zh-CN" sz="4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逻辑表达式</a:t>
            </a:r>
            <a:endParaRPr lang="zh-CN" altLang="en-US" sz="4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27</a:t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37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37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 autoUpdateAnimBg="0"/>
      <p:bldP spid="33798" grpId="0" animBg="1" autoUpdateAnimBg="0"/>
      <p:bldP spid="33799" grpId="0" autoUpdateAnimBg="0"/>
      <p:bldP spid="33802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AutoShape 6"/>
          <p:cNvSpPr>
            <a:spLocks noChangeArrowheads="1"/>
          </p:cNvSpPr>
          <p:nvPr/>
        </p:nvSpPr>
        <p:spPr bwMode="auto">
          <a:xfrm>
            <a:off x="531644" y="620688"/>
            <a:ext cx="2438400" cy="914400"/>
          </a:xfrm>
          <a:prstGeom prst="horizontalScroll">
            <a:avLst>
              <a:gd name="adj" fmla="val 12500"/>
            </a:avLst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path path="rect">
              <a:fillToRect l="50000" t="50000" r="50000" b="50000"/>
            </a:path>
          </a:gradFill>
          <a:ln w="38100">
            <a:solidFill>
              <a:srgbClr val="FFCC00"/>
            </a:solidFill>
            <a:round/>
          </a:ln>
        </p:spPr>
        <p:txBody>
          <a:bodyPr wrap="none" anchor="ctr"/>
          <a:lstStyle/>
          <a:p>
            <a:pPr algn="ctr" eaLnBrk="0" hangingPunct="0"/>
            <a:r>
              <a:rPr lang="zh-CN" altLang="en-US" sz="2800" b="1" dirty="0">
                <a:solidFill>
                  <a:srgbClr val="CCFF33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例如：</a:t>
            </a:r>
          </a:p>
        </p:txBody>
      </p:sp>
      <p:sp>
        <p:nvSpPr>
          <p:cNvPr id="33801" name="Rectangle 9"/>
          <p:cNvSpPr>
            <a:spLocks noChangeArrowheads="1"/>
          </p:cNvSpPr>
          <p:nvPr/>
        </p:nvSpPr>
        <p:spPr bwMode="auto">
          <a:xfrm>
            <a:off x="311134" y="1772816"/>
            <a:ext cx="8763000" cy="23452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3200" b="1" dirty="0">
                <a:latin typeface="宋体" panose="02010600030101010101" pitchFamily="2" charset="-122"/>
              </a:rPr>
              <a:t>(2) 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year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是闰年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:</a:t>
            </a:r>
          </a:p>
          <a:p>
            <a:pPr marL="457200" indent="-4572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zh-CN" sz="28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闰年的条件是符合下面二者之一：</a:t>
            </a:r>
            <a:endParaRPr lang="en-US" altLang="zh-CN" sz="2800" b="1" kern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742950" lvl="1" indent="-28575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zh-CN" altLang="zh-CN" sz="28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①</a:t>
            </a:r>
            <a:r>
              <a:rPr lang="zh-CN" altLang="zh-CN" sz="2800" b="1" kern="0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能被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4</a:t>
            </a:r>
            <a:r>
              <a:rPr lang="zh-CN" altLang="zh-CN" sz="2800" b="1" kern="0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整除，但不能被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100</a:t>
            </a:r>
            <a:r>
              <a:rPr lang="zh-CN" altLang="zh-CN" sz="2800" b="1" kern="0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整除</a:t>
            </a:r>
            <a:r>
              <a:rPr lang="zh-CN" altLang="zh-CN" sz="28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，如</a:t>
            </a:r>
            <a:r>
              <a:rPr lang="en-US" altLang="zh-CN" sz="28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2008</a:t>
            </a:r>
          </a:p>
          <a:p>
            <a:pPr marL="742950" lvl="1" indent="-28575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zh-CN" altLang="zh-CN" sz="28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②</a:t>
            </a:r>
            <a:r>
              <a:rPr lang="zh-CN" altLang="zh-CN" sz="2800" b="1" kern="0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能被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400</a:t>
            </a:r>
            <a:r>
              <a:rPr lang="zh-CN" altLang="zh-CN" sz="2800" b="1" kern="0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整除</a:t>
            </a:r>
            <a:r>
              <a:rPr lang="zh-CN" altLang="zh-CN" sz="28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，如</a:t>
            </a:r>
            <a:r>
              <a:rPr lang="en-US" altLang="zh-CN" sz="28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2000</a:t>
            </a:r>
          </a:p>
        </p:txBody>
      </p:sp>
      <p:sp>
        <p:nvSpPr>
          <p:cNvPr id="33803" name="Rectangle 11"/>
          <p:cNvSpPr>
            <a:spLocks noChangeArrowheads="1"/>
          </p:cNvSpPr>
          <p:nvPr/>
        </p:nvSpPr>
        <p:spPr bwMode="auto">
          <a:xfrm>
            <a:off x="552434" y="4118073"/>
            <a:ext cx="8578850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3200" b="1" dirty="0"/>
              <a:t>(year%4==0&amp;&amp;year%100!=0)||year%400==0)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531644" y="4814970"/>
            <a:ext cx="8286750" cy="6480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0" lvl="2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zh-CN" sz="28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如果表达式值为</a:t>
            </a:r>
            <a:r>
              <a:rPr lang="en-US" altLang="zh-CN" sz="28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zh-CN" sz="28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，则闰年；否则为非闰年</a:t>
            </a:r>
            <a:endParaRPr lang="en-US" altLang="zh-CN" sz="2800" b="1" kern="0" dirty="0">
              <a:solidFill>
                <a:srgbClr val="9D138D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28</a:t>
            </a:fld>
            <a:endParaRPr lang="en-US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7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7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 animBg="1" autoUpdateAnimBg="0"/>
      <p:bldP spid="33801" grpId="0"/>
      <p:bldP spid="33803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835717"/>
            <a:ext cx="7715250" cy="285750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这是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C99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所增加的一种数据类型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可以将关系运算和逻辑运算的结果存到一个逻辑型变量中，以便于分析和运算</a:t>
            </a:r>
            <a:endParaRPr lang="en-US" altLang="zh-CN" sz="2800" dirty="0">
              <a:solidFill>
                <a:srgbClr val="9D138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18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018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018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50183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-8709" y="0"/>
            <a:ext cx="8429625" cy="831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9pPr>
          </a:lstStyle>
          <a:p>
            <a:pPr algn="l"/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4.1.2</a:t>
            </a:r>
            <a:r>
              <a:rPr lang="en-US" altLang="zh-CN" sz="4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逻辑型变量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29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714375" y="785813"/>
            <a:ext cx="8001000" cy="830262"/>
          </a:xfrm>
          <a:effectLst/>
        </p:spPr>
        <p:txBody>
          <a:bodyPr anchor="ctr"/>
          <a:lstStyle/>
          <a:p>
            <a:pPr eaLnBrk="1" hangingPunct="1"/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4.2 </a:t>
            </a:r>
            <a:r>
              <a:rPr lang="zh-CN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</a:t>
            </a:r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if</a:t>
            </a:r>
            <a:r>
              <a:rPr lang="zh-CN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语句实现选择结构</a:t>
            </a:r>
            <a:endParaRPr lang="zh-CN" altLang="en-US" sz="40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4375" y="2204864"/>
            <a:ext cx="7715250" cy="200025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4.2.1 </a:t>
            </a:r>
            <a:r>
              <a:rPr lang="zh-CN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用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if</a:t>
            </a:r>
            <a:r>
              <a:rPr lang="zh-CN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语句处理选择结构举例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4.2.2  if</a:t>
            </a:r>
            <a:r>
              <a:rPr lang="zh-CN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语句的一般形式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1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41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30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001125" cy="764703"/>
          </a:xfrm>
          <a:effectLst/>
        </p:spPr>
        <p:txBody>
          <a:bodyPr anchor="ctr"/>
          <a:lstStyle/>
          <a:p>
            <a:pPr algn="l" eaLnBrk="1" hangingPunct="1"/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4.2.1 </a:t>
            </a:r>
            <a:r>
              <a:rPr lang="zh-CN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</a:t>
            </a:r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if</a:t>
            </a:r>
            <a:r>
              <a:rPr lang="zh-CN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语句处理选择结构举例</a:t>
            </a:r>
            <a:endParaRPr lang="zh-CN" altLang="en-US" sz="40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0388" y="514027"/>
            <a:ext cx="8256587" cy="4214813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输入两个实数，按代数值由小到大的顺序输出这两个数。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3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18439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795338" y="2058367"/>
            <a:ext cx="8021637" cy="2571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zh-CN" sz="3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解题思路：</a:t>
            </a:r>
            <a:endParaRPr lang="en-US" altLang="zh-CN" sz="32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只需要做一次比较，然后进行一次交换即可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语句实现条件判断</a:t>
            </a:r>
          </a:p>
          <a:p>
            <a:pPr marL="914400" lvl="1" indent="-457200"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关键是怎样实现两个变量值的互换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柱形 8"/>
          <p:cNvSpPr>
            <a:spLocks noChangeArrowheads="1"/>
          </p:cNvSpPr>
          <p:nvPr/>
        </p:nvSpPr>
        <p:spPr bwMode="auto">
          <a:xfrm>
            <a:off x="3795713" y="4558680"/>
            <a:ext cx="571500" cy="928687"/>
          </a:xfrm>
          <a:prstGeom prst="can">
            <a:avLst>
              <a:gd name="adj" fmla="val 24999"/>
            </a:avLst>
          </a:prstGeom>
          <a:solidFill>
            <a:schemeClr val="accent1"/>
          </a:solidFill>
          <a:ln w="38100" algn="ctr">
            <a:solidFill>
              <a:srgbClr val="00B050"/>
            </a:solidFill>
            <a:miter lim="800000"/>
          </a:ln>
        </p:spPr>
        <p:txBody>
          <a:bodyPr wrap="none"/>
          <a:lstStyle/>
          <a:p>
            <a:pPr algn="ctr"/>
            <a:r>
              <a:rPr lang="en-US" altLang="zh-CN">
                <a:solidFill>
                  <a:srgbClr val="00B050"/>
                </a:solidFill>
              </a:rPr>
              <a:t>★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0" name="圆柱形 9"/>
          <p:cNvSpPr>
            <a:spLocks noChangeArrowheads="1"/>
          </p:cNvSpPr>
          <p:nvPr/>
        </p:nvSpPr>
        <p:spPr bwMode="auto">
          <a:xfrm>
            <a:off x="5438775" y="4558680"/>
            <a:ext cx="571500" cy="928687"/>
          </a:xfrm>
          <a:prstGeom prst="can">
            <a:avLst>
              <a:gd name="adj" fmla="val 24999"/>
            </a:avLst>
          </a:prstGeom>
          <a:solidFill>
            <a:schemeClr val="accent1"/>
          </a:solidFill>
          <a:ln w="38100" algn="ctr">
            <a:solidFill>
              <a:srgbClr val="0000CC"/>
            </a:solidFill>
            <a:miter lim="800000"/>
          </a:ln>
        </p:spPr>
        <p:txBody>
          <a:bodyPr wrap="none"/>
          <a:lstStyle/>
          <a:p>
            <a:pPr algn="ctr"/>
            <a:r>
              <a:rPr lang="en-US" altLang="zh-CN">
                <a:solidFill>
                  <a:srgbClr val="0000CC"/>
                </a:solidFill>
              </a:rPr>
              <a:t>●</a:t>
            </a:r>
            <a:endParaRPr lang="zh-CN" altLang="en-US">
              <a:solidFill>
                <a:srgbClr val="0000CC"/>
              </a:solidFill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295650" y="4701555"/>
            <a:ext cx="428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B050"/>
                </a:solidFill>
              </a:rPr>
              <a:t>A</a:t>
            </a:r>
            <a:endParaRPr lang="zh-CN" altLang="en-US" sz="3200">
              <a:solidFill>
                <a:srgbClr val="00B050"/>
              </a:solidFill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6081713" y="4701555"/>
            <a:ext cx="428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00CC"/>
                </a:solidFill>
              </a:rPr>
              <a:t>B</a:t>
            </a:r>
            <a:endParaRPr lang="zh-CN" altLang="en-US" sz="3200">
              <a:solidFill>
                <a:srgbClr val="0000CC"/>
              </a:solidFill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1581150" y="4701555"/>
            <a:ext cx="14287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互换前</a:t>
            </a:r>
          </a:p>
        </p:txBody>
      </p:sp>
      <p:sp>
        <p:nvSpPr>
          <p:cNvPr id="14" name="圆柱形 13"/>
          <p:cNvSpPr>
            <a:spLocks noChangeArrowheads="1"/>
          </p:cNvSpPr>
          <p:nvPr/>
        </p:nvSpPr>
        <p:spPr bwMode="auto">
          <a:xfrm>
            <a:off x="3795713" y="5701680"/>
            <a:ext cx="571500" cy="928687"/>
          </a:xfrm>
          <a:prstGeom prst="can">
            <a:avLst>
              <a:gd name="adj" fmla="val 24999"/>
            </a:avLst>
          </a:prstGeom>
          <a:solidFill>
            <a:schemeClr val="accent1"/>
          </a:solidFill>
          <a:ln w="38100" algn="ctr">
            <a:solidFill>
              <a:srgbClr val="00B050"/>
            </a:solidFill>
            <a:miter lim="800000"/>
          </a:ln>
        </p:spPr>
        <p:txBody>
          <a:bodyPr wrap="none"/>
          <a:lstStyle/>
          <a:p>
            <a:pPr algn="ctr"/>
            <a:r>
              <a:rPr lang="en-US" altLang="zh-CN">
                <a:solidFill>
                  <a:srgbClr val="0000CC"/>
                </a:solidFill>
              </a:rPr>
              <a:t>●</a:t>
            </a:r>
            <a:endParaRPr lang="zh-CN" altLang="en-US">
              <a:solidFill>
                <a:srgbClr val="0000CC"/>
              </a:solidFill>
            </a:endParaRPr>
          </a:p>
        </p:txBody>
      </p:sp>
      <p:sp>
        <p:nvSpPr>
          <p:cNvPr id="15" name="圆柱形 14"/>
          <p:cNvSpPr>
            <a:spLocks noChangeArrowheads="1"/>
          </p:cNvSpPr>
          <p:nvPr/>
        </p:nvSpPr>
        <p:spPr bwMode="auto">
          <a:xfrm>
            <a:off x="5438775" y="5701680"/>
            <a:ext cx="571500" cy="928687"/>
          </a:xfrm>
          <a:prstGeom prst="can">
            <a:avLst>
              <a:gd name="adj" fmla="val 24999"/>
            </a:avLst>
          </a:prstGeom>
          <a:solidFill>
            <a:schemeClr val="accent1"/>
          </a:solidFill>
          <a:ln w="38100" algn="ctr">
            <a:solidFill>
              <a:srgbClr val="0000CC"/>
            </a:solidFill>
            <a:miter lim="800000"/>
          </a:ln>
        </p:spPr>
        <p:txBody>
          <a:bodyPr wrap="none"/>
          <a:lstStyle/>
          <a:p>
            <a:pPr algn="ctr"/>
            <a:r>
              <a:rPr lang="en-US" altLang="zh-CN">
                <a:solidFill>
                  <a:srgbClr val="00B050"/>
                </a:solidFill>
              </a:rPr>
              <a:t>★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3295650" y="5844555"/>
            <a:ext cx="428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B050"/>
                </a:solidFill>
              </a:rPr>
              <a:t>A</a:t>
            </a:r>
            <a:endParaRPr lang="zh-CN" altLang="en-US" sz="3200">
              <a:solidFill>
                <a:srgbClr val="00B050"/>
              </a:solidFill>
            </a:endParaRP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6081713" y="5844555"/>
            <a:ext cx="428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00CC"/>
                </a:solidFill>
              </a:rPr>
              <a:t>B</a:t>
            </a:r>
            <a:endParaRPr lang="zh-CN" altLang="en-US" sz="3200">
              <a:solidFill>
                <a:srgbClr val="0000CC"/>
              </a:solidFill>
            </a:endParaRP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1581150" y="5844555"/>
            <a:ext cx="14287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>
            <a:cxnSpLocks noChangeShapeType="1"/>
          </p:cNvCxnSpPr>
          <p:nvPr/>
        </p:nvCxnSpPr>
        <p:spPr bwMode="auto">
          <a:xfrm>
            <a:off x="1509713" y="5609605"/>
            <a:ext cx="5214937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0" name="图片 18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025" y="6487492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31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2" grpId="0"/>
      <p:bldP spid="13" grpId="0"/>
      <p:bldP spid="14" grpId="0" animBg="1"/>
      <p:bldP spid="15" grpId="0" animBg="1"/>
      <p:bldP spid="16" grpId="0"/>
      <p:bldP spid="17" grpId="0"/>
      <p:bldP spid="1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48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48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485" name="圆柱形 6"/>
          <p:cNvSpPr>
            <a:spLocks noChangeArrowheads="1"/>
          </p:cNvSpPr>
          <p:nvPr/>
        </p:nvSpPr>
        <p:spPr bwMode="auto">
          <a:xfrm>
            <a:off x="3643313" y="4214813"/>
            <a:ext cx="571500" cy="928687"/>
          </a:xfrm>
          <a:prstGeom prst="can">
            <a:avLst>
              <a:gd name="adj" fmla="val 24999"/>
            </a:avLst>
          </a:prstGeom>
          <a:solidFill>
            <a:schemeClr val="accent1"/>
          </a:solidFill>
          <a:ln w="38100" algn="ctr">
            <a:solidFill>
              <a:srgbClr val="00B050"/>
            </a:solidFill>
            <a:miter lim="800000"/>
          </a:ln>
        </p:spPr>
        <p:txBody>
          <a:bodyPr wrap="none"/>
          <a:lstStyle/>
          <a:p>
            <a:pPr algn="ctr"/>
            <a:r>
              <a:rPr lang="en-US" altLang="zh-CN">
                <a:solidFill>
                  <a:srgbClr val="00B050"/>
                </a:solidFill>
              </a:rPr>
              <a:t>★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20486" name="圆柱形 7"/>
          <p:cNvSpPr>
            <a:spLocks noChangeArrowheads="1"/>
          </p:cNvSpPr>
          <p:nvPr/>
        </p:nvSpPr>
        <p:spPr bwMode="auto">
          <a:xfrm>
            <a:off x="5286375" y="4214813"/>
            <a:ext cx="571500" cy="928687"/>
          </a:xfrm>
          <a:prstGeom prst="can">
            <a:avLst>
              <a:gd name="adj" fmla="val 24999"/>
            </a:avLst>
          </a:prstGeom>
          <a:solidFill>
            <a:schemeClr val="accent1"/>
          </a:solidFill>
          <a:ln w="38100" algn="ctr">
            <a:solidFill>
              <a:srgbClr val="0000CC"/>
            </a:solidFill>
            <a:miter lim="800000"/>
          </a:ln>
        </p:spPr>
        <p:txBody>
          <a:bodyPr wrap="none"/>
          <a:lstStyle/>
          <a:p>
            <a:pPr algn="ctr"/>
            <a:r>
              <a:rPr lang="en-US" altLang="zh-CN">
                <a:solidFill>
                  <a:srgbClr val="0000CC"/>
                </a:solidFill>
              </a:rPr>
              <a:t>●</a:t>
            </a:r>
            <a:endParaRPr lang="zh-CN" altLang="en-US">
              <a:solidFill>
                <a:srgbClr val="0000CC"/>
              </a:solidFill>
            </a:endParaRPr>
          </a:p>
        </p:txBody>
      </p:sp>
      <p:sp>
        <p:nvSpPr>
          <p:cNvPr id="20487" name="TextBox 8"/>
          <p:cNvSpPr txBox="1">
            <a:spLocks noChangeArrowheads="1"/>
          </p:cNvSpPr>
          <p:nvPr/>
        </p:nvSpPr>
        <p:spPr bwMode="auto">
          <a:xfrm>
            <a:off x="3143250" y="4357688"/>
            <a:ext cx="428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B050"/>
                </a:solidFill>
              </a:rPr>
              <a:t>A</a:t>
            </a:r>
            <a:endParaRPr lang="zh-CN" altLang="en-US" sz="3200">
              <a:solidFill>
                <a:srgbClr val="00B050"/>
              </a:solidFill>
            </a:endParaRPr>
          </a:p>
        </p:txBody>
      </p:sp>
      <p:sp>
        <p:nvSpPr>
          <p:cNvPr id="20488" name="TextBox 9"/>
          <p:cNvSpPr txBox="1">
            <a:spLocks noChangeArrowheads="1"/>
          </p:cNvSpPr>
          <p:nvPr/>
        </p:nvSpPr>
        <p:spPr bwMode="auto">
          <a:xfrm>
            <a:off x="5929313" y="4357688"/>
            <a:ext cx="428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00CC"/>
                </a:solidFill>
              </a:rPr>
              <a:t>B</a:t>
            </a:r>
            <a:endParaRPr lang="zh-CN" altLang="en-US" sz="3200">
              <a:solidFill>
                <a:srgbClr val="0000CC"/>
              </a:solidFill>
            </a:endParaRPr>
          </a:p>
        </p:txBody>
      </p:sp>
      <p:sp>
        <p:nvSpPr>
          <p:cNvPr id="20" name="圆柱形 19"/>
          <p:cNvSpPr>
            <a:spLocks noChangeArrowheads="1"/>
          </p:cNvSpPr>
          <p:nvPr/>
        </p:nvSpPr>
        <p:spPr bwMode="auto">
          <a:xfrm>
            <a:off x="4429125" y="2571750"/>
            <a:ext cx="571500" cy="928688"/>
          </a:xfrm>
          <a:prstGeom prst="can">
            <a:avLst>
              <a:gd name="adj" fmla="val 24999"/>
            </a:avLst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pPr algn="ctr"/>
            <a:endParaRPr lang="zh-CN" altLang="en-US"/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3929063" y="2714625"/>
            <a:ext cx="428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/>
              <a:t>C</a:t>
            </a:r>
            <a:endParaRPr lang="zh-CN" altLang="en-US" sz="3200"/>
          </a:p>
        </p:txBody>
      </p:sp>
      <p:sp>
        <p:nvSpPr>
          <p:cNvPr id="24" name="上箭头 23"/>
          <p:cNvSpPr>
            <a:spLocks noChangeArrowheads="1"/>
          </p:cNvSpPr>
          <p:nvPr/>
        </p:nvSpPr>
        <p:spPr bwMode="auto">
          <a:xfrm rot="2133267">
            <a:off x="4052888" y="3459163"/>
            <a:ext cx="357187" cy="785812"/>
          </a:xfrm>
          <a:prstGeom prst="upArrow">
            <a:avLst>
              <a:gd name="adj1" fmla="val 50000"/>
              <a:gd name="adj2" fmla="val 49999"/>
            </a:avLst>
          </a:prstGeom>
          <a:solidFill>
            <a:schemeClr val="accent1"/>
          </a:solidFill>
          <a:ln w="38100" algn="ctr">
            <a:solidFill>
              <a:srgbClr val="FF0000"/>
            </a:solidFill>
            <a:miter lim="800000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4391025" y="2689225"/>
            <a:ext cx="6429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B050"/>
                </a:solidFill>
              </a:rPr>
              <a:t>★</a:t>
            </a:r>
            <a:endParaRPr lang="zh-CN" altLang="en-US">
              <a:solidFill>
                <a:srgbClr val="00B050"/>
              </a:solidFill>
            </a:endParaRPr>
          </a:p>
        </p:txBody>
      </p:sp>
      <p:pic>
        <p:nvPicPr>
          <p:cNvPr id="20494" name="图片 13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001125" cy="764703"/>
          </a:xfrm>
          <a:effectLst/>
        </p:spPr>
        <p:txBody>
          <a:bodyPr anchor="ctr"/>
          <a:lstStyle/>
          <a:p>
            <a:pPr algn="l" eaLnBrk="1" hangingPunct="1"/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4.2.1 </a:t>
            </a:r>
            <a:r>
              <a:rPr lang="zh-CN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</a:t>
            </a:r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if</a:t>
            </a:r>
            <a:r>
              <a:rPr lang="zh-CN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语句处理选择结构举例</a:t>
            </a:r>
            <a:endParaRPr lang="zh-CN" altLang="en-US" sz="40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414884" y="727075"/>
            <a:ext cx="8256587" cy="42148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50000"/>
              </a:spcBef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输入两个实数，按代数值由小到大的顺序输出这两个数。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32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  <p:bldP spid="24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50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509" name="圆柱形 6"/>
          <p:cNvSpPr>
            <a:spLocks noChangeArrowheads="1"/>
          </p:cNvSpPr>
          <p:nvPr/>
        </p:nvSpPr>
        <p:spPr bwMode="auto">
          <a:xfrm>
            <a:off x="3643313" y="4214813"/>
            <a:ext cx="571500" cy="928687"/>
          </a:xfrm>
          <a:prstGeom prst="can">
            <a:avLst>
              <a:gd name="adj" fmla="val 24999"/>
            </a:avLst>
          </a:prstGeom>
          <a:solidFill>
            <a:schemeClr val="accent1"/>
          </a:solidFill>
          <a:ln w="38100" algn="ctr">
            <a:solidFill>
              <a:srgbClr val="00B050"/>
            </a:solidFill>
            <a:miter lim="800000"/>
          </a:ln>
        </p:spPr>
        <p:txBody>
          <a:bodyPr wrap="none"/>
          <a:lstStyle/>
          <a:p>
            <a:pPr algn="ctr"/>
            <a:r>
              <a:rPr lang="en-US" altLang="zh-CN">
                <a:solidFill>
                  <a:srgbClr val="00B050"/>
                </a:solidFill>
              </a:rPr>
              <a:t>★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21510" name="圆柱形 7"/>
          <p:cNvSpPr>
            <a:spLocks noChangeArrowheads="1"/>
          </p:cNvSpPr>
          <p:nvPr/>
        </p:nvSpPr>
        <p:spPr bwMode="auto">
          <a:xfrm>
            <a:off x="5286375" y="4214813"/>
            <a:ext cx="571500" cy="928687"/>
          </a:xfrm>
          <a:prstGeom prst="can">
            <a:avLst>
              <a:gd name="adj" fmla="val 24999"/>
            </a:avLst>
          </a:prstGeom>
          <a:solidFill>
            <a:schemeClr val="accent1"/>
          </a:solidFill>
          <a:ln w="38100" algn="ctr">
            <a:solidFill>
              <a:srgbClr val="0000CC"/>
            </a:solidFill>
            <a:miter lim="800000"/>
          </a:ln>
        </p:spPr>
        <p:txBody>
          <a:bodyPr wrap="none"/>
          <a:lstStyle/>
          <a:p>
            <a:pPr algn="ctr"/>
            <a:r>
              <a:rPr lang="en-US" altLang="zh-CN">
                <a:solidFill>
                  <a:srgbClr val="0000CC"/>
                </a:solidFill>
              </a:rPr>
              <a:t>●</a:t>
            </a:r>
            <a:endParaRPr lang="zh-CN" altLang="en-US">
              <a:solidFill>
                <a:srgbClr val="0000CC"/>
              </a:solidFill>
            </a:endParaRPr>
          </a:p>
        </p:txBody>
      </p:sp>
      <p:sp>
        <p:nvSpPr>
          <p:cNvPr id="21511" name="TextBox 8"/>
          <p:cNvSpPr txBox="1">
            <a:spLocks noChangeArrowheads="1"/>
          </p:cNvSpPr>
          <p:nvPr/>
        </p:nvSpPr>
        <p:spPr bwMode="auto">
          <a:xfrm>
            <a:off x="3143250" y="4357688"/>
            <a:ext cx="428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B050"/>
                </a:solidFill>
              </a:rPr>
              <a:t>A</a:t>
            </a:r>
            <a:endParaRPr lang="zh-CN" altLang="en-US" sz="3200">
              <a:solidFill>
                <a:srgbClr val="00B050"/>
              </a:solidFill>
            </a:endParaRPr>
          </a:p>
        </p:txBody>
      </p:sp>
      <p:sp>
        <p:nvSpPr>
          <p:cNvPr id="21512" name="TextBox 9"/>
          <p:cNvSpPr txBox="1">
            <a:spLocks noChangeArrowheads="1"/>
          </p:cNvSpPr>
          <p:nvPr/>
        </p:nvSpPr>
        <p:spPr bwMode="auto">
          <a:xfrm>
            <a:off x="5929313" y="4357688"/>
            <a:ext cx="428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00CC"/>
                </a:solidFill>
              </a:rPr>
              <a:t>B</a:t>
            </a:r>
            <a:endParaRPr lang="zh-CN" altLang="en-US" sz="3200">
              <a:solidFill>
                <a:srgbClr val="0000CC"/>
              </a:solidFill>
            </a:endParaRPr>
          </a:p>
        </p:txBody>
      </p:sp>
      <p:sp>
        <p:nvSpPr>
          <p:cNvPr id="21513" name="圆柱形 19"/>
          <p:cNvSpPr>
            <a:spLocks noChangeArrowheads="1"/>
          </p:cNvSpPr>
          <p:nvPr/>
        </p:nvSpPr>
        <p:spPr bwMode="auto">
          <a:xfrm>
            <a:off x="4429125" y="2571750"/>
            <a:ext cx="571500" cy="928688"/>
          </a:xfrm>
          <a:prstGeom prst="can">
            <a:avLst>
              <a:gd name="adj" fmla="val 24999"/>
            </a:avLst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pPr algn="ctr"/>
            <a:endParaRPr lang="zh-CN" altLang="en-US"/>
          </a:p>
        </p:txBody>
      </p:sp>
      <p:sp>
        <p:nvSpPr>
          <p:cNvPr id="21514" name="TextBox 20"/>
          <p:cNvSpPr txBox="1">
            <a:spLocks noChangeArrowheads="1"/>
          </p:cNvSpPr>
          <p:nvPr/>
        </p:nvSpPr>
        <p:spPr bwMode="auto">
          <a:xfrm>
            <a:off x="3929063" y="2714625"/>
            <a:ext cx="428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/>
              <a:t>C</a:t>
            </a:r>
            <a:endParaRPr lang="zh-CN" altLang="en-US" sz="3200"/>
          </a:p>
        </p:txBody>
      </p:sp>
      <p:sp>
        <p:nvSpPr>
          <p:cNvPr id="24" name="上箭头 23"/>
          <p:cNvSpPr>
            <a:spLocks noChangeArrowheads="1"/>
          </p:cNvSpPr>
          <p:nvPr/>
        </p:nvSpPr>
        <p:spPr bwMode="auto">
          <a:xfrm rot="-5400000">
            <a:off x="4552950" y="4244976"/>
            <a:ext cx="357187" cy="785812"/>
          </a:xfrm>
          <a:prstGeom prst="upArrow">
            <a:avLst>
              <a:gd name="adj1" fmla="val 50000"/>
              <a:gd name="adj2" fmla="val 49999"/>
            </a:avLst>
          </a:prstGeom>
          <a:solidFill>
            <a:schemeClr val="accent1"/>
          </a:solidFill>
          <a:ln w="38100" algn="ctr">
            <a:solidFill>
              <a:srgbClr val="FF0000"/>
            </a:solidFill>
            <a:miter lim="800000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1516" name="TextBox 13"/>
          <p:cNvSpPr txBox="1">
            <a:spLocks noChangeArrowheads="1"/>
          </p:cNvSpPr>
          <p:nvPr/>
        </p:nvSpPr>
        <p:spPr bwMode="auto">
          <a:xfrm>
            <a:off x="4391025" y="2689225"/>
            <a:ext cx="6429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B050"/>
                </a:solidFill>
              </a:rPr>
              <a:t>★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3708400" y="4365625"/>
            <a:ext cx="428625" cy="6096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0000CC"/>
                </a:solidFill>
              </a:rPr>
              <a:t>●</a:t>
            </a:r>
            <a:endParaRPr lang="zh-CN" altLang="en-US">
              <a:solidFill>
                <a:srgbClr val="0000CC"/>
              </a:solidFill>
            </a:endParaRPr>
          </a:p>
        </p:txBody>
      </p:sp>
      <p:pic>
        <p:nvPicPr>
          <p:cNvPr id="21519" name="图片 15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001125" cy="764703"/>
          </a:xfrm>
          <a:effectLst/>
        </p:spPr>
        <p:txBody>
          <a:bodyPr anchor="ctr"/>
          <a:lstStyle/>
          <a:p>
            <a:pPr algn="l" eaLnBrk="1" hangingPunct="1"/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4.2.1 </a:t>
            </a:r>
            <a:r>
              <a:rPr lang="zh-CN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</a:t>
            </a:r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if</a:t>
            </a:r>
            <a:r>
              <a:rPr lang="zh-CN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语句处理选择结构举例</a:t>
            </a:r>
            <a:endParaRPr lang="zh-CN" altLang="en-US" sz="40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443706" y="628993"/>
            <a:ext cx="8256587" cy="42148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50000"/>
              </a:spcBef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输入两个实数，按代数值由小到大的顺序输出这两个数。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33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53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53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533" name="圆柱形 6"/>
          <p:cNvSpPr>
            <a:spLocks noChangeArrowheads="1"/>
          </p:cNvSpPr>
          <p:nvPr/>
        </p:nvSpPr>
        <p:spPr bwMode="auto">
          <a:xfrm>
            <a:off x="3643313" y="4214813"/>
            <a:ext cx="571500" cy="928687"/>
          </a:xfrm>
          <a:prstGeom prst="can">
            <a:avLst>
              <a:gd name="adj" fmla="val 24999"/>
            </a:avLst>
          </a:prstGeom>
          <a:solidFill>
            <a:schemeClr val="accent1"/>
          </a:solidFill>
          <a:ln w="38100" algn="ctr">
            <a:solidFill>
              <a:srgbClr val="00B050"/>
            </a:solidFill>
            <a:miter lim="800000"/>
          </a:ln>
        </p:spPr>
        <p:txBody>
          <a:bodyPr wrap="none"/>
          <a:lstStyle/>
          <a:p>
            <a:pPr algn="ctr"/>
            <a:endParaRPr lang="zh-CN" altLang="en-US">
              <a:solidFill>
                <a:srgbClr val="0000CC"/>
              </a:solidFill>
            </a:endParaRPr>
          </a:p>
        </p:txBody>
      </p:sp>
      <p:sp>
        <p:nvSpPr>
          <p:cNvPr id="22534" name="TextBox 8"/>
          <p:cNvSpPr txBox="1">
            <a:spLocks noChangeArrowheads="1"/>
          </p:cNvSpPr>
          <p:nvPr/>
        </p:nvSpPr>
        <p:spPr bwMode="auto">
          <a:xfrm>
            <a:off x="3143250" y="4357688"/>
            <a:ext cx="428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B050"/>
                </a:solidFill>
              </a:rPr>
              <a:t>A</a:t>
            </a:r>
            <a:endParaRPr lang="zh-CN" altLang="en-US" sz="3200">
              <a:solidFill>
                <a:srgbClr val="00B050"/>
              </a:solidFill>
            </a:endParaRPr>
          </a:p>
        </p:txBody>
      </p:sp>
      <p:sp>
        <p:nvSpPr>
          <p:cNvPr id="22535" name="TextBox 9"/>
          <p:cNvSpPr txBox="1">
            <a:spLocks noChangeArrowheads="1"/>
          </p:cNvSpPr>
          <p:nvPr/>
        </p:nvSpPr>
        <p:spPr bwMode="auto">
          <a:xfrm>
            <a:off x="5929313" y="4357688"/>
            <a:ext cx="428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00CC"/>
                </a:solidFill>
              </a:rPr>
              <a:t>B</a:t>
            </a:r>
            <a:endParaRPr lang="zh-CN" altLang="en-US" sz="3200">
              <a:solidFill>
                <a:srgbClr val="0000CC"/>
              </a:solidFill>
            </a:endParaRPr>
          </a:p>
        </p:txBody>
      </p:sp>
      <p:sp>
        <p:nvSpPr>
          <p:cNvPr id="22536" name="圆柱形 19"/>
          <p:cNvSpPr>
            <a:spLocks noChangeArrowheads="1"/>
          </p:cNvSpPr>
          <p:nvPr/>
        </p:nvSpPr>
        <p:spPr bwMode="auto">
          <a:xfrm>
            <a:off x="4429125" y="2571750"/>
            <a:ext cx="571500" cy="928688"/>
          </a:xfrm>
          <a:prstGeom prst="can">
            <a:avLst>
              <a:gd name="adj" fmla="val 24999"/>
            </a:avLst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pPr algn="ctr"/>
            <a:endParaRPr lang="zh-CN" altLang="en-US"/>
          </a:p>
        </p:txBody>
      </p:sp>
      <p:sp>
        <p:nvSpPr>
          <p:cNvPr id="22537" name="TextBox 20"/>
          <p:cNvSpPr txBox="1">
            <a:spLocks noChangeArrowheads="1"/>
          </p:cNvSpPr>
          <p:nvPr/>
        </p:nvSpPr>
        <p:spPr bwMode="auto">
          <a:xfrm>
            <a:off x="3929063" y="2714625"/>
            <a:ext cx="428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/>
              <a:t>C</a:t>
            </a:r>
            <a:endParaRPr lang="zh-CN" altLang="en-US" sz="3200"/>
          </a:p>
        </p:txBody>
      </p:sp>
      <p:sp>
        <p:nvSpPr>
          <p:cNvPr id="24" name="上箭头 23"/>
          <p:cNvSpPr>
            <a:spLocks noChangeArrowheads="1"/>
          </p:cNvSpPr>
          <p:nvPr/>
        </p:nvSpPr>
        <p:spPr bwMode="auto">
          <a:xfrm rot="8527934">
            <a:off x="4989513" y="3455988"/>
            <a:ext cx="357187" cy="785812"/>
          </a:xfrm>
          <a:prstGeom prst="upArrow">
            <a:avLst>
              <a:gd name="adj1" fmla="val 50000"/>
              <a:gd name="adj2" fmla="val 49999"/>
            </a:avLst>
          </a:prstGeom>
          <a:solidFill>
            <a:schemeClr val="accent1"/>
          </a:solidFill>
          <a:ln w="38100" algn="ctr">
            <a:solidFill>
              <a:srgbClr val="FF0000"/>
            </a:solidFill>
            <a:miter lim="800000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2539" name="TextBox 12"/>
          <p:cNvSpPr txBox="1">
            <a:spLocks noChangeArrowheads="1"/>
          </p:cNvSpPr>
          <p:nvPr/>
        </p:nvSpPr>
        <p:spPr bwMode="auto">
          <a:xfrm>
            <a:off x="4391025" y="2689225"/>
            <a:ext cx="6429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B050"/>
                </a:solidFill>
              </a:rPr>
              <a:t>★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22540" name="圆柱形 16"/>
          <p:cNvSpPr>
            <a:spLocks noChangeArrowheads="1"/>
          </p:cNvSpPr>
          <p:nvPr/>
        </p:nvSpPr>
        <p:spPr bwMode="auto">
          <a:xfrm>
            <a:off x="5286375" y="4214813"/>
            <a:ext cx="571500" cy="928687"/>
          </a:xfrm>
          <a:prstGeom prst="can">
            <a:avLst>
              <a:gd name="adj" fmla="val 24999"/>
            </a:avLst>
          </a:prstGeom>
          <a:solidFill>
            <a:schemeClr val="accent1"/>
          </a:solidFill>
          <a:ln w="38100" algn="ctr">
            <a:solidFill>
              <a:srgbClr val="0000CC"/>
            </a:solidFill>
            <a:miter lim="800000"/>
          </a:ln>
        </p:spPr>
        <p:txBody>
          <a:bodyPr wrap="none"/>
          <a:lstStyle/>
          <a:p>
            <a:pPr algn="ctr"/>
            <a:r>
              <a:rPr lang="en-US" altLang="zh-CN">
                <a:solidFill>
                  <a:srgbClr val="0000CC"/>
                </a:solidFill>
              </a:rPr>
              <a:t>●</a:t>
            </a:r>
            <a:endParaRPr lang="zh-CN" altLang="en-US">
              <a:solidFill>
                <a:srgbClr val="0000CC"/>
              </a:solidFill>
            </a:endParaRP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5332413" y="4413250"/>
            <a:ext cx="500062" cy="6159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B050"/>
                </a:solidFill>
              </a:rPr>
              <a:t>★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2916238" y="4010025"/>
            <a:ext cx="3714750" cy="1357313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pic>
        <p:nvPicPr>
          <p:cNvPr id="22544" name="图片 1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45" name="TextBox 14"/>
          <p:cNvSpPr txBox="1">
            <a:spLocks noChangeArrowheads="1"/>
          </p:cNvSpPr>
          <p:nvPr/>
        </p:nvSpPr>
        <p:spPr bwMode="auto">
          <a:xfrm>
            <a:off x="3708400" y="4365625"/>
            <a:ext cx="428625" cy="6096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0000CC"/>
                </a:solidFill>
              </a:rPr>
              <a:t>●</a:t>
            </a:r>
            <a:endParaRPr lang="zh-CN" altLang="en-US">
              <a:solidFill>
                <a:srgbClr val="0000CC"/>
              </a:solidFill>
            </a:endParaRP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001125" cy="764703"/>
          </a:xfrm>
          <a:effectLst/>
        </p:spPr>
        <p:txBody>
          <a:bodyPr anchor="ctr"/>
          <a:lstStyle/>
          <a:p>
            <a:pPr algn="l" eaLnBrk="1" hangingPunct="1"/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4.2.1 </a:t>
            </a:r>
            <a:r>
              <a:rPr lang="zh-CN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</a:t>
            </a:r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if</a:t>
            </a:r>
            <a:r>
              <a:rPr lang="zh-CN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语句处理选择结构举例</a:t>
            </a:r>
            <a:endParaRPr lang="zh-CN" altLang="en-US" sz="40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 bwMode="auto">
          <a:xfrm>
            <a:off x="560388" y="654347"/>
            <a:ext cx="8256587" cy="42148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50000"/>
              </a:spcBef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输入两个实数，按代数值由小到大的顺序输出这两个数。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34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5" grpId="0" animBg="1"/>
      <p:bldP spid="1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4375" y="428625"/>
            <a:ext cx="7000875" cy="628650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{ float </a:t>
            </a:r>
            <a:r>
              <a:rPr lang="en-US" altLang="zh-CN" sz="2800" dirty="0" err="1"/>
              <a:t>a,b,t</a:t>
            </a:r>
            <a:r>
              <a:rPr lang="en-US" altLang="zh-CN" sz="2800" dirty="0"/>
              <a:t>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("%</a:t>
            </a:r>
            <a:r>
              <a:rPr lang="en-US" altLang="zh-CN" sz="2800" dirty="0" err="1">
                <a:solidFill>
                  <a:srgbClr val="00B050"/>
                </a:solidFill>
              </a:rPr>
              <a:t>f</a:t>
            </a:r>
            <a:r>
              <a:rPr lang="en-US" altLang="zh-CN" sz="2800" dirty="0" err="1"/>
              <a:t>,%</a:t>
            </a:r>
            <a:r>
              <a:rPr lang="en-US" altLang="zh-CN" sz="2800" dirty="0" err="1">
                <a:solidFill>
                  <a:srgbClr val="00B050"/>
                </a:solidFill>
              </a:rPr>
              <a:t>f</a:t>
            </a:r>
            <a:r>
              <a:rPr lang="en-US" altLang="zh-CN" sz="2800" dirty="0" err="1"/>
              <a:t>",&amp;a,&amp;b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if(a&gt;b)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{  t=a;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   a=b;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   b=t;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}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("%5.2f,%5.2f\n",</a:t>
            </a:r>
            <a:r>
              <a:rPr lang="en-US" altLang="zh-CN" sz="2800" dirty="0" err="1"/>
              <a:t>a,b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return 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CN" sz="2800" dirty="0"/>
          </a:p>
        </p:txBody>
      </p:sp>
      <p:sp>
        <p:nvSpPr>
          <p:cNvPr id="2355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55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214688" y="3357563"/>
            <a:ext cx="35718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3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3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3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3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sz="3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的值互换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403648" y="3071813"/>
            <a:ext cx="1152128" cy="142875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pic>
        <p:nvPicPr>
          <p:cNvPr id="138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313" y="5643563"/>
            <a:ext cx="2424112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000375" y="2428875"/>
            <a:ext cx="20716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zh-CN" sz="3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a&gt;b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562" name="图片 9" descr="Untitled2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35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4375" y="428625"/>
            <a:ext cx="7000875" cy="628650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#include &lt;stdio.h&gt;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int main()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{ float a,b,t;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scanf("%f,%f",&amp;a,&amp;b);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if(a&gt;b)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{  t=a;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    a=b;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    b=t;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 }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printf("%5.2f,%5.2f\n",a,b);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return 0;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}</a:t>
            </a:r>
            <a:endParaRPr lang="zh-CN" altLang="zh-CN" sz="2800"/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CN" sz="2800"/>
          </a:p>
        </p:txBody>
      </p:sp>
      <p:sp>
        <p:nvSpPr>
          <p:cNvPr id="2457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58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000125" y="2500313"/>
            <a:ext cx="1555651" cy="257175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643313" y="3143250"/>
            <a:ext cx="5143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选择结构，用</a:t>
            </a:r>
            <a:r>
              <a:rPr lang="en-US" altLang="zh-CN" sz="3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3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语句实现的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584" name="图片 7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36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5" y="476672"/>
            <a:ext cx="8792020" cy="4214813"/>
          </a:xfrm>
        </p:spPr>
        <p:txBody>
          <a:bodyPr/>
          <a:lstStyle/>
          <a:p>
            <a:pPr indent="0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，要求按由小到大的顺序输出</a:t>
            </a:r>
            <a:r>
              <a:rPr lang="zh-CN" altLang="zh-CN" dirty="0"/>
              <a:t>。</a:t>
            </a:r>
            <a:endParaRPr lang="en-US" altLang="zh-CN" dirty="0"/>
          </a:p>
        </p:txBody>
      </p:sp>
      <p:sp>
        <p:nvSpPr>
          <p:cNvPr id="2560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60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25606" name="图片 5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18695" y="1928812"/>
            <a:ext cx="8501063" cy="42148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解题思路：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可以先用伪代码写出算法：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a&gt;b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对换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zh-CN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者）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a&gt;c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对换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是三者中</a:t>
            </a:r>
            <a:r>
              <a:rPr lang="zh-CN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者）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b&gt;c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对换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是三者中</a:t>
            </a:r>
            <a:r>
              <a:rPr lang="zh-CN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次小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者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顺序输出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37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500063"/>
            <a:ext cx="8501062" cy="6143625"/>
          </a:xfrm>
        </p:spPr>
        <p:txBody>
          <a:bodyPr/>
          <a:lstStyle/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{ float </a:t>
            </a:r>
            <a:r>
              <a:rPr lang="en-US" altLang="zh-CN" sz="2800" dirty="0" err="1"/>
              <a:t>a,b,c,t</a:t>
            </a:r>
            <a:r>
              <a:rPr lang="en-US" altLang="zh-CN" sz="2800" dirty="0"/>
              <a:t>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("%</a:t>
            </a:r>
            <a:r>
              <a:rPr lang="en-US" altLang="zh-CN" sz="2800" dirty="0" err="1"/>
              <a:t>f,%f,%f",&amp;a,&amp;b,&amp;c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>
                <a:solidFill>
                  <a:srgbClr val="00B050"/>
                </a:solidFill>
              </a:rPr>
              <a:t>if(a&gt;b)</a:t>
            </a:r>
            <a:endParaRPr lang="zh-CN" altLang="zh-CN" sz="2800" dirty="0">
              <a:solidFill>
                <a:srgbClr val="00B050"/>
              </a:solidFill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B050"/>
                </a:solidFill>
              </a:rPr>
              <a:t>   {   t=a;  a=b;  b=t;   } </a:t>
            </a:r>
            <a:endParaRPr lang="zh-CN" altLang="zh-CN" sz="2800" dirty="0">
              <a:solidFill>
                <a:srgbClr val="00B050"/>
              </a:solidFill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>
                <a:solidFill>
                  <a:srgbClr val="9D138D"/>
                </a:solidFill>
              </a:rPr>
              <a:t>if(a&gt;c)</a:t>
            </a:r>
            <a:endParaRPr lang="zh-CN" altLang="zh-CN" sz="2800" dirty="0">
              <a:solidFill>
                <a:srgbClr val="9D138D"/>
              </a:solidFill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9D138D"/>
                </a:solidFill>
              </a:rPr>
              <a:t>   {   t=a;  a=c;  c=t;   }        </a:t>
            </a:r>
            <a:endParaRPr lang="zh-CN" altLang="zh-CN" sz="2800" dirty="0">
              <a:solidFill>
                <a:srgbClr val="9D138D"/>
              </a:solidFill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>
                <a:solidFill>
                  <a:srgbClr val="FFC000"/>
                </a:solidFill>
              </a:rPr>
              <a:t>if(b&gt;c) </a:t>
            </a:r>
            <a:endParaRPr lang="zh-CN" altLang="zh-CN" sz="2800" dirty="0">
              <a:solidFill>
                <a:srgbClr val="FFC000"/>
              </a:solidFill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C000"/>
                </a:solidFill>
              </a:rPr>
              <a:t>   {   t=b;  b=c;  c=t;   }                        </a:t>
            </a:r>
            <a:endParaRPr lang="zh-CN" altLang="zh-CN" sz="2800" dirty="0">
              <a:solidFill>
                <a:srgbClr val="FFC000"/>
              </a:solidFill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("%5.2f,%5.2f,%5.2f\n",</a:t>
            </a:r>
            <a:r>
              <a:rPr lang="en-US" altLang="zh-CN" sz="2800" dirty="0" err="1"/>
              <a:t>a,b,c</a:t>
            </a:r>
            <a:r>
              <a:rPr lang="en-US" altLang="zh-CN" sz="2800" dirty="0"/>
              <a:t>);  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return 0;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}</a:t>
            </a:r>
          </a:p>
        </p:txBody>
      </p:sp>
      <p:sp>
        <p:nvSpPr>
          <p:cNvPr id="2765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786063" y="2357438"/>
            <a:ext cx="4572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a&gt;b</a:t>
            </a:r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对换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5357813" y="2786063"/>
            <a:ext cx="3143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中的小者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656" name="图片 9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38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500063"/>
            <a:ext cx="8501062" cy="6143625"/>
          </a:xfrm>
        </p:spPr>
        <p:txBody>
          <a:bodyPr/>
          <a:lstStyle/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#include &lt;stdio.h&gt;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int main()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{ float a,b,c,t;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scanf("%f,%f,%f",&amp;a,&amp;b,&amp;c);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</a:t>
            </a:r>
            <a:r>
              <a:rPr lang="en-US" altLang="zh-CN" sz="2800">
                <a:solidFill>
                  <a:srgbClr val="00B050"/>
                </a:solidFill>
              </a:rPr>
              <a:t>if(a&gt;b)</a:t>
            </a:r>
            <a:endParaRPr lang="zh-CN" altLang="zh-CN" sz="2800">
              <a:solidFill>
                <a:srgbClr val="00B050"/>
              </a:solidFill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B050"/>
                </a:solidFill>
              </a:rPr>
              <a:t>   {   t=a;  a=b;  b=t;   } </a:t>
            </a:r>
            <a:endParaRPr lang="zh-CN" altLang="zh-CN" sz="2800">
              <a:solidFill>
                <a:srgbClr val="00B050"/>
              </a:solidFill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</a:t>
            </a:r>
            <a:r>
              <a:rPr lang="en-US" altLang="zh-CN" sz="2800">
                <a:solidFill>
                  <a:srgbClr val="9D138D"/>
                </a:solidFill>
              </a:rPr>
              <a:t>if(a&gt;c)</a:t>
            </a:r>
            <a:endParaRPr lang="zh-CN" altLang="zh-CN" sz="2800">
              <a:solidFill>
                <a:srgbClr val="9D138D"/>
              </a:solidFill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9D138D"/>
                </a:solidFill>
              </a:rPr>
              <a:t>   {   t=a;  a=c;  c=t;   }        </a:t>
            </a:r>
            <a:endParaRPr lang="zh-CN" altLang="zh-CN" sz="2800">
              <a:solidFill>
                <a:srgbClr val="9D138D"/>
              </a:solidFill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</a:t>
            </a:r>
            <a:r>
              <a:rPr lang="en-US" altLang="zh-CN" sz="2800">
                <a:solidFill>
                  <a:srgbClr val="FFC000"/>
                </a:solidFill>
              </a:rPr>
              <a:t>if(b&gt;c) </a:t>
            </a:r>
            <a:endParaRPr lang="zh-CN" altLang="zh-CN" sz="2800">
              <a:solidFill>
                <a:srgbClr val="FFC000"/>
              </a:solidFill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FFC000"/>
                </a:solidFill>
              </a:rPr>
              <a:t>   {   t=b;  b=c;  c=t;   }                        </a:t>
            </a:r>
            <a:endParaRPr lang="zh-CN" altLang="zh-CN" sz="2800">
              <a:solidFill>
                <a:srgbClr val="FFC000"/>
              </a:solidFill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printf("%5.2f,%5.2f,%5.2f\n",a,b,c);  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return 0;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}</a:t>
            </a:r>
          </a:p>
        </p:txBody>
      </p:sp>
      <p:sp>
        <p:nvSpPr>
          <p:cNvPr id="2867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67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786063" y="3262313"/>
            <a:ext cx="4857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a&gt;c</a:t>
            </a:r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对换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5357813" y="3690938"/>
            <a:ext cx="3143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三者</a:t>
            </a:r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中的小者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680" name="图片 9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39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500063"/>
            <a:ext cx="8501062" cy="6143625"/>
          </a:xfrm>
        </p:spPr>
        <p:txBody>
          <a:bodyPr/>
          <a:lstStyle/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#include &lt;stdio.h&gt;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int main()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{ float a,b,c,t;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scanf("%f,%f,%f",&amp;a,&amp;b,&amp;c);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</a:t>
            </a:r>
            <a:r>
              <a:rPr lang="en-US" altLang="zh-CN" sz="2800">
                <a:solidFill>
                  <a:srgbClr val="00B050"/>
                </a:solidFill>
              </a:rPr>
              <a:t>if(a&gt;b)</a:t>
            </a:r>
            <a:endParaRPr lang="zh-CN" altLang="zh-CN" sz="2800">
              <a:solidFill>
                <a:srgbClr val="00B050"/>
              </a:solidFill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B050"/>
                </a:solidFill>
              </a:rPr>
              <a:t>   {   t=a;  a=b;  b=t;   } </a:t>
            </a:r>
            <a:endParaRPr lang="zh-CN" altLang="zh-CN" sz="2800">
              <a:solidFill>
                <a:srgbClr val="00B050"/>
              </a:solidFill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</a:t>
            </a:r>
            <a:r>
              <a:rPr lang="en-US" altLang="zh-CN" sz="2800">
                <a:solidFill>
                  <a:srgbClr val="9D138D"/>
                </a:solidFill>
              </a:rPr>
              <a:t>if(a&gt;c)</a:t>
            </a:r>
            <a:endParaRPr lang="zh-CN" altLang="zh-CN" sz="2800">
              <a:solidFill>
                <a:srgbClr val="9D138D"/>
              </a:solidFill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9D138D"/>
                </a:solidFill>
              </a:rPr>
              <a:t>   {   t=a;  a=c;  c=t;   }        </a:t>
            </a:r>
            <a:endParaRPr lang="zh-CN" altLang="zh-CN" sz="2800">
              <a:solidFill>
                <a:srgbClr val="9D138D"/>
              </a:solidFill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</a:t>
            </a:r>
            <a:r>
              <a:rPr lang="en-US" altLang="zh-CN" sz="2800">
                <a:solidFill>
                  <a:srgbClr val="FFC000"/>
                </a:solidFill>
              </a:rPr>
              <a:t>if(b&gt;c) </a:t>
            </a:r>
            <a:endParaRPr lang="zh-CN" altLang="zh-CN" sz="2800">
              <a:solidFill>
                <a:srgbClr val="FFC000"/>
              </a:solidFill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FFC000"/>
                </a:solidFill>
              </a:rPr>
              <a:t>   {   t=b;  b=c;  c=t;   }                        </a:t>
            </a:r>
            <a:endParaRPr lang="zh-CN" altLang="zh-CN" sz="2800">
              <a:solidFill>
                <a:srgbClr val="FFC000"/>
              </a:solidFill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printf("%5.2f,%5.2f,%5.2f\n",a,b,c);  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return 0;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}</a:t>
            </a:r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970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786063" y="4262438"/>
            <a:ext cx="4857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b&gt;c</a:t>
            </a:r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对换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5357813" y="4691063"/>
            <a:ext cx="35004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三者</a:t>
            </a:r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小者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9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0" y="5786438"/>
            <a:ext cx="3548063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5" name="图片 9" descr="Untitled2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40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9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6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50093" y="1268760"/>
            <a:ext cx="6786563" cy="13681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1.</a:t>
            </a:r>
            <a:r>
              <a:rPr lang="en-US" altLang="zh-CN" sz="3200" b="1" kern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if (</a:t>
            </a:r>
            <a:r>
              <a:rPr lang="zh-CN" altLang="zh-CN" sz="3200" b="1" kern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表达式</a:t>
            </a:r>
            <a:r>
              <a:rPr lang="en-US" altLang="zh-CN" sz="3200" b="1" kern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) </a:t>
            </a:r>
            <a:r>
              <a:rPr lang="zh-CN" altLang="zh-CN" sz="3200" b="1" kern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语句</a:t>
            </a:r>
            <a:endParaRPr lang="en-US" altLang="zh-CN" sz="3200" b="1" kern="0" dirty="0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    if(x&gt;y) </a:t>
            </a:r>
            <a:r>
              <a:rPr lang="en-US" altLang="zh-CN" sz="3200" b="1" kern="0" dirty="0" err="1">
                <a:latin typeface="黑体" panose="02010609060101010101" pitchFamily="2" charset="-122"/>
                <a:ea typeface="黑体" panose="02010609060101010101" pitchFamily="2" charset="-122"/>
              </a:rPr>
              <a:t>printf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(”%</a:t>
            </a:r>
            <a:r>
              <a:rPr lang="en-US" altLang="zh-CN" sz="3200" b="1" kern="0" dirty="0" err="1">
                <a:latin typeface="黑体" panose="02010609060101010101" pitchFamily="2" charset="-122"/>
                <a:ea typeface="黑体" panose="02010609060101010101" pitchFamily="2" charset="-122"/>
              </a:rPr>
              <a:t>d”,x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);     </a:t>
            </a:r>
          </a:p>
        </p:txBody>
      </p:sp>
      <p:cxnSp>
        <p:nvCxnSpPr>
          <p:cNvPr id="9" name="直接箭头连接符 8"/>
          <p:cNvCxnSpPr>
            <a:cxnSpLocks noChangeShapeType="1"/>
          </p:cNvCxnSpPr>
          <p:nvPr/>
        </p:nvCxnSpPr>
        <p:spPr bwMode="auto">
          <a:xfrm rot="5400000">
            <a:off x="3624709" y="2994447"/>
            <a:ext cx="428625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直接箭头连接符 9"/>
          <p:cNvCxnSpPr>
            <a:cxnSpLocks noChangeShapeType="1"/>
          </p:cNvCxnSpPr>
          <p:nvPr/>
        </p:nvCxnSpPr>
        <p:spPr bwMode="auto">
          <a:xfrm rot="5400000">
            <a:off x="3553272" y="5494759"/>
            <a:ext cx="571500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266728" y="4685928"/>
            <a:ext cx="1158875" cy="523875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语句</a:t>
            </a:r>
            <a:endParaRPr lang="zh-CN" altLang="zh-CN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3909665" y="4066803"/>
            <a:ext cx="171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非</a:t>
            </a:r>
            <a:r>
              <a:rPr lang="en-US" altLang="zh-CN" sz="2800" b="1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0</a:t>
            </a:r>
            <a:r>
              <a:rPr lang="zh-CN" altLang="en-US" sz="2800" b="1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（真）</a:t>
            </a:r>
            <a:endParaRPr lang="zh-CN" altLang="zh-CN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2" name="组合 37"/>
          <p:cNvGrpSpPr/>
          <p:nvPr/>
        </p:nvGrpSpPr>
        <p:grpSpPr bwMode="auto">
          <a:xfrm>
            <a:off x="2123728" y="3166690"/>
            <a:ext cx="3429000" cy="900113"/>
            <a:chOff x="1571604" y="3500438"/>
            <a:chExt cx="1571636" cy="500066"/>
          </a:xfrm>
        </p:grpSpPr>
        <p:sp>
          <p:nvSpPr>
            <p:cNvPr id="33808" name="流程图: 决策 38"/>
            <p:cNvSpPr>
              <a:spLocks noChangeArrowheads="1"/>
            </p:cNvSpPr>
            <p:nvPr/>
          </p:nvSpPr>
          <p:spPr bwMode="auto">
            <a:xfrm>
              <a:off x="1571604" y="3500438"/>
              <a:ext cx="1571636" cy="500066"/>
            </a:xfrm>
            <a:prstGeom prst="flowChartDecision">
              <a:avLst/>
            </a:prstGeom>
            <a:solidFill>
              <a:schemeClr val="accent1"/>
            </a:solidFill>
            <a:ln w="38100" algn="ctr">
              <a:solidFill>
                <a:srgbClr val="00B050"/>
              </a:solidFill>
              <a:miter lim="800000"/>
            </a:ln>
          </p:spPr>
          <p:txBody>
            <a:bodyPr wrap="none" lIns="0" tIns="0" rIns="0" bIns="0"/>
            <a:lstStyle/>
            <a:p>
              <a:pPr algn="ctr"/>
              <a:endParaRPr lang="zh-CN" altLang="zh-CN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33809" name="TextBox 39"/>
            <p:cNvSpPr txBox="1">
              <a:spLocks noChangeArrowheads="1"/>
            </p:cNvSpPr>
            <p:nvPr/>
          </p:nvSpPr>
          <p:spPr bwMode="auto">
            <a:xfrm>
              <a:off x="1997249" y="3590764"/>
              <a:ext cx="842371" cy="2906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 dirty="0">
                  <a:solidFill>
                    <a:srgbClr val="0000CC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表达式</a:t>
              </a:r>
              <a:endParaRPr lang="zh-CN" altLang="zh-CN" sz="2800" b="1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cxnSp>
        <p:nvCxnSpPr>
          <p:cNvPr id="17" name="直接箭头连接符 16"/>
          <p:cNvCxnSpPr>
            <a:cxnSpLocks noChangeShapeType="1"/>
          </p:cNvCxnSpPr>
          <p:nvPr/>
        </p:nvCxnSpPr>
        <p:spPr bwMode="auto">
          <a:xfrm rot="5400000">
            <a:off x="3517553" y="4387478"/>
            <a:ext cx="642937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直接连接符 17"/>
          <p:cNvCxnSpPr>
            <a:cxnSpLocks noChangeShapeType="1"/>
          </p:cNvCxnSpPr>
          <p:nvPr/>
        </p:nvCxnSpPr>
        <p:spPr bwMode="auto">
          <a:xfrm rot="10800000" flipV="1">
            <a:off x="5552728" y="3614365"/>
            <a:ext cx="642937" cy="3175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5552728" y="3114303"/>
            <a:ext cx="1428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0</a:t>
            </a:r>
            <a:r>
              <a:rPr lang="zh-CN" altLang="en-US" sz="2800" b="1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（假）</a:t>
            </a:r>
            <a:endParaRPr lang="zh-CN" altLang="zh-CN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cxnSp>
        <p:nvCxnSpPr>
          <p:cNvPr id="21" name="直接连接符 20"/>
          <p:cNvCxnSpPr>
            <a:cxnSpLocks noChangeShapeType="1"/>
          </p:cNvCxnSpPr>
          <p:nvPr/>
        </p:nvCxnSpPr>
        <p:spPr bwMode="auto">
          <a:xfrm rot="5400000" flipH="1" flipV="1">
            <a:off x="5292377" y="4524003"/>
            <a:ext cx="1800225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直接箭头连接符 27"/>
          <p:cNvCxnSpPr>
            <a:cxnSpLocks noChangeShapeType="1"/>
          </p:cNvCxnSpPr>
          <p:nvPr/>
        </p:nvCxnSpPr>
        <p:spPr bwMode="auto">
          <a:xfrm rot="10800000">
            <a:off x="3838228" y="5424115"/>
            <a:ext cx="2357437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2571" y="0"/>
            <a:ext cx="8001000" cy="830262"/>
          </a:xfrm>
          <a:effectLst/>
        </p:spPr>
        <p:txBody>
          <a:bodyPr anchor="ctr"/>
          <a:lstStyle/>
          <a:p>
            <a:pPr algn="l" eaLnBrk="1" hangingPunct="1"/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4.2.2  if</a:t>
            </a:r>
            <a:r>
              <a:rPr lang="zh-CN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语句的一般形式</a:t>
            </a:r>
            <a:endParaRPr lang="zh-CN" altLang="en-US" sz="40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41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/>
      <p:bldP spid="1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20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855828" y="852686"/>
            <a:ext cx="7215188" cy="2000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 2.</a:t>
            </a:r>
            <a:r>
              <a:rPr lang="en-US" altLang="zh-CN" sz="3200" b="1" kern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if (</a:t>
            </a:r>
            <a:r>
              <a:rPr lang="zh-CN" altLang="zh-CN" sz="3200" b="1" kern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表达式</a:t>
            </a:r>
            <a:r>
              <a:rPr lang="en-US" altLang="zh-CN" sz="3200" b="1" kern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) </a:t>
            </a:r>
            <a:r>
              <a:rPr lang="zh-CN" altLang="zh-CN" sz="3200" b="1" kern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语句</a:t>
            </a:r>
            <a:r>
              <a:rPr lang="en-US" altLang="zh-CN" sz="3200" b="1" kern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zh-CN" sz="3200" b="1" kern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 sz="3200" b="1" kern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else</a:t>
            </a:r>
            <a:r>
              <a:rPr lang="zh-CN" altLang="zh-CN" sz="3200" b="1" kern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语句</a:t>
            </a:r>
            <a:r>
              <a:rPr lang="en-US" altLang="zh-CN" sz="3200" b="1" kern="0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    if(x&gt;y) </a:t>
            </a:r>
            <a:r>
              <a:rPr lang="en-US" altLang="zh-CN" sz="3200" b="1" kern="0" dirty="0" err="1">
                <a:latin typeface="黑体" panose="02010609060101010101" pitchFamily="2" charset="-122"/>
                <a:ea typeface="黑体" panose="02010609060101010101" pitchFamily="2" charset="-122"/>
              </a:rPr>
              <a:t>printf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(”%</a:t>
            </a:r>
            <a:r>
              <a:rPr lang="en-US" altLang="zh-CN" sz="3200" b="1" kern="0" dirty="0" err="1">
                <a:latin typeface="黑体" panose="02010609060101010101" pitchFamily="2" charset="-122"/>
                <a:ea typeface="黑体" panose="02010609060101010101" pitchFamily="2" charset="-122"/>
              </a:rPr>
              <a:t>d”,x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);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    else    </a:t>
            </a:r>
            <a:r>
              <a:rPr lang="en-US" altLang="zh-CN" sz="3200" b="1" kern="0" dirty="0" err="1">
                <a:latin typeface="黑体" panose="02010609060101010101" pitchFamily="2" charset="-122"/>
                <a:ea typeface="黑体" panose="02010609060101010101" pitchFamily="2" charset="-122"/>
              </a:rPr>
              <a:t>printf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(”%</a:t>
            </a:r>
            <a:r>
              <a:rPr lang="en-US" altLang="zh-CN" sz="3200" b="1" kern="0" dirty="0" err="1">
                <a:latin typeface="黑体" panose="02010609060101010101" pitchFamily="2" charset="-122"/>
                <a:ea typeface="黑体" panose="02010609060101010101" pitchFamily="2" charset="-122"/>
              </a:rPr>
              <a:t>d”,y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);</a:t>
            </a:r>
          </a:p>
        </p:txBody>
      </p:sp>
      <p:cxnSp>
        <p:nvCxnSpPr>
          <p:cNvPr id="9" name="直接箭头连接符 8"/>
          <p:cNvCxnSpPr>
            <a:cxnSpLocks noChangeShapeType="1"/>
          </p:cNvCxnSpPr>
          <p:nvPr/>
        </p:nvCxnSpPr>
        <p:spPr bwMode="auto">
          <a:xfrm rot="5400000">
            <a:off x="4116785" y="3066455"/>
            <a:ext cx="428625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直接箭头连接符 9"/>
          <p:cNvCxnSpPr>
            <a:cxnSpLocks noChangeShapeType="1"/>
          </p:cNvCxnSpPr>
          <p:nvPr/>
        </p:nvCxnSpPr>
        <p:spPr bwMode="auto">
          <a:xfrm rot="5400000">
            <a:off x="4116785" y="5423892"/>
            <a:ext cx="428625" cy="1587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044804" y="4281686"/>
            <a:ext cx="1285875" cy="523875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语句</a:t>
            </a:r>
            <a:r>
              <a:rPr lang="en-US" altLang="zh-CN" sz="2800" b="1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endParaRPr lang="zh-CN" altLang="zh-CN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1115616" y="3186311"/>
            <a:ext cx="1714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非</a:t>
            </a:r>
            <a:r>
              <a:rPr lang="en-US" altLang="zh-CN" sz="2800" b="1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0</a:t>
            </a:r>
            <a:r>
              <a:rPr lang="zh-CN" altLang="en-US" sz="2800" b="1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（真）</a:t>
            </a:r>
            <a:endParaRPr lang="zh-CN" altLang="zh-CN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2" name="组合 37"/>
          <p:cNvGrpSpPr/>
          <p:nvPr/>
        </p:nvGrpSpPr>
        <p:grpSpPr bwMode="auto">
          <a:xfrm>
            <a:off x="2615804" y="3238698"/>
            <a:ext cx="3429000" cy="900113"/>
            <a:chOff x="1571604" y="3500438"/>
            <a:chExt cx="1571636" cy="500066"/>
          </a:xfrm>
        </p:grpSpPr>
        <p:sp>
          <p:nvSpPr>
            <p:cNvPr id="34836" name="流程图: 决策 38"/>
            <p:cNvSpPr>
              <a:spLocks noChangeArrowheads="1"/>
            </p:cNvSpPr>
            <p:nvPr/>
          </p:nvSpPr>
          <p:spPr bwMode="auto">
            <a:xfrm>
              <a:off x="1571604" y="3500438"/>
              <a:ext cx="1571636" cy="500066"/>
            </a:xfrm>
            <a:prstGeom prst="flowChartDecision">
              <a:avLst/>
            </a:prstGeom>
            <a:solidFill>
              <a:schemeClr val="accent1"/>
            </a:solidFill>
            <a:ln w="38100" algn="ctr">
              <a:solidFill>
                <a:srgbClr val="00B050"/>
              </a:solidFill>
              <a:miter lim="800000"/>
            </a:ln>
          </p:spPr>
          <p:txBody>
            <a:bodyPr wrap="none" lIns="0" tIns="0" rIns="0" bIns="0"/>
            <a:lstStyle/>
            <a:p>
              <a:pPr algn="ctr"/>
              <a:endParaRPr lang="zh-CN" altLang="zh-CN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34837" name="TextBox 39"/>
            <p:cNvSpPr txBox="1">
              <a:spLocks noChangeArrowheads="1"/>
            </p:cNvSpPr>
            <p:nvPr/>
          </p:nvSpPr>
          <p:spPr bwMode="auto">
            <a:xfrm>
              <a:off x="1997249" y="3590764"/>
              <a:ext cx="842371" cy="2906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C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表达式</a:t>
              </a:r>
              <a:endParaRPr lang="zh-CN" altLang="zh-CN" sz="2800" b="1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cxnSp>
        <p:nvCxnSpPr>
          <p:cNvPr id="17" name="直接箭头连接符 16"/>
          <p:cNvCxnSpPr>
            <a:cxnSpLocks noChangeShapeType="1"/>
          </p:cNvCxnSpPr>
          <p:nvPr/>
        </p:nvCxnSpPr>
        <p:spPr bwMode="auto">
          <a:xfrm rot="5400000">
            <a:off x="6367066" y="3983236"/>
            <a:ext cx="642937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直接连接符 17"/>
          <p:cNvCxnSpPr>
            <a:cxnSpLocks noChangeShapeType="1"/>
          </p:cNvCxnSpPr>
          <p:nvPr/>
        </p:nvCxnSpPr>
        <p:spPr bwMode="auto">
          <a:xfrm rot="10800000" flipV="1">
            <a:off x="6044804" y="3686373"/>
            <a:ext cx="642937" cy="3175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044804" y="3067248"/>
            <a:ext cx="1428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0</a:t>
            </a:r>
            <a:r>
              <a:rPr lang="zh-CN" altLang="en-US" sz="2800" b="1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（假）</a:t>
            </a:r>
            <a:endParaRPr lang="zh-CN" altLang="zh-CN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cxnSp>
        <p:nvCxnSpPr>
          <p:cNvPr id="20" name="直接连接符 19"/>
          <p:cNvCxnSpPr>
            <a:cxnSpLocks noChangeShapeType="1"/>
          </p:cNvCxnSpPr>
          <p:nvPr/>
        </p:nvCxnSpPr>
        <p:spPr bwMode="auto">
          <a:xfrm rot="10800000" flipV="1">
            <a:off x="1969691" y="3683198"/>
            <a:ext cx="642938" cy="3175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1329929" y="4281686"/>
            <a:ext cx="1285875" cy="523875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语句</a:t>
            </a:r>
            <a:r>
              <a:rPr lang="en-US" altLang="zh-CN" sz="2800" b="1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endParaRPr lang="zh-CN" altLang="zh-CN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cxnSp>
        <p:nvCxnSpPr>
          <p:cNvPr id="24" name="直接箭头连接符 23"/>
          <p:cNvCxnSpPr>
            <a:cxnSpLocks noChangeShapeType="1"/>
          </p:cNvCxnSpPr>
          <p:nvPr/>
        </p:nvCxnSpPr>
        <p:spPr bwMode="auto">
          <a:xfrm rot="5400000">
            <a:off x="1652191" y="3983236"/>
            <a:ext cx="642937" cy="1588"/>
          </a:xfrm>
          <a:prstGeom prst="straightConnector1">
            <a:avLst/>
          </a:prstGeom>
          <a:noFill/>
          <a:ln w="38100" algn="ctr">
            <a:solidFill>
              <a:srgbClr val="00B05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直接连接符 26"/>
          <p:cNvCxnSpPr>
            <a:cxnSpLocks noChangeShapeType="1"/>
          </p:cNvCxnSpPr>
          <p:nvPr/>
        </p:nvCxnSpPr>
        <p:spPr bwMode="auto">
          <a:xfrm rot="10800000" flipV="1">
            <a:off x="1972866" y="5210373"/>
            <a:ext cx="4714875" cy="3175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直接连接符 29"/>
          <p:cNvCxnSpPr>
            <a:cxnSpLocks noChangeShapeType="1"/>
            <a:stCxn id="23" idx="2"/>
          </p:cNvCxnSpPr>
          <p:nvPr/>
        </p:nvCxnSpPr>
        <p:spPr bwMode="auto">
          <a:xfrm rot="16200000" flipH="1">
            <a:off x="1770460" y="5007967"/>
            <a:ext cx="404812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直接连接符 32"/>
          <p:cNvCxnSpPr>
            <a:cxnSpLocks noChangeShapeType="1"/>
          </p:cNvCxnSpPr>
          <p:nvPr/>
        </p:nvCxnSpPr>
        <p:spPr bwMode="auto">
          <a:xfrm rot="16200000" flipH="1">
            <a:off x="6485334" y="4984155"/>
            <a:ext cx="404813" cy="0"/>
          </a:xfrm>
          <a:prstGeom prst="line">
            <a:avLst/>
          </a:prstGeom>
          <a:noFill/>
          <a:ln w="38100" algn="ctr">
            <a:solidFill>
              <a:srgbClr val="00B05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>
          <a:xfrm>
            <a:off x="2571" y="0"/>
            <a:ext cx="8001000" cy="830262"/>
          </a:xfrm>
          <a:effectLst/>
        </p:spPr>
        <p:txBody>
          <a:bodyPr anchor="ctr"/>
          <a:lstStyle/>
          <a:p>
            <a:pPr algn="l" eaLnBrk="1" hangingPunct="1"/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4.2.2  if</a:t>
            </a:r>
            <a:r>
              <a:rPr lang="zh-CN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语句的一般形式</a:t>
            </a:r>
            <a:endParaRPr lang="zh-CN" altLang="en-US" sz="40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42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/>
      <p:bldP spid="19" grpId="0"/>
      <p:bldP spid="2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4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043608" y="1340768"/>
            <a:ext cx="7551738" cy="16430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1.if (</a:t>
            </a:r>
            <a:r>
              <a:rPr lang="zh-CN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表达式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) </a:t>
            </a:r>
            <a:r>
              <a:rPr lang="zh-CN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语句</a:t>
            </a:r>
            <a:endParaRPr lang="en-US" altLang="zh-CN" sz="3200" b="1" kern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2.if (</a:t>
            </a:r>
            <a:r>
              <a:rPr lang="zh-CN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表达式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) </a:t>
            </a:r>
            <a:r>
              <a:rPr lang="zh-CN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语句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 else</a:t>
            </a:r>
            <a:r>
              <a:rPr lang="zh-CN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 语句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2168352" y="1358877"/>
            <a:ext cx="1510348" cy="500062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" name="线形标注 2 8"/>
          <p:cNvSpPr/>
          <p:nvPr/>
        </p:nvSpPr>
        <p:spPr bwMode="auto">
          <a:xfrm>
            <a:off x="4484506" y="2852936"/>
            <a:ext cx="2702727" cy="11430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6245"/>
              <a:gd name="adj6" fmla="val -42606"/>
            </a:avLst>
          </a:prstGeom>
          <a:solidFill>
            <a:schemeClr val="accent1"/>
          </a:solidFill>
          <a:ln w="38100" algn="ctr">
            <a:solidFill>
              <a:srgbClr val="FF0000"/>
            </a:solidFill>
            <a:miter lim="800000"/>
          </a:ln>
        </p:spPr>
        <p:txBody>
          <a:bodyPr wrap="none"/>
          <a:lstStyle/>
          <a:p>
            <a:r>
              <a:rPr lang="zh-CN" altLang="zh-CN" sz="3200" b="1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关系表达式</a:t>
            </a:r>
            <a:endParaRPr lang="en-US" altLang="zh-CN" sz="3200" b="1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r>
              <a:rPr lang="zh-CN" altLang="zh-CN" sz="3200" b="1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逻辑表达式</a:t>
            </a:r>
            <a:endParaRPr lang="en-US" altLang="zh-CN" sz="3200" b="1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2168352" y="2126581"/>
            <a:ext cx="1510348" cy="500062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1736304" y="4130445"/>
            <a:ext cx="4667349" cy="15716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if(</a:t>
            </a:r>
            <a:r>
              <a:rPr lang="en-US" altLang="zh-CN" sz="3200" b="1" kern="0" dirty="0">
                <a:solidFill>
                  <a:srgbClr val="C00000"/>
                </a:solidFill>
                <a:latin typeface="+mn-lt"/>
                <a:ea typeface="+mn-ea"/>
              </a:rPr>
              <a:t>a==b &amp;&amp; x==y</a:t>
            </a:r>
            <a:r>
              <a:rPr lang="en-US" altLang="zh-CN" sz="3200" b="1" kern="0" dirty="0">
                <a:latin typeface="+mn-lt"/>
                <a:ea typeface="+mn-ea"/>
              </a:rPr>
              <a:t>)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     </a:t>
            </a:r>
            <a:r>
              <a:rPr lang="en-US" altLang="zh-CN" sz="3200" b="1" kern="0" dirty="0" err="1">
                <a:latin typeface="+mn-lt"/>
                <a:ea typeface="+mn-ea"/>
              </a:rPr>
              <a:t>printf</a:t>
            </a:r>
            <a:r>
              <a:rPr lang="en-US" altLang="zh-CN" sz="3200" b="1" kern="0" dirty="0">
                <a:latin typeface="+mn-lt"/>
                <a:ea typeface="+mn-ea"/>
              </a:rPr>
              <a:t>(”a=</a:t>
            </a:r>
            <a:r>
              <a:rPr lang="en-US" altLang="zh-CN" sz="3200" b="1" kern="0" dirty="0" err="1">
                <a:latin typeface="+mn-lt"/>
                <a:ea typeface="+mn-ea"/>
              </a:rPr>
              <a:t>b,x</a:t>
            </a:r>
            <a:r>
              <a:rPr lang="en-US" altLang="zh-CN" sz="3200" b="1" kern="0" dirty="0">
                <a:latin typeface="+mn-lt"/>
                <a:ea typeface="+mn-ea"/>
              </a:rPr>
              <a:t>=y”);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2571" y="0"/>
            <a:ext cx="8001000" cy="830262"/>
          </a:xfrm>
          <a:effectLst/>
        </p:spPr>
        <p:txBody>
          <a:bodyPr anchor="ctr"/>
          <a:lstStyle/>
          <a:p>
            <a:pPr algn="l" eaLnBrk="1" hangingPunct="1"/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4.2.2  if</a:t>
            </a:r>
            <a:r>
              <a:rPr lang="zh-CN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语句的一般形式</a:t>
            </a:r>
            <a:endParaRPr lang="zh-CN" altLang="en-US" sz="40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线形标注 2 12"/>
          <p:cNvSpPr/>
          <p:nvPr/>
        </p:nvSpPr>
        <p:spPr bwMode="auto">
          <a:xfrm>
            <a:off x="1091199" y="3329875"/>
            <a:ext cx="2280865" cy="642938"/>
          </a:xfrm>
          <a:prstGeom prst="borderCallout2">
            <a:avLst>
              <a:gd name="adj1" fmla="val -4597"/>
              <a:gd name="adj2" fmla="val 39991"/>
              <a:gd name="adj3" fmla="val -6722"/>
              <a:gd name="adj4" fmla="val 40648"/>
              <a:gd name="adj5" fmla="val -95366"/>
              <a:gd name="adj6" fmla="val 54042"/>
            </a:avLst>
          </a:prstGeom>
          <a:solidFill>
            <a:schemeClr val="accent1"/>
          </a:solidFill>
          <a:ln w="38100" algn="ctr">
            <a:solidFill>
              <a:srgbClr val="FF0000"/>
            </a:solidFill>
            <a:miter lim="800000"/>
          </a:ln>
        </p:spPr>
        <p:txBody>
          <a:bodyPr wrap="none"/>
          <a:lstStyle/>
          <a:p>
            <a:r>
              <a:rPr lang="zh-CN" altLang="en-US" sz="3200" b="1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数值表达式</a:t>
            </a:r>
            <a:endParaRPr lang="en-US" altLang="zh-CN" sz="3200" b="1" dirty="0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43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/>
      <p:bldP spid="1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8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043608" y="1226418"/>
            <a:ext cx="6786563" cy="16430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1.if (</a:t>
            </a:r>
            <a:r>
              <a:rPr lang="zh-CN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表达式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) </a:t>
            </a:r>
            <a:r>
              <a:rPr lang="zh-CN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语句</a:t>
            </a:r>
            <a:endParaRPr lang="en-US" altLang="zh-CN" sz="3200" b="1" kern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2.if (</a:t>
            </a:r>
            <a:r>
              <a:rPr lang="zh-CN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表达式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) </a:t>
            </a:r>
            <a:r>
              <a:rPr lang="zh-CN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语句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 else</a:t>
            </a:r>
            <a:r>
              <a:rPr lang="zh-CN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 语句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</a:p>
        </p:txBody>
      </p:sp>
      <p:sp>
        <p:nvSpPr>
          <p:cNvPr id="36870" name="矩形 7"/>
          <p:cNvSpPr>
            <a:spLocks noChangeArrowheads="1"/>
          </p:cNvSpPr>
          <p:nvPr/>
        </p:nvSpPr>
        <p:spPr bwMode="auto">
          <a:xfrm>
            <a:off x="2312368" y="1297856"/>
            <a:ext cx="1357313" cy="500062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6871" name="线形标注 2 8"/>
          <p:cNvSpPr/>
          <p:nvPr/>
        </p:nvSpPr>
        <p:spPr bwMode="auto">
          <a:xfrm>
            <a:off x="4901233" y="2869481"/>
            <a:ext cx="2428875" cy="11430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6245"/>
              <a:gd name="adj6" fmla="val -42606"/>
            </a:avLst>
          </a:prstGeom>
          <a:solidFill>
            <a:schemeClr val="accent1"/>
          </a:solidFill>
          <a:ln w="38100" algn="ctr">
            <a:solidFill>
              <a:srgbClr val="FF0000"/>
            </a:solidFill>
            <a:miter lim="800000"/>
          </a:ln>
        </p:spPr>
        <p:txBody>
          <a:bodyPr wrap="none"/>
          <a:lstStyle/>
          <a:p>
            <a:r>
              <a:rPr lang="zh-CN" altLang="zh-CN" sz="3200" b="1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关系表达式</a:t>
            </a:r>
            <a:endParaRPr lang="en-US" altLang="zh-CN" sz="3200" b="1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r>
              <a:rPr lang="zh-CN" altLang="zh-CN" sz="3200" b="1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逻辑表达式</a:t>
            </a:r>
            <a:endParaRPr lang="en-US" altLang="zh-CN" sz="3200" b="1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6872" name="矩形 9"/>
          <p:cNvSpPr>
            <a:spLocks noChangeArrowheads="1"/>
          </p:cNvSpPr>
          <p:nvPr/>
        </p:nvSpPr>
        <p:spPr bwMode="auto">
          <a:xfrm>
            <a:off x="2350216" y="2012231"/>
            <a:ext cx="1357313" cy="500062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1186483" y="4155356"/>
            <a:ext cx="6000750" cy="785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if(3)   </a:t>
            </a:r>
            <a:r>
              <a:rPr lang="en-US" altLang="zh-CN" sz="3200" b="1" kern="0" dirty="0" err="1">
                <a:latin typeface="黑体" panose="02010609060101010101" pitchFamily="2" charset="-122"/>
                <a:ea typeface="黑体" panose="02010609060101010101" pitchFamily="2" charset="-122"/>
              </a:rPr>
              <a:t>printf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(”O.K.”);</a:t>
            </a:r>
          </a:p>
        </p:txBody>
      </p:sp>
      <p:sp>
        <p:nvSpPr>
          <p:cNvPr id="12" name="线形标注 2 11"/>
          <p:cNvSpPr/>
          <p:nvPr/>
        </p:nvSpPr>
        <p:spPr bwMode="auto">
          <a:xfrm>
            <a:off x="1543671" y="3226668"/>
            <a:ext cx="2280865" cy="642938"/>
          </a:xfrm>
          <a:prstGeom prst="borderCallout2">
            <a:avLst>
              <a:gd name="adj1" fmla="val -4597"/>
              <a:gd name="adj2" fmla="val 39991"/>
              <a:gd name="adj3" fmla="val -6722"/>
              <a:gd name="adj4" fmla="val 40648"/>
              <a:gd name="adj5" fmla="val -95366"/>
              <a:gd name="adj6" fmla="val 54042"/>
            </a:avLst>
          </a:prstGeom>
          <a:solidFill>
            <a:schemeClr val="accent1"/>
          </a:solidFill>
          <a:ln w="38100" algn="ctr">
            <a:solidFill>
              <a:srgbClr val="FF0000"/>
            </a:solidFill>
            <a:miter lim="800000"/>
          </a:ln>
        </p:spPr>
        <p:txBody>
          <a:bodyPr wrap="none"/>
          <a:lstStyle/>
          <a:p>
            <a:r>
              <a:rPr lang="zh-CN" altLang="en-US" sz="3200" b="1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数值表达式</a:t>
            </a:r>
            <a:endParaRPr lang="en-US" altLang="zh-CN" sz="3200" b="1" dirty="0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2571" y="0"/>
            <a:ext cx="8001000" cy="830262"/>
          </a:xfrm>
          <a:effectLst/>
        </p:spPr>
        <p:txBody>
          <a:bodyPr anchor="ctr"/>
          <a:lstStyle/>
          <a:p>
            <a:pPr algn="l" eaLnBrk="1" hangingPunct="1"/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4.2.2  if</a:t>
            </a:r>
            <a:r>
              <a:rPr lang="zh-CN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语句的一般形式</a:t>
            </a:r>
            <a:endParaRPr lang="zh-CN" altLang="en-US" sz="40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44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2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6380" y="515716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899592" y="978512"/>
            <a:ext cx="7173416" cy="16430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1.if (</a:t>
            </a:r>
            <a:r>
              <a:rPr lang="zh-CN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表达式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) </a:t>
            </a:r>
            <a:r>
              <a:rPr lang="zh-CN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语句</a:t>
            </a:r>
            <a:endParaRPr lang="en-US" altLang="zh-CN" sz="3200" b="1" kern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2.if (</a:t>
            </a:r>
            <a:r>
              <a:rPr lang="zh-CN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表达式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) </a:t>
            </a:r>
            <a:r>
              <a:rPr lang="zh-CN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语句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 else</a:t>
            </a:r>
            <a:r>
              <a:rPr lang="zh-CN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 语句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</a:p>
        </p:txBody>
      </p:sp>
      <p:sp>
        <p:nvSpPr>
          <p:cNvPr id="37894" name="矩形 7"/>
          <p:cNvSpPr>
            <a:spLocks noChangeArrowheads="1"/>
          </p:cNvSpPr>
          <p:nvPr/>
        </p:nvSpPr>
        <p:spPr bwMode="auto">
          <a:xfrm>
            <a:off x="2096344" y="1049950"/>
            <a:ext cx="1434684" cy="500062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7895" name="线形标注 2 8"/>
          <p:cNvSpPr/>
          <p:nvPr/>
        </p:nvSpPr>
        <p:spPr bwMode="auto">
          <a:xfrm>
            <a:off x="4757217" y="2621575"/>
            <a:ext cx="2357438" cy="11430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6245"/>
              <a:gd name="adj6" fmla="val -42606"/>
            </a:avLst>
          </a:prstGeom>
          <a:solidFill>
            <a:schemeClr val="accent1"/>
          </a:solidFill>
          <a:ln w="38100" algn="ctr">
            <a:solidFill>
              <a:srgbClr val="FF0000"/>
            </a:solidFill>
            <a:miter lim="800000"/>
          </a:ln>
        </p:spPr>
        <p:txBody>
          <a:bodyPr wrap="none"/>
          <a:lstStyle/>
          <a:p>
            <a:r>
              <a:rPr lang="zh-CN" altLang="zh-CN" sz="3200" b="1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关系表达式</a:t>
            </a:r>
            <a:endParaRPr lang="en-US" altLang="zh-CN" sz="3200" b="1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r>
              <a:rPr lang="zh-CN" altLang="zh-CN" sz="3200" b="1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逻辑表达式</a:t>
            </a:r>
            <a:endParaRPr lang="en-US" altLang="zh-CN" sz="3200" b="1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7896" name="矩形 9"/>
          <p:cNvSpPr>
            <a:spLocks noChangeArrowheads="1"/>
          </p:cNvSpPr>
          <p:nvPr/>
        </p:nvSpPr>
        <p:spPr bwMode="auto">
          <a:xfrm>
            <a:off x="2096344" y="1764325"/>
            <a:ext cx="1434684" cy="500062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1113905" y="3993149"/>
            <a:ext cx="6000750" cy="1428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if(x&gt;0)   </a:t>
            </a:r>
            <a:r>
              <a:rPr lang="en-US" altLang="zh-CN" sz="3200" b="1" kern="0" dirty="0" err="1">
                <a:latin typeface="+mn-lt"/>
                <a:ea typeface="+mn-ea"/>
              </a:rPr>
              <a:t>printf</a:t>
            </a:r>
            <a:r>
              <a:rPr lang="en-US" altLang="zh-CN" sz="3200" b="1" kern="0" dirty="0">
                <a:latin typeface="+mn-lt"/>
                <a:ea typeface="+mn-ea"/>
              </a:rPr>
              <a:t>(”%</a:t>
            </a:r>
            <a:r>
              <a:rPr lang="en-US" altLang="zh-CN" sz="3200" b="1" kern="0" dirty="0" err="1">
                <a:latin typeface="+mn-lt"/>
                <a:ea typeface="+mn-ea"/>
              </a:rPr>
              <a:t>f”,x</a:t>
            </a:r>
            <a:r>
              <a:rPr lang="en-US" altLang="zh-CN" sz="3200" b="1" kern="0" dirty="0">
                <a:latin typeface="+mn-lt"/>
                <a:ea typeface="+mn-ea"/>
              </a:rPr>
              <a:t>)</a:t>
            </a:r>
            <a:r>
              <a:rPr lang="en-US" altLang="zh-CN" sz="3200" b="1" kern="0" dirty="0">
                <a:solidFill>
                  <a:srgbClr val="C00000"/>
                </a:solidFill>
                <a:latin typeface="+mn-lt"/>
                <a:ea typeface="+mn-ea"/>
              </a:rPr>
              <a:t>;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else   </a:t>
            </a:r>
            <a:r>
              <a:rPr lang="en-US" altLang="zh-CN" sz="3200" b="1" kern="0" dirty="0" err="1">
                <a:latin typeface="+mn-lt"/>
                <a:ea typeface="+mn-ea"/>
              </a:rPr>
              <a:t>printf</a:t>
            </a:r>
            <a:r>
              <a:rPr lang="en-US" altLang="zh-CN" sz="3200" b="1" kern="0" dirty="0">
                <a:latin typeface="+mn-lt"/>
                <a:ea typeface="+mn-ea"/>
              </a:rPr>
              <a:t>(”%f”,-x)</a:t>
            </a:r>
            <a:r>
              <a:rPr lang="en-US" altLang="zh-CN" sz="3200" b="1" kern="0" dirty="0">
                <a:solidFill>
                  <a:srgbClr val="C00000"/>
                </a:solidFill>
                <a:latin typeface="+mn-lt"/>
                <a:ea typeface="+mn-ea"/>
              </a:rPr>
              <a:t>;</a:t>
            </a:r>
          </a:p>
        </p:txBody>
      </p:sp>
      <p:sp>
        <p:nvSpPr>
          <p:cNvPr id="37898" name="线形标注 2 11"/>
          <p:cNvSpPr/>
          <p:nvPr/>
        </p:nvSpPr>
        <p:spPr bwMode="auto">
          <a:xfrm>
            <a:off x="1399655" y="2978762"/>
            <a:ext cx="2363371" cy="642938"/>
          </a:xfrm>
          <a:prstGeom prst="borderCallout2">
            <a:avLst>
              <a:gd name="adj1" fmla="val -4597"/>
              <a:gd name="adj2" fmla="val 39991"/>
              <a:gd name="adj3" fmla="val -6722"/>
              <a:gd name="adj4" fmla="val 40648"/>
              <a:gd name="adj5" fmla="val -95366"/>
              <a:gd name="adj6" fmla="val 54042"/>
            </a:avLst>
          </a:prstGeom>
          <a:solidFill>
            <a:schemeClr val="accent1"/>
          </a:solidFill>
          <a:ln w="38100" algn="ctr">
            <a:solidFill>
              <a:srgbClr val="FF0000"/>
            </a:solidFill>
            <a:miter lim="800000"/>
          </a:ln>
        </p:spPr>
        <p:txBody>
          <a:bodyPr wrap="none"/>
          <a:lstStyle/>
          <a:p>
            <a:r>
              <a:rPr lang="zh-CN" altLang="en-US" sz="3200" b="1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数值表达式</a:t>
            </a:r>
            <a:endParaRPr lang="en-US" altLang="zh-CN" sz="3200" b="1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3" name="椭圆形标注 12"/>
          <p:cNvSpPr>
            <a:spLocks noChangeArrowheads="1"/>
          </p:cNvSpPr>
          <p:nvPr/>
        </p:nvSpPr>
        <p:spPr bwMode="auto">
          <a:xfrm>
            <a:off x="5954192" y="4659982"/>
            <a:ext cx="1857375" cy="857250"/>
          </a:xfrm>
          <a:prstGeom prst="wedgeEllipseCallout">
            <a:avLst>
              <a:gd name="adj1" fmla="val -76676"/>
              <a:gd name="adj2" fmla="val 9963"/>
            </a:avLst>
          </a:prstGeom>
          <a:solidFill>
            <a:srgbClr val="FFCCFF"/>
          </a:solidFill>
          <a:ln w="9525" algn="ctr">
            <a:solidFill>
              <a:srgbClr val="00B050"/>
            </a:solidFill>
            <a:miter lim="800000"/>
          </a:ln>
        </p:spPr>
        <p:txBody>
          <a:bodyPr wrap="none"/>
          <a:lstStyle/>
          <a:p>
            <a:pPr algn="ctr"/>
            <a:r>
              <a:rPr lang="zh-CN" altLang="en-US" sz="3200" b="1" dirty="0">
                <a:solidFill>
                  <a:srgbClr val="00B05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不能丢</a:t>
            </a:r>
          </a:p>
        </p:txBody>
      </p:sp>
      <p:sp>
        <p:nvSpPr>
          <p:cNvPr id="14" name="椭圆 13"/>
          <p:cNvSpPr>
            <a:spLocks noChangeArrowheads="1"/>
          </p:cNvSpPr>
          <p:nvPr/>
        </p:nvSpPr>
        <p:spPr bwMode="auto">
          <a:xfrm>
            <a:off x="5264696" y="3993149"/>
            <a:ext cx="500063" cy="714375"/>
          </a:xfrm>
          <a:prstGeom prst="ellipse">
            <a:avLst/>
          </a:prstGeom>
          <a:noFill/>
          <a:ln w="38100" algn="ctr">
            <a:solidFill>
              <a:srgbClr val="00B05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" name="椭圆 14"/>
          <p:cNvSpPr>
            <a:spLocks noChangeArrowheads="1"/>
          </p:cNvSpPr>
          <p:nvPr/>
        </p:nvSpPr>
        <p:spPr bwMode="auto">
          <a:xfrm>
            <a:off x="5014665" y="4731420"/>
            <a:ext cx="500062" cy="714375"/>
          </a:xfrm>
          <a:prstGeom prst="ellipse">
            <a:avLst/>
          </a:prstGeom>
          <a:noFill/>
          <a:ln w="38100" algn="ctr">
            <a:solidFill>
              <a:srgbClr val="00B05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2571" y="0"/>
            <a:ext cx="8001000" cy="830262"/>
          </a:xfrm>
          <a:effectLst/>
        </p:spPr>
        <p:txBody>
          <a:bodyPr anchor="ctr"/>
          <a:lstStyle/>
          <a:p>
            <a:pPr algn="l" eaLnBrk="1" hangingPunct="1"/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4.2.2  if</a:t>
            </a:r>
            <a:r>
              <a:rPr lang="zh-CN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语句的一般形式</a:t>
            </a:r>
            <a:endParaRPr lang="zh-CN" altLang="en-US" sz="40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45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 animBg="1"/>
      <p:bldP spid="14" grpId="0" animBg="1"/>
      <p:bldP spid="1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6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071505" y="999094"/>
            <a:ext cx="7173416" cy="16430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1.if (</a:t>
            </a:r>
            <a:r>
              <a:rPr lang="zh-CN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表达式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) </a:t>
            </a:r>
            <a:r>
              <a:rPr lang="zh-CN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语句</a:t>
            </a:r>
            <a:endParaRPr lang="en-US" altLang="zh-CN" sz="3200" b="1" kern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2.if (</a:t>
            </a:r>
            <a:r>
              <a:rPr lang="zh-CN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表达式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) </a:t>
            </a:r>
            <a:r>
              <a:rPr lang="zh-CN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语句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 else</a:t>
            </a:r>
            <a:r>
              <a:rPr lang="zh-CN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 语句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</a:p>
        </p:txBody>
      </p:sp>
      <p:sp>
        <p:nvSpPr>
          <p:cNvPr id="38918" name="矩形 7"/>
          <p:cNvSpPr>
            <a:spLocks noChangeArrowheads="1"/>
          </p:cNvSpPr>
          <p:nvPr/>
        </p:nvSpPr>
        <p:spPr bwMode="auto">
          <a:xfrm>
            <a:off x="2412273" y="1079907"/>
            <a:ext cx="1357313" cy="500062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8919" name="线形标注 2 8"/>
          <p:cNvSpPr/>
          <p:nvPr/>
        </p:nvSpPr>
        <p:spPr bwMode="auto">
          <a:xfrm>
            <a:off x="4929130" y="2642157"/>
            <a:ext cx="2428875" cy="11430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6245"/>
              <a:gd name="adj6" fmla="val -42606"/>
            </a:avLst>
          </a:prstGeom>
          <a:solidFill>
            <a:schemeClr val="accent1"/>
          </a:solidFill>
          <a:ln w="38100" algn="ctr">
            <a:solidFill>
              <a:srgbClr val="FF0000"/>
            </a:solidFill>
            <a:miter lim="800000"/>
          </a:ln>
        </p:spPr>
        <p:txBody>
          <a:bodyPr wrap="none"/>
          <a:lstStyle/>
          <a:p>
            <a:r>
              <a:rPr lang="zh-CN" altLang="zh-CN" sz="3200" b="1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关系表达式</a:t>
            </a:r>
            <a:endParaRPr lang="en-US" altLang="zh-CN" sz="3200" b="1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r>
              <a:rPr lang="zh-CN" altLang="zh-CN" sz="3200" b="1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逻辑表达式</a:t>
            </a:r>
            <a:endParaRPr lang="en-US" altLang="zh-CN" sz="3200" b="1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8920" name="矩形 9"/>
          <p:cNvSpPr>
            <a:spLocks noChangeArrowheads="1"/>
          </p:cNvSpPr>
          <p:nvPr/>
        </p:nvSpPr>
        <p:spPr bwMode="auto">
          <a:xfrm>
            <a:off x="2412273" y="1785986"/>
            <a:ext cx="1357313" cy="500062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1236059" y="4088482"/>
            <a:ext cx="6000750" cy="1428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if(x&gt;0)   </a:t>
            </a:r>
            <a:r>
              <a:rPr lang="en-US" altLang="zh-CN" sz="3200" b="1" kern="0" dirty="0" err="1">
                <a:latin typeface="+mn-lt"/>
                <a:ea typeface="+mn-ea"/>
              </a:rPr>
              <a:t>printf</a:t>
            </a:r>
            <a:r>
              <a:rPr lang="en-US" altLang="zh-CN" sz="3200" b="1" kern="0" dirty="0">
                <a:latin typeface="+mn-lt"/>
                <a:ea typeface="+mn-ea"/>
              </a:rPr>
              <a:t>(”%</a:t>
            </a:r>
            <a:r>
              <a:rPr lang="en-US" altLang="zh-CN" sz="3200" b="1" kern="0" dirty="0" err="1">
                <a:latin typeface="+mn-lt"/>
                <a:ea typeface="+mn-ea"/>
              </a:rPr>
              <a:t>f”,x</a:t>
            </a:r>
            <a:r>
              <a:rPr lang="en-US" altLang="zh-CN" sz="3200" b="1" kern="0" dirty="0">
                <a:latin typeface="+mn-lt"/>
                <a:ea typeface="+mn-ea"/>
              </a:rPr>
              <a:t>)</a:t>
            </a:r>
            <a:r>
              <a:rPr lang="en-US" altLang="zh-CN" sz="3200" b="1" kern="0" dirty="0">
                <a:solidFill>
                  <a:srgbClr val="C00000"/>
                </a:solidFill>
                <a:latin typeface="+mn-lt"/>
                <a:ea typeface="+mn-ea"/>
              </a:rPr>
              <a:t>;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else     </a:t>
            </a:r>
            <a:r>
              <a:rPr lang="en-US" altLang="zh-CN" sz="3200" b="1" kern="0" dirty="0" err="1">
                <a:latin typeface="+mn-lt"/>
                <a:ea typeface="+mn-ea"/>
              </a:rPr>
              <a:t>printf</a:t>
            </a:r>
            <a:r>
              <a:rPr lang="en-US" altLang="zh-CN" sz="3200" b="1" kern="0" dirty="0">
                <a:latin typeface="+mn-lt"/>
                <a:ea typeface="+mn-ea"/>
              </a:rPr>
              <a:t>(”%f”,-x)</a:t>
            </a:r>
            <a:r>
              <a:rPr lang="en-US" altLang="zh-CN" sz="3200" b="1" kern="0" dirty="0">
                <a:solidFill>
                  <a:srgbClr val="C00000"/>
                </a:solidFill>
                <a:latin typeface="+mn-lt"/>
                <a:ea typeface="+mn-ea"/>
              </a:rPr>
              <a:t>;</a:t>
            </a:r>
          </a:p>
        </p:txBody>
      </p:sp>
      <p:sp>
        <p:nvSpPr>
          <p:cNvPr id="38922" name="线形标注 2 11"/>
          <p:cNvSpPr/>
          <p:nvPr/>
        </p:nvSpPr>
        <p:spPr bwMode="auto">
          <a:xfrm>
            <a:off x="1571568" y="2999344"/>
            <a:ext cx="2428875" cy="642938"/>
          </a:xfrm>
          <a:prstGeom prst="borderCallout2">
            <a:avLst>
              <a:gd name="adj1" fmla="val -4597"/>
              <a:gd name="adj2" fmla="val 39991"/>
              <a:gd name="adj3" fmla="val -6722"/>
              <a:gd name="adj4" fmla="val 40648"/>
              <a:gd name="adj5" fmla="val -95366"/>
              <a:gd name="adj6" fmla="val 54042"/>
            </a:avLst>
          </a:prstGeom>
          <a:solidFill>
            <a:schemeClr val="accent1"/>
          </a:solidFill>
          <a:ln w="38100" algn="ctr">
            <a:solidFill>
              <a:srgbClr val="FF0000"/>
            </a:solidFill>
            <a:miter lim="800000"/>
          </a:ln>
        </p:spPr>
        <p:txBody>
          <a:bodyPr wrap="none"/>
          <a:lstStyle/>
          <a:p>
            <a:r>
              <a:rPr lang="zh-CN" altLang="en-US" sz="3200" b="1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数值表达式</a:t>
            </a:r>
            <a:endParaRPr lang="en-US" altLang="zh-CN" sz="3200" b="1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3" name="椭圆形标注 12"/>
          <p:cNvSpPr>
            <a:spLocks noChangeArrowheads="1"/>
          </p:cNvSpPr>
          <p:nvPr/>
        </p:nvSpPr>
        <p:spPr bwMode="auto">
          <a:xfrm>
            <a:off x="142818" y="3356532"/>
            <a:ext cx="1428750" cy="857250"/>
          </a:xfrm>
          <a:prstGeom prst="wedgeEllipseCallout">
            <a:avLst>
              <a:gd name="adj1" fmla="val 34130"/>
              <a:gd name="adj2" fmla="val 143694"/>
            </a:avLst>
          </a:prstGeom>
          <a:solidFill>
            <a:srgbClr val="FFCCFF"/>
          </a:solidFill>
          <a:ln w="9525" algn="ctr">
            <a:solidFill>
              <a:srgbClr val="00B050"/>
            </a:solidFill>
            <a:miter lim="800000"/>
          </a:ln>
        </p:spPr>
        <p:txBody>
          <a:bodyPr wrap="none"/>
          <a:lstStyle/>
          <a:p>
            <a:pPr algn="ctr"/>
            <a:r>
              <a:rPr lang="zh-CN" altLang="en-US" sz="3200" b="1">
                <a:solidFill>
                  <a:srgbClr val="00B05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配对</a:t>
            </a:r>
          </a:p>
        </p:txBody>
      </p:sp>
      <p:sp>
        <p:nvSpPr>
          <p:cNvPr id="14" name="椭圆 13"/>
          <p:cNvSpPr>
            <a:spLocks noChangeArrowheads="1"/>
          </p:cNvSpPr>
          <p:nvPr/>
        </p:nvSpPr>
        <p:spPr bwMode="auto">
          <a:xfrm>
            <a:off x="1179286" y="4039629"/>
            <a:ext cx="500062" cy="714375"/>
          </a:xfrm>
          <a:prstGeom prst="ellipse">
            <a:avLst/>
          </a:prstGeom>
          <a:noFill/>
          <a:ln w="38100" algn="ctr">
            <a:solidFill>
              <a:srgbClr val="00B05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" name="椭圆 14"/>
          <p:cNvSpPr>
            <a:spLocks noChangeArrowheads="1"/>
          </p:cNvSpPr>
          <p:nvPr/>
        </p:nvSpPr>
        <p:spPr bwMode="auto">
          <a:xfrm>
            <a:off x="995352" y="4754004"/>
            <a:ext cx="1214438" cy="714375"/>
          </a:xfrm>
          <a:prstGeom prst="ellipse">
            <a:avLst/>
          </a:prstGeom>
          <a:noFill/>
          <a:ln w="38100" algn="ctr">
            <a:solidFill>
              <a:srgbClr val="00B05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2571" y="0"/>
            <a:ext cx="8001000" cy="830262"/>
          </a:xfrm>
          <a:effectLst/>
        </p:spPr>
        <p:txBody>
          <a:bodyPr anchor="ctr"/>
          <a:lstStyle/>
          <a:p>
            <a:pPr algn="l" eaLnBrk="1" hangingPunct="1"/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4.2.2  if</a:t>
            </a:r>
            <a:r>
              <a:rPr lang="zh-CN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语句的一般形式</a:t>
            </a:r>
            <a:endParaRPr lang="zh-CN" altLang="en-US" sz="40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46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40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043608" y="1052736"/>
            <a:ext cx="6786563" cy="16430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1.if (</a:t>
            </a:r>
            <a:r>
              <a:rPr lang="zh-CN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表达式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) </a:t>
            </a:r>
            <a:r>
              <a:rPr lang="zh-CN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语句</a:t>
            </a:r>
            <a:endParaRPr lang="en-US" altLang="zh-CN" sz="3200" b="1" kern="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2.if (</a:t>
            </a:r>
            <a:r>
              <a:rPr lang="zh-CN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表达式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) </a:t>
            </a:r>
            <a:r>
              <a:rPr lang="zh-CN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语句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 else</a:t>
            </a:r>
            <a:r>
              <a:rPr lang="zh-CN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 语句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3945660" y="1159201"/>
            <a:ext cx="1214437" cy="500062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" name="线形标注 2 8"/>
          <p:cNvSpPr/>
          <p:nvPr/>
        </p:nvSpPr>
        <p:spPr bwMode="auto">
          <a:xfrm>
            <a:off x="3177208" y="3306527"/>
            <a:ext cx="2951163" cy="1922674"/>
          </a:xfrm>
          <a:prstGeom prst="borderCallout2">
            <a:avLst>
              <a:gd name="adj1" fmla="val 5106"/>
              <a:gd name="adj2" fmla="val 52986"/>
              <a:gd name="adj3" fmla="val 5106"/>
              <a:gd name="adj4" fmla="val 52986"/>
              <a:gd name="adj5" fmla="val -38227"/>
              <a:gd name="adj6" fmla="val 52986"/>
            </a:avLst>
          </a:prstGeom>
          <a:solidFill>
            <a:schemeClr val="accent1"/>
          </a:solidFill>
          <a:ln w="38100" algn="ctr">
            <a:solidFill>
              <a:srgbClr val="FF0000"/>
            </a:solidFill>
            <a:miter lim="800000"/>
          </a:ln>
        </p:spPr>
        <p:txBody>
          <a:bodyPr wrap="none"/>
          <a:lstStyle/>
          <a:p>
            <a:r>
              <a:rPr lang="zh-CN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可以是：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r>
              <a:rPr lang="zh-CN" altLang="zh-CN" sz="2800" b="1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简单的语句</a:t>
            </a:r>
            <a:endParaRPr lang="en-US" altLang="zh-CN" sz="2800" b="1" dirty="0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r>
              <a:rPr lang="zh-CN" altLang="zh-CN" sz="2800" b="1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复合语句</a:t>
            </a:r>
            <a:endParaRPr lang="en-US" altLang="zh-CN" sz="2800" b="1" dirty="0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r>
              <a:rPr lang="zh-CN" altLang="zh-CN" sz="2800" b="1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另一个</a:t>
            </a:r>
            <a:r>
              <a:rPr lang="en-US" altLang="zh-CN" sz="2800" b="1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if</a:t>
            </a:r>
            <a:r>
              <a:rPr lang="zh-CN" altLang="zh-CN" sz="2800" b="1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语句</a:t>
            </a:r>
            <a:r>
              <a:rPr lang="zh-CN" altLang="en-US" sz="2800" b="1" dirty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等</a:t>
            </a: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3945659" y="1822418"/>
            <a:ext cx="1357313" cy="500062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6344816" y="1838549"/>
            <a:ext cx="1357313" cy="500062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2571" y="0"/>
            <a:ext cx="8001000" cy="830262"/>
          </a:xfrm>
          <a:effectLst/>
        </p:spPr>
        <p:txBody>
          <a:bodyPr anchor="ctr"/>
          <a:lstStyle/>
          <a:p>
            <a:pPr algn="l" eaLnBrk="1" hangingPunct="1"/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4.2.2  if</a:t>
            </a:r>
            <a:r>
              <a:rPr lang="zh-CN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语句的一般形式</a:t>
            </a:r>
            <a:endParaRPr lang="zh-CN" altLang="en-US" sz="40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47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38" y="2571750"/>
            <a:ext cx="7786687" cy="1643063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(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endParaRPr lang="zh-CN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[ else  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 ]</a:t>
            </a:r>
          </a:p>
        </p:txBody>
      </p:sp>
      <p:sp>
        <p:nvSpPr>
          <p:cNvPr id="3072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072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701378" y="2784922"/>
            <a:ext cx="1214438" cy="500062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" name="线形标注 2 8"/>
          <p:cNvSpPr/>
          <p:nvPr/>
        </p:nvSpPr>
        <p:spPr bwMode="auto">
          <a:xfrm>
            <a:off x="4929188" y="1714500"/>
            <a:ext cx="2428875" cy="150018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57394"/>
              <a:gd name="adj6" fmla="val -65083"/>
            </a:avLst>
          </a:prstGeom>
          <a:solidFill>
            <a:schemeClr val="accent1"/>
          </a:solidFill>
          <a:ln w="38100" algn="ctr">
            <a:solidFill>
              <a:srgbClr val="FF0000"/>
            </a:solidFill>
            <a:miter lim="800000"/>
          </a:ln>
        </p:spPr>
        <p:txBody>
          <a:bodyPr wrap="none"/>
          <a:lstStyle/>
          <a:p>
            <a:r>
              <a:rPr lang="zh-CN" altLang="zh-CN" sz="3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关系表达式</a:t>
            </a:r>
            <a:endParaRPr lang="en-US" altLang="zh-CN" sz="3200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3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逻辑表达式</a:t>
            </a:r>
            <a:endParaRPr lang="en-US" altLang="zh-CN" sz="3200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3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数值表达式</a:t>
            </a:r>
            <a:endParaRPr lang="zh-CN" altLang="en-US" sz="3200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866937" y="4165340"/>
            <a:ext cx="409775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方括号内的部分为可选的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>
            <a:cxnSpLocks noChangeShapeType="1"/>
          </p:cNvCxnSpPr>
          <p:nvPr/>
        </p:nvCxnSpPr>
        <p:spPr bwMode="auto">
          <a:xfrm>
            <a:off x="1331640" y="4077072"/>
            <a:ext cx="3061766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0731" name="图片 11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2571" y="0"/>
            <a:ext cx="8001000" cy="830262"/>
          </a:xfrm>
          <a:effectLst/>
        </p:spPr>
        <p:txBody>
          <a:bodyPr anchor="ctr"/>
          <a:lstStyle/>
          <a:p>
            <a:pPr algn="l" eaLnBrk="1" hangingPunct="1"/>
            <a:r>
              <a:rPr lang="en-US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4.2.2  if</a:t>
            </a:r>
            <a:r>
              <a:rPr lang="zh-CN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语句的一般形式</a:t>
            </a:r>
            <a:endParaRPr lang="zh-CN" altLang="en-US" sz="40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48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38" y="1700808"/>
            <a:ext cx="7786687" cy="1643063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(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endParaRPr lang="zh-CN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[ else  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 ]</a:t>
            </a:r>
          </a:p>
        </p:txBody>
      </p:sp>
      <p:sp>
        <p:nvSpPr>
          <p:cNvPr id="3174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74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75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3131840" y="1909986"/>
            <a:ext cx="1285875" cy="500062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5143500" y="2486621"/>
            <a:ext cx="28575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简单的语句</a:t>
            </a:r>
            <a:endParaRPr lang="en-US" altLang="zh-CN" sz="2800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复合语句</a:t>
            </a:r>
            <a:endParaRPr lang="en-US" altLang="zh-CN" sz="2800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另一个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2627784" y="2678709"/>
            <a:ext cx="1285875" cy="500062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pic>
        <p:nvPicPr>
          <p:cNvPr id="31754" name="图片 10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2571" y="0"/>
            <a:ext cx="8001000" cy="830262"/>
          </a:xfrm>
          <a:effectLst/>
        </p:spPr>
        <p:txBody>
          <a:bodyPr anchor="ctr"/>
          <a:lstStyle/>
          <a:p>
            <a:pPr algn="l" eaLnBrk="1" hangingPunct="1"/>
            <a:r>
              <a:rPr lang="en-US" altLang="zh-CN" sz="4000" b="1" kern="12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4.2.2  if</a:t>
            </a:r>
            <a:r>
              <a:rPr lang="zh-CN" altLang="zh-CN" sz="4000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语句的一般形式</a:t>
            </a:r>
            <a:endParaRPr lang="zh-CN" altLang="en-US" sz="40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49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505473"/>
            <a:ext cx="8286750" cy="585787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最常用的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形式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if (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  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zh-CN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子句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9D138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if (</a:t>
            </a:r>
            <a:r>
              <a:rPr lang="zh-CN" altLang="zh-CN" sz="2800" dirty="0">
                <a:solidFill>
                  <a:srgbClr val="9D138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800" dirty="0">
                <a:solidFill>
                  <a:srgbClr val="9D138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zh-CN" sz="2800" dirty="0">
                <a:solidFill>
                  <a:srgbClr val="9D138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800" dirty="0">
                <a:solidFill>
                  <a:srgbClr val="9D138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       </a:t>
            </a:r>
            <a:endParaRPr lang="zh-CN" altLang="zh-CN" sz="2800" dirty="0">
              <a:solidFill>
                <a:srgbClr val="9D138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9D138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else  </a:t>
            </a:r>
            <a:r>
              <a:rPr lang="zh-CN" altLang="zh-CN" sz="2800" dirty="0">
                <a:solidFill>
                  <a:srgbClr val="9D138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800" dirty="0">
                <a:solidFill>
                  <a:srgbClr val="9D138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         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zh-CN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子句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if</a:t>
            </a:r>
            <a:r>
              <a:rPr lang="zh-CN" altLang="zh-CN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（表达式１） </a:t>
            </a:r>
            <a:r>
              <a:rPr lang="en-US" altLang="zh-CN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zh-CN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语句１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else if</a:t>
            </a:r>
            <a:r>
              <a:rPr lang="zh-CN" altLang="zh-CN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（表达式２） 语句２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else if</a:t>
            </a:r>
            <a:r>
              <a:rPr lang="zh-CN" altLang="zh-CN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（表达式３） 语句３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</a:t>
            </a:r>
            <a:r>
              <a:rPr lang="zh-CN" altLang="zh-CN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┆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else if</a:t>
            </a:r>
            <a:r>
              <a:rPr lang="zh-CN" altLang="zh-CN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（表达式ｍ） 语句ｍ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else   </a:t>
            </a:r>
            <a:r>
              <a:rPr lang="zh-CN" altLang="zh-CN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m+1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(</a:t>
            </a:r>
            <a:r>
              <a:rPr lang="zh-CN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zh-CN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部分又嵌套了多层的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3277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77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32774" name="图片 5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50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275100" y="364902"/>
            <a:ext cx="8429625" cy="831850"/>
          </a:xfrm>
          <a:effectLst/>
        </p:spPr>
        <p:txBody>
          <a:bodyPr anchor="ctr"/>
          <a:lstStyle/>
          <a:p>
            <a:pPr eaLnBrk="1" hangingPunct="1"/>
            <a:r>
              <a:rPr lang="en-US" altLang="zh-CN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选择结构的嵌套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196752"/>
            <a:ext cx="8064896" cy="4857750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语句中又包含一个或多个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语句称为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语句的嵌套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一般形式：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if( )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if( )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            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else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              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if( )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            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else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           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39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939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939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827513" y="4268565"/>
            <a:ext cx="15001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内嵌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endParaRPr lang="zh-CN" altLang="en-US" sz="2800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619672" y="3356992"/>
            <a:ext cx="2357437" cy="1000125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691680" y="4869160"/>
            <a:ext cx="2357438" cy="1000125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4256013" y="2339752"/>
            <a:ext cx="40005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zh-CN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总是与它上面最近的未配对的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配对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51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698" y="1340768"/>
            <a:ext cx="7715250" cy="4857750"/>
          </a:xfrm>
        </p:spPr>
        <p:txBody>
          <a:bodyPr/>
          <a:lstStyle/>
          <a:p>
            <a:pPr marL="0" indent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语句中又包含一个或多个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语句称为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语句的嵌套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()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if ()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    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42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2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286250" y="4071938"/>
            <a:ext cx="15001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内嵌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endParaRPr lang="zh-CN" altLang="en-US" sz="2800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242181" y="2889139"/>
            <a:ext cx="2786062" cy="1619981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4357688" y="4857750"/>
            <a:ext cx="42862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 }</a:t>
            </a:r>
            <a:r>
              <a:rPr lang="zh-CN" altLang="zh-CN" sz="2800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限定了内嵌</a:t>
            </a:r>
            <a:r>
              <a:rPr lang="en-US" altLang="zh-CN" sz="2800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800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范围</a:t>
            </a:r>
            <a:endParaRPr lang="zh-CN" altLang="en-US" sz="2800" b="1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275100" y="364902"/>
            <a:ext cx="8429625" cy="831850"/>
          </a:xfrm>
          <a:effectLst/>
        </p:spPr>
        <p:txBody>
          <a:bodyPr anchor="ctr"/>
          <a:lstStyle/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选择结构的嵌套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52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4375" y="908720"/>
            <a:ext cx="7715250" cy="3786188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4.4</a:t>
            </a:r>
            <a:r>
              <a:rPr lang="zh-CN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一函数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编一程序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输入一个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要求输出相应的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值。</a:t>
            </a:r>
          </a:p>
        </p:txBody>
      </p:sp>
      <p:sp>
        <p:nvSpPr>
          <p:cNvPr id="205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5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5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050" name="Object 1"/>
          <p:cNvGraphicFramePr>
            <a:graphicFrameLocks noChangeAspect="1"/>
          </p:cNvGraphicFramePr>
          <p:nvPr/>
        </p:nvGraphicFramePr>
        <p:xfrm>
          <a:off x="2302006" y="1484784"/>
          <a:ext cx="2500313" cy="165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69" name="公式" r:id="rId3" imgW="1078865" imgH="711200" progId="Equation.3">
                  <p:embed/>
                </p:oleObj>
              </mc:Choice>
              <mc:Fallback>
                <p:oleObj name="公式" r:id="rId3" imgW="1078865" imgH="711200" progId="Equation.3">
                  <p:embed/>
                  <p:pic>
                    <p:nvPicPr>
                      <p:cNvPr id="0" name="图片 1167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2006" y="1484784"/>
                        <a:ext cx="2500313" cy="1658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35954"/>
            <a:ext cx="8429625" cy="831850"/>
          </a:xfrm>
          <a:effectLst/>
        </p:spPr>
        <p:txBody>
          <a:bodyPr anchor="ctr"/>
          <a:lstStyle/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选择结构的嵌套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672268" y="4077072"/>
            <a:ext cx="7992888" cy="194421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解题思路：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语句检查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的值，根据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的值决定赋予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的可能值不是两个而是三个，因此</a:t>
            </a:r>
            <a:r>
              <a:rPr lang="zh-CN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不可能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只用一个简单的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无内嵌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if)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语句来实现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53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285875"/>
            <a:ext cx="6715125" cy="4286250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解题思路：</a:t>
            </a:r>
            <a:r>
              <a:rPr lang="zh-CN" altLang="en-US" sz="2800" dirty="0">
                <a:solidFill>
                  <a:srgbClr val="9D138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800" dirty="0">
                <a:solidFill>
                  <a:srgbClr val="9D138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先后用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个独立的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语句处理：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x &lt; 0,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 =-1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x = 0,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 = 0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x &gt; 0,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 = 1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46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246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247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247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300430" y="0"/>
            <a:ext cx="4824536" cy="2571750"/>
          </a:xfrm>
          <a:prstGeom prst="rect">
            <a:avLst/>
          </a:prstGeom>
          <a:solidFill>
            <a:srgbClr val="FFCCFF"/>
          </a:solidFill>
          <a:ln w="9525">
            <a:noFill/>
            <a:miter lim="800000"/>
          </a:ln>
        </p:spPr>
        <p:txBody>
          <a:bodyPr/>
          <a:lstStyle/>
          <a:p>
            <a:pPr marL="285750" indent="-285750" eaLnBrk="0" hangingPunct="0">
              <a:lnSpc>
                <a:spcPct val="120000"/>
              </a:lnSpc>
              <a:defRPr/>
            </a:pPr>
            <a:r>
              <a:rPr lang="en-US" altLang="zh-CN" sz="2800" b="1" dirty="0" err="1">
                <a:latin typeface="+mn-lt"/>
                <a:ea typeface="+mn-ea"/>
              </a:rPr>
              <a:t>scanf("%d",&amp;x);</a:t>
            </a:r>
          </a:p>
          <a:p>
            <a:pPr>
              <a:defRPr/>
            </a:pPr>
            <a:r>
              <a:rPr lang="en-US" altLang="zh-CN" sz="2800" b="1" dirty="0">
                <a:latin typeface="+mn-lt"/>
                <a:ea typeface="+mn-ea"/>
              </a:rPr>
              <a:t>if(x&lt;0)    y = -1;</a:t>
            </a:r>
          </a:p>
          <a:p>
            <a:pPr>
              <a:defRPr/>
            </a:pPr>
            <a:r>
              <a:rPr lang="en-US" altLang="zh-CN" sz="2800" b="1" dirty="0">
                <a:latin typeface="+mn-lt"/>
                <a:ea typeface="+mn-ea"/>
              </a:rPr>
              <a:t>if(x==0)  y = 0;</a:t>
            </a:r>
            <a:endParaRPr lang="zh-CN" altLang="zh-CN" sz="2800" b="1" dirty="0" err="1">
              <a:latin typeface="+mn-lt"/>
              <a:ea typeface="+mn-ea"/>
            </a:endParaRPr>
          </a:p>
          <a:p>
            <a:pPr marL="285750" indent="-285750" eaLnBrk="0" hangingPunc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+mn-lt"/>
                <a:ea typeface="+mn-ea"/>
              </a:rPr>
              <a:t>if(x&gt;0)    y = 1;</a:t>
            </a:r>
          </a:p>
          <a:p>
            <a:pPr marL="285750" indent="-285750" eaLnBrk="0" hangingPunc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 err="1">
                <a:latin typeface="+mn-lt"/>
                <a:ea typeface="+mn-ea"/>
              </a:rPr>
              <a:t>printf</a:t>
            </a:r>
            <a:r>
              <a:rPr lang="en-US" altLang="zh-CN" sz="2800" b="1" dirty="0">
                <a:latin typeface="+mn-lt"/>
                <a:ea typeface="+mn-ea"/>
              </a:rPr>
              <a:t>("x=%</a:t>
            </a:r>
            <a:r>
              <a:rPr lang="en-US" altLang="zh-CN" sz="2800" b="1" dirty="0" err="1">
                <a:latin typeface="+mn-lt"/>
                <a:ea typeface="+mn-ea"/>
              </a:rPr>
              <a:t>d,y</a:t>
            </a:r>
            <a:r>
              <a:rPr lang="en-US" altLang="zh-CN" sz="2800" b="1" dirty="0">
                <a:latin typeface="+mn-lt"/>
                <a:ea typeface="+mn-ea"/>
              </a:rPr>
              <a:t>=%d\</a:t>
            </a:r>
            <a:r>
              <a:rPr lang="en-US" altLang="zh-CN" sz="2800" b="1" dirty="0" err="1">
                <a:latin typeface="+mn-lt"/>
                <a:ea typeface="+mn-ea"/>
              </a:rPr>
              <a:t>n",x,y</a:t>
            </a:r>
            <a:r>
              <a:rPr lang="en-US" altLang="zh-CN" sz="2800" b="1" dirty="0">
                <a:latin typeface="+mn-lt"/>
                <a:ea typeface="+mn-ea"/>
              </a:rPr>
              <a:t>);</a:t>
            </a:r>
            <a:endParaRPr lang="zh-CN" altLang="zh-CN" sz="2800" b="1" dirty="0" err="1">
              <a:latin typeface="+mn-lt"/>
              <a:ea typeface="+mn-ea"/>
            </a:endParaRPr>
          </a:p>
        </p:txBody>
      </p:sp>
      <p:pic>
        <p:nvPicPr>
          <p:cNvPr id="1853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9187" y="4437112"/>
            <a:ext cx="2143125" cy="88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54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8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584" y="1079500"/>
            <a:ext cx="6715125" cy="48577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解题思路：</a:t>
            </a:r>
            <a:r>
              <a:rPr lang="zh-CN" altLang="en-US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用一个嵌套的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语句处理：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&lt; 0,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 = -1 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否则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x = 0,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 = 0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否则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y = 1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49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349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349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349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405736" y="0"/>
            <a:ext cx="4738264" cy="3286125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</a:ln>
        </p:spPr>
        <p:txBody>
          <a:bodyPr/>
          <a:lstStyle/>
          <a:p>
            <a:pPr marL="285750" indent="-285750" eaLnBrk="0" hangingPunct="0">
              <a:lnSpc>
                <a:spcPct val="120000"/>
              </a:lnSpc>
              <a:defRPr/>
            </a:pPr>
            <a:r>
              <a:rPr lang="en-US" altLang="zh-CN" sz="2800" b="1" dirty="0" err="1">
                <a:latin typeface="+mn-lt"/>
                <a:ea typeface="+mn-ea"/>
              </a:rPr>
              <a:t>scanf</a:t>
            </a:r>
            <a:r>
              <a:rPr lang="en-US" altLang="zh-CN" sz="2800" b="1" dirty="0">
                <a:latin typeface="+mn-lt"/>
                <a:ea typeface="+mn-ea"/>
              </a:rPr>
              <a:t>("%</a:t>
            </a:r>
            <a:r>
              <a:rPr lang="en-US" altLang="zh-CN" sz="2800" b="1" dirty="0" err="1">
                <a:latin typeface="+mn-lt"/>
                <a:ea typeface="+mn-ea"/>
              </a:rPr>
              <a:t>d",&amp;x</a:t>
            </a:r>
            <a:r>
              <a:rPr lang="en-US" altLang="zh-CN" sz="2800" b="1" dirty="0">
                <a:latin typeface="+mn-lt"/>
                <a:ea typeface="+mn-ea"/>
              </a:rPr>
              <a:t>);</a:t>
            </a:r>
            <a:endParaRPr lang="zh-CN" altLang="zh-CN" sz="2800" b="1" dirty="0">
              <a:latin typeface="+mn-lt"/>
              <a:ea typeface="+mn-ea"/>
            </a:endParaRPr>
          </a:p>
          <a:p>
            <a:pPr marL="285750" indent="-285750" eaLnBrk="0" hangingPunct="0">
              <a:lnSpc>
                <a:spcPct val="120000"/>
              </a:lnSpc>
              <a:defRPr/>
            </a:pPr>
            <a:r>
              <a:rPr lang="en-US" altLang="zh-CN" sz="2800" b="1" dirty="0">
                <a:latin typeface="+mn-lt"/>
                <a:ea typeface="+mn-ea"/>
              </a:rPr>
              <a:t>if(x&lt;0)  y=-1;</a:t>
            </a:r>
            <a:endParaRPr lang="zh-CN" altLang="zh-CN" sz="2800" b="1" dirty="0">
              <a:latin typeface="+mn-lt"/>
              <a:ea typeface="+mn-ea"/>
            </a:endParaRPr>
          </a:p>
          <a:p>
            <a:pPr marL="285750" indent="-285750" eaLnBrk="0" hangingPunct="0">
              <a:lnSpc>
                <a:spcPct val="120000"/>
              </a:lnSpc>
              <a:defRPr/>
            </a:pPr>
            <a:r>
              <a:rPr lang="en-US" altLang="zh-CN" sz="2800" b="1" dirty="0">
                <a:latin typeface="+mn-lt"/>
                <a:ea typeface="+mn-ea"/>
              </a:rPr>
              <a:t>else </a:t>
            </a:r>
            <a:endParaRPr lang="zh-CN" altLang="zh-CN" sz="2800" b="1" dirty="0">
              <a:latin typeface="+mn-lt"/>
              <a:ea typeface="+mn-ea"/>
            </a:endParaRPr>
          </a:p>
          <a:p>
            <a:pPr marL="285750" indent="-285750" eaLnBrk="0" hangingPunct="0">
              <a:lnSpc>
                <a:spcPct val="120000"/>
              </a:lnSpc>
              <a:defRPr/>
            </a:pPr>
            <a:r>
              <a:rPr lang="en-US" altLang="zh-CN" sz="2800" b="1" dirty="0">
                <a:latin typeface="+mn-lt"/>
                <a:ea typeface="+mn-ea"/>
              </a:rPr>
              <a:t>    if(x==0) y=0;</a:t>
            </a:r>
            <a:endParaRPr lang="zh-CN" altLang="zh-CN" sz="2800" b="1" dirty="0">
              <a:latin typeface="+mn-lt"/>
              <a:ea typeface="+mn-ea"/>
            </a:endParaRPr>
          </a:p>
          <a:p>
            <a:pPr marL="285750" indent="-285750" eaLnBrk="0" hangingPunct="0">
              <a:lnSpc>
                <a:spcPct val="120000"/>
              </a:lnSpc>
              <a:defRPr/>
            </a:pPr>
            <a:r>
              <a:rPr lang="en-US" altLang="zh-CN" sz="2800" b="1" dirty="0">
                <a:latin typeface="+mn-lt"/>
                <a:ea typeface="+mn-ea"/>
              </a:rPr>
              <a:t>    else  y=1;</a:t>
            </a:r>
            <a:endParaRPr lang="zh-CN" altLang="zh-CN" sz="2800" b="1" dirty="0">
              <a:latin typeface="+mn-lt"/>
              <a:ea typeface="+mn-ea"/>
            </a:endParaRPr>
          </a:p>
          <a:p>
            <a:pPr marL="285750" indent="-285750" eaLnBrk="0" hangingPunct="0">
              <a:lnSpc>
                <a:spcPct val="120000"/>
              </a:lnSpc>
              <a:defRPr/>
            </a:pPr>
            <a:r>
              <a:rPr lang="en-US" altLang="zh-CN" sz="2800" b="1" dirty="0" err="1">
                <a:latin typeface="+mn-lt"/>
                <a:ea typeface="+mn-ea"/>
              </a:rPr>
              <a:t>printf</a:t>
            </a:r>
            <a:r>
              <a:rPr lang="en-US" altLang="zh-CN" sz="2800" b="1" dirty="0">
                <a:latin typeface="+mn-lt"/>
                <a:ea typeface="+mn-ea"/>
              </a:rPr>
              <a:t>("x=%</a:t>
            </a:r>
            <a:r>
              <a:rPr lang="en-US" altLang="zh-CN" sz="2800" b="1" dirty="0" err="1">
                <a:latin typeface="+mn-lt"/>
                <a:ea typeface="+mn-ea"/>
              </a:rPr>
              <a:t>d,y</a:t>
            </a:r>
            <a:r>
              <a:rPr lang="en-US" altLang="zh-CN" sz="2800" b="1" dirty="0">
                <a:latin typeface="+mn-lt"/>
                <a:ea typeface="+mn-ea"/>
              </a:rPr>
              <a:t>=%d\</a:t>
            </a:r>
            <a:r>
              <a:rPr lang="en-US" altLang="zh-CN" sz="2800" b="1" dirty="0" err="1">
                <a:latin typeface="+mn-lt"/>
                <a:ea typeface="+mn-ea"/>
              </a:rPr>
              <a:t>n",x,y</a:t>
            </a:r>
            <a:r>
              <a:rPr lang="en-US" altLang="zh-CN" sz="2800" b="1" dirty="0">
                <a:latin typeface="+mn-lt"/>
                <a:ea typeface="+mn-ea"/>
              </a:rPr>
              <a:t>);</a:t>
            </a:r>
            <a:endParaRPr lang="zh-CN" altLang="zh-CN" sz="2800" b="1" dirty="0">
              <a:latin typeface="+mn-lt"/>
              <a:ea typeface="+mn-ea"/>
            </a:endParaRPr>
          </a:p>
        </p:txBody>
      </p:sp>
      <p:pic>
        <p:nvPicPr>
          <p:cNvPr id="1853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3688" y="3643313"/>
            <a:ext cx="2143125" cy="88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63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3688" y="4857750"/>
            <a:ext cx="2089150" cy="92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55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8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6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857250"/>
            <a:ext cx="6715125" cy="48577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解题思路：</a:t>
            </a:r>
            <a:r>
              <a:rPr lang="zh-CN" altLang="en-US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用一个嵌套的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语句处理：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&lt; 0,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 = -1 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否则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x = 0,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 = 0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zh-CN" dirty="0"/>
              <a:t>否则</a:t>
            </a:r>
            <a:r>
              <a:rPr lang="en-US" altLang="zh-CN" dirty="0"/>
              <a:t>   y = 1</a:t>
            </a:r>
            <a:endParaRPr lang="zh-CN" altLang="zh-CN" dirty="0"/>
          </a:p>
          <a:p>
            <a:pPr lvl="1">
              <a:buFont typeface="Wingdings" panose="05000000000000000000" pitchFamily="2" charset="2"/>
              <a:buNone/>
            </a:pPr>
            <a:r>
              <a:rPr lang="zh-CN" altLang="zh-CN" dirty="0"/>
              <a:t>输出</a:t>
            </a:r>
            <a:r>
              <a:rPr lang="en-US" altLang="zh-CN" dirty="0"/>
              <a:t>x</a:t>
            </a:r>
            <a:r>
              <a:rPr lang="zh-CN" altLang="zh-CN" dirty="0"/>
              <a:t>和</a:t>
            </a:r>
            <a:r>
              <a:rPr lang="en-US" altLang="zh-CN" dirty="0"/>
              <a:t>y</a:t>
            </a:r>
            <a:endParaRPr lang="zh-CN" altLang="zh-CN" dirty="0"/>
          </a:p>
        </p:txBody>
      </p:sp>
      <p:sp>
        <p:nvSpPr>
          <p:cNvPr id="6451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451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451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451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768047" y="14748"/>
            <a:ext cx="5386337" cy="3286125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</a:ln>
        </p:spPr>
        <p:txBody>
          <a:bodyPr/>
          <a:lstStyle/>
          <a:p>
            <a:pPr marL="285750" indent="-285750" eaLnBrk="0" hangingPunct="0">
              <a:lnSpc>
                <a:spcPct val="120000"/>
              </a:lnSpc>
              <a:defRPr/>
            </a:pPr>
            <a:r>
              <a:rPr lang="en-US" altLang="zh-CN" sz="2800" b="1" dirty="0" err="1">
                <a:latin typeface="+mn-lt"/>
                <a:ea typeface="+mn-ea"/>
              </a:rPr>
              <a:t>scanf</a:t>
            </a:r>
            <a:r>
              <a:rPr lang="en-US" altLang="zh-CN" sz="2800" b="1" dirty="0">
                <a:latin typeface="+mn-lt"/>
                <a:ea typeface="+mn-ea"/>
              </a:rPr>
              <a:t>("%</a:t>
            </a:r>
            <a:r>
              <a:rPr lang="en-US" altLang="zh-CN" sz="2800" b="1" dirty="0" err="1">
                <a:latin typeface="+mn-lt"/>
                <a:ea typeface="+mn-ea"/>
              </a:rPr>
              <a:t>d",&amp;x</a:t>
            </a:r>
            <a:r>
              <a:rPr lang="en-US" altLang="zh-CN" sz="2800" b="1" dirty="0">
                <a:latin typeface="+mn-lt"/>
                <a:ea typeface="+mn-ea"/>
              </a:rPr>
              <a:t>);</a:t>
            </a:r>
            <a:endParaRPr lang="zh-CN" altLang="zh-CN" sz="2800" b="1" dirty="0">
              <a:latin typeface="+mn-lt"/>
              <a:ea typeface="+mn-ea"/>
            </a:endParaRPr>
          </a:p>
          <a:p>
            <a:pPr marL="285750" indent="-285750" eaLnBrk="0" hangingPunct="0">
              <a:lnSpc>
                <a:spcPct val="120000"/>
              </a:lnSpc>
              <a:defRPr/>
            </a:pPr>
            <a:r>
              <a:rPr lang="en-US" altLang="zh-CN" sz="2800" b="1" dirty="0">
                <a:latin typeface="+mn-lt"/>
                <a:ea typeface="+mn-ea"/>
              </a:rPr>
              <a:t>if(x&lt;0)  y=-1;</a:t>
            </a:r>
            <a:endParaRPr lang="zh-CN" altLang="zh-CN" sz="2800" b="1" dirty="0">
              <a:latin typeface="+mn-lt"/>
              <a:ea typeface="+mn-ea"/>
            </a:endParaRPr>
          </a:p>
          <a:p>
            <a:pPr marL="285750" indent="-285750" eaLnBrk="0" hangingPunct="0">
              <a:lnSpc>
                <a:spcPct val="120000"/>
              </a:lnSpc>
              <a:defRPr/>
            </a:pPr>
            <a:r>
              <a:rPr lang="en-US" altLang="zh-CN" sz="2800" b="1" dirty="0">
                <a:latin typeface="+mn-lt"/>
                <a:ea typeface="+mn-ea"/>
              </a:rPr>
              <a:t>else </a:t>
            </a:r>
            <a:endParaRPr lang="zh-CN" altLang="zh-CN" sz="2800" b="1" dirty="0">
              <a:latin typeface="+mn-lt"/>
              <a:ea typeface="+mn-ea"/>
            </a:endParaRPr>
          </a:p>
          <a:p>
            <a:pPr marL="285750" indent="-285750" eaLnBrk="0" hangingPunct="0">
              <a:lnSpc>
                <a:spcPct val="120000"/>
              </a:lnSpc>
              <a:defRPr/>
            </a:pPr>
            <a:r>
              <a:rPr lang="en-US" altLang="zh-CN" sz="2800" b="1" dirty="0">
                <a:latin typeface="+mn-lt"/>
                <a:ea typeface="+mn-ea"/>
              </a:rPr>
              <a:t>    if(x==0) y=0;</a:t>
            </a:r>
            <a:endParaRPr lang="zh-CN" altLang="zh-CN" sz="2800" b="1" dirty="0">
              <a:latin typeface="+mn-lt"/>
              <a:ea typeface="+mn-ea"/>
            </a:endParaRPr>
          </a:p>
          <a:p>
            <a:pPr marL="285750" indent="-285750" eaLnBrk="0" hangingPunct="0">
              <a:lnSpc>
                <a:spcPct val="120000"/>
              </a:lnSpc>
              <a:defRPr/>
            </a:pPr>
            <a:r>
              <a:rPr lang="en-US" altLang="zh-CN" sz="2800" b="1" dirty="0">
                <a:latin typeface="+mn-lt"/>
                <a:ea typeface="+mn-ea"/>
              </a:rPr>
              <a:t>    else  y=1;</a:t>
            </a:r>
            <a:endParaRPr lang="zh-CN" altLang="zh-CN" sz="2800" b="1" dirty="0">
              <a:latin typeface="+mn-lt"/>
              <a:ea typeface="+mn-ea"/>
            </a:endParaRPr>
          </a:p>
          <a:p>
            <a:pPr marL="285750" indent="-285750" eaLnBrk="0" hangingPunct="0">
              <a:lnSpc>
                <a:spcPct val="120000"/>
              </a:lnSpc>
              <a:defRPr/>
            </a:pPr>
            <a:r>
              <a:rPr lang="en-US" altLang="zh-CN" sz="2800" b="1" dirty="0" err="1">
                <a:latin typeface="+mn-lt"/>
                <a:ea typeface="+mn-ea"/>
              </a:rPr>
              <a:t>printf</a:t>
            </a:r>
            <a:r>
              <a:rPr lang="en-US" altLang="zh-CN" sz="2800" b="1" dirty="0">
                <a:latin typeface="+mn-lt"/>
                <a:ea typeface="+mn-ea"/>
              </a:rPr>
              <a:t>("x=%</a:t>
            </a:r>
            <a:r>
              <a:rPr lang="en-US" altLang="zh-CN" sz="2800" b="1" dirty="0" err="1">
                <a:latin typeface="+mn-lt"/>
                <a:ea typeface="+mn-ea"/>
              </a:rPr>
              <a:t>d,y</a:t>
            </a:r>
            <a:r>
              <a:rPr lang="en-US" altLang="zh-CN" sz="2800" b="1" dirty="0">
                <a:latin typeface="+mn-lt"/>
                <a:ea typeface="+mn-ea"/>
              </a:rPr>
              <a:t>=%d\</a:t>
            </a:r>
            <a:r>
              <a:rPr lang="en-US" altLang="zh-CN" sz="2800" b="1" dirty="0" err="1">
                <a:latin typeface="+mn-lt"/>
                <a:ea typeface="+mn-ea"/>
              </a:rPr>
              <a:t>n",x,y</a:t>
            </a:r>
            <a:r>
              <a:rPr lang="en-US" altLang="zh-CN" sz="2800" b="1" dirty="0">
                <a:latin typeface="+mn-lt"/>
                <a:ea typeface="+mn-ea"/>
              </a:rPr>
              <a:t>);</a:t>
            </a:r>
            <a:endParaRPr lang="zh-CN" altLang="zh-CN" sz="2800" b="1" dirty="0">
              <a:latin typeface="+mn-lt"/>
              <a:ea typeface="+mn-ea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0" y="4071937"/>
            <a:ext cx="4788024" cy="2786063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</p:spPr>
        <p:txBody>
          <a:bodyPr/>
          <a:lstStyle/>
          <a:p>
            <a:pPr>
              <a:defRPr/>
            </a:pPr>
            <a:r>
              <a:rPr lang="en-US" altLang="zh-CN" sz="2800" b="1" dirty="0" err="1">
                <a:latin typeface="+mn-lt"/>
                <a:ea typeface="+mn-ea"/>
              </a:rPr>
              <a:t>scanf</a:t>
            </a:r>
            <a:r>
              <a:rPr lang="en-US" altLang="zh-CN" sz="2800" b="1" dirty="0">
                <a:latin typeface="+mn-lt"/>
                <a:ea typeface="+mn-ea"/>
              </a:rPr>
              <a:t>("%</a:t>
            </a:r>
            <a:r>
              <a:rPr lang="en-US" altLang="zh-CN" sz="2800" b="1" dirty="0" err="1">
                <a:latin typeface="+mn-lt"/>
                <a:ea typeface="+mn-ea"/>
              </a:rPr>
              <a:t>d",&amp;x</a:t>
            </a:r>
            <a:r>
              <a:rPr lang="en-US" altLang="zh-CN" sz="2800" b="1" dirty="0">
                <a:latin typeface="+mn-lt"/>
                <a:ea typeface="+mn-ea"/>
              </a:rPr>
              <a:t>);</a:t>
            </a:r>
            <a:endParaRPr lang="zh-CN" altLang="zh-CN" sz="2800" b="1" dirty="0">
              <a:latin typeface="+mn-lt"/>
              <a:ea typeface="+mn-ea"/>
            </a:endParaRPr>
          </a:p>
          <a:p>
            <a:pPr>
              <a:defRPr/>
            </a:pPr>
            <a:r>
              <a:rPr lang="en-US" altLang="zh-CN" sz="2800" b="1" dirty="0">
                <a:latin typeface="+mn-lt"/>
                <a:ea typeface="+mn-ea"/>
              </a:rPr>
              <a:t>if (x&gt;=0)</a:t>
            </a:r>
            <a:endParaRPr lang="zh-CN" altLang="zh-CN" sz="2800" b="1" dirty="0">
              <a:latin typeface="+mn-lt"/>
              <a:ea typeface="+mn-ea"/>
            </a:endParaRPr>
          </a:p>
          <a:p>
            <a:pPr>
              <a:defRPr/>
            </a:pPr>
            <a:r>
              <a:rPr lang="en-US" altLang="zh-CN" sz="2800" b="1" dirty="0">
                <a:latin typeface="+mn-lt"/>
                <a:ea typeface="+mn-ea"/>
              </a:rPr>
              <a:t>    if (x&gt;0) y=1;</a:t>
            </a:r>
            <a:endParaRPr lang="zh-CN" altLang="zh-CN" sz="2800" b="1" dirty="0">
              <a:latin typeface="+mn-lt"/>
              <a:ea typeface="+mn-ea"/>
            </a:endParaRPr>
          </a:p>
          <a:p>
            <a:pPr>
              <a:defRPr/>
            </a:pPr>
            <a:r>
              <a:rPr lang="en-US" altLang="zh-CN" sz="2800" b="1" dirty="0">
                <a:latin typeface="+mn-lt"/>
                <a:ea typeface="+mn-ea"/>
              </a:rPr>
              <a:t>    else     y=0;</a:t>
            </a:r>
            <a:endParaRPr lang="zh-CN" altLang="zh-CN" sz="2800" b="1" dirty="0">
              <a:latin typeface="+mn-lt"/>
              <a:ea typeface="+mn-ea"/>
            </a:endParaRPr>
          </a:p>
          <a:p>
            <a:pPr>
              <a:defRPr/>
            </a:pPr>
            <a:r>
              <a:rPr lang="en-US" altLang="zh-CN" sz="2800" b="1" dirty="0">
                <a:latin typeface="+mn-lt"/>
                <a:ea typeface="+mn-ea"/>
              </a:rPr>
              <a:t>else       y=-1;</a:t>
            </a:r>
            <a:endParaRPr lang="zh-CN" altLang="zh-CN" sz="2800" b="1" dirty="0">
              <a:latin typeface="+mn-lt"/>
              <a:ea typeface="+mn-ea"/>
            </a:endParaRPr>
          </a:p>
          <a:p>
            <a:pPr>
              <a:defRPr/>
            </a:pPr>
            <a:r>
              <a:rPr lang="en-US" altLang="zh-CN" sz="2800" b="1" dirty="0" err="1">
                <a:latin typeface="+mn-lt"/>
                <a:ea typeface="+mn-ea"/>
              </a:rPr>
              <a:t>printf</a:t>
            </a:r>
            <a:r>
              <a:rPr lang="en-US" altLang="zh-CN" sz="2800" b="1" dirty="0">
                <a:latin typeface="+mn-lt"/>
                <a:ea typeface="+mn-ea"/>
              </a:rPr>
              <a:t>("x=%</a:t>
            </a:r>
            <a:r>
              <a:rPr lang="en-US" altLang="zh-CN" sz="2800" b="1" dirty="0" err="1">
                <a:latin typeface="+mn-lt"/>
                <a:ea typeface="+mn-ea"/>
              </a:rPr>
              <a:t>d,y</a:t>
            </a:r>
            <a:r>
              <a:rPr lang="en-US" altLang="zh-CN" sz="2800" b="1" dirty="0">
                <a:latin typeface="+mn-lt"/>
                <a:ea typeface="+mn-ea"/>
              </a:rPr>
              <a:t>=%d\</a:t>
            </a:r>
            <a:r>
              <a:rPr lang="en-US" altLang="zh-CN" sz="2800" b="1" dirty="0" err="1">
                <a:latin typeface="+mn-lt"/>
                <a:ea typeface="+mn-ea"/>
              </a:rPr>
              <a:t>n",x,y</a:t>
            </a:r>
            <a:r>
              <a:rPr lang="en-US" altLang="zh-CN" sz="2800" b="1" dirty="0">
                <a:latin typeface="+mn-lt"/>
                <a:ea typeface="+mn-ea"/>
              </a:rPr>
              <a:t>);</a:t>
            </a:r>
            <a:endParaRPr lang="zh-CN" altLang="zh-CN" sz="2800" b="1" dirty="0" err="1">
              <a:latin typeface="+mn-lt"/>
              <a:ea typeface="+mn-ea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4961483" y="1000125"/>
            <a:ext cx="43576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提倡</a:t>
            </a:r>
            <a:r>
              <a:rPr lang="zh-CN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内嵌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放在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4139952" y="1571625"/>
            <a:ext cx="3000375" cy="1000125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56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71437" y="260648"/>
            <a:ext cx="9001125" cy="1047750"/>
          </a:xfrm>
          <a:effectLst/>
        </p:spPr>
        <p:txBody>
          <a:bodyPr anchor="ctr"/>
          <a:lstStyle/>
          <a:p>
            <a:pPr eaLnBrk="1" hangingPunct="1"/>
            <a:r>
              <a:rPr lang="en-US" altLang="zh-CN" sz="4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 </a:t>
            </a:r>
            <a:r>
              <a:rPr lang="zh-CN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switch</a:t>
            </a:r>
            <a:r>
              <a:rPr lang="zh-CN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语句实现多分支选择结构</a:t>
            </a:r>
            <a:endParaRPr lang="zh-CN" altLang="en-US" sz="4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7219" y="1196752"/>
            <a:ext cx="7929562" cy="485775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switch</a:t>
            </a:r>
            <a:r>
              <a:rPr lang="zh-CN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用来实现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多分支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选择结构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学生成绩分类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分以上为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’A’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84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’B’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69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’C’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buFont typeface="Wingdings" panose="05000000000000000000" pitchFamily="2" charset="2"/>
              <a:buNone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人口统计分类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按年龄分为老、中、青、少、儿童</a:t>
            </a:r>
          </a:p>
        </p:txBody>
      </p:sp>
      <p:sp>
        <p:nvSpPr>
          <p:cNvPr id="6554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554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554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554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57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5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5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5516" y="404664"/>
            <a:ext cx="8712968" cy="201622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4.5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要求按照考试成绩的等级输出百分制分数段，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分以上，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84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69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 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等为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分以下 。成绩的等级由键盘输入。</a:t>
            </a:r>
          </a:p>
        </p:txBody>
      </p:sp>
      <p:sp>
        <p:nvSpPr>
          <p:cNvPr id="6656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656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656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656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478318" y="2564904"/>
            <a:ext cx="8183349" cy="30444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解题思路：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buFont typeface="Wingdings" panose="05000000000000000000" pitchFamily="2" charset="2"/>
              <a:buChar char="u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判断出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这是一个</a:t>
            </a:r>
            <a:r>
              <a:rPr lang="zh-CN" altLang="zh-CN" sz="28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多分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支选择问题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根据百分制分数将学生成绩分为</a:t>
            </a:r>
            <a:r>
              <a:rPr lang="en-US" altLang="zh-CN" sz="28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zh-CN" sz="28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等级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至少要用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层嵌套的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，进行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次检查判断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switch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语句进行</a:t>
            </a:r>
            <a:r>
              <a:rPr lang="zh-CN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一次检查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即可得到结果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58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  <p:bldP spid="11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285750"/>
            <a:ext cx="8643937" cy="6572250"/>
          </a:xfrm>
        </p:spPr>
        <p:txBody>
          <a:bodyPr/>
          <a:lstStyle/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{ char grade;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("%</a:t>
            </a:r>
            <a:r>
              <a:rPr lang="en-US" altLang="zh-CN" sz="2800" dirty="0" err="1"/>
              <a:t>c",&amp;grade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("Your score:");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switch(grade)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{ case 'A':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("85</a:t>
            </a:r>
            <a:r>
              <a:rPr lang="zh-CN" altLang="zh-CN" sz="2800" dirty="0"/>
              <a:t>～</a:t>
            </a:r>
            <a:r>
              <a:rPr lang="en-US" altLang="zh-CN" sz="2800" dirty="0"/>
              <a:t>100\n");break;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case 'B':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("70</a:t>
            </a:r>
            <a:r>
              <a:rPr lang="zh-CN" altLang="zh-CN" sz="2800" dirty="0"/>
              <a:t>～</a:t>
            </a:r>
            <a:r>
              <a:rPr lang="en-US" altLang="zh-CN" sz="2800" dirty="0"/>
              <a:t>84\n");break;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case 'C':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("60</a:t>
            </a:r>
            <a:r>
              <a:rPr lang="zh-CN" altLang="zh-CN" sz="2800" dirty="0"/>
              <a:t>～</a:t>
            </a:r>
            <a:r>
              <a:rPr lang="en-US" altLang="zh-CN" sz="2800" dirty="0"/>
              <a:t>69\n");break;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case 'D':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("&lt;60\n");break;    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	  default: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("enter data error!\n");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}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return 0;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}</a:t>
            </a:r>
            <a:endParaRPr lang="zh-CN" altLang="zh-CN" sz="2800" dirty="0"/>
          </a:p>
        </p:txBody>
      </p:sp>
      <p:sp>
        <p:nvSpPr>
          <p:cNvPr id="6861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861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861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86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1873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1714500"/>
            <a:ext cx="384175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907704" y="2655478"/>
            <a:ext cx="1008112" cy="428625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857625" y="2571750"/>
            <a:ext cx="1500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值为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2800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>
            <a:cxnSpLocks noChangeShapeType="1"/>
          </p:cNvCxnSpPr>
          <p:nvPr/>
        </p:nvCxnSpPr>
        <p:spPr bwMode="auto">
          <a:xfrm>
            <a:off x="899592" y="3500438"/>
            <a:ext cx="5904656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873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2143125"/>
            <a:ext cx="385762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59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7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87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285750"/>
            <a:ext cx="8643937" cy="6572250"/>
          </a:xfrm>
        </p:spPr>
        <p:txBody>
          <a:bodyPr/>
          <a:lstStyle/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#include &lt;stdio.h&gt;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int main()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{ char grade;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scanf("%c",&amp;grade);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printf("Your score:");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switch(grade)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{ case 'A': printf("85</a:t>
            </a:r>
            <a:r>
              <a:rPr lang="zh-CN" altLang="zh-CN" sz="2800"/>
              <a:t>～</a:t>
            </a:r>
            <a:r>
              <a:rPr lang="en-US" altLang="zh-CN" sz="2800"/>
              <a:t>100\n");break;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 case 'B': printf("70</a:t>
            </a:r>
            <a:r>
              <a:rPr lang="zh-CN" altLang="zh-CN" sz="2800"/>
              <a:t>～</a:t>
            </a:r>
            <a:r>
              <a:rPr lang="en-US" altLang="zh-CN" sz="2800"/>
              <a:t>84\n");break;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 case 'C': printf("60</a:t>
            </a:r>
            <a:r>
              <a:rPr lang="zh-CN" altLang="zh-CN" sz="2800"/>
              <a:t>～</a:t>
            </a:r>
            <a:r>
              <a:rPr lang="en-US" altLang="zh-CN" sz="2800"/>
              <a:t>69\n");break;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 case 'D': printf("&lt;60\n");break;    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	  default:  printf("enter data error!\n");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}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return 0;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}</a:t>
            </a:r>
            <a:endParaRPr lang="zh-CN" altLang="zh-CN" sz="2800"/>
          </a:p>
        </p:txBody>
      </p:sp>
      <p:sp>
        <p:nvSpPr>
          <p:cNvPr id="6963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3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3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6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5652121" y="3071813"/>
            <a:ext cx="1152128" cy="428625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628743" y="2500312"/>
            <a:ext cx="15001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不能少</a:t>
            </a:r>
          </a:p>
        </p:txBody>
      </p:sp>
      <p:pic>
        <p:nvPicPr>
          <p:cNvPr id="69641" name="图片 8" descr="Untitled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6900" y="5937250"/>
            <a:ext cx="927100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60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285750"/>
            <a:ext cx="8643937" cy="6572250"/>
          </a:xfrm>
        </p:spPr>
        <p:txBody>
          <a:bodyPr/>
          <a:lstStyle/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#include &lt;stdio.h&gt;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int main()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{ char grade;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scanf("%c",&amp;grade);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printf("Your score:");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switch(grade)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{ case 'A': printf("85</a:t>
            </a:r>
            <a:r>
              <a:rPr lang="zh-CN" altLang="zh-CN" sz="2800"/>
              <a:t>～</a:t>
            </a:r>
            <a:r>
              <a:rPr lang="en-US" altLang="zh-CN" sz="2800"/>
              <a:t>100\n");break;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 case 'B': printf("70</a:t>
            </a:r>
            <a:r>
              <a:rPr lang="zh-CN" altLang="zh-CN" sz="2800"/>
              <a:t>～</a:t>
            </a:r>
            <a:r>
              <a:rPr lang="en-US" altLang="zh-CN" sz="2800"/>
              <a:t>84\n");break;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 case 'C': printf("60</a:t>
            </a:r>
            <a:r>
              <a:rPr lang="zh-CN" altLang="zh-CN" sz="2800"/>
              <a:t>～</a:t>
            </a:r>
            <a:r>
              <a:rPr lang="en-US" altLang="zh-CN" sz="2800"/>
              <a:t>69\n");break;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 case 'D': printf("&lt;60\n");break;    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	  default:  printf("enter data error!\n");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}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return 0;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}</a:t>
            </a:r>
            <a:endParaRPr lang="zh-CN" altLang="zh-CN" sz="2800"/>
          </a:p>
        </p:txBody>
      </p:sp>
      <p:sp>
        <p:nvSpPr>
          <p:cNvPr id="7065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66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66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6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979712" y="2643188"/>
            <a:ext cx="936104" cy="428625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857625" y="2571750"/>
            <a:ext cx="1500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值为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2800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>
            <a:cxnSpLocks noChangeShapeType="1"/>
          </p:cNvCxnSpPr>
          <p:nvPr/>
        </p:nvCxnSpPr>
        <p:spPr bwMode="auto">
          <a:xfrm>
            <a:off x="875469" y="4448482"/>
            <a:ext cx="5784763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873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1747838"/>
            <a:ext cx="3786188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739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538" y="2143125"/>
            <a:ext cx="3714750" cy="47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61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87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285750"/>
            <a:ext cx="8643937" cy="6572250"/>
          </a:xfrm>
        </p:spPr>
        <p:txBody>
          <a:bodyPr/>
          <a:lstStyle/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#include &lt;stdio.h&gt;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int main()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{ char grade;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scanf("%c",&amp;grade);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printf("Your score:");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switch(grade)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{ case 'A': printf("85</a:t>
            </a:r>
            <a:r>
              <a:rPr lang="zh-CN" altLang="zh-CN" sz="2800"/>
              <a:t>～</a:t>
            </a:r>
            <a:r>
              <a:rPr lang="en-US" altLang="zh-CN" sz="2800"/>
              <a:t>100\n");break;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 case 'B': printf("70</a:t>
            </a:r>
            <a:r>
              <a:rPr lang="zh-CN" altLang="zh-CN" sz="2800"/>
              <a:t>～</a:t>
            </a:r>
            <a:r>
              <a:rPr lang="en-US" altLang="zh-CN" sz="2800"/>
              <a:t>84\n");break;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 case 'C': printf("60</a:t>
            </a:r>
            <a:r>
              <a:rPr lang="zh-CN" altLang="zh-CN" sz="2800"/>
              <a:t>～</a:t>
            </a:r>
            <a:r>
              <a:rPr lang="en-US" altLang="zh-CN" sz="2800"/>
              <a:t>69\n");break;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 case 'D': printf("&lt;60\n");break;    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	  default:  printf("enter data error!\n");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}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return 0;</a:t>
            </a:r>
            <a:endParaRPr lang="zh-CN" altLang="zh-CN" sz="280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}</a:t>
            </a:r>
            <a:endParaRPr lang="zh-CN" altLang="zh-CN" sz="2800"/>
          </a:p>
        </p:txBody>
      </p:sp>
      <p:sp>
        <p:nvSpPr>
          <p:cNvPr id="7168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68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68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6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979712" y="2643188"/>
            <a:ext cx="1020663" cy="428625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857625" y="2571750"/>
            <a:ext cx="1500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值为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zh-CN" altLang="en-US" sz="2800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>
            <a:cxnSpLocks noChangeShapeType="1"/>
          </p:cNvCxnSpPr>
          <p:nvPr/>
        </p:nvCxnSpPr>
        <p:spPr bwMode="auto">
          <a:xfrm>
            <a:off x="1000125" y="5357813"/>
            <a:ext cx="6164163" cy="71437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884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5" y="5429250"/>
            <a:ext cx="52863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84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5" y="5786438"/>
            <a:ext cx="5286375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92" name="图片 12" descr="Untitled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6900" y="5937250"/>
            <a:ext cx="927100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62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8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8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285750"/>
            <a:ext cx="8643937" cy="6572250"/>
          </a:xfrm>
        </p:spPr>
        <p:txBody>
          <a:bodyPr/>
          <a:lstStyle/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{ char grade;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("%</a:t>
            </a:r>
            <a:r>
              <a:rPr lang="en-US" altLang="zh-CN" sz="2800" dirty="0" err="1"/>
              <a:t>c",&amp;grade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("Your score:");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switch(grade)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{ case 'A':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("85</a:t>
            </a:r>
            <a:r>
              <a:rPr lang="zh-CN" altLang="zh-CN" sz="2800" dirty="0"/>
              <a:t>～</a:t>
            </a:r>
            <a:r>
              <a:rPr lang="en-US" altLang="zh-CN" sz="2800" dirty="0"/>
              <a:t>100\n");break;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case 'B':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("70</a:t>
            </a:r>
            <a:r>
              <a:rPr lang="zh-CN" altLang="zh-CN" sz="2800" dirty="0"/>
              <a:t>～</a:t>
            </a:r>
            <a:r>
              <a:rPr lang="en-US" altLang="zh-CN" sz="2800" dirty="0"/>
              <a:t>84\n");break;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case 'C':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("60</a:t>
            </a:r>
            <a:r>
              <a:rPr lang="zh-CN" altLang="zh-CN" sz="2800" dirty="0"/>
              <a:t>～</a:t>
            </a:r>
            <a:r>
              <a:rPr lang="en-US" altLang="zh-CN" sz="2800" dirty="0"/>
              <a:t>69\n");break;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case 'D':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("&lt;60\n");break;    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	  default: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("enter data error!\n");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}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return 0;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}</a:t>
            </a:r>
            <a:endParaRPr lang="zh-CN" altLang="zh-CN" sz="2800" dirty="0"/>
          </a:p>
        </p:txBody>
      </p:sp>
      <p:sp>
        <p:nvSpPr>
          <p:cNvPr id="7270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70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7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727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5" y="5429250"/>
            <a:ext cx="52863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1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5" y="5786438"/>
            <a:ext cx="5286375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2928938" y="5786438"/>
            <a:ext cx="2000250" cy="500062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5572125" y="1857375"/>
            <a:ext cx="33210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此行位置有问题，应如何修改？</a:t>
            </a: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714375" y="2143125"/>
            <a:ext cx="3641601" cy="500063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63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250031"/>
            <a:ext cx="7929562" cy="6059289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switch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语句的作用是根据表达式的值，使流程跳转到不同的语句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switch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语句的一般形式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switch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（表达式）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  case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：语句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case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：语句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┇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┇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┇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case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：语句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default     :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n+1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73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37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373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37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2411760" y="2276872"/>
            <a:ext cx="1143000" cy="500062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995936" y="2235917"/>
            <a:ext cx="4071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整数类型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包括字符型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800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64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  <p:bldP spid="9" grpId="0" animBg="1"/>
      <p:bldP spid="10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62" y="620688"/>
            <a:ext cx="8320409" cy="5572125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switch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语句的作用是根据表达式的值，使流程跳转到不同的语句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switch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语句的一般形式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switch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（表达式）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  case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：语句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case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：语句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┇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┇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┇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case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：语句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default     :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n+1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75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475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475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2339752" y="2976414"/>
            <a:ext cx="1143000" cy="2088232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779912" y="4041425"/>
            <a:ext cx="2000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不能相同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65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285750"/>
            <a:ext cx="8643937" cy="5929313"/>
          </a:xfrm>
        </p:spPr>
        <p:txBody>
          <a:bodyPr/>
          <a:lstStyle/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("%</a:t>
            </a:r>
            <a:r>
              <a:rPr lang="en-US" altLang="zh-CN" sz="2800" dirty="0" err="1"/>
              <a:t>c",&amp;grade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("Your score:");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switch(</a:t>
            </a:r>
            <a:r>
              <a:rPr lang="en-US" altLang="zh-CN" sz="2800" dirty="0">
                <a:solidFill>
                  <a:srgbClr val="FF0000"/>
                </a:solidFill>
              </a:rPr>
              <a:t>grade</a:t>
            </a:r>
            <a:r>
              <a:rPr lang="en-US" altLang="zh-CN" sz="2800" dirty="0"/>
              <a:t>)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{ case 'A':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("85</a:t>
            </a:r>
            <a:r>
              <a:rPr lang="zh-CN" altLang="zh-CN" sz="2800" dirty="0"/>
              <a:t>～</a:t>
            </a:r>
            <a:r>
              <a:rPr lang="en-US" altLang="zh-CN" sz="2800" dirty="0"/>
              <a:t>100\n");</a:t>
            </a: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case 'B':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("70</a:t>
            </a:r>
            <a:r>
              <a:rPr lang="zh-CN" altLang="zh-CN" sz="2800" dirty="0"/>
              <a:t>～</a:t>
            </a:r>
            <a:r>
              <a:rPr lang="en-US" altLang="zh-CN" sz="2800" dirty="0"/>
              <a:t>84\n");</a:t>
            </a: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case 'C':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("60</a:t>
            </a:r>
            <a:r>
              <a:rPr lang="zh-CN" altLang="zh-CN" sz="2800" dirty="0"/>
              <a:t>～</a:t>
            </a:r>
            <a:r>
              <a:rPr lang="en-US" altLang="zh-CN" sz="2800" dirty="0"/>
              <a:t>69\n");</a:t>
            </a: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case 'D':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("&lt;60\n");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	  default: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("enter data error!\n");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}   </a:t>
            </a:r>
            <a:endParaRPr lang="zh-CN" altLang="zh-CN" sz="2800" dirty="0"/>
          </a:p>
        </p:txBody>
      </p:sp>
      <p:sp>
        <p:nvSpPr>
          <p:cNvPr id="7577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78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78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cxnSp>
        <p:nvCxnSpPr>
          <p:cNvPr id="17" name="直接连接符 16"/>
          <p:cNvCxnSpPr>
            <a:cxnSpLocks noChangeShapeType="1"/>
          </p:cNvCxnSpPr>
          <p:nvPr/>
        </p:nvCxnSpPr>
        <p:spPr bwMode="auto">
          <a:xfrm flipV="1">
            <a:off x="5580112" y="3480370"/>
            <a:ext cx="1071562" cy="20638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直接连接符 19"/>
          <p:cNvCxnSpPr>
            <a:cxnSpLocks noChangeShapeType="1"/>
          </p:cNvCxnSpPr>
          <p:nvPr/>
        </p:nvCxnSpPr>
        <p:spPr bwMode="auto">
          <a:xfrm flipV="1">
            <a:off x="5536406" y="4025702"/>
            <a:ext cx="979810" cy="1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直接连接符 20"/>
          <p:cNvCxnSpPr>
            <a:cxnSpLocks noChangeShapeType="1"/>
          </p:cNvCxnSpPr>
          <p:nvPr/>
        </p:nvCxnSpPr>
        <p:spPr bwMode="auto">
          <a:xfrm flipV="1">
            <a:off x="5482827" y="4437112"/>
            <a:ext cx="1033389" cy="20638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直接连接符 21"/>
          <p:cNvCxnSpPr>
            <a:cxnSpLocks noChangeShapeType="1"/>
          </p:cNvCxnSpPr>
          <p:nvPr/>
        </p:nvCxnSpPr>
        <p:spPr bwMode="auto">
          <a:xfrm flipV="1">
            <a:off x="5000625" y="4941168"/>
            <a:ext cx="998896" cy="20638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894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0818" y="548680"/>
            <a:ext cx="3511550" cy="221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5000625" y="4517975"/>
            <a:ext cx="1359594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ts val="3000"/>
              </a:lnSpc>
              <a:spcBef>
                <a:spcPct val="20000"/>
              </a:spcBef>
            </a:pPr>
            <a:r>
              <a:rPr lang="en-US" altLang="zh-CN" sz="2800" b="1" kern="0" dirty="0">
                <a:solidFill>
                  <a:srgbClr val="000000"/>
                </a:solidFill>
                <a:latin typeface="Arial" panose="020B0604020202020204"/>
                <a:ea typeface="华文楷体" panose="02010600040101010101" charset="-122"/>
              </a:rPr>
              <a:t>break;</a:t>
            </a:r>
            <a:endParaRPr lang="zh-CN" altLang="zh-CN" sz="2800" b="1" kern="0" dirty="0">
              <a:solidFill>
                <a:srgbClr val="000000"/>
              </a:solidFill>
              <a:latin typeface="Arial" panose="020B0604020202020204"/>
              <a:ea typeface="华文楷体" panose="02010600040101010101" charset="-122"/>
            </a:endParaRPr>
          </a:p>
          <a:p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436096" y="4005064"/>
            <a:ext cx="1359594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ts val="3000"/>
              </a:lnSpc>
              <a:spcBef>
                <a:spcPct val="20000"/>
              </a:spcBef>
            </a:pPr>
            <a:r>
              <a:rPr lang="en-US" altLang="zh-CN" sz="2800" b="1" kern="0" dirty="0">
                <a:solidFill>
                  <a:srgbClr val="000000"/>
                </a:solidFill>
                <a:latin typeface="Arial" panose="020B0604020202020204"/>
                <a:ea typeface="华文楷体" panose="02010600040101010101" charset="-122"/>
              </a:rPr>
              <a:t>break;</a:t>
            </a:r>
            <a:endParaRPr lang="zh-CN" altLang="zh-CN" sz="2800" b="1" kern="0" dirty="0">
              <a:solidFill>
                <a:srgbClr val="000000"/>
              </a:solidFill>
              <a:latin typeface="Arial" panose="020B0604020202020204"/>
              <a:ea typeface="华文楷体" panose="02010600040101010101" charset="-122"/>
            </a:endParaRPr>
          </a:p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500073" y="3502448"/>
            <a:ext cx="1359594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ts val="3000"/>
              </a:lnSpc>
              <a:spcBef>
                <a:spcPct val="20000"/>
              </a:spcBef>
            </a:pPr>
            <a:r>
              <a:rPr lang="en-US" altLang="zh-CN" sz="2800" b="1" kern="0" dirty="0">
                <a:solidFill>
                  <a:srgbClr val="000000"/>
                </a:solidFill>
                <a:latin typeface="Arial" panose="020B0604020202020204"/>
                <a:ea typeface="华文楷体" panose="02010600040101010101" charset="-122"/>
              </a:rPr>
              <a:t>break;</a:t>
            </a:r>
            <a:endParaRPr lang="zh-CN" altLang="zh-CN" sz="2800" b="1" kern="0" dirty="0">
              <a:solidFill>
                <a:srgbClr val="000000"/>
              </a:solidFill>
              <a:latin typeface="Arial" panose="020B0604020202020204"/>
              <a:ea typeface="华文楷体" panose="02010600040101010101" charset="-122"/>
            </a:endParaRPr>
          </a:p>
          <a:p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586999" y="3035544"/>
            <a:ext cx="135959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ts val="3000"/>
              </a:lnSpc>
              <a:spcBef>
                <a:spcPct val="20000"/>
              </a:spcBef>
            </a:pPr>
            <a:r>
              <a:rPr lang="en-US" altLang="zh-CN" sz="2800" b="1" kern="0" dirty="0">
                <a:solidFill>
                  <a:srgbClr val="000000"/>
                </a:solidFill>
                <a:latin typeface="Arial" panose="020B0604020202020204"/>
                <a:ea typeface="华文楷体" panose="02010600040101010101" charset="-122"/>
              </a:rPr>
              <a:t>break;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66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9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285750"/>
            <a:ext cx="8643937" cy="5929313"/>
          </a:xfrm>
        </p:spPr>
        <p:txBody>
          <a:bodyPr/>
          <a:lstStyle/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("%</a:t>
            </a:r>
            <a:r>
              <a:rPr lang="en-US" altLang="zh-CN" sz="2800" dirty="0" err="1"/>
              <a:t>c",&amp;grade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("Your score:");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switch(</a:t>
            </a:r>
            <a:r>
              <a:rPr lang="en-US" altLang="zh-CN" sz="2800" dirty="0">
                <a:solidFill>
                  <a:srgbClr val="FF0000"/>
                </a:solidFill>
              </a:rPr>
              <a:t>grade</a:t>
            </a:r>
            <a:r>
              <a:rPr lang="en-US" altLang="zh-CN" sz="2800" dirty="0"/>
              <a:t>)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{ case 'A':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("85</a:t>
            </a:r>
            <a:r>
              <a:rPr lang="zh-CN" altLang="zh-CN" sz="2800" dirty="0"/>
              <a:t>～</a:t>
            </a:r>
            <a:r>
              <a:rPr lang="en-US" altLang="zh-CN" sz="2800" dirty="0"/>
              <a:t>100\n");break;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case 'B':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("70</a:t>
            </a:r>
            <a:r>
              <a:rPr lang="zh-CN" altLang="zh-CN" sz="2800" dirty="0"/>
              <a:t>～</a:t>
            </a:r>
            <a:r>
              <a:rPr lang="en-US" altLang="zh-CN" sz="2800" dirty="0"/>
              <a:t>84\n");break;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case 'C':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("60</a:t>
            </a:r>
            <a:r>
              <a:rPr lang="zh-CN" altLang="zh-CN" sz="2800" dirty="0"/>
              <a:t>～</a:t>
            </a:r>
            <a:r>
              <a:rPr lang="en-US" altLang="zh-CN" sz="2800" dirty="0"/>
              <a:t>69\n");break;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case 'D':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("&lt;60\n");break;    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	  default: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("enter data error!\n");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}   </a:t>
            </a:r>
            <a:endParaRPr lang="zh-CN" altLang="zh-CN" sz="2800" dirty="0"/>
          </a:p>
        </p:txBody>
      </p:sp>
      <p:sp>
        <p:nvSpPr>
          <p:cNvPr id="7680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680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680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68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cxnSp>
        <p:nvCxnSpPr>
          <p:cNvPr id="17" name="直接连接符 16"/>
          <p:cNvCxnSpPr>
            <a:cxnSpLocks noChangeShapeType="1"/>
          </p:cNvCxnSpPr>
          <p:nvPr/>
        </p:nvCxnSpPr>
        <p:spPr bwMode="auto">
          <a:xfrm flipV="1">
            <a:off x="2634630" y="3321844"/>
            <a:ext cx="3874740" cy="35719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直接连接符 19"/>
          <p:cNvCxnSpPr>
            <a:cxnSpLocks noChangeShapeType="1"/>
          </p:cNvCxnSpPr>
          <p:nvPr/>
        </p:nvCxnSpPr>
        <p:spPr bwMode="auto">
          <a:xfrm flipV="1">
            <a:off x="2483768" y="3786186"/>
            <a:ext cx="3874740" cy="3572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67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285750"/>
            <a:ext cx="8643937" cy="5786438"/>
          </a:xfrm>
        </p:spPr>
        <p:txBody>
          <a:bodyPr/>
          <a:lstStyle/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("%</a:t>
            </a:r>
            <a:r>
              <a:rPr lang="en-US" altLang="zh-CN" sz="2800" dirty="0" err="1"/>
              <a:t>c",&amp;grade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("Your score:");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switch(</a:t>
            </a:r>
            <a:r>
              <a:rPr lang="en-US" altLang="zh-CN" sz="2800" dirty="0">
                <a:solidFill>
                  <a:srgbClr val="FF0000"/>
                </a:solidFill>
              </a:rPr>
              <a:t>grade</a:t>
            </a:r>
            <a:r>
              <a:rPr lang="en-US" altLang="zh-CN" sz="2800" dirty="0"/>
              <a:t>)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{ case </a:t>
            </a:r>
            <a:r>
              <a:rPr lang="en-US" altLang="zh-CN" sz="2800" dirty="0">
                <a:solidFill>
                  <a:srgbClr val="00B050"/>
                </a:solidFill>
              </a:rPr>
              <a:t>'A‘</a:t>
            </a:r>
            <a:r>
              <a:rPr lang="en-US" altLang="zh-CN" sz="2800" dirty="0"/>
              <a:t>: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case </a:t>
            </a:r>
            <a:r>
              <a:rPr lang="en-US" altLang="zh-CN" sz="2800" dirty="0">
                <a:solidFill>
                  <a:srgbClr val="00B050"/>
                </a:solidFill>
              </a:rPr>
              <a:t>'B‘</a:t>
            </a:r>
            <a:r>
              <a:rPr lang="en-US" altLang="zh-CN" sz="2800" dirty="0"/>
              <a:t>: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case </a:t>
            </a:r>
            <a:r>
              <a:rPr lang="en-US" altLang="zh-CN" sz="2800" dirty="0">
                <a:solidFill>
                  <a:srgbClr val="00B050"/>
                </a:solidFill>
              </a:rPr>
              <a:t>'C'</a:t>
            </a:r>
            <a:r>
              <a:rPr lang="en-US" altLang="zh-CN" sz="2800" dirty="0"/>
              <a:t>: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("60</a:t>
            </a:r>
            <a:r>
              <a:rPr lang="zh-CN" altLang="zh-CN" sz="2800" dirty="0"/>
              <a:t>～</a:t>
            </a:r>
            <a:r>
              <a:rPr lang="en-US" altLang="zh-CN" sz="2800" dirty="0"/>
              <a:t>69\n");break;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case 'D':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("&lt;60\n");break;    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	  default: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("enter data error!\n");</a:t>
            </a: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}</a:t>
            </a:r>
            <a:endParaRPr lang="zh-CN" altLang="zh-CN" sz="2800" dirty="0"/>
          </a:p>
        </p:txBody>
      </p:sp>
      <p:sp>
        <p:nvSpPr>
          <p:cNvPr id="7782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782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783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1904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25" y="3071813"/>
            <a:ext cx="325755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68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0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540" y="476673"/>
            <a:ext cx="8280920" cy="792087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4.6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编写程序，用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switch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语句处理菜单命令。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85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885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88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31540" y="1196752"/>
            <a:ext cx="8280920" cy="26642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zh-CN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解题思路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：在许多应用程序中，用菜单对流程进行控制，例如从键盘输入一个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’A’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’a’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字符，就会执行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操作，输入一个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’B’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’b’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字符，就会执行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操作，等等。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69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  <p:bldP spid="8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6428" y="20279"/>
            <a:ext cx="8429625" cy="6572250"/>
          </a:xfrm>
        </p:spPr>
        <p:txBody>
          <a:bodyPr/>
          <a:lstStyle/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{ void action1(</a:t>
            </a:r>
            <a:r>
              <a:rPr lang="en-US" altLang="zh-CN" sz="2800" dirty="0" err="1"/>
              <a:t>int,int</a:t>
            </a:r>
            <a:r>
              <a:rPr lang="en-US" altLang="zh-CN" sz="2800" dirty="0"/>
              <a:t>),action2(</a:t>
            </a:r>
            <a:r>
              <a:rPr lang="en-US" altLang="zh-CN" sz="2800" dirty="0" err="1"/>
              <a:t>int,int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char </a:t>
            </a:r>
            <a:r>
              <a:rPr lang="en-US" altLang="zh-CN" sz="2800" dirty="0" err="1"/>
              <a:t>ch</a:t>
            </a:r>
            <a:r>
              <a:rPr lang="en-US" altLang="zh-CN" sz="2800" dirty="0"/>
              <a:t>;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a=15,b=23;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ch</a:t>
            </a:r>
            <a:r>
              <a:rPr lang="en-US" altLang="zh-CN" sz="2800" dirty="0"/>
              <a:t>=</a:t>
            </a:r>
            <a:r>
              <a:rPr lang="en-US" altLang="zh-CN" sz="2800" dirty="0" err="1"/>
              <a:t>getchar</a:t>
            </a:r>
            <a:r>
              <a:rPr lang="en-US" altLang="zh-CN" sz="2800" dirty="0"/>
              <a:t>();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switch(</a:t>
            </a:r>
            <a:r>
              <a:rPr lang="en-US" altLang="zh-CN" sz="2800" dirty="0" err="1">
                <a:solidFill>
                  <a:srgbClr val="FF0000"/>
                </a:solidFill>
              </a:rPr>
              <a:t>ch</a:t>
            </a:r>
            <a:r>
              <a:rPr lang="en-US" altLang="zh-CN" sz="2800" dirty="0"/>
              <a:t>)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{ </a:t>
            </a:r>
            <a:r>
              <a:rPr lang="en-US" altLang="zh-CN" sz="2800" dirty="0">
                <a:solidFill>
                  <a:srgbClr val="00B050"/>
                </a:solidFill>
              </a:rPr>
              <a:t>case 'a':</a:t>
            </a:r>
            <a:endParaRPr lang="zh-CN" altLang="zh-CN" sz="2800" dirty="0">
              <a:solidFill>
                <a:srgbClr val="00B050"/>
              </a:solidFill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B050"/>
                </a:solidFill>
              </a:rPr>
              <a:t>      case ‘A’: action1(</a:t>
            </a:r>
            <a:r>
              <a:rPr lang="en-US" altLang="zh-CN" sz="2800" dirty="0" err="1">
                <a:solidFill>
                  <a:srgbClr val="00B050"/>
                </a:solidFill>
              </a:rPr>
              <a:t>a,b</a:t>
            </a:r>
            <a:r>
              <a:rPr lang="en-US" altLang="zh-CN" sz="2800" dirty="0">
                <a:solidFill>
                  <a:srgbClr val="00B050"/>
                </a:solidFill>
              </a:rPr>
              <a:t>);break; </a:t>
            </a:r>
            <a:r>
              <a:rPr lang="en-US" altLang="zh-CN" sz="2800" dirty="0"/>
              <a:t> 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 </a:t>
            </a:r>
            <a:r>
              <a:rPr lang="en-US" altLang="zh-CN" sz="2800" dirty="0">
                <a:solidFill>
                  <a:srgbClr val="9D138D"/>
                </a:solidFill>
              </a:rPr>
              <a:t>case 'b':</a:t>
            </a:r>
            <a:endParaRPr lang="zh-CN" altLang="zh-CN" sz="2800" dirty="0">
              <a:solidFill>
                <a:srgbClr val="9D138D"/>
              </a:solidFill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9D138D"/>
                </a:solidFill>
              </a:rPr>
              <a:t>      case ‘B’: action2(</a:t>
            </a:r>
            <a:r>
              <a:rPr lang="en-US" altLang="zh-CN" sz="2800" dirty="0" err="1">
                <a:solidFill>
                  <a:srgbClr val="9D138D"/>
                </a:solidFill>
              </a:rPr>
              <a:t>a,b</a:t>
            </a:r>
            <a:r>
              <a:rPr lang="en-US" altLang="zh-CN" sz="2800" dirty="0">
                <a:solidFill>
                  <a:srgbClr val="9D138D"/>
                </a:solidFill>
              </a:rPr>
              <a:t>);break; </a:t>
            </a:r>
            <a:r>
              <a:rPr lang="en-US" altLang="zh-CN" sz="2800" dirty="0"/>
              <a:t> 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	   default:  </a:t>
            </a:r>
            <a:r>
              <a:rPr lang="en-US" altLang="zh-CN" sz="2800" dirty="0" err="1"/>
              <a:t>putchar</a:t>
            </a:r>
            <a:r>
              <a:rPr lang="en-US" altLang="zh-CN" sz="2800" dirty="0"/>
              <a:t>(‘\a’); 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}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return 0;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</p:txBody>
      </p:sp>
      <p:sp>
        <p:nvSpPr>
          <p:cNvPr id="7987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987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987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98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429000" y="2500313"/>
            <a:ext cx="2214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2800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>
            <a:cxnSpLocks noChangeShapeType="1"/>
          </p:cNvCxnSpPr>
          <p:nvPr/>
        </p:nvCxnSpPr>
        <p:spPr bwMode="auto">
          <a:xfrm>
            <a:off x="2786063" y="3789040"/>
            <a:ext cx="2001961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627784" y="3789040"/>
            <a:ext cx="5214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action1</a:t>
            </a:r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函数，执行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lang="zh-CN" altLang="en-US" sz="2800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4357688" y="35027"/>
            <a:ext cx="4786312" cy="1928813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r>
              <a:rPr lang="en-US" altLang="zh-CN" sz="2800" b="1" dirty="0">
                <a:solidFill>
                  <a:srgbClr val="00B050"/>
                </a:solidFill>
              </a:rPr>
              <a:t>void action1(</a:t>
            </a:r>
            <a:r>
              <a:rPr lang="en-US" altLang="zh-CN" sz="2800" b="1" dirty="0" err="1">
                <a:solidFill>
                  <a:srgbClr val="00B050"/>
                </a:solidFill>
              </a:rPr>
              <a:t>int</a:t>
            </a:r>
            <a:r>
              <a:rPr lang="en-US" altLang="zh-CN" sz="2800" b="1" dirty="0">
                <a:solidFill>
                  <a:srgbClr val="00B050"/>
                </a:solidFill>
              </a:rPr>
              <a:t> </a:t>
            </a:r>
            <a:r>
              <a:rPr lang="en-US" altLang="zh-CN" sz="2800" b="1" dirty="0" err="1">
                <a:solidFill>
                  <a:srgbClr val="00B050"/>
                </a:solidFill>
              </a:rPr>
              <a:t>x,int</a:t>
            </a:r>
            <a:r>
              <a:rPr lang="en-US" altLang="zh-CN" sz="2800" b="1" dirty="0">
                <a:solidFill>
                  <a:srgbClr val="00B050"/>
                </a:solidFill>
              </a:rPr>
              <a:t> y) </a:t>
            </a:r>
          </a:p>
          <a:p>
            <a:r>
              <a:rPr lang="en-US" altLang="zh-CN" sz="2800" b="1" dirty="0">
                <a:solidFill>
                  <a:srgbClr val="00B050"/>
                </a:solidFill>
              </a:rPr>
              <a:t>{</a:t>
            </a:r>
            <a:endParaRPr lang="zh-CN" altLang="zh-CN" sz="2800" b="1" dirty="0">
              <a:solidFill>
                <a:srgbClr val="00B050"/>
              </a:solidFill>
            </a:endParaRPr>
          </a:p>
          <a:p>
            <a:r>
              <a:rPr lang="en-US" altLang="zh-CN" sz="2800" b="1" dirty="0">
                <a:solidFill>
                  <a:srgbClr val="00B050"/>
                </a:solidFill>
              </a:rPr>
              <a:t>    </a:t>
            </a:r>
            <a:r>
              <a:rPr lang="en-US" altLang="zh-CN" sz="2800" b="1" dirty="0" err="1">
                <a:solidFill>
                  <a:srgbClr val="00B050"/>
                </a:solidFill>
              </a:rPr>
              <a:t>printf</a:t>
            </a:r>
            <a:r>
              <a:rPr lang="en-US" altLang="zh-CN" sz="2800" b="1" dirty="0">
                <a:solidFill>
                  <a:srgbClr val="00B050"/>
                </a:solidFill>
              </a:rPr>
              <a:t>("</a:t>
            </a:r>
            <a:r>
              <a:rPr lang="en-US" altLang="zh-CN" sz="2800" b="1" dirty="0" err="1">
                <a:solidFill>
                  <a:srgbClr val="00B050"/>
                </a:solidFill>
              </a:rPr>
              <a:t>x+y</a:t>
            </a:r>
            <a:r>
              <a:rPr lang="en-US" altLang="zh-CN" sz="2800" b="1" dirty="0">
                <a:solidFill>
                  <a:srgbClr val="00B050"/>
                </a:solidFill>
              </a:rPr>
              <a:t>=%d\n",</a:t>
            </a:r>
            <a:r>
              <a:rPr lang="en-US" altLang="zh-CN" sz="2800" b="1" dirty="0" err="1">
                <a:solidFill>
                  <a:srgbClr val="00B050"/>
                </a:solidFill>
              </a:rPr>
              <a:t>x+y</a:t>
            </a:r>
            <a:r>
              <a:rPr lang="en-US" altLang="zh-CN" sz="2800" b="1" dirty="0">
                <a:solidFill>
                  <a:srgbClr val="00B050"/>
                </a:solidFill>
              </a:rPr>
              <a:t>);</a:t>
            </a:r>
            <a:endParaRPr lang="zh-CN" altLang="zh-CN" sz="2800" b="1" dirty="0">
              <a:solidFill>
                <a:srgbClr val="00B050"/>
              </a:solidFill>
            </a:endParaRPr>
          </a:p>
          <a:p>
            <a:r>
              <a:rPr lang="en-US" altLang="zh-CN" sz="2800" b="1" dirty="0">
                <a:solidFill>
                  <a:srgbClr val="00B050"/>
                </a:solidFill>
              </a:rPr>
              <a:t>}</a:t>
            </a:r>
            <a:endParaRPr lang="zh-CN" altLang="zh-CN" sz="2800" b="1" dirty="0">
              <a:solidFill>
                <a:srgbClr val="00B050"/>
              </a:solidFill>
            </a:endParaRPr>
          </a:p>
          <a:p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70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1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12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12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  <p:bldP spid="7" grpId="0"/>
      <p:bldP spid="10" grpId="0"/>
      <p:bldP spid="11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4375" y="37332"/>
            <a:ext cx="8429625" cy="6572250"/>
          </a:xfrm>
        </p:spPr>
        <p:txBody>
          <a:bodyPr/>
          <a:lstStyle/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{ void action1(</a:t>
            </a:r>
            <a:r>
              <a:rPr lang="en-US" altLang="zh-CN" sz="2800" dirty="0" err="1"/>
              <a:t>int,int</a:t>
            </a:r>
            <a:r>
              <a:rPr lang="en-US" altLang="zh-CN" sz="2800" dirty="0"/>
              <a:t>),action2(</a:t>
            </a:r>
            <a:r>
              <a:rPr lang="en-US" altLang="zh-CN" sz="2800" dirty="0" err="1"/>
              <a:t>int,int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char </a:t>
            </a:r>
            <a:r>
              <a:rPr lang="en-US" altLang="zh-CN" sz="2800" dirty="0" err="1"/>
              <a:t>ch</a:t>
            </a:r>
            <a:r>
              <a:rPr lang="en-US" altLang="zh-CN" sz="2800" dirty="0"/>
              <a:t>;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a=15,b=23;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ch</a:t>
            </a:r>
            <a:r>
              <a:rPr lang="en-US" altLang="zh-CN" sz="2800" dirty="0"/>
              <a:t>=</a:t>
            </a:r>
            <a:r>
              <a:rPr lang="en-US" altLang="zh-CN" sz="2800" dirty="0" err="1"/>
              <a:t>getchar</a:t>
            </a:r>
            <a:r>
              <a:rPr lang="en-US" altLang="zh-CN" sz="2800" dirty="0"/>
              <a:t>();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switch(</a:t>
            </a:r>
            <a:r>
              <a:rPr lang="en-US" altLang="zh-CN" sz="2800" dirty="0" err="1">
                <a:solidFill>
                  <a:srgbClr val="FF0000"/>
                </a:solidFill>
              </a:rPr>
              <a:t>ch</a:t>
            </a:r>
            <a:r>
              <a:rPr lang="en-US" altLang="zh-CN" sz="2800" dirty="0"/>
              <a:t>)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{ </a:t>
            </a:r>
            <a:r>
              <a:rPr lang="en-US" altLang="zh-CN" sz="2800" dirty="0">
                <a:solidFill>
                  <a:srgbClr val="00B050"/>
                </a:solidFill>
              </a:rPr>
              <a:t>case 'a':</a:t>
            </a:r>
            <a:endParaRPr lang="zh-CN" altLang="zh-CN" sz="2800" dirty="0">
              <a:solidFill>
                <a:srgbClr val="00B050"/>
              </a:solidFill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B050"/>
                </a:solidFill>
              </a:rPr>
              <a:t>      case ‘A’: action1(</a:t>
            </a:r>
            <a:r>
              <a:rPr lang="en-US" altLang="zh-CN" sz="2800" dirty="0" err="1">
                <a:solidFill>
                  <a:srgbClr val="00B050"/>
                </a:solidFill>
              </a:rPr>
              <a:t>a,b</a:t>
            </a:r>
            <a:r>
              <a:rPr lang="en-US" altLang="zh-CN" sz="2800" dirty="0">
                <a:solidFill>
                  <a:srgbClr val="00B050"/>
                </a:solidFill>
              </a:rPr>
              <a:t>);break;  </a:t>
            </a:r>
            <a:endParaRPr lang="zh-CN" altLang="zh-CN" sz="2800" dirty="0">
              <a:solidFill>
                <a:srgbClr val="00B050"/>
              </a:solidFill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 </a:t>
            </a:r>
            <a:r>
              <a:rPr lang="en-US" altLang="zh-CN" sz="2800" dirty="0">
                <a:solidFill>
                  <a:srgbClr val="9D138D"/>
                </a:solidFill>
              </a:rPr>
              <a:t>case 'b':</a:t>
            </a:r>
            <a:endParaRPr lang="zh-CN" altLang="zh-CN" sz="2800" dirty="0">
              <a:solidFill>
                <a:srgbClr val="9D138D"/>
              </a:solidFill>
            </a:endParaRPr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9D138D"/>
                </a:solidFill>
              </a:rPr>
              <a:t>      case ‘B’: action2(</a:t>
            </a:r>
            <a:r>
              <a:rPr lang="en-US" altLang="zh-CN" sz="2800" dirty="0" err="1">
                <a:solidFill>
                  <a:srgbClr val="9D138D"/>
                </a:solidFill>
              </a:rPr>
              <a:t>a,b</a:t>
            </a:r>
            <a:r>
              <a:rPr lang="en-US" altLang="zh-CN" sz="2800" dirty="0">
                <a:solidFill>
                  <a:srgbClr val="9D138D"/>
                </a:solidFill>
              </a:rPr>
              <a:t>);break; </a:t>
            </a:r>
            <a:r>
              <a:rPr lang="en-US" altLang="zh-CN" sz="2800" dirty="0"/>
              <a:t> 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	   default:  </a:t>
            </a:r>
            <a:r>
              <a:rPr lang="en-US" altLang="zh-CN" sz="2800" dirty="0" err="1"/>
              <a:t>putchar</a:t>
            </a:r>
            <a:r>
              <a:rPr lang="en-US" altLang="zh-CN" sz="2800" dirty="0"/>
              <a:t>(‘\a’); 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}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return 0;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</p:txBody>
      </p:sp>
      <p:sp>
        <p:nvSpPr>
          <p:cNvPr id="8089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9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90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90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429000" y="2500313"/>
            <a:ext cx="2214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2800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>
            <a:cxnSpLocks noChangeShapeType="1"/>
          </p:cNvCxnSpPr>
          <p:nvPr/>
        </p:nvCxnSpPr>
        <p:spPr bwMode="auto">
          <a:xfrm>
            <a:off x="3000375" y="4725144"/>
            <a:ext cx="2003673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071813" y="3857625"/>
            <a:ext cx="52149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action2</a:t>
            </a:r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函数，执行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lang="zh-CN" altLang="en-US" sz="2800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4762058" y="7836"/>
            <a:ext cx="4357687" cy="1928812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r>
              <a:rPr lang="en-US" altLang="zh-CN" sz="2800" b="1">
                <a:solidFill>
                  <a:srgbClr val="9D138D"/>
                </a:solidFill>
              </a:rPr>
              <a:t>void action2(int x,int y)</a:t>
            </a:r>
            <a:endParaRPr lang="zh-CN" altLang="zh-CN" sz="2800" b="1">
              <a:solidFill>
                <a:srgbClr val="9D138D"/>
              </a:solidFill>
            </a:endParaRPr>
          </a:p>
          <a:p>
            <a:r>
              <a:rPr lang="en-US" altLang="zh-CN" sz="2800" b="1">
                <a:solidFill>
                  <a:srgbClr val="9D138D"/>
                </a:solidFill>
              </a:rPr>
              <a:t>{</a:t>
            </a:r>
            <a:endParaRPr lang="zh-CN" altLang="zh-CN" sz="2800" b="1">
              <a:solidFill>
                <a:srgbClr val="9D138D"/>
              </a:solidFill>
            </a:endParaRPr>
          </a:p>
          <a:p>
            <a:r>
              <a:rPr lang="en-US" altLang="zh-CN" sz="2800" b="1">
                <a:solidFill>
                  <a:srgbClr val="9D138D"/>
                </a:solidFill>
              </a:rPr>
              <a:t>  printf("x*y=%d\n",x*y);</a:t>
            </a:r>
            <a:endParaRPr lang="zh-CN" altLang="zh-CN" sz="2800" b="1">
              <a:solidFill>
                <a:srgbClr val="9D138D"/>
              </a:solidFill>
            </a:endParaRPr>
          </a:p>
          <a:p>
            <a:r>
              <a:rPr lang="en-US" altLang="zh-CN" sz="2800" b="1">
                <a:solidFill>
                  <a:srgbClr val="9D138D"/>
                </a:solidFill>
              </a:rPr>
              <a:t>}</a:t>
            </a:r>
            <a:endParaRPr lang="zh-CN" altLang="zh-CN" sz="2800" b="1">
              <a:solidFill>
                <a:srgbClr val="9D138D"/>
              </a:solidFill>
            </a:endParaRPr>
          </a:p>
          <a:p>
            <a:endParaRPr lang="zh-CN" altLang="en-US" sz="2800" b="1">
              <a:solidFill>
                <a:srgbClr val="00B05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71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63" y="142875"/>
            <a:ext cx="8429625" cy="6572250"/>
          </a:xfrm>
        </p:spPr>
        <p:txBody>
          <a:bodyPr/>
          <a:lstStyle/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{ void action1(</a:t>
            </a:r>
            <a:r>
              <a:rPr lang="en-US" altLang="zh-CN" sz="2800" dirty="0" err="1"/>
              <a:t>int,int</a:t>
            </a:r>
            <a:r>
              <a:rPr lang="en-US" altLang="zh-CN" sz="2800" dirty="0"/>
              <a:t>),action2(</a:t>
            </a:r>
            <a:r>
              <a:rPr lang="en-US" altLang="zh-CN" sz="2800" dirty="0" err="1"/>
              <a:t>int,int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char </a:t>
            </a:r>
            <a:r>
              <a:rPr lang="en-US" altLang="zh-CN" sz="2800" dirty="0" err="1"/>
              <a:t>ch</a:t>
            </a:r>
            <a:r>
              <a:rPr lang="en-US" altLang="zh-CN" sz="2800" dirty="0"/>
              <a:t>;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a=15,b=23;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ch</a:t>
            </a:r>
            <a:r>
              <a:rPr lang="en-US" altLang="zh-CN" sz="2800" dirty="0"/>
              <a:t>=</a:t>
            </a:r>
            <a:r>
              <a:rPr lang="en-US" altLang="zh-CN" sz="2800" dirty="0" err="1"/>
              <a:t>getchar</a:t>
            </a:r>
            <a:r>
              <a:rPr lang="en-US" altLang="zh-CN" sz="2800" dirty="0"/>
              <a:t>();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switch(</a:t>
            </a:r>
            <a:r>
              <a:rPr lang="en-US" altLang="zh-CN" sz="2800" dirty="0" err="1">
                <a:solidFill>
                  <a:srgbClr val="FF0000"/>
                </a:solidFill>
              </a:rPr>
              <a:t>ch</a:t>
            </a:r>
            <a:r>
              <a:rPr lang="en-US" altLang="zh-CN" sz="2800" dirty="0"/>
              <a:t>)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{ case 'a':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 case ‘A’: action1(</a:t>
            </a:r>
            <a:r>
              <a:rPr lang="en-US" altLang="zh-CN" sz="2800" dirty="0" err="1"/>
              <a:t>a,b</a:t>
            </a:r>
            <a:r>
              <a:rPr lang="en-US" altLang="zh-CN" sz="2800" dirty="0"/>
              <a:t>);break;  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 case 'b':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 case ‘B’: action2(</a:t>
            </a:r>
            <a:r>
              <a:rPr lang="en-US" altLang="zh-CN" sz="2800" dirty="0" err="1"/>
              <a:t>a,b</a:t>
            </a:r>
            <a:r>
              <a:rPr lang="en-US" altLang="zh-CN" sz="2800" dirty="0"/>
              <a:t>);break;  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	   default:  </a:t>
            </a:r>
            <a:r>
              <a:rPr lang="en-US" altLang="zh-CN" sz="2800" dirty="0" err="1"/>
              <a:t>putchar</a:t>
            </a:r>
            <a:r>
              <a:rPr lang="en-US" altLang="zh-CN" sz="2800" dirty="0"/>
              <a:t>(‘\a’); 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}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return 0;</a:t>
            </a:r>
            <a:endParaRPr lang="zh-CN" altLang="zh-CN" sz="2800" dirty="0"/>
          </a:p>
          <a:p>
            <a:pPr>
              <a:lnSpc>
                <a:spcPts val="3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</p:txBody>
      </p:sp>
      <p:sp>
        <p:nvSpPr>
          <p:cNvPr id="8192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192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19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429000" y="2500313"/>
            <a:ext cx="3000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输入其他字符</a:t>
            </a:r>
          </a:p>
        </p:txBody>
      </p:sp>
      <p:cxnSp>
        <p:nvCxnSpPr>
          <p:cNvPr id="8" name="直接连接符 7"/>
          <p:cNvCxnSpPr>
            <a:cxnSpLocks noChangeShapeType="1"/>
          </p:cNvCxnSpPr>
          <p:nvPr/>
        </p:nvCxnSpPr>
        <p:spPr bwMode="auto">
          <a:xfrm>
            <a:off x="2627784" y="5301208"/>
            <a:ext cx="2301403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059832" y="5413375"/>
            <a:ext cx="2000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发出警告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72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2" y="620688"/>
            <a:ext cx="8715375" cy="5286375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这是一个非常简单的示意程序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实际应用中，所指定的操作可能比较复杂： 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全班学生各门课的成绩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</a:t>
            </a:r>
            <a:r>
              <a:rPr lang="zh-CN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每个学生各门课的平均成绩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</a:t>
            </a:r>
            <a:r>
              <a:rPr lang="zh-CN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各门课的全班平均成绩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：对全班学生的平均成绩由高到低</a:t>
            </a:r>
            <a:r>
              <a:rPr lang="zh-CN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排序并输出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可以按以上思路编写程序，把各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action</a:t>
            </a:r>
            <a:r>
              <a:rPr lang="zh-CN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设计成不同的功能以实现各要求</a:t>
            </a:r>
          </a:p>
        </p:txBody>
      </p:sp>
      <p:sp>
        <p:nvSpPr>
          <p:cNvPr id="8294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294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29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73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568325"/>
            <a:ext cx="8786812" cy="768350"/>
          </a:xfrm>
          <a:effectLst/>
        </p:spPr>
        <p:txBody>
          <a:bodyPr anchor="ctr"/>
          <a:lstStyle/>
          <a:p>
            <a:pPr eaLnBrk="1" hangingPunct="1"/>
            <a:r>
              <a:rPr lang="en-US" altLang="zh-CN" sz="4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</a:t>
            </a:r>
            <a:r>
              <a:rPr lang="zh-CN" altLang="zh-CN" sz="4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  <a:r>
              <a:rPr lang="zh-CN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结构程序综合举例</a:t>
            </a:r>
            <a:endParaRPr lang="zh-CN" altLang="en-US" sz="4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7219" y="1484784"/>
            <a:ext cx="7929562" cy="3286125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4.7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写一程序，判断某一年是否闰年。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解题思路：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在前面已介绍过判别闰年的方法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本例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用不同的方法编写程序</a:t>
            </a:r>
          </a:p>
        </p:txBody>
      </p:sp>
      <p:sp>
        <p:nvSpPr>
          <p:cNvPr id="8397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397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397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397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74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2420888"/>
            <a:ext cx="8464425" cy="3857625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99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499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499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499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07219" y="332656"/>
            <a:ext cx="7929562" cy="3286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4.7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写一程序，判断某一年是否闰年。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解题思路：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在前面已介绍过判别闰年的方法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本例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用不同的方法编写程序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75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75" y="0"/>
            <a:ext cx="9001125" cy="6858000"/>
          </a:xfrm>
        </p:spPr>
        <p:txBody>
          <a:bodyPr/>
          <a:lstStyle/>
          <a:p>
            <a:pPr>
              <a:lnSpc>
                <a:spcPts val="29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anose="05000000000000000000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	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{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year,</a:t>
            </a:r>
            <a:r>
              <a:rPr lang="en-US" altLang="zh-CN" sz="2800" dirty="0" err="1">
                <a:solidFill>
                  <a:srgbClr val="00B050"/>
                </a:solidFill>
              </a:rPr>
              <a:t>leap</a:t>
            </a:r>
            <a:r>
              <a:rPr lang="en-US" altLang="zh-CN" sz="2800" dirty="0"/>
              <a:t>;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("enter year:"); 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("%</a:t>
            </a:r>
            <a:r>
              <a:rPr lang="en-US" altLang="zh-CN" sz="2800" dirty="0" err="1"/>
              <a:t>d",&amp;year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defRPr/>
            </a:pPr>
            <a:r>
              <a:rPr lang="en-US" altLang="zh-CN" sz="2800" dirty="0" smtClean="0"/>
              <a:t>  if</a:t>
            </a:r>
            <a:r>
              <a:rPr lang="en-US" altLang="zh-CN" sz="2800" dirty="0"/>
              <a:t>((year%4==0 &amp;&amp; year%100!=0) </a:t>
            </a:r>
          </a:p>
          <a:p>
            <a:pPr>
              <a:defRPr/>
            </a:pPr>
            <a:r>
              <a:rPr lang="en-US" altLang="zh-CN" sz="2800" dirty="0"/>
              <a:t>                         || (year%400==0))</a:t>
            </a:r>
            <a:endParaRPr lang="zh-CN" altLang="zh-CN" sz="2800" dirty="0"/>
          </a:p>
          <a:p>
            <a:pPr>
              <a:defRPr/>
            </a:pPr>
            <a:r>
              <a:rPr lang="en-US" altLang="zh-CN" sz="2800" dirty="0"/>
              <a:t>     leap=1;</a:t>
            </a:r>
            <a:endParaRPr lang="zh-CN" altLang="zh-CN" sz="2800" dirty="0"/>
          </a:p>
          <a:p>
            <a:pPr>
              <a:defRPr/>
            </a:pPr>
            <a:r>
              <a:rPr lang="en-US" altLang="zh-CN" sz="2800" dirty="0" smtClean="0"/>
              <a:t>  else  </a:t>
            </a:r>
            <a:endParaRPr lang="en-US" altLang="zh-CN" sz="2800" dirty="0"/>
          </a:p>
          <a:p>
            <a:pPr>
              <a:defRPr/>
            </a:pPr>
            <a:r>
              <a:rPr lang="en-US" altLang="zh-CN" sz="2800" dirty="0"/>
              <a:t>     leap=0;</a:t>
            </a:r>
            <a:endParaRPr lang="zh-CN" altLang="en-US" sz="2800" dirty="0"/>
          </a:p>
          <a:p>
            <a:pPr>
              <a:lnSpc>
                <a:spcPts val="29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/>
              <a:t>  </a:t>
            </a:r>
            <a:r>
              <a:rPr lang="en-US" altLang="zh-CN" sz="2800" dirty="0"/>
              <a:t>if (</a:t>
            </a:r>
            <a:r>
              <a:rPr lang="en-US" altLang="zh-CN" sz="2800" dirty="0">
                <a:solidFill>
                  <a:srgbClr val="00B050"/>
                </a:solidFill>
              </a:rPr>
              <a:t>leap</a:t>
            </a:r>
            <a:r>
              <a:rPr lang="en-US" altLang="zh-CN" sz="2800" dirty="0"/>
              <a:t>) 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("%d is ",year);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else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("%d is not ",year);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("a leap year.\n");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return 0;</a:t>
            </a:r>
            <a:endParaRPr lang="zh-CN" altLang="zh-CN" sz="2800" dirty="0"/>
          </a:p>
          <a:p>
            <a:pPr>
              <a:lnSpc>
                <a:spcPts val="29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</p:txBody>
      </p:sp>
      <p:sp>
        <p:nvSpPr>
          <p:cNvPr id="8909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909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90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9095" name="矩形 12"/>
          <p:cNvSpPr>
            <a:spLocks noChangeArrowheads="1"/>
          </p:cNvSpPr>
          <p:nvPr/>
        </p:nvSpPr>
        <p:spPr bwMode="auto">
          <a:xfrm>
            <a:off x="172823" y="1732902"/>
            <a:ext cx="6847449" cy="2560194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76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87" y="332656"/>
            <a:ext cx="8429625" cy="831850"/>
          </a:xfrm>
          <a:effectLst/>
        </p:spPr>
        <p:txBody>
          <a:bodyPr anchor="ctr"/>
          <a:lstStyle/>
          <a:p>
            <a:pPr eaLnBrk="1" hangingPunct="1"/>
            <a:r>
              <a:rPr lang="en-US" altLang="zh-CN" b="1" kern="12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</a:t>
            </a:r>
            <a:r>
              <a:rPr lang="en-US" altLang="zh-CN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条件运算符和条件表达式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340768"/>
            <a:ext cx="7966075" cy="4286250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有一种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语句，当被判别的表达式的值为“真”或“假” 时，都执行</a:t>
            </a:r>
            <a:r>
              <a:rPr lang="zh-CN" altLang="zh-CN" sz="3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一个赋值语句且向同一个变量赋值</a:t>
            </a:r>
            <a:endParaRPr lang="en-US" altLang="zh-CN" sz="32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(a&gt;b)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0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max=a;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0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else 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0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max=b;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dirty="0">
              <a:solidFill>
                <a:srgbClr val="9D138D"/>
              </a:solidFill>
            </a:endParaRPr>
          </a:p>
        </p:txBody>
      </p:sp>
      <p:sp>
        <p:nvSpPr>
          <p:cNvPr id="5120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20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20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929188" y="4714875"/>
            <a:ext cx="3857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CC"/>
                </a:solidFill>
              </a:rPr>
              <a:t>max = (a &gt; b) </a:t>
            </a:r>
            <a:r>
              <a:rPr lang="en-US" altLang="zh-CN" sz="2800" b="1">
                <a:solidFill>
                  <a:srgbClr val="9D138D"/>
                </a:solidFill>
              </a:rPr>
              <a:t>?</a:t>
            </a:r>
            <a:r>
              <a:rPr lang="en-US" altLang="zh-CN" sz="2800" b="1">
                <a:solidFill>
                  <a:srgbClr val="0000CC"/>
                </a:solidFill>
              </a:rPr>
              <a:t> a</a:t>
            </a:r>
            <a:r>
              <a:rPr lang="en-US" altLang="zh-CN" sz="2800" b="1">
                <a:solidFill>
                  <a:srgbClr val="FF0000"/>
                </a:solidFill>
              </a:rPr>
              <a:t> </a:t>
            </a:r>
            <a:r>
              <a:rPr lang="en-US" altLang="zh-CN" sz="2800" b="1">
                <a:solidFill>
                  <a:srgbClr val="9D138D"/>
                </a:solidFill>
              </a:rPr>
              <a:t>:</a:t>
            </a:r>
            <a:r>
              <a:rPr lang="en-US" altLang="zh-CN" sz="2800" b="1">
                <a:solidFill>
                  <a:srgbClr val="0000CC"/>
                </a:solidFill>
              </a:rPr>
              <a:t> b;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691680" y="4244826"/>
            <a:ext cx="2437874" cy="144016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" name="椭圆 8"/>
          <p:cNvSpPr>
            <a:spLocks noChangeArrowheads="1"/>
          </p:cNvSpPr>
          <p:nvPr/>
        </p:nvSpPr>
        <p:spPr bwMode="auto">
          <a:xfrm>
            <a:off x="7205663" y="4572000"/>
            <a:ext cx="357187" cy="785813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" name="椭圆 9"/>
          <p:cNvSpPr>
            <a:spLocks noChangeArrowheads="1"/>
          </p:cNvSpPr>
          <p:nvPr/>
        </p:nvSpPr>
        <p:spPr bwMode="auto">
          <a:xfrm>
            <a:off x="7786688" y="4572000"/>
            <a:ext cx="357187" cy="785813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500813" y="4000500"/>
            <a:ext cx="2428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条件运算符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77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 animBg="1"/>
      <p:bldP spid="1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222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22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2231" name="TextBox 6"/>
          <p:cNvSpPr txBox="1">
            <a:spLocks noChangeArrowheads="1"/>
          </p:cNvSpPr>
          <p:nvPr/>
        </p:nvSpPr>
        <p:spPr bwMode="auto">
          <a:xfrm>
            <a:off x="4929188" y="4714875"/>
            <a:ext cx="3857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CC"/>
                </a:solidFill>
              </a:rPr>
              <a:t>max = (a &gt; b) </a:t>
            </a:r>
            <a:r>
              <a:rPr lang="en-US" altLang="zh-CN" sz="2800" b="1">
                <a:solidFill>
                  <a:srgbClr val="9D138D"/>
                </a:solidFill>
              </a:rPr>
              <a:t>?</a:t>
            </a:r>
            <a:r>
              <a:rPr lang="en-US" altLang="zh-CN" sz="2800" b="1">
                <a:solidFill>
                  <a:srgbClr val="0000CC"/>
                </a:solidFill>
              </a:rPr>
              <a:t> a</a:t>
            </a:r>
            <a:r>
              <a:rPr lang="en-US" altLang="zh-CN" sz="2800" b="1">
                <a:solidFill>
                  <a:srgbClr val="FF0000"/>
                </a:solidFill>
              </a:rPr>
              <a:t> </a:t>
            </a:r>
            <a:r>
              <a:rPr lang="en-US" altLang="zh-CN" sz="2800" b="1">
                <a:solidFill>
                  <a:srgbClr val="9D138D"/>
                </a:solidFill>
              </a:rPr>
              <a:t>:</a:t>
            </a:r>
            <a:r>
              <a:rPr lang="en-US" altLang="zh-CN" sz="2800" b="1">
                <a:solidFill>
                  <a:srgbClr val="0000CC"/>
                </a:solidFill>
              </a:rPr>
              <a:t> b;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6000750" y="4714875"/>
            <a:ext cx="2357438" cy="500063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643563" y="5429250"/>
            <a:ext cx="2428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87" y="332656"/>
            <a:ext cx="8429625" cy="831850"/>
          </a:xfrm>
          <a:effectLst/>
        </p:spPr>
        <p:txBody>
          <a:bodyPr anchor="ctr"/>
          <a:lstStyle/>
          <a:p>
            <a:pPr eaLnBrk="1" hangingPunct="1"/>
            <a:r>
              <a:rPr lang="en-US" altLang="zh-CN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</a:t>
            </a:r>
            <a:r>
              <a:rPr lang="en-US" altLang="zh-CN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条件运算符和条件表达式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683568" y="1340768"/>
            <a:ext cx="7966075" cy="428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有一种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语句，当被判别的表达式的值为“真”或“假” 时，都执行</a:t>
            </a:r>
            <a:r>
              <a:rPr lang="zh-CN" altLang="zh-CN" sz="3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一个赋值语句且向同一个变量赋值</a:t>
            </a:r>
            <a:endParaRPr lang="en-US" altLang="zh-CN" sz="32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(a&gt;b)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/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max=a;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/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else 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/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max=b;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78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4375" y="1124744"/>
            <a:ext cx="7715250" cy="115212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条件表达式的一般形式为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表达式１</a:t>
            </a:r>
            <a:r>
              <a:rPr lang="zh-CN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表达式２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表达式３</a:t>
            </a:r>
          </a:p>
        </p:txBody>
      </p:sp>
      <p:sp>
        <p:nvSpPr>
          <p:cNvPr id="5325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325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325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87" y="332656"/>
            <a:ext cx="8429625" cy="831850"/>
          </a:xfrm>
          <a:effectLst/>
        </p:spPr>
        <p:txBody>
          <a:bodyPr anchor="ctr"/>
          <a:lstStyle/>
          <a:p>
            <a:pPr eaLnBrk="1" hangingPunct="1"/>
            <a:r>
              <a:rPr lang="en-US" altLang="zh-CN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</a:t>
            </a:r>
            <a:r>
              <a:rPr lang="en-US" altLang="zh-CN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条件运算符和条件表达式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660420" y="2492896"/>
            <a:ext cx="8016036" cy="3857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条件运算符的执行顺序：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求解表达式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若为非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（真）则求解表达式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，此时表达式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的值就作为整个条件表达式的值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若表达式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（假），则求解表达式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，表达式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的值就是整个条件表达式的值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79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5188" y="1412776"/>
            <a:ext cx="8821737" cy="3857625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条件运算符</a:t>
            </a:r>
            <a:r>
              <a:rPr lang="zh-CN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优先于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赋值运算符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条件运算符的结合方向为“自右至左”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以下为合法的使用方法：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a&gt;b ? (max=a):(max=b);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a&gt;b ?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(“%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d”,a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):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(“%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d”,b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  <a:endParaRPr lang="zh-CN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0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530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530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87" y="332656"/>
            <a:ext cx="8429625" cy="831850"/>
          </a:xfrm>
          <a:effectLst/>
        </p:spPr>
        <p:txBody>
          <a:bodyPr anchor="ctr"/>
          <a:lstStyle/>
          <a:p>
            <a:pPr eaLnBrk="1" hangingPunct="1"/>
            <a:r>
              <a:rPr lang="en-US" altLang="zh-CN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</a:t>
            </a:r>
            <a:r>
              <a:rPr lang="en-US" altLang="zh-CN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条件运算符和条件表达式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80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6628" y="1124744"/>
            <a:ext cx="8290743" cy="2786063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4.10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输入一个字符，判别它是否大写字母，如果是，将它转换成小写字母；如果不是，不转换。然后输出最后得到的字符。</a:t>
            </a:r>
          </a:p>
        </p:txBody>
      </p:sp>
      <p:sp>
        <p:nvSpPr>
          <p:cNvPr id="5632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632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63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87" y="332656"/>
            <a:ext cx="8429625" cy="831850"/>
          </a:xfrm>
          <a:effectLst/>
        </p:spPr>
        <p:txBody>
          <a:bodyPr anchor="ctr"/>
          <a:lstStyle/>
          <a:p>
            <a:pPr eaLnBrk="1" hangingPunct="1"/>
            <a:r>
              <a:rPr lang="en-US" altLang="zh-CN" b="1" kern="1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</a:t>
            </a:r>
            <a:r>
              <a:rPr lang="en-US" altLang="zh-CN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条件运算符和条件表达式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642937" y="3339588"/>
            <a:ext cx="7786687" cy="2571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解题思路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：用条件表达式来处理，当字母是大写时，转换成小写字母，否则不转换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81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62" y="620688"/>
            <a:ext cx="6880250" cy="4643438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{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char </a:t>
            </a:r>
            <a:r>
              <a:rPr lang="en-US" altLang="zh-CN" sz="2800" dirty="0" err="1"/>
              <a:t>ch</a:t>
            </a:r>
            <a:r>
              <a:rPr lang="en-US" altLang="zh-CN" sz="2800" dirty="0"/>
              <a:t>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("%c",&amp;</a:t>
            </a:r>
            <a:r>
              <a:rPr lang="en-US" altLang="zh-CN" sz="2800" dirty="0" err="1"/>
              <a:t>ch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</a:t>
            </a:r>
            <a:r>
              <a:rPr lang="en-US" altLang="zh-CN" sz="2800" dirty="0" err="1"/>
              <a:t>ch</a:t>
            </a:r>
            <a:r>
              <a:rPr lang="en-US" altLang="zh-CN" sz="2800" dirty="0"/>
              <a:t>=</a:t>
            </a:r>
            <a:r>
              <a:rPr lang="en-US" altLang="zh-CN" sz="2800" dirty="0">
                <a:solidFill>
                  <a:srgbClr val="00B050"/>
                </a:solidFill>
              </a:rPr>
              <a:t>(</a:t>
            </a:r>
            <a:r>
              <a:rPr lang="en-US" altLang="zh-CN" sz="2800" dirty="0" err="1">
                <a:solidFill>
                  <a:srgbClr val="00B050"/>
                </a:solidFill>
              </a:rPr>
              <a:t>ch</a:t>
            </a:r>
            <a:r>
              <a:rPr lang="en-US" altLang="zh-CN" sz="2800" dirty="0">
                <a:solidFill>
                  <a:srgbClr val="00B050"/>
                </a:solidFill>
              </a:rPr>
              <a:t>&gt;='A' &amp;&amp; </a:t>
            </a:r>
            <a:r>
              <a:rPr lang="en-US" altLang="zh-CN" sz="2800" dirty="0" err="1">
                <a:solidFill>
                  <a:srgbClr val="00B050"/>
                </a:solidFill>
              </a:rPr>
              <a:t>ch</a:t>
            </a:r>
            <a:r>
              <a:rPr lang="en-US" altLang="zh-CN" sz="2800" dirty="0">
                <a:solidFill>
                  <a:srgbClr val="00B050"/>
                </a:solidFill>
              </a:rPr>
              <a:t>&lt;='Z‘)?(ch+32):</a:t>
            </a:r>
            <a:r>
              <a:rPr lang="en-US" altLang="zh-CN" sz="2800" dirty="0" err="1">
                <a:solidFill>
                  <a:srgbClr val="00B050"/>
                </a:solidFill>
              </a:rPr>
              <a:t>ch</a:t>
            </a:r>
            <a:r>
              <a:rPr lang="en-US" altLang="zh-CN" sz="2800" dirty="0">
                <a:solidFill>
                  <a:srgbClr val="00B050"/>
                </a:solidFill>
              </a:rPr>
              <a:t>;</a:t>
            </a:r>
            <a:endParaRPr lang="zh-CN" altLang="zh-CN" sz="2800" dirty="0">
              <a:solidFill>
                <a:srgbClr val="00B050"/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("%c\n",</a:t>
            </a:r>
            <a:r>
              <a:rPr lang="en-US" altLang="zh-CN" sz="2800" dirty="0" err="1"/>
              <a:t>ch</a:t>
            </a:r>
            <a:r>
              <a:rPr lang="en-US" altLang="zh-CN" sz="2800" dirty="0"/>
              <a:t>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return 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</p:txBody>
      </p:sp>
      <p:sp>
        <p:nvSpPr>
          <p:cNvPr id="5837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837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837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1710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76" y="4588592"/>
            <a:ext cx="642937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82</a:t>
            </a:fld>
            <a:endParaRPr lang="en-US" altLang="zh-CN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7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VB课件模版">
  <a:themeElements>
    <a:clrScheme name="VB课件模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VB课件模版">
      <a:majorFont>
        <a:latin typeface="Arial"/>
        <a:ea typeface="华文行楷"/>
        <a:cs typeface=""/>
      </a:majorFont>
      <a:minorFont>
        <a:latin typeface="Arial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B课件模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B课件模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B课件模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B课件模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B课件模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B课件模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4707</Words>
  <Application>Microsoft Office PowerPoint</Application>
  <PresentationFormat>全屏显示(4:3)</PresentationFormat>
  <Paragraphs>908</Paragraphs>
  <Slides>82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82</vt:i4>
      </vt:variant>
    </vt:vector>
  </HeadingPairs>
  <TitlesOfParts>
    <vt:vector size="92" baseType="lpstr">
      <vt:lpstr>微软雅黑</vt:lpstr>
      <vt:lpstr>黑体</vt:lpstr>
      <vt:lpstr>宋体</vt:lpstr>
      <vt:lpstr>华文楷体</vt:lpstr>
      <vt:lpstr>华文行楷</vt:lpstr>
      <vt:lpstr>Arial</vt:lpstr>
      <vt:lpstr>Wingdings</vt:lpstr>
      <vt:lpstr>VB课件模版</vt:lpstr>
      <vt:lpstr>Image</vt:lpstr>
      <vt:lpstr>公式</vt:lpstr>
      <vt:lpstr>PowerPoint 演示文稿</vt:lpstr>
      <vt:lpstr>第4章 选择结构程序设计</vt:lpstr>
      <vt:lpstr>PowerPoint 演示文稿</vt:lpstr>
      <vt:lpstr>4.1 选择结构和条件判断</vt:lpstr>
      <vt:lpstr>4.1 选择结构和条件判断</vt:lpstr>
      <vt:lpstr>4.1 选择结构和条件判断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4.1.2关系运算符和关系表达式</vt:lpstr>
      <vt:lpstr>4.1.2关系运算符及其优先次序</vt:lpstr>
      <vt:lpstr>4.1.2关系运算符及其优先次序</vt:lpstr>
      <vt:lpstr>4.1.2关系表达式</vt:lpstr>
      <vt:lpstr>4.1.3 逻辑运算符和逻辑表达式</vt:lpstr>
      <vt:lpstr>4.1.2 逻辑运算符及其优先次序</vt:lpstr>
      <vt:lpstr>4.1.2 逻辑运算符及其优先次序</vt:lpstr>
      <vt:lpstr>4.1.2 逻辑运算符及其优先次序</vt:lpstr>
      <vt:lpstr>4.1.2 逻辑运算符及其优先次序</vt:lpstr>
      <vt:lpstr>PowerPoint 演示文稿</vt:lpstr>
      <vt:lpstr>4.1.2 逻辑表达式</vt:lpstr>
      <vt:lpstr>4.1.2 逻辑表达式</vt:lpstr>
      <vt:lpstr>4.1.2 逻辑表达式</vt:lpstr>
      <vt:lpstr>PowerPoint 演示文稿</vt:lpstr>
      <vt:lpstr>PowerPoint 演示文稿</vt:lpstr>
      <vt:lpstr>4.2 用if语句实现选择结构</vt:lpstr>
      <vt:lpstr>4.2.1 用if语句处理选择结构举例</vt:lpstr>
      <vt:lpstr>4.2.1 用if语句处理选择结构举例</vt:lpstr>
      <vt:lpstr>4.2.1 用if语句处理选择结构举例</vt:lpstr>
      <vt:lpstr>4.2.1 用if语句处理选择结构举例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4.2.2  if语句的一般形式</vt:lpstr>
      <vt:lpstr>4.2.2  if语句的一般形式</vt:lpstr>
      <vt:lpstr>4.2.2  if语句的一般形式</vt:lpstr>
      <vt:lpstr>4.2.2  if语句的一般形式</vt:lpstr>
      <vt:lpstr>4.2.2  if语句的一般形式</vt:lpstr>
      <vt:lpstr>4.2.2  if语句的一般形式</vt:lpstr>
      <vt:lpstr>4.2.2  if语句的一般形式</vt:lpstr>
      <vt:lpstr>4.2.2  if语句的一般形式</vt:lpstr>
      <vt:lpstr>4.2.2  if语句的一般形式</vt:lpstr>
      <vt:lpstr>PowerPoint 演示文稿</vt:lpstr>
      <vt:lpstr>4.2 选择结构的嵌套</vt:lpstr>
      <vt:lpstr>4.2 选择结构的嵌套</vt:lpstr>
      <vt:lpstr>4.2 选择结构的嵌套</vt:lpstr>
      <vt:lpstr>PowerPoint 演示文稿</vt:lpstr>
      <vt:lpstr>PowerPoint 演示文稿</vt:lpstr>
      <vt:lpstr>PowerPoint 演示文稿</vt:lpstr>
      <vt:lpstr>4.3 用switch语句实现多分支选择结构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4.4选择结构程序综合举例</vt:lpstr>
      <vt:lpstr>PowerPoint 演示文稿</vt:lpstr>
      <vt:lpstr>PowerPoint 演示文稿</vt:lpstr>
      <vt:lpstr>4.5 条件运算符和条件表达式</vt:lpstr>
      <vt:lpstr>4.5 条件运算符和条件表达式</vt:lpstr>
      <vt:lpstr>4.5 条件运算符和条件表达式</vt:lpstr>
      <vt:lpstr>4.5 条件运算符和条件表达式</vt:lpstr>
      <vt:lpstr>4.5 条件运算符和条件表达式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C语言程序设计</dc:title>
  <dc:creator>hxd</dc:creator>
  <cp:lastModifiedBy>admin</cp:lastModifiedBy>
  <cp:revision>1072</cp:revision>
  <dcterms:created xsi:type="dcterms:W3CDTF">2010-02-23T13:08:00Z</dcterms:created>
  <dcterms:modified xsi:type="dcterms:W3CDTF">2025-03-10T01:24:40Z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C004820E66C845E6A5336A5741710A8B_12</vt:lpwstr>
  </property>
  <property fmtid="{D5CDD505-2E9C-101B-9397-08002B2CF9AE}" pid="3" name="KSOProductBuildVer">
    <vt:lpwstr>2052-12.1.0.19770</vt:lpwstr>
  </property>
</Properties>
</file>